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señores miembros del tribunal. Presento la tesis «Desarrollo de software educativo de elementos finitos para el análisis estructural empleando el lenguaje de programación Python», cuyo producto es EduFEM. La exposición sigue el orden reglamentario: introducción, base teórica, diseño y desarrollo del modelo, presentación y análisis de resultados, y conclusiones y recomendaciones.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Empiezo por la fundamentación: la situación problemática, el problema científico con sus variables, el objeto de estudio y el campo de acción, los objetivos, la hipótesis y la metodología.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enseñanza del MEF sufre una brecha doble. Los textos presentan la formulación matricial con rigor pero de manera abstracta; el desarrollo manual no escala más allá de uno o dos elementos. El software comercial hace lo contrario: recibe geometría, material y cargas y devuelve tensiones ocultando todo lo intermedio. El antecedente educativo más directo lo decía ya en 1998: el estudiante queda limitado a introducir datos e interpretar resultados, sin acceso al análisis. La consecuencia es que aprende a operar sin formar criterio para juzgar la respuesta. Un estudio con 67 expertos lo confirma y recoge que solo el 31 % de los ingenieros se considera conocedor del análisis por elementos finitos.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la situación problemática se formula el problema científico como una única interrogante: ¿de qué manera el uso del software de análisis estructural como caja negra podrá afectar en el bajo criterio para interpretar la respuesta estructural obtenida por el MEF en los estudiantes de la Carrera de Ingeniería Civil de la UATF en la gestión 2026? La variable causa es la forma en que el software expone el canal y la respuesta; la variable efecto, el criterio del estudiante; la interviniente, EduFEM. El objeto de estudio es el proceso de enseñanza y aprendizaje del análisis por el MEF en elasticidad plana, y el campo de acción son sus medios didácticos: el software y la memoria de cálculo.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es desarrollar, en Python y sobre bibliotecas numéricas de código abierto, EduFEM, un software educativo para el MEF en elasticidad plana con elementos Q4 y Q9, para mejorar el criterio de los estudiantes de ingeniería civil en la interpretación de la respuesta estructural. Se concreta en cinco objetivos específicos en escalera: diagnosticar, fundamentar, desarrollar, verificar y validar. Los dos primeros se cumplen en el marco teórico, el tercero en el diseño e implementación, y el cuarto y el quinto en resultados.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hipótesis tiene tres variables: la independiente es la forma de exponer el canal y la respuesta; la dependiente, el criterio del estudiante; la interviniente, EduFEM. En la investigación tecnológica la hipótesis es la solución tentativa a un problema concreto y su criterio de veracidad es la efectividad en la práctica, y se comprueba por etapas. En esta etapa se comprueba en su parte de diseño y contenido, con tres cláusulas: exposición, corrección y validez de contenido. Cada una puede resultar falsa. Que el criterio del estudiante mejore de hecho se fundamenta con la evidencia de herramientas de la misma familia, y su prueba de campo queda diseñada en las recomendaciones. La investigación es propositiva, aplicada de tipo tecnológico, cuantitativa en la verificación y documental en la validación de contenido.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base teórica sigue el mismo orden que el canal de cálculo del programa: primero los antecedentes, después la cadena que va de la forma fuerte a la recuperación de tensiones.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tres familias de antecedentes: el análisis de barras, los simuladores de un eslabón aislado del método y las herramientas de propósito general. El antecedente más directo es ED-Elas2D, desarrollado en la Universitat Politècnica de Catalunya, en español y con elementos Q4, Q8 y Q9, pero de licencia no documentada y ligado a la plataforma de su época. La tabla está organizada por atributos —así está en la tesis— y las celdas salen de las publicaciones consultadas: donde la fuente no documenta el atributo dice «no consta», que registra un límite de la revisión y no una carencia del recurso; la raya marca los atributos que no se evalúan para las categorías de propósito general. EduFEM cubre el vacío: libre y abierto, con instalador autocontenido, expone cada matriz sobre el elemento seleccionado, genera una memoria de cálculo trazable y publica su verificación y validación. La fila nueva, «lectura de la respuesta», es la más pertinente para este trabajo: los propios autores de ED-Elas2D reconocen que su post-proceso no explica el suavizado nodal de tensiones y es una herramienta meramente descriptiva. Esta tabla sostiene el diagnóstico, que es el primer objetivo específico.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forma fuerte exige continuidad de segundo orden; el principio de los trabajos virtuales la rebaja a primer orden y habilita polinomios a trozos. Sustituyendo la interpolación se llega al sistema K u igual a F. La matriz constitutiva distingue tensión plana, con sigma z nula, de deformación plana, con épsilon z nula, donde aparece el bloqueo volumétrico al acercarse el coeficiente de Poisson a 0,5.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elemento isoparamétrico interpola geometría y desplazamientos con la misma familia de funciones de forma. El Jacobiano conecta el cuadrado natural con el elemento real; su inversa construye la matriz B. La rigidez elemental se integra por cuadratura de Gauss, dos por dos en Q4 y tres por tres en Q9, porque el integrando no es polinómico. El sistema global se ensambla en formato disperso y se resuelve por factorización LU; las tensiones se evalúan en los puntos de Gauss, que en Q4 son los de Barlow, se extrapolan a los nodos y se promedian. Es exactamente lo que los módulos M1 a M7 exponen sobre el elemento seleccionado.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fenómenos numéricos que un alumno solo entiende cuando los ve. El bloqueo por cortante afecta al Q4 en flexión: el campo bilineal no representa la curvatura sin generar corte espurio, el elemento se vuelve rígido y converge lento; en la membrana de Cook con N igual a 8 da 22,079 frente a 23,96. Los modos espurios son el fenómeno inverso, por subintegrar, y EduFEM los evita con integración completa. Decidí no implementar integración reducida selectiva ni B-bar: ofrezco el Q9 y aprovecho el comportamiento del Q4 como recurso didáctico. Una tercera patología, el bloqueo volumétrico en deformación plana, el software la señala pero no la corrige.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tensiones se evalúan en los puntos de la cuadratura con que se integra la rigidez y se llevan a los nodos con la inversa de la matriz de funciones de forma evaluada en esos puntos, que en el Q4 tiene forma cerrada con los coeficientes que ven en pantalla; después se promedian entre los elementos que comparten cada nodo. La numeración de los puntos de Gauss no es un detalle: permutarla permuta las columnas de la matriz de extrapolación y corrompe las tensiones nodales sin alterar los desplazamientos, así que el motor la construye invirtiendo numéricamente con sus propios puntos y una prueba comprueba que reproduce exactamente los campos polinómicos. El orden de convergencia de esta secuencia no se toma de la literatura: se mide. En cuanto a la verificación, el método de soluciones manufacturadas elige la solución de antemano, deduce la fuerza de volumen y mide el error con las normas L dos y H uno. Verificar es comprobar que las ecuaciones se resuelven bien; validar, que representan la realidad; la validación frente a mediciones físicas queda fuera del alcance.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bloque tiene dos partes: cómo se diseñó la investigación, con su modelo de simulación numérica, variables, matriz de consistencia y criterios de aceptación; y cómo se construyó el software. Cierra con una demostración en vivo.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tiene una sola pareja de variables. La independiente es la forma de exponer el canal y la respuesta, y se observa en el artefacto con indicadores que se cuentan. La dependiente es el criterio del estudiante: esta etapa observa las dos dimensiones que pueden establecerse sobre el artefacto, la validez de contenido y la coherencia del diseño, y deja a la prueba de campo el criterio logrado. La interviniente es EduFEM. El experimento numérico que verifica el motor tiene factores y magnitudes medidas, que no son variables del problema científico. No hay unidades experimentales ni aleatorización: el motor es determinista.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matriz de consistencia traza cada objetivo con su pregunta, su indicador, su instrumento y la evidencia. El diagnóstico y la fundamentación son transversales y sostienen las tres preguntas. El tercero responde a la exposición, el cuarto a la corrección y el quinto a la validez de contenido: un objetivo por cláusula de la hipótesis. La interoperabilidad de datos es complemento instrumental del tercero.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caso sigue el mismo procedimiento. Un guion construye la malla y define material, cargas y apoyos; el validador de salud comprueba la consistencia de los datos antes de resolver; el sistema se ensambla y se resuelve con las mismas funciones del motor que consumen los módulos y la memoria, lo que garantiza que lo que el alumno ve explicado es lo que el programa calcula; y las normas de error se integran con un punto de Gauss más por dirección que la rigidez, para no subestimar el error. Los casos se eligieron por valor probatorio, no como muestra estadística: el MMS aporta una solución exacta y ejercita la fuerza de volumen, las restricciones no homogéneas y ambas matrices constitutivas; la viga de Timoshenko aporta las dos referencias externas y es un contraste puntual sobre una malla fina, no un estudio de convergencia; y la membrana de Cook ejercita la distorsión trapezoidal bajo flexión. Queda declarada una excepción: la carga superficial linealmente variable no interviene en ningún caso de referencia.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criterios de aceptación están fijados de antemano. Para el motor, en los propios guiones, que terminan con error si alguno falla. Para la exposición: siete de siete etapas con módulo, nueve de nueve en la memoria y tres fases sobre un mismo lienzo. Para la validez de contenido: cada una de las quince destrezas y de los tres conceptos con al menos un instrumento, y cada uno de los cuatro principios con una encarnación comprobable. Así la hipótesis se contrasta cláusula por cláusula.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requisitos gobernaron el diseño: orientación educativa, español con terminología canónica, primacía de lo visual e independencia tecnológica. La arquitectura es un modelo-vista-controlador en seis capas alrededor del ProjectModel. Una decisión crítica separa la identidad pública del nodo, que puede tener huecos como 1, 5 y 50 tras borrar, del índice ordinal que fija sus grados de libertad. Se distribuye con PyInstaller e Inno Setup, con un TeX Live reducido embebido, sin instalar Python.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se construye en cinco tablas o dibujando sobre el lienzo, que es el mismo en las tres fases. Cada acción del usuario captura una instantánea, lo que hace todo reversible. Antes de resolver, el validador de salud aplica veintidós chequeos: trece errores críticos que bloquean el cálculo, ocho advertencias y uno de información. La calidad de malla usa las métricas de la biblioteca Verdict, el Jacobiano escalado y la relación de aspecto; EduFEM eleva el corte del Jacobiano escalado de cero coma treinta a cero coma cincuenta por prudencia pedagógica. La importación DXF es idempotente y fuerza la orientación antihoraria.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ocho módulos recorren el canal del MEF en su orden canónico. Cada uno es una capa superpuesta al lienzo: un panel flotante más una iluminación sobre la malla real, con selección de un solo clic sobre el elemento. M0 colorea por calidad y deja distorsionar un vértice; M5 permite agregar o quitar puntos de Gauss; M7 resalta las filas y columnas de K que recibe cada elemento. Solo una capa está activa a la vez. La recuperación de tensiones no tiene módulo propio: la exponen el post-proceso, con la sonda y la vista 3D, y la memoria de cálculo.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Tomo M5 como ejemplo representativo. A la izquierda, el elemento real con sus puntos de Gauss iluminados y los ejes naturales; a la derecha, el salto de la integral, irresoluble a mano, a la suma de cuadratura, y la matriz de rigidez que crece al sumar cada punto. El conmutador Fórmula–Valores muestra la expresión simbólica o su evaluación numérica en el punto elegido.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Resuelto el sistema, los resultados se presentan sobre el mismo lienzo. El campo se dibuja como contorno con interpolación de Gouraud y se puede superponer la malla deformada con un factor de escala. La sonda puntual localiza cualquier punto dentro de su elemento por mapeo inverso y abre un panel con las componentes cartesianas, las tensiones principales y la de von Mises, junto con un círculo de Mohr. Una vista tridimensional muestra el campo como superficie, cruda o suavizada por promediado nodal. La paleta jet se eligió a sabiendas de sus limitaciones perceptuales porque es la que el alumno encontrará en el software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memoria de cálculo automática es parte del tercer objetivo: pylatex compone y pdflatex compila un PDF con sustitución numérica paso a paso sobre el modelo del propio usuario, en estilo educativo o directo. El Anexo G la desarrolla sobre el ejemplo canónico de nueve nodos y cuatro Q4, con E igual a 225000, Poisson 0,2, espesor 0,8 y una carga de 1000 en el nodo 7: matriz D, rigidez del elemento 3 en el punto de Gauss, ensamblaje de K de 18 por 18, partición, reacciones que equilibran exactamente la carga y recuperación de tensiones. Las cifras son salida bit-exacta del motor. Completan el desarrollo el formato .edufem, los CSV en ZIP y la importación DXF.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ahora al software. Cargo el ejemplo canónico, abro el módulo M5 sobre un elemento y muestro cómo cambia la rigidez con los puntos de Gauss. Luego resuelvo con F5, recorro el contorno de von Mises, sondeo un punto con el círculo de Mohr y exporto la memoria de cálculo en PDF. Todo ocurre sobre el mismo lienzo.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Presento los datos de la batería de verificación y validación, reproducibles con los tres guiones del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solución manufacturada se impone como restricciones de Dirichlet y su término fuente como fuerza de volumen. En escala doble logarítmica la pendiente de cada recta es el orden de convergencia. El Q4 alcanza orden dos en L² y uno en H¹; el Q9, tres y dos, como predice la teoría; el campo de tensiones recuperado converge a 1,54 y 2,00. Las mallas distorsionadas y la deformación plana dan las mismas tasas. Un detalle de honestidad metodológica: la matriz de extrapolación del Q4 tuvo un defecto de numeración de puntos de Gauss invisible a estas normas; se detectó al inspeccionar la memoria de cálculo del ejemplo canónico y hoy una prueba de regresión exige reproducir exactamente campos polinómicos.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 exactitud, el modelo de datos no debe derivar. Convertir la malla a Q9 y volver a Q4 deja los desplazamientos con diferencias menores a diez a la menos nueve. Usar identificadores de nodo con huecos da lo mismo que usar identificadores contiguos, lo que valida el esquema de indexación de grados de libertad. El ejemplo canónico exportado a CSV y reimportado reproduce los desplazamientos con diferencia menor a diez a la menos doce. Y el DXF de ejemplo entra como seis elementos y doce nodos compartidos; al reimportarlo no crea nada nuevo.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viga es de hormigón, con módulo obtenido de la correlación del ACI para f'c de 210 kilogramos por centímetro cuadrado; el valor concreto del módulo no condiciona la validación, porque los errores relativos son invariantes ante su escala. Se resolvió con una única malla Q9 de 56 por 8, y las referencias son la solución analítica de Timoshenko y Goodier y un modelo de cáscara equivalente en SAP2000. El error en la tensión normal es de cuatro centésimas de por ciento frente al analítico y de dos décimas frente a SAP2000; en la flecha, de veintiséis centésimas. Las componentes secundarias tienen errores relativos mayores porque su magnitud es entre seis y treinta y cinco veces menor, de modo que un mismo error absoluto pesa mucho más. La formulación de cáscara de SAP2000 no coincide exactamente con el continuo plano de EduFEM, así que las diferencias entre ambos no miden la superioridad de ninguno. La suma de reacciones equilibra la carga total a precisión de máquina.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membrana de Cook es un trapecio empotrado con carga tangencial unitaria en el extremo libre, material adimensional y referencia 23,96, que es un límite de convergencia con incertidumbre del orden del 0,05 %; la extrapolación de Richardson de la propia secuencia Q9 apunta a 23,97. En la malla más gruesa el Q4 subestima más del 50 % y con 2178 GDL todavía conserva un −0,594 %. El Q9 con N igual a 8 ya cumple el criterio del 1,5 % y con 2178 GDL queda dentro de la incertidumbre de la referencia.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exposición, que es la variable independiente, también es un resultado, y se reporta con los indicadores de la tabla de variables. De las nueve etapas del canal de cálculo, las siete primeras —del mapeo isoparamétrico al ensamblaje— tienen módulo interactivo propio, y las nueve tienen desarrollo con sustitución numérica en la memoria de cálculo. La solución del sistema y la recuperación de tensiones, que no tienen módulo, se exponen además en el post-proceso, con la sonda puntual en sus modos crudo y suavizado, la vista tridimensional y la tabla de resultados. La figura muestra las tres fases trabajando sobre el mismo lienzo y el mismo modelo: arriba el pre-proceso dibujando un elemento, en el medio el módulo de la matriz B desplegado sobre el elemento seleccionado, y abajo el post-proceso con el contorno de von Mises, las reacciones y el círculo de Mohr del nodo. Con esto queda cumplido el criterio de cobertura fijado a priori.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validez de contenido se establece con una tabla de especificaciones. El criterio externo no es un panel propio sino un consenso publicado: sesenta y siete expertos de la industria y de la academia calificaron las destrezas que un egresado necesita. De sus ítems se tomaron los que definen el criterio sobre la respuesta y caen dentro de la elasticidad plana: quince destrezas de mallado, post-proceso, conceptos fundamentales y verificación y validación, más tres conceptos del canal. Las dieciocho tienen instrumento identificable en EduFEM, y los cuatro principios de aprendizaje tienen una encarnación comprobable. La limitación se declara: el estudio es mexicano y de ingeniería mecánica, y por eso se usan solo los ítems que son contenido universal del método; y las tablas las construye el autor, así que el criterio exige evidencia y no puntajes. Esto establece validez de contenido y coherencia, no efectividad.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interpreto: qué significan esas cifras para las preguntas de investigación y hasta dónde llega la evidencia.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comparación justa es a igualdad de grados de libertad. Con 2178 GDL, el Q4 conserva un error de −0,594 % y el Q9 de −0,044 %: trece veces, un orden de magnitud a favor del elemento de mayor orden, y la incertidumbre de la referencia solo afecta a la tercera cifra del error del Q9. Esto es lo que el estudiante puede reproducir en el software cargando el ejemplo de Cook en Q4 y en Q9, y responde la segunda pregunta de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transparencia no se pagó con lentitud. En un equipo de escritorio con procesador de 2012, con el motor vectorizado por lotes en NumPy puro, la malla más exigente de las validaciones, 8450 GDL, se ensambla y resuelve en menos de dos décimas de segundo, y más de 33 000 GDL en menos de un segundo. A ese tamaño la matriz densa pediría cerca de 8,9 gigabytes y la dispersa menos de 13 megabytes. El ordenamiento de mínimo grado reduce el tiempo de factorización y solución entre 1,7 y 2,9 veces frente a COLAMD; el Cuthill-McKee inverso se evaluó y descartó porque solo ganaba del 7 al 19 % por encima de unos ocho mil GDL. Sobre el alcance: las magnitudes primarias quedan por debajo del 0,3 % frente al analítico y del 0,6 % frente a SAP2000; en la componente cortante la cáscara de SAP2000 queda más cerca del analítico, 0,16 %. Frente al software comercial EduFEM no compite en cobertura: su valor es la transparencia del canal. El bloqueo por cortante se muestra, no se mitiga, y no hay validación frente a mediciones físicas.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Cierro con el cumplimiento de cada objetivo, la hipótesis, las limitaciones asumidas y las recomendaciones.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cinco objetivos específicos se cumplieron en los términos en que fueron enunciados. Los dos primeros son diagnóstico y fundamento, no resultados medidos. El tercero se cumplió con módulos hasta el ensamblaje y con las dos últimas etapas expuestas en el post-proceso y en la memoria. El cuarto, con las cifras de la verificación y validación. El quinto, con la tabla de especificaciones y la matriz de principios.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hipótesis se contrasta en las tres cláusulas comprobables de esta etapa. La exposición, con la cobertura contada. La corrección, con las tasas del MMS y los errores frente a Timoshenko y SAP2000, dentro de los umbrales fijados de antemano, y con el bloqueo del Q4 en Cook. La validez de contenido, con las dieciocho destrezas y conceptos y los cuatro principios. Que el criterio del estudiante mejore de hecho se fundamenta por analogía con herramientas de la misma familia que sí lo midieron, como la de Bishay, u observaron, como las de Lee; no se contrasta en esta etapa y su prueba de campo queda diseñada.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fronteras se fijaron a priori en la introducción, y a ellas se suman las que el desarrollo y los resultados pusieron de manifiesto: la cobertura por módulos interactivos llega hasta el ensamblaje; el Q4 arrastra el bloqueo por cortante, que la herramienta ilustra deliberadamente pero no mitiga, y en deformación plana la matriz constitutiva degenera cuando el coeficiente de Poisson se acerca a un medio; el solucionador directo es eficiente hasta decenas de miles de grados de libertad, pero no en mallas masivas; la validación descansa en tres casos de referencia y en un único caso con material de ingeniería civil, y la carga superficial linealmente variable no tiene contraste externo. Finalmente, las conclusiones sobre la utilidad didáctica son de carácter cualitativo y basadas en el diseño.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recomendaciones están ordenadas por capítulo. Sobre la formulación: incorporar técnicas de tratamiento del bloqueo —integración reducida selectiva o B-bar—, que además habilitarían un módulo educativo que contraste el comportamiento bloqueado y el corregido sobre un mismo modelo, y ampliar la biblioteca de elementos. Sobre el software: una factorización de Cholesky, aplicable porque la matriz reducida es simétrica y definida positiva; un solucionador iterativo precondicionado para problemas de gran porte; la extensión a tres dimensiones; y un generador de mallas con las métricas del módulo M0 como control. Sobre la evidencia: un caso con carga superficial variable, un caso civil en deformación plana con referencia publicada, y la prueba de campo del efecto sobre el criterio, que es la línea más importante: un curso completo, preprueba y posprueba con resultados de elementos finitos para juzgar, y estadística no paramétrica.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por su atención. El software, el código fuente y la batería de verificación están disponibles en el repositorio público. Quedo a disposición del tribunal para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275320" y="0"/>
            <a:ext cx="3916375" cy="6858000"/>
          </a:xfrm>
          <a:prstGeom prst="rect">
            <a:avLst/>
          </a:prstGeom>
          <a:solidFill>
            <a:srgbClr val="0E1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275320" y="0"/>
            <a:ext cx="54864"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logo_universidad.png"/>
          <p:cNvPicPr>
            <a:picLocks noChangeAspect="1"/>
          </p:cNvPicPr>
          <p:nvPr/>
        </p:nvPicPr>
        <p:blipFill>
          <a:blip r:embed="rId2"/>
          <a:stretch>
            <a:fillRect/>
          </a:stretch>
        </p:blipFill>
        <p:spPr>
          <a:xfrm>
            <a:off x="9303167" y="685800"/>
            <a:ext cx="1876225" cy="2148840"/>
          </a:xfrm>
          <a:prstGeom prst="rect">
            <a:avLst/>
          </a:prstGeom>
        </p:spPr>
      </p:pic>
      <p:sp>
        <p:nvSpPr>
          <p:cNvPr id="5" name="Rectangle 4"/>
          <p:cNvSpPr/>
          <p:nvPr/>
        </p:nvSpPr>
        <p:spPr>
          <a:xfrm>
            <a:off x="9692640" y="3127248"/>
            <a:ext cx="1097280"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ig_logo_edufem.png"/>
          <p:cNvPicPr>
            <a:picLocks noChangeAspect="1"/>
          </p:cNvPicPr>
          <p:nvPr/>
        </p:nvPicPr>
        <p:blipFill>
          <a:blip r:embed="rId3"/>
          <a:stretch>
            <a:fillRect/>
          </a:stretch>
        </p:blipFill>
        <p:spPr>
          <a:xfrm>
            <a:off x="9349740" y="3520440"/>
            <a:ext cx="1783080" cy="1783080"/>
          </a:xfrm>
          <a:prstGeom prst="rect">
            <a:avLst/>
          </a:prstGeom>
        </p:spPr>
      </p:pic>
      <p:sp>
        <p:nvSpPr>
          <p:cNvPr id="7" name="TextBox 6"/>
          <p:cNvSpPr txBox="1"/>
          <p:nvPr/>
        </p:nvSpPr>
        <p:spPr>
          <a:xfrm>
            <a:off x="8275320" y="5349240"/>
            <a:ext cx="3916375" cy="457200"/>
          </a:xfrm>
          <a:prstGeom prst="rect">
            <a:avLst/>
          </a:prstGeom>
          <a:noFill/>
        </p:spPr>
        <p:txBody>
          <a:bodyPr wrap="square" anchor="t" lIns="45720" tIns="27432" rIns="45720" bIns="27432">
            <a:noAutofit/>
          </a:bodyPr>
          <a:lstStyle/>
          <a:p>
            <a:pPr algn="ctr">
              <a:lnSpc>
                <a:spcPct val="105000"/>
              </a:lnSpc>
            </a:pPr>
            <a:r>
              <a:rPr sz="2600" b="1" i="0" lang="es-ES">
                <a:solidFill>
                  <a:srgbClr val="FFFFFF"/>
                </a:solidFill>
                <a:latin typeface="Calibri"/>
              </a:rPr>
              <a:t>EduFEM</a:t>
            </a:r>
          </a:p>
        </p:txBody>
      </p:sp>
      <p:sp>
        <p:nvSpPr>
          <p:cNvPr id="8" name="TextBox 7"/>
          <p:cNvSpPr txBox="1"/>
          <p:nvPr/>
        </p:nvSpPr>
        <p:spPr>
          <a:xfrm>
            <a:off x="8595360" y="5779008"/>
            <a:ext cx="3276295" cy="731520"/>
          </a:xfrm>
          <a:prstGeom prst="rect">
            <a:avLst/>
          </a:prstGeom>
          <a:noFill/>
        </p:spPr>
        <p:txBody>
          <a:bodyPr wrap="square" anchor="t" lIns="45720" tIns="27432" rIns="45720" bIns="27432">
            <a:noAutofit/>
          </a:bodyPr>
          <a:lstStyle/>
          <a:p>
            <a:pPr algn="ctr">
              <a:lnSpc>
                <a:spcPct val="105000"/>
              </a:lnSpc>
            </a:pPr>
            <a:r>
              <a:rPr sz="1300" b="0" i="0" lang="es-ES">
                <a:solidFill>
                  <a:srgbClr val="C7D2E8"/>
                </a:solidFill>
                <a:latin typeface="Calibri"/>
              </a:rPr>
              <a:t>Software educativo de elementos finitos</a:t>
            </a:r>
          </a:p>
        </p:txBody>
      </p:sp>
      <p:sp>
        <p:nvSpPr>
          <p:cNvPr id="9" name="Rectangle 8"/>
          <p:cNvSpPr/>
          <p:nvPr/>
        </p:nvSpPr>
        <p:spPr>
          <a:xfrm>
            <a:off x="0" y="0"/>
            <a:ext cx="8275320"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0" y="274320"/>
            <a:ext cx="8275320" cy="457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566928"/>
            <a:ext cx="7223760" cy="310896"/>
          </a:xfrm>
          <a:prstGeom prst="rect">
            <a:avLst/>
          </a:prstGeom>
          <a:noFill/>
        </p:spPr>
        <p:txBody>
          <a:bodyPr wrap="square" anchor="ctr" lIns="45720" tIns="27432" rIns="45720" bIns="27432">
            <a:noAutofit/>
          </a:bodyPr>
          <a:lstStyle/>
          <a:p>
            <a:pPr algn="l">
              <a:lnSpc>
                <a:spcPct val="105000"/>
              </a:lnSpc>
            </a:pPr>
            <a:r>
              <a:rPr sz="1300" b="1" i="0" lang="es-ES" spc="140">
                <a:solidFill>
                  <a:srgbClr val="F28C28"/>
                </a:solidFill>
                <a:latin typeface="Calibri"/>
              </a:rPr>
              <a:t>DEFENSA DE TESIS</a:t>
            </a:r>
          </a:p>
        </p:txBody>
      </p:sp>
      <p:sp>
        <p:nvSpPr>
          <p:cNvPr id="12" name="TextBox 11"/>
          <p:cNvSpPr txBox="1"/>
          <p:nvPr/>
        </p:nvSpPr>
        <p:spPr>
          <a:xfrm>
            <a:off x="731520" y="914400"/>
            <a:ext cx="7223760" cy="384048"/>
          </a:xfrm>
          <a:prstGeom prst="rect">
            <a:avLst/>
          </a:prstGeom>
          <a:noFill/>
        </p:spPr>
        <p:txBody>
          <a:bodyPr wrap="square" anchor="t" lIns="45720" tIns="27432" rIns="45720" bIns="27432">
            <a:noAutofit/>
          </a:bodyPr>
          <a:lstStyle/>
          <a:p>
            <a:pPr algn="l">
              <a:lnSpc>
                <a:spcPct val="105000"/>
              </a:lnSpc>
            </a:pPr>
            <a:r>
              <a:rPr sz="1900" b="1" i="0" lang="es-ES">
                <a:solidFill>
                  <a:srgbClr val="1B2A4A"/>
                </a:solidFill>
                <a:latin typeface="Calibri"/>
              </a:rPr>
              <a:t>UNIVERSIDAD AUTÓNOMA «TOMÁS FRÍAS»</a:t>
            </a:r>
          </a:p>
        </p:txBody>
      </p:sp>
      <p:sp>
        <p:nvSpPr>
          <p:cNvPr id="13" name="TextBox 12"/>
          <p:cNvSpPr txBox="1"/>
          <p:nvPr/>
        </p:nvSpPr>
        <p:spPr>
          <a:xfrm>
            <a:off x="731520" y="1298448"/>
            <a:ext cx="7223760" cy="310896"/>
          </a:xfrm>
          <a:prstGeom prst="rect">
            <a:avLst/>
          </a:prstGeom>
          <a:noFill/>
        </p:spPr>
        <p:txBody>
          <a:bodyPr wrap="square" anchor="t" lIns="45720" tIns="27432" rIns="45720" bIns="27432">
            <a:noAutofit/>
          </a:bodyPr>
          <a:lstStyle/>
          <a:p>
            <a:pPr algn="l">
              <a:lnSpc>
                <a:spcPct val="105000"/>
              </a:lnSpc>
            </a:pPr>
            <a:r>
              <a:rPr sz="1400" b="1" i="0" lang="es-ES">
                <a:solidFill>
                  <a:srgbClr val="5B6575"/>
                </a:solidFill>
                <a:latin typeface="Calibri"/>
              </a:rPr>
              <a:t>FACULTAD DE INGENIERÍA</a:t>
            </a:r>
          </a:p>
        </p:txBody>
      </p:sp>
      <p:sp>
        <p:nvSpPr>
          <p:cNvPr id="14" name="TextBox 13"/>
          <p:cNvSpPr txBox="1"/>
          <p:nvPr/>
        </p:nvSpPr>
        <p:spPr>
          <a:xfrm>
            <a:off x="731520" y="1572768"/>
            <a:ext cx="7223760" cy="310896"/>
          </a:xfrm>
          <a:prstGeom prst="rect">
            <a:avLst/>
          </a:prstGeom>
          <a:noFill/>
        </p:spPr>
        <p:txBody>
          <a:bodyPr wrap="square" anchor="t" lIns="45720" tIns="27432" rIns="45720" bIns="27432">
            <a:noAutofit/>
          </a:bodyPr>
          <a:lstStyle/>
          <a:p>
            <a:pPr algn="l">
              <a:lnSpc>
                <a:spcPct val="105000"/>
              </a:lnSpc>
            </a:pPr>
            <a:r>
              <a:rPr sz="1400" b="1" i="0" lang="es-ES">
                <a:solidFill>
                  <a:srgbClr val="5B6575"/>
                </a:solidFill>
                <a:latin typeface="Calibri"/>
              </a:rPr>
              <a:t>CARRERA DE INGENIERÍA CIVIL</a:t>
            </a:r>
          </a:p>
        </p:txBody>
      </p:sp>
      <p:sp>
        <p:nvSpPr>
          <p:cNvPr id="15" name="Rectangle 14"/>
          <p:cNvSpPr/>
          <p:nvPr/>
        </p:nvSpPr>
        <p:spPr>
          <a:xfrm>
            <a:off x="749808" y="2029968"/>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2240280"/>
            <a:ext cx="7223760" cy="1965960"/>
          </a:xfrm>
          <a:prstGeom prst="rect">
            <a:avLst/>
          </a:prstGeom>
          <a:noFill/>
        </p:spPr>
        <p:txBody>
          <a:bodyPr wrap="square" anchor="t" lIns="45720" tIns="27432" rIns="45720" bIns="27432">
            <a:noAutofit/>
          </a:bodyPr>
          <a:lstStyle/>
          <a:p>
            <a:pPr algn="l">
              <a:lnSpc>
                <a:spcPct val="108000"/>
              </a:lnSpc>
            </a:pPr>
            <a:r>
              <a:rPr sz="2700" b="1" i="0" lang="es-ES">
                <a:solidFill>
                  <a:srgbClr val="1B2A4A"/>
                </a:solidFill>
                <a:latin typeface="Calibri"/>
              </a:rPr>
              <a:t>DESARROLLO DE SOFTWARE EDUCATIVO DE ELEMENTOS FINITOS PARA EL ANÁLISIS ESTRUCTURAL EMPLEANDO EL LENGUAJE DE PROGRAMACIÓN PYTHON</a:t>
            </a:r>
          </a:p>
        </p:txBody>
      </p:sp>
      <p:sp>
        <p:nvSpPr>
          <p:cNvPr id="17" name="TextBox 16"/>
          <p:cNvSpPr txBox="1"/>
          <p:nvPr/>
        </p:nvSpPr>
        <p:spPr>
          <a:xfrm>
            <a:off x="731520" y="4315968"/>
            <a:ext cx="7223760" cy="384048"/>
          </a:xfrm>
          <a:prstGeom prst="rect">
            <a:avLst/>
          </a:prstGeom>
          <a:noFill/>
        </p:spPr>
        <p:txBody>
          <a:bodyPr wrap="square" anchor="t" lIns="45720" tIns="27432" rIns="45720" bIns="27432">
            <a:noAutofit/>
          </a:bodyPr>
          <a:lstStyle/>
          <a:p>
            <a:pPr algn="l">
              <a:lnSpc>
                <a:spcPct val="105000"/>
              </a:lnSpc>
            </a:pPr>
            <a:r>
              <a:rPr sz="1700" b="0" i="0" lang="es-ES">
                <a:solidFill>
                  <a:srgbClr val="5B6575"/>
                </a:solidFill>
                <a:latin typeface="Calibri"/>
              </a:rPr>
              <a:t>Tesis para optar al Título de Licenciatura en Ingeniería Civil</a:t>
            </a:r>
          </a:p>
        </p:txBody>
      </p:sp>
      <p:sp>
        <p:nvSpPr>
          <p:cNvPr id="18" name="Rectangle 17"/>
          <p:cNvSpPr/>
          <p:nvPr/>
        </p:nvSpPr>
        <p:spPr>
          <a:xfrm>
            <a:off x="749808" y="4800600"/>
            <a:ext cx="7086600"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1520" y="4956048"/>
            <a:ext cx="7223760" cy="411480"/>
          </a:xfrm>
          <a:prstGeom prst="rect">
            <a:avLst/>
          </a:prstGeom>
          <a:noFill/>
        </p:spPr>
        <p:txBody>
          <a:bodyPr wrap="square" anchor="t" lIns="45720" tIns="27432" rIns="45720" bIns="27432">
            <a:noAutofit/>
          </a:bodyPr>
          <a:lstStyle/>
          <a:p>
            <a:pPr algn="l">
              <a:lnSpc>
                <a:spcPct val="105000"/>
              </a:lnSpc>
            </a:pPr>
            <a:r>
              <a:rPr sz="2300" b="1" i="0" lang="es-ES">
                <a:solidFill>
                  <a:srgbClr val="1B2A4A"/>
                </a:solidFill>
                <a:latin typeface="Calibri"/>
              </a:rPr>
              <a:t>Hedy Yhassmany Oyola Sucullani</a:t>
            </a:r>
          </a:p>
        </p:txBody>
      </p:sp>
      <p:sp>
        <p:nvSpPr>
          <p:cNvPr id="20" name="TextBox 19"/>
          <p:cNvSpPr txBox="1"/>
          <p:nvPr/>
        </p:nvSpPr>
        <p:spPr>
          <a:xfrm>
            <a:off x="731520" y="5961888"/>
            <a:ext cx="7223760" cy="384048"/>
          </a:xfrm>
          <a:prstGeom prst="rect">
            <a:avLst/>
          </a:prstGeom>
          <a:noFill/>
        </p:spPr>
        <p:txBody>
          <a:bodyPr wrap="square" anchor="t" lIns="45720" tIns="27432" rIns="45720" bIns="27432">
            <a:noAutofit/>
          </a:bodyPr>
          <a:lstStyle/>
          <a:p>
            <a:pPr algn="l">
              <a:lnSpc>
                <a:spcPct val="105000"/>
              </a:lnSpc>
            </a:pPr>
            <a:r>
              <a:rPr sz="1600" b="0" i="0" lang="es-ES">
                <a:solidFill>
                  <a:srgbClr val="5B6575"/>
                </a:solidFill>
                <a:latin typeface="Calibri"/>
              </a:rPr>
              <a:t>Potosí – Bolivia   ·   Septiembre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01</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Introducción</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La caja negra: de dónde nace el problema, qué se estudia, qué se propone y cómo se contrasta</a:t>
            </a:r>
          </a:p>
        </p:txBody>
      </p:sp>
      <p:sp>
        <p:nvSpPr>
          <p:cNvPr id="35" name="Rounded Rectangle 34"/>
          <p:cNvSpPr/>
          <p:nvPr/>
        </p:nvSpPr>
        <p:spPr>
          <a:xfrm>
            <a:off x="566928"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La brecha: rigor abstracto o caja negra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1572768"/>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Textos clásicos</a:t>
            </a:r>
          </a:p>
        </p:txBody>
      </p:sp>
      <p:sp>
        <p:nvSpPr>
          <p:cNvPr id="16" name="TextBox 15"/>
          <p:cNvSpPr txBox="1"/>
          <p:nvPr/>
        </p:nvSpPr>
        <p:spPr>
          <a:xfrm>
            <a:off x="768096"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Funciones de forma, Jacobiano, matriz B y Gauss como cadena algebraica</a:t>
            </a:r>
          </a:p>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Sin una geometría concreta a la vista</a:t>
            </a:r>
          </a:p>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A mano no escala más allá de uno o dos elementos</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78727" y="1572768"/>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Software profesional</a:t>
            </a:r>
          </a:p>
        </p:txBody>
      </p:sp>
      <p:sp>
        <p:nvSpPr>
          <p:cNvPr id="21" name="TextBox 20"/>
          <p:cNvSpPr txBox="1"/>
          <p:nvPr/>
        </p:nvSpPr>
        <p:spPr>
          <a:xfrm>
            <a:off x="6479895"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Entradas → resultados:</a:t>
            </a:r>
            <a:r>
              <a:rPr sz="2200" b="0" i="0" lang="es-ES">
                <a:solidFill>
                  <a:srgbClr val="1F2937"/>
                </a:solidFill>
                <a:latin typeface="Calibri"/>
              </a:rPr>
              <a:t> el procesamiento intermedio queda oculto</a:t>
            </a:r>
          </a:p>
          <a:p>
            <a:pPr marL="347472" indent="-347472">
              <a:lnSpc>
                <a:spcPct val="112000"/>
              </a:lnSpc>
              <a:spcAft>
                <a:spcPts val="900"/>
              </a:spcAft>
              <a:buClr>
                <a:srgbClr val="F28C28"/>
              </a:buClr>
              <a:buSzPct val="100000"/>
              <a:buFont typeface="Arial"/>
              <a:buChar char="•"/>
            </a:pPr>
            <a:r>
              <a:rPr sz="2200" b="0" i="0" lang="es-ES">
                <a:solidFill>
                  <a:srgbClr val="1F2937"/>
                </a:solidFill>
                <a:latin typeface="Calibri"/>
              </a:rPr>
              <a:t>Costoso, sin propósito didáctico y con localización limitada</a:t>
            </a:r>
          </a:p>
          <a:p>
            <a:pPr marL="347472" indent="-347472">
              <a:lnSpc>
                <a:spcPct val="112000"/>
              </a:lnSpc>
              <a:spcAft>
                <a:spcPts val="900"/>
              </a:spcAft>
              <a:buClr>
                <a:srgbClr val="F28C28"/>
              </a:buClr>
              <a:buSzPct val="100000"/>
              <a:buFont typeface="Arial"/>
              <a:buChar char="•"/>
            </a:pPr>
            <a:r>
              <a:rPr sz="2200" b="0" i="0" lang="es-ES">
                <a:solidFill>
                  <a:srgbClr val="1F2937"/>
                </a:solidFill>
                <a:latin typeface="Calibri"/>
              </a:rPr>
              <a:t>Se opera sin formar criterio sobre la respuesta</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Solo el 31 % de los ingenieros se considera conocedor del análisis por elementos finitos; los expertos piden saber planificar, verificar y validar</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planteamiento del problema</a:t>
            </a:r>
          </a:p>
        </p:txBody>
      </p:sp>
      <p:sp>
        <p:nvSpPr>
          <p:cNvPr id="28" name="TextBox 27"/>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Del problema al objetivo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5216"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971736"/>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Situación problemática</a:t>
            </a:r>
          </a:p>
        </p:txBody>
      </p:sp>
      <p:sp>
        <p:nvSpPr>
          <p:cNvPr id="15" name="TextBox 14"/>
          <p:cNvSpPr txBox="1"/>
          <p:nvPr/>
        </p:nvSpPr>
        <p:spPr>
          <a:xfrm>
            <a:off x="566928" y="3541458"/>
            <a:ext cx="1772655" cy="609980"/>
          </a:xfrm>
          <a:prstGeom prst="rect">
            <a:avLst/>
          </a:prstGeom>
          <a:noFill/>
        </p:spPr>
        <p:txBody>
          <a:bodyPr wrap="square" anchor="t" tIns="18288" bIns="18288">
            <a:noAutofit/>
          </a:bodyPr>
          <a:lstStyle/>
          <a:p>
            <a:pPr algn="ctr">
              <a:lnSpc>
                <a:spcPct val="105000"/>
              </a:lnSpc>
            </a:pPr>
            <a:r>
              <a:rPr sz="1100" b="0" i="0" lang="es-ES">
                <a:solidFill>
                  <a:srgbClr val="5B6575"/>
                </a:solidFill>
                <a:latin typeface="Calibri"/>
              </a:rPr>
              <a:t>se opera el software sin juzgar su respuesta</a:t>
            </a:r>
          </a:p>
        </p:txBody>
      </p:sp>
      <p:sp>
        <p:nvSpPr>
          <p:cNvPr id="16" name="Right Arrow 15"/>
          <p:cNvSpPr/>
          <p:nvPr/>
        </p:nvSpPr>
        <p:spPr>
          <a:xfrm>
            <a:off x="2440167"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88223"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906511"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888223" y="2971736"/>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Problema científico</a:t>
            </a:r>
          </a:p>
        </p:txBody>
      </p:sp>
      <p:sp>
        <p:nvSpPr>
          <p:cNvPr id="20" name="TextBox 19"/>
          <p:cNvSpPr txBox="1"/>
          <p:nvPr/>
        </p:nvSpPr>
        <p:spPr>
          <a:xfrm>
            <a:off x="2888223" y="3541458"/>
            <a:ext cx="1772655" cy="609980"/>
          </a:xfrm>
          <a:prstGeom prst="rect">
            <a:avLst/>
          </a:prstGeom>
          <a:noFill/>
        </p:spPr>
        <p:txBody>
          <a:bodyPr wrap="square" anchor="t" tIns="18288" bIns="18288">
            <a:noAutofit/>
          </a:bodyPr>
          <a:lstStyle/>
          <a:p>
            <a:pPr algn="ctr">
              <a:lnSpc>
                <a:spcPct val="105000"/>
              </a:lnSpc>
            </a:pPr>
            <a:r>
              <a:rPr sz="1100" b="0" i="0" lang="es-ES">
                <a:solidFill>
                  <a:srgbClr val="5B6575"/>
                </a:solidFill>
                <a:latin typeface="Calibri"/>
              </a:rPr>
              <a:t>caja negra → bajo criterio para interpretar</a:t>
            </a:r>
          </a:p>
        </p:txBody>
      </p:sp>
      <p:sp>
        <p:nvSpPr>
          <p:cNvPr id="21" name="Right Arrow 20"/>
          <p:cNvSpPr/>
          <p:nvPr/>
        </p:nvSpPr>
        <p:spPr>
          <a:xfrm>
            <a:off x="4761463"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09519"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27807"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209519" y="2971736"/>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Objeto de estudio</a:t>
            </a:r>
          </a:p>
        </p:txBody>
      </p:sp>
      <p:sp>
        <p:nvSpPr>
          <p:cNvPr id="25" name="TextBox 24"/>
          <p:cNvSpPr txBox="1"/>
          <p:nvPr/>
        </p:nvSpPr>
        <p:spPr>
          <a:xfrm>
            <a:off x="5209519" y="3541458"/>
            <a:ext cx="1772655" cy="609980"/>
          </a:xfrm>
          <a:prstGeom prst="rect">
            <a:avLst/>
          </a:prstGeom>
          <a:noFill/>
        </p:spPr>
        <p:txBody>
          <a:bodyPr wrap="square" anchor="t" tIns="18288" bIns="18288">
            <a:noAutofit/>
          </a:bodyPr>
          <a:lstStyle/>
          <a:p>
            <a:pPr algn="ctr">
              <a:lnSpc>
                <a:spcPct val="105000"/>
              </a:lnSpc>
            </a:pPr>
            <a:r>
              <a:rPr sz="1100" b="0" i="0" lang="es-ES">
                <a:solidFill>
                  <a:srgbClr val="5B6575"/>
                </a:solidFill>
                <a:latin typeface="Calibri"/>
              </a:rPr>
              <a:t>enseñanza-aprendizaje del MEF plano</a:t>
            </a:r>
          </a:p>
        </p:txBody>
      </p:sp>
      <p:sp>
        <p:nvSpPr>
          <p:cNvPr id="26" name="Right Arrow 25"/>
          <p:cNvSpPr/>
          <p:nvPr/>
        </p:nvSpPr>
        <p:spPr>
          <a:xfrm>
            <a:off x="7082759"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530815"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549103"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30815" y="2971736"/>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Campo de acción</a:t>
            </a:r>
          </a:p>
        </p:txBody>
      </p:sp>
      <p:sp>
        <p:nvSpPr>
          <p:cNvPr id="30" name="TextBox 29"/>
          <p:cNvSpPr txBox="1"/>
          <p:nvPr/>
        </p:nvSpPr>
        <p:spPr>
          <a:xfrm>
            <a:off x="7530815" y="3541458"/>
            <a:ext cx="1772655" cy="609980"/>
          </a:xfrm>
          <a:prstGeom prst="rect">
            <a:avLst/>
          </a:prstGeom>
          <a:noFill/>
        </p:spPr>
        <p:txBody>
          <a:bodyPr wrap="square" anchor="t" tIns="18288" bIns="18288">
            <a:noAutofit/>
          </a:bodyPr>
          <a:lstStyle/>
          <a:p>
            <a:pPr algn="ctr">
              <a:lnSpc>
                <a:spcPct val="105000"/>
              </a:lnSpc>
            </a:pPr>
            <a:r>
              <a:rPr sz="1100" b="0" i="0" lang="es-ES">
                <a:solidFill>
                  <a:srgbClr val="5B6575"/>
                </a:solidFill>
                <a:latin typeface="Calibri"/>
              </a:rPr>
              <a:t>medios didácticos: software y memoria</a:t>
            </a:r>
          </a:p>
        </p:txBody>
      </p:sp>
      <p:sp>
        <p:nvSpPr>
          <p:cNvPr id="31" name="Right Arrow 30"/>
          <p:cNvSpPr/>
          <p:nvPr/>
        </p:nvSpPr>
        <p:spPr>
          <a:xfrm>
            <a:off x="9404055"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852111"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870399"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852111" y="2971736"/>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Objetivo general</a:t>
            </a:r>
          </a:p>
        </p:txBody>
      </p:sp>
      <p:sp>
        <p:nvSpPr>
          <p:cNvPr id="35" name="TextBox 34"/>
          <p:cNvSpPr txBox="1"/>
          <p:nvPr/>
        </p:nvSpPr>
        <p:spPr>
          <a:xfrm>
            <a:off x="9852111" y="3541458"/>
            <a:ext cx="1772655" cy="609980"/>
          </a:xfrm>
          <a:prstGeom prst="rect">
            <a:avLst/>
          </a:prstGeom>
          <a:noFill/>
        </p:spPr>
        <p:txBody>
          <a:bodyPr wrap="square" anchor="t" tIns="18288" bIns="18288">
            <a:noAutofit/>
          </a:bodyPr>
          <a:lstStyle/>
          <a:p>
            <a:pPr algn="ctr">
              <a:lnSpc>
                <a:spcPct val="105000"/>
              </a:lnSpc>
            </a:pPr>
            <a:r>
              <a:rPr sz="1100" b="0" i="0" lang="es-ES">
                <a:solidFill>
                  <a:srgbClr val="5B6575"/>
                </a:solidFill>
                <a:latin typeface="Calibri"/>
              </a:rPr>
              <a:t>desarrollar EduFEM para mejorar ese criterio</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Causa: cómo se expone el canal y la respuesta · Efecto: criterio del estudiante · Interviniente: EduFEM</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problema científico, objeto y campo</a:t>
            </a:r>
          </a:p>
        </p:txBody>
      </p:sp>
      <p:sp>
        <p:nvSpPr>
          <p:cNvPr id="42" name="TextBox 4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Un objetivo general, cinco específicos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572768"/>
            <a:ext cx="11057839" cy="558800"/>
          </a:xfrm>
          <a:prstGeom prst="rect">
            <a:avLst/>
          </a:prstGeom>
          <a:noFill/>
        </p:spPr>
        <p:txBody>
          <a:bodyPr wrap="square" anchor="t" lIns="45720" tIns="27432" rIns="45720" bIns="27432">
            <a:noAutofit/>
          </a:bodyPr>
          <a:lstStyle/>
          <a:p>
            <a:pPr algn="l">
              <a:lnSpc>
                <a:spcPct val="108000"/>
              </a:lnSpc>
            </a:pPr>
            <a:r>
              <a:rPr sz="1600" b="0" i="1" lang="es-ES">
                <a:solidFill>
                  <a:srgbClr val="5B6575"/>
                </a:solidFill>
                <a:latin typeface="Calibri"/>
              </a:rPr>
              <a:t>Desarrollar EduFEM en Python para mejorar el criterio del estudiante en la interpretación de la respuesta estructural</a:t>
            </a:r>
          </a:p>
        </p:txBody>
      </p:sp>
      <p:graphicFrame>
        <p:nvGraphicFramePr>
          <p:cNvPr id="13" name="Table 12"/>
          <p:cNvGraphicFramePr>
            <a:graphicFrameLocks noGrp="1"/>
          </p:cNvGraphicFramePr>
          <p:nvPr/>
        </p:nvGraphicFramePr>
        <p:xfrm>
          <a:off x="566928" y="2324015"/>
          <a:ext cx="11057838" cy="2933358"/>
        </p:xfrm>
        <a:graphic>
          <a:graphicData uri="http://schemas.openxmlformats.org/drawingml/2006/table">
            <a:tbl>
              <a:tblPr firstRow="0" bandRow="0">
                <a:tableStyleId>{5C22544A-7EE6-4342-B048-85BDC9FD1C3A}</a:tableStyleId>
              </a:tblPr>
              <a:tblGrid>
                <a:gridCol w="961589"/>
                <a:gridCol w="8314558"/>
                <a:gridCol w="1781691"/>
              </a:tblGrid>
              <a:tr h="566928">
                <a:tc>
                  <a:txBody>
                    <a:bodyPr wrap="square"/>
                    <a:lstStyle/>
                    <a:p>
                      <a:pPr algn="l"/>
                      <a:r>
                        <a:rPr sz="1700" b="1" i="0" lang="es-ES">
                          <a:solidFill>
                            <a:srgbClr val="FFFFFF"/>
                          </a:solidFill>
                          <a:latin typeface="Calibri"/>
                        </a:rPr>
                        <a:t>OE</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Qué se hace</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Dónde se cumple</a:t>
                      </a:r>
                    </a:p>
                  </a:txBody>
                  <a:tcPr marL="73152" marR="73152" marT="27432" marB="27432" anchor="ctr">
                    <a:solidFill>
                      <a:srgbClr val="1B2A4A"/>
                    </a:solidFill>
                  </a:tcPr>
                </a:tc>
              </a:tr>
              <a:tr h="473286">
                <a:tc>
                  <a:txBody>
                    <a:bodyPr wrap="square"/>
                    <a:lstStyle/>
                    <a:p>
                      <a:pPr algn="l"/>
                      <a:r>
                        <a:rPr sz="1700" b="1" i="0" lang="es-ES">
                          <a:solidFill>
                            <a:srgbClr val="1F2937"/>
                          </a:solidFill>
                          <a:latin typeface="Calibri"/>
                        </a:rPr>
                        <a:t>OE1</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Diagnosticar la brecha entre operar el software y juzgar su respuesta</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Cap. 1, §1.1</a:t>
                      </a:r>
                    </a:p>
                  </a:txBody>
                  <a:tcPr marL="73152" marR="73152" marT="27432" marB="27432" anchor="ctr">
                    <a:solidFill>
                      <a:srgbClr val="FFFFFF"/>
                    </a:solidFill>
                  </a:tcPr>
                </a:tc>
              </a:tr>
              <a:tr h="473286">
                <a:tc>
                  <a:txBody>
                    <a:bodyPr wrap="square"/>
                    <a:lstStyle/>
                    <a:p>
                      <a:pPr algn="l"/>
                      <a:r>
                        <a:rPr sz="1700" b="1" i="0" lang="es-ES">
                          <a:solidFill>
                            <a:srgbClr val="1F2937"/>
                          </a:solidFill>
                          <a:latin typeface="Calibri"/>
                        </a:rPr>
                        <a:t>OE2</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Fundamentar el MEF plano con Q4 y Q9 y los principios de aprendizaje</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Cap. 1</a:t>
                      </a:r>
                    </a:p>
                  </a:txBody>
                  <a:tcPr marL="73152" marR="73152" marT="27432" marB="27432" anchor="ctr">
                    <a:solidFill>
                      <a:srgbClr val="F6F8FC"/>
                    </a:solidFill>
                  </a:tcPr>
                </a:tc>
              </a:tr>
              <a:tr h="473286">
                <a:tc>
                  <a:txBody>
                    <a:bodyPr wrap="square"/>
                    <a:lstStyle/>
                    <a:p>
                      <a:pPr algn="l"/>
                      <a:r>
                        <a:rPr sz="1700" b="1" i="0" lang="es-ES">
                          <a:solidFill>
                            <a:srgbClr val="1F2937"/>
                          </a:solidFill>
                          <a:latin typeface="Calibri"/>
                        </a:rPr>
                        <a:t>OE3</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Desarrollar el motor, la interfaz, los módulos y la memoria de cálculo</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Cap. 2</a:t>
                      </a:r>
                    </a:p>
                  </a:txBody>
                  <a:tcPr marL="73152" marR="73152" marT="27432" marB="27432" anchor="ctr">
                    <a:solidFill>
                      <a:srgbClr val="FFFFFF"/>
                    </a:solidFill>
                  </a:tcPr>
                </a:tc>
              </a:tr>
              <a:tr h="473286">
                <a:tc>
                  <a:txBody>
                    <a:bodyPr wrap="square"/>
                    <a:lstStyle/>
                    <a:p>
                      <a:pPr algn="l"/>
                      <a:r>
                        <a:rPr sz="1700" b="1" i="0" lang="es-ES">
                          <a:solidFill>
                            <a:srgbClr val="1F2937"/>
                          </a:solidFill>
                          <a:latin typeface="Calibri"/>
                        </a:rPr>
                        <a:t>OE4</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Verificar y validar el motor: MMS, Timoshenko, Cook y SAP2000</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Cap. 3</a:t>
                      </a:r>
                    </a:p>
                  </a:txBody>
                  <a:tcPr marL="73152" marR="73152" marT="27432" marB="27432" anchor="ctr">
                    <a:solidFill>
                      <a:srgbClr val="F6F8FC"/>
                    </a:solidFill>
                  </a:tcPr>
                </a:tc>
              </a:tr>
              <a:tr h="473286">
                <a:tc>
                  <a:txBody>
                    <a:bodyPr wrap="square"/>
                    <a:lstStyle/>
                    <a:p>
                      <a:pPr algn="l"/>
                      <a:r>
                        <a:rPr sz="1700" b="1" i="0" lang="es-ES">
                          <a:solidFill>
                            <a:srgbClr val="1F2937"/>
                          </a:solidFill>
                          <a:latin typeface="Calibri"/>
                        </a:rPr>
                        <a:t>OE5</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Validar el contenido frente a las destrezas que los expertos exigen</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Cap. 3, §3.6</a:t>
                      </a:r>
                    </a:p>
                  </a:txBody>
                  <a:tcPr marL="73152" marR="73152" marT="27432" marB="27432" anchor="ctr">
                    <a:solidFill>
                      <a:srgbClr val="FFFFFF"/>
                    </a:solidFill>
                  </a:tcPr>
                </a:tc>
              </a:tr>
            </a:tbl>
          </a:graphicData>
        </a:graphic>
      </p:graphicFrame>
      <p:sp>
        <p:nvSpPr>
          <p:cNvPr id="14" name="Rectangle 13"/>
          <p:cNvSpPr/>
          <p:nvPr/>
        </p:nvSpPr>
        <p:spPr>
          <a:xfrm>
            <a:off x="566928" y="2858939"/>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Diagnosticar, fundamentar, desarrollar, verificar y validar: la tabla vuelve en las conclusiones con su cumplimiento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objetivos</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Hipótesis y preguntas de investigación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572768"/>
            <a:ext cx="11057839" cy="558800"/>
          </a:xfrm>
          <a:prstGeom prst="rect">
            <a:avLst/>
          </a:prstGeom>
          <a:noFill/>
        </p:spPr>
        <p:txBody>
          <a:bodyPr wrap="square" anchor="t" lIns="45720" tIns="27432" rIns="45720" bIns="27432">
            <a:noAutofit/>
          </a:bodyPr>
          <a:lstStyle/>
          <a:p>
            <a:pPr algn="l">
              <a:lnSpc>
                <a:spcPct val="108000"/>
              </a:lnSpc>
            </a:pPr>
            <a:r>
              <a:rPr sz="1600" b="0" i="1" lang="es-ES">
                <a:solidFill>
                  <a:srgbClr val="5B6575"/>
                </a:solidFill>
                <a:latin typeface="Calibri"/>
              </a:rPr>
              <a:t>Bajo el desarrollo de EduFEM, la exposición transparente e interactiva del canal y de la respuesta permitirá mejorar el criterio para interpretarla</a:t>
            </a:r>
          </a:p>
        </p:txBody>
      </p:sp>
      <p:sp>
        <p:nvSpPr>
          <p:cNvPr id="13" name="Rounded Rectangle 12"/>
          <p:cNvSpPr/>
          <p:nvPr/>
        </p:nvSpPr>
        <p:spPr>
          <a:xfrm>
            <a:off x="566928" y="2241296"/>
            <a:ext cx="5346039" cy="3098800"/>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66928" y="2241296"/>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2588768"/>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66928" y="2241296"/>
            <a:ext cx="5346039" cy="621792"/>
          </a:xfrm>
          <a:prstGeom prst="rect">
            <a:avLst/>
          </a:prstGeom>
          <a:noFill/>
        </p:spPr>
        <p:txBody>
          <a:bodyPr wrap="square" anchor="ctr" lIns="45720" tIns="27432" rIns="45720" bIns="27432">
            <a:noAutofit/>
          </a:bodyPr>
          <a:lstStyle/>
          <a:p>
            <a:pPr algn="ctr">
              <a:lnSpc>
                <a:spcPct val="100000"/>
              </a:lnSpc>
            </a:pPr>
            <a:r>
              <a:rPr sz="2000" b="1" i="0" lang="es-ES">
                <a:solidFill>
                  <a:srgbClr val="FFFFFF"/>
                </a:solidFill>
                <a:latin typeface="Calibri"/>
              </a:rPr>
              <a:t>Se comprueba en diseño y contenido</a:t>
            </a:r>
          </a:p>
        </p:txBody>
      </p:sp>
      <p:sp>
        <p:nvSpPr>
          <p:cNvPr id="17" name="TextBox 16"/>
          <p:cNvSpPr txBox="1"/>
          <p:nvPr/>
        </p:nvSpPr>
        <p:spPr>
          <a:xfrm>
            <a:off x="768096" y="3064256"/>
            <a:ext cx="4943703" cy="2147824"/>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1500" b="1" i="0" lang="es-ES">
                <a:solidFill>
                  <a:srgbClr val="1B2A4A"/>
                </a:solidFill>
                <a:latin typeface="Calibri"/>
              </a:rPr>
              <a:t>(a) Exposición:</a:t>
            </a:r>
            <a:r>
              <a:rPr sz="1500" b="0" i="0" lang="es-ES">
                <a:solidFill>
                  <a:srgbClr val="1F2937"/>
                </a:solidFill>
                <a:latin typeface="Calibri"/>
              </a:rPr>
              <a:t> cada etapa en un módulo o en la memoria</a:t>
            </a:r>
          </a:p>
          <a:p>
            <a:pPr marL="347472" indent="-347472">
              <a:lnSpc>
                <a:spcPct val="112000"/>
              </a:lnSpc>
              <a:spcAft>
                <a:spcPts val="900"/>
              </a:spcAft>
              <a:buClr>
                <a:srgbClr val="1B2A4A"/>
              </a:buClr>
              <a:buSzPct val="100000"/>
              <a:buFont typeface="Arial"/>
              <a:buChar char="•"/>
            </a:pPr>
            <a:r>
              <a:rPr sz="1500" b="1" i="0" lang="es-ES">
                <a:solidFill>
                  <a:srgbClr val="1B2A4A"/>
                </a:solidFill>
                <a:latin typeface="Calibri"/>
              </a:rPr>
              <a:t>(b) Corrección:</a:t>
            </a:r>
            <a:r>
              <a:rPr sz="1500" b="0" i="0" lang="es-ES">
                <a:solidFill>
                  <a:srgbClr val="1F2937"/>
                </a:solidFill>
                <a:latin typeface="Calibri"/>
              </a:rPr>
              <a:t> tasas teóricas; &lt; 1 % en σₓ y &lt; 3 % en flecha; el Q4 bloquea</a:t>
            </a:r>
          </a:p>
          <a:p>
            <a:pPr marL="347472" indent="-347472">
              <a:lnSpc>
                <a:spcPct val="112000"/>
              </a:lnSpc>
              <a:spcAft>
                <a:spcPts val="900"/>
              </a:spcAft>
              <a:buClr>
                <a:srgbClr val="1B2A4A"/>
              </a:buClr>
              <a:buSzPct val="100000"/>
              <a:buFont typeface="Arial"/>
              <a:buChar char="•"/>
            </a:pPr>
            <a:r>
              <a:rPr sz="1500" b="1" i="0" lang="es-ES">
                <a:solidFill>
                  <a:srgbClr val="1B2A4A"/>
                </a:solidFill>
                <a:latin typeface="Calibri"/>
              </a:rPr>
              <a:t>(c) Contenido:</a:t>
            </a:r>
            <a:r>
              <a:rPr sz="1500" b="0" i="0" lang="es-ES">
                <a:solidFill>
                  <a:srgbClr val="1F2937"/>
                </a:solidFill>
                <a:latin typeface="Calibri"/>
              </a:rPr>
              <a:t> cada destreza exigida tiene su instrumento</a:t>
            </a:r>
          </a:p>
          <a:p>
            <a:pPr marL="347472" indent="-347472">
              <a:lnSpc>
                <a:spcPct val="112000"/>
              </a:lnSpc>
              <a:spcAft>
                <a:spcPts val="900"/>
              </a:spcAft>
              <a:buClr>
                <a:srgbClr val="1B2A4A"/>
              </a:buClr>
              <a:buSzPct val="100000"/>
              <a:buFont typeface="Arial"/>
              <a:buChar char="•"/>
            </a:pPr>
            <a:r>
              <a:rPr sz="1500" b="1" i="0" lang="es-ES">
                <a:solidFill>
                  <a:srgbClr val="1B2A4A"/>
                </a:solidFill>
                <a:latin typeface="Calibri"/>
              </a:rPr>
              <a:t>Efecto sobre el estudiante:</a:t>
            </a:r>
            <a:r>
              <a:rPr sz="1500" b="0" i="0" lang="es-ES">
                <a:solidFill>
                  <a:srgbClr val="1F2937"/>
                </a:solidFill>
                <a:latin typeface="Calibri"/>
              </a:rPr>
              <a:t> fundamentado; prueba de campo diseñada</a:t>
            </a:r>
          </a:p>
        </p:txBody>
      </p:sp>
      <p:sp>
        <p:nvSpPr>
          <p:cNvPr id="18" name="Rounded Rectangle 17"/>
          <p:cNvSpPr/>
          <p:nvPr/>
        </p:nvSpPr>
        <p:spPr>
          <a:xfrm>
            <a:off x="6278727" y="2241296"/>
            <a:ext cx="5346039" cy="3098800"/>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278727" y="2241296"/>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78727" y="2588768"/>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78727" y="2241296"/>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Preguntas de investigación</a:t>
            </a:r>
          </a:p>
        </p:txBody>
      </p:sp>
      <p:sp>
        <p:nvSpPr>
          <p:cNvPr id="22" name="TextBox 21"/>
          <p:cNvSpPr txBox="1"/>
          <p:nvPr/>
        </p:nvSpPr>
        <p:spPr>
          <a:xfrm>
            <a:off x="6479895" y="3064256"/>
            <a:ext cx="4943703" cy="2147824"/>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1700" b="1" i="0" lang="es-ES">
                <a:solidFill>
                  <a:srgbClr val="1B2A4A"/>
                </a:solidFill>
                <a:latin typeface="Calibri"/>
              </a:rPr>
              <a:t>PI-1:</a:t>
            </a:r>
            <a:r>
              <a:rPr sz="1700" b="0" i="0" lang="es-ES">
                <a:solidFill>
                  <a:srgbClr val="1F2937"/>
                </a:solidFill>
                <a:latin typeface="Calibri"/>
              </a:rPr>
              <a:t> ¿qué organización expone el canal y la respuesta en lugar de encapsularlos?</a:t>
            </a:r>
          </a:p>
          <a:p>
            <a:pPr marL="347472" indent="-347472">
              <a:lnSpc>
                <a:spcPct val="112000"/>
              </a:lnSpc>
              <a:spcAft>
                <a:spcPts val="900"/>
              </a:spcAft>
              <a:buClr>
                <a:srgbClr val="F28C28"/>
              </a:buClr>
              <a:buSzPct val="100000"/>
              <a:buFont typeface="Arial"/>
              <a:buChar char="•"/>
            </a:pPr>
            <a:r>
              <a:rPr sz="1700" b="1" i="0" lang="es-ES">
                <a:solidFill>
                  <a:srgbClr val="1B2A4A"/>
                </a:solidFill>
                <a:latin typeface="Calibri"/>
              </a:rPr>
              <a:t>PI-2:</a:t>
            </a:r>
            <a:r>
              <a:rPr sz="1700" b="0" i="0" lang="es-ES">
                <a:solidFill>
                  <a:srgbClr val="1F2937"/>
                </a:solidFill>
                <a:latin typeface="Calibri"/>
              </a:rPr>
              <a:t> ¿precisión verificable y fenómenos numéricos frente a referencias y SAP2000?</a:t>
            </a:r>
          </a:p>
          <a:p>
            <a:pPr marL="347472" indent="-347472">
              <a:lnSpc>
                <a:spcPct val="112000"/>
              </a:lnSpc>
              <a:spcAft>
                <a:spcPts val="900"/>
              </a:spcAft>
              <a:buClr>
                <a:srgbClr val="F28C28"/>
              </a:buClr>
              <a:buSzPct val="100000"/>
              <a:buFont typeface="Arial"/>
              <a:buChar char="•"/>
            </a:pPr>
            <a:r>
              <a:rPr sz="1700" b="1" i="0" lang="es-ES">
                <a:solidFill>
                  <a:srgbClr val="1B2A4A"/>
                </a:solidFill>
                <a:latin typeface="Calibri"/>
              </a:rPr>
              <a:t>PI-3:</a:t>
            </a:r>
            <a:r>
              <a:rPr sz="1700" b="0" i="0" lang="es-ES">
                <a:solidFill>
                  <a:srgbClr val="1F2937"/>
                </a:solidFill>
                <a:latin typeface="Calibri"/>
              </a:rPr>
              <a:t> ¿cubre las destrezas que los expertos exigen y encarna los principios de aprendizaje?</a:t>
            </a:r>
          </a:p>
        </p:txBody>
      </p:sp>
      <p:sp>
        <p:nvSpPr>
          <p:cNvPr id="23" name="Rectangle 22"/>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Cada cláusula puede resultar falsa; los criterios con que se contrastan se fijan a priori en §2.1.6</a:t>
            </a:r>
          </a:p>
        </p:txBody>
      </p:sp>
      <p:sp>
        <p:nvSpPr>
          <p:cNvPr id="26" name="Rectangle 2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8" name="TextBox 2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hipótesis, preguntas y metodología</a:t>
            </a:r>
          </a:p>
        </p:txBody>
      </p:sp>
      <p:sp>
        <p:nvSpPr>
          <p:cNvPr id="29" name="TextBox 2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02</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Base teórica</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Abrir la caja: el estado del arte y el canal de cálculo del MEF isoparamétrico</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Estado del arte: el vacío que se cubre</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572768"/>
            <a:ext cx="11057839" cy="354329"/>
          </a:xfrm>
          <a:prstGeom prst="rect">
            <a:avLst/>
          </a:prstGeom>
          <a:noFill/>
        </p:spPr>
        <p:txBody>
          <a:bodyPr wrap="square" anchor="t" lIns="45720" tIns="27432" rIns="45720" bIns="27432">
            <a:noAutofit/>
          </a:bodyPr>
          <a:lstStyle/>
          <a:p>
            <a:pPr algn="l">
              <a:lnSpc>
                <a:spcPct val="108000"/>
              </a:lnSpc>
            </a:pPr>
            <a:r>
              <a:rPr sz="1800" b="0" i="1" lang="es-ES">
                <a:solidFill>
                  <a:srgbClr val="5B6575"/>
                </a:solidFill>
                <a:latin typeface="Calibri"/>
              </a:rPr>
              <a:t>«No consta»: la fuente no lo documenta · «Propósito general»: bibliotecas y comerciales</a:t>
            </a:r>
          </a:p>
        </p:txBody>
      </p:sp>
      <p:graphicFrame>
        <p:nvGraphicFramePr>
          <p:cNvPr id="13" name="Table 12"/>
          <p:cNvGraphicFramePr>
            <a:graphicFrameLocks noGrp="1"/>
          </p:cNvGraphicFramePr>
          <p:nvPr/>
        </p:nvGraphicFramePr>
        <p:xfrm>
          <a:off x="566928" y="2036826"/>
          <a:ext cx="11057837" cy="3303264"/>
        </p:xfrm>
        <a:graphic>
          <a:graphicData uri="http://schemas.openxmlformats.org/drawingml/2006/table">
            <a:tbl>
              <a:tblPr firstRow="0" bandRow="0">
                <a:tableStyleId>{5C22544A-7EE6-4342-B048-85BDC9FD1C3A}</a:tableStyleId>
              </a:tblPr>
              <a:tblGrid>
                <a:gridCol w="1778533"/>
                <a:gridCol w="2706464"/>
                <a:gridCol w="1546550"/>
                <a:gridCol w="1701206"/>
                <a:gridCol w="1469223"/>
                <a:gridCol w="1855861"/>
              </a:tblGrid>
              <a:tr h="363378">
                <a:tc>
                  <a:txBody>
                    <a:bodyPr wrap="square"/>
                    <a:lstStyle/>
                    <a:p>
                      <a:pPr algn="l"/>
                      <a:r>
                        <a:rPr sz="1300" b="1" i="0" lang="es-ES">
                          <a:solidFill>
                            <a:srgbClr val="FFFFFF"/>
                          </a:solidFill>
                          <a:latin typeface="Calibri"/>
                        </a:rPr>
                        <a:t>Atributo</a:t>
                      </a:r>
                    </a:p>
                  </a:txBody>
                  <a:tcPr marL="73152" marR="73152" marT="27432" marB="27432" anchor="ctr">
                    <a:solidFill>
                      <a:srgbClr val="1B2A4A"/>
                    </a:solidFill>
                  </a:tcPr>
                </a:tc>
                <a:tc>
                  <a:txBody>
                    <a:bodyPr wrap="square"/>
                    <a:lstStyle/>
                    <a:p>
                      <a:pPr algn="ctr"/>
                      <a:r>
                        <a:rPr sz="1300" b="1" i="0" lang="es-ES">
                          <a:solidFill>
                            <a:srgbClr val="FFFFFF"/>
                          </a:solidFill>
                          <a:latin typeface="Calibri"/>
                        </a:rPr>
                        <a:t>EduFEM</a:t>
                      </a:r>
                    </a:p>
                  </a:txBody>
                  <a:tcPr marL="73152" marR="73152" marT="27432" marB="27432" anchor="ctr">
                    <a:solidFill>
                      <a:srgbClr val="1B2A4A"/>
                    </a:solidFill>
                  </a:tcPr>
                </a:tc>
                <a:tc>
                  <a:txBody>
                    <a:bodyPr wrap="square"/>
                    <a:lstStyle/>
                    <a:p>
                      <a:pPr algn="ctr"/>
                      <a:r>
                        <a:rPr sz="1300" b="1" i="0" lang="es-ES">
                          <a:solidFill>
                            <a:srgbClr val="FFFFFF"/>
                          </a:solidFill>
                          <a:latin typeface="Calibri"/>
                        </a:rPr>
                        <a:t>ED-Elas2D</a:t>
                      </a:r>
                    </a:p>
                  </a:txBody>
                  <a:tcPr marL="73152" marR="73152" marT="27432" marB="27432" anchor="ctr">
                    <a:solidFill>
                      <a:srgbClr val="1B2A4A"/>
                    </a:solidFill>
                  </a:tcPr>
                </a:tc>
                <a:tc>
                  <a:txBody>
                    <a:bodyPr wrap="square"/>
                    <a:lstStyle/>
                    <a:p>
                      <a:pPr algn="ctr"/>
                      <a:r>
                        <a:rPr sz="1300" b="1" i="0" lang="es-ES">
                          <a:solidFill>
                            <a:srgbClr val="FFFFFF"/>
                          </a:solidFill>
                          <a:latin typeface="Calibri"/>
                        </a:rPr>
                        <a:t>Reticulados</a:t>
                      </a:r>
                    </a:p>
                  </a:txBody>
                  <a:tcPr marL="73152" marR="73152" marT="27432" marB="27432" anchor="ctr">
                    <a:solidFill>
                      <a:srgbClr val="1B2A4A"/>
                    </a:solidFill>
                  </a:tcPr>
                </a:tc>
                <a:tc>
                  <a:txBody>
                    <a:bodyPr wrap="square"/>
                    <a:lstStyle/>
                    <a:p>
                      <a:pPr algn="ctr"/>
                      <a:r>
                        <a:rPr sz="1300" b="1" i="0" lang="es-ES">
                          <a:solidFill>
                            <a:srgbClr val="FFFFFF"/>
                          </a:solidFill>
                          <a:latin typeface="Calibri"/>
                        </a:rPr>
                        <a:t>VisualFEA</a:t>
                      </a:r>
                    </a:p>
                  </a:txBody>
                  <a:tcPr marL="73152" marR="73152" marT="27432" marB="27432" anchor="ctr">
                    <a:solidFill>
                      <a:srgbClr val="1B2A4A"/>
                    </a:solidFill>
                  </a:tcPr>
                </a:tc>
                <a:tc>
                  <a:txBody>
                    <a:bodyPr wrap="square"/>
                    <a:lstStyle/>
                    <a:p>
                      <a:pPr algn="ctr"/>
                      <a:r>
                        <a:rPr sz="1300" b="1" i="0" lang="es-ES">
                          <a:solidFill>
                            <a:srgbClr val="FFFFFF"/>
                          </a:solidFill>
                          <a:latin typeface="Calibri"/>
                        </a:rPr>
                        <a:t>Propósito general</a:t>
                      </a:r>
                    </a:p>
                  </a:txBody>
                  <a:tcPr marL="73152" marR="73152" marT="27432" marB="27432" anchor="ctr">
                    <a:solidFill>
                      <a:srgbClr val="1B2A4A"/>
                    </a:solidFill>
                  </a:tcPr>
                </a:tc>
              </a:tr>
              <a:tr h="561498">
                <a:tc>
                  <a:txBody>
                    <a:bodyPr wrap="square"/>
                    <a:lstStyle/>
                    <a:p>
                      <a:pPr algn="l"/>
                      <a:r>
                        <a:rPr sz="1300" b="1" i="0" lang="es-ES">
                          <a:solidFill>
                            <a:srgbClr val="1F2937"/>
                          </a:solidFill>
                          <a:latin typeface="Calibri"/>
                        </a:rPr>
                        <a:t>Idioma</a:t>
                      </a:r>
                    </a:p>
                  </a:txBody>
                  <a:tcPr marL="73152" marR="73152" marT="27432" marB="27432" anchor="ctr">
                    <a:solidFill>
                      <a:srgbClr val="FFFFFF"/>
                    </a:solidFill>
                  </a:tcPr>
                </a:tc>
                <a:tc>
                  <a:txBody>
                    <a:bodyPr wrap="square"/>
                    <a:lstStyle/>
                    <a:p>
                      <a:pPr algn="ctr"/>
                      <a:r>
                        <a:rPr sz="1300" b="1" i="0" lang="es-ES">
                          <a:solidFill>
                            <a:srgbClr val="1F2937"/>
                          </a:solidFill>
                          <a:latin typeface="Calibri"/>
                        </a:rPr>
                        <a:t>Español</a:t>
                      </a:r>
                    </a:p>
                  </a:txBody>
                  <a:tcPr marL="73152" marR="73152" marT="27432" marB="27432" anchor="ctr">
                    <a:solidFill>
                      <a:srgbClr val="FDF1E2"/>
                    </a:solidFill>
                  </a:tcPr>
                </a:tc>
                <a:tc>
                  <a:txBody>
                    <a:bodyPr wrap="square"/>
                    <a:lstStyle/>
                    <a:p>
                      <a:pPr algn="ctr"/>
                      <a:r>
                        <a:rPr sz="1300" b="0" i="0" lang="es-ES">
                          <a:solidFill>
                            <a:srgbClr val="1F2937"/>
                          </a:solidFill>
                          <a:latin typeface="Calibri"/>
                        </a:rPr>
                        <a:t>Español (parcial)</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Inglés</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Inglés</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Inglés</a:t>
                      </a:r>
                    </a:p>
                  </a:txBody>
                  <a:tcPr marL="73152" marR="73152" marT="27432" marB="27432" anchor="ctr">
                    <a:solidFill>
                      <a:srgbClr val="FFFFFF"/>
                    </a:solidFill>
                  </a:tcPr>
                </a:tc>
              </a:tr>
              <a:tr h="363378">
                <a:tc>
                  <a:txBody>
                    <a:bodyPr wrap="square"/>
                    <a:lstStyle/>
                    <a:p>
                      <a:pPr algn="l"/>
                      <a:r>
                        <a:rPr sz="1300" b="1" i="0" lang="es-ES">
                          <a:solidFill>
                            <a:srgbClr val="1F2937"/>
                          </a:solidFill>
                          <a:latin typeface="Calibri"/>
                        </a:rPr>
                        <a:t>Licencia</a:t>
                      </a:r>
                    </a:p>
                  </a:txBody>
                  <a:tcPr marL="73152" marR="73152" marT="27432" marB="27432" anchor="ctr">
                    <a:solidFill>
                      <a:srgbClr val="F6F8FC"/>
                    </a:solidFill>
                  </a:tcPr>
                </a:tc>
                <a:tc>
                  <a:txBody>
                    <a:bodyPr wrap="square"/>
                    <a:lstStyle/>
                    <a:p>
                      <a:pPr algn="ctr"/>
                      <a:r>
                        <a:rPr sz="1300" b="1" i="0" lang="es-ES">
                          <a:solidFill>
                            <a:srgbClr val="1F2937"/>
                          </a:solidFill>
                          <a:latin typeface="Calibri"/>
                        </a:rPr>
                        <a:t>Libre y abierta</a:t>
                      </a:r>
                    </a:p>
                  </a:txBody>
                  <a:tcPr marL="73152" marR="73152" marT="27432" marB="27432" anchor="ctr">
                    <a:solidFill>
                      <a:srgbClr val="FDF1E2"/>
                    </a:solidFill>
                  </a:tcPr>
                </a:tc>
                <a:tc>
                  <a:txBody>
                    <a:bodyPr wrap="square"/>
                    <a:lstStyle/>
                    <a:p>
                      <a:pPr algn="ctr"/>
                      <a:r>
                        <a:rPr sz="1300" b="0" i="0" lang="es-ES">
                          <a:solidFill>
                            <a:srgbClr val="1F2937"/>
                          </a:solidFill>
                          <a:latin typeface="Calibri"/>
                        </a:rPr>
                        <a:t>No consta</a:t>
                      </a:r>
                    </a:p>
                  </a:txBody>
                  <a:tcPr marL="73152" marR="73152" marT="27432" marB="27432" anchor="ctr">
                    <a:solidFill>
                      <a:srgbClr val="F6F8FC"/>
                    </a:solidFill>
                  </a:tcPr>
                </a:tc>
                <a:tc>
                  <a:txBody>
                    <a:bodyPr wrap="square"/>
                    <a:lstStyle/>
                    <a:p>
                      <a:pPr algn="ctr"/>
                      <a:r>
                        <a:rPr sz="1300" b="0" i="0" lang="es-ES">
                          <a:solidFill>
                            <a:srgbClr val="1F2937"/>
                          </a:solidFill>
                          <a:latin typeface="Calibri"/>
                        </a:rPr>
                        <a:t>No declarada</a:t>
                      </a:r>
                    </a:p>
                  </a:txBody>
                  <a:tcPr marL="73152" marR="73152" marT="27432" marB="27432" anchor="ctr">
                    <a:solidFill>
                      <a:srgbClr val="F6F8FC"/>
                    </a:solidFill>
                  </a:tcPr>
                </a:tc>
                <a:tc>
                  <a:txBody>
                    <a:bodyPr wrap="square"/>
                    <a:lstStyle/>
                    <a:p>
                      <a:pPr algn="ctr"/>
                      <a:r>
                        <a:rPr sz="1300" b="0" i="0" lang="es-ES">
                          <a:solidFill>
                            <a:srgbClr val="1F2937"/>
                          </a:solidFill>
                          <a:latin typeface="Calibri"/>
                        </a:rPr>
                        <a:t>Comercial</a:t>
                      </a:r>
                    </a:p>
                  </a:txBody>
                  <a:tcPr marL="73152" marR="73152" marT="27432" marB="27432" anchor="ctr">
                    <a:solidFill>
                      <a:srgbClr val="F6F8FC"/>
                    </a:solidFill>
                  </a:tcPr>
                </a:tc>
                <a:tc>
                  <a:txBody>
                    <a:bodyPr wrap="square"/>
                    <a:lstStyle/>
                    <a:p>
                      <a:pPr algn="ctr"/>
                      <a:r>
                        <a:rPr sz="1300" b="0" i="0" lang="es-ES">
                          <a:solidFill>
                            <a:srgbClr val="1F2937"/>
                          </a:solidFill>
                          <a:latin typeface="Calibri"/>
                        </a:rPr>
                        <a:t>Libre / comercial</a:t>
                      </a:r>
                    </a:p>
                  </a:txBody>
                  <a:tcPr marL="73152" marR="73152" marT="27432" marB="27432" anchor="ctr">
                    <a:solidFill>
                      <a:srgbClr val="F6F8FC"/>
                    </a:solidFill>
                  </a:tcPr>
                </a:tc>
              </a:tr>
              <a:tr h="363378">
                <a:tc>
                  <a:txBody>
                    <a:bodyPr wrap="square"/>
                    <a:lstStyle/>
                    <a:p>
                      <a:pPr algn="l"/>
                      <a:r>
                        <a:rPr sz="1300" b="1" i="0" lang="es-ES">
                          <a:solidFill>
                            <a:srgbClr val="1F2937"/>
                          </a:solidFill>
                          <a:latin typeface="Calibri"/>
                        </a:rPr>
                        <a:t>Paso a paso</a:t>
                      </a:r>
                    </a:p>
                  </a:txBody>
                  <a:tcPr marL="73152" marR="73152" marT="27432" marB="27432" anchor="ctr">
                    <a:solidFill>
                      <a:srgbClr val="FFFFFF"/>
                    </a:solidFill>
                  </a:tcPr>
                </a:tc>
                <a:tc>
                  <a:txBody>
                    <a:bodyPr wrap="square"/>
                    <a:lstStyle/>
                    <a:p>
                      <a:pPr algn="ctr"/>
                      <a:r>
                        <a:rPr sz="1300" b="1" i="0" lang="es-ES">
                          <a:solidFill>
                            <a:srgbClr val="1F2937"/>
                          </a:solidFill>
                          <a:latin typeface="Calibri"/>
                        </a:rPr>
                        <a:t>Alta: M0 a M7</a:t>
                      </a:r>
                    </a:p>
                  </a:txBody>
                  <a:tcPr marL="73152" marR="73152" marT="27432" marB="27432" anchor="ctr">
                    <a:solidFill>
                      <a:srgbClr val="FDF1E2"/>
                    </a:solidFill>
                  </a:tcPr>
                </a:tc>
                <a:tc>
                  <a:txBody>
                    <a:bodyPr wrap="square"/>
                    <a:lstStyle/>
                    <a:p>
                      <a:pPr algn="ctr"/>
                      <a:r>
                        <a:rPr sz="1300" b="0" i="0" lang="es-ES">
                          <a:solidFill>
                            <a:srgbClr val="1F2937"/>
                          </a:solidFill>
                          <a:latin typeface="Calibri"/>
                        </a:rPr>
                        <a:t>Media</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Media-alta</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Un eslabón</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Baja</a:t>
                      </a:r>
                    </a:p>
                  </a:txBody>
                  <a:tcPr marL="73152" marR="73152" marT="27432" marB="27432" anchor="ctr">
                    <a:solidFill>
                      <a:srgbClr val="FFFFFF"/>
                    </a:solidFill>
                  </a:tcPr>
                </a:tc>
              </a:tr>
              <a:tr h="363378">
                <a:tc>
                  <a:txBody>
                    <a:bodyPr wrap="square"/>
                    <a:lstStyle/>
                    <a:p>
                      <a:pPr algn="l"/>
                      <a:r>
                        <a:rPr sz="1300" b="1" i="0" lang="es-ES">
                          <a:solidFill>
                            <a:srgbClr val="1F2937"/>
                          </a:solidFill>
                          <a:latin typeface="Calibri"/>
                        </a:rPr>
                        <a:t>Canal completo</a:t>
                      </a:r>
                    </a:p>
                  </a:txBody>
                  <a:tcPr marL="73152" marR="73152" marT="27432" marB="27432" anchor="ctr">
                    <a:solidFill>
                      <a:srgbClr val="F6F8FC"/>
                    </a:solidFill>
                  </a:tcPr>
                </a:tc>
                <a:tc>
                  <a:txBody>
                    <a:bodyPr wrap="square"/>
                    <a:lstStyle/>
                    <a:p>
                      <a:pPr algn="ctr"/>
                      <a:r>
                        <a:rPr sz="1300" b="1" i="0" lang="es-ES">
                          <a:solidFill>
                            <a:srgbClr val="1F2937"/>
                          </a:solidFill>
                          <a:latin typeface="Calibri"/>
                        </a:rPr>
                        <a:t>Sí</a:t>
                      </a:r>
                    </a:p>
                  </a:txBody>
                  <a:tcPr marL="73152" marR="73152" marT="27432" marB="27432" anchor="ctr">
                    <a:solidFill>
                      <a:srgbClr val="FDF1E2"/>
                    </a:solidFill>
                  </a:tcPr>
                </a:tc>
                <a:tc>
                  <a:txBody>
                    <a:bodyPr wrap="square"/>
                    <a:lstStyle/>
                    <a:p>
                      <a:pPr algn="ctr"/>
                      <a:r>
                        <a:rPr sz="1300" b="0" i="0" lang="es-ES">
                          <a:solidFill>
                            <a:srgbClr val="1F2937"/>
                          </a:solidFill>
                          <a:latin typeface="Calibri"/>
                        </a:rPr>
                        <a:t>Sí</a:t>
                      </a:r>
                    </a:p>
                  </a:txBody>
                  <a:tcPr marL="73152" marR="73152" marT="27432" marB="27432" anchor="ctr">
                    <a:solidFill>
                      <a:srgbClr val="F6F8FC"/>
                    </a:solidFill>
                  </a:tcPr>
                </a:tc>
                <a:tc>
                  <a:txBody>
                    <a:bodyPr wrap="square"/>
                    <a:lstStyle/>
                    <a:p>
                      <a:pPr algn="ctr"/>
                      <a:r>
                        <a:rPr sz="1300" b="0" i="0" lang="es-ES">
                          <a:solidFill>
                            <a:srgbClr val="1F2937"/>
                          </a:solidFill>
                          <a:latin typeface="Calibri"/>
                        </a:rPr>
                        <a:t>Parcial</a:t>
                      </a:r>
                    </a:p>
                  </a:txBody>
                  <a:tcPr marL="73152" marR="73152" marT="27432" marB="27432" anchor="ctr">
                    <a:solidFill>
                      <a:srgbClr val="F6F8FC"/>
                    </a:solidFill>
                  </a:tcPr>
                </a:tc>
                <a:tc>
                  <a:txBody>
                    <a:bodyPr wrap="square"/>
                    <a:lstStyle/>
                    <a:p>
                      <a:pPr algn="ctr"/>
                      <a:r>
                        <a:rPr sz="1300" b="0" i="0" lang="es-ES">
                          <a:solidFill>
                            <a:srgbClr val="1F2937"/>
                          </a:solidFill>
                          <a:latin typeface="Calibri"/>
                        </a:rPr>
                        <a:t>Parcial</a:t>
                      </a:r>
                    </a:p>
                  </a:txBody>
                  <a:tcPr marL="73152" marR="73152" marT="27432" marB="27432" anchor="ctr">
                    <a:solidFill>
                      <a:srgbClr val="F6F8FC"/>
                    </a:solidFill>
                  </a:tcPr>
                </a:tc>
                <a:tc>
                  <a:txBody>
                    <a:bodyPr wrap="square"/>
                    <a:lstStyle/>
                    <a:p>
                      <a:pPr algn="ctr"/>
                      <a:r>
                        <a:rPr sz="1300" b="0" i="0" lang="es-ES">
                          <a:solidFill>
                            <a:srgbClr val="1F2937"/>
                          </a:solidFill>
                          <a:latin typeface="Calibri"/>
                        </a:rPr>
                        <a:t>No</a:t>
                      </a:r>
                    </a:p>
                  </a:txBody>
                  <a:tcPr marL="73152" marR="73152" marT="27432" marB="27432" anchor="ctr">
                    <a:solidFill>
                      <a:srgbClr val="F6F8FC"/>
                    </a:solidFill>
                  </a:tcPr>
                </a:tc>
              </a:tr>
              <a:tr h="363378">
                <a:tc>
                  <a:txBody>
                    <a:bodyPr wrap="square"/>
                    <a:lstStyle/>
                    <a:p>
                      <a:pPr algn="l"/>
                      <a:r>
                        <a:rPr sz="1300" b="1" i="0" lang="es-ES">
                          <a:solidFill>
                            <a:srgbClr val="1F2937"/>
                          </a:solidFill>
                          <a:latin typeface="Calibri"/>
                        </a:rPr>
                        <a:t>Memoria automática</a:t>
                      </a:r>
                    </a:p>
                  </a:txBody>
                  <a:tcPr marL="73152" marR="73152" marT="27432" marB="27432" anchor="ctr">
                    <a:solidFill>
                      <a:srgbClr val="FFFFFF"/>
                    </a:solidFill>
                  </a:tcPr>
                </a:tc>
                <a:tc>
                  <a:txBody>
                    <a:bodyPr wrap="square"/>
                    <a:lstStyle/>
                    <a:p>
                      <a:pPr algn="ctr"/>
                      <a:r>
                        <a:rPr sz="1300" b="1" i="0" lang="es-ES">
                          <a:solidFill>
                            <a:srgbClr val="1F2937"/>
                          </a:solidFill>
                          <a:latin typeface="Calibri"/>
                        </a:rPr>
                        <a:t>Sí, PDF trazable</a:t>
                      </a:r>
                    </a:p>
                  </a:txBody>
                  <a:tcPr marL="73152" marR="73152" marT="27432" marB="27432" anchor="ctr">
                    <a:solidFill>
                      <a:srgbClr val="FDF1E2"/>
                    </a:solidFill>
                  </a:tcPr>
                </a:tc>
                <a:tc>
                  <a:txBody>
                    <a:bodyPr wrap="square"/>
                    <a:lstStyle/>
                    <a:p>
                      <a:pPr algn="ctr"/>
                      <a:r>
                        <a:rPr sz="1300" b="0" i="0" lang="es-ES">
                          <a:solidFill>
                            <a:srgbClr val="1F2937"/>
                          </a:solidFill>
                          <a:latin typeface="Calibri"/>
                        </a:rPr>
                        <a:t>No consta</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No consta</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En pantalla</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Solo informes</a:t>
                      </a:r>
                    </a:p>
                  </a:txBody>
                  <a:tcPr marL="73152" marR="73152" marT="27432" marB="27432" anchor="ctr">
                    <a:solidFill>
                      <a:srgbClr val="FFFFFF"/>
                    </a:solidFill>
                  </a:tcPr>
                </a:tc>
              </a:tr>
              <a:tr h="561498">
                <a:tc>
                  <a:txBody>
                    <a:bodyPr wrap="square"/>
                    <a:lstStyle/>
                    <a:p>
                      <a:pPr algn="l"/>
                      <a:r>
                        <a:rPr sz="1300" b="1" i="0" lang="es-ES">
                          <a:solidFill>
                            <a:srgbClr val="1F2937"/>
                          </a:solidFill>
                          <a:latin typeface="Calibri"/>
                        </a:rPr>
                        <a:t>Lectura de la respuesta</a:t>
                      </a:r>
                    </a:p>
                  </a:txBody>
                  <a:tcPr marL="73152" marR="73152" marT="27432" marB="27432" anchor="ctr">
                    <a:solidFill>
                      <a:srgbClr val="F6F8FC"/>
                    </a:solidFill>
                  </a:tcPr>
                </a:tc>
                <a:tc>
                  <a:txBody>
                    <a:bodyPr wrap="square"/>
                    <a:lstStyle/>
                    <a:p>
                      <a:pPr algn="ctr"/>
                      <a:r>
                        <a:rPr sz="1300" b="1" i="0" lang="es-ES">
                          <a:solidFill>
                            <a:srgbClr val="1F2937"/>
                          </a:solidFill>
                          <a:latin typeface="Calibri"/>
                        </a:rPr>
                        <a:t>Crudo y suavizado, reacciones, Mohr</a:t>
                      </a:r>
                    </a:p>
                  </a:txBody>
                  <a:tcPr marL="73152" marR="73152" marT="27432" marB="27432" anchor="ctr">
                    <a:solidFill>
                      <a:srgbClr val="FDF1E2"/>
                    </a:solidFill>
                  </a:tcPr>
                </a:tc>
                <a:tc>
                  <a:txBody>
                    <a:bodyPr wrap="square"/>
                    <a:lstStyle/>
                    <a:p>
                      <a:pPr algn="ctr"/>
                      <a:r>
                        <a:rPr sz="1300" b="0" i="0" lang="es-ES">
                          <a:solidFill>
                            <a:srgbClr val="1F2937"/>
                          </a:solidFill>
                          <a:latin typeface="Calibri"/>
                        </a:rPr>
                        <a:t>Descriptiva (p. 253)</a:t>
                      </a:r>
                    </a:p>
                  </a:txBody>
                  <a:tcPr marL="73152" marR="73152" marT="27432" marB="27432" anchor="ctr">
                    <a:solidFill>
                      <a:srgbClr val="F6F8FC"/>
                    </a:solidFill>
                  </a:tcPr>
                </a:tc>
                <a:tc>
                  <a:txBody>
                    <a:bodyPr wrap="square"/>
                    <a:lstStyle/>
                    <a:p>
                      <a:pPr algn="ctr"/>
                      <a:r>
                        <a:rPr sz="1300" b="0" i="0" lang="es-ES">
                          <a:solidFill>
                            <a:srgbClr val="1F2937"/>
                          </a:solidFill>
                          <a:latin typeface="Calibri"/>
                        </a:rPr>
                        <a:t>Reacciones y tensiones</a:t>
                      </a:r>
                    </a:p>
                  </a:txBody>
                  <a:tcPr marL="73152" marR="73152" marT="27432" marB="27432" anchor="ctr">
                    <a:solidFill>
                      <a:srgbClr val="F6F8FC"/>
                    </a:solidFill>
                  </a:tcPr>
                </a:tc>
                <a:tc>
                  <a:txBody>
                    <a:bodyPr wrap="square"/>
                    <a:lstStyle/>
                    <a:p>
                      <a:pPr algn="ctr"/>
                      <a:r>
                        <a:rPr sz="1300" b="0" i="0" lang="es-ES">
                          <a:solidFill>
                            <a:srgbClr val="1F2937"/>
                          </a:solidFill>
                          <a:latin typeface="Calibri"/>
                        </a:rPr>
                        <a:t>Valores en pantalla</a:t>
                      </a:r>
                    </a:p>
                  </a:txBody>
                  <a:tcPr marL="73152" marR="73152" marT="27432" marB="27432" anchor="ctr">
                    <a:solidFill>
                      <a:srgbClr val="F6F8FC"/>
                    </a:solidFill>
                  </a:tcPr>
                </a:tc>
                <a:tc>
                  <a:txBody>
                    <a:bodyPr wrap="square"/>
                    <a:lstStyle/>
                    <a:p>
                      <a:pPr algn="ctr"/>
                      <a:r>
                        <a:rPr sz="1300" b="0" i="0" lang="es-ES">
                          <a:solidFill>
                            <a:srgbClr val="1F2937"/>
                          </a:solidFill>
                          <a:latin typeface="Calibri"/>
                        </a:rPr>
                        <a:t>Sin exposición didáctica</a:t>
                      </a:r>
                    </a:p>
                  </a:txBody>
                  <a:tcPr marL="73152" marR="73152" marT="27432" marB="27432" anchor="ctr">
                    <a:solidFill>
                      <a:srgbClr val="F6F8FC"/>
                    </a:solidFill>
                  </a:tcPr>
                </a:tc>
              </a:tr>
              <a:tr h="363378">
                <a:tc>
                  <a:txBody>
                    <a:bodyPr wrap="square"/>
                    <a:lstStyle/>
                    <a:p>
                      <a:pPr algn="l"/>
                      <a:r>
                        <a:rPr sz="1300" b="1" i="0" lang="es-ES">
                          <a:solidFill>
                            <a:srgbClr val="1F2937"/>
                          </a:solidFill>
                          <a:latin typeface="Calibri"/>
                        </a:rPr>
                        <a:t>V&amp;V publicada</a:t>
                      </a:r>
                    </a:p>
                  </a:txBody>
                  <a:tcPr marL="73152" marR="73152" marT="27432" marB="27432" anchor="ctr">
                    <a:solidFill>
                      <a:srgbClr val="FFFFFF"/>
                    </a:solidFill>
                  </a:tcPr>
                </a:tc>
                <a:tc>
                  <a:txBody>
                    <a:bodyPr wrap="square"/>
                    <a:lstStyle/>
                    <a:p>
                      <a:pPr algn="ctr"/>
                      <a:r>
                        <a:rPr sz="1300" b="1" i="0" lang="es-ES">
                          <a:solidFill>
                            <a:srgbClr val="1F2937"/>
                          </a:solidFill>
                          <a:latin typeface="Calibri"/>
                        </a:rPr>
                        <a:t>MMS, Timoshenko y Cook</a:t>
                      </a:r>
                    </a:p>
                  </a:txBody>
                  <a:tcPr marL="73152" marR="73152" marT="27432" marB="27432" anchor="ctr">
                    <a:solidFill>
                      <a:srgbClr val="FDF1E2"/>
                    </a:solidFill>
                  </a:tcPr>
                </a:tc>
                <a:tc>
                  <a:txBody>
                    <a:bodyPr wrap="square"/>
                    <a:lstStyle/>
                    <a:p>
                      <a:pPr algn="ctr"/>
                      <a:r>
                        <a:rPr sz="1300" b="0" i="0" lang="es-ES">
                          <a:solidFill>
                            <a:srgbClr val="1F2937"/>
                          </a:solidFill>
                          <a:latin typeface="Calibri"/>
                        </a:rPr>
                        <a:t>No consta</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No consta</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No consta</a:t>
                      </a:r>
                    </a:p>
                  </a:txBody>
                  <a:tcPr marL="73152" marR="73152" marT="27432" marB="27432" anchor="ctr">
                    <a:solidFill>
                      <a:srgbClr val="FFFFFF"/>
                    </a:solidFill>
                  </a:tcPr>
                </a:tc>
                <a:tc>
                  <a:txBody>
                    <a:bodyPr wrap="square"/>
                    <a:lstStyle/>
                    <a:p>
                      <a:pPr algn="ctr"/>
                      <a:r>
                        <a:rPr sz="1300" b="0" i="0" lang="es-ES">
                          <a:solidFill>
                            <a:srgbClr val="1F2937"/>
                          </a:solidFill>
                          <a:latin typeface="Calibri"/>
                        </a:rPr>
                        <a:t>—</a:t>
                      </a:r>
                    </a:p>
                  </a:txBody>
                  <a:tcPr marL="73152" marR="73152" marT="27432" marB="27432" anchor="ctr">
                    <a:solidFill>
                      <a:srgbClr val="FFFFFF"/>
                    </a:solidFill>
                  </a:tcPr>
                </a:tc>
              </a:tr>
            </a:tbl>
          </a:graphicData>
        </a:graphic>
      </p:graphicFrame>
      <p:sp>
        <p:nvSpPr>
          <p:cNvPr id="14" name="Rectangle 13"/>
          <p:cNvSpPr/>
          <p:nvPr/>
        </p:nvSpPr>
        <p:spPr>
          <a:xfrm>
            <a:off x="566928" y="2368200"/>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Ninguno reúne canal completo, memoria trazable, fenómenos numéricos observables y una respuesta expuesta con su procedimiento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§1.1, Tabla 1.1</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De la forma fuerte a K u = F</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664208"/>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1664208"/>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1664208"/>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Equilibrio (forma fuerte)</a:t>
            </a:r>
          </a:p>
        </p:txBody>
      </p:sp>
      <p:sp>
        <p:nvSpPr>
          <p:cNvPr id="15" name="TextBox 14"/>
          <p:cNvSpPr txBox="1"/>
          <p:nvPr/>
        </p:nvSpPr>
        <p:spPr>
          <a:xfrm>
            <a:off x="3950208" y="1664208"/>
            <a:ext cx="7445959" cy="758952"/>
          </a:xfrm>
          <a:prstGeom prst="rect">
            <a:avLst/>
          </a:prstGeom>
          <a:noFill/>
        </p:spPr>
        <p:txBody>
          <a:bodyPr wrap="square" anchor="ctr" lIns="45720" tIns="27432" rIns="45720" bIns="27432">
            <a:noAutofit/>
          </a:bodyPr>
          <a:lstStyle/>
          <a:p>
            <a:pPr algn="l">
              <a:lnSpc>
                <a:spcPct val="105000"/>
              </a:lnSpc>
            </a:pPr>
            <a:r>
              <a:rPr sz="1800" b="0" i="0" lang="es-ES">
                <a:solidFill>
                  <a:srgbClr val="1B2A4A"/>
                </a:solidFill>
                <a:latin typeface="Cambria Math"/>
              </a:rPr>
              <a:t>∇·σ + b = 0   en Ω</a:t>
            </a:r>
          </a:p>
        </p:txBody>
      </p:sp>
      <p:sp>
        <p:nvSpPr>
          <p:cNvPr id="16" name="Rounded Rectangle 15"/>
          <p:cNvSpPr/>
          <p:nvPr/>
        </p:nvSpPr>
        <p:spPr>
          <a:xfrm>
            <a:off x="566928" y="2606040"/>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2606040"/>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2606040"/>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Trabajos virtuales</a:t>
            </a:r>
          </a:p>
        </p:txBody>
      </p:sp>
      <p:sp>
        <p:nvSpPr>
          <p:cNvPr id="19" name="TextBox 18"/>
          <p:cNvSpPr txBox="1"/>
          <p:nvPr/>
        </p:nvSpPr>
        <p:spPr>
          <a:xfrm>
            <a:off x="3950208" y="2606040"/>
            <a:ext cx="7445959" cy="758952"/>
          </a:xfrm>
          <a:prstGeom prst="rect">
            <a:avLst/>
          </a:prstGeom>
          <a:noFill/>
        </p:spPr>
        <p:txBody>
          <a:bodyPr wrap="square" anchor="ctr" lIns="45720" tIns="27432" rIns="45720" bIns="27432">
            <a:noAutofit/>
          </a:bodyPr>
          <a:lstStyle/>
          <a:p>
            <a:pPr algn="l">
              <a:lnSpc>
                <a:spcPct val="105000"/>
              </a:lnSpc>
            </a:pPr>
            <a:r>
              <a:rPr sz="1800" b="0" i="0" lang="es-ES">
                <a:solidFill>
                  <a:srgbClr val="1B2A4A"/>
                </a:solidFill>
                <a:latin typeface="Cambria Math"/>
              </a:rPr>
              <a:t>∫Ω δεᵀ σ dΩ = ∫Ω δuᵀ b dΩ + ∫Γₜ δuᵀ t dΓ</a:t>
            </a:r>
          </a:p>
        </p:txBody>
      </p:sp>
      <p:sp>
        <p:nvSpPr>
          <p:cNvPr id="20" name="Rounded Rectangle 19"/>
          <p:cNvSpPr/>
          <p:nvPr/>
        </p:nvSpPr>
        <p:spPr>
          <a:xfrm>
            <a:off x="566928" y="3547872"/>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3547872"/>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3547872"/>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Discretización</a:t>
            </a:r>
          </a:p>
        </p:txBody>
      </p:sp>
      <p:sp>
        <p:nvSpPr>
          <p:cNvPr id="23" name="TextBox 22"/>
          <p:cNvSpPr txBox="1"/>
          <p:nvPr/>
        </p:nvSpPr>
        <p:spPr>
          <a:xfrm>
            <a:off x="3950208" y="3547872"/>
            <a:ext cx="7445959" cy="758952"/>
          </a:xfrm>
          <a:prstGeom prst="rect">
            <a:avLst/>
          </a:prstGeom>
          <a:noFill/>
        </p:spPr>
        <p:txBody>
          <a:bodyPr wrap="square" anchor="ctr" lIns="45720" tIns="27432" rIns="45720" bIns="27432">
            <a:noAutofit/>
          </a:bodyPr>
          <a:lstStyle/>
          <a:p>
            <a:pPr algn="l">
              <a:lnSpc>
                <a:spcPct val="105000"/>
              </a:lnSpc>
            </a:pPr>
            <a:r>
              <a:rPr sz="1800" b="0" i="0" lang="es-ES">
                <a:solidFill>
                  <a:srgbClr val="1B2A4A"/>
                </a:solidFill>
                <a:latin typeface="Cambria Math"/>
              </a:rPr>
              <a:t>u ≈ N uₑ ,   ε = B uₑ ,   σ = D ε   ⇒   K u = F</a:t>
            </a:r>
          </a:p>
        </p:txBody>
      </p:sp>
      <p:sp>
        <p:nvSpPr>
          <p:cNvPr id="24" name="Rounded Rectangle 23"/>
          <p:cNvSpPr/>
          <p:nvPr/>
        </p:nvSpPr>
        <p:spPr>
          <a:xfrm>
            <a:off x="566928" y="4489703"/>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4489703"/>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89703"/>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Constitutiva (tensión plana)</a:t>
            </a:r>
          </a:p>
        </p:txBody>
      </p:sp>
      <p:sp>
        <p:nvSpPr>
          <p:cNvPr id="27" name="TextBox 26"/>
          <p:cNvSpPr txBox="1"/>
          <p:nvPr/>
        </p:nvSpPr>
        <p:spPr>
          <a:xfrm>
            <a:off x="3950208" y="4489703"/>
            <a:ext cx="7445959" cy="758952"/>
          </a:xfrm>
          <a:prstGeom prst="rect">
            <a:avLst/>
          </a:prstGeom>
          <a:noFill/>
        </p:spPr>
        <p:txBody>
          <a:bodyPr wrap="square" anchor="ctr" lIns="45720" tIns="27432" rIns="45720" bIns="27432">
            <a:noAutofit/>
          </a:bodyPr>
          <a:lstStyle/>
          <a:p>
            <a:pPr algn="l">
              <a:lnSpc>
                <a:spcPct val="105000"/>
              </a:lnSpc>
            </a:pPr>
            <a:r>
              <a:rPr sz="1800" b="0" i="0" lang="es-ES">
                <a:solidFill>
                  <a:srgbClr val="1B2A4A"/>
                </a:solidFill>
                <a:latin typeface="Cambria Math"/>
              </a:rPr>
              <a:t>D = E/(1−ν²) · [ 1  ν  0 ;  ν  1  0 ;  0  0  (1−ν)/2 ]</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En deformación plana el factor (1−2ν) tiende a cero cuando ν → 0,5: bloqueo volumétrico</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formulación variacional y matriz constitutiva</a:t>
            </a:r>
          </a:p>
        </p:txBody>
      </p:sp>
      <p:sp>
        <p:nvSpPr>
          <p:cNvPr id="34" name="TextBox 33"/>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El canal isoparamétrico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4626864"/>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400" b="0" i="0" lang="es-ES">
                <a:solidFill>
                  <a:srgbClr val="1F2937"/>
                </a:solidFill>
                <a:latin typeface="Calibri"/>
              </a:rPr>
              <a:t>Mismas N para geometría y desplazamiento: Q4 bilineal (8 GDL), Q9 bicuadrático (18 GDL)</a:t>
            </a:r>
          </a:p>
          <a:p>
            <a:pPr marL="347472" indent="-347472">
              <a:lnSpc>
                <a:spcPct val="112000"/>
              </a:lnSpc>
              <a:spcAft>
                <a:spcPts val="1200"/>
              </a:spcAft>
              <a:buClr>
                <a:srgbClr val="F28C28"/>
              </a:buClr>
              <a:buSzPct val="100000"/>
              <a:buFont typeface="Arial"/>
              <a:buChar char="•"/>
            </a:pPr>
            <a:r>
              <a:rPr sz="2400" b="0" i="0" lang="es-ES">
                <a:solidFill>
                  <a:srgbClr val="1F2937"/>
                </a:solidFill>
                <a:latin typeface="Calibri"/>
              </a:rPr>
              <a:t>J = ∂N · Xₑ con det J &gt; 0; B (3 × 2n) vía J⁻¹</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kₑ = Σ wₚ Bᵀ D B t |det J|:</a:t>
            </a:r>
            <a:r>
              <a:rPr sz="2400" b="0" i="0" lang="es-ES">
                <a:solidFill>
                  <a:srgbClr val="1F2937"/>
                </a:solidFill>
                <a:latin typeface="Calibri"/>
              </a:rPr>
              <a:t> Gauss 2×2 (Q4) y 3×3 (Q9)</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K u = F disperso (CSR, LU); σ:</a:t>
            </a:r>
            <a:r>
              <a:rPr sz="2400" b="0" i="0" lang="es-ES">
                <a:solidFill>
                  <a:srgbClr val="1F2937"/>
                </a:solidFill>
                <a:latin typeface="Calibri"/>
              </a:rPr>
              <a:t> Gauss → nodos → promedio</a:t>
            </a:r>
          </a:p>
        </p:txBody>
      </p:sp>
      <p:sp>
        <p:nvSpPr>
          <p:cNvPr id="13" name="Rounded Rectangle 12"/>
          <p:cNvSpPr/>
          <p:nvPr/>
        </p:nvSpPr>
        <p:spPr>
          <a:xfrm>
            <a:off x="6236208" y="2780725"/>
            <a:ext cx="5388559" cy="1781181"/>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g_isoparametricos.png"/>
          <p:cNvPicPr>
            <a:picLocks noChangeAspect="1"/>
          </p:cNvPicPr>
          <p:nvPr/>
        </p:nvPicPr>
        <p:blipFill>
          <a:blip r:embed="rId2"/>
          <a:stretch>
            <a:fillRect/>
          </a:stretch>
        </p:blipFill>
        <p:spPr>
          <a:xfrm>
            <a:off x="6355080" y="2899597"/>
            <a:ext cx="5150815" cy="1543437"/>
          </a:xfrm>
          <a:prstGeom prst="rect">
            <a:avLst/>
          </a:prstGeom>
        </p:spPr>
      </p:pic>
      <p:sp>
        <p:nvSpPr>
          <p:cNvPr id="15" name="TextBox 14"/>
          <p:cNvSpPr txBox="1"/>
          <p:nvPr/>
        </p:nvSpPr>
        <p:spPr>
          <a:xfrm>
            <a:off x="6236208" y="4488753"/>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Q4 y Q9 en el cuadrado natural y mapeo de N₁ a un elemento distorsionado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100" b="0" i="0" lang="es-ES">
                <a:solidFill>
                  <a:srgbClr val="5B6575"/>
                </a:solidFill>
                <a:latin typeface="Calibri"/>
              </a:rPr>
              <a:t>Tesis: Cap. 1, mapeo isoparamétrico, Jacobiano, B, cuadratura y ensamblaje</a:t>
            </a:r>
          </a:p>
        </p:txBody>
      </p:sp>
      <p:sp>
        <p:nvSpPr>
          <p:cNvPr id="19" name="TextBox 1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Dos patologías que el alumno debe ver</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1572768"/>
            <a:ext cx="5346039" cy="621792"/>
          </a:xfrm>
          <a:prstGeom prst="rect">
            <a:avLst/>
          </a:prstGeom>
          <a:noFill/>
        </p:spPr>
        <p:txBody>
          <a:bodyPr wrap="square" anchor="ctr" lIns="45720" tIns="27432" rIns="45720" bIns="27432">
            <a:noAutofit/>
          </a:bodyPr>
          <a:lstStyle/>
          <a:p>
            <a:pPr algn="ctr">
              <a:lnSpc>
                <a:spcPct val="100000"/>
              </a:lnSpc>
            </a:pPr>
            <a:r>
              <a:rPr sz="2000" b="1" i="0" lang="es-ES">
                <a:solidFill>
                  <a:srgbClr val="FFFFFF"/>
                </a:solidFill>
                <a:latin typeface="Calibri"/>
              </a:rPr>
              <a:t>Bloqueo por cortante (shear-locking)</a:t>
            </a:r>
          </a:p>
        </p:txBody>
      </p:sp>
      <p:sp>
        <p:nvSpPr>
          <p:cNvPr id="16" name="TextBox 15"/>
          <p:cNvSpPr txBox="1"/>
          <p:nvPr/>
        </p:nvSpPr>
        <p:spPr>
          <a:xfrm>
            <a:off x="768096"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2000" b="1" i="0" lang="es-ES">
                <a:solidFill>
                  <a:srgbClr val="1B2A4A"/>
                </a:solidFill>
                <a:latin typeface="Calibri"/>
              </a:rPr>
              <a:t>Q4 en flexión:</a:t>
            </a:r>
            <a:r>
              <a:rPr sz="2000" b="0" i="0" lang="es-ES">
                <a:solidFill>
                  <a:srgbClr val="1F2937"/>
                </a:solidFill>
                <a:latin typeface="Calibri"/>
              </a:rPr>
              <a:t> el campo bilineal no reproduce la curvatura</a:t>
            </a:r>
          </a:p>
          <a:p>
            <a:pPr marL="347472" indent="-347472">
              <a:lnSpc>
                <a:spcPct val="112000"/>
              </a:lnSpc>
              <a:spcAft>
                <a:spcPts val="900"/>
              </a:spcAft>
              <a:buClr>
                <a:srgbClr val="1B2A4A"/>
              </a:buClr>
              <a:buSzPct val="100000"/>
              <a:buFont typeface="Arial"/>
              <a:buChar char="•"/>
            </a:pPr>
            <a:r>
              <a:rPr sz="2000" b="1" i="0" lang="es-ES">
                <a:solidFill>
                  <a:srgbClr val="1B2A4A"/>
                </a:solidFill>
                <a:latin typeface="Calibri"/>
              </a:rPr>
              <a:t>Corte espurio:</a:t>
            </a:r>
            <a:r>
              <a:rPr sz="2000" b="0" i="0" lang="es-ES">
                <a:solidFill>
                  <a:srgbClr val="1F2937"/>
                </a:solidFill>
                <a:latin typeface="Calibri"/>
              </a:rPr>
              <a:t> elemento artificialmente rígido</a:t>
            </a:r>
          </a:p>
          <a:p>
            <a:pPr marL="347472" indent="-347472">
              <a:lnSpc>
                <a:spcPct val="112000"/>
              </a:lnSpc>
              <a:spcAft>
                <a:spcPts val="900"/>
              </a:spcAft>
              <a:buClr>
                <a:srgbClr val="1B2A4A"/>
              </a:buClr>
              <a:buSzPct val="100000"/>
              <a:buFont typeface="Arial"/>
              <a:buChar char="•"/>
            </a:pPr>
            <a:r>
              <a:rPr sz="2000" b="1" i="0" lang="es-ES">
                <a:solidFill>
                  <a:srgbClr val="1B2A4A"/>
                </a:solidFill>
                <a:latin typeface="Calibri"/>
              </a:rPr>
              <a:t>Cook N = 8:</a:t>
            </a:r>
            <a:r>
              <a:rPr sz="2000" b="0" i="0" lang="es-ES">
                <a:solidFill>
                  <a:srgbClr val="1F2937"/>
                </a:solidFill>
                <a:latin typeface="Calibri"/>
              </a:rPr>
              <a:t> uy = 22,079 frente a 23,96 (−7,85 %)</a:t>
            </a:r>
          </a:p>
          <a:p>
            <a:pPr marL="347472" indent="-347472">
              <a:lnSpc>
                <a:spcPct val="112000"/>
              </a:lnSpc>
              <a:spcAft>
                <a:spcPts val="900"/>
              </a:spcAft>
              <a:buClr>
                <a:srgbClr val="1B2A4A"/>
              </a:buClr>
              <a:buSzPct val="100000"/>
              <a:buFont typeface="Arial"/>
              <a:buChar char="•"/>
            </a:pPr>
            <a:r>
              <a:rPr sz="2000" b="1" i="0" lang="es-ES">
                <a:solidFill>
                  <a:srgbClr val="1B2A4A"/>
                </a:solidFill>
                <a:latin typeface="Calibri"/>
              </a:rPr>
              <a:t>Q9:</a:t>
            </a:r>
            <a:r>
              <a:rPr sz="2000" b="0" i="0" lang="es-ES">
                <a:solidFill>
                  <a:srgbClr val="1F2937"/>
                </a:solidFill>
                <a:latin typeface="Calibri"/>
              </a:rPr>
              <a:t> prácticamente libre del bloqueo</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78727" y="1572768"/>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Modos espurios (hourglass)</a:t>
            </a:r>
          </a:p>
        </p:txBody>
      </p:sp>
      <p:sp>
        <p:nvSpPr>
          <p:cNvPr id="21" name="TextBox 20"/>
          <p:cNvSpPr txBox="1"/>
          <p:nvPr/>
        </p:nvSpPr>
        <p:spPr>
          <a:xfrm>
            <a:off x="6479895"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2000" b="0" i="0" lang="es-ES">
                <a:solidFill>
                  <a:srgbClr val="1F2937"/>
                </a:solidFill>
                <a:latin typeface="Calibri"/>
              </a:rPr>
              <a:t>Aparecen al subintegrar (Q4 con un punto de Gauss)</a:t>
            </a:r>
          </a:p>
          <a:p>
            <a:pPr marL="347472" indent="-347472">
              <a:lnSpc>
                <a:spcPct val="112000"/>
              </a:lnSpc>
              <a:spcAft>
                <a:spcPts val="900"/>
              </a:spcAft>
              <a:buClr>
                <a:srgbClr val="F28C28"/>
              </a:buClr>
              <a:buSzPct val="100000"/>
              <a:buFont typeface="Arial"/>
              <a:buChar char="•"/>
            </a:pPr>
            <a:r>
              <a:rPr sz="2000" b="1" i="0" lang="es-ES">
                <a:solidFill>
                  <a:srgbClr val="1B2A4A"/>
                </a:solidFill>
                <a:latin typeface="Calibri"/>
              </a:rPr>
              <a:t>Rango deficiente:</a:t>
            </a:r>
            <a:r>
              <a:rPr sz="2000" b="0" i="0" lang="es-ES">
                <a:solidFill>
                  <a:srgbClr val="1F2937"/>
                </a:solidFill>
                <a:latin typeface="Calibri"/>
              </a:rPr>
              <a:t> modos de energía nula</a:t>
            </a:r>
          </a:p>
          <a:p>
            <a:pPr marL="347472" indent="-347472">
              <a:lnSpc>
                <a:spcPct val="112000"/>
              </a:lnSpc>
              <a:spcAft>
                <a:spcPts val="900"/>
              </a:spcAft>
              <a:buClr>
                <a:srgbClr val="F28C28"/>
              </a:buClr>
              <a:buSzPct val="100000"/>
              <a:buFont typeface="Arial"/>
              <a:buChar char="•"/>
            </a:pPr>
            <a:r>
              <a:rPr sz="2000" b="1" i="0" lang="es-ES">
                <a:solidFill>
                  <a:srgbClr val="1B2A4A"/>
                </a:solidFill>
                <a:latin typeface="Calibri"/>
              </a:rPr>
              <a:t>EduFEM:</a:t>
            </a:r>
            <a:r>
              <a:rPr sz="2000" b="0" i="0" lang="es-ES">
                <a:solidFill>
                  <a:srgbClr val="1F2937"/>
                </a:solidFill>
                <a:latin typeface="Calibri"/>
              </a:rPr>
              <a:t> integración completa 2×2 y 3×3</a:t>
            </a:r>
          </a:p>
          <a:p>
            <a:pPr marL="347472" indent="-347472">
              <a:lnSpc>
                <a:spcPct val="112000"/>
              </a:lnSpc>
              <a:spcAft>
                <a:spcPts val="900"/>
              </a:spcAft>
              <a:buClr>
                <a:srgbClr val="F28C28"/>
              </a:buClr>
              <a:buSzPct val="100000"/>
              <a:buFont typeface="Arial"/>
              <a:buChar char="•"/>
            </a:pPr>
            <a:r>
              <a:rPr sz="2000" b="1" i="0" lang="es-ES">
                <a:solidFill>
                  <a:srgbClr val="1B2A4A"/>
                </a:solidFill>
                <a:latin typeface="Calibri"/>
              </a:rPr>
              <a:t>Sin SRI ni B-bar:</a:t>
            </a:r>
            <a:r>
              <a:rPr sz="2000" b="0" i="0" lang="es-ES">
                <a:solidFill>
                  <a:srgbClr val="1F2937"/>
                </a:solidFill>
                <a:latin typeface="Calibri"/>
              </a:rPr>
              <a:t> el Q4 queda como recurso didáctico</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Regla de m puntos: exacta hasta grado 2m−1; subintegrar crea modos espurios, sobreintegrar encarece</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bloqueo y modos espurios; Cap. 3, tabla de Cook</a:t>
            </a:r>
          </a:p>
        </p:txBody>
      </p:sp>
      <p:sp>
        <p:nvSpPr>
          <p:cNvPr id="28" name="TextBox 27"/>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Recuperación de tensiones y verificación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664208"/>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1664208"/>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1664208"/>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Tensiones en los puntos de Gauss</a:t>
            </a:r>
          </a:p>
        </p:txBody>
      </p:sp>
      <p:sp>
        <p:nvSpPr>
          <p:cNvPr id="15" name="TextBox 14"/>
          <p:cNvSpPr txBox="1"/>
          <p:nvPr/>
        </p:nvSpPr>
        <p:spPr>
          <a:xfrm>
            <a:off x="3950208" y="1664208"/>
            <a:ext cx="7445959" cy="758952"/>
          </a:xfrm>
          <a:prstGeom prst="rect">
            <a:avLst/>
          </a:prstGeom>
          <a:noFill/>
        </p:spPr>
        <p:txBody>
          <a:bodyPr wrap="square" anchor="ctr" lIns="45720" tIns="27432" rIns="45720" bIns="27432">
            <a:noAutofit/>
          </a:bodyPr>
          <a:lstStyle/>
          <a:p>
            <a:pPr algn="l">
              <a:lnSpc>
                <a:spcPct val="105000"/>
              </a:lnSpc>
            </a:pPr>
            <a:r>
              <a:rPr sz="2000" b="0" i="0" lang="es-ES">
                <a:solidFill>
                  <a:srgbClr val="1B2A4A"/>
                </a:solidFill>
                <a:latin typeface="Cambria Math"/>
              </a:rPr>
              <a:t>σₚ = D Bₚ uₑ   (2×2 en Q4, 3×3 en Q9)</a:t>
            </a:r>
          </a:p>
        </p:txBody>
      </p:sp>
      <p:sp>
        <p:nvSpPr>
          <p:cNvPr id="16" name="Rounded Rectangle 15"/>
          <p:cNvSpPr/>
          <p:nvPr/>
        </p:nvSpPr>
        <p:spPr>
          <a:xfrm>
            <a:off x="566928" y="2606040"/>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2606040"/>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2606040"/>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Extrapolación a nodos</a:t>
            </a:r>
          </a:p>
          <a:p>
            <a:pPr algn="l">
              <a:lnSpc>
                <a:spcPct val="105000"/>
              </a:lnSpc>
            </a:pPr>
            <a:r>
              <a:rPr sz="1800" b="1" i="0" lang="es-ES">
                <a:solidFill>
                  <a:srgbClr val="5B6575"/>
                </a:solidFill>
                <a:latin typeface="Calibri"/>
              </a:rPr>
              <a:t>(Mⱼᵢ = Nᵢ(ξⱼ, ηⱼ))</a:t>
            </a:r>
          </a:p>
        </p:txBody>
      </p:sp>
      <p:sp>
        <p:nvSpPr>
          <p:cNvPr id="19" name="TextBox 18"/>
          <p:cNvSpPr txBox="1"/>
          <p:nvPr/>
        </p:nvSpPr>
        <p:spPr>
          <a:xfrm>
            <a:off x="3950208" y="2606040"/>
            <a:ext cx="7445959" cy="758952"/>
          </a:xfrm>
          <a:prstGeom prst="rect">
            <a:avLst/>
          </a:prstGeom>
          <a:noFill/>
        </p:spPr>
        <p:txBody>
          <a:bodyPr wrap="square" anchor="ctr" lIns="45720" tIns="27432" rIns="45720" bIns="27432">
            <a:noAutofit/>
          </a:bodyPr>
          <a:lstStyle/>
          <a:p>
            <a:pPr algn="l">
              <a:lnSpc>
                <a:spcPct val="105000"/>
              </a:lnSpc>
            </a:pPr>
            <a:r>
              <a:rPr sz="2000" b="0" i="0" lang="es-ES">
                <a:solidFill>
                  <a:srgbClr val="1B2A4A"/>
                </a:solidFill>
                <a:latin typeface="Cambria Math"/>
              </a:rPr>
              <a:t>σnodal = E σGauss ,   E = M⁻¹</a:t>
            </a:r>
          </a:p>
        </p:txBody>
      </p:sp>
      <p:sp>
        <p:nvSpPr>
          <p:cNvPr id="20" name="Rounded Rectangle 19"/>
          <p:cNvSpPr/>
          <p:nvPr/>
        </p:nvSpPr>
        <p:spPr>
          <a:xfrm>
            <a:off x="566928" y="3547872"/>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3547872"/>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3547872"/>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Q4: forma cerrada</a:t>
            </a:r>
          </a:p>
        </p:txBody>
      </p:sp>
      <p:sp>
        <p:nvSpPr>
          <p:cNvPr id="23" name="TextBox 22"/>
          <p:cNvSpPr txBox="1"/>
          <p:nvPr/>
        </p:nvSpPr>
        <p:spPr>
          <a:xfrm>
            <a:off x="3950208" y="3547872"/>
            <a:ext cx="7445959" cy="758952"/>
          </a:xfrm>
          <a:prstGeom prst="rect">
            <a:avLst/>
          </a:prstGeom>
          <a:noFill/>
        </p:spPr>
        <p:txBody>
          <a:bodyPr wrap="square" anchor="ctr" lIns="45720" tIns="27432" rIns="45720" bIns="27432">
            <a:noAutofit/>
          </a:bodyPr>
          <a:lstStyle/>
          <a:p>
            <a:pPr algn="l">
              <a:lnSpc>
                <a:spcPct val="105000"/>
              </a:lnSpc>
            </a:pPr>
            <a:r>
              <a:rPr sz="2000" b="0" i="0" lang="es-ES">
                <a:solidFill>
                  <a:srgbClr val="1B2A4A"/>
                </a:solidFill>
                <a:latin typeface="Cambria Math"/>
              </a:rPr>
              <a:t>a ≈ 1,866 ;   b = −½ ;   c ≈ 0,134</a:t>
            </a:r>
          </a:p>
        </p:txBody>
      </p:sp>
      <p:sp>
        <p:nvSpPr>
          <p:cNvPr id="24" name="Rounded Rectangle 23"/>
          <p:cNvSpPr/>
          <p:nvPr/>
        </p:nvSpPr>
        <p:spPr>
          <a:xfrm>
            <a:off x="566928" y="4489703"/>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4489703"/>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89703"/>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Tasas teóricas (MMS)</a:t>
            </a:r>
          </a:p>
        </p:txBody>
      </p:sp>
      <p:sp>
        <p:nvSpPr>
          <p:cNvPr id="27" name="TextBox 26"/>
          <p:cNvSpPr txBox="1"/>
          <p:nvPr/>
        </p:nvSpPr>
        <p:spPr>
          <a:xfrm>
            <a:off x="3950208" y="4489703"/>
            <a:ext cx="7445959" cy="758952"/>
          </a:xfrm>
          <a:prstGeom prst="rect">
            <a:avLst/>
          </a:prstGeom>
          <a:noFill/>
        </p:spPr>
        <p:txBody>
          <a:bodyPr wrap="square" anchor="ctr" lIns="45720" tIns="27432" rIns="45720" bIns="27432">
            <a:noAutofit/>
          </a:bodyPr>
          <a:lstStyle/>
          <a:p>
            <a:pPr algn="l">
              <a:lnSpc>
                <a:spcPct val="105000"/>
              </a:lnSpc>
            </a:pPr>
            <a:r>
              <a:rPr sz="2000" b="0" i="0" lang="es-ES">
                <a:solidFill>
                  <a:srgbClr val="1B2A4A"/>
                </a:solidFill>
                <a:latin typeface="Cambria Math"/>
              </a:rPr>
              <a:t>‖e‖₂ = O(hᵖ⁺¹) ,   |e|₁ = O(hᵖ) ,   b = −∇·σ(uₘ)</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Verificar es resolver bien las ecuaciones; validar, que representen la realidad. La tasa de σ* se mide, no se supone</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§1.11 y §1.13</a:t>
            </a:r>
          </a:p>
        </p:txBody>
      </p:sp>
      <p:sp>
        <p:nvSpPr>
          <p:cNvPr id="34" name="TextBox 33"/>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03</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Diseño y desarrollo del modelo</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Construir la caja abierta: diseño metodológico, diseño e implementación de EduFEM y demostración en vivo</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Variables de la investigación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Table 11"/>
          <p:cNvGraphicFramePr>
            <a:graphicFrameLocks noGrp="1"/>
          </p:cNvGraphicFramePr>
          <p:nvPr/>
        </p:nvGraphicFramePr>
        <p:xfrm>
          <a:off x="566928" y="1628775"/>
          <a:ext cx="11057837" cy="3655314"/>
        </p:xfrm>
        <a:graphic>
          <a:graphicData uri="http://schemas.openxmlformats.org/drawingml/2006/table">
            <a:tbl>
              <a:tblPr firstRow="0" bandRow="0">
                <a:tableStyleId>{5C22544A-7EE6-4342-B048-85BDC9FD1C3A}</a:tableStyleId>
              </a:tblPr>
              <a:tblGrid>
                <a:gridCol w="3407357"/>
                <a:gridCol w="4628862"/>
                <a:gridCol w="3021618"/>
              </a:tblGrid>
              <a:tr h="390906">
                <a:tc>
                  <a:txBody>
                    <a:bodyPr wrap="square"/>
                    <a:lstStyle/>
                    <a:p>
                      <a:pPr algn="l"/>
                      <a:r>
                        <a:rPr sz="1400" b="1" i="0" lang="es-ES">
                          <a:solidFill>
                            <a:srgbClr val="FFFFFF"/>
                          </a:solidFill>
                          <a:latin typeface="Calibri"/>
                        </a:rPr>
                        <a:t>Variable</a:t>
                      </a:r>
                    </a:p>
                  </a:txBody>
                  <a:tcPr marL="73152" marR="73152" marT="27432" marB="27432" anchor="ctr">
                    <a:solidFill>
                      <a:srgbClr val="1B2A4A"/>
                    </a:solidFill>
                  </a:tcPr>
                </a:tc>
                <a:tc>
                  <a:txBody>
                    <a:bodyPr wrap="square"/>
                    <a:lstStyle/>
                    <a:p>
                      <a:pPr algn="ctr"/>
                      <a:r>
                        <a:rPr sz="1400" b="1" i="0" lang="es-ES">
                          <a:solidFill>
                            <a:srgbClr val="FFFFFF"/>
                          </a:solidFill>
                          <a:latin typeface="Calibri"/>
                        </a:rPr>
                        <a:t>Indicador</a:t>
                      </a:r>
                    </a:p>
                  </a:txBody>
                  <a:tcPr marL="73152" marR="73152" marT="27432" marB="27432" anchor="ctr">
                    <a:solidFill>
                      <a:srgbClr val="1B2A4A"/>
                    </a:solidFill>
                  </a:tcPr>
                </a:tc>
                <a:tc>
                  <a:txBody>
                    <a:bodyPr wrap="square"/>
                    <a:lstStyle/>
                    <a:p>
                      <a:pPr algn="ctr"/>
                      <a:r>
                        <a:rPr sz="1400" b="1" i="0" lang="es-ES">
                          <a:solidFill>
                            <a:srgbClr val="FFFFFF"/>
                          </a:solidFill>
                          <a:latin typeface="Calibri"/>
                        </a:rPr>
                        <a:t>Instrumento</a:t>
                      </a:r>
                    </a:p>
                  </a:txBody>
                  <a:tcPr marL="73152" marR="73152" marT="27432" marB="27432" anchor="ctr">
                    <a:solidFill>
                      <a:srgbClr val="1B2A4A"/>
                    </a:solidFill>
                  </a:tcPr>
                </a:tc>
              </a:tr>
              <a:tr h="566928">
                <a:tc>
                  <a:txBody>
                    <a:bodyPr wrap="square"/>
                    <a:lstStyle/>
                    <a:p>
                      <a:pPr algn="l"/>
                      <a:r>
                        <a:rPr sz="1400" b="1" i="0" lang="es-ES">
                          <a:solidFill>
                            <a:srgbClr val="1F2937"/>
                          </a:solidFill>
                          <a:latin typeface="Calibri"/>
                        </a:rPr>
                        <a:t>Independiente: exposición del canal y de la respuesta</a:t>
                      </a:r>
                    </a:p>
                  </a:txBody>
                  <a:tcPr marL="73152" marR="73152" marT="27432" marB="27432" anchor="ctr">
                    <a:solidFill>
                      <a:srgbClr val="FFFFFF"/>
                    </a:solidFill>
                  </a:tcPr>
                </a:tc>
                <a:tc>
                  <a:txBody>
                    <a:bodyPr wrap="square"/>
                    <a:lstStyle/>
                    <a:p>
                      <a:pPr algn="ctr"/>
                      <a:r>
                        <a:rPr sz="1400" b="0" i="0" lang="es-ES">
                          <a:solidFill>
                            <a:srgbClr val="1F2937"/>
                          </a:solidFill>
                          <a:latin typeface="Calibri"/>
                        </a:rPr>
                        <a:t>Etapas con módulo y en la memoria; respuesta con su procedimiento; fases</a:t>
                      </a:r>
                    </a:p>
                  </a:txBody>
                  <a:tcPr marL="73152" marR="73152" marT="27432" marB="27432" anchor="ctr">
                    <a:solidFill>
                      <a:srgbClr val="FFFFFF"/>
                    </a:solidFill>
                  </a:tcPr>
                </a:tc>
                <a:tc>
                  <a:txBody>
                    <a:bodyPr wrap="square"/>
                    <a:lstStyle/>
                    <a:p>
                      <a:pPr algn="ctr"/>
                      <a:r>
                        <a:rPr sz="1400" b="0" i="0" lang="es-ES">
                          <a:solidFill>
                            <a:srgbClr val="1F2937"/>
                          </a:solidFill>
                          <a:latin typeface="Calibri"/>
                        </a:rPr>
                        <a:t>Inventario y pruebas</a:t>
                      </a:r>
                    </a:p>
                  </a:txBody>
                  <a:tcPr marL="73152" marR="73152" marT="27432" marB="27432" anchor="ctr">
                    <a:solidFill>
                      <a:srgbClr val="FFFFFF"/>
                    </a:solidFill>
                  </a:tcPr>
                </a:tc>
              </a:tr>
              <a:tr h="566928">
                <a:tc>
                  <a:txBody>
                    <a:bodyPr wrap="square"/>
                    <a:lstStyle/>
                    <a:p>
                      <a:pPr algn="l"/>
                      <a:r>
                        <a:rPr sz="1400" b="1" i="0" lang="es-ES">
                          <a:solidFill>
                            <a:srgbClr val="1F2937"/>
                          </a:solidFill>
                          <a:latin typeface="Calibri"/>
                        </a:rPr>
                        <a:t>Dependiente: criterio del estudiante</a:t>
                      </a:r>
                    </a:p>
                  </a:txBody>
                  <a:tcPr marL="73152" marR="73152" marT="27432" marB="27432" anchor="ctr">
                    <a:solidFill>
                      <a:srgbClr val="F6F8FC"/>
                    </a:solidFill>
                  </a:tcPr>
                </a:tc>
                <a:tc>
                  <a:txBody>
                    <a:bodyPr wrap="square"/>
                    <a:lstStyle/>
                    <a:p>
                      <a:pPr algn="ctr"/>
                      <a:r>
                        <a:rPr sz="1400" b="0" i="0" lang="es-ES">
                          <a:solidFill>
                            <a:srgbClr val="1F2937"/>
                          </a:solidFill>
                          <a:latin typeface="Calibri"/>
                        </a:rPr>
                        <a:t>Destrezas exigidas con instrumento; principios encarnados</a:t>
                      </a:r>
                    </a:p>
                  </a:txBody>
                  <a:tcPr marL="73152" marR="73152" marT="27432" marB="27432" anchor="ctr">
                    <a:solidFill>
                      <a:srgbClr val="F6F8FC"/>
                    </a:solidFill>
                  </a:tcPr>
                </a:tc>
                <a:tc>
                  <a:txBody>
                    <a:bodyPr wrap="square"/>
                    <a:lstStyle/>
                    <a:p>
                      <a:pPr algn="ctr"/>
                      <a:r>
                        <a:rPr sz="1400" b="0" i="0" lang="es-ES">
                          <a:solidFill>
                            <a:srgbClr val="1F2937"/>
                          </a:solidFill>
                          <a:latin typeface="Calibri"/>
                        </a:rPr>
                        <a:t>Tabla de especificaciones; matriz de principios</a:t>
                      </a:r>
                    </a:p>
                  </a:txBody>
                  <a:tcPr marL="73152" marR="73152" marT="27432" marB="27432" anchor="ctr">
                    <a:solidFill>
                      <a:srgbClr val="F6F8FC"/>
                    </a:solidFill>
                  </a:tcPr>
                </a:tc>
              </a:tr>
              <a:tr h="566928">
                <a:tc>
                  <a:txBody>
                    <a:bodyPr wrap="square"/>
                    <a:lstStyle/>
                    <a:p>
                      <a:pPr algn="l"/>
                      <a:r>
                        <a:rPr sz="1400" b="1" i="0" lang="es-ES">
                          <a:solidFill>
                            <a:srgbClr val="1F2937"/>
                          </a:solidFill>
                          <a:latin typeface="Calibri"/>
                        </a:rPr>
                        <a:t>Criterio logrado (no medido en esta etapa)</a:t>
                      </a:r>
                    </a:p>
                  </a:txBody>
                  <a:tcPr marL="73152" marR="73152" marT="27432" marB="27432" anchor="ctr">
                    <a:solidFill>
                      <a:srgbClr val="FFFFFF"/>
                    </a:solidFill>
                  </a:tcPr>
                </a:tc>
                <a:tc>
                  <a:txBody>
                    <a:bodyPr wrap="square"/>
                    <a:lstStyle/>
                    <a:p>
                      <a:pPr algn="ctr"/>
                      <a:r>
                        <a:rPr sz="1400" b="0" i="0" lang="es-ES">
                          <a:solidFill>
                            <a:srgbClr val="1F2937"/>
                          </a:solidFill>
                          <a:latin typeface="Calibri"/>
                        </a:rPr>
                        <a:t>Ganancia entre preprueba y posprueba</a:t>
                      </a:r>
                    </a:p>
                  </a:txBody>
                  <a:tcPr marL="73152" marR="73152" marT="27432" marB="27432" anchor="ctr">
                    <a:solidFill>
                      <a:srgbClr val="FFFFFF"/>
                    </a:solidFill>
                  </a:tcPr>
                </a:tc>
                <a:tc>
                  <a:txBody>
                    <a:bodyPr wrap="square"/>
                    <a:lstStyle/>
                    <a:p>
                      <a:pPr algn="ctr"/>
                      <a:r>
                        <a:rPr sz="1400" b="0" i="0" lang="es-ES">
                          <a:solidFill>
                            <a:srgbClr val="1F2937"/>
                          </a:solidFill>
                          <a:latin typeface="Calibri"/>
                        </a:rPr>
                        <a:t>Prueba de campo</a:t>
                      </a:r>
                    </a:p>
                  </a:txBody>
                  <a:tcPr marL="73152" marR="73152" marT="27432" marB="27432" anchor="ctr">
                    <a:solidFill>
                      <a:srgbClr val="FFFFFF"/>
                    </a:solidFill>
                  </a:tcPr>
                </a:tc>
              </a:tr>
              <a:tr h="390906">
                <a:tc>
                  <a:txBody>
                    <a:bodyPr wrap="square"/>
                    <a:lstStyle/>
                    <a:p>
                      <a:pPr algn="l"/>
                      <a:r>
                        <a:rPr sz="1400" b="1" i="0" lang="es-ES">
                          <a:solidFill>
                            <a:srgbClr val="1F2937"/>
                          </a:solidFill>
                          <a:latin typeface="Calibri"/>
                        </a:rPr>
                        <a:t>Interviniente: EduFEM</a:t>
                      </a:r>
                    </a:p>
                  </a:txBody>
                  <a:tcPr marL="73152" marR="73152" marT="27432" marB="27432" anchor="ctr">
                    <a:solidFill>
                      <a:srgbClr val="F6F8FC"/>
                    </a:solidFill>
                  </a:tcPr>
                </a:tc>
                <a:tc>
                  <a:txBody>
                    <a:bodyPr wrap="square"/>
                    <a:lstStyle/>
                    <a:p>
                      <a:pPr algn="ctr"/>
                      <a:r>
                        <a:rPr sz="1400" b="0" i="0" lang="es-ES">
                          <a:solidFill>
                            <a:srgbClr val="1F2937"/>
                          </a:solidFill>
                          <a:latin typeface="Calibri"/>
                        </a:rPr>
                        <a:t>Versión distribuida con la tesis</a:t>
                      </a:r>
                    </a:p>
                  </a:txBody>
                  <a:tcPr marL="73152" marR="73152" marT="27432" marB="27432" anchor="ctr">
                    <a:solidFill>
                      <a:srgbClr val="F6F8FC"/>
                    </a:solidFill>
                  </a:tcPr>
                </a:tc>
                <a:tc>
                  <a:txBody>
                    <a:bodyPr wrap="square"/>
                    <a:lstStyle/>
                    <a:p>
                      <a:pPr algn="ctr"/>
                      <a:r>
                        <a:rPr sz="1400" b="0" i="0" lang="es-ES">
                          <a:solidFill>
                            <a:srgbClr val="1F2937"/>
                          </a:solidFill>
                          <a:latin typeface="Calibri"/>
                        </a:rPr>
                        <a:t>Instalador y repositorio</a:t>
                      </a:r>
                    </a:p>
                  </a:txBody>
                  <a:tcPr marL="73152" marR="73152" marT="27432" marB="27432" anchor="ctr">
                    <a:solidFill>
                      <a:srgbClr val="F6F8FC"/>
                    </a:solidFill>
                  </a:tcPr>
                </a:tc>
              </a:tr>
              <a:tr h="390906">
                <a:tc>
                  <a:txBody>
                    <a:bodyPr wrap="square"/>
                    <a:lstStyle/>
                    <a:p>
                      <a:pPr algn="l"/>
                      <a:r>
                        <a:rPr sz="1400" b="1" i="0" lang="es-ES">
                          <a:solidFill>
                            <a:srgbClr val="1F2937"/>
                          </a:solidFill>
                          <a:latin typeface="Calibri"/>
                        </a:rPr>
                        <a:t>Factores del experimento numérico</a:t>
                      </a:r>
                    </a:p>
                  </a:txBody>
                  <a:tcPr marL="73152" marR="73152" marT="27432" marB="27432" anchor="ctr">
                    <a:solidFill>
                      <a:srgbClr val="FFFFFF"/>
                    </a:solidFill>
                  </a:tcPr>
                </a:tc>
                <a:tc>
                  <a:txBody>
                    <a:bodyPr wrap="square"/>
                    <a:lstStyle/>
                    <a:p>
                      <a:pPr algn="ctr"/>
                      <a:r>
                        <a:rPr sz="1400" b="0" i="0" lang="es-ES">
                          <a:solidFill>
                            <a:srgbClr val="1F2937"/>
                          </a:solidFill>
                          <a:latin typeface="Calibri"/>
                        </a:rPr>
                        <a:t>Modelo; Q4 o Q9; h o N×N; GDL</a:t>
                      </a:r>
                    </a:p>
                  </a:txBody>
                  <a:tcPr marL="73152" marR="73152" marT="27432" marB="27432" anchor="ctr">
                    <a:solidFill>
                      <a:srgbClr val="FFFFFF"/>
                    </a:solidFill>
                  </a:tcPr>
                </a:tc>
                <a:tc>
                  <a:txBody>
                    <a:bodyPr wrap="square"/>
                    <a:lstStyle/>
                    <a:p>
                      <a:pPr algn="ctr"/>
                      <a:r>
                        <a:rPr sz="1400" b="0" i="0" lang="es-ES">
                          <a:solidFill>
                            <a:srgbClr val="1F2937"/>
                          </a:solidFill>
                          <a:latin typeface="Calibri"/>
                        </a:rPr>
                        <a:t>Guion del caso</a:t>
                      </a:r>
                    </a:p>
                  </a:txBody>
                  <a:tcPr marL="73152" marR="73152" marT="27432" marB="27432" anchor="ctr">
                    <a:solidFill>
                      <a:srgbClr val="FFFFFF"/>
                    </a:solidFill>
                  </a:tcPr>
                </a:tc>
              </a:tr>
              <a:tr h="390906">
                <a:tc>
                  <a:txBody>
                    <a:bodyPr wrap="square"/>
                    <a:lstStyle/>
                    <a:p>
                      <a:pPr algn="l"/>
                      <a:r>
                        <a:rPr sz="1400" b="1" i="0" lang="es-ES">
                          <a:solidFill>
                            <a:srgbClr val="1F2937"/>
                          </a:solidFill>
                          <a:latin typeface="Calibri"/>
                        </a:rPr>
                        <a:t>Magnitudes medidas</a:t>
                      </a:r>
                    </a:p>
                  </a:txBody>
                  <a:tcPr marL="73152" marR="73152" marT="27432" marB="27432" anchor="ctr">
                    <a:solidFill>
                      <a:srgbClr val="F6F8FC"/>
                    </a:solidFill>
                  </a:tcPr>
                </a:tc>
                <a:tc>
                  <a:txBody>
                    <a:bodyPr wrap="square"/>
                    <a:lstStyle/>
                    <a:p>
                      <a:pPr algn="ctr"/>
                      <a:r>
                        <a:rPr sz="1400" b="0" i="0" lang="es-ES">
                          <a:solidFill>
                            <a:srgbClr val="1F2937"/>
                          </a:solidFill>
                          <a:latin typeface="Calibri"/>
                        </a:rPr>
                        <a:t>σ y u; orden p; L², H¹ y σ*; error %; equilibrio</a:t>
                      </a:r>
                    </a:p>
                  </a:txBody>
                  <a:tcPr marL="73152" marR="73152" marT="27432" marB="27432" anchor="ctr">
                    <a:solidFill>
                      <a:srgbClr val="F6F8FC"/>
                    </a:solidFill>
                  </a:tcPr>
                </a:tc>
                <a:tc>
                  <a:txBody>
                    <a:bodyPr wrap="square"/>
                    <a:lstStyle/>
                    <a:p>
                      <a:pPr algn="ctr"/>
                      <a:r>
                        <a:rPr sz="1400" b="0" i="0" lang="es-ES">
                          <a:solidFill>
                            <a:srgbClr val="1F2937"/>
                          </a:solidFill>
                          <a:latin typeface="Calibri"/>
                        </a:rPr>
                        <a:t>Guiones de V&amp;V</a:t>
                      </a:r>
                    </a:p>
                  </a:txBody>
                  <a:tcPr marL="73152" marR="73152" marT="27432" marB="27432" anchor="ctr">
                    <a:solidFill>
                      <a:srgbClr val="F6F8FC"/>
                    </a:solidFill>
                  </a:tcPr>
                </a:tc>
              </a:tr>
              <a:tr h="390906">
                <a:tc>
                  <a:txBody>
                    <a:bodyPr wrap="square"/>
                    <a:lstStyle/>
                    <a:p>
                      <a:pPr algn="l"/>
                      <a:r>
                        <a:rPr sz="1400" b="1" i="0" lang="es-ES">
                          <a:solidFill>
                            <a:srgbClr val="1F2937"/>
                          </a:solidFill>
                          <a:latin typeface="Calibri"/>
                        </a:rPr>
                        <a:t>Controlados y observado</a:t>
                      </a:r>
                    </a:p>
                  </a:txBody>
                  <a:tcPr marL="73152" marR="73152" marT="27432" marB="27432" anchor="ctr">
                    <a:solidFill>
                      <a:srgbClr val="FFFFFF"/>
                    </a:solidFill>
                  </a:tcPr>
                </a:tc>
                <a:tc>
                  <a:txBody>
                    <a:bodyPr wrap="square"/>
                    <a:lstStyle/>
                    <a:p>
                      <a:pPr algn="ctr"/>
                      <a:r>
                        <a:rPr sz="1400" b="0" i="0" lang="es-ES">
                          <a:solidFill>
                            <a:srgbClr val="1F2937"/>
                          </a:solidFill>
                          <a:latin typeface="Calibri"/>
                        </a:rPr>
                        <a:t>Estado plano; 2×2 y 3×3; tiempos</a:t>
                      </a:r>
                    </a:p>
                  </a:txBody>
                  <a:tcPr marL="73152" marR="73152" marT="27432" marB="27432" anchor="ctr">
                    <a:solidFill>
                      <a:srgbClr val="FFFFFF"/>
                    </a:solidFill>
                  </a:tcPr>
                </a:tc>
                <a:tc>
                  <a:txBody>
                    <a:bodyPr wrap="square"/>
                    <a:lstStyle/>
                    <a:p>
                      <a:pPr algn="ctr"/>
                      <a:r>
                        <a:rPr sz="1400" b="0" i="0" lang="es-ES">
                          <a:solidFill>
                            <a:srgbClr val="1F2937"/>
                          </a:solidFill>
                          <a:latin typeface="Calibri"/>
                        </a:rPr>
                        <a:t>Constantes; guion de tiempos</a:t>
                      </a:r>
                    </a:p>
                  </a:txBody>
                  <a:tcPr marL="73152" marR="73152" marT="27432" marB="27432" anchor="ctr">
                    <a:solidFill>
                      <a:srgbClr val="FFFFFF"/>
                    </a:solidFill>
                  </a:tcPr>
                </a:tc>
              </a:tr>
            </a:tbl>
          </a:graphicData>
        </a:graphic>
      </p:graphicFrame>
      <p:sp>
        <p:nvSpPr>
          <p:cNvPr id="13" name="Rectangle 12"/>
          <p:cNvSpPr/>
          <p:nvPr/>
        </p:nvSpPr>
        <p:spPr>
          <a:xfrm>
            <a:off x="566928" y="1987677"/>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Una sola pareja de variables; lo numérico son factores y magnitudes del experimento que verifica el motor</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§2.1.2, Tabla 2.1</a:t>
            </a:r>
          </a:p>
        </p:txBody>
      </p:sp>
      <p:sp>
        <p:nvSpPr>
          <p:cNvPr id="20" name="TextBox 19"/>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Matriz de consistencia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Table 11"/>
          <p:cNvGraphicFramePr>
            <a:graphicFrameLocks noGrp="1"/>
          </p:cNvGraphicFramePr>
          <p:nvPr/>
        </p:nvGraphicFramePr>
        <p:xfrm>
          <a:off x="566928" y="1833117"/>
          <a:ext cx="11057837" cy="3246628"/>
        </p:xfrm>
        <a:graphic>
          <a:graphicData uri="http://schemas.openxmlformats.org/drawingml/2006/table">
            <a:tbl>
              <a:tblPr firstRow="0" bandRow="0">
                <a:tableStyleId>{5C22544A-7EE6-4342-B048-85BDC9FD1C3A}</a:tableStyleId>
              </a:tblPr>
              <a:tblGrid>
                <a:gridCol w="1573789"/>
                <a:gridCol w="957328"/>
                <a:gridCol w="3758755"/>
                <a:gridCol w="3533230"/>
                <a:gridCol w="1234735"/>
              </a:tblGrid>
              <a:tr h="411988">
                <a:tc>
                  <a:txBody>
                    <a:bodyPr wrap="square"/>
                    <a:lstStyle/>
                    <a:p>
                      <a:pPr algn="l"/>
                      <a:r>
                        <a:rPr sz="1700" b="1" i="0" lang="es-ES">
                          <a:solidFill>
                            <a:srgbClr val="FFFFFF"/>
                          </a:solidFill>
                          <a:latin typeface="Calibri"/>
                        </a:rPr>
                        <a:t>Objetivo</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PI</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Indicador</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Instrumento</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Evidencia</a:t>
                      </a:r>
                    </a:p>
                  </a:txBody>
                  <a:tcPr marL="73152" marR="73152" marT="27432" marB="27432" anchor="ctr">
                    <a:solidFill>
                      <a:srgbClr val="1B2A4A"/>
                    </a:solidFill>
                  </a:tcPr>
                </a:tc>
              </a:tr>
              <a:tr h="566928">
                <a:tc>
                  <a:txBody>
                    <a:bodyPr wrap="square"/>
                    <a:lstStyle/>
                    <a:p>
                      <a:pPr algn="l"/>
                      <a:r>
                        <a:rPr sz="1700" b="1" i="0" lang="es-ES">
                          <a:solidFill>
                            <a:srgbClr val="1F2937"/>
                          </a:solidFill>
                          <a:latin typeface="Calibri"/>
                        </a:rPr>
                        <a:t>OE1 Diagnosticar</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PI-1 a PI-3</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Atributos que la herramienta debe tener</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Antecedentes; análisis comparativo</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§1.1 · Tabla 1.1</a:t>
                      </a:r>
                    </a:p>
                  </a:txBody>
                  <a:tcPr marL="73152" marR="73152" marT="27432" marB="27432" anchor="ctr">
                    <a:solidFill>
                      <a:srgbClr val="FFFFFF"/>
                    </a:solidFill>
                  </a:tcPr>
                </a:tc>
              </a:tr>
              <a:tr h="566928">
                <a:tc>
                  <a:txBody>
                    <a:bodyPr wrap="square"/>
                    <a:lstStyle/>
                    <a:p>
                      <a:pPr algn="l"/>
                      <a:r>
                        <a:rPr sz="1700" b="1" i="0" lang="es-ES">
                          <a:solidFill>
                            <a:srgbClr val="1F2937"/>
                          </a:solidFill>
                          <a:latin typeface="Calibri"/>
                        </a:rPr>
                        <a:t>OE2 Fundamentar</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PI-1 a PI-3</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Canal cubierto; principios</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Revisión de la literatura</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Cap. 1</a:t>
                      </a:r>
                    </a:p>
                  </a:txBody>
                  <a:tcPr marL="73152" marR="73152" marT="27432" marB="27432" anchor="ctr">
                    <a:solidFill>
                      <a:srgbClr val="F6F8FC"/>
                    </a:solidFill>
                  </a:tcPr>
                </a:tc>
              </a:tr>
              <a:tr h="566928">
                <a:tc>
                  <a:txBody>
                    <a:bodyPr wrap="square"/>
                    <a:lstStyle/>
                    <a:p>
                      <a:pPr algn="l"/>
                      <a:r>
                        <a:rPr sz="1700" b="1" i="0" lang="es-ES">
                          <a:solidFill>
                            <a:srgbClr val="1F2937"/>
                          </a:solidFill>
                          <a:latin typeface="Calibri"/>
                        </a:rPr>
                        <a:t>OE3 Desarrollar</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PI-1</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Etapas con módulo y en la memoria; fases; formatos</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NumPy/SciPy; capas sobre la malla; PDF</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§2.2 · Tabla 3.6</a:t>
                      </a:r>
                    </a:p>
                  </a:txBody>
                  <a:tcPr marL="73152" marR="73152" marT="27432" marB="27432" anchor="ctr">
                    <a:solidFill>
                      <a:srgbClr val="FFFFFF"/>
                    </a:solidFill>
                  </a:tcPr>
                </a:tc>
              </a:tr>
              <a:tr h="566928">
                <a:tc>
                  <a:txBody>
                    <a:bodyPr wrap="square"/>
                    <a:lstStyle/>
                    <a:p>
                      <a:pPr algn="l"/>
                      <a:r>
                        <a:rPr sz="1700" b="1" i="0" lang="es-ES">
                          <a:solidFill>
                            <a:srgbClr val="1F2937"/>
                          </a:solidFill>
                          <a:latin typeface="Calibri"/>
                        </a:rPr>
                        <a:t>OE4 Verificar</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PI-2</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Error, tasa, bloqueo</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MMS, Timoshenko, Cook</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Cap. 3</a:t>
                      </a:r>
                    </a:p>
                  </a:txBody>
                  <a:tcPr marL="73152" marR="73152" marT="27432" marB="27432" anchor="ctr">
                    <a:solidFill>
                      <a:srgbClr val="F6F8FC"/>
                    </a:solidFill>
                  </a:tcPr>
                </a:tc>
              </a:tr>
              <a:tr h="566928">
                <a:tc>
                  <a:txBody>
                    <a:bodyPr wrap="square"/>
                    <a:lstStyle/>
                    <a:p>
                      <a:pPr algn="l"/>
                      <a:r>
                        <a:rPr sz="1700" b="1" i="0" lang="es-ES">
                          <a:solidFill>
                            <a:srgbClr val="1F2937"/>
                          </a:solidFill>
                          <a:latin typeface="Calibri"/>
                        </a:rPr>
                        <a:t>OE5 Validar</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PI-3</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Destrezas con instrumento; principios encarnados</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Tabla de especificaciones; matriz de principios</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Tablas 3.7 y 3.8</a:t>
                      </a:r>
                    </a:p>
                  </a:txBody>
                  <a:tcPr marL="73152" marR="73152" marT="27432" marB="27432" anchor="ctr">
                    <a:solidFill>
                      <a:srgbClr val="FFFFFF"/>
                    </a:solidFill>
                  </a:tcPr>
                </a:tc>
              </a:tr>
            </a:tbl>
          </a:graphicData>
        </a:graphic>
      </p:graphicFrame>
      <p:sp>
        <p:nvSpPr>
          <p:cNvPr id="13" name="Rectangle 12"/>
          <p:cNvSpPr/>
          <p:nvPr/>
        </p:nvSpPr>
        <p:spPr>
          <a:xfrm>
            <a:off x="566928" y="221310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OE1 y OE2 son transversales; OE3, OE4 y OE5 responden cada uno a una cláusula de la hipótesis</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§2.1.3, Tabla 2.2</a:t>
            </a:r>
          </a:p>
        </p:txBody>
      </p:sp>
      <p:sp>
        <p:nvSpPr>
          <p:cNvPr id="20" name="TextBox 19"/>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Procedimiento de verificación y validación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5216"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Guion del caso</a:t>
            </a:r>
          </a:p>
        </p:txBody>
      </p:sp>
      <p:sp>
        <p:nvSpPr>
          <p:cNvPr id="15" name="TextBox 14"/>
          <p:cNvSpPr txBox="1"/>
          <p:nvPr/>
        </p:nvSpPr>
        <p:spPr>
          <a:xfrm>
            <a:off x="566928"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malla, material, cargas, apoyos</a:t>
            </a:r>
          </a:p>
        </p:txBody>
      </p:sp>
      <p:sp>
        <p:nvSpPr>
          <p:cNvPr id="16" name="Right Arrow 15"/>
          <p:cNvSpPr/>
          <p:nvPr/>
        </p:nvSpPr>
        <p:spPr>
          <a:xfrm>
            <a:off x="2440167"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88223"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906511"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888223"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Validador de salud</a:t>
            </a:r>
          </a:p>
        </p:txBody>
      </p:sp>
      <p:sp>
        <p:nvSpPr>
          <p:cNvPr id="20" name="TextBox 19"/>
          <p:cNvSpPr txBox="1"/>
          <p:nvPr/>
        </p:nvSpPr>
        <p:spPr>
          <a:xfrm>
            <a:off x="2888223"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det J &gt; 0, sin cuerpo rígido</a:t>
            </a:r>
          </a:p>
        </p:txBody>
      </p:sp>
      <p:sp>
        <p:nvSpPr>
          <p:cNvPr id="21" name="Right Arrow 20"/>
          <p:cNvSpPr/>
          <p:nvPr/>
        </p:nvSpPr>
        <p:spPr>
          <a:xfrm>
            <a:off x="4761463"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09519"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27807"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209519"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Mismo motor</a:t>
            </a:r>
          </a:p>
        </p:txBody>
      </p:sp>
      <p:sp>
        <p:nvSpPr>
          <p:cNvPr id="25" name="TextBox 24"/>
          <p:cNvSpPr txBox="1"/>
          <p:nvPr/>
        </p:nvSpPr>
        <p:spPr>
          <a:xfrm>
            <a:off x="5209519"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el que usan módulos y memoria</a:t>
            </a:r>
          </a:p>
        </p:txBody>
      </p:sp>
      <p:sp>
        <p:nvSpPr>
          <p:cNvPr id="26" name="Right Arrow 25"/>
          <p:cNvSpPr/>
          <p:nvPr/>
        </p:nvSpPr>
        <p:spPr>
          <a:xfrm>
            <a:off x="7082759"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530815"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549103"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30815"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Normas L², H¹, σ*</a:t>
            </a:r>
          </a:p>
        </p:txBody>
      </p:sp>
      <p:sp>
        <p:nvSpPr>
          <p:cNvPr id="30" name="TextBox 29"/>
          <p:cNvSpPr txBox="1"/>
          <p:nvPr/>
        </p:nvSpPr>
        <p:spPr>
          <a:xfrm>
            <a:off x="7530815"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un punto de Gauss más</a:t>
            </a:r>
          </a:p>
        </p:txBody>
      </p:sp>
      <p:sp>
        <p:nvSpPr>
          <p:cNvPr id="31" name="Right Arrow 30"/>
          <p:cNvSpPr/>
          <p:nvPr/>
        </p:nvSpPr>
        <p:spPr>
          <a:xfrm>
            <a:off x="9404055"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852111"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870399"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852111"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CSV + criterios</a:t>
            </a:r>
          </a:p>
        </p:txBody>
      </p:sp>
      <p:sp>
        <p:nvSpPr>
          <p:cNvPr id="35" name="TextBox 34"/>
          <p:cNvSpPr txBox="1"/>
          <p:nvPr/>
        </p:nvSpPr>
        <p:spPr>
          <a:xfrm>
            <a:off x="9852111"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el guion falla si no cumple</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Casos por valor probatorio: MMS (solución exacta), Timoshenko (analítica y SAP2000) y Cook (referencia histórica)</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§2.1.4 y §2.1.5</a:t>
            </a:r>
          </a:p>
        </p:txBody>
      </p:sp>
      <p:sp>
        <p:nvSpPr>
          <p:cNvPr id="42" name="TextBox 4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Criterios de aceptación fijados a priori</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2296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193852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 0,5</a:t>
            </a:r>
          </a:p>
        </p:txBody>
      </p:sp>
      <p:sp>
        <p:nvSpPr>
          <p:cNvPr id="15" name="TextBox 14"/>
          <p:cNvSpPr txBox="1"/>
          <p:nvPr/>
        </p:nvSpPr>
        <p:spPr>
          <a:xfrm>
            <a:off x="795528" y="252450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tasas del desplazamiento frente a las teóricas, en las cuatro configuraciones del MMS</a:t>
            </a:r>
          </a:p>
        </p:txBody>
      </p:sp>
      <p:sp>
        <p:nvSpPr>
          <p:cNvPr id="16" name="Rounded Rectangle 15"/>
          <p:cNvSpPr/>
          <p:nvPr/>
        </p:nvSpPr>
        <p:spPr>
          <a:xfrm>
            <a:off x="433821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9425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66818" y="193852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1 %</a:t>
            </a:r>
          </a:p>
        </p:txBody>
      </p:sp>
      <p:sp>
        <p:nvSpPr>
          <p:cNvPr id="19" name="TextBox 18"/>
          <p:cNvSpPr txBox="1"/>
          <p:nvPr/>
        </p:nvSpPr>
        <p:spPr>
          <a:xfrm>
            <a:off x="4566818" y="252450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σₓ de Timoshenko frente al analítico y frente a SAP2000, en tres puntos</a:t>
            </a:r>
          </a:p>
        </p:txBody>
      </p:sp>
      <p:sp>
        <p:nvSpPr>
          <p:cNvPr id="20" name="Rounded Rectangle 19"/>
          <p:cNvSpPr/>
          <p:nvPr/>
        </p:nvSpPr>
        <p:spPr>
          <a:xfrm>
            <a:off x="810950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6554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38108" y="193852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3 %</a:t>
            </a:r>
          </a:p>
        </p:txBody>
      </p:sp>
      <p:sp>
        <p:nvSpPr>
          <p:cNvPr id="23" name="TextBox 22"/>
          <p:cNvSpPr txBox="1"/>
          <p:nvPr/>
        </p:nvSpPr>
        <p:spPr>
          <a:xfrm>
            <a:off x="8338108" y="252450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flecha central frente a la analítica con corrección de cortante</a:t>
            </a:r>
          </a:p>
        </p:txBody>
      </p:sp>
      <p:sp>
        <p:nvSpPr>
          <p:cNvPr id="24" name="Rounded Rectangle 23"/>
          <p:cNvSpPr/>
          <p:nvPr/>
        </p:nvSpPr>
        <p:spPr>
          <a:xfrm>
            <a:off x="56692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2296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95528" y="395020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18/18 · 4/4</a:t>
            </a:r>
          </a:p>
        </p:txBody>
      </p:sp>
      <p:sp>
        <p:nvSpPr>
          <p:cNvPr id="27" name="TextBox 26"/>
          <p:cNvSpPr txBox="1"/>
          <p:nvPr/>
        </p:nvSpPr>
        <p:spPr>
          <a:xfrm>
            <a:off x="795528" y="453618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destrezas y conceptos con instrumento; principios encarnados</a:t>
            </a:r>
          </a:p>
        </p:txBody>
      </p:sp>
      <p:sp>
        <p:nvSpPr>
          <p:cNvPr id="28" name="Rounded Rectangle 27"/>
          <p:cNvSpPr/>
          <p:nvPr/>
        </p:nvSpPr>
        <p:spPr>
          <a:xfrm>
            <a:off x="433821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59425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6818" y="395020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u(Q4) &lt; u(Q9)</a:t>
            </a:r>
          </a:p>
        </p:txBody>
      </p:sp>
      <p:sp>
        <p:nvSpPr>
          <p:cNvPr id="31" name="TextBox 30"/>
          <p:cNvSpPr txBox="1"/>
          <p:nvPr/>
        </p:nvSpPr>
        <p:spPr>
          <a:xfrm>
            <a:off x="4566818" y="453618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a igual malla: la firma del bloqueo por cortante</a:t>
            </a:r>
          </a:p>
        </p:txBody>
      </p:sp>
      <p:sp>
        <p:nvSpPr>
          <p:cNvPr id="32" name="Rounded Rectangle 31"/>
          <p:cNvSpPr/>
          <p:nvPr/>
        </p:nvSpPr>
        <p:spPr>
          <a:xfrm>
            <a:off x="810950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36554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38108" y="395020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7/7 · 9/9</a:t>
            </a:r>
          </a:p>
        </p:txBody>
      </p:sp>
      <p:sp>
        <p:nvSpPr>
          <p:cNvPr id="35" name="TextBox 34"/>
          <p:cNvSpPr txBox="1"/>
          <p:nvPr/>
        </p:nvSpPr>
        <p:spPr>
          <a:xfrm>
            <a:off x="8338108" y="453618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etapas con módulo interactivo y con desarrollo numérico en la memoria</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Los guiones terminan con error si un criterio numérico falla; también entran Cook (Q9 con N = 8 dentro del 1,5 %), el equilibrio (residuo &lt; 10⁻⁸) y la ida y vuelta de los formatos</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100" b="0" i="0" lang="es-ES">
                <a:solidFill>
                  <a:srgbClr val="5B6575"/>
                </a:solidFill>
                <a:latin typeface="Calibri"/>
              </a:rPr>
              <a:t>Tesis: §2.1.6, criterios de aceptación y contraste de la hipótesis</a:t>
            </a:r>
          </a:p>
        </p:txBody>
      </p:sp>
      <p:sp>
        <p:nvSpPr>
          <p:cNvPr id="42" name="TextBox 4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Arquitectura: seis capas, un modelo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4626864"/>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Python libre:</a:t>
            </a:r>
            <a:r>
              <a:rPr sz="2400" b="0" i="0" lang="es-ES">
                <a:solidFill>
                  <a:srgbClr val="1F2937"/>
                </a:solidFill>
                <a:latin typeface="Calibri"/>
              </a:rPr>
              <a:t> tkinter y ttkbootstrap, NumPy y SciPy</a:t>
            </a:r>
          </a:p>
          <a:p>
            <a:pPr marL="347472" indent="-347472">
              <a:lnSpc>
                <a:spcPct val="112000"/>
              </a:lnSpc>
              <a:spcAft>
                <a:spcPts val="1200"/>
              </a:spcAft>
              <a:buClr>
                <a:srgbClr val="F28C28"/>
              </a:buClr>
              <a:buSzPct val="100000"/>
              <a:buFont typeface="Arial"/>
              <a:buChar char="•"/>
            </a:pPr>
            <a:r>
              <a:rPr sz="2400" b="0" i="0" lang="es-ES">
                <a:solidFill>
                  <a:srgbClr val="1F2937"/>
                </a:solidFill>
                <a:latin typeface="Calibri"/>
              </a:rPr>
              <a:t>ProjectModel compartido por referencia: el estado que todas las capas mutan</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fem/ es puro:</a:t>
            </a:r>
            <a:r>
              <a:rPr sz="2400" b="0" i="0" lang="es-ES">
                <a:solidFill>
                  <a:srgbClr val="1F2937"/>
                </a:solidFill>
                <a:latin typeface="Calibri"/>
              </a:rPr>
              <a:t> sin tkinter ni matplotlib, corre sin pantalla</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GDL por índice ordinal:</a:t>
            </a:r>
            <a:r>
              <a:rPr sz="2400" b="0" i="0" lang="es-ES">
                <a:solidFill>
                  <a:srgbClr val="1F2937"/>
                </a:solidFill>
                <a:latin typeface="Calibri"/>
              </a:rPr>
              <a:t> K se dimensiona 2N, no 2·máx(id de nodo)</a:t>
            </a:r>
          </a:p>
        </p:txBody>
      </p:sp>
      <p:sp>
        <p:nvSpPr>
          <p:cNvPr id="13" name="Rounded Rectangle 12"/>
          <p:cNvSpPr/>
          <p:nvPr/>
        </p:nvSpPr>
        <p:spPr>
          <a:xfrm>
            <a:off x="6236208" y="1804260"/>
            <a:ext cx="5388559" cy="3734111"/>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g_arquitectura.png"/>
          <p:cNvPicPr>
            <a:picLocks noChangeAspect="1"/>
          </p:cNvPicPr>
          <p:nvPr/>
        </p:nvPicPr>
        <p:blipFill>
          <a:blip r:embed="rId2"/>
          <a:stretch>
            <a:fillRect/>
          </a:stretch>
        </p:blipFill>
        <p:spPr>
          <a:xfrm>
            <a:off x="6355080" y="1923132"/>
            <a:ext cx="5150815" cy="3496367"/>
          </a:xfrm>
          <a:prstGeom prst="rect">
            <a:avLst/>
          </a:prstGeom>
        </p:spPr>
      </p:pic>
      <p:sp>
        <p:nvSpPr>
          <p:cNvPr id="15" name="TextBox 14"/>
          <p:cNvSpPr txBox="1"/>
          <p:nvPr/>
        </p:nvSpPr>
        <p:spPr>
          <a:xfrm>
            <a:off x="6236208" y="5465219"/>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Arquitectura por capas centrada en el modelo de proyecto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requisitos, stack y arquitectura</a:t>
            </a:r>
          </a:p>
        </p:txBody>
      </p:sp>
      <p:sp>
        <p:nvSpPr>
          <p:cNvPr id="19" name="TextBox 1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Pre-proceso: un lienzo, cinco tablas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4626864"/>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Lienzo único compartido por pre-proceso, proceso y post-proceso</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Modo dibujo tipo CAD:</a:t>
            </a:r>
            <a:r>
              <a:rPr sz="2200" b="0" i="0" lang="es-ES">
                <a:solidFill>
                  <a:srgbClr val="1F2937"/>
                </a:solidFill>
                <a:latin typeface="Calibri"/>
              </a:rPr>
              <a:t> cuatro vértices, snap, orientación antihoraria</a:t>
            </a:r>
          </a:p>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Deshacer y rehacer por instantáneas; sincronización tabla ↔ lienzo</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Validador de salud:</a:t>
            </a:r>
            <a:r>
              <a:rPr sz="2200" b="0" i="0" lang="es-ES">
                <a:solidFill>
                  <a:srgbClr val="1F2937"/>
                </a:solidFill>
                <a:latin typeface="Calibri"/>
              </a:rPr>
              <a:t> 22 chequeos (13 críticos, 8 advertencias, 1 informativo)</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Calidad de malla (M0):</a:t>
            </a:r>
            <a:r>
              <a:rPr sz="2200" b="0" i="0" lang="es-ES">
                <a:solidFill>
                  <a:srgbClr val="1F2937"/>
                </a:solidFill>
                <a:latin typeface="Calibri"/>
              </a:rPr>
              <a:t> q_SJ ≥ 0,50, más exigente que el 0,30 de Verdict</a:t>
            </a:r>
          </a:p>
        </p:txBody>
      </p:sp>
      <p:sp>
        <p:nvSpPr>
          <p:cNvPr id="13" name="Rounded Rectangle 12"/>
          <p:cNvSpPr/>
          <p:nvPr/>
        </p:nvSpPr>
        <p:spPr>
          <a:xfrm>
            <a:off x="6236208" y="1652647"/>
            <a:ext cx="5388559" cy="4037336"/>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g_lienzo_lod.png"/>
          <p:cNvPicPr>
            <a:picLocks noChangeAspect="1"/>
          </p:cNvPicPr>
          <p:nvPr/>
        </p:nvPicPr>
        <p:blipFill>
          <a:blip r:embed="rId2"/>
          <a:stretch>
            <a:fillRect/>
          </a:stretch>
        </p:blipFill>
        <p:spPr>
          <a:xfrm>
            <a:off x="6355080" y="1771519"/>
            <a:ext cx="5150815" cy="3799592"/>
          </a:xfrm>
          <a:prstGeom prst="rect">
            <a:avLst/>
          </a:prstGeom>
        </p:spPr>
      </p:pic>
      <p:sp>
        <p:nvSpPr>
          <p:cNvPr id="15" name="TextBox 14"/>
          <p:cNvSpPr txBox="1"/>
          <p:nvPr/>
        </p:nvSpPr>
        <p:spPr>
          <a:xfrm>
            <a:off x="6236208" y="5616831"/>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Modo de dibujo sobre el lienzo compartido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pre-proceso; Cap. 1 calidad de malla; Anexo B</a:t>
            </a:r>
          </a:p>
        </p:txBody>
      </p:sp>
      <p:sp>
        <p:nvSpPr>
          <p:cNvPr id="19" name="TextBox 1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Ocho módulos recorren el canal del MEF</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5216"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278189"/>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M0 Calidad</a:t>
            </a:r>
          </a:p>
        </p:txBody>
      </p:sp>
      <p:sp>
        <p:nvSpPr>
          <p:cNvPr id="15" name="TextBox 14"/>
          <p:cNvSpPr txBox="1"/>
          <p:nvPr/>
        </p:nvSpPr>
        <p:spPr>
          <a:xfrm>
            <a:off x="566928" y="2643441"/>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de malla</a:t>
            </a:r>
          </a:p>
        </p:txBody>
      </p:sp>
      <p:sp>
        <p:nvSpPr>
          <p:cNvPr id="16" name="Right Arrow 15"/>
          <p:cNvSpPr/>
          <p:nvPr/>
        </p:nvSpPr>
        <p:spPr>
          <a:xfrm>
            <a:off x="302049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6854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48683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68547" y="2278189"/>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M1 Mapeo</a:t>
            </a:r>
          </a:p>
        </p:txBody>
      </p:sp>
      <p:sp>
        <p:nvSpPr>
          <p:cNvPr id="20" name="TextBox 19"/>
          <p:cNvSpPr txBox="1"/>
          <p:nvPr/>
        </p:nvSpPr>
        <p:spPr>
          <a:xfrm>
            <a:off x="3468547" y="2643441"/>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isoparamétrico</a:t>
            </a:r>
          </a:p>
        </p:txBody>
      </p:sp>
      <p:sp>
        <p:nvSpPr>
          <p:cNvPr id="21" name="Right Arrow 20"/>
          <p:cNvSpPr/>
          <p:nvPr/>
        </p:nvSpPr>
        <p:spPr>
          <a:xfrm>
            <a:off x="592211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7016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38845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70167" y="2278189"/>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M2 Jacobiano</a:t>
            </a:r>
          </a:p>
        </p:txBody>
      </p:sp>
      <p:sp>
        <p:nvSpPr>
          <p:cNvPr id="25" name="TextBox 24"/>
          <p:cNvSpPr txBox="1"/>
          <p:nvPr/>
        </p:nvSpPr>
        <p:spPr>
          <a:xfrm>
            <a:off x="6370167" y="2643441"/>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distorsión y det J</a:t>
            </a:r>
          </a:p>
        </p:txBody>
      </p:sp>
      <p:sp>
        <p:nvSpPr>
          <p:cNvPr id="26" name="Right Arrow 25"/>
          <p:cNvSpPr/>
          <p:nvPr/>
        </p:nvSpPr>
        <p:spPr>
          <a:xfrm>
            <a:off x="882373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27178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29007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71787" y="2278189"/>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M3 Matriz B</a:t>
            </a:r>
          </a:p>
        </p:txBody>
      </p:sp>
      <p:sp>
        <p:nvSpPr>
          <p:cNvPr id="30" name="TextBox 29"/>
          <p:cNvSpPr txBox="1"/>
          <p:nvPr/>
        </p:nvSpPr>
        <p:spPr>
          <a:xfrm>
            <a:off x="9271787" y="2643441"/>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ε = B u</a:t>
            </a:r>
          </a:p>
        </p:txBody>
      </p:sp>
      <p:sp>
        <p:nvSpPr>
          <p:cNvPr id="31" name="Rounded Rectangle 30"/>
          <p:cNvSpPr/>
          <p:nvPr/>
        </p:nvSpPr>
        <p:spPr>
          <a:xfrm>
            <a:off x="566928"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85216"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66928" y="4161853"/>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M4 Matriz D</a:t>
            </a:r>
          </a:p>
        </p:txBody>
      </p:sp>
      <p:sp>
        <p:nvSpPr>
          <p:cNvPr id="34" name="TextBox 33"/>
          <p:cNvSpPr txBox="1"/>
          <p:nvPr/>
        </p:nvSpPr>
        <p:spPr>
          <a:xfrm>
            <a:off x="566928" y="4527105"/>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material</a:t>
            </a:r>
          </a:p>
        </p:txBody>
      </p:sp>
      <p:sp>
        <p:nvSpPr>
          <p:cNvPr id="35" name="Right Arrow 34"/>
          <p:cNvSpPr/>
          <p:nvPr/>
        </p:nvSpPr>
        <p:spPr>
          <a:xfrm>
            <a:off x="302049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46854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48683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468547" y="4161853"/>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M5 Rigidez kₑ</a:t>
            </a:r>
          </a:p>
        </p:txBody>
      </p:sp>
      <p:sp>
        <p:nvSpPr>
          <p:cNvPr id="39" name="TextBox 38"/>
          <p:cNvSpPr txBox="1"/>
          <p:nvPr/>
        </p:nvSpPr>
        <p:spPr>
          <a:xfrm>
            <a:off x="3468547" y="4527105"/>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cuadratura de Gauss</a:t>
            </a:r>
          </a:p>
        </p:txBody>
      </p:sp>
      <p:sp>
        <p:nvSpPr>
          <p:cNvPr id="40" name="Right Arrow 39"/>
          <p:cNvSpPr/>
          <p:nvPr/>
        </p:nvSpPr>
        <p:spPr>
          <a:xfrm>
            <a:off x="592211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37016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38845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70167" y="4161853"/>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M6 Fuerzas</a:t>
            </a:r>
          </a:p>
        </p:txBody>
      </p:sp>
      <p:sp>
        <p:nvSpPr>
          <p:cNvPr id="44" name="TextBox 43"/>
          <p:cNvSpPr txBox="1"/>
          <p:nvPr/>
        </p:nvSpPr>
        <p:spPr>
          <a:xfrm>
            <a:off x="6370167" y="4527105"/>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equivalentes</a:t>
            </a:r>
          </a:p>
        </p:txBody>
      </p:sp>
      <p:sp>
        <p:nvSpPr>
          <p:cNvPr id="45" name="Right Arrow 44"/>
          <p:cNvSpPr/>
          <p:nvPr/>
        </p:nvSpPr>
        <p:spPr>
          <a:xfrm>
            <a:off x="882373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7178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929007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71787" y="4161853"/>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M7 Ensamblaje</a:t>
            </a:r>
          </a:p>
        </p:txBody>
      </p:sp>
      <p:sp>
        <p:nvSpPr>
          <p:cNvPr id="49" name="TextBox 48"/>
          <p:cNvSpPr txBox="1"/>
          <p:nvPr/>
        </p:nvSpPr>
        <p:spPr>
          <a:xfrm>
            <a:off x="9271787" y="4527105"/>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K y F globales</a:t>
            </a:r>
          </a:p>
        </p:txBody>
      </p:sp>
      <p:sp>
        <p:nvSpPr>
          <p:cNvPr id="50" name="Rectangle 49"/>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Capas sobre la malla real, una sola activa a la vez, conmutador Fórmula ↔ Valores</a:t>
            </a:r>
          </a:p>
        </p:txBody>
      </p:sp>
      <p:sp>
        <p:nvSpPr>
          <p:cNvPr id="53" name="Rectangle 52"/>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55" name="TextBox 54"/>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módulos educativos, tabla de módulos</a:t>
            </a:r>
          </a:p>
        </p:txBody>
      </p:sp>
      <p:sp>
        <p:nvSpPr>
          <p:cNvPr id="56" name="TextBox 55"/>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M5: de la integral a la suma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2701631" y="1572768"/>
            <a:ext cx="6788432" cy="3291839"/>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g_modulo_m5.png"/>
          <p:cNvPicPr>
            <a:picLocks noChangeAspect="1"/>
          </p:cNvPicPr>
          <p:nvPr/>
        </p:nvPicPr>
        <p:blipFill>
          <a:blip r:embed="rId2"/>
          <a:stretch>
            <a:fillRect/>
          </a:stretch>
        </p:blipFill>
        <p:spPr>
          <a:xfrm>
            <a:off x="2820503" y="1691640"/>
            <a:ext cx="6550688" cy="3054096"/>
          </a:xfrm>
          <a:prstGeom prst="rect">
            <a:avLst/>
          </a:prstGeom>
        </p:spPr>
      </p:pic>
      <p:sp>
        <p:nvSpPr>
          <p:cNvPr id="14" name="TextBox 13"/>
          <p:cNvSpPr txBox="1"/>
          <p:nvPr/>
        </p:nvSpPr>
        <p:spPr>
          <a:xfrm>
            <a:off x="566928" y="4800600"/>
            <a:ext cx="11057839" cy="457200"/>
          </a:xfrm>
          <a:prstGeom prst="rect">
            <a:avLst/>
          </a:prstGeom>
          <a:noFill/>
        </p:spPr>
        <p:txBody>
          <a:bodyPr wrap="square" anchor="t" lIns="45720" tIns="27432" rIns="45720" bIns="27432">
            <a:noAutofit/>
          </a:bodyPr>
          <a:lstStyle/>
          <a:p>
            <a:pPr algn="ctr">
              <a:lnSpc>
                <a:spcPct val="105000"/>
              </a:lnSpc>
            </a:pPr>
            <a:r>
              <a:rPr sz="1600" b="0" i="1" lang="es-ES">
                <a:solidFill>
                  <a:srgbClr val="5B6575"/>
                </a:solidFill>
                <a:latin typeface="Calibri"/>
              </a:rPr>
              <a:t>kₑ ≈ Σ wₚ Bᵀ D B t |det J|: los puntos de Gauss se iluminan sobre el elemento seleccionado</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El alumno agrega o quita puntos de Gauss y ve crecer kₑ con cada contribución</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Anexo B, catálogo de módulos educativos</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Post-proceso sobre el mismo lienzo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2746503" y="1572768"/>
            <a:ext cx="6698688" cy="3291839"/>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g_postproceso.png"/>
          <p:cNvPicPr>
            <a:picLocks noChangeAspect="1"/>
          </p:cNvPicPr>
          <p:nvPr/>
        </p:nvPicPr>
        <p:blipFill>
          <a:blip r:embed="rId2"/>
          <a:stretch>
            <a:fillRect/>
          </a:stretch>
        </p:blipFill>
        <p:spPr>
          <a:xfrm>
            <a:off x="2865375" y="1691640"/>
            <a:ext cx="6460944" cy="3054096"/>
          </a:xfrm>
          <a:prstGeom prst="rect">
            <a:avLst/>
          </a:prstGeom>
        </p:spPr>
      </p:pic>
      <p:sp>
        <p:nvSpPr>
          <p:cNvPr id="14" name="TextBox 13"/>
          <p:cNvSpPr txBox="1"/>
          <p:nvPr/>
        </p:nvSpPr>
        <p:spPr>
          <a:xfrm>
            <a:off x="566928" y="4800600"/>
            <a:ext cx="11057839" cy="457200"/>
          </a:xfrm>
          <a:prstGeom prst="rect">
            <a:avLst/>
          </a:prstGeom>
          <a:noFill/>
        </p:spPr>
        <p:txBody>
          <a:bodyPr wrap="square" anchor="t" lIns="45720" tIns="27432" rIns="45720" bIns="27432">
            <a:noAutofit/>
          </a:bodyPr>
          <a:lstStyle/>
          <a:p>
            <a:pPr algn="ctr">
              <a:lnSpc>
                <a:spcPct val="105000"/>
              </a:lnSpc>
            </a:pPr>
            <a:r>
              <a:rPr sz="1600" b="0" i="1" lang="es-ES">
                <a:solidFill>
                  <a:srgbClr val="5B6575"/>
                </a:solidFill>
                <a:latin typeface="Calibri"/>
              </a:rPr>
              <a:t>Contorno de von Mises con interpolación de Gouraud, reacciones en los apoyos y sonda con círculo de Mohr</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Contorno, deformada, isolíneas, sonda puntual y vista 3D del campo, con la paleta jet de la práctica profesional</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post-proceso</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2900" b="1" i="0" lang="es-ES">
                <a:solidFill>
                  <a:srgbClr val="1B2A4A"/>
                </a:solidFill>
                <a:latin typeface="Calibri"/>
              </a:rPr>
              <a:t>Memoria de cálculo: el ejemplo canónico paso a paso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5216"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278189"/>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Matriz D</a:t>
            </a:r>
          </a:p>
        </p:txBody>
      </p:sp>
      <p:sp>
        <p:nvSpPr>
          <p:cNvPr id="15" name="TextBox 14"/>
          <p:cNvSpPr txBox="1"/>
          <p:nvPr/>
        </p:nvSpPr>
        <p:spPr>
          <a:xfrm>
            <a:off x="566928" y="2643441"/>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factor E/(1−ν²) = 234375</a:t>
            </a:r>
          </a:p>
        </p:txBody>
      </p:sp>
      <p:sp>
        <p:nvSpPr>
          <p:cNvPr id="16" name="Right Arrow 15"/>
          <p:cNvSpPr/>
          <p:nvPr/>
        </p:nvSpPr>
        <p:spPr>
          <a:xfrm>
            <a:off x="3987698"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35754"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54042"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35754" y="2278189"/>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kₑ del elemento 3</a:t>
            </a:r>
          </a:p>
        </p:txBody>
      </p:sp>
      <p:sp>
        <p:nvSpPr>
          <p:cNvPr id="20" name="TextBox 19"/>
          <p:cNvSpPr txBox="1"/>
          <p:nvPr/>
        </p:nvSpPr>
        <p:spPr>
          <a:xfrm>
            <a:off x="4435754" y="2643441"/>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det J = 4,7604 en el PG 1</a:t>
            </a:r>
          </a:p>
        </p:txBody>
      </p:sp>
      <p:sp>
        <p:nvSpPr>
          <p:cNvPr id="21" name="Right Arrow 20"/>
          <p:cNvSpPr/>
          <p:nvPr/>
        </p:nvSpPr>
        <p:spPr>
          <a:xfrm>
            <a:off x="7856524"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04580"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8322868"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04580" y="2278189"/>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Ensamblaje</a:t>
            </a:r>
          </a:p>
        </p:txBody>
      </p:sp>
      <p:sp>
        <p:nvSpPr>
          <p:cNvPr id="25" name="TextBox 24"/>
          <p:cNvSpPr txBox="1"/>
          <p:nvPr/>
        </p:nvSpPr>
        <p:spPr>
          <a:xfrm>
            <a:off x="8304580" y="2643441"/>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K de 18×18; F₇ᵧ = −1000</a:t>
            </a:r>
          </a:p>
        </p:txBody>
      </p:sp>
      <p:sp>
        <p:nvSpPr>
          <p:cNvPr id="26" name="Rounded Rectangle 25"/>
          <p:cNvSpPr/>
          <p:nvPr/>
        </p:nvSpPr>
        <p:spPr>
          <a:xfrm>
            <a:off x="566928"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85216"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66928" y="4161853"/>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Partición</a:t>
            </a:r>
          </a:p>
        </p:txBody>
      </p:sp>
      <p:sp>
        <p:nvSpPr>
          <p:cNvPr id="29" name="TextBox 28"/>
          <p:cNvSpPr txBox="1"/>
          <p:nvPr/>
        </p:nvSpPr>
        <p:spPr>
          <a:xfrm>
            <a:off x="566928" y="4527105"/>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6 GDL restringidos, 12 libres</a:t>
            </a:r>
          </a:p>
        </p:txBody>
      </p:sp>
      <p:sp>
        <p:nvSpPr>
          <p:cNvPr id="30" name="Right Arrow 29"/>
          <p:cNvSpPr/>
          <p:nvPr/>
        </p:nvSpPr>
        <p:spPr>
          <a:xfrm>
            <a:off x="3987698"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35754"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454042"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435754" y="4161853"/>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Reacciones</a:t>
            </a:r>
          </a:p>
        </p:txBody>
      </p:sp>
      <p:sp>
        <p:nvSpPr>
          <p:cNvPr id="34" name="TextBox 33"/>
          <p:cNvSpPr txBox="1"/>
          <p:nvPr/>
        </p:nvSpPr>
        <p:spPr>
          <a:xfrm>
            <a:off x="4435754" y="4527105"/>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ΣRₓ = 0,00 · ΣRᵧ = 1000,00</a:t>
            </a:r>
          </a:p>
        </p:txBody>
      </p:sp>
      <p:sp>
        <p:nvSpPr>
          <p:cNvPr id="35" name="Right Arrow 34"/>
          <p:cNvSpPr/>
          <p:nvPr/>
        </p:nvSpPr>
        <p:spPr>
          <a:xfrm>
            <a:off x="7856524"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304580"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8322868"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304580" y="4161853"/>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Tensiones</a:t>
            </a:r>
          </a:p>
        </p:txBody>
      </p:sp>
      <p:sp>
        <p:nvSpPr>
          <p:cNvPr id="39" name="TextBox 38"/>
          <p:cNvSpPr txBox="1"/>
          <p:nvPr/>
        </p:nvSpPr>
        <p:spPr>
          <a:xfrm>
            <a:off x="8304580" y="4527105"/>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σVM máx = 864,70 en el nodo 7</a:t>
            </a:r>
          </a:p>
        </p:txBody>
      </p:sp>
      <p:sp>
        <p:nvSpPr>
          <p:cNvPr id="40" name="Rectangle 39"/>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PDF en dos estilos (educativo y directo) con TeX Live embebido; formatos .edufem, CSV/ZIP y DXF</a:t>
            </a:r>
          </a:p>
        </p:txBody>
      </p:sp>
      <p:sp>
        <p:nvSpPr>
          <p:cNvPr id="43" name="Rectangle 42"/>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45" name="TextBox 44"/>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memoria e interoperabilidad; Anexo G</a:t>
            </a:r>
          </a:p>
        </p:txBody>
      </p:sp>
      <p:sp>
        <p:nvSpPr>
          <p:cNvPr id="46" name="TextBox 45"/>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Demostración en vivo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7" y="2061429"/>
            <a:ext cx="7223760" cy="374098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g_app_completa.png"/>
          <p:cNvPicPr>
            <a:picLocks noChangeAspect="1"/>
          </p:cNvPicPr>
          <p:nvPr/>
        </p:nvPicPr>
        <p:blipFill>
          <a:blip r:embed="rId2"/>
          <a:stretch>
            <a:fillRect/>
          </a:stretch>
        </p:blipFill>
        <p:spPr>
          <a:xfrm>
            <a:off x="685799" y="2180301"/>
            <a:ext cx="6986016" cy="3503236"/>
          </a:xfrm>
          <a:prstGeom prst="rect">
            <a:avLst/>
          </a:prstGeom>
        </p:spPr>
      </p:pic>
      <p:sp>
        <p:nvSpPr>
          <p:cNvPr id="14" name="TextBox 13"/>
          <p:cNvSpPr txBox="1"/>
          <p:nvPr/>
        </p:nvSpPr>
        <p:spPr>
          <a:xfrm>
            <a:off x="8156448" y="1572768"/>
            <a:ext cx="3468319" cy="384048"/>
          </a:xfrm>
          <a:prstGeom prst="rect">
            <a:avLst/>
          </a:prstGeom>
          <a:noFill/>
        </p:spPr>
        <p:txBody>
          <a:bodyPr wrap="square" anchor="ctr" lIns="45720" tIns="27432" rIns="45720" bIns="27432">
            <a:noAutofit/>
          </a:bodyPr>
          <a:lstStyle/>
          <a:p>
            <a:pPr algn="l">
              <a:lnSpc>
                <a:spcPct val="105000"/>
              </a:lnSpc>
            </a:pPr>
            <a:r>
              <a:rPr sz="2000" b="1" i="0" lang="es-ES">
                <a:solidFill>
                  <a:srgbClr val="F28C28"/>
                </a:solidFill>
                <a:latin typeface="Calibri"/>
              </a:rPr>
              <a:t>Qué vamos a ver</a:t>
            </a:r>
          </a:p>
        </p:txBody>
      </p:sp>
      <p:sp>
        <p:nvSpPr>
          <p:cNvPr id="15" name="Oval 14"/>
          <p:cNvSpPr/>
          <p:nvPr/>
        </p:nvSpPr>
        <p:spPr>
          <a:xfrm>
            <a:off x="8156448" y="2139696"/>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pPr>
            <a:r>
              <a:rPr sz="1700" b="1" i="0" lang="es-ES">
                <a:solidFill>
                  <a:srgbClr val="FFFFFF"/>
                </a:solidFill>
                <a:latin typeface="Calibri"/>
              </a:rPr>
              <a:t>1</a:t>
            </a:r>
          </a:p>
        </p:txBody>
      </p:sp>
      <p:sp>
        <p:nvSpPr>
          <p:cNvPr id="16" name="TextBox 15"/>
          <p:cNvSpPr txBox="1"/>
          <p:nvPr/>
        </p:nvSpPr>
        <p:spPr>
          <a:xfrm>
            <a:off x="8723376" y="2103120"/>
            <a:ext cx="2901391" cy="1442720"/>
          </a:xfrm>
          <a:prstGeom prst="rect">
            <a:avLst/>
          </a:prstGeom>
          <a:noFill/>
        </p:spPr>
        <p:txBody>
          <a:bodyPr wrap="square" anchor="t" lIns="45720" tIns="27432" rIns="45720" bIns="27432">
            <a:noAutofit/>
          </a:bodyPr>
          <a:lstStyle/>
          <a:p>
            <a:pPr algn="l">
              <a:lnSpc>
                <a:spcPct val="115000"/>
              </a:lnSpc>
            </a:pPr>
            <a:r>
              <a:rPr sz="2000" b="0" i="0" lang="es-ES">
                <a:solidFill>
                  <a:srgbClr val="1F2937"/>
                </a:solidFill>
                <a:latin typeface="Calibri"/>
              </a:rPr>
              <a:t>Cargar el ejemplo canónico (Ctrl+E): 9 nodos, 4 elementos Q4, carga en el nodo 7</a:t>
            </a:r>
          </a:p>
        </p:txBody>
      </p:sp>
      <p:sp>
        <p:nvSpPr>
          <p:cNvPr id="17" name="Oval 16"/>
          <p:cNvSpPr/>
          <p:nvPr/>
        </p:nvSpPr>
        <p:spPr>
          <a:xfrm>
            <a:off x="8156448" y="3582415"/>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pPr>
            <a:r>
              <a:rPr sz="1700" b="1" i="0" lang="es-ES">
                <a:solidFill>
                  <a:srgbClr val="FFFFFF"/>
                </a:solidFill>
                <a:latin typeface="Calibri"/>
              </a:rPr>
              <a:t>2</a:t>
            </a:r>
          </a:p>
        </p:txBody>
      </p:sp>
      <p:sp>
        <p:nvSpPr>
          <p:cNvPr id="18" name="TextBox 17"/>
          <p:cNvSpPr txBox="1"/>
          <p:nvPr/>
        </p:nvSpPr>
        <p:spPr>
          <a:xfrm>
            <a:off x="8723376" y="3545839"/>
            <a:ext cx="2901391" cy="1150620"/>
          </a:xfrm>
          <a:prstGeom prst="rect">
            <a:avLst/>
          </a:prstGeom>
          <a:noFill/>
        </p:spPr>
        <p:txBody>
          <a:bodyPr wrap="square" anchor="t" lIns="45720" tIns="27432" rIns="45720" bIns="27432">
            <a:noAutofit/>
          </a:bodyPr>
          <a:lstStyle/>
          <a:p>
            <a:pPr algn="l">
              <a:lnSpc>
                <a:spcPct val="115000"/>
              </a:lnSpc>
            </a:pPr>
            <a:r>
              <a:rPr sz="2000" b="0" i="0" lang="es-ES">
                <a:solidFill>
                  <a:srgbClr val="1F2937"/>
                </a:solidFill>
                <a:latin typeface="Calibri"/>
              </a:rPr>
              <a:t>Abrir M5 (Ctrl+5) sobre un elemento: puntos de Gauss y kₑ</a:t>
            </a:r>
          </a:p>
        </p:txBody>
      </p:sp>
      <p:sp>
        <p:nvSpPr>
          <p:cNvPr id="19" name="Oval 18"/>
          <p:cNvSpPr/>
          <p:nvPr/>
        </p:nvSpPr>
        <p:spPr>
          <a:xfrm>
            <a:off x="8156448" y="4733036"/>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pPr>
            <a:r>
              <a:rPr sz="1700" b="1" i="0" lang="es-ES">
                <a:solidFill>
                  <a:srgbClr val="FFFFFF"/>
                </a:solidFill>
                <a:latin typeface="Calibri"/>
              </a:rPr>
              <a:t>3</a:t>
            </a:r>
          </a:p>
        </p:txBody>
      </p:sp>
      <p:sp>
        <p:nvSpPr>
          <p:cNvPr id="20" name="TextBox 19"/>
          <p:cNvSpPr txBox="1"/>
          <p:nvPr/>
        </p:nvSpPr>
        <p:spPr>
          <a:xfrm>
            <a:off x="8723376" y="4696460"/>
            <a:ext cx="2901391" cy="1442720"/>
          </a:xfrm>
          <a:prstGeom prst="rect">
            <a:avLst/>
          </a:prstGeom>
          <a:noFill/>
        </p:spPr>
        <p:txBody>
          <a:bodyPr wrap="square" anchor="t" lIns="45720" tIns="27432" rIns="45720" bIns="27432">
            <a:noAutofit/>
          </a:bodyPr>
          <a:lstStyle/>
          <a:p>
            <a:pPr algn="l">
              <a:lnSpc>
                <a:spcPct val="115000"/>
              </a:lnSpc>
            </a:pPr>
            <a:r>
              <a:rPr sz="2000" b="0" i="0" lang="es-ES">
                <a:solidFill>
                  <a:srgbClr val="1F2937"/>
                </a:solidFill>
                <a:latin typeface="Calibri"/>
              </a:rPr>
              <a:t>Resolver (F5): contorno de von Mises, sonda con círculo de Mohr y memoria PDF</a:t>
            </a:r>
          </a:p>
        </p:txBody>
      </p:sp>
      <p:sp>
        <p:nvSpPr>
          <p:cNvPr id="21" name="Rectangle 2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3" name="TextBox 22"/>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Anexo B, manual de uso</a:t>
            </a:r>
          </a:p>
        </p:txBody>
      </p:sp>
      <p:sp>
        <p:nvSpPr>
          <p:cNvPr id="24" name="TextBox 23"/>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04</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Presentación de resultados</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Probar que la caja abierta calcula bien: MMS, consistencia interna, viga de Timoshenko y membrana de Cook</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MMS: las tasas teóricas se cumplen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3675888"/>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Q4:</a:t>
            </a:r>
            <a:r>
              <a:rPr sz="2400" b="0" i="0" lang="es-ES">
                <a:solidFill>
                  <a:srgbClr val="1F2937"/>
                </a:solidFill>
                <a:latin typeface="Calibri"/>
              </a:rPr>
              <a:t> O(h²·⁰⁰) en L², O(h¹·⁰⁰) en H¹ y O(h¹·⁵⁴) en σ*</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Q9:</a:t>
            </a:r>
            <a:r>
              <a:rPr sz="2400" b="0" i="0" lang="es-ES">
                <a:solidFill>
                  <a:srgbClr val="1F2937"/>
                </a:solidFill>
                <a:latin typeface="Calibri"/>
              </a:rPr>
              <a:t> O(h³·⁰⁰) en L², O(h²·⁰⁰) en H¹ y O(h²·⁰⁰) en σ*</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Mallas de 2×2 a 32×32:</a:t>
            </a:r>
            <a:r>
              <a:rPr sz="2400" b="0" i="0" lang="es-ES">
                <a:solidFill>
                  <a:srgbClr val="1F2937"/>
                </a:solidFill>
                <a:latin typeface="Calibri"/>
              </a:rPr>
              <a:t> Q4 de 18 a 2178 GDL; Q9 de 50 a 8450 GDL</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Cuatro configuraciones:</a:t>
            </a:r>
            <a:r>
              <a:rPr sz="2400" b="0" i="0" lang="es-ES">
                <a:solidFill>
                  <a:srgbClr val="1F2937"/>
                </a:solidFill>
                <a:latin typeface="Calibri"/>
              </a:rPr>
              <a:t> las mismas tasas, con diferencias &lt; 0,01</a:t>
            </a:r>
          </a:p>
        </p:txBody>
      </p:sp>
      <p:sp>
        <p:nvSpPr>
          <p:cNvPr id="13" name="Rounded Rectangle 12"/>
          <p:cNvSpPr/>
          <p:nvPr/>
        </p:nvSpPr>
        <p:spPr>
          <a:xfrm>
            <a:off x="6705752" y="1572768"/>
            <a:ext cx="4449470"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mms_convergence_l2.png"/>
          <p:cNvPicPr>
            <a:picLocks noChangeAspect="1"/>
          </p:cNvPicPr>
          <p:nvPr/>
        </p:nvPicPr>
        <p:blipFill>
          <a:blip r:embed="rId2"/>
          <a:stretch>
            <a:fillRect/>
          </a:stretch>
        </p:blipFill>
        <p:spPr>
          <a:xfrm>
            <a:off x="6824624" y="1691640"/>
            <a:ext cx="4211726" cy="3008376"/>
          </a:xfrm>
          <a:prstGeom prst="rect">
            <a:avLst/>
          </a:prstGeom>
        </p:spPr>
      </p:pic>
      <p:sp>
        <p:nvSpPr>
          <p:cNvPr id="15" name="TextBox 14"/>
          <p:cNvSpPr txBox="1"/>
          <p:nvPr/>
        </p:nvSpPr>
        <p:spPr>
          <a:xfrm>
            <a:off x="6236208" y="4745736"/>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Error L² del desplazamiento frente a h: la pendiente es la tasa</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La tasa del Q4 sube de 1,82 a 2,00 al refinar: la firma del régimen asintótico</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§3.2, tabla MMS y figura de convergencia</a:t>
            </a:r>
          </a:p>
        </p:txBody>
      </p:sp>
      <p:sp>
        <p:nvSpPr>
          <p:cNvPr id="22" name="TextBox 2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El modelo no deriva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22960"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2891281"/>
            <a:ext cx="2115235" cy="554227"/>
          </a:xfrm>
          <a:prstGeom prst="rect">
            <a:avLst/>
          </a:prstGeom>
          <a:noFill/>
        </p:spPr>
        <p:txBody>
          <a:bodyPr wrap="square" anchor="t" lIns="45720" tIns="27432" rIns="45720" bIns="27432">
            <a:noAutofit/>
          </a:bodyPr>
          <a:lstStyle/>
          <a:p>
            <a:pPr algn="l">
              <a:lnSpc>
                <a:spcPct val="100000"/>
              </a:lnSpc>
            </a:pPr>
            <a:r>
              <a:rPr sz="2800" b="1" i="0" lang="es-ES">
                <a:solidFill>
                  <a:srgbClr val="1B2A4A"/>
                </a:solidFill>
                <a:latin typeface="Calibri"/>
              </a:rPr>
              <a:t>&lt; 10⁻⁹</a:t>
            </a:r>
          </a:p>
        </p:txBody>
      </p:sp>
      <p:sp>
        <p:nvSpPr>
          <p:cNvPr id="15" name="TextBox 14"/>
          <p:cNvSpPr txBox="1"/>
          <p:nvPr/>
        </p:nvSpPr>
        <p:spPr>
          <a:xfrm>
            <a:off x="795528" y="3445509"/>
            <a:ext cx="2115235" cy="978407"/>
          </a:xfrm>
          <a:prstGeom prst="rect">
            <a:avLst/>
          </a:prstGeom>
          <a:noFill/>
        </p:spPr>
        <p:txBody>
          <a:bodyPr wrap="square" anchor="t" lIns="45720" tIns="27432" rIns="45720" bIns="27432">
            <a:noAutofit/>
          </a:bodyPr>
          <a:lstStyle/>
          <a:p>
            <a:pPr algn="l">
              <a:lnSpc>
                <a:spcPct val="112000"/>
              </a:lnSpc>
            </a:pPr>
            <a:r>
              <a:rPr sz="1800" b="0" i="0" lang="es-ES">
                <a:solidFill>
                  <a:srgbClr val="5B6575"/>
                </a:solidFill>
                <a:latin typeface="Calibri"/>
              </a:rPr>
              <a:t>ciclo Q4 → Q9 → Q4, diferencia en u</a:t>
            </a:r>
          </a:p>
        </p:txBody>
      </p:sp>
      <p:sp>
        <p:nvSpPr>
          <p:cNvPr id="16" name="Rounded Rectangle 15"/>
          <p:cNvSpPr/>
          <p:nvPr/>
        </p:nvSpPr>
        <p:spPr>
          <a:xfrm>
            <a:off x="3395395"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651427"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23995" y="2891281"/>
            <a:ext cx="2115235" cy="554227"/>
          </a:xfrm>
          <a:prstGeom prst="rect">
            <a:avLst/>
          </a:prstGeom>
          <a:noFill/>
        </p:spPr>
        <p:txBody>
          <a:bodyPr wrap="square" anchor="t" lIns="45720" tIns="27432" rIns="45720" bIns="27432">
            <a:noAutofit/>
          </a:bodyPr>
          <a:lstStyle/>
          <a:p>
            <a:pPr algn="l">
              <a:lnSpc>
                <a:spcPct val="100000"/>
              </a:lnSpc>
            </a:pPr>
            <a:r>
              <a:rPr sz="2800" b="1" i="0" lang="es-ES">
                <a:solidFill>
                  <a:srgbClr val="1B2A4A"/>
                </a:solidFill>
                <a:latin typeface="Calibri"/>
              </a:rPr>
              <a:t>&lt; 10⁻⁹</a:t>
            </a:r>
          </a:p>
        </p:txBody>
      </p:sp>
      <p:sp>
        <p:nvSpPr>
          <p:cNvPr id="19" name="TextBox 18"/>
          <p:cNvSpPr txBox="1"/>
          <p:nvPr/>
        </p:nvSpPr>
        <p:spPr>
          <a:xfrm>
            <a:off x="3623995" y="3445509"/>
            <a:ext cx="2115235" cy="978407"/>
          </a:xfrm>
          <a:prstGeom prst="rect">
            <a:avLst/>
          </a:prstGeom>
          <a:noFill/>
        </p:spPr>
        <p:txBody>
          <a:bodyPr wrap="square" anchor="t" lIns="45720" tIns="27432" rIns="45720" bIns="27432">
            <a:noAutofit/>
          </a:bodyPr>
          <a:lstStyle/>
          <a:p>
            <a:pPr algn="l">
              <a:lnSpc>
                <a:spcPct val="112000"/>
              </a:lnSpc>
            </a:pPr>
            <a:r>
              <a:rPr sz="1800" b="0" i="0" lang="es-ES">
                <a:solidFill>
                  <a:srgbClr val="5B6575"/>
                </a:solidFill>
                <a:latin typeface="Calibri"/>
              </a:rPr>
              <a:t>ids {1, 5, 50, 99} frente a {1, 2, 3, 4}</a:t>
            </a:r>
          </a:p>
        </p:txBody>
      </p:sp>
      <p:sp>
        <p:nvSpPr>
          <p:cNvPr id="20" name="Rounded Rectangle 19"/>
          <p:cNvSpPr/>
          <p:nvPr/>
        </p:nvSpPr>
        <p:spPr>
          <a:xfrm>
            <a:off x="6223863"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79895"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52463" y="2891281"/>
            <a:ext cx="2115235" cy="554227"/>
          </a:xfrm>
          <a:prstGeom prst="rect">
            <a:avLst/>
          </a:prstGeom>
          <a:noFill/>
        </p:spPr>
        <p:txBody>
          <a:bodyPr wrap="square" anchor="t" lIns="45720" tIns="27432" rIns="45720" bIns="27432">
            <a:noAutofit/>
          </a:bodyPr>
          <a:lstStyle/>
          <a:p>
            <a:pPr algn="l">
              <a:lnSpc>
                <a:spcPct val="100000"/>
              </a:lnSpc>
            </a:pPr>
            <a:r>
              <a:rPr sz="2800" b="1" i="0" lang="es-ES">
                <a:solidFill>
                  <a:srgbClr val="1B2A4A"/>
                </a:solidFill>
                <a:latin typeface="Calibri"/>
              </a:rPr>
              <a:t>&lt; 10⁻¹²</a:t>
            </a:r>
          </a:p>
        </p:txBody>
      </p:sp>
      <p:sp>
        <p:nvSpPr>
          <p:cNvPr id="23" name="TextBox 22"/>
          <p:cNvSpPr txBox="1"/>
          <p:nvPr/>
        </p:nvSpPr>
        <p:spPr>
          <a:xfrm>
            <a:off x="6452463" y="3445509"/>
            <a:ext cx="2115235" cy="978407"/>
          </a:xfrm>
          <a:prstGeom prst="rect">
            <a:avLst/>
          </a:prstGeom>
          <a:noFill/>
        </p:spPr>
        <p:txBody>
          <a:bodyPr wrap="square" anchor="t" lIns="45720" tIns="27432" rIns="45720" bIns="27432">
            <a:noAutofit/>
          </a:bodyPr>
          <a:lstStyle/>
          <a:p>
            <a:pPr algn="l">
              <a:lnSpc>
                <a:spcPct val="112000"/>
              </a:lnSpc>
            </a:pPr>
            <a:r>
              <a:rPr sz="1800" b="0" i="0" lang="es-ES">
                <a:solidFill>
                  <a:srgbClr val="5B6575"/>
                </a:solidFill>
                <a:latin typeface="Calibri"/>
              </a:rPr>
              <a:t>máx |Δu| tras ida y vuelta CSV/ZIP</a:t>
            </a:r>
          </a:p>
        </p:txBody>
      </p:sp>
      <p:sp>
        <p:nvSpPr>
          <p:cNvPr id="24" name="Rounded Rectangle 23"/>
          <p:cNvSpPr/>
          <p:nvPr/>
        </p:nvSpPr>
        <p:spPr>
          <a:xfrm>
            <a:off x="9052331"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308363"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80931" y="2891281"/>
            <a:ext cx="2115235" cy="554227"/>
          </a:xfrm>
          <a:prstGeom prst="rect">
            <a:avLst/>
          </a:prstGeom>
          <a:noFill/>
        </p:spPr>
        <p:txBody>
          <a:bodyPr wrap="square" anchor="t" lIns="45720" tIns="27432" rIns="45720" bIns="27432">
            <a:noAutofit/>
          </a:bodyPr>
          <a:lstStyle/>
          <a:p>
            <a:pPr algn="l">
              <a:lnSpc>
                <a:spcPct val="100000"/>
              </a:lnSpc>
            </a:pPr>
            <a:r>
              <a:rPr sz="2800" b="1" i="0" lang="es-ES">
                <a:solidFill>
                  <a:srgbClr val="1B2A4A"/>
                </a:solidFill>
                <a:latin typeface="Calibri"/>
              </a:rPr>
              <a:t>6 · 12 · 0</a:t>
            </a:r>
          </a:p>
        </p:txBody>
      </p:sp>
      <p:sp>
        <p:nvSpPr>
          <p:cNvPr id="27" name="TextBox 26"/>
          <p:cNvSpPr txBox="1"/>
          <p:nvPr/>
        </p:nvSpPr>
        <p:spPr>
          <a:xfrm>
            <a:off x="9280931" y="3445509"/>
            <a:ext cx="2115235" cy="978407"/>
          </a:xfrm>
          <a:prstGeom prst="rect">
            <a:avLst/>
          </a:prstGeom>
          <a:noFill/>
        </p:spPr>
        <p:txBody>
          <a:bodyPr wrap="square" anchor="t" lIns="45720" tIns="27432" rIns="45720" bIns="27432">
            <a:noAutofit/>
          </a:bodyPr>
          <a:lstStyle/>
          <a:p>
            <a:pPr algn="l">
              <a:lnSpc>
                <a:spcPct val="112000"/>
              </a:lnSpc>
            </a:pPr>
            <a:r>
              <a:rPr sz="1800" b="0" i="0" lang="es-ES">
                <a:solidFill>
                  <a:srgbClr val="5B6575"/>
                </a:solidFill>
                <a:latin typeface="Calibri"/>
              </a:rPr>
              <a:t>DXF: elementos, nodos, nuevos al reimportar</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Consistencia interna: expandir, reducir, renumerar e intercambiar formatos no cambia la solución</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§3.3, consistencia interna</a:t>
            </a:r>
          </a:p>
        </p:txBody>
      </p:sp>
      <p:sp>
        <p:nvSpPr>
          <p:cNvPr id="34" name="TextBox 33"/>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Viga de Timoshenko: analítico y SAP2000</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3675888"/>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100" b="1" i="0" lang="es-ES">
                <a:solidFill>
                  <a:srgbClr val="1B2A4A"/>
                </a:solidFill>
                <a:latin typeface="Calibri"/>
              </a:rPr>
              <a:t>Viga de hormigón:</a:t>
            </a:r>
            <a:r>
              <a:rPr sz="2100" b="0" i="0" lang="es-ES">
                <a:solidFill>
                  <a:srgbClr val="1F2937"/>
                </a:solidFill>
                <a:latin typeface="Calibri"/>
              </a:rPr>
              <a:t> L = 14 m, H = 1,20 m, q = 5000 kgf/m; Q9 de 56×8, 3842 GDL</a:t>
            </a:r>
          </a:p>
          <a:p>
            <a:pPr marL="347472" indent="-347472">
              <a:lnSpc>
                <a:spcPct val="112000"/>
              </a:lnSpc>
              <a:spcAft>
                <a:spcPts val="1200"/>
              </a:spcAft>
              <a:buClr>
                <a:srgbClr val="F28C28"/>
              </a:buClr>
              <a:buSzPct val="100000"/>
              <a:buFont typeface="Arial"/>
              <a:buChar char="•"/>
            </a:pPr>
            <a:r>
              <a:rPr sz="2100" b="1" i="0" lang="es-ES">
                <a:solidFill>
                  <a:srgbClr val="1B2A4A"/>
                </a:solidFill>
                <a:latin typeface="Calibri"/>
              </a:rPr>
              <a:t>σₓ:</a:t>
            </a:r>
            <a:r>
              <a:rPr sz="2100" b="0" i="0" lang="es-ES">
                <a:solidFill>
                  <a:srgbClr val="1F2937"/>
                </a:solidFill>
                <a:latin typeface="Calibri"/>
              </a:rPr>
              <a:t> 0,0414 % frente al analítico y 0,2066 % frente a SAP2000</a:t>
            </a:r>
          </a:p>
          <a:p>
            <a:pPr marL="347472" indent="-347472">
              <a:lnSpc>
                <a:spcPct val="112000"/>
              </a:lnSpc>
              <a:spcAft>
                <a:spcPts val="1200"/>
              </a:spcAft>
              <a:buClr>
                <a:srgbClr val="F28C28"/>
              </a:buClr>
              <a:buSzPct val="100000"/>
              <a:buFont typeface="Arial"/>
              <a:buChar char="•"/>
            </a:pPr>
            <a:r>
              <a:rPr sz="2100" b="1" i="0" lang="es-ES">
                <a:solidFill>
                  <a:srgbClr val="1B2A4A"/>
                </a:solidFill>
                <a:latin typeface="Calibri"/>
              </a:rPr>
              <a:t>Flecha:</a:t>
            </a:r>
            <a:r>
              <a:rPr sz="2100" b="0" i="0" lang="es-ES">
                <a:solidFill>
                  <a:srgbClr val="1F2937"/>
                </a:solidFill>
                <a:latin typeface="Calibri"/>
              </a:rPr>
              <a:t> 2,03460 frente a 2,02926 cm (0,2633 %); con Euler-Bernoulli, 1,85 %</a:t>
            </a:r>
          </a:p>
          <a:p>
            <a:pPr marL="347472" indent="-347472">
              <a:lnSpc>
                <a:spcPct val="112000"/>
              </a:lnSpc>
              <a:spcAft>
                <a:spcPts val="1200"/>
              </a:spcAft>
              <a:buClr>
                <a:srgbClr val="F28C28"/>
              </a:buClr>
              <a:buSzPct val="100000"/>
              <a:buFont typeface="Arial"/>
              <a:buChar char="•"/>
            </a:pPr>
            <a:r>
              <a:rPr sz="2100" b="1" i="0" lang="es-ES">
                <a:solidFill>
                  <a:srgbClr val="1B2A4A"/>
                </a:solidFill>
                <a:latin typeface="Calibri"/>
              </a:rPr>
              <a:t>En B:</a:t>
            </a:r>
            <a:r>
              <a:rPr sz="2100" b="0" i="0" lang="es-ES">
                <a:solidFill>
                  <a:srgbClr val="1F2937"/>
                </a:solidFill>
                <a:latin typeface="Calibri"/>
              </a:rPr>
              <a:t> σᵧ 0,94 % y τₓᵧ 2,89 %, con magnitudes 6 a 35 veces menores</a:t>
            </a:r>
          </a:p>
        </p:txBody>
      </p:sp>
      <p:sp>
        <p:nvSpPr>
          <p:cNvPr id="13" name="Rounded Rectangle 12"/>
          <p:cNvSpPr/>
          <p:nvPr/>
        </p:nvSpPr>
        <p:spPr>
          <a:xfrm>
            <a:off x="6772503" y="1572768"/>
            <a:ext cx="4315968"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g_timoshenko_contorno.png"/>
          <p:cNvPicPr>
            <a:picLocks noChangeAspect="1"/>
          </p:cNvPicPr>
          <p:nvPr/>
        </p:nvPicPr>
        <p:blipFill>
          <a:blip r:embed="rId2"/>
          <a:stretch>
            <a:fillRect/>
          </a:stretch>
        </p:blipFill>
        <p:spPr>
          <a:xfrm>
            <a:off x="6891375" y="1691640"/>
            <a:ext cx="4078224" cy="3008376"/>
          </a:xfrm>
          <a:prstGeom prst="rect">
            <a:avLst/>
          </a:prstGeom>
        </p:spPr>
      </p:pic>
      <p:sp>
        <p:nvSpPr>
          <p:cNvPr id="15" name="TextBox 14"/>
          <p:cNvSpPr txBox="1"/>
          <p:nvPr/>
        </p:nvSpPr>
        <p:spPr>
          <a:xfrm>
            <a:off x="6236208" y="4745736"/>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Campo σₓ sobre la deformada: tracción abajo, compresión arriba</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Equilibrio: la suma de reacciones iguala qL = 70 000 kgf con un residuo relativo de 1,7 × 10⁻¹³</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§3.4, Tablas 3.2 y 3.3</a:t>
            </a:r>
          </a:p>
        </p:txBody>
      </p:sp>
      <p:sp>
        <p:nvSpPr>
          <p:cNvPr id="22" name="TextBox 2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Membrana de Cook: referencia 23,96</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572768"/>
            <a:ext cx="11057839" cy="354329"/>
          </a:xfrm>
          <a:prstGeom prst="rect">
            <a:avLst/>
          </a:prstGeom>
          <a:noFill/>
        </p:spPr>
        <p:txBody>
          <a:bodyPr wrap="square" anchor="t" lIns="45720" tIns="27432" rIns="45720" bIns="27432">
            <a:noAutofit/>
          </a:bodyPr>
          <a:lstStyle/>
          <a:p>
            <a:pPr algn="l">
              <a:lnSpc>
                <a:spcPct val="108000"/>
              </a:lnSpc>
            </a:pPr>
            <a:r>
              <a:rPr sz="1800" b="0" i="1" lang="es-ES">
                <a:solidFill>
                  <a:srgbClr val="5B6575"/>
                </a:solidFill>
                <a:latin typeface="Calibri"/>
              </a:rPr>
              <a:t>Trapecio empotrado con corte unitario en el extremo; E = 1, ν = 1/3, tensión plana</a:t>
            </a:r>
          </a:p>
        </p:txBody>
      </p:sp>
      <p:graphicFrame>
        <p:nvGraphicFramePr>
          <p:cNvPr id="13" name="Table 12"/>
          <p:cNvGraphicFramePr>
            <a:graphicFrameLocks noGrp="1"/>
          </p:cNvGraphicFramePr>
          <p:nvPr/>
        </p:nvGraphicFramePr>
        <p:xfrm>
          <a:off x="566928" y="2036826"/>
          <a:ext cx="11057837" cy="3303264"/>
        </p:xfrm>
        <a:graphic>
          <a:graphicData uri="http://schemas.openxmlformats.org/drawingml/2006/table">
            <a:tbl>
              <a:tblPr firstRow="0" bandRow="0">
                <a:tableStyleId>{5C22544A-7EE6-4342-B048-85BDC9FD1C3A}</a:tableStyleId>
              </a:tblPr>
              <a:tblGrid>
                <a:gridCol w="2268274"/>
                <a:gridCol w="1134137"/>
                <a:gridCol w="1134137"/>
                <a:gridCol w="3969480"/>
                <a:gridCol w="2551809"/>
              </a:tblGrid>
              <a:tr h="412908">
                <a:tc>
                  <a:txBody>
                    <a:bodyPr wrap="square"/>
                    <a:lstStyle/>
                    <a:p>
                      <a:pPr algn="l"/>
                      <a:r>
                        <a:rPr sz="1800" b="1" i="0" lang="es-ES">
                          <a:solidFill>
                            <a:srgbClr val="FFFFFF"/>
                          </a:solidFill>
                          <a:latin typeface="Calibri"/>
                        </a:rPr>
                        <a:t>Elemento</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N</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GDL</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uy en (48, 52)</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Error (%)</a:t>
                      </a:r>
                    </a:p>
                  </a:txBody>
                  <a:tcPr marL="73152" marR="73152" marT="27432" marB="27432" anchor="ctr">
                    <a:solidFill>
                      <a:srgbClr val="1B2A4A"/>
                    </a:solidFill>
                  </a:tcPr>
                </a:tc>
              </a:tr>
              <a:tr h="412908">
                <a:tc>
                  <a:txBody>
                    <a:bodyPr wrap="square"/>
                    <a:lstStyle/>
                    <a:p>
                      <a:pPr algn="l"/>
                      <a:r>
                        <a:rPr sz="1800" b="1" i="0" lang="es-ES">
                          <a:solidFill>
                            <a:srgbClr val="1F2937"/>
                          </a:solidFill>
                          <a:latin typeface="Calibri"/>
                        </a:rPr>
                        <a:t>Q4</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18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11,845</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−50,563</a:t>
                      </a:r>
                    </a:p>
                  </a:txBody>
                  <a:tcPr marL="73152" marR="73152" marT="27432" marB="27432" anchor="ctr">
                    <a:solidFill>
                      <a:srgbClr val="FFFFFF"/>
                    </a:solidFill>
                  </a:tcPr>
                </a:tc>
              </a:tr>
              <a:tr h="412908">
                <a:tc>
                  <a:txBody>
                    <a:bodyPr wrap="square"/>
                    <a:lstStyle/>
                    <a:p>
                      <a:pPr algn="l"/>
                      <a:r>
                        <a:rPr sz="1800" b="1" i="0" lang="es-ES">
                          <a:solidFill>
                            <a:srgbClr val="1F2937"/>
                          </a:solidFill>
                          <a:latin typeface="Calibri"/>
                        </a:rPr>
                        <a:t>Q4</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8</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162</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22,079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−7,850</a:t>
                      </a:r>
                    </a:p>
                  </a:txBody>
                  <a:tcPr marL="73152" marR="73152" marT="27432" marB="27432" anchor="ctr">
                    <a:solidFill>
                      <a:srgbClr val="F6F8FC"/>
                    </a:solidFill>
                  </a:tcPr>
                </a:tc>
              </a:tr>
              <a:tr h="412908">
                <a:tc>
                  <a:txBody>
                    <a:bodyPr wrap="square"/>
                    <a:lstStyle/>
                    <a:p>
                      <a:pPr algn="l"/>
                      <a:r>
                        <a:rPr sz="1800" b="1" i="0" lang="es-ES">
                          <a:solidFill>
                            <a:srgbClr val="1F2937"/>
                          </a:solidFill>
                          <a:latin typeface="Calibri"/>
                        </a:rPr>
                        <a:t>Q4</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32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2178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23,818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−0,594</a:t>
                      </a:r>
                    </a:p>
                  </a:txBody>
                  <a:tcPr marL="73152" marR="73152" marT="27432" marB="27432" anchor="ctr">
                    <a:solidFill>
                      <a:srgbClr val="FFFFFF"/>
                    </a:solidFill>
                  </a:tcPr>
                </a:tc>
              </a:tr>
              <a:tr h="412908">
                <a:tc>
                  <a:txBody>
                    <a:bodyPr wrap="square"/>
                    <a:lstStyle/>
                    <a:p>
                      <a:pPr algn="l"/>
                      <a:r>
                        <a:rPr sz="1800" b="1" i="0" lang="es-ES">
                          <a:solidFill>
                            <a:srgbClr val="1F2937"/>
                          </a:solidFill>
                          <a:latin typeface="Calibri"/>
                        </a:rPr>
                        <a:t>Q9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50</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23,289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−2,802</a:t>
                      </a:r>
                    </a:p>
                  </a:txBody>
                  <a:tcPr marL="73152" marR="73152" marT="27432" marB="27432" anchor="ctr">
                    <a:solidFill>
                      <a:srgbClr val="F6F8FC"/>
                    </a:solidFill>
                  </a:tcPr>
                </a:tc>
              </a:tr>
              <a:tr h="412908">
                <a:tc>
                  <a:txBody>
                    <a:bodyPr wrap="square"/>
                    <a:lstStyle/>
                    <a:p>
                      <a:pPr algn="l"/>
                      <a:r>
                        <a:rPr sz="1800" b="1" i="0" lang="es-ES">
                          <a:solidFill>
                            <a:srgbClr val="1F2937"/>
                          </a:solidFill>
                          <a:latin typeface="Calibri"/>
                        </a:rPr>
                        <a:t>Q9</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578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23,925</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−0,144</a:t>
                      </a:r>
                    </a:p>
                  </a:txBody>
                  <a:tcPr marL="73152" marR="73152" marT="27432" marB="27432" anchor="ctr">
                    <a:solidFill>
                      <a:srgbClr val="FFFFFF"/>
                    </a:solidFill>
                  </a:tcPr>
                </a:tc>
              </a:tr>
              <a:tr h="412908">
                <a:tc>
                  <a:txBody>
                    <a:bodyPr wrap="square"/>
                    <a:lstStyle/>
                    <a:p>
                      <a:pPr algn="l"/>
                      <a:r>
                        <a:rPr sz="1800" b="1" i="0" lang="es-ES">
                          <a:solidFill>
                            <a:srgbClr val="1F2937"/>
                          </a:solidFill>
                          <a:latin typeface="Calibri"/>
                        </a:rPr>
                        <a:t>Q9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16</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2178</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23,949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−0,044</a:t>
                      </a:r>
                    </a:p>
                  </a:txBody>
                  <a:tcPr marL="73152" marR="73152" marT="27432" marB="27432" anchor="ctr">
                    <a:solidFill>
                      <a:srgbClr val="F6F8FC"/>
                    </a:solidFill>
                  </a:tcPr>
                </a:tc>
              </a:tr>
              <a:tr h="412908">
                <a:tc>
                  <a:txBody>
                    <a:bodyPr wrap="square"/>
                    <a:lstStyle/>
                    <a:p>
                      <a:pPr algn="l"/>
                      <a:r>
                        <a:rPr sz="1800" b="1" i="0" lang="es-ES">
                          <a:solidFill>
                            <a:srgbClr val="1F2937"/>
                          </a:solidFill>
                          <a:latin typeface="Calibri"/>
                        </a:rPr>
                        <a:t>Q9</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32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8450</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23,961</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+0,003</a:t>
                      </a:r>
                    </a:p>
                  </a:txBody>
                  <a:tcPr marL="73152" marR="73152" marT="27432" marB="27432" anchor="ctr">
                    <a:solidFill>
                      <a:srgbClr val="FFFFFF"/>
                    </a:solidFill>
                  </a:tcPr>
                </a:tc>
              </a:tr>
            </a:tbl>
          </a:graphicData>
        </a:graphic>
      </p:graphicFrame>
      <p:sp>
        <p:nvSpPr>
          <p:cNvPr id="14" name="Rectangle 13"/>
          <p:cNvSpPr/>
          <p:nvPr/>
        </p:nvSpPr>
        <p:spPr>
          <a:xfrm>
            <a:off x="566928" y="2417730"/>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La referencia 23,96 no es un dato exacto: la extrapolación de Richardson sobre la secuencia Q9 apunta a ≈ 23,97</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§3.5, Tabla 3.4</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El canal expuesto: siete módulos, nueve etapas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7" y="2138515"/>
            <a:ext cx="11057839" cy="2160345"/>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g_fases_lienzo_ancho.png"/>
          <p:cNvPicPr>
            <a:picLocks noChangeAspect="1"/>
          </p:cNvPicPr>
          <p:nvPr/>
        </p:nvPicPr>
        <p:blipFill>
          <a:blip r:embed="rId2"/>
          <a:stretch>
            <a:fillRect/>
          </a:stretch>
        </p:blipFill>
        <p:spPr>
          <a:xfrm>
            <a:off x="685799" y="2257387"/>
            <a:ext cx="10820095" cy="1922601"/>
          </a:xfrm>
          <a:prstGeom prst="rect">
            <a:avLst/>
          </a:prstGeom>
        </p:spPr>
      </p:pic>
      <p:sp>
        <p:nvSpPr>
          <p:cNvPr id="14" name="TextBox 13"/>
          <p:cNvSpPr txBox="1"/>
          <p:nvPr/>
        </p:nvSpPr>
        <p:spPr>
          <a:xfrm>
            <a:off x="566928" y="4234852"/>
            <a:ext cx="11057839" cy="457200"/>
          </a:xfrm>
          <a:prstGeom prst="rect">
            <a:avLst/>
          </a:prstGeom>
          <a:noFill/>
        </p:spPr>
        <p:txBody>
          <a:bodyPr wrap="square" anchor="t" lIns="45720" tIns="27432" rIns="45720" bIns="27432">
            <a:noAutofit/>
          </a:bodyPr>
          <a:lstStyle/>
          <a:p>
            <a:pPr algn="ctr">
              <a:lnSpc>
                <a:spcPct val="105000"/>
              </a:lnSpc>
            </a:pPr>
            <a:r>
              <a:rPr sz="1600" b="0" i="1" lang="es-ES">
                <a:solidFill>
                  <a:srgbClr val="5B6575"/>
                </a:solidFill>
                <a:latin typeface="Calibri"/>
              </a:rPr>
              <a:t>Las tres fases sobre el mismo lienzo y el mismo modelo (ejemplo canónico: 9 nodos, 4 elementos Q4)</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7/7 etapas con módulo interactivo · 9/9 con desarrollo numérico en la memoria · tres fases, un solo lienzo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§3.6.1, Tabla 3.6 y Figura 3.5</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2900" b="1" i="0" lang="es-ES">
                <a:solidFill>
                  <a:srgbClr val="1B2A4A"/>
                </a:solidFill>
                <a:latin typeface="Calibri"/>
              </a:rPr>
              <a:t>Validez de contenido: lo que los expertos exigen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572768"/>
            <a:ext cx="11057839" cy="617219"/>
          </a:xfrm>
          <a:prstGeom prst="rect">
            <a:avLst/>
          </a:prstGeom>
          <a:noFill/>
        </p:spPr>
        <p:txBody>
          <a:bodyPr wrap="square" anchor="t" lIns="45720" tIns="27432" rIns="45720" bIns="27432">
            <a:noAutofit/>
          </a:bodyPr>
          <a:lstStyle/>
          <a:p>
            <a:pPr algn="l">
              <a:lnSpc>
                <a:spcPct val="108000"/>
              </a:lnSpc>
            </a:pPr>
            <a:r>
              <a:rPr sz="1800" b="0" i="1" lang="es-ES">
                <a:solidFill>
                  <a:srgbClr val="5B6575"/>
                </a:solidFill>
                <a:latin typeface="Calibri"/>
              </a:rPr>
              <a:t>Criterio externo: consenso publicado de 67 expertos de industria y academia (Pérez-Santiago y Campos, 2023)</a:t>
            </a:r>
          </a:p>
        </p:txBody>
      </p:sp>
      <p:graphicFrame>
        <p:nvGraphicFramePr>
          <p:cNvPr id="13" name="Table 12"/>
          <p:cNvGraphicFramePr>
            <a:graphicFrameLocks noGrp="1"/>
          </p:cNvGraphicFramePr>
          <p:nvPr/>
        </p:nvGraphicFramePr>
        <p:xfrm>
          <a:off x="566928" y="2330413"/>
          <a:ext cx="11057837" cy="2978981"/>
        </p:xfrm>
        <a:graphic>
          <a:graphicData uri="http://schemas.openxmlformats.org/drawingml/2006/table">
            <a:tbl>
              <a:tblPr firstRow="0" bandRow="0">
                <a:tableStyleId>{5C22544A-7EE6-4342-B048-85BDC9FD1C3A}</a:tableStyleId>
              </a:tblPr>
              <a:tblGrid>
                <a:gridCol w="2555134"/>
                <a:gridCol w="929677"/>
                <a:gridCol w="6643349"/>
                <a:gridCol w="929677"/>
              </a:tblGrid>
              <a:tr h="369025">
                <a:tc>
                  <a:txBody>
                    <a:bodyPr wrap="square"/>
                    <a:lstStyle/>
                    <a:p>
                      <a:pPr algn="l"/>
                      <a:r>
                        <a:rPr sz="1500" b="1" i="0" lang="es-ES">
                          <a:solidFill>
                            <a:srgbClr val="FFFFFF"/>
                          </a:solidFill>
                          <a:latin typeface="Calibri"/>
                        </a:rPr>
                        <a:t>Dimensión</a:t>
                      </a:r>
                    </a:p>
                  </a:txBody>
                  <a:tcPr marL="73152" marR="73152" marT="27432" marB="27432" anchor="ctr">
                    <a:solidFill>
                      <a:srgbClr val="1B2A4A"/>
                    </a:solidFill>
                  </a:tcPr>
                </a:tc>
                <a:tc>
                  <a:txBody>
                    <a:bodyPr wrap="square"/>
                    <a:lstStyle/>
                    <a:p>
                      <a:pPr algn="ctr"/>
                      <a:r>
                        <a:rPr sz="1500" b="1" i="0" lang="es-ES">
                          <a:solidFill>
                            <a:srgbClr val="FFFFFF"/>
                          </a:solidFill>
                          <a:latin typeface="Calibri"/>
                        </a:rPr>
                        <a:t>Ítems</a:t>
                      </a:r>
                    </a:p>
                  </a:txBody>
                  <a:tcPr marL="73152" marR="73152" marT="27432" marB="27432" anchor="ctr">
                    <a:solidFill>
                      <a:srgbClr val="1B2A4A"/>
                    </a:solidFill>
                  </a:tcPr>
                </a:tc>
                <a:tc>
                  <a:txBody>
                    <a:bodyPr wrap="square"/>
                    <a:lstStyle/>
                    <a:p>
                      <a:pPr algn="ctr"/>
                      <a:r>
                        <a:rPr sz="1500" b="1" i="0" lang="es-ES">
                          <a:solidFill>
                            <a:srgbClr val="FFFFFF"/>
                          </a:solidFill>
                          <a:latin typeface="Calibri"/>
                        </a:rPr>
                        <a:t>Instrumento de EduFEM</a:t>
                      </a:r>
                    </a:p>
                  </a:txBody>
                  <a:tcPr marL="73152" marR="73152" marT="27432" marB="27432" anchor="ctr">
                    <a:solidFill>
                      <a:srgbClr val="1B2A4A"/>
                    </a:solidFill>
                  </a:tcPr>
                </a:tc>
                <a:tc>
                  <a:txBody>
                    <a:bodyPr wrap="square"/>
                    <a:lstStyle/>
                    <a:p>
                      <a:pPr algn="ctr"/>
                      <a:r>
                        <a:rPr sz="1500" b="1" i="0" lang="es-ES">
                          <a:solidFill>
                            <a:srgbClr val="FFFFFF"/>
                          </a:solidFill>
                          <a:latin typeface="Calibri"/>
                        </a:rPr>
                        <a:t>Cubre</a:t>
                      </a:r>
                    </a:p>
                  </a:txBody>
                  <a:tcPr marL="73152" marR="73152" marT="27432" marB="27432" anchor="ctr">
                    <a:solidFill>
                      <a:srgbClr val="1B2A4A"/>
                    </a:solidFill>
                  </a:tcPr>
                </a:tc>
              </a:tr>
              <a:tr h="369025">
                <a:tc>
                  <a:txBody>
                    <a:bodyPr wrap="square"/>
                    <a:lstStyle/>
                    <a:p>
                      <a:pPr algn="l"/>
                      <a:r>
                        <a:rPr sz="1500" b="1" i="0" lang="es-ES">
                          <a:solidFill>
                            <a:srgbClr val="1F2937"/>
                          </a:solidFill>
                          <a:latin typeface="Calibri"/>
                        </a:rPr>
                        <a:t>Mallado</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6</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Conversión Q4 ↔ Q9, refinamiento, M0, M2 y Cook</a:t>
                      </a:r>
                    </a:p>
                  </a:txBody>
                  <a:tcPr marL="73152" marR="73152" marT="27432" marB="27432" anchor="ctr">
                    <a:solidFill>
                      <a:srgbClr val="FFFFFF"/>
                    </a:solidFill>
                  </a:tcPr>
                </a:tc>
                <a:tc>
                  <a:txBody>
                    <a:bodyPr wrap="square"/>
                    <a:lstStyle/>
                    <a:p>
                      <a:pPr algn="ctr"/>
                      <a:r>
                        <a:rPr sz="1500" b="1" i="0" lang="es-ES">
                          <a:solidFill>
                            <a:srgbClr val="1F2937"/>
                          </a:solidFill>
                          <a:latin typeface="Calibri"/>
                        </a:rPr>
                        <a:t>6/6</a:t>
                      </a:r>
                    </a:p>
                  </a:txBody>
                  <a:tcPr marL="73152" marR="73152" marT="27432" marB="27432" anchor="ctr">
                    <a:solidFill>
                      <a:srgbClr val="FDF1E2"/>
                    </a:solidFill>
                  </a:tcPr>
                </a:tc>
              </a:tr>
              <a:tr h="369025">
                <a:tc>
                  <a:txBody>
                    <a:bodyPr wrap="square"/>
                    <a:lstStyle/>
                    <a:p>
                      <a:pPr algn="l"/>
                      <a:r>
                        <a:rPr sz="1500" b="1" i="0" lang="es-ES">
                          <a:solidFill>
                            <a:srgbClr val="1F2937"/>
                          </a:solidFill>
                          <a:latin typeface="Calibri"/>
                        </a:rPr>
                        <a:t>Post-proceso</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3</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Contornos, sonda en crudo y suavizado, deformada escalada</a:t>
                      </a:r>
                    </a:p>
                  </a:txBody>
                  <a:tcPr marL="73152" marR="73152" marT="27432" marB="27432" anchor="ctr">
                    <a:solidFill>
                      <a:srgbClr val="F6F8FC"/>
                    </a:solidFill>
                  </a:tcPr>
                </a:tc>
                <a:tc>
                  <a:txBody>
                    <a:bodyPr wrap="square"/>
                    <a:lstStyle/>
                    <a:p>
                      <a:pPr algn="ctr"/>
                      <a:r>
                        <a:rPr sz="1500" b="1" i="0" lang="es-ES">
                          <a:solidFill>
                            <a:srgbClr val="1F2937"/>
                          </a:solidFill>
                          <a:latin typeface="Calibri"/>
                        </a:rPr>
                        <a:t>3/3</a:t>
                      </a:r>
                    </a:p>
                  </a:txBody>
                  <a:tcPr marL="73152" marR="73152" marT="27432" marB="27432" anchor="ctr">
                    <a:solidFill>
                      <a:srgbClr val="FDF1E2"/>
                    </a:solidFill>
                  </a:tcPr>
                </a:tc>
              </a:tr>
              <a:tr h="369025">
                <a:tc>
                  <a:txBody>
                    <a:bodyPr wrap="square"/>
                    <a:lstStyle/>
                    <a:p>
                      <a:pPr algn="l"/>
                      <a:r>
                        <a:rPr sz="1500" b="1" i="0" lang="es-ES">
                          <a:solidFill>
                            <a:srgbClr val="1F2937"/>
                          </a:solidFill>
                          <a:latin typeface="Calibri"/>
                        </a:rPr>
                        <a:t>Conceptos fundamentales</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3</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Lienzo único, prueba de convergencia, von Mises y Mohr</a:t>
                      </a:r>
                    </a:p>
                  </a:txBody>
                  <a:tcPr marL="73152" marR="73152" marT="27432" marB="27432" anchor="ctr">
                    <a:solidFill>
                      <a:srgbClr val="FFFFFF"/>
                    </a:solidFill>
                  </a:tcPr>
                </a:tc>
                <a:tc>
                  <a:txBody>
                    <a:bodyPr wrap="square"/>
                    <a:lstStyle/>
                    <a:p>
                      <a:pPr algn="ctr"/>
                      <a:r>
                        <a:rPr sz="1500" b="1" i="0" lang="es-ES">
                          <a:solidFill>
                            <a:srgbClr val="1F2937"/>
                          </a:solidFill>
                          <a:latin typeface="Calibri"/>
                        </a:rPr>
                        <a:t>3/3</a:t>
                      </a:r>
                    </a:p>
                  </a:txBody>
                  <a:tcPr marL="73152" marR="73152" marT="27432" marB="27432" anchor="ctr">
                    <a:solidFill>
                      <a:srgbClr val="FDF1E2"/>
                    </a:solidFill>
                  </a:tcPr>
                </a:tc>
              </a:tr>
              <a:tr h="566928">
                <a:tc>
                  <a:txBody>
                    <a:bodyPr wrap="square"/>
                    <a:lstStyle/>
                    <a:p>
                      <a:pPr algn="l"/>
                      <a:r>
                        <a:rPr sz="1500" b="1" i="0" lang="es-ES">
                          <a:solidFill>
                            <a:srgbClr val="1F2937"/>
                          </a:solidFill>
                          <a:latin typeface="Calibri"/>
                        </a:rPr>
                        <a:t>Verificación y validación</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3</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κ₂ y diagnóstico, reacciones frente a cargas, analítico y SAP2000</a:t>
                      </a:r>
                    </a:p>
                  </a:txBody>
                  <a:tcPr marL="73152" marR="73152" marT="27432" marB="27432" anchor="ctr">
                    <a:solidFill>
                      <a:srgbClr val="F6F8FC"/>
                    </a:solidFill>
                  </a:tcPr>
                </a:tc>
                <a:tc>
                  <a:txBody>
                    <a:bodyPr wrap="square"/>
                    <a:lstStyle/>
                    <a:p>
                      <a:pPr algn="ctr"/>
                      <a:r>
                        <a:rPr sz="1500" b="1" i="0" lang="es-ES">
                          <a:solidFill>
                            <a:srgbClr val="1F2937"/>
                          </a:solidFill>
                          <a:latin typeface="Calibri"/>
                        </a:rPr>
                        <a:t>3/3</a:t>
                      </a:r>
                    </a:p>
                  </a:txBody>
                  <a:tcPr marL="73152" marR="73152" marT="27432" marB="27432" anchor="ctr">
                    <a:solidFill>
                      <a:srgbClr val="FDF1E2"/>
                    </a:solidFill>
                  </a:tcPr>
                </a:tc>
              </a:tr>
              <a:tr h="369025">
                <a:tc>
                  <a:txBody>
                    <a:bodyPr wrap="square"/>
                    <a:lstStyle/>
                    <a:p>
                      <a:pPr algn="l"/>
                      <a:r>
                        <a:rPr sz="1500" b="1" i="0" lang="es-ES">
                          <a:solidFill>
                            <a:srgbClr val="1F2937"/>
                          </a:solidFill>
                          <a:latin typeface="Calibri"/>
                        </a:rPr>
                        <a:t>Conceptos del canal</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3</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M7 (ensamblaje), M1 a M4 (isoparamétrico), M5 (Gauss)</a:t>
                      </a:r>
                    </a:p>
                  </a:txBody>
                  <a:tcPr marL="73152" marR="73152" marT="27432" marB="27432" anchor="ctr">
                    <a:solidFill>
                      <a:srgbClr val="FFFFFF"/>
                    </a:solidFill>
                  </a:tcPr>
                </a:tc>
                <a:tc>
                  <a:txBody>
                    <a:bodyPr wrap="square"/>
                    <a:lstStyle/>
                    <a:p>
                      <a:pPr algn="ctr"/>
                      <a:r>
                        <a:rPr sz="1500" b="1" i="0" lang="es-ES">
                          <a:solidFill>
                            <a:srgbClr val="1F2937"/>
                          </a:solidFill>
                          <a:latin typeface="Calibri"/>
                        </a:rPr>
                        <a:t>3/3</a:t>
                      </a:r>
                    </a:p>
                  </a:txBody>
                  <a:tcPr marL="73152" marR="73152" marT="27432" marB="27432" anchor="ctr">
                    <a:solidFill>
                      <a:srgbClr val="FDF1E2"/>
                    </a:solidFill>
                  </a:tcPr>
                </a:tc>
              </a:tr>
              <a:tr h="566928">
                <a:tc>
                  <a:txBody>
                    <a:bodyPr wrap="square"/>
                    <a:lstStyle/>
                    <a:p>
                      <a:pPr algn="l"/>
                      <a:r>
                        <a:rPr sz="1500" b="1" i="0" lang="es-ES">
                          <a:solidFill>
                            <a:srgbClr val="1F2937"/>
                          </a:solidFill>
                          <a:latin typeface="Calibri"/>
                        </a:rPr>
                        <a:t>Principios de aprendizaje</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4</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Visibilidad, interactividad, paso a paso, fundamento y operación</a:t>
                      </a:r>
                    </a:p>
                  </a:txBody>
                  <a:tcPr marL="73152" marR="73152" marT="27432" marB="27432" anchor="ctr">
                    <a:solidFill>
                      <a:srgbClr val="F6F8FC"/>
                    </a:solidFill>
                  </a:tcPr>
                </a:tc>
                <a:tc>
                  <a:txBody>
                    <a:bodyPr wrap="square"/>
                    <a:lstStyle/>
                    <a:p>
                      <a:pPr algn="ctr"/>
                      <a:r>
                        <a:rPr sz="1500" b="1" i="0" lang="es-ES">
                          <a:solidFill>
                            <a:srgbClr val="1F2937"/>
                          </a:solidFill>
                          <a:latin typeface="Calibri"/>
                        </a:rPr>
                        <a:t>4/4</a:t>
                      </a:r>
                    </a:p>
                  </a:txBody>
                  <a:tcPr marL="73152" marR="73152" marT="27432" marB="27432" anchor="ctr">
                    <a:solidFill>
                      <a:srgbClr val="FDF1E2"/>
                    </a:solidFill>
                  </a:tcPr>
                </a:tc>
              </a:tr>
            </a:tbl>
          </a:graphicData>
        </a:graphic>
      </p:graphicFrame>
      <p:sp>
        <p:nvSpPr>
          <p:cNvPr id="14" name="Rectangle 13"/>
          <p:cNvSpPr/>
          <p:nvPr/>
        </p:nvSpPr>
        <p:spPr>
          <a:xfrm>
            <a:off x="566928" y="2667435"/>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18/18 destrezas y conceptos con instrumento · 4/4 principios con encarnación comprobable · el efecto queda a la prueba de campo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§3.6.2, Tablas 3.7 y 3.8</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05</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Análisis de resultados</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Qué aprende el alumno: Q4 frente a Q9, escalabilidad y alcance de la evidencia</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05   ANÁLISIS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59007"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Mismos GDL: Q9 trece veces más preciso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3675888"/>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Con 2178 GDL:</a:t>
            </a:r>
            <a:r>
              <a:rPr sz="2200" b="0" i="0" lang="es-ES">
                <a:solidFill>
                  <a:srgbClr val="1F2937"/>
                </a:solidFill>
                <a:latin typeface="Calibri"/>
              </a:rPr>
              <a:t> Q4 (N = 32) −0,594 % frente a Q9 (N = 16) −0,044 %</a:t>
            </a:r>
          </a:p>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Un orden de magnitud a favor del mayor orden, independiente de la incertidumbre de la referencia</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Q4:</a:t>
            </a:r>
            <a:r>
              <a:rPr sz="2200" b="0" i="0" lang="es-ES">
                <a:solidFill>
                  <a:srgbClr val="1F2937"/>
                </a:solidFill>
                <a:latin typeface="Calibri"/>
              </a:rPr>
              <a:t> convergencia lenta y monótona por debajo, la firma del bloqueo por cortante</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Q9:</a:t>
            </a:r>
            <a:r>
              <a:rPr sz="2200" b="0" i="0" lang="es-ES">
                <a:solidFill>
                  <a:srgbClr val="1F2937"/>
                </a:solidFill>
                <a:latin typeface="Calibri"/>
              </a:rPr>
              <a:t> con 578 GDL ya está a −0,144 %</a:t>
            </a:r>
          </a:p>
        </p:txBody>
      </p:sp>
      <p:sp>
        <p:nvSpPr>
          <p:cNvPr id="13" name="Rounded Rectangle 12"/>
          <p:cNvSpPr/>
          <p:nvPr/>
        </p:nvSpPr>
        <p:spPr>
          <a:xfrm>
            <a:off x="6705752" y="1572768"/>
            <a:ext cx="4449470"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ok_convergence.png"/>
          <p:cNvPicPr>
            <a:picLocks noChangeAspect="1"/>
          </p:cNvPicPr>
          <p:nvPr/>
        </p:nvPicPr>
        <p:blipFill>
          <a:blip r:embed="rId2"/>
          <a:stretch>
            <a:fillRect/>
          </a:stretch>
        </p:blipFill>
        <p:spPr>
          <a:xfrm>
            <a:off x="6824624" y="1691640"/>
            <a:ext cx="4211726" cy="3008376"/>
          </a:xfrm>
          <a:prstGeom prst="rect">
            <a:avLst/>
          </a:prstGeom>
        </p:spPr>
      </p:pic>
      <p:sp>
        <p:nvSpPr>
          <p:cNvPr id="15" name="TextBox 14"/>
          <p:cNvSpPr txBox="1"/>
          <p:nvPr/>
        </p:nvSpPr>
        <p:spPr>
          <a:xfrm>
            <a:off x="6236208" y="4745736"/>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uy en (48, 52) frente al número de GDL; referencia 23,96</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Responde PI-2: el alumno reproduce el bloqueo cargando el ejemplo de Cook en Q4 y en Q9</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§3.5 y §3.7, síntesis Q4 frente a Q9</a:t>
            </a:r>
          </a:p>
        </p:txBody>
      </p:sp>
      <p:sp>
        <p:nvSpPr>
          <p:cNvPr id="22" name="TextBox 2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05   ANÁLISIS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59007"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33 282 GDL en menos de un segundo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Table 11"/>
          <p:cNvGraphicFramePr>
            <a:graphicFrameLocks noGrp="1"/>
          </p:cNvGraphicFramePr>
          <p:nvPr/>
        </p:nvGraphicFramePr>
        <p:xfrm>
          <a:off x="566928" y="1755648"/>
          <a:ext cx="11057836" cy="3401568"/>
        </p:xfrm>
        <a:graphic>
          <a:graphicData uri="http://schemas.openxmlformats.org/drawingml/2006/table">
            <a:tbl>
              <a:tblPr firstRow="0" bandRow="0">
                <a:tableStyleId>{5C22544A-7EE6-4342-B048-85BDC9FD1C3A}</a:tableStyleId>
              </a:tblPr>
              <a:tblGrid>
                <a:gridCol w="995569"/>
                <a:gridCol w="2824496"/>
                <a:gridCol w="2471434"/>
                <a:gridCol w="2118372"/>
                <a:gridCol w="2647965"/>
              </a:tblGrid>
              <a:tr h="566928">
                <a:tc>
                  <a:txBody>
                    <a:bodyPr wrap="square"/>
                    <a:lstStyle/>
                    <a:p>
                      <a:pPr algn="l"/>
                      <a:r>
                        <a:rPr sz="2000" b="1" i="0" lang="es-ES">
                          <a:solidFill>
                            <a:srgbClr val="FFFFFF"/>
                          </a:solidFill>
                          <a:latin typeface="Calibri"/>
                        </a:rPr>
                        <a:t>GDL</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t ensamblaje (s)</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t solución (s)</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K densa (MB)</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K dispersa (MB)</a:t>
                      </a:r>
                    </a:p>
                  </a:txBody>
                  <a:tcPr marL="73152" marR="73152" marT="27432" marB="27432" anchor="ctr">
                    <a:solidFill>
                      <a:srgbClr val="1B2A4A"/>
                    </a:solidFill>
                  </a:tcPr>
                </a:tc>
              </a:tr>
              <a:tr h="566928">
                <a:tc>
                  <a:txBody>
                    <a:bodyPr wrap="square"/>
                    <a:lstStyle/>
                    <a:p>
                      <a:pPr algn="l"/>
                      <a:r>
                        <a:rPr sz="2000" b="1" i="0" lang="es-ES">
                          <a:solidFill>
                            <a:srgbClr val="1F2937"/>
                          </a:solidFill>
                          <a:latin typeface="Calibri"/>
                        </a:rPr>
                        <a:t>578</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0,004</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0,007</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3</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0,21</a:t>
                      </a:r>
                    </a:p>
                  </a:txBody>
                  <a:tcPr marL="73152" marR="73152" marT="27432" marB="27432" anchor="ctr">
                    <a:solidFill>
                      <a:srgbClr val="FFFFFF"/>
                    </a:solidFill>
                  </a:tcPr>
                </a:tc>
              </a:tr>
              <a:tr h="566928">
                <a:tc>
                  <a:txBody>
                    <a:bodyPr wrap="square"/>
                    <a:lstStyle/>
                    <a:p>
                      <a:pPr algn="l"/>
                      <a:r>
                        <a:rPr sz="2000" b="1" i="0" lang="es-ES">
                          <a:solidFill>
                            <a:srgbClr val="1F2937"/>
                          </a:solidFill>
                          <a:latin typeface="Calibri"/>
                        </a:rPr>
                        <a:t>2178</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0,013</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0,026</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38</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0,81</a:t>
                      </a:r>
                    </a:p>
                  </a:txBody>
                  <a:tcPr marL="73152" marR="73152" marT="27432" marB="27432" anchor="ctr">
                    <a:solidFill>
                      <a:srgbClr val="F6F8FC"/>
                    </a:solidFill>
                  </a:tcPr>
                </a:tc>
              </a:tr>
              <a:tr h="566928">
                <a:tc>
                  <a:txBody>
                    <a:bodyPr wrap="square"/>
                    <a:lstStyle/>
                    <a:p>
                      <a:pPr algn="l"/>
                      <a:r>
                        <a:rPr sz="2000" b="1" i="0" lang="es-ES">
                          <a:solidFill>
                            <a:srgbClr val="1F2937"/>
                          </a:solidFill>
                          <a:latin typeface="Calibri"/>
                        </a:rPr>
                        <a:t>8450</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0,049</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0,127</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571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3,20</a:t>
                      </a:r>
                    </a:p>
                  </a:txBody>
                  <a:tcPr marL="73152" marR="73152" marT="27432" marB="27432" anchor="ctr">
                    <a:solidFill>
                      <a:srgbClr val="FFFFFF"/>
                    </a:solidFill>
                  </a:tcPr>
                </a:tc>
              </a:tr>
              <a:tr h="566928">
                <a:tc>
                  <a:txBody>
                    <a:bodyPr wrap="square"/>
                    <a:lstStyle/>
                    <a:p>
                      <a:pPr algn="l"/>
                      <a:r>
                        <a:rPr sz="2000" b="1" i="0" lang="es-ES">
                          <a:solidFill>
                            <a:srgbClr val="1F2937"/>
                          </a:solidFill>
                          <a:latin typeface="Calibri"/>
                        </a:rPr>
                        <a:t>18818</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0,111</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0,329</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2833</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7,19</a:t>
                      </a:r>
                    </a:p>
                  </a:txBody>
                  <a:tcPr marL="73152" marR="73152" marT="27432" marB="27432" anchor="ctr">
                    <a:solidFill>
                      <a:srgbClr val="F6F8FC"/>
                    </a:solidFill>
                  </a:tcPr>
                </a:tc>
              </a:tr>
              <a:tr h="566928">
                <a:tc>
                  <a:txBody>
                    <a:bodyPr wrap="square"/>
                    <a:lstStyle/>
                    <a:p>
                      <a:pPr algn="l"/>
                      <a:r>
                        <a:rPr sz="2000" b="1" i="0" lang="es-ES">
                          <a:solidFill>
                            <a:srgbClr val="1F2937"/>
                          </a:solidFill>
                          <a:latin typeface="Calibri"/>
                        </a:rPr>
                        <a:t>33282</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0,191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0,721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8862</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12,77</a:t>
                      </a:r>
                    </a:p>
                  </a:txBody>
                  <a:tcPr marL="73152" marR="73152" marT="27432" marB="27432" anchor="ctr">
                    <a:solidFill>
                      <a:srgbClr val="FFFFFF"/>
                    </a:solidFill>
                  </a:tcPr>
                </a:tc>
              </a:tr>
            </a:tbl>
          </a:graphicData>
        </a:graphic>
      </p:graphicFrame>
      <p:sp>
        <p:nvSpPr>
          <p:cNvPr id="13" name="Rectangle 12"/>
          <p:cNvSpPr/>
          <p:nvPr/>
        </p:nvSpPr>
        <p:spPr>
          <a:xfrm>
            <a:off x="566928" y="229057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Equipo de 2012, NumPy puro; mínimo grado sobre Aᵀ+A gana 1,7×, 2,0× y 2,9× frente a COLAMD</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100" b="0" i="0" lang="es-ES">
                <a:solidFill>
                  <a:srgbClr val="5B6575"/>
                </a:solidFill>
                <a:latin typeface="Calibri"/>
              </a:rPr>
              <a:t>Tesis: §3.7, tabla de tiempos, interpretación y limitaciones observadas</a:t>
            </a:r>
          </a:p>
        </p:txBody>
      </p:sp>
      <p:sp>
        <p:nvSpPr>
          <p:cNvPr id="20" name="TextBox 19"/>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06</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Conclusiones y recomendaciones</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Qué queda: cumplimiento de los objetivos, hipótesis, limitaciones y líneas de continuación</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6. Conclusiones y recomendaciones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Cinco objetivos, cinco conclusiones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Table 11"/>
          <p:cNvGraphicFramePr>
            <a:graphicFrameLocks noGrp="1"/>
          </p:cNvGraphicFramePr>
          <p:nvPr/>
        </p:nvGraphicFramePr>
        <p:xfrm>
          <a:off x="566928" y="1833117"/>
          <a:ext cx="11057837" cy="3246628"/>
        </p:xfrm>
        <a:graphic>
          <a:graphicData uri="http://schemas.openxmlformats.org/drawingml/2006/table">
            <a:tbl>
              <a:tblPr firstRow="0" bandRow="0">
                <a:tableStyleId>{5C22544A-7EE6-4342-B048-85BDC9FD1C3A}</a:tableStyleId>
              </a:tblPr>
              <a:tblGrid>
                <a:gridCol w="1543303"/>
                <a:gridCol w="1543303"/>
                <a:gridCol w="7971231"/>
              </a:tblGrid>
              <a:tr h="411988">
                <a:tc>
                  <a:txBody>
                    <a:bodyPr wrap="square"/>
                    <a:lstStyle/>
                    <a:p>
                      <a:pPr algn="l"/>
                      <a:r>
                        <a:rPr sz="1700" b="1" i="0" lang="es-ES">
                          <a:solidFill>
                            <a:srgbClr val="FFFFFF"/>
                          </a:solidFill>
                          <a:latin typeface="Calibri"/>
                        </a:rPr>
                        <a:t>OE</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Cumplimiento</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Evidencia</a:t>
                      </a:r>
                    </a:p>
                  </a:txBody>
                  <a:tcPr marL="73152" marR="73152" marT="27432" marB="27432" anchor="ctr">
                    <a:solidFill>
                      <a:srgbClr val="1B2A4A"/>
                    </a:solidFill>
                  </a:tcPr>
                </a:tc>
              </a:tr>
              <a:tr h="566928">
                <a:tc>
                  <a:txBody>
                    <a:bodyPr wrap="square"/>
                    <a:lstStyle/>
                    <a:p>
                      <a:pPr algn="l"/>
                      <a:r>
                        <a:rPr sz="1700" b="1" i="0" lang="es-ES">
                          <a:solidFill>
                            <a:srgbClr val="1F2937"/>
                          </a:solidFill>
                          <a:latin typeface="Calibri"/>
                        </a:rPr>
                        <a:t>OE1 Diagnosticar</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Cumplido</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La respuesta llega como caja negra, también en el antecedente más directo (Tabla 1.1)</a:t>
                      </a:r>
                    </a:p>
                  </a:txBody>
                  <a:tcPr marL="73152" marR="73152" marT="27432" marB="27432" anchor="ctr">
                    <a:solidFill>
                      <a:srgbClr val="FFFFFF"/>
                    </a:solidFill>
                  </a:tcPr>
                </a:tc>
              </a:tr>
              <a:tr h="566928">
                <a:tc>
                  <a:txBody>
                    <a:bodyPr wrap="square"/>
                    <a:lstStyle/>
                    <a:p>
                      <a:pPr algn="l"/>
                      <a:r>
                        <a:rPr sz="1700" b="1" i="0" lang="es-ES">
                          <a:solidFill>
                            <a:srgbClr val="1F2937"/>
                          </a:solidFill>
                          <a:latin typeface="Calibri"/>
                        </a:rPr>
                        <a:t>OE2 Fundamentar</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Cumplido</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Fundamento, no resultado medido: una formulación en teoría, código y memoria; cuatro principios</a:t>
                      </a:r>
                    </a:p>
                  </a:txBody>
                  <a:tcPr marL="73152" marR="73152" marT="27432" marB="27432" anchor="ctr">
                    <a:solidFill>
                      <a:srgbClr val="F6F8FC"/>
                    </a:solidFill>
                  </a:tcPr>
                </a:tc>
              </a:tr>
              <a:tr h="566928">
                <a:tc>
                  <a:txBody>
                    <a:bodyPr wrap="square"/>
                    <a:lstStyle/>
                    <a:p>
                      <a:pPr algn="l"/>
                      <a:r>
                        <a:rPr sz="1700" b="1" i="0" lang="es-ES">
                          <a:solidFill>
                            <a:srgbClr val="1F2937"/>
                          </a:solidFill>
                          <a:latin typeface="Calibri"/>
                        </a:rPr>
                        <a:t>OE3 Desarrollar</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Cumplido</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Motor Q4/Q9, tres fases en un lienzo, M0 a M7, post-proceso y memoria con las nueve etapas</a:t>
                      </a:r>
                    </a:p>
                  </a:txBody>
                  <a:tcPr marL="73152" marR="73152" marT="27432" marB="27432" anchor="ctr">
                    <a:solidFill>
                      <a:srgbClr val="FFFFFF"/>
                    </a:solidFill>
                  </a:tcPr>
                </a:tc>
              </a:tr>
              <a:tr h="566928">
                <a:tc>
                  <a:txBody>
                    <a:bodyPr wrap="square"/>
                    <a:lstStyle/>
                    <a:p>
                      <a:pPr algn="l"/>
                      <a:r>
                        <a:rPr sz="1700" b="1" i="0" lang="es-ES">
                          <a:solidFill>
                            <a:srgbClr val="1F2937"/>
                          </a:solidFill>
                          <a:latin typeface="Calibri"/>
                        </a:rPr>
                        <a:t>OE4 Verificar</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Cumplido</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Tasas teóricas; 0,04 % σₓ y 0,26 % flecha; Cook −0,044 % frente a −0,594 %</a:t>
                      </a:r>
                    </a:p>
                  </a:txBody>
                  <a:tcPr marL="73152" marR="73152" marT="27432" marB="27432" anchor="ctr">
                    <a:solidFill>
                      <a:srgbClr val="F6F8FC"/>
                    </a:solidFill>
                  </a:tcPr>
                </a:tc>
              </a:tr>
              <a:tr h="566928">
                <a:tc>
                  <a:txBody>
                    <a:bodyPr wrap="square"/>
                    <a:lstStyle/>
                    <a:p>
                      <a:pPr algn="l"/>
                      <a:r>
                        <a:rPr sz="1700" b="1" i="0" lang="es-ES">
                          <a:solidFill>
                            <a:srgbClr val="1F2937"/>
                          </a:solidFill>
                          <a:latin typeface="Calibri"/>
                        </a:rPr>
                        <a:t>OE5 Validar</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Cumplido</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18/18 destrezas y conceptos con instrumento; 4/4 principios con encarnación</a:t>
                      </a:r>
                    </a:p>
                  </a:txBody>
                  <a:tcPr marL="73152" marR="73152" marT="27432" marB="27432" anchor="ctr">
                    <a:solidFill>
                      <a:srgbClr val="FFFFFF"/>
                    </a:solidFill>
                  </a:tcPr>
                </a:tc>
              </a:tr>
            </a:tbl>
          </a:graphicData>
        </a:graphic>
      </p:graphicFrame>
      <p:sp>
        <p:nvSpPr>
          <p:cNvPr id="13" name="Rectangle 12"/>
          <p:cNvSpPr/>
          <p:nvPr/>
        </p:nvSpPr>
        <p:spPr>
          <a:xfrm>
            <a:off x="566928" y="221310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Cinco objetivos cumplidos en los términos en que fueron enunciados y, con ello, el objetivo general</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conclusiones específicas</a:t>
            </a:r>
          </a:p>
        </p:txBody>
      </p:sp>
      <p:sp>
        <p:nvSpPr>
          <p:cNvPr id="20" name="TextBox 19"/>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Hipótesis comprobada en diseño y contenido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1572768"/>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Cláusula por cláusula</a:t>
            </a:r>
          </a:p>
        </p:txBody>
      </p:sp>
      <p:sp>
        <p:nvSpPr>
          <p:cNvPr id="16" name="TextBox 15"/>
          <p:cNvSpPr txBox="1"/>
          <p:nvPr/>
        </p:nvSpPr>
        <p:spPr>
          <a:xfrm>
            <a:off x="768096"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1600" b="1" i="0" lang="es-ES">
                <a:solidFill>
                  <a:srgbClr val="1B2A4A"/>
                </a:solidFill>
                <a:latin typeface="Calibri"/>
              </a:rPr>
              <a:t>(a) Exposición:</a:t>
            </a:r>
            <a:r>
              <a:rPr sz="1600" b="0" i="0" lang="es-ES">
                <a:solidFill>
                  <a:srgbClr val="1F2937"/>
                </a:solidFill>
                <a:latin typeface="Calibri"/>
              </a:rPr>
              <a:t> 7/7 con módulo, 9/9 en la memoria, tres fases sobre un lienzo</a:t>
            </a:r>
          </a:p>
          <a:p>
            <a:pPr marL="347472" indent="-347472">
              <a:lnSpc>
                <a:spcPct val="112000"/>
              </a:lnSpc>
              <a:spcAft>
                <a:spcPts val="900"/>
              </a:spcAft>
              <a:buClr>
                <a:srgbClr val="1B2A4A"/>
              </a:buClr>
              <a:buSzPct val="100000"/>
              <a:buFont typeface="Arial"/>
              <a:buChar char="•"/>
            </a:pPr>
            <a:r>
              <a:rPr sz="1600" b="1" i="0" lang="es-ES">
                <a:solidFill>
                  <a:srgbClr val="1B2A4A"/>
                </a:solidFill>
                <a:latin typeface="Calibri"/>
              </a:rPr>
              <a:t>(b) Corrección:</a:t>
            </a:r>
            <a:r>
              <a:rPr sz="1600" b="0" i="0" lang="es-ES">
                <a:solidFill>
                  <a:srgbClr val="1F2937"/>
                </a:solidFill>
                <a:latin typeface="Calibri"/>
              </a:rPr>
              <a:t> 0,04 % y 0,26 % frente al analítico; hasta 0,56 % frente a SAP2000; el Q4 bloquea</a:t>
            </a:r>
          </a:p>
          <a:p>
            <a:pPr marL="347472" indent="-347472">
              <a:lnSpc>
                <a:spcPct val="112000"/>
              </a:lnSpc>
              <a:spcAft>
                <a:spcPts val="900"/>
              </a:spcAft>
              <a:buClr>
                <a:srgbClr val="1B2A4A"/>
              </a:buClr>
              <a:buSzPct val="100000"/>
              <a:buFont typeface="Arial"/>
              <a:buChar char="•"/>
            </a:pPr>
            <a:r>
              <a:rPr sz="1600" b="1" i="0" lang="es-ES">
                <a:solidFill>
                  <a:srgbClr val="1B2A4A"/>
                </a:solidFill>
                <a:latin typeface="Calibri"/>
              </a:rPr>
              <a:t>(c) Contenido:</a:t>
            </a:r>
            <a:r>
              <a:rPr sz="1600" b="0" i="0" lang="es-ES">
                <a:solidFill>
                  <a:srgbClr val="1F2937"/>
                </a:solidFill>
                <a:latin typeface="Calibri"/>
              </a:rPr>
              <a:t> 18/18 destrezas y conceptos; 4/4 principios</a:t>
            </a:r>
          </a:p>
          <a:p>
            <a:pPr marL="347472" indent="-347472">
              <a:lnSpc>
                <a:spcPct val="112000"/>
              </a:lnSpc>
              <a:spcAft>
                <a:spcPts val="900"/>
              </a:spcAft>
              <a:buClr>
                <a:srgbClr val="1B2A4A"/>
              </a:buClr>
              <a:buSzPct val="100000"/>
              <a:buFont typeface="Arial"/>
              <a:buChar char="•"/>
            </a:pPr>
            <a:r>
              <a:rPr sz="1600" b="0" i="0" lang="es-ES">
                <a:solidFill>
                  <a:srgbClr val="1F2937"/>
                </a:solidFill>
                <a:latin typeface="Calibri"/>
              </a:rPr>
              <a:t>El efecto sobre el criterio del estudiante: fundamentado, con prueba de campo diseñada</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78727" y="1572768"/>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Preguntas de investigación</a:t>
            </a:r>
          </a:p>
        </p:txBody>
      </p:sp>
      <p:sp>
        <p:nvSpPr>
          <p:cNvPr id="21" name="TextBox 20"/>
          <p:cNvSpPr txBox="1"/>
          <p:nvPr/>
        </p:nvSpPr>
        <p:spPr>
          <a:xfrm>
            <a:off x="6479895"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2100" b="1" i="0" lang="es-ES">
                <a:solidFill>
                  <a:srgbClr val="1B2A4A"/>
                </a:solidFill>
                <a:latin typeface="Calibri"/>
              </a:rPr>
              <a:t>PI-1 sí:</a:t>
            </a:r>
            <a:r>
              <a:rPr sz="2100" b="0" i="0" lang="es-ES">
                <a:solidFill>
                  <a:srgbClr val="1F2937"/>
                </a:solidFill>
                <a:latin typeface="Calibri"/>
              </a:rPr>
              <a:t> lienzo único, módulos M0 a M7, post-proceso y memoria de cálculo</a:t>
            </a:r>
          </a:p>
          <a:p>
            <a:pPr marL="347472" indent="-347472">
              <a:lnSpc>
                <a:spcPct val="112000"/>
              </a:lnSpc>
              <a:spcAft>
                <a:spcPts val="900"/>
              </a:spcAft>
              <a:buClr>
                <a:srgbClr val="F28C28"/>
              </a:buClr>
              <a:buSzPct val="100000"/>
              <a:buFont typeface="Arial"/>
              <a:buChar char="•"/>
            </a:pPr>
            <a:r>
              <a:rPr sz="2100" b="1" i="0" lang="es-ES">
                <a:solidFill>
                  <a:srgbClr val="1B2A4A"/>
                </a:solidFill>
                <a:latin typeface="Calibri"/>
              </a:rPr>
              <a:t>PI-2 sí:</a:t>
            </a:r>
            <a:r>
              <a:rPr sz="2100" b="0" i="0" lang="es-ES">
                <a:solidFill>
                  <a:srgbClr val="1F2937"/>
                </a:solidFill>
                <a:latin typeface="Calibri"/>
              </a:rPr>
              <a:t> 0,04 % en σₓ, 0,26 % en flecha; Cook, Q4 −0,594 % frente a Q9 −0,044 %</a:t>
            </a:r>
          </a:p>
          <a:p>
            <a:pPr marL="347472" indent="-347472">
              <a:lnSpc>
                <a:spcPct val="112000"/>
              </a:lnSpc>
              <a:spcAft>
                <a:spcPts val="900"/>
              </a:spcAft>
              <a:buClr>
                <a:srgbClr val="F28C28"/>
              </a:buClr>
              <a:buSzPct val="100000"/>
              <a:buFont typeface="Arial"/>
              <a:buChar char="•"/>
            </a:pPr>
            <a:r>
              <a:rPr sz="2100" b="1" i="0" lang="es-ES">
                <a:solidFill>
                  <a:srgbClr val="1B2A4A"/>
                </a:solidFill>
                <a:latin typeface="Calibri"/>
              </a:rPr>
              <a:t>PI-3 sí:</a:t>
            </a:r>
            <a:r>
              <a:rPr sz="2100" b="0" i="0" lang="es-ES">
                <a:solidFill>
                  <a:srgbClr val="1F2937"/>
                </a:solidFill>
                <a:latin typeface="Calibri"/>
              </a:rPr>
              <a:t> tabla de especificaciones y matriz de principios</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Frente a la caja negra, el software expone lo que el estudiante necesita para formar criterio sobre la respuesta</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§3.8 y Conclusiones</a:t>
            </a:r>
          </a:p>
        </p:txBody>
      </p:sp>
      <p:sp>
        <p:nvSpPr>
          <p:cNvPr id="28" name="TextBox 27"/>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Limitaciones asumidas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8368" y="1664208"/>
            <a:ext cx="10874959" cy="3675888"/>
          </a:xfrm>
          <a:prstGeom prst="rect">
            <a:avLst/>
          </a:prstGeom>
          <a:noFill/>
        </p:spPr>
        <p:txBody>
          <a:bodyPr wrap="square" anchor="ctr" lIns="45720" rIns="45720" tIns="27432" bIns="27432">
            <a:noAutofit/>
          </a:bodyPr>
          <a:lstStyle/>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Solo elasticidad lineal estática 2D: sin no linealidad, dinámica, 3D, placas ni cáscaras</a:t>
            </a:r>
          </a:p>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Solo Q4 y Q9, sin triángulos ni mallado automático</a:t>
            </a:r>
          </a:p>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Los módulos llegan hasta el ensamblaje: solución y tensiones se exponen en post-proceso y memoria</a:t>
            </a:r>
          </a:p>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Bloqueo del Q4 ilustrado, no mitigado; en deformación plana, ν → 0,5 se señala pero no se resuelve</a:t>
            </a:r>
          </a:p>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Validez de contenido no es efectividad: sin prueba de campo, y las tablas las construye el autor</a:t>
            </a:r>
          </a:p>
        </p:txBody>
      </p:sp>
      <p:sp>
        <p:nvSpPr>
          <p:cNvPr id="13" name="Rectangle 12"/>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Las validaciones numéricas son analíticas y código a código, no frente a mediciones físicas; la carga superficial variable no tiene contraste externo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limitaciones</a:t>
            </a:r>
          </a:p>
        </p:txBody>
      </p:sp>
      <p:sp>
        <p:nvSpPr>
          <p:cNvPr id="19" name="TextBox 1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Tres líneas de continuación, una por capítulo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66928" y="1572768"/>
            <a:ext cx="3490874"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1920240"/>
            <a:ext cx="3490874"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1572768"/>
            <a:ext cx="3490874"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Sobre la formulación</a:t>
            </a:r>
          </a:p>
        </p:txBody>
      </p:sp>
      <p:sp>
        <p:nvSpPr>
          <p:cNvPr id="16" name="TextBox 15"/>
          <p:cNvSpPr txBox="1"/>
          <p:nvPr/>
        </p:nvSpPr>
        <p:spPr>
          <a:xfrm>
            <a:off x="768096" y="2395728"/>
            <a:ext cx="3088538"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Bloqueo: integración reducida selectiva o B-bar</a:t>
            </a:r>
          </a:p>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Un módulo que contraste bloqueado y corregido</a:t>
            </a:r>
          </a:p>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Más elementos: triángulos y cuadriláteros de transición</a:t>
            </a:r>
          </a:p>
        </p:txBody>
      </p:sp>
      <p:sp>
        <p:nvSpPr>
          <p:cNvPr id="17" name="Rounded Rectangle 16"/>
          <p:cNvSpPr/>
          <p:nvPr/>
        </p:nvSpPr>
        <p:spPr>
          <a:xfrm>
            <a:off x="4350410"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350410" y="1572768"/>
            <a:ext cx="3490874"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350410" y="1920240"/>
            <a:ext cx="3490874"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50410" y="1572768"/>
            <a:ext cx="3490874"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Sobre el software</a:t>
            </a:r>
          </a:p>
        </p:txBody>
      </p:sp>
      <p:sp>
        <p:nvSpPr>
          <p:cNvPr id="21" name="TextBox 20"/>
          <p:cNvSpPr txBox="1"/>
          <p:nvPr/>
        </p:nvSpPr>
        <p:spPr>
          <a:xfrm>
            <a:off x="4551578" y="2395728"/>
            <a:ext cx="3088538"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1800" b="0" i="0" lang="es-ES">
                <a:solidFill>
                  <a:srgbClr val="1F2937"/>
                </a:solidFill>
                <a:latin typeface="Calibri"/>
              </a:rPr>
              <a:t>Cholesky: K_ff es simétrica y definida positiva</a:t>
            </a:r>
          </a:p>
          <a:p>
            <a:pPr marL="347472" indent="-347472">
              <a:lnSpc>
                <a:spcPct val="112000"/>
              </a:lnSpc>
              <a:spcAft>
                <a:spcPts val="900"/>
              </a:spcAft>
              <a:buClr>
                <a:srgbClr val="F28C28"/>
              </a:buClr>
              <a:buSzPct val="100000"/>
              <a:buFont typeface="Arial"/>
              <a:buChar char="•"/>
            </a:pPr>
            <a:r>
              <a:rPr sz="1800" b="0" i="0" lang="es-ES">
                <a:solidFill>
                  <a:srgbClr val="1F2937"/>
                </a:solidFill>
                <a:latin typeface="Calibri"/>
              </a:rPr>
              <a:t>Iterativo precondicionado para mallas masivas</a:t>
            </a:r>
          </a:p>
          <a:p>
            <a:pPr marL="347472" indent="-347472">
              <a:lnSpc>
                <a:spcPct val="112000"/>
              </a:lnSpc>
              <a:spcAft>
                <a:spcPts val="900"/>
              </a:spcAft>
              <a:buClr>
                <a:srgbClr val="F28C28"/>
              </a:buClr>
              <a:buSzPct val="100000"/>
              <a:buFont typeface="Arial"/>
              <a:buChar char="•"/>
            </a:pPr>
            <a:r>
              <a:rPr sz="1800" b="0" i="0" lang="es-ES">
                <a:solidFill>
                  <a:srgbClr val="1F2937"/>
                </a:solidFill>
                <a:latin typeface="Calibri"/>
              </a:rPr>
              <a:t>Tres dimensiones: H8, H20 y tetraedros</a:t>
            </a:r>
          </a:p>
          <a:p>
            <a:pPr marL="347472" indent="-347472">
              <a:lnSpc>
                <a:spcPct val="112000"/>
              </a:lnSpc>
              <a:spcAft>
                <a:spcPts val="900"/>
              </a:spcAft>
              <a:buClr>
                <a:srgbClr val="F28C28"/>
              </a:buClr>
              <a:buSzPct val="100000"/>
              <a:buFont typeface="Arial"/>
              <a:buChar char="•"/>
            </a:pPr>
            <a:r>
              <a:rPr sz="1800" b="0" i="0" lang="es-ES">
                <a:solidFill>
                  <a:srgbClr val="1F2937"/>
                </a:solidFill>
                <a:latin typeface="Calibri"/>
              </a:rPr>
              <a:t>Mallado automático, con M0 como control</a:t>
            </a:r>
          </a:p>
        </p:txBody>
      </p:sp>
      <p:sp>
        <p:nvSpPr>
          <p:cNvPr id="22" name="Rounded Rectangle 21"/>
          <p:cNvSpPr/>
          <p:nvPr/>
        </p:nvSpPr>
        <p:spPr>
          <a:xfrm>
            <a:off x="8133892"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133892" y="1572768"/>
            <a:ext cx="3490874" cy="621792"/>
          </a:xfrm>
          <a:prstGeom prst="roundRect">
            <a:avLst>
              <a:gd name="adj" fmla="val 12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133892" y="1920240"/>
            <a:ext cx="3490874" cy="27432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33892" y="1572768"/>
            <a:ext cx="3490874"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Sobre la evidencia</a:t>
            </a:r>
          </a:p>
        </p:txBody>
      </p:sp>
      <p:sp>
        <p:nvSpPr>
          <p:cNvPr id="26" name="TextBox 25"/>
          <p:cNvSpPr txBox="1"/>
          <p:nvPr/>
        </p:nvSpPr>
        <p:spPr>
          <a:xfrm>
            <a:off x="8335060" y="2395728"/>
            <a:ext cx="3088538"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3E5A86"/>
              </a:buClr>
              <a:buSzPct val="100000"/>
              <a:buFont typeface="Arial"/>
              <a:buChar char="•"/>
            </a:pPr>
            <a:r>
              <a:rPr sz="1900" b="0" i="0" lang="es-ES">
                <a:solidFill>
                  <a:srgbClr val="1F2937"/>
                </a:solidFill>
                <a:latin typeface="Calibri"/>
              </a:rPr>
              <a:t>Un caso con carga superficial variable</a:t>
            </a:r>
          </a:p>
          <a:p>
            <a:pPr marL="347472" indent="-347472">
              <a:lnSpc>
                <a:spcPct val="112000"/>
              </a:lnSpc>
              <a:spcAft>
                <a:spcPts val="900"/>
              </a:spcAft>
              <a:buClr>
                <a:srgbClr val="3E5A86"/>
              </a:buClr>
              <a:buSzPct val="100000"/>
              <a:buFont typeface="Arial"/>
              <a:buChar char="•"/>
            </a:pPr>
            <a:r>
              <a:rPr sz="1900" b="0" i="0" lang="es-ES">
                <a:solidFill>
                  <a:srgbClr val="1F2937"/>
                </a:solidFill>
                <a:latin typeface="Calibri"/>
              </a:rPr>
              <a:t>Un caso civil en deformación plana: presa, muro o túnel</a:t>
            </a:r>
          </a:p>
          <a:p>
            <a:pPr marL="347472" indent="-347472">
              <a:lnSpc>
                <a:spcPct val="112000"/>
              </a:lnSpc>
              <a:spcAft>
                <a:spcPts val="900"/>
              </a:spcAft>
              <a:buClr>
                <a:srgbClr val="3E5A86"/>
              </a:buClr>
              <a:buSzPct val="100000"/>
              <a:buFont typeface="Arial"/>
              <a:buChar char="•"/>
            </a:pPr>
            <a:r>
              <a:rPr sz="1900" b="0" i="0" lang="es-ES">
                <a:solidFill>
                  <a:srgbClr val="1F2937"/>
                </a:solidFill>
                <a:latin typeface="Calibri"/>
              </a:rPr>
              <a:t>Prueba de campo: preprueba y posprueba en un curso</a:t>
            </a:r>
          </a:p>
        </p:txBody>
      </p:sp>
      <p:sp>
        <p:nvSpPr>
          <p:cNvPr id="27" name="Rectangle 26"/>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La línea más importante: contrastar en el aula que la exposición mejora el criterio del estudiante</a:t>
            </a:r>
          </a:p>
        </p:txBody>
      </p:sp>
      <p:sp>
        <p:nvSpPr>
          <p:cNvPr id="30" name="Rectangle 29"/>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32" name="TextBox 31"/>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recomendaciones y trabajo futuro</a:t>
            </a:r>
          </a:p>
        </p:txBody>
      </p:sp>
      <p:sp>
        <p:nvSpPr>
          <p:cNvPr id="33" name="TextBox 32"/>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TextBox 1"/>
          <p:cNvSpPr txBox="1"/>
          <p:nvPr/>
        </p:nvSpPr>
        <p:spPr>
          <a:xfrm>
            <a:off x="731520" y="1234440"/>
            <a:ext cx="7315200" cy="1097280"/>
          </a:xfrm>
          <a:prstGeom prst="rect">
            <a:avLst/>
          </a:prstGeom>
          <a:noFill/>
        </p:spPr>
        <p:txBody>
          <a:bodyPr wrap="square" anchor="ctr" lIns="45720" tIns="27432" rIns="45720" bIns="27432">
            <a:noAutofit/>
          </a:bodyPr>
          <a:lstStyle/>
          <a:p>
            <a:pPr algn="l">
              <a:lnSpc>
                <a:spcPct val="105000"/>
              </a:lnSpc>
            </a:pPr>
            <a:r>
              <a:rPr sz="5400" b="1" i="0" lang="es-ES">
                <a:solidFill>
                  <a:srgbClr val="FFFFFF"/>
                </a:solidFill>
                <a:latin typeface="Calibri"/>
              </a:rPr>
              <a:t>Gracias</a:t>
            </a:r>
          </a:p>
        </p:txBody>
      </p:sp>
      <p:sp>
        <p:nvSpPr>
          <p:cNvPr id="3" name="Rectangle 2"/>
          <p:cNvSpPr/>
          <p:nvPr/>
        </p:nvSpPr>
        <p:spPr>
          <a:xfrm>
            <a:off x="777240" y="2377440"/>
            <a:ext cx="118872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2633472"/>
            <a:ext cx="7315200" cy="109728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La caja negra se puede abrir, y abierta calcula igual de bien. EduFEM es software libre, en español, y está disponible para cualquier estudiante sin licencias.</a:t>
            </a:r>
          </a:p>
        </p:txBody>
      </p:sp>
      <p:sp>
        <p:nvSpPr>
          <p:cNvPr id="5" name="Rounded Rectangle 4"/>
          <p:cNvSpPr/>
          <p:nvPr/>
        </p:nvSpPr>
        <p:spPr>
          <a:xfrm>
            <a:off x="731520"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lnSpc>
                <a:spcPct val="100000"/>
              </a:lnSpc>
            </a:pPr>
            <a:r>
              <a:rPr sz="1400" b="1" i="0" lang="es-ES">
                <a:solidFill>
                  <a:srgbClr val="C7D2E8"/>
                </a:solidFill>
                <a:latin typeface="Calibri"/>
              </a:rPr>
              <a:t>Motor verificado y validado</a:t>
            </a:r>
          </a:p>
        </p:txBody>
      </p:sp>
      <p:sp>
        <p:nvSpPr>
          <p:cNvPr id="6" name="Rounded Rectangle 5"/>
          <p:cNvSpPr/>
          <p:nvPr/>
        </p:nvSpPr>
        <p:spPr>
          <a:xfrm>
            <a:off x="3236976"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lnSpc>
                <a:spcPct val="100000"/>
              </a:lnSpc>
            </a:pPr>
            <a:r>
              <a:rPr sz="1400" b="1" i="0" lang="es-ES">
                <a:solidFill>
                  <a:srgbClr val="C7D2E8"/>
                </a:solidFill>
                <a:latin typeface="Calibri"/>
              </a:rPr>
              <a:t>Respuesta expuesta con su procedimiento</a:t>
            </a:r>
          </a:p>
        </p:txBody>
      </p:sp>
      <p:sp>
        <p:nvSpPr>
          <p:cNvPr id="7" name="Rounded Rectangle 6"/>
          <p:cNvSpPr/>
          <p:nvPr/>
        </p:nvSpPr>
        <p:spPr>
          <a:xfrm>
            <a:off x="5742432"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lnSpc>
                <a:spcPct val="100000"/>
              </a:lnSpc>
            </a:pPr>
            <a:r>
              <a:rPr sz="1400" b="1" i="0" lang="es-ES">
                <a:solidFill>
                  <a:srgbClr val="C7D2E8"/>
                </a:solidFill>
                <a:latin typeface="Calibri"/>
              </a:rPr>
              <a:t>Libre, en español, sin licencias</a:t>
            </a:r>
          </a:p>
        </p:txBody>
      </p:sp>
      <p:sp>
        <p:nvSpPr>
          <p:cNvPr id="8" name="TextBox 7"/>
          <p:cNvSpPr txBox="1"/>
          <p:nvPr/>
        </p:nvSpPr>
        <p:spPr>
          <a:xfrm>
            <a:off x="731520" y="5230368"/>
            <a:ext cx="7315200" cy="457200"/>
          </a:xfrm>
          <a:prstGeom prst="rect">
            <a:avLst/>
          </a:prstGeom>
          <a:noFill/>
        </p:spPr>
        <p:txBody>
          <a:bodyPr wrap="square" anchor="t" lIns="45720" tIns="27432" rIns="45720" bIns="27432">
            <a:noAutofit/>
          </a:bodyPr>
          <a:lstStyle/>
          <a:p>
            <a:pPr algn="l">
              <a:lnSpc>
                <a:spcPct val="105000"/>
              </a:lnSpc>
            </a:pPr>
            <a:r>
              <a:rPr sz="2400" b="1" i="0" lang="es-ES">
                <a:solidFill>
                  <a:srgbClr val="FFFFFF"/>
                </a:solidFill>
                <a:latin typeface="Calibri"/>
              </a:rPr>
              <a:t>Hedy Yhassmany Oyola Sucullani</a:t>
            </a:r>
          </a:p>
        </p:txBody>
      </p:sp>
      <p:sp>
        <p:nvSpPr>
          <p:cNvPr id="9" name="TextBox 8"/>
          <p:cNvSpPr txBox="1"/>
          <p:nvPr/>
        </p:nvSpPr>
        <p:spPr>
          <a:xfrm>
            <a:off x="731520" y="5687568"/>
            <a:ext cx="7315200" cy="411480"/>
          </a:xfrm>
          <a:prstGeom prst="rect">
            <a:avLst/>
          </a:prstGeom>
          <a:noFill/>
        </p:spPr>
        <p:txBody>
          <a:bodyPr wrap="square" anchor="t" lIns="45720" tIns="27432" rIns="45720" bIns="27432">
            <a:noAutofit/>
          </a:bodyPr>
          <a:lstStyle/>
          <a:p>
            <a:pPr algn="l">
              <a:lnSpc>
                <a:spcPct val="105000"/>
              </a:lnSpc>
            </a:pPr>
            <a:r>
              <a:rPr sz="1900" b="0" i="0" lang="es-ES">
                <a:solidFill>
                  <a:srgbClr val="F28C28"/>
                </a:solidFill>
                <a:latin typeface="Calibri"/>
              </a:rPr>
              <a:t>github.com/Sucullani/SoftwareED</a:t>
            </a:r>
          </a:p>
        </p:txBody>
      </p:sp>
      <p:pic>
        <p:nvPicPr>
          <p:cNvPr id="10" name="Picture 9" descr="logo_universidad.png"/>
          <p:cNvPicPr>
            <a:picLocks noChangeAspect="1"/>
          </p:cNvPicPr>
          <p:nvPr/>
        </p:nvPicPr>
        <p:blipFill>
          <a:blip r:embed="rId2"/>
          <a:stretch>
            <a:fillRect/>
          </a:stretch>
        </p:blipFill>
        <p:spPr>
          <a:xfrm>
            <a:off x="8883327" y="1051560"/>
            <a:ext cx="2075824" cy="2377440"/>
          </a:xfrm>
          <a:prstGeom prst="rect">
            <a:avLst/>
          </a:prstGeom>
        </p:spPr>
      </p:pic>
      <p:pic>
        <p:nvPicPr>
          <p:cNvPr id="11" name="Picture 10" descr="fig_logo_edufem.png"/>
          <p:cNvPicPr>
            <a:picLocks noChangeAspect="1"/>
          </p:cNvPicPr>
          <p:nvPr/>
        </p:nvPicPr>
        <p:blipFill>
          <a:blip r:embed="rId3"/>
          <a:stretch>
            <a:fillRect/>
          </a:stretch>
        </p:blipFill>
        <p:spPr>
          <a:xfrm>
            <a:off x="8915400" y="3794760"/>
            <a:ext cx="2011680" cy="2011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