
<file path=[Content_Types].xml><?xml version="1.0" encoding="utf-8"?>
<Types xmlns="http://schemas.openxmlformats.org/package/2006/content-types">
  <Default Extension="jpeg" ContentType="image/jpeg"/>
  <Default Extension="mp3" ContentType="audio/m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119652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Buenos días, señores miembros del tribunal. Presento la tesis «Desarrollo de software educativo de elementos finitos para el análisis estructural empleando el lenguaje de programación Python», cuyo producto es EduFEM. La exposición sigue el orden reglamentario: introducción, base teórica, diseño y desarrollo del modelo, presentación y análisis de resultados, y conclusiones y recomendaciones.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Empiezo por la fundamentación: la situación problemática, el problema científico con sus variables, el objeto de estudio y el campo de acción, los objetivos, la hipótesis de diseño y la metodología.</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enseñanza del MEF sufre una brecha doble. Los textos presentan la formulación matricial con rigor pero de manera abstracta, como una cadena algebraica desconectada de la geometría; el desarrollo manual no escala más allá de uno o dos elementos. El software comercial hace lo contrario: recibe geometría, material y cargas y devuelve tensiones ocultando todo lo intermedio. La consecuencia es que el estudiante aprende a operar sin comprender, y no puede diagnosticar un resultado anómalo ni reconocer el bloqueo por cortante o los modos espurios.</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situación problemática es la brecha doble. De ella se formula el problema científico como una única interrogante: cómo debe construirse un software educativo para que exponga de forma transparente, interactiva y numéricamente verificable el canal de cálculo completo del MEF en elasticidad plana, de modo que cada etapa resulte observable y contrastable por el estudiante. El objeto de estudio es técnico —el análisis de medios continuos en elasticidad plana por el MEF— y el campo de acción es su enseñanza. En la nomenclatura de tres variables, el aporte es EduFEM, el atributo manipulado es la forma en que se expone el canal y el efecto esperado es la observabilidad y contrastabilidad del procedimiento.</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El objetivo general es desarrollar, en Python y sobre bibliotecas numéricas de código abierto, EduFEM: un software educativo de escritorio para el MEF en elasticidad lineal plana con elementos Q4 y Q9, que integre la formulación matemática, la construcción y visualización interactiva del modelo y la verificación numérica. Se concreta en seis objetivos específicos: el primero se cumple en el marco teórico; el segundo, tercero, cuarto y sexto en el diseño e implementación; y el quinto en resultados. El cuarto llega hasta el ensamblaje con módulos interactivos y completa las dos últimas etapas en el post-proceso y en la memoria. Volveré a esta tabla al final para mostrar el cumplimiento de cada uno.</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 se plantea una hipótesis estadística sino una hipótesis de diseño: en la investigación tecnológica la hipótesis es la solución tentativa a un problema concreto y su criterio de veracidad es la efectividad en la práctica. Está enunciada en forma condicional y comprobable, con tres cláusulas: las dos primeras numéricas y la tercera de cobertura. Cada una puede resultar falsa: un motor con un error de orden, un Q4 que no bloqueara o una etapa sin exposición la refutarían. Que esa transparencia además apoye el aprendizaje es un supuesto fundamentado en la literatura, que este trabajo no contrasta y deja como recomendación. Por su finalidad la investigación es propositiva; por su naturaleza, aplicada de tipo tecnológico; por el abordaje, cuantitativa; por su nivel, descriptiva y comparativa.</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base teórica sigue el mismo orden que el canal de cálculo del programa: primero los antecedentes, después la cadena que va de la forma fuerte a la recuperación de tensiones.</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Hay tres familias de antecedentes: el análisis de barras, los simuladores de un eslabón aislado del método y las herramientas de propósito general. El antecedente más directo es ED-Elas2D, desarrollado en la Universitat Politècnica de Catalunya, en español y con elementos Q4, Q8 y Q9, pero de licencia no documentada y ligado a la plataforma de su época. La tabla está organizada por atributos —así está en la tesis— y las celdas salen de las publicaciones consultadas: donde la fuente no documenta el atributo dice «no consta», que registra un límite de la revisión y no una carencia del recurso; la raya marca los atributos que no se evalúan para las categorías de propósito general. EduFEM cubre el vacío: libre y abierto, con instalador autocontenido, expone cada matriz sobre el elemento seleccionado, genera una memoria de cálculo trazable y publica su verificación y validación.</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forma fuerte exige continuidad de segundo orden; el principio de los trabajos virtuales la rebaja a primer orden y habilita polinomios a trozos. Sustituyendo la interpolación se llega al sistema K u igual a F. La matriz constitutiva distingue tensión plana, con sigma z nula, de deformación plana, con épsilon z nula, donde aparece el bloqueo volumétrico al acercarse el coeficiente de Poisson a 0,5.</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El elemento isoparamétrico interpola geometría y desplazamientos con la misma familia de funciones de forma. El Jacobiano conecta el cuadrado natural con el elemento real; su inversa construye la matriz B. La rigidez elemental se integra por cuadratura de Gauss, dos por dos en Q4 y tres por tres en Q9, porque el integrando no es polinómico. El sistema global se ensambla en formato disperso y se resuelve por factorización LU; las tensiones se evalúan en los puntos de Gauss, que en Q4 son los de Barlow, se extrapolan a los nodos y se promedian. Es exactamente lo que los módulos M1 a M7 exponen sobre el elemento seleccionado.</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Hay fenómenos numéricos que un alumno solo entiende cuando los ve. El bloqueo por cortante afecta al Q4 en flexión: el campo bilineal no representa la curvatura sin generar corte espurio, el elemento se vuelve rígido y converge lento; en la membrana de Cook con N igual a 8 da 22,079 frente a 23,96. Los modos espurios son el fenómeno inverso, por subintegrar, y EduFEM los evita con integración completa. Decidí no implementar integración reducida selectiva ni B-bar: ofrezco el Q9 y aprovecho el comportamiento del Q4 como recurso didáctico. Una tercera patología, el bloqueo volumétrico en deformación plana, el software la señala pero no la corrige.</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Las tensiones se evalúan en los puntos de la cuadratura con que se integra la rigidez y se llevan a los nodos con la inversa de la matriz de funciones de forma evaluada en esos puntos, que en el Q4 tiene forma cerrada con los coeficientes que ven en pantalla; después se promedian entre los elementos que comparten cada nodo. La numeración de los puntos de Gauss no es un detalle: permutarla permuta las columnas de la matriz de extrapolación y corrompe las tensiones nodales sin alterar los desplazamientos, así que el motor la construye invirtiendo numéricamente con sus propios puntos y una prueba comprueba que reproduce exactamente los campos polinómicos. El orden de convergencia de esta secuencia no se toma de la literatura: se mide. En cuanto a la verificación, el método de soluciones manufacturadas elige la solución de antemano, deduce la fuerza de volumen y mide el error con las normas L dos y H uno. Verificar es comprobar que las ecuaciones se resuelven bien; validar, que representan la realidad; la validación frente a mediciones físicas queda fuera del alcance.</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Este bloque tiene dos partes: cómo se diseñó la investigación, con su modelo de simulación numérica, variables, matriz de consistencia y criterios de aceptación; y cómo se construyó el software. Cierra con una demostración en vivo.</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El modelo de investigación es un modelo de simulación numérica: no hay unidades experimentales ni tratamientos aleatorizados. La primera fila operacionaliza las variables del propio problema científico como atributos del artefacto, con indicadores que se cuentan: etapas del canal con módulo interactivo y con desarrollo numérico en la memoria, fases que comparten el lienzo y formatos con prueba de ida y vuelta. Las demás son las variables del experimento numérico con que se establece la corrección del motor: la independiente es la definición del modelo y las decisiones de discretización; la dependiente, la respuesta estructural y su exactitud frente a referencias, medida con normas, tasas y errores relativos, y ahora también con el residuo de equilibrio. El tipo de análisis y el orden de cuadratura se mantienen controlados, y el desempeño del solucionador se registra sin criterio de aceptación.</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matriz de consistencia traza cada objetivo específico con su pregunta de investigación, su indicador, su instrumento y la evidencia en el documento. El primer objetivo es transversal porque fundamenta las tres preguntas. El sexto responde a PI-2 en su parte principal: la memoria de cálculo es la forma escrita en que el canal se expone de manera transparente y contrastable, y su cobertura se cuenta con el mismo indicador que la de los módulos; la interoperabilidad de datos es su complemento instrumental y se verifica por ida y vuelta.</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Cada caso sigue el mismo procedimiento. Un guion construye la malla y define material, cargas y apoyos; el validador de salud comprueba la consistencia de los datos antes de resolver; el sistema se ensambla y se resuelve con las mismas funciones del motor que consumen los módulos y la memoria, lo que garantiza que lo que el alumno ve explicado es lo que el programa calcula; y las normas de error se integran con un punto de Gauss más por dirección que la rigidez, para no subestimar el error. Los casos se eligieron por valor probatorio, no como muestra estadística: el MMS aporta una solución exacta y ejercita la fuerza de volumen, las restricciones no homogéneas y ambas matrices constitutivas; la viga de Timoshenko aporta las dos referencias externas y es un contraste puntual sobre una malla fina, no un estudio de convergencia; y la membrana de Cook ejercita la distorsión trapezoidal bajo flexión. Queda declarada una excepción: la carga superficial linealmente variable no interviene en ningún caso de referencia.</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Los criterios de aceptación están fijados de antemano en los propios guiones, que terminan con error si alguno falla, de modo que la verificación no se ajusta a posteriori. Hay criterios para el motor —tasas, errores en tensión y flecha, equilibrio de reacciones y la cota empírica de la tasa del campo de tensiones recuperado, que se declara como tal porque su tasa teórica no está establecida para esta secuencia— y criterios para los atributos del artefacto: siete de siete etapas con módulo, nueve de nueve con desarrollo numérico en la memoria, tres fases sobre un mismo lienzo y formatos que sobreviven la ida y vuelta. Así la hipótesis se contrasta cláusula por cláusula.</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Cuatro requisitos gobernaron el diseño: orientación educativa, español con terminología canónica, primacía de lo visual e independencia tecnológica. La arquitectura es un modelo-vista-controlador en seis capas alrededor del ProjectModel. Una decisión crítica separa la identidad pública del nodo, que puede tener huecos como 1, 5 y 50 tras borrar, del índice ordinal que fija sus grados de libertad. Se distribuye con PyInstaller e Inno Setup, con un TeX Live reducido embebido, sin instalar Python.</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El modelo se construye en cinco tablas o dibujando sobre el lienzo, que es el mismo en las tres fases. Cada acción del usuario captura una instantánea, lo que hace todo reversible. Antes de resolver, el validador de salud aplica veintidós chequeos: trece errores críticos que bloquean el cálculo, ocho advertencias y uno de información. La calidad de malla usa las métricas de la biblioteca Verdict, el Jacobiano escalado y la relación de aspecto; EduFEM eleva el corte del Jacobiano escalado de cero coma treinta a cero coma cincuenta por prudencia pedagógica. La importación DXF es idempotente y fuerza la orientación antihoraria.</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Los ocho módulos recorren el canal del MEF en su orden canónico. Cada uno es una capa superpuesta al lienzo: un panel flotante más una iluminación sobre la malla real, con selección de un solo clic sobre el elemento. M0 colorea por calidad y deja distorsionar un vértice; M5 permite agregar o quitar puntos de Gauss; M7 resalta las filas y columnas de K que recibe cada elemento. Solo una capa está activa a la vez. La recuperación de tensiones no tiene módulo propio: la exponen el post-proceso, con la sonda y la vista 3D, y la memoria de cálculo.</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Tomo M5 como ejemplo representativo. A la izquierda, el elemento real con sus puntos de Gauss iluminados y los ejes naturales; a la derecha, el salto de la integral, irresoluble a mano, a la suma de cuadratura, y la matriz de rigidez que crece al sumar cada punto. El conmutador Fórmula–Valores muestra la expresión simbólica o su evaluación numérica en el punto elegido.</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Resuelto el sistema, los resultados se presentan sobre el mismo lienzo. El campo se dibuja como contorno con interpolación de Gouraud y se puede superponer la malla deformada con un factor de escala. La sonda puntual localiza cualquier punto dentro de su elemento por mapeo inverso y abre un panel con las componentes cartesianas, las tensiones principales y la de von Mises, junto con un círculo de Mohr. Una vista tridimensional muestra el campo como superficie, cruda o suavizada por promediado nodal. La paleta jet se eligió a sabiendas de sus limitaciones perceptuales porque es la que el alumno encontrará en el software profesional.</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El sexto objetivo se cumple con la memoria de cálculo automática: pylatex compone y pdflatex compila un PDF con sustitución numérica paso a paso sobre el modelo del propio usuario, en estilo educativo o directo. El Anexo G la desarrolla sobre el ejemplo canónico de nueve nodos y cuatro Q4, con E igual a 225000, Poisson 0,2, espesor 0,8 y una carga de 1000 en el nodo 7: matriz D, rigidez del elemento 3 en el punto de Gauss, ensamblaje de K de 18 por 18, partición, reacciones que equilibran exactamente la carga y recuperación de tensiones. Las cifras son salida bit-exacta del motor. Completan el objetivo el formato .edufem, los CSV en ZIP y la importación DXF.</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Paso ahora al software. Cargo el ejemplo canónico, abro el módulo M5 sobre un elemento y muestro cómo cambia la rigidez con los puntos de Gauss. Luego resuelvo con F5, recorro el contorno de von Mises, sondeo un punto con el círculo de Mohr y exporto la memoria de cálculo en PDF. Todo ocurre sobre el mismo lienzo.</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Presento los datos de la batería de verificación y validación, reproducibles con los tres guiones del repositorio.</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solución manufacturada se impone como restricciones de Dirichlet y su término fuente como fuerza de volumen. En escala doble logarítmica la pendiente de cada recta es el orden de convergencia. El Q4 alcanza orden dos en L² y uno en H¹; el Q9, tres y dos, como predice la teoría; el campo de tensiones recuperado converge a 1,54 y 2,00. Las mallas distorsionadas y la deformación plana dan las mismas tasas. Un detalle de honestidad metodológica: la matriz de extrapolación del Q4 tuvo un defecto de numeración de puntos de Gauss invisible a estas normas; se detectó al inspeccionar la memoria de cálculo del ejemplo canónico y hoy una prueba de regresión exige reproducir exactamente campos polinómicos.</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Además de la exactitud, el modelo de datos no debe derivar. Convertir la malla a Q9 y volver a Q4 deja los desplazamientos con diferencias menores a diez a la menos nueve. Usar identificadores de nodo con huecos da lo mismo que usar identificadores contiguos, lo que valida el esquema de indexación de grados de libertad. El ejemplo canónico exportado a CSV y reimportado reproduce los desplazamientos con diferencia menor a diez a la menos doce. Y el DXF de ejemplo entra como seis elementos y doce nodos compartidos; al reimportarlo no crea nada nuevo.</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viga es de hormigón, con módulo obtenido de la correlación del ACI para f'c de 210 kilogramos por centímetro cuadrado; el valor concreto del módulo no condiciona la validación, porque los errores relativos son invariantes ante su escala. Se resolvió con una única malla Q9 de 56 por 8, y las referencias son la solución analítica de Timoshenko y Goodier y un modelo de cáscara equivalente en SAP2000. El error en la tensión normal es de cuatro centésimas de por ciento frente al analítico y de dos décimas frente a SAP2000; en la flecha, de veintiséis centésimas. Las componentes secundarias tienen errores relativos mayores porque su magnitud es entre seis y treinta y cinco veces menor, de modo que un mismo error absoluto pesa mucho más. La formulación de cáscara de SAP2000 no coincide exactamente con el continuo plano de EduFEM, así que las diferencias entre ambos no miden la superioridad de ninguno. La suma de reacciones equilibra la carga total a precisión de máquina.</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membrana de Cook es un trapecio empotrado con carga tangencial unitaria en el extremo libre, material adimensional y referencia 23,96, que es un límite de convergencia con incertidumbre del orden del 0,05 %; la extrapolación de Richardson de la propia secuencia Q9 apunta a 23,97. En la malla más gruesa el Q4 subestima más del 50 % y con 2178 GDL todavía conserva un −0,594 %. El Q9 con N igual a 8 ya cumple el criterio del 1,5 % y con 2178 GDL queda dentro de la incertidumbre de la referencia.</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Los atributos del artefacto también son resultados, y se reportan con los mismos indicadores que la tabla de variables. De las nueve etapas del canal de cálculo, las siete primeras —del mapeo isoparamétrico al ensamblaje— tienen módulo interactivo propio, y las nueve tienen desarrollo con sustitución numérica en la memoria de cálculo. La solución del sistema y la recuperación de tensiones, que no tienen módulo, se exponen además en el post-proceso, con la sonda puntual en sus modos crudo y suavizado, la vista tridimensional y la tabla de resultados. La figura muestra las tres fases trabajando sobre el mismo lienzo y el mismo modelo: arriba el pre-proceso dibujando un elemento, en el medio el módulo de la matriz B desplegado sobre el elemento seleccionado, y abajo el post-proceso con el contorno de von Mises, las reacciones y el círculo de Mohr del nodo. Con esto queda cumplido el criterio de cobertura fijado a priori.</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Ahora interpreto: qué significan esas cifras para las preguntas de investigación y hasta dónde llega la evidencia.</a:t>
            </a: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comparación justa es a igualdad de grados de libertad. Con 2178 GDL, el Q4 conserva un error de −0,594 % y el Q9 de −0,044 %: trece veces, un orden de magnitud a favor del elemento de mayor orden, y la incertidumbre de la referencia solo afecta a la tercera cifra del error del Q9. Esto es lo que el estudiante puede reproducir en el software cargando el ejemplo de Cook en Q4 y en Q9, y responde la tercera pregunta de investigación.</a:t>
            </a:r>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transparencia no se pagó con lentitud. En un equipo de escritorio con procesador de 2012, con el motor vectorizado por lotes en NumPy puro, la malla más exigente de las validaciones, 8450 GDL, se ensambla y resuelve en menos de dos décimas de segundo, y más de 33 000 GDL en menos de un segundo. A ese tamaño la matriz densa pediría cerca de 8,9 gigabytes y la dispersa menos de 13 megabytes. El ordenamiento de mínimo grado reduce el tiempo de factorización y solución entre 1,7 y 2,9 veces frente a COLAMD; el Cuthill-McKee inverso se evaluó y descartó porque solo ganaba del 7 al 19 % por encima de unos ocho mil GDL. Sobre el alcance: las magnitudes primarias quedan por debajo del 0,3 % frente al analítico y del 0,6 % frente a SAP2000; en la componente cortante la cáscara de SAP2000 queda más cerca del analítico, 0,16 %. Frente al software comercial EduFEM no compite en cobertura: su valor es la transparencia del canal. El bloqueo por cortante se muestra, no se mitiga, y no hay validación frente a mediciones físicas.</a:t>
            </a:r>
          </a:p>
        </p:txBody>
      </p:sp>
      <p:sp>
        <p:nvSpPr>
          <p:cNvPr id="4" name="Slide Number Placeholder 3"/>
          <p:cNvSpPr>
            <a:spLocks noGrp="1"/>
          </p:cNvSpPr>
          <p:nvPr>
            <p:ph type="sldNum" sz="quarter" idx="5"/>
          </p:nvPr>
        </p:nvSpPr>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Cierro con el cumplimiento de cada objetivo, la hipótesis, las limitaciones asumidas y las recomendaciones.</a:t>
            </a:r>
          </a:p>
        </p:txBody>
      </p:sp>
      <p:sp>
        <p:nvSpPr>
          <p:cNvPr id="4" name="Slide Number Placeholder 3"/>
          <p:cNvSpPr>
            <a:spLocks noGrp="1"/>
          </p:cNvSpPr>
          <p:nvPr>
            <p:ph type="sldNum" sz="quarter" idx="5"/>
          </p:nvPr>
        </p:nvSpPr>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Los seis objetivos específicos se cumplieron en los términos en que fueron enunciados. El primero es el fundamento del trabajo y no un resultado medido: lo que los resultados comprueban es que el motor construido sobre esa base se comporta como la teoría predice. El cuarto se cumplió con módulos hasta el ensamblaje y con las dos últimas etapas expuestas en el post-proceso y en la memoria. Con los seis específicos queda cumplido el objetivo general.</a:t>
            </a:r>
          </a:p>
        </p:txBody>
      </p:sp>
      <p:sp>
        <p:nvSpPr>
          <p:cNvPr id="4" name="Slide Number Placeholder 3"/>
          <p:cNvSpPr>
            <a:spLocks noGrp="1"/>
          </p:cNvSpPr>
          <p:nvPr>
            <p:ph type="sldNum" sz="quarter" idx="5"/>
          </p:nvPr>
        </p:nvSpPr>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hipótesis se contrasta cláusula por cláusula. La cláusula (a) queda confirmada con las tasas del MMS y los errores frente a Timoshenko y SAP2000, dentro de los umbrales del uno y del tres por ciento fijados de antemano. La cláusula (b), con la membrana de Cook, que reproduce el bloqueo del Q4 frente a la convergencia del Q9. La cláusula (c), con la cobertura contada: siete de siete etapas con módulo, nueve de nueve en la memoria, tres fases sobre un mismo lienzo y formatos que superan la ida y vuelta. Con ello quedan respondidas las tres preguntas de investigación y el problema científico. El supuesto de que esa observabilidad apoya el aprendizaje no se contrastó: medirlo con grupos y pruebas de conocimiento excede este trabajo.</a:t>
            </a:r>
          </a:p>
        </p:txBody>
      </p:sp>
      <p:sp>
        <p:nvSpPr>
          <p:cNvPr id="4" name="Slide Number Placeholder 3"/>
          <p:cNvSpPr>
            <a:spLocks noGrp="1"/>
          </p:cNvSpPr>
          <p:nvPr>
            <p:ph type="sldNum" sz="quarter" idx="5"/>
          </p:nvPr>
        </p:nvSpPr>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Las fronteras se fijaron a priori en la introducción, y a ellas se suman las que el desarrollo y los resultados pusieron de manifiesto: la cobertura por módulos interactivos llega hasta el ensamblaje; el Q4 arrastra el bloqueo por cortante, que la herramienta ilustra deliberadamente pero no mitiga, y en deformación plana la matriz constitutiva degenera cuando el coeficiente de Poisson se acerca a un medio; el solucionador directo es eficiente hasta decenas de miles de grados de libertad, pero no en mallas masivas; la validación descansa en tres casos de referencia y en un único caso con material de ingeniería civil, y la carga superficial linealmente variable no tiene contraste externo. Finalmente, las conclusiones sobre la utilidad didáctica son de carácter cualitativo y basadas en el diseño.</a:t>
            </a:r>
          </a:p>
        </p:txBody>
      </p:sp>
      <p:sp>
        <p:nvSpPr>
          <p:cNvPr id="4" name="Slide Number Placeholder 3"/>
          <p:cNvSpPr>
            <a:spLocks noGrp="1"/>
          </p:cNvSpPr>
          <p:nvPr>
            <p:ph type="sldNum" sz="quarter" idx="5"/>
          </p:nvPr>
        </p:nvSpPr>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Las recomendaciones están ordenadas por capítulo. Sobre la formulación: incorporar técnicas de tratamiento del bloqueo —integración reducida selectiva o B-bar—, que además habilitarían un módulo educativo que contraste el comportamiento bloqueado y el corregido sobre un mismo modelo, y ampliar la biblioteca de elementos. Sobre el software: una factorización de Cholesky, aplicable porque la matriz reducida es simétrica y definida positiva; un solucionador iterativo precondicionado para problemas de gran porte; la extensión a tres dimensiones; y un generador de mallas con las métricas del módulo M0 como control. Sobre la evidencia: un caso con carga superficial variable, un caso civil en deformación plana con referencia publicada, y la validación pedagógica con estudiantes, que es la línea más importante para consolidar la finalidad del proyecto.</a:t>
            </a:r>
          </a:p>
        </p:txBody>
      </p:sp>
      <p:sp>
        <p:nvSpPr>
          <p:cNvPr id="4" name="Slide Number Placeholder 3"/>
          <p:cNvSpPr>
            <a:spLocks noGrp="1"/>
          </p:cNvSpPr>
          <p:nvPr>
            <p:ph type="sldNum" sz="quarter" idx="5"/>
          </p:nvPr>
        </p:nvSpPr>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Muchas gracias por su atención. El software, el código fuente y la batería de verificación están disponibles en el repositorio público. Quedo a disposición del tribunal para sus preguntas.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9/16/2026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9/16/2026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9/16/2026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9/16/2026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‹Nº›</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7.xml"/><Relationship Id="rId7" Type="http://schemas.openxmlformats.org/officeDocument/2006/relationships/image" Target="../media/image3.png"/><Relationship Id="rId2" Type="http://schemas.openxmlformats.org/officeDocument/2006/relationships/audio" Target="../media/media1.mp3"/><Relationship Id="rId1" Type="http://schemas.microsoft.com/office/2007/relationships/media" Target="../media/media1.mp3"/><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2.mp3"/><Relationship Id="rId1" Type="http://schemas.microsoft.com/office/2007/relationships/media" Target="../media/media2.mp3"/><Relationship Id="rId5" Type="http://schemas.openxmlformats.org/officeDocument/2006/relationships/image" Target="../media/image3.pn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3.mp3"/><Relationship Id="rId1" Type="http://schemas.microsoft.com/office/2007/relationships/media" Target="../media/media3.mp3"/><Relationship Id="rId5" Type="http://schemas.openxmlformats.org/officeDocument/2006/relationships/image" Target="../media/image3.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4.mp3"/><Relationship Id="rId1" Type="http://schemas.microsoft.com/office/2007/relationships/media" Target="../media/media4.mp3"/><Relationship Id="rId5" Type="http://schemas.openxmlformats.org/officeDocument/2006/relationships/image" Target="../media/image3.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5.mp3"/><Relationship Id="rId1" Type="http://schemas.microsoft.com/office/2007/relationships/media" Target="../media/media5.mp3"/><Relationship Id="rId5" Type="http://schemas.openxmlformats.org/officeDocument/2006/relationships/image" Target="../media/image3.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6.mp3"/><Relationship Id="rId1" Type="http://schemas.microsoft.com/office/2007/relationships/media" Target="../media/media6.mp3"/><Relationship Id="rId5" Type="http://schemas.openxmlformats.org/officeDocument/2006/relationships/image" Target="../media/image3.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7.mp3"/><Relationship Id="rId1" Type="http://schemas.microsoft.com/office/2007/relationships/media" Target="../media/media7.mp3"/><Relationship Id="rId5" Type="http://schemas.openxmlformats.org/officeDocument/2006/relationships/image" Target="../media/image3.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8.mp3"/><Relationship Id="rId1" Type="http://schemas.microsoft.com/office/2007/relationships/media" Target="../media/media8.mp3"/><Relationship Id="rId5" Type="http://schemas.openxmlformats.org/officeDocument/2006/relationships/image" Target="../media/image3.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9.mp3"/><Relationship Id="rId1" Type="http://schemas.microsoft.com/office/2007/relationships/media" Target="../media/media9.mp3"/><Relationship Id="rId5" Type="http://schemas.openxmlformats.org/officeDocument/2006/relationships/image" Target="../media/image3.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10.mp3"/><Relationship Id="rId1" Type="http://schemas.microsoft.com/office/2007/relationships/media" Target="../media/media10.mp3"/><Relationship Id="rId6" Type="http://schemas.openxmlformats.org/officeDocument/2006/relationships/image" Target="../media/image3.png"/><Relationship Id="rId5" Type="http://schemas.openxmlformats.org/officeDocument/2006/relationships/image" Target="../media/image4.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11.mp3"/><Relationship Id="rId1" Type="http://schemas.microsoft.com/office/2007/relationships/media" Target="../media/media11.mp3"/><Relationship Id="rId5" Type="http://schemas.openxmlformats.org/officeDocument/2006/relationships/image" Target="../media/image3.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12.mp3"/><Relationship Id="rId1" Type="http://schemas.microsoft.com/office/2007/relationships/media" Target="../media/media12.mp3"/><Relationship Id="rId5" Type="http://schemas.openxmlformats.org/officeDocument/2006/relationships/image" Target="../media/image3.pn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13.mp3"/><Relationship Id="rId1" Type="http://schemas.microsoft.com/office/2007/relationships/media" Target="../media/media13.mp3"/><Relationship Id="rId5" Type="http://schemas.openxmlformats.org/officeDocument/2006/relationships/image" Target="../media/image3.pn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14.mp3"/><Relationship Id="rId1" Type="http://schemas.microsoft.com/office/2007/relationships/media" Target="../media/media14.mp3"/><Relationship Id="rId5" Type="http://schemas.openxmlformats.org/officeDocument/2006/relationships/image" Target="../media/image3.pn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15.mp3"/><Relationship Id="rId1" Type="http://schemas.microsoft.com/office/2007/relationships/media" Target="../media/media15.mp3"/><Relationship Id="rId5" Type="http://schemas.openxmlformats.org/officeDocument/2006/relationships/image" Target="../media/image3.png"/><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16.mp3"/><Relationship Id="rId1" Type="http://schemas.microsoft.com/office/2007/relationships/media" Target="../media/media16.mp3"/><Relationship Id="rId5" Type="http://schemas.openxmlformats.org/officeDocument/2006/relationships/image" Target="../media/image3.png"/><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17.mp3"/><Relationship Id="rId1" Type="http://schemas.microsoft.com/office/2007/relationships/media" Target="../media/media17.mp3"/><Relationship Id="rId5" Type="http://schemas.openxmlformats.org/officeDocument/2006/relationships/image" Target="../media/image3.png"/><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18.mp3"/><Relationship Id="rId1" Type="http://schemas.microsoft.com/office/2007/relationships/media" Target="../media/media18.mp3"/><Relationship Id="rId6" Type="http://schemas.openxmlformats.org/officeDocument/2006/relationships/image" Target="../media/image3.png"/><Relationship Id="rId5" Type="http://schemas.openxmlformats.org/officeDocument/2006/relationships/image" Target="../media/image5.png"/><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19.mp3"/><Relationship Id="rId1" Type="http://schemas.microsoft.com/office/2007/relationships/media" Target="../media/media19.mp3"/><Relationship Id="rId6" Type="http://schemas.openxmlformats.org/officeDocument/2006/relationships/image" Target="../media/image3.png"/><Relationship Id="rId5" Type="http://schemas.openxmlformats.org/officeDocument/2006/relationships/image" Target="../media/image6.png"/><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20.mp3"/><Relationship Id="rId1" Type="http://schemas.microsoft.com/office/2007/relationships/media" Target="../media/media20.mp3"/><Relationship Id="rId5" Type="http://schemas.openxmlformats.org/officeDocument/2006/relationships/image" Target="../media/image3.png"/><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21.mp3"/><Relationship Id="rId1" Type="http://schemas.microsoft.com/office/2007/relationships/media" Target="../media/media21.mp3"/><Relationship Id="rId6" Type="http://schemas.openxmlformats.org/officeDocument/2006/relationships/image" Target="../media/image3.png"/><Relationship Id="rId5" Type="http://schemas.openxmlformats.org/officeDocument/2006/relationships/image" Target="../media/image7.png"/><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22.mp3"/><Relationship Id="rId1" Type="http://schemas.microsoft.com/office/2007/relationships/media" Target="../media/media22.mp3"/><Relationship Id="rId6" Type="http://schemas.openxmlformats.org/officeDocument/2006/relationships/image" Target="../media/image3.png"/><Relationship Id="rId5" Type="http://schemas.openxmlformats.org/officeDocument/2006/relationships/image" Target="../media/image8.png"/><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23.mp3"/><Relationship Id="rId1" Type="http://schemas.microsoft.com/office/2007/relationships/media" Target="../media/media23.mp3"/><Relationship Id="rId5" Type="http://schemas.openxmlformats.org/officeDocument/2006/relationships/image" Target="../media/image3.png"/><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24.mp3"/><Relationship Id="rId1" Type="http://schemas.microsoft.com/office/2007/relationships/media" Target="../media/media24.mp3"/><Relationship Id="rId6" Type="http://schemas.openxmlformats.org/officeDocument/2006/relationships/image" Target="../media/image3.png"/><Relationship Id="rId5" Type="http://schemas.openxmlformats.org/officeDocument/2006/relationships/image" Target="../media/image9.png"/><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25.mp3"/><Relationship Id="rId1" Type="http://schemas.microsoft.com/office/2007/relationships/media" Target="../media/media25.mp3"/><Relationship Id="rId5" Type="http://schemas.openxmlformats.org/officeDocument/2006/relationships/image" Target="../media/image3.png"/><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26.mp3"/><Relationship Id="rId1" Type="http://schemas.microsoft.com/office/2007/relationships/media" Target="../media/media26.mp3"/><Relationship Id="rId6" Type="http://schemas.openxmlformats.org/officeDocument/2006/relationships/image" Target="../media/image3.png"/><Relationship Id="rId5" Type="http://schemas.openxmlformats.org/officeDocument/2006/relationships/image" Target="../media/image10.png"/><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27.mp3"/><Relationship Id="rId1" Type="http://schemas.microsoft.com/office/2007/relationships/media" Target="../media/media27.mp3"/><Relationship Id="rId5" Type="http://schemas.openxmlformats.org/officeDocument/2006/relationships/image" Target="../media/image3.png"/><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28.mp3"/><Relationship Id="rId1" Type="http://schemas.microsoft.com/office/2007/relationships/media" Target="../media/media28.mp3"/><Relationship Id="rId6" Type="http://schemas.openxmlformats.org/officeDocument/2006/relationships/image" Target="../media/image3.png"/><Relationship Id="rId5" Type="http://schemas.openxmlformats.org/officeDocument/2006/relationships/image" Target="../media/image11.png"/><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29.mp3"/><Relationship Id="rId1" Type="http://schemas.microsoft.com/office/2007/relationships/media" Target="../media/media29.mp3"/><Relationship Id="rId5" Type="http://schemas.openxmlformats.org/officeDocument/2006/relationships/image" Target="../media/image3.png"/><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30.mp3"/><Relationship Id="rId1" Type="http://schemas.microsoft.com/office/2007/relationships/media" Target="../media/media30.mp3"/><Relationship Id="rId6" Type="http://schemas.openxmlformats.org/officeDocument/2006/relationships/image" Target="../media/image3.png"/><Relationship Id="rId5" Type="http://schemas.openxmlformats.org/officeDocument/2006/relationships/image" Target="../media/image12.png"/><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31.mp3"/><Relationship Id="rId1" Type="http://schemas.microsoft.com/office/2007/relationships/media" Target="../media/media31.mp3"/><Relationship Id="rId5" Type="http://schemas.openxmlformats.org/officeDocument/2006/relationships/image" Target="../media/image3.png"/><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32.mp3"/><Relationship Id="rId1" Type="http://schemas.microsoft.com/office/2007/relationships/media" Target="../media/media32.mp3"/><Relationship Id="rId6" Type="http://schemas.openxmlformats.org/officeDocument/2006/relationships/image" Target="../media/image3.png"/><Relationship Id="rId5" Type="http://schemas.openxmlformats.org/officeDocument/2006/relationships/image" Target="../media/image13.png"/><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33.mp3"/><Relationship Id="rId1" Type="http://schemas.microsoft.com/office/2007/relationships/media" Target="../media/media33.mp3"/><Relationship Id="rId5" Type="http://schemas.openxmlformats.org/officeDocument/2006/relationships/image" Target="../media/image3.png"/><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34.mp3"/><Relationship Id="rId1" Type="http://schemas.microsoft.com/office/2007/relationships/media" Target="../media/media34.mp3"/><Relationship Id="rId5" Type="http://schemas.openxmlformats.org/officeDocument/2006/relationships/image" Target="../media/image3.png"/><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35.mp3"/><Relationship Id="rId1" Type="http://schemas.microsoft.com/office/2007/relationships/media" Target="../media/media35.mp3"/><Relationship Id="rId5" Type="http://schemas.openxmlformats.org/officeDocument/2006/relationships/image" Target="../media/image3.png"/><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36.mp3"/><Relationship Id="rId1" Type="http://schemas.microsoft.com/office/2007/relationships/media" Target="../media/media36.mp3"/><Relationship Id="rId5" Type="http://schemas.openxmlformats.org/officeDocument/2006/relationships/image" Target="../media/image3.png"/><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37.mp3"/><Relationship Id="rId1" Type="http://schemas.microsoft.com/office/2007/relationships/media" Target="../media/media37.mp3"/><Relationship Id="rId5" Type="http://schemas.openxmlformats.org/officeDocument/2006/relationships/image" Target="../media/image3.png"/><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38.mp3"/><Relationship Id="rId1" Type="http://schemas.microsoft.com/office/2007/relationships/media" Target="../media/media38.mp3"/><Relationship Id="rId5" Type="http://schemas.openxmlformats.org/officeDocument/2006/relationships/image" Target="../media/image3.png"/><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3" Type="http://schemas.openxmlformats.org/officeDocument/2006/relationships/slideLayout" Target="../slideLayouts/slideLayout7.xml"/><Relationship Id="rId7" Type="http://schemas.openxmlformats.org/officeDocument/2006/relationships/image" Target="../media/image3.png"/><Relationship Id="rId2" Type="http://schemas.openxmlformats.org/officeDocument/2006/relationships/audio" Target="../media/media39.mp3"/><Relationship Id="rId1" Type="http://schemas.microsoft.com/office/2007/relationships/media" Target="../media/media39.mp3"/><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notesSlide" Target="../notesSlides/notesSlide39.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8275320" y="0"/>
            <a:ext cx="3916375" cy="6858000"/>
          </a:xfrm>
          <a:prstGeom prst="rect">
            <a:avLst/>
          </a:prstGeom>
          <a:solidFill>
            <a:srgbClr val="0E18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Rectangle 2"/>
          <p:cNvSpPr/>
          <p:nvPr/>
        </p:nvSpPr>
        <p:spPr>
          <a:xfrm>
            <a:off x="8275320" y="0"/>
            <a:ext cx="54864" cy="685800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4" name="Picture 3" descr="logo_universidad.png"/>
          <p:cNvPicPr>
            <a:picLocks noChangeAspect="1"/>
          </p:cNvPicPr>
          <p:nvPr/>
        </p:nvPicPr>
        <p:blipFill>
          <a:blip r:embed="rId5"/>
          <a:stretch>
            <a:fillRect/>
          </a:stretch>
        </p:blipFill>
        <p:spPr>
          <a:xfrm>
            <a:off x="9303167" y="685800"/>
            <a:ext cx="1876225" cy="2148840"/>
          </a:xfrm>
          <a:prstGeom prst="rect">
            <a:avLst/>
          </a:prstGeom>
        </p:spPr>
      </p:pic>
      <p:sp>
        <p:nvSpPr>
          <p:cNvPr id="5" name="Rectangle 4"/>
          <p:cNvSpPr/>
          <p:nvPr/>
        </p:nvSpPr>
        <p:spPr>
          <a:xfrm>
            <a:off x="9692640" y="3127248"/>
            <a:ext cx="1097280" cy="41148"/>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6" name="Picture 5" descr="fig_logo_edufem.png"/>
          <p:cNvPicPr>
            <a:picLocks noChangeAspect="1"/>
          </p:cNvPicPr>
          <p:nvPr/>
        </p:nvPicPr>
        <p:blipFill>
          <a:blip r:embed="rId6"/>
          <a:stretch>
            <a:fillRect/>
          </a:stretch>
        </p:blipFill>
        <p:spPr>
          <a:xfrm>
            <a:off x="9349740" y="3520440"/>
            <a:ext cx="1783080" cy="1783080"/>
          </a:xfrm>
          <a:prstGeom prst="rect">
            <a:avLst/>
          </a:prstGeom>
        </p:spPr>
      </p:pic>
      <p:sp>
        <p:nvSpPr>
          <p:cNvPr id="7" name="TextBox 6"/>
          <p:cNvSpPr txBox="1"/>
          <p:nvPr/>
        </p:nvSpPr>
        <p:spPr>
          <a:xfrm>
            <a:off x="8275320" y="5349240"/>
            <a:ext cx="3916375" cy="457200"/>
          </a:xfrm>
          <a:prstGeom prst="rect">
            <a:avLst/>
          </a:prstGeom>
          <a:noFill/>
        </p:spPr>
        <p:txBody>
          <a:bodyPr wrap="square" lIns="45720" tIns="27432" rIns="45720" bIns="27432" anchor="t">
            <a:noAutofit/>
          </a:bodyPr>
          <a:lstStyle/>
          <a:p>
            <a:pPr algn="ctr">
              <a:lnSpc>
                <a:spcPct val="105000"/>
              </a:lnSpc>
            </a:pPr>
            <a:r>
              <a:rPr lang="es-ES" sz="2600" b="1" i="0">
                <a:solidFill>
                  <a:srgbClr val="FFFFFF"/>
                </a:solidFill>
                <a:latin typeface="Calibri"/>
              </a:rPr>
              <a:t>EduFEM</a:t>
            </a:r>
          </a:p>
        </p:txBody>
      </p:sp>
      <p:sp>
        <p:nvSpPr>
          <p:cNvPr id="8" name="TextBox 7"/>
          <p:cNvSpPr txBox="1"/>
          <p:nvPr/>
        </p:nvSpPr>
        <p:spPr>
          <a:xfrm>
            <a:off x="8595360" y="5779008"/>
            <a:ext cx="3276295" cy="731520"/>
          </a:xfrm>
          <a:prstGeom prst="rect">
            <a:avLst/>
          </a:prstGeom>
          <a:noFill/>
        </p:spPr>
        <p:txBody>
          <a:bodyPr wrap="square" lIns="45720" tIns="27432" rIns="45720" bIns="27432" anchor="t">
            <a:noAutofit/>
          </a:bodyPr>
          <a:lstStyle/>
          <a:p>
            <a:pPr algn="ctr">
              <a:lnSpc>
                <a:spcPct val="105000"/>
              </a:lnSpc>
            </a:pPr>
            <a:r>
              <a:rPr lang="es-ES" sz="1300" b="0" i="0">
                <a:solidFill>
                  <a:srgbClr val="C7D2E8"/>
                </a:solidFill>
                <a:latin typeface="Calibri"/>
              </a:rPr>
              <a:t>Software educativo de elementos finitos</a:t>
            </a:r>
          </a:p>
        </p:txBody>
      </p:sp>
      <p:sp>
        <p:nvSpPr>
          <p:cNvPr id="9" name="Rectangle 8"/>
          <p:cNvSpPr/>
          <p:nvPr/>
        </p:nvSpPr>
        <p:spPr>
          <a:xfrm>
            <a:off x="0" y="0"/>
            <a:ext cx="8275320" cy="27432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Rectangle 9"/>
          <p:cNvSpPr/>
          <p:nvPr/>
        </p:nvSpPr>
        <p:spPr>
          <a:xfrm>
            <a:off x="0" y="274320"/>
            <a:ext cx="8275320" cy="4572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731520" y="566928"/>
            <a:ext cx="7223760" cy="310896"/>
          </a:xfrm>
          <a:prstGeom prst="rect">
            <a:avLst/>
          </a:prstGeom>
          <a:noFill/>
        </p:spPr>
        <p:txBody>
          <a:bodyPr wrap="square" lIns="45720" tIns="27432" rIns="45720" bIns="27432" anchor="ctr">
            <a:noAutofit/>
          </a:bodyPr>
          <a:lstStyle/>
          <a:p>
            <a:pPr algn="l">
              <a:lnSpc>
                <a:spcPct val="105000"/>
              </a:lnSpc>
            </a:pPr>
            <a:r>
              <a:rPr lang="es-ES" sz="1300" b="1" i="0" spc="140">
                <a:solidFill>
                  <a:srgbClr val="F28C28"/>
                </a:solidFill>
                <a:latin typeface="Calibri"/>
              </a:rPr>
              <a:t>DEFENSA DE TESIS</a:t>
            </a:r>
          </a:p>
        </p:txBody>
      </p:sp>
      <p:sp>
        <p:nvSpPr>
          <p:cNvPr id="12" name="TextBox 11"/>
          <p:cNvSpPr txBox="1"/>
          <p:nvPr/>
        </p:nvSpPr>
        <p:spPr>
          <a:xfrm>
            <a:off x="731520" y="914400"/>
            <a:ext cx="7223760" cy="384048"/>
          </a:xfrm>
          <a:prstGeom prst="rect">
            <a:avLst/>
          </a:prstGeom>
          <a:noFill/>
        </p:spPr>
        <p:txBody>
          <a:bodyPr wrap="square" lIns="45720" tIns="27432" rIns="45720" bIns="27432" anchor="t">
            <a:noAutofit/>
          </a:bodyPr>
          <a:lstStyle/>
          <a:p>
            <a:pPr algn="l">
              <a:lnSpc>
                <a:spcPct val="105000"/>
              </a:lnSpc>
            </a:pPr>
            <a:r>
              <a:rPr lang="es-ES" sz="1900" b="1" i="0">
                <a:solidFill>
                  <a:srgbClr val="1B2A4A"/>
                </a:solidFill>
                <a:latin typeface="Calibri"/>
              </a:rPr>
              <a:t>UNIVERSIDAD AUTÓNOMA «TOMÁS FRÍAS»</a:t>
            </a:r>
          </a:p>
        </p:txBody>
      </p:sp>
      <p:sp>
        <p:nvSpPr>
          <p:cNvPr id="13" name="TextBox 12"/>
          <p:cNvSpPr txBox="1"/>
          <p:nvPr/>
        </p:nvSpPr>
        <p:spPr>
          <a:xfrm>
            <a:off x="731520" y="1298448"/>
            <a:ext cx="7223760" cy="310896"/>
          </a:xfrm>
          <a:prstGeom prst="rect">
            <a:avLst/>
          </a:prstGeom>
          <a:noFill/>
        </p:spPr>
        <p:txBody>
          <a:bodyPr wrap="square" lIns="45720" tIns="27432" rIns="45720" bIns="27432" anchor="t">
            <a:noAutofit/>
          </a:bodyPr>
          <a:lstStyle/>
          <a:p>
            <a:pPr algn="l">
              <a:lnSpc>
                <a:spcPct val="105000"/>
              </a:lnSpc>
            </a:pPr>
            <a:r>
              <a:rPr lang="es-ES" sz="1400" b="1" i="0">
                <a:solidFill>
                  <a:srgbClr val="5B6575"/>
                </a:solidFill>
                <a:latin typeface="Calibri"/>
              </a:rPr>
              <a:t>FACULTAD DE INGENIERÍA</a:t>
            </a:r>
          </a:p>
        </p:txBody>
      </p:sp>
      <p:sp>
        <p:nvSpPr>
          <p:cNvPr id="14" name="TextBox 13"/>
          <p:cNvSpPr txBox="1"/>
          <p:nvPr/>
        </p:nvSpPr>
        <p:spPr>
          <a:xfrm>
            <a:off x="731520" y="1572768"/>
            <a:ext cx="7223760" cy="310896"/>
          </a:xfrm>
          <a:prstGeom prst="rect">
            <a:avLst/>
          </a:prstGeom>
          <a:noFill/>
        </p:spPr>
        <p:txBody>
          <a:bodyPr wrap="square" lIns="45720" tIns="27432" rIns="45720" bIns="27432" anchor="t">
            <a:noAutofit/>
          </a:bodyPr>
          <a:lstStyle/>
          <a:p>
            <a:pPr algn="l">
              <a:lnSpc>
                <a:spcPct val="105000"/>
              </a:lnSpc>
            </a:pPr>
            <a:r>
              <a:rPr lang="es-ES" sz="1400" b="1" i="0">
                <a:solidFill>
                  <a:srgbClr val="5B6575"/>
                </a:solidFill>
                <a:latin typeface="Calibri"/>
              </a:rPr>
              <a:t>CARRERA DE INGENIERÍA CIVIL</a:t>
            </a:r>
          </a:p>
        </p:txBody>
      </p:sp>
      <p:sp>
        <p:nvSpPr>
          <p:cNvPr id="15" name="Rectangle 14"/>
          <p:cNvSpPr/>
          <p:nvPr/>
        </p:nvSpPr>
        <p:spPr>
          <a:xfrm>
            <a:off x="749808" y="2029968"/>
            <a:ext cx="1051560" cy="50292"/>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731520" y="2240280"/>
            <a:ext cx="7223760" cy="1965960"/>
          </a:xfrm>
          <a:prstGeom prst="rect">
            <a:avLst/>
          </a:prstGeom>
          <a:noFill/>
        </p:spPr>
        <p:txBody>
          <a:bodyPr wrap="square" lIns="45720" tIns="27432" rIns="45720" bIns="27432" anchor="t">
            <a:noAutofit/>
          </a:bodyPr>
          <a:lstStyle/>
          <a:p>
            <a:pPr algn="l">
              <a:lnSpc>
                <a:spcPct val="108000"/>
              </a:lnSpc>
            </a:pPr>
            <a:r>
              <a:rPr lang="es-ES" sz="2700" b="1" i="0">
                <a:solidFill>
                  <a:srgbClr val="1B2A4A"/>
                </a:solidFill>
                <a:latin typeface="Calibri"/>
              </a:rPr>
              <a:t>DESARROLLO DE SOFTWARE EDUCATIVO DE ELEMENTOS FINITOS PARA EL ANÁLISIS ESTRUCTURAL EMPLEANDO EL LENGUAJE DE PROGRAMACIÓN PYTHON</a:t>
            </a:r>
          </a:p>
        </p:txBody>
      </p:sp>
      <p:sp>
        <p:nvSpPr>
          <p:cNvPr id="17" name="TextBox 16"/>
          <p:cNvSpPr txBox="1"/>
          <p:nvPr/>
        </p:nvSpPr>
        <p:spPr>
          <a:xfrm>
            <a:off x="731520" y="4315968"/>
            <a:ext cx="7223760" cy="384048"/>
          </a:xfrm>
          <a:prstGeom prst="rect">
            <a:avLst/>
          </a:prstGeom>
          <a:noFill/>
        </p:spPr>
        <p:txBody>
          <a:bodyPr wrap="square" lIns="45720" tIns="27432" rIns="45720" bIns="27432" anchor="t">
            <a:noAutofit/>
          </a:bodyPr>
          <a:lstStyle/>
          <a:p>
            <a:pPr algn="l">
              <a:lnSpc>
                <a:spcPct val="105000"/>
              </a:lnSpc>
            </a:pPr>
            <a:r>
              <a:rPr lang="es-ES" sz="1700" b="0" i="0">
                <a:solidFill>
                  <a:srgbClr val="5B6575"/>
                </a:solidFill>
                <a:latin typeface="Calibri"/>
              </a:rPr>
              <a:t>Tesis para optar al Título de Licenciatura en Ingeniería Civil</a:t>
            </a:r>
          </a:p>
        </p:txBody>
      </p:sp>
      <p:sp>
        <p:nvSpPr>
          <p:cNvPr id="18" name="Rectangle 17"/>
          <p:cNvSpPr/>
          <p:nvPr/>
        </p:nvSpPr>
        <p:spPr>
          <a:xfrm>
            <a:off x="749808" y="4800600"/>
            <a:ext cx="7086600" cy="7315"/>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731520" y="4956048"/>
            <a:ext cx="7223760" cy="411480"/>
          </a:xfrm>
          <a:prstGeom prst="rect">
            <a:avLst/>
          </a:prstGeom>
          <a:noFill/>
        </p:spPr>
        <p:txBody>
          <a:bodyPr wrap="square" lIns="45720" tIns="27432" rIns="45720" bIns="27432" anchor="t">
            <a:noAutofit/>
          </a:bodyPr>
          <a:lstStyle/>
          <a:p>
            <a:pPr algn="l">
              <a:lnSpc>
                <a:spcPct val="105000"/>
              </a:lnSpc>
            </a:pPr>
            <a:r>
              <a:rPr lang="es-ES" sz="2300" b="1" i="0">
                <a:solidFill>
                  <a:srgbClr val="1B2A4A"/>
                </a:solidFill>
                <a:latin typeface="Calibri"/>
              </a:rPr>
              <a:t>Hedy Yhassmany Oyola Sucullani</a:t>
            </a:r>
          </a:p>
        </p:txBody>
      </p:sp>
      <p:sp>
        <p:nvSpPr>
          <p:cNvPr id="20" name="TextBox 19"/>
          <p:cNvSpPr txBox="1"/>
          <p:nvPr/>
        </p:nvSpPr>
        <p:spPr>
          <a:xfrm>
            <a:off x="731520" y="5961888"/>
            <a:ext cx="7223760" cy="384048"/>
          </a:xfrm>
          <a:prstGeom prst="rect">
            <a:avLst/>
          </a:prstGeom>
          <a:noFill/>
        </p:spPr>
        <p:txBody>
          <a:bodyPr wrap="square" lIns="45720" tIns="27432" rIns="45720" bIns="27432" anchor="t">
            <a:noAutofit/>
          </a:bodyPr>
          <a:lstStyle/>
          <a:p>
            <a:pPr algn="l">
              <a:lnSpc>
                <a:spcPct val="105000"/>
              </a:lnSpc>
            </a:pPr>
            <a:r>
              <a:rPr lang="es-ES" sz="1600" b="0" i="0">
                <a:solidFill>
                  <a:srgbClr val="5B6575"/>
                </a:solidFill>
                <a:latin typeface="Calibri"/>
              </a:rPr>
              <a:t>Potosí – Bolivia   ·   Junio de 2026</a:t>
            </a:r>
          </a:p>
        </p:txBody>
      </p:sp>
      <p:pic>
        <p:nvPicPr>
          <p:cNvPr id="21" name="s01">
            <a:hlinkClick r:id="" action="ppaction://media"/>
            <a:extLst>
              <a:ext uri="{FF2B5EF4-FFF2-40B4-BE49-F238E27FC236}">
                <a16:creationId xmlns:a16="http://schemas.microsoft.com/office/drawing/2014/main" id="{F4B63164-AECC-9CBD-BB34-4FD714368316}"/>
              </a:ext>
            </a:extLst>
          </p:cNvPr>
          <p:cNvPicPr>
            <a:picLocks noChangeAspect="1"/>
          </p:cNvPicPr>
          <p:nvPr>
            <a:audioFile r:link="rId2"/>
            <p:extLst>
              <p:ext uri="{DAA4B4D4-6D71-4841-9C94-3DE7FCFB9230}">
                <p14:media xmlns:p14="http://schemas.microsoft.com/office/powerpoint/2010/main" r:embed="rId1"/>
              </p:ext>
            </p:extLst>
          </p:nvPr>
        </p:nvPicPr>
        <p:blipFill>
          <a:blip r:embed="rId7"/>
          <a:stretch>
            <a:fillRect/>
          </a:stretch>
        </p:blipFill>
        <p:spPr>
          <a:xfrm>
            <a:off x="254000" y="254000"/>
            <a:ext cx="508000" cy="508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6656"/>
    </mc:Choice>
    <mc:Fallback>
      <p:transition spd="slow" advTm="36656"/>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21"/>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21"/>
                </p:tgtEl>
              </p:cMediaNode>
            </p:audi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E182E"/>
        </a:solidFill>
        <a:effectLst/>
      </p:bgPr>
    </p:bg>
    <p:spTree>
      <p:nvGrpSpPr>
        <p:cNvPr id="1" name=""/>
        <p:cNvGrpSpPr/>
        <p:nvPr/>
      </p:nvGrpSpPr>
      <p:grpSpPr>
        <a:xfrm>
          <a:off x="0" y="0"/>
          <a:ext cx="0" cy="0"/>
          <a:chOff x="0" y="0"/>
          <a:chExt cx="0" cy="0"/>
        </a:xfrm>
      </p:grpSpPr>
      <p:sp>
        <p:nvSpPr>
          <p:cNvPr id="2" name="Rectangle 1"/>
          <p:cNvSpPr/>
          <p:nvPr/>
        </p:nvSpPr>
        <p:spPr>
          <a:xfrm>
            <a:off x="8183879" y="960120"/>
            <a:ext cx="3611880" cy="10972"/>
          </a:xfrm>
          <a:prstGeom prst="rect">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Rectangle 2"/>
          <p:cNvSpPr/>
          <p:nvPr/>
        </p:nvSpPr>
        <p:spPr>
          <a:xfrm>
            <a:off x="8183879" y="1859280"/>
            <a:ext cx="3611880" cy="10972"/>
          </a:xfrm>
          <a:prstGeom prst="rect">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Rectangle 3"/>
          <p:cNvSpPr/>
          <p:nvPr/>
        </p:nvSpPr>
        <p:spPr>
          <a:xfrm>
            <a:off x="8183879" y="2758440"/>
            <a:ext cx="3611880" cy="10972"/>
          </a:xfrm>
          <a:prstGeom prst="rect">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Rectangle 4"/>
          <p:cNvSpPr/>
          <p:nvPr/>
        </p:nvSpPr>
        <p:spPr>
          <a:xfrm>
            <a:off x="8183879" y="3657600"/>
            <a:ext cx="3611880" cy="10972"/>
          </a:xfrm>
          <a:prstGeom prst="rect">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Rectangle 5"/>
          <p:cNvSpPr/>
          <p:nvPr/>
        </p:nvSpPr>
        <p:spPr>
          <a:xfrm>
            <a:off x="8183879" y="960120"/>
            <a:ext cx="10972" cy="2697480"/>
          </a:xfrm>
          <a:prstGeom prst="rect">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Rectangle 6"/>
          <p:cNvSpPr/>
          <p:nvPr/>
        </p:nvSpPr>
        <p:spPr>
          <a:xfrm>
            <a:off x="9086850" y="960120"/>
            <a:ext cx="10972" cy="2697480"/>
          </a:xfrm>
          <a:prstGeom prst="rect">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Rectangle 7"/>
          <p:cNvSpPr/>
          <p:nvPr/>
        </p:nvSpPr>
        <p:spPr>
          <a:xfrm>
            <a:off x="9989819" y="960120"/>
            <a:ext cx="10972" cy="2697480"/>
          </a:xfrm>
          <a:prstGeom prst="rect">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Rectangle 8"/>
          <p:cNvSpPr/>
          <p:nvPr/>
        </p:nvSpPr>
        <p:spPr>
          <a:xfrm>
            <a:off x="10892790" y="960120"/>
            <a:ext cx="10972" cy="2697480"/>
          </a:xfrm>
          <a:prstGeom prst="rect">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Rectangle 9"/>
          <p:cNvSpPr/>
          <p:nvPr/>
        </p:nvSpPr>
        <p:spPr>
          <a:xfrm>
            <a:off x="11795759" y="960120"/>
            <a:ext cx="10972" cy="2697480"/>
          </a:xfrm>
          <a:prstGeom prst="rect">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Oval 10"/>
          <p:cNvSpPr/>
          <p:nvPr/>
        </p:nvSpPr>
        <p:spPr>
          <a:xfrm>
            <a:off x="8145017" y="92125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Oval 11"/>
          <p:cNvSpPr/>
          <p:nvPr/>
        </p:nvSpPr>
        <p:spPr>
          <a:xfrm>
            <a:off x="9047988" y="92125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Oval 12"/>
          <p:cNvSpPr/>
          <p:nvPr/>
        </p:nvSpPr>
        <p:spPr>
          <a:xfrm>
            <a:off x="9950957" y="92125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Oval 13"/>
          <p:cNvSpPr/>
          <p:nvPr/>
        </p:nvSpPr>
        <p:spPr>
          <a:xfrm>
            <a:off x="10853928" y="92125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Oval 14"/>
          <p:cNvSpPr/>
          <p:nvPr/>
        </p:nvSpPr>
        <p:spPr>
          <a:xfrm>
            <a:off x="11756897" y="92125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Oval 15"/>
          <p:cNvSpPr/>
          <p:nvPr/>
        </p:nvSpPr>
        <p:spPr>
          <a:xfrm>
            <a:off x="8145017" y="182041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Oval 16"/>
          <p:cNvSpPr/>
          <p:nvPr/>
        </p:nvSpPr>
        <p:spPr>
          <a:xfrm>
            <a:off x="9047988" y="182041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Oval 17"/>
          <p:cNvSpPr/>
          <p:nvPr/>
        </p:nvSpPr>
        <p:spPr>
          <a:xfrm>
            <a:off x="9950957" y="182041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Oval 18"/>
          <p:cNvSpPr/>
          <p:nvPr/>
        </p:nvSpPr>
        <p:spPr>
          <a:xfrm>
            <a:off x="10853928" y="182041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Oval 19"/>
          <p:cNvSpPr/>
          <p:nvPr/>
        </p:nvSpPr>
        <p:spPr>
          <a:xfrm>
            <a:off x="11756897" y="182041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Oval 20"/>
          <p:cNvSpPr/>
          <p:nvPr/>
        </p:nvSpPr>
        <p:spPr>
          <a:xfrm>
            <a:off x="8145017" y="271957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Oval 21"/>
          <p:cNvSpPr/>
          <p:nvPr/>
        </p:nvSpPr>
        <p:spPr>
          <a:xfrm>
            <a:off x="9047988" y="271957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Oval 22"/>
          <p:cNvSpPr/>
          <p:nvPr/>
        </p:nvSpPr>
        <p:spPr>
          <a:xfrm>
            <a:off x="9950957" y="271957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Oval 23"/>
          <p:cNvSpPr/>
          <p:nvPr/>
        </p:nvSpPr>
        <p:spPr>
          <a:xfrm>
            <a:off x="10853928" y="271957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Oval 24"/>
          <p:cNvSpPr/>
          <p:nvPr/>
        </p:nvSpPr>
        <p:spPr>
          <a:xfrm>
            <a:off x="11756897" y="271957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Oval 25"/>
          <p:cNvSpPr/>
          <p:nvPr/>
        </p:nvSpPr>
        <p:spPr>
          <a:xfrm>
            <a:off x="8145017" y="361873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Oval 26"/>
          <p:cNvSpPr/>
          <p:nvPr/>
        </p:nvSpPr>
        <p:spPr>
          <a:xfrm>
            <a:off x="9047988" y="361873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Oval 27"/>
          <p:cNvSpPr/>
          <p:nvPr/>
        </p:nvSpPr>
        <p:spPr>
          <a:xfrm>
            <a:off x="9950957" y="361873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Oval 28"/>
          <p:cNvSpPr/>
          <p:nvPr/>
        </p:nvSpPr>
        <p:spPr>
          <a:xfrm>
            <a:off x="10853928" y="361873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 name="Oval 29"/>
          <p:cNvSpPr/>
          <p:nvPr/>
        </p:nvSpPr>
        <p:spPr>
          <a:xfrm>
            <a:off x="11756897" y="361873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TextBox 30"/>
          <p:cNvSpPr txBox="1"/>
          <p:nvPr/>
        </p:nvSpPr>
        <p:spPr>
          <a:xfrm>
            <a:off x="731520" y="1417320"/>
            <a:ext cx="2194560" cy="1828800"/>
          </a:xfrm>
          <a:prstGeom prst="rect">
            <a:avLst/>
          </a:prstGeom>
          <a:noFill/>
        </p:spPr>
        <p:txBody>
          <a:bodyPr wrap="square" lIns="45720" tIns="27432" rIns="45720" bIns="27432" anchor="ctr">
            <a:noAutofit/>
          </a:bodyPr>
          <a:lstStyle/>
          <a:p>
            <a:pPr algn="l">
              <a:lnSpc>
                <a:spcPct val="105000"/>
              </a:lnSpc>
            </a:pPr>
            <a:r>
              <a:rPr lang="es-ES" sz="9600" b="1" i="0">
                <a:solidFill>
                  <a:srgbClr val="F28C28"/>
                </a:solidFill>
                <a:latin typeface="Calibri"/>
              </a:rPr>
              <a:t>01</a:t>
            </a:r>
          </a:p>
        </p:txBody>
      </p:sp>
      <p:sp>
        <p:nvSpPr>
          <p:cNvPr id="32" name="Rectangle 31"/>
          <p:cNvSpPr/>
          <p:nvPr/>
        </p:nvSpPr>
        <p:spPr>
          <a:xfrm>
            <a:off x="3063240" y="1691640"/>
            <a:ext cx="54864" cy="132588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 name="TextBox 32"/>
          <p:cNvSpPr txBox="1"/>
          <p:nvPr/>
        </p:nvSpPr>
        <p:spPr>
          <a:xfrm>
            <a:off x="3383280" y="1417320"/>
            <a:ext cx="8138160" cy="1188720"/>
          </a:xfrm>
          <a:prstGeom prst="rect">
            <a:avLst/>
          </a:prstGeom>
          <a:noFill/>
        </p:spPr>
        <p:txBody>
          <a:bodyPr wrap="square" lIns="45720" tIns="27432" rIns="45720" bIns="27432" anchor="ctr">
            <a:noAutofit/>
          </a:bodyPr>
          <a:lstStyle/>
          <a:p>
            <a:pPr algn="l">
              <a:lnSpc>
                <a:spcPct val="105000"/>
              </a:lnSpc>
            </a:pPr>
            <a:r>
              <a:rPr lang="es-ES" sz="4400" b="1" i="0">
                <a:solidFill>
                  <a:srgbClr val="FFFFFF"/>
                </a:solidFill>
                <a:latin typeface="Calibri"/>
              </a:rPr>
              <a:t>Introducción</a:t>
            </a:r>
          </a:p>
        </p:txBody>
      </p:sp>
      <p:sp>
        <p:nvSpPr>
          <p:cNvPr id="34" name="TextBox 33"/>
          <p:cNvSpPr txBox="1"/>
          <p:nvPr/>
        </p:nvSpPr>
        <p:spPr>
          <a:xfrm>
            <a:off x="3383280" y="2606040"/>
            <a:ext cx="8138160" cy="1280160"/>
          </a:xfrm>
          <a:prstGeom prst="rect">
            <a:avLst/>
          </a:prstGeom>
          <a:noFill/>
        </p:spPr>
        <p:txBody>
          <a:bodyPr wrap="square" lIns="45720" tIns="27432" rIns="45720" bIns="27432" anchor="t">
            <a:noAutofit/>
          </a:bodyPr>
          <a:lstStyle/>
          <a:p>
            <a:pPr algn="l">
              <a:lnSpc>
                <a:spcPct val="115000"/>
              </a:lnSpc>
            </a:pPr>
            <a:r>
              <a:rPr lang="es-ES" sz="2100" b="0" i="0">
                <a:solidFill>
                  <a:srgbClr val="C7D2E8"/>
                </a:solidFill>
                <a:latin typeface="Calibri"/>
              </a:rPr>
              <a:t>La caja negra: de dónde nace el problema, qué se estudia, qué se propone y cómo se contrasta</a:t>
            </a:r>
          </a:p>
        </p:txBody>
      </p:sp>
      <p:sp>
        <p:nvSpPr>
          <p:cNvPr id="35" name="Rounded Rectangle 34"/>
          <p:cNvSpPr/>
          <p:nvPr/>
        </p:nvSpPr>
        <p:spPr>
          <a:xfrm>
            <a:off x="566928" y="5806440"/>
            <a:ext cx="1751533" cy="493776"/>
          </a:xfrm>
          <a:prstGeom prst="roundRect">
            <a:avLst>
              <a:gd name="adj" fmla="val 28000"/>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noAutofit/>
          </a:bodyPr>
          <a:lstStyle/>
          <a:p>
            <a:pPr algn="ctr">
              <a:lnSpc>
                <a:spcPct val="100000"/>
              </a:lnSpc>
            </a:pPr>
            <a:r>
              <a:rPr lang="es-ES" sz="1200" b="1" i="0">
                <a:solidFill>
                  <a:srgbClr val="FFFFFF"/>
                </a:solidFill>
                <a:latin typeface="Calibri"/>
              </a:rPr>
              <a:t>1. Introducción</a:t>
            </a:r>
          </a:p>
        </p:txBody>
      </p:sp>
      <p:sp>
        <p:nvSpPr>
          <p:cNvPr id="36" name="Rounded Rectangle 35"/>
          <p:cNvSpPr/>
          <p:nvPr/>
        </p:nvSpPr>
        <p:spPr>
          <a:xfrm>
            <a:off x="2428189" y="5806440"/>
            <a:ext cx="1751533" cy="493776"/>
          </a:xfrm>
          <a:prstGeom prst="roundRect">
            <a:avLst>
              <a:gd name="adj" fmla="val 28000"/>
            </a:avLst>
          </a:prstGeom>
          <a:noFill/>
          <a:ln w="9525">
            <a:solidFill>
              <a:srgbClr val="2C3E63"/>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noAutofit/>
          </a:bodyPr>
          <a:lstStyle/>
          <a:p>
            <a:pPr algn="ctr">
              <a:lnSpc>
                <a:spcPct val="100000"/>
              </a:lnSpc>
            </a:pPr>
            <a:r>
              <a:rPr lang="es-ES" sz="1200" b="0" i="0">
                <a:solidFill>
                  <a:srgbClr val="C7D2E8"/>
                </a:solidFill>
                <a:latin typeface="Calibri"/>
              </a:rPr>
              <a:t>2. Base teórica</a:t>
            </a:r>
          </a:p>
        </p:txBody>
      </p:sp>
      <p:sp>
        <p:nvSpPr>
          <p:cNvPr id="37" name="Rounded Rectangle 36"/>
          <p:cNvSpPr/>
          <p:nvPr/>
        </p:nvSpPr>
        <p:spPr>
          <a:xfrm>
            <a:off x="4289450" y="5806440"/>
            <a:ext cx="1751533" cy="493776"/>
          </a:xfrm>
          <a:prstGeom prst="roundRect">
            <a:avLst>
              <a:gd name="adj" fmla="val 28000"/>
            </a:avLst>
          </a:prstGeom>
          <a:noFill/>
          <a:ln w="9525">
            <a:solidFill>
              <a:srgbClr val="2C3E63"/>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noAutofit/>
          </a:bodyPr>
          <a:lstStyle/>
          <a:p>
            <a:pPr algn="ctr">
              <a:lnSpc>
                <a:spcPct val="100000"/>
              </a:lnSpc>
            </a:pPr>
            <a:r>
              <a:rPr lang="es-ES" sz="1200" b="0" i="0">
                <a:solidFill>
                  <a:srgbClr val="C7D2E8"/>
                </a:solidFill>
                <a:latin typeface="Calibri"/>
              </a:rPr>
              <a:t>3. Diseño y desarrollo del modelo</a:t>
            </a:r>
          </a:p>
        </p:txBody>
      </p:sp>
      <p:sp>
        <p:nvSpPr>
          <p:cNvPr id="38" name="Rounded Rectangle 37"/>
          <p:cNvSpPr/>
          <p:nvPr/>
        </p:nvSpPr>
        <p:spPr>
          <a:xfrm>
            <a:off x="6150711" y="5806440"/>
            <a:ext cx="1751533" cy="493776"/>
          </a:xfrm>
          <a:prstGeom prst="roundRect">
            <a:avLst>
              <a:gd name="adj" fmla="val 28000"/>
            </a:avLst>
          </a:prstGeom>
          <a:noFill/>
          <a:ln w="9525">
            <a:solidFill>
              <a:srgbClr val="2C3E63"/>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noAutofit/>
          </a:bodyPr>
          <a:lstStyle/>
          <a:p>
            <a:pPr algn="ctr">
              <a:lnSpc>
                <a:spcPct val="100000"/>
              </a:lnSpc>
            </a:pPr>
            <a:r>
              <a:rPr lang="es-ES" sz="1200" b="0" i="0">
                <a:solidFill>
                  <a:srgbClr val="C7D2E8"/>
                </a:solidFill>
                <a:latin typeface="Calibri"/>
              </a:rPr>
              <a:t>4. Presentación de resultados</a:t>
            </a:r>
          </a:p>
        </p:txBody>
      </p:sp>
      <p:sp>
        <p:nvSpPr>
          <p:cNvPr id="39" name="Rounded Rectangle 38"/>
          <p:cNvSpPr/>
          <p:nvPr/>
        </p:nvSpPr>
        <p:spPr>
          <a:xfrm>
            <a:off x="8011972" y="5806440"/>
            <a:ext cx="1751533" cy="493776"/>
          </a:xfrm>
          <a:prstGeom prst="roundRect">
            <a:avLst>
              <a:gd name="adj" fmla="val 28000"/>
            </a:avLst>
          </a:prstGeom>
          <a:noFill/>
          <a:ln w="9525">
            <a:solidFill>
              <a:srgbClr val="2C3E63"/>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noAutofit/>
          </a:bodyPr>
          <a:lstStyle/>
          <a:p>
            <a:pPr algn="ctr">
              <a:lnSpc>
                <a:spcPct val="100000"/>
              </a:lnSpc>
            </a:pPr>
            <a:r>
              <a:rPr lang="es-ES" sz="1200" b="0" i="0">
                <a:solidFill>
                  <a:srgbClr val="C7D2E8"/>
                </a:solidFill>
                <a:latin typeface="Calibri"/>
              </a:rPr>
              <a:t>5. Análisis de resultados</a:t>
            </a:r>
          </a:p>
        </p:txBody>
      </p:sp>
      <p:sp>
        <p:nvSpPr>
          <p:cNvPr id="40" name="Rounded Rectangle 39"/>
          <p:cNvSpPr/>
          <p:nvPr/>
        </p:nvSpPr>
        <p:spPr>
          <a:xfrm>
            <a:off x="9873233" y="5806440"/>
            <a:ext cx="1751533" cy="493776"/>
          </a:xfrm>
          <a:prstGeom prst="roundRect">
            <a:avLst>
              <a:gd name="adj" fmla="val 28000"/>
            </a:avLst>
          </a:prstGeom>
          <a:noFill/>
          <a:ln w="9525">
            <a:solidFill>
              <a:srgbClr val="2C3E63"/>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noAutofit/>
          </a:bodyPr>
          <a:lstStyle/>
          <a:p>
            <a:pPr algn="ctr">
              <a:lnSpc>
                <a:spcPct val="100000"/>
              </a:lnSpc>
            </a:pPr>
            <a:r>
              <a:rPr lang="es-ES" sz="1200" b="0" i="0">
                <a:solidFill>
                  <a:srgbClr val="C7D2E8"/>
                </a:solidFill>
                <a:latin typeface="Calibri"/>
              </a:rPr>
              <a:t>6. Conclusiones y recomendaciones</a:t>
            </a:r>
          </a:p>
        </p:txBody>
      </p:sp>
      <p:pic>
        <p:nvPicPr>
          <p:cNvPr id="41" name="s02">
            <a:hlinkClick r:id="" action="ppaction://media"/>
            <a:extLst>
              <a:ext uri="{FF2B5EF4-FFF2-40B4-BE49-F238E27FC236}">
                <a16:creationId xmlns:a16="http://schemas.microsoft.com/office/drawing/2014/main" id="{4B969D5E-D799-BB2E-AA8C-28F6E9A05FAC}"/>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254000" y="254000"/>
            <a:ext cx="508000" cy="508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7040"/>
    </mc:Choice>
    <mc:Fallback>
      <p:transition spd="slow" advTm="704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1"/>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41"/>
                </p:tgtEl>
              </p:cMediaNode>
            </p:audio>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566928" y="361188"/>
            <a:ext cx="50292" cy="173736"/>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TextBox 2"/>
          <p:cNvSpPr txBox="1"/>
          <p:nvPr/>
        </p:nvSpPr>
        <p:spPr>
          <a:xfrm>
            <a:off x="704088" y="310896"/>
            <a:ext cx="6766560" cy="274320"/>
          </a:xfrm>
          <a:prstGeom prst="rect">
            <a:avLst/>
          </a:prstGeom>
          <a:noFill/>
        </p:spPr>
        <p:txBody>
          <a:bodyPr wrap="square" lIns="45720" tIns="27432" rIns="45720" bIns="27432" anchor="ctr">
            <a:noAutofit/>
          </a:bodyPr>
          <a:lstStyle/>
          <a:p>
            <a:pPr algn="l">
              <a:lnSpc>
                <a:spcPct val="105000"/>
              </a:lnSpc>
            </a:pPr>
            <a:r>
              <a:rPr lang="es-ES" sz="1200" b="1" i="0" spc="80">
                <a:solidFill>
                  <a:srgbClr val="F28C28"/>
                </a:solidFill>
                <a:latin typeface="Calibri"/>
              </a:rPr>
              <a:t>01   INTRODUCCIÓN</a:t>
            </a:r>
          </a:p>
        </p:txBody>
      </p:sp>
      <p:sp>
        <p:nvSpPr>
          <p:cNvPr id="4" name="Oval 3"/>
          <p:cNvSpPr/>
          <p:nvPr/>
        </p:nvSpPr>
        <p:spPr>
          <a:xfrm>
            <a:off x="10381183" y="356616"/>
            <a:ext cx="178308" cy="178308"/>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Oval 4"/>
          <p:cNvSpPr/>
          <p:nvPr/>
        </p:nvSpPr>
        <p:spPr>
          <a:xfrm>
            <a:off x="10632643"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Oval 5"/>
          <p:cNvSpPr/>
          <p:nvPr/>
        </p:nvSpPr>
        <p:spPr>
          <a:xfrm>
            <a:off x="10852099"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Oval 6"/>
          <p:cNvSpPr/>
          <p:nvPr/>
        </p:nvSpPr>
        <p:spPr>
          <a:xfrm>
            <a:off x="11071555"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Oval 7"/>
          <p:cNvSpPr/>
          <p:nvPr/>
        </p:nvSpPr>
        <p:spPr>
          <a:xfrm>
            <a:off x="11291011"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Oval 8"/>
          <p:cNvSpPr/>
          <p:nvPr/>
        </p:nvSpPr>
        <p:spPr>
          <a:xfrm>
            <a:off x="11510467"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548640" y="585216"/>
            <a:ext cx="11057839" cy="749808"/>
          </a:xfrm>
          <a:prstGeom prst="rect">
            <a:avLst/>
          </a:prstGeom>
          <a:noFill/>
        </p:spPr>
        <p:txBody>
          <a:bodyPr wrap="square" lIns="45720" tIns="27432" rIns="45720" bIns="27432" anchor="ctr">
            <a:noAutofit/>
          </a:bodyPr>
          <a:lstStyle/>
          <a:p>
            <a:pPr algn="l">
              <a:lnSpc>
                <a:spcPct val="105000"/>
              </a:lnSpc>
            </a:pPr>
            <a:r>
              <a:rPr lang="es-ES" sz="3200" b="1" i="0">
                <a:solidFill>
                  <a:srgbClr val="1B2A4A"/>
                </a:solidFill>
                <a:latin typeface="Calibri"/>
              </a:rPr>
              <a:t>La brecha: rigor abstracto o caja negra</a:t>
            </a:r>
          </a:p>
        </p:txBody>
      </p:sp>
      <p:sp>
        <p:nvSpPr>
          <p:cNvPr id="11" name="Rectangle 10"/>
          <p:cNvSpPr/>
          <p:nvPr/>
        </p:nvSpPr>
        <p:spPr>
          <a:xfrm>
            <a:off x="566928" y="1371600"/>
            <a:ext cx="1051560" cy="50292"/>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Rounded Rectangle 11"/>
          <p:cNvSpPr/>
          <p:nvPr/>
        </p:nvSpPr>
        <p:spPr>
          <a:xfrm>
            <a:off x="566928" y="1572768"/>
            <a:ext cx="5346039" cy="3767328"/>
          </a:xfrm>
          <a:prstGeom prst="roundRect">
            <a:avLst>
              <a:gd name="adj" fmla="val 5000"/>
            </a:avLst>
          </a:prstGeom>
          <a:solidFill>
            <a:srgbClr val="F6F8FC"/>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Rounded Rectangle 12"/>
          <p:cNvSpPr/>
          <p:nvPr/>
        </p:nvSpPr>
        <p:spPr>
          <a:xfrm>
            <a:off x="566928" y="1572768"/>
            <a:ext cx="5346039" cy="621792"/>
          </a:xfrm>
          <a:prstGeom prst="roundRect">
            <a:avLst>
              <a:gd name="adj" fmla="val 12000"/>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Rectangle 13"/>
          <p:cNvSpPr/>
          <p:nvPr/>
        </p:nvSpPr>
        <p:spPr>
          <a:xfrm>
            <a:off x="566928" y="1920240"/>
            <a:ext cx="5346039" cy="27432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566928" y="1572768"/>
            <a:ext cx="5346039" cy="621792"/>
          </a:xfrm>
          <a:prstGeom prst="rect">
            <a:avLst/>
          </a:prstGeom>
          <a:noFill/>
        </p:spPr>
        <p:txBody>
          <a:bodyPr wrap="square" lIns="45720" tIns="27432" rIns="45720" bIns="27432" anchor="ctr">
            <a:noAutofit/>
          </a:bodyPr>
          <a:lstStyle/>
          <a:p>
            <a:pPr algn="ctr">
              <a:lnSpc>
                <a:spcPct val="100000"/>
              </a:lnSpc>
            </a:pPr>
            <a:r>
              <a:rPr lang="es-ES" sz="2300" b="1" i="0">
                <a:solidFill>
                  <a:srgbClr val="FFFFFF"/>
                </a:solidFill>
                <a:latin typeface="Calibri"/>
              </a:rPr>
              <a:t>Textos clásicos</a:t>
            </a:r>
          </a:p>
        </p:txBody>
      </p:sp>
      <p:sp>
        <p:nvSpPr>
          <p:cNvPr id="16" name="TextBox 15"/>
          <p:cNvSpPr txBox="1"/>
          <p:nvPr/>
        </p:nvSpPr>
        <p:spPr>
          <a:xfrm>
            <a:off x="768096" y="2395728"/>
            <a:ext cx="4943703" cy="2816352"/>
          </a:xfrm>
          <a:prstGeom prst="rect">
            <a:avLst/>
          </a:prstGeom>
          <a:noFill/>
        </p:spPr>
        <p:txBody>
          <a:bodyPr wrap="square" lIns="45720" tIns="27432" rIns="45720" bIns="27432" anchor="t">
            <a:noAutofit/>
          </a:bodyPr>
          <a:lstStyle/>
          <a:p>
            <a:pPr marL="347472" indent="-347472">
              <a:lnSpc>
                <a:spcPct val="112000"/>
              </a:lnSpc>
              <a:spcAft>
                <a:spcPts val="900"/>
              </a:spcAft>
              <a:buClr>
                <a:srgbClr val="1B2A4A"/>
              </a:buClr>
              <a:buSzPct val="100000"/>
              <a:buFont typeface="Arial"/>
              <a:buChar char="•"/>
            </a:pPr>
            <a:r>
              <a:rPr lang="es-ES" sz="2200" b="0" i="0">
                <a:solidFill>
                  <a:srgbClr val="1F2937"/>
                </a:solidFill>
                <a:latin typeface="Calibri"/>
              </a:rPr>
              <a:t>Funciones de forma, Jacobiano, matriz B y Gauss como cadena algebraica</a:t>
            </a:r>
          </a:p>
          <a:p>
            <a:pPr marL="347472" indent="-347472">
              <a:lnSpc>
                <a:spcPct val="112000"/>
              </a:lnSpc>
              <a:spcAft>
                <a:spcPts val="900"/>
              </a:spcAft>
              <a:buClr>
                <a:srgbClr val="1B2A4A"/>
              </a:buClr>
              <a:buSzPct val="100000"/>
              <a:buFont typeface="Arial"/>
              <a:buChar char="•"/>
            </a:pPr>
            <a:r>
              <a:rPr lang="es-ES" sz="2200" b="0" i="0">
                <a:solidFill>
                  <a:srgbClr val="1F2937"/>
                </a:solidFill>
                <a:latin typeface="Calibri"/>
              </a:rPr>
              <a:t>Sin una geometría concreta a la vista</a:t>
            </a:r>
          </a:p>
          <a:p>
            <a:pPr marL="347472" indent="-347472">
              <a:lnSpc>
                <a:spcPct val="112000"/>
              </a:lnSpc>
              <a:spcAft>
                <a:spcPts val="900"/>
              </a:spcAft>
              <a:buClr>
                <a:srgbClr val="1B2A4A"/>
              </a:buClr>
              <a:buSzPct val="100000"/>
              <a:buFont typeface="Arial"/>
              <a:buChar char="•"/>
            </a:pPr>
            <a:r>
              <a:rPr lang="es-ES" sz="2200" b="0" i="0">
                <a:solidFill>
                  <a:srgbClr val="1F2937"/>
                </a:solidFill>
                <a:latin typeface="Calibri"/>
              </a:rPr>
              <a:t>A mano no escala más allá de uno o dos elementos</a:t>
            </a:r>
          </a:p>
        </p:txBody>
      </p:sp>
      <p:sp>
        <p:nvSpPr>
          <p:cNvPr id="17" name="Rounded Rectangle 16"/>
          <p:cNvSpPr/>
          <p:nvPr/>
        </p:nvSpPr>
        <p:spPr>
          <a:xfrm>
            <a:off x="6278727" y="1572768"/>
            <a:ext cx="5346039" cy="3767328"/>
          </a:xfrm>
          <a:prstGeom prst="roundRect">
            <a:avLst>
              <a:gd name="adj" fmla="val 5000"/>
            </a:avLst>
          </a:prstGeom>
          <a:solidFill>
            <a:srgbClr val="F6F8FC"/>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Rounded Rectangle 17"/>
          <p:cNvSpPr/>
          <p:nvPr/>
        </p:nvSpPr>
        <p:spPr>
          <a:xfrm>
            <a:off x="6278727" y="1572768"/>
            <a:ext cx="5346039" cy="621792"/>
          </a:xfrm>
          <a:prstGeom prst="roundRect">
            <a:avLst>
              <a:gd name="adj" fmla="val 12000"/>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Rectangle 18"/>
          <p:cNvSpPr/>
          <p:nvPr/>
        </p:nvSpPr>
        <p:spPr>
          <a:xfrm>
            <a:off x="6278727" y="1920240"/>
            <a:ext cx="5346039" cy="27432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6278727" y="1572768"/>
            <a:ext cx="5346039" cy="621792"/>
          </a:xfrm>
          <a:prstGeom prst="rect">
            <a:avLst/>
          </a:prstGeom>
          <a:noFill/>
        </p:spPr>
        <p:txBody>
          <a:bodyPr wrap="square" lIns="45720" tIns="27432" rIns="45720" bIns="27432" anchor="ctr">
            <a:noAutofit/>
          </a:bodyPr>
          <a:lstStyle/>
          <a:p>
            <a:pPr algn="ctr">
              <a:lnSpc>
                <a:spcPct val="100000"/>
              </a:lnSpc>
            </a:pPr>
            <a:r>
              <a:rPr lang="es-ES" sz="2300" b="1" i="0">
                <a:solidFill>
                  <a:srgbClr val="FFFFFF"/>
                </a:solidFill>
                <a:latin typeface="Calibri"/>
              </a:rPr>
              <a:t>Software profesional</a:t>
            </a:r>
          </a:p>
        </p:txBody>
      </p:sp>
      <p:sp>
        <p:nvSpPr>
          <p:cNvPr id="21" name="TextBox 20"/>
          <p:cNvSpPr txBox="1"/>
          <p:nvPr/>
        </p:nvSpPr>
        <p:spPr>
          <a:xfrm>
            <a:off x="6479895" y="2395728"/>
            <a:ext cx="4943703" cy="2816352"/>
          </a:xfrm>
          <a:prstGeom prst="rect">
            <a:avLst/>
          </a:prstGeom>
          <a:noFill/>
        </p:spPr>
        <p:txBody>
          <a:bodyPr wrap="square" lIns="45720" tIns="27432" rIns="45720" bIns="27432" anchor="t">
            <a:noAutofit/>
          </a:bodyPr>
          <a:lstStyle/>
          <a:p>
            <a:pPr marL="347472" indent="-347472">
              <a:lnSpc>
                <a:spcPct val="112000"/>
              </a:lnSpc>
              <a:spcAft>
                <a:spcPts val="900"/>
              </a:spcAft>
              <a:buClr>
                <a:srgbClr val="F28C28"/>
              </a:buClr>
              <a:buSzPct val="100000"/>
              <a:buFont typeface="Arial"/>
              <a:buChar char="•"/>
            </a:pPr>
            <a:r>
              <a:rPr lang="es-ES" sz="2200" b="1" i="0">
                <a:solidFill>
                  <a:srgbClr val="1B2A4A"/>
                </a:solidFill>
                <a:latin typeface="Calibri"/>
              </a:rPr>
              <a:t>Entradas → resultados:</a:t>
            </a:r>
            <a:r>
              <a:rPr lang="es-ES" sz="2200" b="0" i="0">
                <a:solidFill>
                  <a:srgbClr val="1F2937"/>
                </a:solidFill>
                <a:latin typeface="Calibri"/>
              </a:rPr>
              <a:t> el procesamiento intermedio queda oculto</a:t>
            </a:r>
          </a:p>
          <a:p>
            <a:pPr marL="347472" indent="-347472">
              <a:lnSpc>
                <a:spcPct val="112000"/>
              </a:lnSpc>
              <a:spcAft>
                <a:spcPts val="900"/>
              </a:spcAft>
              <a:buClr>
                <a:srgbClr val="F28C28"/>
              </a:buClr>
              <a:buSzPct val="100000"/>
              <a:buFont typeface="Arial"/>
              <a:buChar char="•"/>
            </a:pPr>
            <a:r>
              <a:rPr lang="es-ES" sz="2200" b="0" i="0">
                <a:solidFill>
                  <a:srgbClr val="1F2937"/>
                </a:solidFill>
                <a:latin typeface="Calibri"/>
              </a:rPr>
              <a:t>Costoso, sin propósito didáctico y con localización limitada</a:t>
            </a:r>
          </a:p>
          <a:p>
            <a:pPr marL="347472" indent="-347472">
              <a:lnSpc>
                <a:spcPct val="112000"/>
              </a:lnSpc>
              <a:spcAft>
                <a:spcPts val="900"/>
              </a:spcAft>
              <a:buClr>
                <a:srgbClr val="F28C28"/>
              </a:buClr>
              <a:buSzPct val="100000"/>
              <a:buFont typeface="Arial"/>
              <a:buChar char="•"/>
            </a:pPr>
            <a:r>
              <a:rPr lang="es-ES" sz="2200" b="0" i="0">
                <a:solidFill>
                  <a:srgbClr val="1F2937"/>
                </a:solidFill>
                <a:latin typeface="Calibri"/>
              </a:rPr>
              <a:t>No deja diagnosticar el bloqueo ni los modos espurios (hourglass)</a:t>
            </a:r>
          </a:p>
        </p:txBody>
      </p:sp>
      <p:sp>
        <p:nvSpPr>
          <p:cNvPr id="22" name="Rectangle 21"/>
          <p:cNvSpPr/>
          <p:nvPr/>
        </p:nvSpPr>
        <p:spPr>
          <a:xfrm>
            <a:off x="566928" y="5449824"/>
            <a:ext cx="11057839" cy="841248"/>
          </a:xfrm>
          <a:prstGeom prst="rect">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Rectangle 22"/>
          <p:cNvSpPr/>
          <p:nvPr/>
        </p:nvSpPr>
        <p:spPr>
          <a:xfrm>
            <a:off x="566928" y="5449824"/>
            <a:ext cx="77724" cy="841248"/>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TextBox 23"/>
          <p:cNvSpPr txBox="1"/>
          <p:nvPr/>
        </p:nvSpPr>
        <p:spPr>
          <a:xfrm>
            <a:off x="795528" y="5449824"/>
            <a:ext cx="10737799" cy="841248"/>
          </a:xfrm>
          <a:prstGeom prst="rect">
            <a:avLst/>
          </a:prstGeom>
          <a:noFill/>
        </p:spPr>
        <p:txBody>
          <a:bodyPr wrap="square" lIns="45720" tIns="27432" rIns="45720" bIns="27432" anchor="ctr">
            <a:noAutofit/>
          </a:bodyPr>
          <a:lstStyle/>
          <a:p>
            <a:pPr algn="l">
              <a:lnSpc>
                <a:spcPct val="100000"/>
              </a:lnSpc>
            </a:pPr>
            <a:r>
              <a:rPr lang="es-ES" sz="2000" b="1" i="0">
                <a:solidFill>
                  <a:srgbClr val="1B2A4A"/>
                </a:solidFill>
                <a:latin typeface="Calibri"/>
              </a:rPr>
              <a:t>Brecha doble: dificultad genuina del método e insuficiencia de herramientas que expongan el proceso</a:t>
            </a:r>
          </a:p>
        </p:txBody>
      </p:sp>
      <p:sp>
        <p:nvSpPr>
          <p:cNvPr id="25" name="Rectangle 24"/>
          <p:cNvSpPr/>
          <p:nvPr/>
        </p:nvSpPr>
        <p:spPr>
          <a:xfrm>
            <a:off x="566928" y="6364224"/>
            <a:ext cx="11057839" cy="7315"/>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TextBox 25"/>
          <p:cNvSpPr txBox="1"/>
          <p:nvPr/>
        </p:nvSpPr>
        <p:spPr>
          <a:xfrm>
            <a:off x="566928" y="6437376"/>
            <a:ext cx="5029200" cy="292608"/>
          </a:xfrm>
          <a:prstGeom prst="rect">
            <a:avLst/>
          </a:prstGeom>
          <a:noFill/>
        </p:spPr>
        <p:txBody>
          <a:bodyPr wrap="square" lIns="45720" tIns="27432" rIns="45720" bIns="27432" anchor="ctr">
            <a:noAutofit/>
          </a:bodyPr>
          <a:lstStyle/>
          <a:p>
            <a:pPr algn="l">
              <a:lnSpc>
                <a:spcPct val="105000"/>
              </a:lnSpc>
            </a:pPr>
            <a:r>
              <a:rPr lang="es-ES" sz="1200" b="0" i="0">
                <a:solidFill>
                  <a:srgbClr val="5B6575"/>
                </a:solidFill>
                <a:latin typeface="Calibri"/>
              </a:rPr>
              <a:t>EduFEM · Defensa de tesis · Ingeniería Civil · UATF</a:t>
            </a:r>
          </a:p>
        </p:txBody>
      </p:sp>
      <p:sp>
        <p:nvSpPr>
          <p:cNvPr id="27" name="TextBox 26"/>
          <p:cNvSpPr txBox="1"/>
          <p:nvPr/>
        </p:nvSpPr>
        <p:spPr>
          <a:xfrm>
            <a:off x="4023360" y="6437376"/>
            <a:ext cx="5394960" cy="292608"/>
          </a:xfrm>
          <a:prstGeom prst="rect">
            <a:avLst/>
          </a:prstGeom>
          <a:noFill/>
        </p:spPr>
        <p:txBody>
          <a:bodyPr wrap="square" lIns="45720" tIns="27432" rIns="45720" bIns="27432" anchor="ctr">
            <a:noAutofit/>
          </a:bodyPr>
          <a:lstStyle/>
          <a:p>
            <a:pPr algn="ctr">
              <a:lnSpc>
                <a:spcPct val="105000"/>
              </a:lnSpc>
            </a:pPr>
            <a:r>
              <a:rPr lang="es-ES" sz="1200" b="0" i="0">
                <a:solidFill>
                  <a:srgbClr val="5B6575"/>
                </a:solidFill>
                <a:latin typeface="Calibri"/>
              </a:rPr>
              <a:t>Tesis: Introducción, planteamiento del problema</a:t>
            </a:r>
          </a:p>
        </p:txBody>
      </p:sp>
      <p:sp>
        <p:nvSpPr>
          <p:cNvPr id="28" name="TextBox 27"/>
          <p:cNvSpPr txBox="1"/>
          <p:nvPr/>
        </p:nvSpPr>
        <p:spPr>
          <a:xfrm>
            <a:off x="10527487" y="6437376"/>
            <a:ext cx="1097280" cy="292608"/>
          </a:xfrm>
          <a:prstGeom prst="rect">
            <a:avLst/>
          </a:prstGeom>
          <a:noFill/>
        </p:spPr>
        <p:txBody>
          <a:bodyPr wrap="none" lIns="45720" tIns="18288" rIns="45720" bIns="18288">
            <a:spAutoFit/>
          </a:bodyPr>
          <a:lstStyle/>
          <a:p>
            <a:pPr algn="r"/>
            <a:fld id="{B6F15528-21DE-4FAA-801E-634DDDAF4B2B}" type="slidenum">
              <a:rPr lang="es-ES" sz="1200" dirty="0">
                <a:solidFill>
                  <a:srgbClr val="5B6575"/>
                </a:solidFill>
                <a:latin typeface="Calibri"/>
              </a:rPr>
              <a:t>3</a:t>
            </a:fld>
            <a:endParaRPr lang="es-ES" sz="1200" dirty="0">
              <a:solidFill>
                <a:srgbClr val="5B6575"/>
              </a:solidFill>
              <a:latin typeface="Calibri"/>
            </a:endParaRPr>
          </a:p>
        </p:txBody>
      </p:sp>
      <p:pic>
        <p:nvPicPr>
          <p:cNvPr id="29" name="s03">
            <a:hlinkClick r:id="" action="ppaction://media"/>
            <a:extLst>
              <a:ext uri="{FF2B5EF4-FFF2-40B4-BE49-F238E27FC236}">
                <a16:creationId xmlns:a16="http://schemas.microsoft.com/office/drawing/2014/main" id="{B24BE05E-2CC7-A636-E751-51385AD516F5}"/>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254000" y="254000"/>
            <a:ext cx="508000" cy="508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5656"/>
    </mc:Choice>
    <mc:Fallback>
      <p:transition spd="slow" advTm="45656"/>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29"/>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29"/>
                </p:tgtEl>
              </p:cMediaNode>
            </p:audio>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566928" y="361188"/>
            <a:ext cx="50292" cy="173736"/>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TextBox 2"/>
          <p:cNvSpPr txBox="1"/>
          <p:nvPr/>
        </p:nvSpPr>
        <p:spPr>
          <a:xfrm>
            <a:off x="704088" y="310896"/>
            <a:ext cx="6766560" cy="274320"/>
          </a:xfrm>
          <a:prstGeom prst="rect">
            <a:avLst/>
          </a:prstGeom>
          <a:noFill/>
        </p:spPr>
        <p:txBody>
          <a:bodyPr wrap="square" lIns="45720" tIns="27432" rIns="45720" bIns="27432" anchor="ctr">
            <a:noAutofit/>
          </a:bodyPr>
          <a:lstStyle/>
          <a:p>
            <a:pPr algn="l">
              <a:lnSpc>
                <a:spcPct val="105000"/>
              </a:lnSpc>
            </a:pPr>
            <a:r>
              <a:rPr lang="es-ES" sz="1200" b="1" i="0" spc="80">
                <a:solidFill>
                  <a:srgbClr val="F28C28"/>
                </a:solidFill>
                <a:latin typeface="Calibri"/>
              </a:rPr>
              <a:t>01   INTRODUCCIÓN</a:t>
            </a:r>
          </a:p>
        </p:txBody>
      </p:sp>
      <p:sp>
        <p:nvSpPr>
          <p:cNvPr id="4" name="Oval 3"/>
          <p:cNvSpPr/>
          <p:nvPr/>
        </p:nvSpPr>
        <p:spPr>
          <a:xfrm>
            <a:off x="10381183" y="356616"/>
            <a:ext cx="178308" cy="178308"/>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Oval 4"/>
          <p:cNvSpPr/>
          <p:nvPr/>
        </p:nvSpPr>
        <p:spPr>
          <a:xfrm>
            <a:off x="10632643"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Oval 5"/>
          <p:cNvSpPr/>
          <p:nvPr/>
        </p:nvSpPr>
        <p:spPr>
          <a:xfrm>
            <a:off x="10852099"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Oval 6"/>
          <p:cNvSpPr/>
          <p:nvPr/>
        </p:nvSpPr>
        <p:spPr>
          <a:xfrm>
            <a:off x="11071555"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Oval 7"/>
          <p:cNvSpPr/>
          <p:nvPr/>
        </p:nvSpPr>
        <p:spPr>
          <a:xfrm>
            <a:off x="11291011"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Oval 8"/>
          <p:cNvSpPr/>
          <p:nvPr/>
        </p:nvSpPr>
        <p:spPr>
          <a:xfrm>
            <a:off x="11510467"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548640" y="585216"/>
            <a:ext cx="11057839" cy="749808"/>
          </a:xfrm>
          <a:prstGeom prst="rect">
            <a:avLst/>
          </a:prstGeom>
          <a:noFill/>
        </p:spPr>
        <p:txBody>
          <a:bodyPr wrap="square" lIns="45720" tIns="27432" rIns="45720" bIns="27432" anchor="ctr">
            <a:noAutofit/>
          </a:bodyPr>
          <a:lstStyle/>
          <a:p>
            <a:pPr algn="l">
              <a:lnSpc>
                <a:spcPct val="105000"/>
              </a:lnSpc>
            </a:pPr>
            <a:r>
              <a:rPr lang="es-ES" sz="3200" b="1" i="0">
                <a:solidFill>
                  <a:srgbClr val="1B2A4A"/>
                </a:solidFill>
                <a:latin typeface="Calibri"/>
              </a:rPr>
              <a:t>Del problema al objetivo</a:t>
            </a:r>
          </a:p>
        </p:txBody>
      </p:sp>
      <p:sp>
        <p:nvSpPr>
          <p:cNvPr id="11" name="Rectangle 10"/>
          <p:cNvSpPr/>
          <p:nvPr/>
        </p:nvSpPr>
        <p:spPr>
          <a:xfrm>
            <a:off x="566928" y="1371600"/>
            <a:ext cx="1051560" cy="50292"/>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Rounded Rectangle 11"/>
          <p:cNvSpPr/>
          <p:nvPr/>
        </p:nvSpPr>
        <p:spPr>
          <a:xfrm>
            <a:off x="566928" y="2221991"/>
            <a:ext cx="1772655" cy="2468880"/>
          </a:xfrm>
          <a:prstGeom prst="roundRect">
            <a:avLst>
              <a:gd name="adj" fmla="val 9000"/>
            </a:avLst>
          </a:prstGeom>
          <a:solidFill>
            <a:srgbClr val="F6F8FC"/>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Rectangle 12"/>
          <p:cNvSpPr/>
          <p:nvPr/>
        </p:nvSpPr>
        <p:spPr>
          <a:xfrm>
            <a:off x="585216" y="2240279"/>
            <a:ext cx="1736079" cy="100584"/>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566928" y="3022854"/>
            <a:ext cx="1772655" cy="606298"/>
          </a:xfrm>
          <a:prstGeom prst="rect">
            <a:avLst/>
          </a:prstGeom>
          <a:noFill/>
        </p:spPr>
        <p:txBody>
          <a:bodyPr wrap="square" tIns="18288" bIns="18288" anchor="t">
            <a:noAutofit/>
          </a:bodyPr>
          <a:lstStyle/>
          <a:p>
            <a:pPr algn="ctr">
              <a:lnSpc>
                <a:spcPct val="105000"/>
              </a:lnSpc>
            </a:pPr>
            <a:r>
              <a:rPr lang="es-ES" sz="1700" b="1" i="0">
                <a:solidFill>
                  <a:srgbClr val="1B2A4A"/>
                </a:solidFill>
                <a:latin typeface="Calibri"/>
              </a:rPr>
              <a:t>Situación problemática</a:t>
            </a:r>
          </a:p>
        </p:txBody>
      </p:sp>
      <p:sp>
        <p:nvSpPr>
          <p:cNvPr id="15" name="TextBox 14"/>
          <p:cNvSpPr txBox="1"/>
          <p:nvPr/>
        </p:nvSpPr>
        <p:spPr>
          <a:xfrm>
            <a:off x="566928" y="3592576"/>
            <a:ext cx="1772655" cy="507746"/>
          </a:xfrm>
          <a:prstGeom prst="rect">
            <a:avLst/>
          </a:prstGeom>
          <a:noFill/>
        </p:spPr>
        <p:txBody>
          <a:bodyPr wrap="square" tIns="18288" bIns="18288" anchor="t">
            <a:noAutofit/>
          </a:bodyPr>
          <a:lstStyle/>
          <a:p>
            <a:pPr algn="ctr">
              <a:lnSpc>
                <a:spcPct val="105000"/>
              </a:lnSpc>
            </a:pPr>
            <a:r>
              <a:rPr lang="es-ES" sz="1300" b="0" i="0">
                <a:solidFill>
                  <a:srgbClr val="5B6575"/>
                </a:solidFill>
                <a:latin typeface="Calibri"/>
              </a:rPr>
              <a:t>brecha doble: texto y caja negra</a:t>
            </a:r>
          </a:p>
        </p:txBody>
      </p:sp>
      <p:sp>
        <p:nvSpPr>
          <p:cNvPr id="16" name="Right Arrow 15"/>
          <p:cNvSpPr/>
          <p:nvPr/>
        </p:nvSpPr>
        <p:spPr>
          <a:xfrm>
            <a:off x="2440167" y="3337560"/>
            <a:ext cx="347472" cy="237744"/>
          </a:xfrm>
          <a:prstGeom prst="rightArrow">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2888223" y="2221991"/>
            <a:ext cx="1772655" cy="2468880"/>
          </a:xfrm>
          <a:prstGeom prst="roundRect">
            <a:avLst>
              <a:gd name="adj" fmla="val 9000"/>
            </a:avLst>
          </a:prstGeom>
          <a:solidFill>
            <a:srgbClr val="F6F8FC"/>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Rectangle 17"/>
          <p:cNvSpPr/>
          <p:nvPr/>
        </p:nvSpPr>
        <p:spPr>
          <a:xfrm>
            <a:off x="2906511" y="2240279"/>
            <a:ext cx="1736079" cy="100584"/>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2888223" y="3022854"/>
            <a:ext cx="1772655" cy="606298"/>
          </a:xfrm>
          <a:prstGeom prst="rect">
            <a:avLst/>
          </a:prstGeom>
          <a:noFill/>
        </p:spPr>
        <p:txBody>
          <a:bodyPr wrap="square" tIns="18288" bIns="18288" anchor="t">
            <a:noAutofit/>
          </a:bodyPr>
          <a:lstStyle/>
          <a:p>
            <a:pPr algn="ctr">
              <a:lnSpc>
                <a:spcPct val="105000"/>
              </a:lnSpc>
            </a:pPr>
            <a:r>
              <a:rPr lang="es-ES" sz="1700" b="1" i="0">
                <a:solidFill>
                  <a:srgbClr val="1B2A4A"/>
                </a:solidFill>
                <a:latin typeface="Calibri"/>
              </a:rPr>
              <a:t>Problema científico</a:t>
            </a:r>
          </a:p>
        </p:txBody>
      </p:sp>
      <p:sp>
        <p:nvSpPr>
          <p:cNvPr id="20" name="TextBox 19"/>
          <p:cNvSpPr txBox="1"/>
          <p:nvPr/>
        </p:nvSpPr>
        <p:spPr>
          <a:xfrm>
            <a:off x="2888223" y="3592576"/>
            <a:ext cx="1772655" cy="507746"/>
          </a:xfrm>
          <a:prstGeom prst="rect">
            <a:avLst/>
          </a:prstGeom>
          <a:noFill/>
        </p:spPr>
        <p:txBody>
          <a:bodyPr wrap="square" tIns="18288" bIns="18288" anchor="t">
            <a:noAutofit/>
          </a:bodyPr>
          <a:lstStyle/>
          <a:p>
            <a:pPr algn="ctr">
              <a:lnSpc>
                <a:spcPct val="105000"/>
              </a:lnSpc>
            </a:pPr>
            <a:r>
              <a:rPr lang="es-ES" sz="1300" b="0" i="0">
                <a:solidFill>
                  <a:srgbClr val="5B6575"/>
                </a:solidFill>
                <a:latin typeface="Calibri"/>
              </a:rPr>
              <a:t>cómo exponer el canal completo</a:t>
            </a:r>
          </a:p>
        </p:txBody>
      </p:sp>
      <p:sp>
        <p:nvSpPr>
          <p:cNvPr id="21" name="Right Arrow 20"/>
          <p:cNvSpPr/>
          <p:nvPr/>
        </p:nvSpPr>
        <p:spPr>
          <a:xfrm>
            <a:off x="4761463" y="3337560"/>
            <a:ext cx="347472" cy="237744"/>
          </a:xfrm>
          <a:prstGeom prst="rightArrow">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1"/>
          <p:cNvSpPr/>
          <p:nvPr/>
        </p:nvSpPr>
        <p:spPr>
          <a:xfrm>
            <a:off x="5209519" y="2221991"/>
            <a:ext cx="1772655" cy="2468880"/>
          </a:xfrm>
          <a:prstGeom prst="roundRect">
            <a:avLst>
              <a:gd name="adj" fmla="val 9000"/>
            </a:avLst>
          </a:prstGeom>
          <a:solidFill>
            <a:srgbClr val="F6F8FC"/>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Rectangle 22"/>
          <p:cNvSpPr/>
          <p:nvPr/>
        </p:nvSpPr>
        <p:spPr>
          <a:xfrm>
            <a:off x="5227807" y="2240279"/>
            <a:ext cx="1736079" cy="100584"/>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TextBox 23"/>
          <p:cNvSpPr txBox="1"/>
          <p:nvPr/>
        </p:nvSpPr>
        <p:spPr>
          <a:xfrm>
            <a:off x="5209519" y="3022854"/>
            <a:ext cx="1772655" cy="606298"/>
          </a:xfrm>
          <a:prstGeom prst="rect">
            <a:avLst/>
          </a:prstGeom>
          <a:noFill/>
        </p:spPr>
        <p:txBody>
          <a:bodyPr wrap="square" tIns="18288" bIns="18288" anchor="t">
            <a:noAutofit/>
          </a:bodyPr>
          <a:lstStyle/>
          <a:p>
            <a:pPr algn="ctr">
              <a:lnSpc>
                <a:spcPct val="105000"/>
              </a:lnSpc>
            </a:pPr>
            <a:r>
              <a:rPr lang="es-ES" sz="1700" b="1" i="0">
                <a:solidFill>
                  <a:srgbClr val="1B2A4A"/>
                </a:solidFill>
                <a:latin typeface="Calibri"/>
              </a:rPr>
              <a:t>Objeto de estudio</a:t>
            </a:r>
          </a:p>
        </p:txBody>
      </p:sp>
      <p:sp>
        <p:nvSpPr>
          <p:cNvPr id="25" name="TextBox 24"/>
          <p:cNvSpPr txBox="1"/>
          <p:nvPr/>
        </p:nvSpPr>
        <p:spPr>
          <a:xfrm>
            <a:off x="5209519" y="3592576"/>
            <a:ext cx="1772655" cy="507746"/>
          </a:xfrm>
          <a:prstGeom prst="rect">
            <a:avLst/>
          </a:prstGeom>
          <a:noFill/>
        </p:spPr>
        <p:txBody>
          <a:bodyPr wrap="square" tIns="18288" bIns="18288" anchor="t">
            <a:noAutofit/>
          </a:bodyPr>
          <a:lstStyle/>
          <a:p>
            <a:pPr algn="ctr">
              <a:lnSpc>
                <a:spcPct val="105000"/>
              </a:lnSpc>
            </a:pPr>
            <a:r>
              <a:rPr lang="es-ES" sz="1300" b="0" i="0">
                <a:solidFill>
                  <a:srgbClr val="5B6575"/>
                </a:solidFill>
                <a:latin typeface="Calibri"/>
              </a:rPr>
              <a:t>canal del MEF plano, Q4 y Q9</a:t>
            </a:r>
          </a:p>
        </p:txBody>
      </p:sp>
      <p:sp>
        <p:nvSpPr>
          <p:cNvPr id="26" name="Right Arrow 25"/>
          <p:cNvSpPr/>
          <p:nvPr/>
        </p:nvSpPr>
        <p:spPr>
          <a:xfrm>
            <a:off x="7082759" y="3337560"/>
            <a:ext cx="347472" cy="237744"/>
          </a:xfrm>
          <a:prstGeom prst="rightArrow">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ounded Rectangle 26"/>
          <p:cNvSpPr/>
          <p:nvPr/>
        </p:nvSpPr>
        <p:spPr>
          <a:xfrm>
            <a:off x="7530815" y="2221991"/>
            <a:ext cx="1772655" cy="2468880"/>
          </a:xfrm>
          <a:prstGeom prst="roundRect">
            <a:avLst>
              <a:gd name="adj" fmla="val 9000"/>
            </a:avLst>
          </a:prstGeom>
          <a:solidFill>
            <a:srgbClr val="F6F8FC"/>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Rectangle 27"/>
          <p:cNvSpPr/>
          <p:nvPr/>
        </p:nvSpPr>
        <p:spPr>
          <a:xfrm>
            <a:off x="7549103" y="2240279"/>
            <a:ext cx="1736079" cy="100584"/>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TextBox 28"/>
          <p:cNvSpPr txBox="1"/>
          <p:nvPr/>
        </p:nvSpPr>
        <p:spPr>
          <a:xfrm>
            <a:off x="7530815" y="3022854"/>
            <a:ext cx="1772655" cy="606298"/>
          </a:xfrm>
          <a:prstGeom prst="rect">
            <a:avLst/>
          </a:prstGeom>
          <a:noFill/>
        </p:spPr>
        <p:txBody>
          <a:bodyPr wrap="square" tIns="18288" bIns="18288" anchor="t">
            <a:noAutofit/>
          </a:bodyPr>
          <a:lstStyle/>
          <a:p>
            <a:pPr algn="ctr">
              <a:lnSpc>
                <a:spcPct val="105000"/>
              </a:lnSpc>
            </a:pPr>
            <a:r>
              <a:rPr lang="es-ES" sz="1700" b="1" i="0">
                <a:solidFill>
                  <a:srgbClr val="1B2A4A"/>
                </a:solidFill>
                <a:latin typeface="Calibri"/>
              </a:rPr>
              <a:t>Campo de acción</a:t>
            </a:r>
          </a:p>
        </p:txBody>
      </p:sp>
      <p:sp>
        <p:nvSpPr>
          <p:cNvPr id="30" name="TextBox 29"/>
          <p:cNvSpPr txBox="1"/>
          <p:nvPr/>
        </p:nvSpPr>
        <p:spPr>
          <a:xfrm>
            <a:off x="7530815" y="3592576"/>
            <a:ext cx="1772655" cy="507746"/>
          </a:xfrm>
          <a:prstGeom prst="rect">
            <a:avLst/>
          </a:prstGeom>
          <a:noFill/>
        </p:spPr>
        <p:txBody>
          <a:bodyPr wrap="square" tIns="18288" bIns="18288" anchor="t">
            <a:noAutofit/>
          </a:bodyPr>
          <a:lstStyle/>
          <a:p>
            <a:pPr algn="ctr">
              <a:lnSpc>
                <a:spcPct val="105000"/>
              </a:lnSpc>
            </a:pPr>
            <a:r>
              <a:rPr lang="es-ES" sz="1300" b="0" i="0">
                <a:solidFill>
                  <a:srgbClr val="5B6575"/>
                </a:solidFill>
                <a:latin typeface="Calibri"/>
              </a:rPr>
              <a:t>su enseñanza: software y memoria</a:t>
            </a:r>
          </a:p>
        </p:txBody>
      </p:sp>
      <p:sp>
        <p:nvSpPr>
          <p:cNvPr id="31" name="Right Arrow 30"/>
          <p:cNvSpPr/>
          <p:nvPr/>
        </p:nvSpPr>
        <p:spPr>
          <a:xfrm>
            <a:off x="9404055" y="3337560"/>
            <a:ext cx="347472" cy="237744"/>
          </a:xfrm>
          <a:prstGeom prst="rightArrow">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ounded Rectangle 31"/>
          <p:cNvSpPr/>
          <p:nvPr/>
        </p:nvSpPr>
        <p:spPr>
          <a:xfrm>
            <a:off x="9852111" y="2221991"/>
            <a:ext cx="1772655" cy="2468880"/>
          </a:xfrm>
          <a:prstGeom prst="roundRect">
            <a:avLst>
              <a:gd name="adj" fmla="val 9000"/>
            </a:avLst>
          </a:prstGeom>
          <a:solidFill>
            <a:srgbClr val="F6F8FC"/>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 name="Rectangle 32"/>
          <p:cNvSpPr/>
          <p:nvPr/>
        </p:nvSpPr>
        <p:spPr>
          <a:xfrm>
            <a:off x="9870399" y="2240279"/>
            <a:ext cx="1736079" cy="100584"/>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4" name="TextBox 33"/>
          <p:cNvSpPr txBox="1"/>
          <p:nvPr/>
        </p:nvSpPr>
        <p:spPr>
          <a:xfrm>
            <a:off x="9852111" y="3022854"/>
            <a:ext cx="1772655" cy="606298"/>
          </a:xfrm>
          <a:prstGeom prst="rect">
            <a:avLst/>
          </a:prstGeom>
          <a:noFill/>
        </p:spPr>
        <p:txBody>
          <a:bodyPr wrap="square" tIns="18288" bIns="18288" anchor="t">
            <a:noAutofit/>
          </a:bodyPr>
          <a:lstStyle/>
          <a:p>
            <a:pPr algn="ctr">
              <a:lnSpc>
                <a:spcPct val="105000"/>
              </a:lnSpc>
            </a:pPr>
            <a:r>
              <a:rPr lang="es-ES" sz="1700" b="1" i="0">
                <a:solidFill>
                  <a:srgbClr val="1B2A4A"/>
                </a:solidFill>
                <a:latin typeface="Calibri"/>
              </a:rPr>
              <a:t>Objetivo general</a:t>
            </a:r>
          </a:p>
        </p:txBody>
      </p:sp>
      <p:sp>
        <p:nvSpPr>
          <p:cNvPr id="35" name="TextBox 34"/>
          <p:cNvSpPr txBox="1"/>
          <p:nvPr/>
        </p:nvSpPr>
        <p:spPr>
          <a:xfrm>
            <a:off x="9852111" y="3592576"/>
            <a:ext cx="1772655" cy="507746"/>
          </a:xfrm>
          <a:prstGeom prst="rect">
            <a:avLst/>
          </a:prstGeom>
          <a:noFill/>
        </p:spPr>
        <p:txBody>
          <a:bodyPr wrap="square" tIns="18288" bIns="18288" anchor="t">
            <a:noAutofit/>
          </a:bodyPr>
          <a:lstStyle/>
          <a:p>
            <a:pPr algn="ctr">
              <a:lnSpc>
                <a:spcPct val="105000"/>
              </a:lnSpc>
            </a:pPr>
            <a:r>
              <a:rPr lang="es-ES" sz="1300" b="0" i="0">
                <a:solidFill>
                  <a:srgbClr val="5B6575"/>
                </a:solidFill>
                <a:latin typeface="Calibri"/>
              </a:rPr>
              <a:t>desarrollar EduFEM en Python</a:t>
            </a:r>
          </a:p>
        </p:txBody>
      </p:sp>
      <p:sp>
        <p:nvSpPr>
          <p:cNvPr id="36" name="Rectangle 35"/>
          <p:cNvSpPr/>
          <p:nvPr/>
        </p:nvSpPr>
        <p:spPr>
          <a:xfrm>
            <a:off x="566928" y="5449824"/>
            <a:ext cx="11057839" cy="841248"/>
          </a:xfrm>
          <a:prstGeom prst="rect">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7" name="Rectangle 36"/>
          <p:cNvSpPr/>
          <p:nvPr/>
        </p:nvSpPr>
        <p:spPr>
          <a:xfrm>
            <a:off x="566928" y="5449824"/>
            <a:ext cx="77724" cy="841248"/>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8" name="TextBox 37"/>
          <p:cNvSpPr txBox="1"/>
          <p:nvPr/>
        </p:nvSpPr>
        <p:spPr>
          <a:xfrm>
            <a:off x="795528" y="5449824"/>
            <a:ext cx="10737799" cy="841248"/>
          </a:xfrm>
          <a:prstGeom prst="rect">
            <a:avLst/>
          </a:prstGeom>
          <a:noFill/>
        </p:spPr>
        <p:txBody>
          <a:bodyPr wrap="square" lIns="45720" tIns="27432" rIns="45720" bIns="27432" anchor="ctr">
            <a:noAutofit/>
          </a:bodyPr>
          <a:lstStyle/>
          <a:p>
            <a:pPr algn="l">
              <a:lnSpc>
                <a:spcPct val="100000"/>
              </a:lnSpc>
            </a:pPr>
            <a:r>
              <a:rPr lang="es-ES" sz="2000" b="1" i="0">
                <a:solidFill>
                  <a:srgbClr val="1B2A4A"/>
                </a:solidFill>
                <a:latin typeface="Calibri"/>
              </a:rPr>
              <a:t>Aporte: EduFEM · Atributo manipulado: cómo se expone el canal · Efecto esperado: observabilidad y contrastabilidad</a:t>
            </a:r>
          </a:p>
        </p:txBody>
      </p:sp>
      <p:sp>
        <p:nvSpPr>
          <p:cNvPr id="39" name="Rectangle 38"/>
          <p:cNvSpPr/>
          <p:nvPr/>
        </p:nvSpPr>
        <p:spPr>
          <a:xfrm>
            <a:off x="566928" y="6364224"/>
            <a:ext cx="11057839" cy="7315"/>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0" name="TextBox 39"/>
          <p:cNvSpPr txBox="1"/>
          <p:nvPr/>
        </p:nvSpPr>
        <p:spPr>
          <a:xfrm>
            <a:off x="566928" y="6437376"/>
            <a:ext cx="5029200" cy="292608"/>
          </a:xfrm>
          <a:prstGeom prst="rect">
            <a:avLst/>
          </a:prstGeom>
          <a:noFill/>
        </p:spPr>
        <p:txBody>
          <a:bodyPr wrap="square" lIns="45720" tIns="27432" rIns="45720" bIns="27432" anchor="ctr">
            <a:noAutofit/>
          </a:bodyPr>
          <a:lstStyle/>
          <a:p>
            <a:pPr algn="l">
              <a:lnSpc>
                <a:spcPct val="105000"/>
              </a:lnSpc>
            </a:pPr>
            <a:r>
              <a:rPr lang="es-ES" sz="1200" b="0" i="0">
                <a:solidFill>
                  <a:srgbClr val="5B6575"/>
                </a:solidFill>
                <a:latin typeface="Calibri"/>
              </a:rPr>
              <a:t>EduFEM · Defensa de tesis · Ingeniería Civil · UATF</a:t>
            </a:r>
          </a:p>
        </p:txBody>
      </p:sp>
      <p:sp>
        <p:nvSpPr>
          <p:cNvPr id="41" name="TextBox 40"/>
          <p:cNvSpPr txBox="1"/>
          <p:nvPr/>
        </p:nvSpPr>
        <p:spPr>
          <a:xfrm>
            <a:off x="4023360" y="6437376"/>
            <a:ext cx="5394960" cy="292608"/>
          </a:xfrm>
          <a:prstGeom prst="rect">
            <a:avLst/>
          </a:prstGeom>
          <a:noFill/>
        </p:spPr>
        <p:txBody>
          <a:bodyPr wrap="square" lIns="45720" tIns="27432" rIns="45720" bIns="27432" anchor="ctr">
            <a:noAutofit/>
          </a:bodyPr>
          <a:lstStyle/>
          <a:p>
            <a:pPr algn="ctr">
              <a:lnSpc>
                <a:spcPct val="105000"/>
              </a:lnSpc>
            </a:pPr>
            <a:r>
              <a:rPr lang="es-ES" sz="1200" b="0" i="0">
                <a:solidFill>
                  <a:srgbClr val="5B6575"/>
                </a:solidFill>
                <a:latin typeface="Calibri"/>
              </a:rPr>
              <a:t>Tesis: Introducción, problema científico, objeto y campo</a:t>
            </a:r>
          </a:p>
        </p:txBody>
      </p:sp>
      <p:sp>
        <p:nvSpPr>
          <p:cNvPr id="42" name="TextBox 41"/>
          <p:cNvSpPr txBox="1"/>
          <p:nvPr/>
        </p:nvSpPr>
        <p:spPr>
          <a:xfrm>
            <a:off x="10527487" y="6437376"/>
            <a:ext cx="1097280" cy="292608"/>
          </a:xfrm>
          <a:prstGeom prst="rect">
            <a:avLst/>
          </a:prstGeom>
          <a:noFill/>
        </p:spPr>
        <p:txBody>
          <a:bodyPr wrap="none" lIns="45720" tIns="18288" rIns="45720" bIns="18288">
            <a:spAutoFit/>
          </a:bodyPr>
          <a:lstStyle/>
          <a:p>
            <a:pPr algn="r"/>
            <a:fld id="{B6F15528-21DE-4FAA-801E-634DDDAF4B2B}" type="slidenum">
              <a:rPr lang="es-ES" sz="1200" dirty="0">
                <a:solidFill>
                  <a:srgbClr val="5B6575"/>
                </a:solidFill>
                <a:latin typeface="Calibri"/>
              </a:rPr>
              <a:t>4</a:t>
            </a:fld>
            <a:endParaRPr lang="es-ES" sz="1200" dirty="0">
              <a:solidFill>
                <a:srgbClr val="5B6575"/>
              </a:solidFill>
              <a:latin typeface="Calibri"/>
            </a:endParaRPr>
          </a:p>
        </p:txBody>
      </p:sp>
      <p:pic>
        <p:nvPicPr>
          <p:cNvPr id="43" name="s04">
            <a:hlinkClick r:id="" action="ppaction://media"/>
            <a:extLst>
              <a:ext uri="{FF2B5EF4-FFF2-40B4-BE49-F238E27FC236}">
                <a16:creationId xmlns:a16="http://schemas.microsoft.com/office/drawing/2014/main" id="{6D3618C2-103C-AE47-4E99-2C8B3AE237FF}"/>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254000" y="254000"/>
            <a:ext cx="508000" cy="508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60752"/>
    </mc:Choice>
    <mc:Fallback>
      <p:transition spd="slow" advTm="60752"/>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3"/>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43"/>
                </p:tgtEl>
              </p:cMediaNode>
            </p:audi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566928" y="361188"/>
            <a:ext cx="50292" cy="173736"/>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TextBox 2"/>
          <p:cNvSpPr txBox="1"/>
          <p:nvPr/>
        </p:nvSpPr>
        <p:spPr>
          <a:xfrm>
            <a:off x="704088" y="310896"/>
            <a:ext cx="6766560" cy="274320"/>
          </a:xfrm>
          <a:prstGeom prst="rect">
            <a:avLst/>
          </a:prstGeom>
          <a:noFill/>
        </p:spPr>
        <p:txBody>
          <a:bodyPr wrap="square" lIns="45720" tIns="27432" rIns="45720" bIns="27432" anchor="ctr">
            <a:noAutofit/>
          </a:bodyPr>
          <a:lstStyle/>
          <a:p>
            <a:pPr algn="l">
              <a:lnSpc>
                <a:spcPct val="105000"/>
              </a:lnSpc>
            </a:pPr>
            <a:r>
              <a:rPr lang="es-ES" sz="1200" b="1" i="0" spc="80">
                <a:solidFill>
                  <a:srgbClr val="F28C28"/>
                </a:solidFill>
                <a:latin typeface="Calibri"/>
              </a:rPr>
              <a:t>01   INTRODUCCIÓN</a:t>
            </a:r>
          </a:p>
        </p:txBody>
      </p:sp>
      <p:sp>
        <p:nvSpPr>
          <p:cNvPr id="4" name="Oval 3"/>
          <p:cNvSpPr/>
          <p:nvPr/>
        </p:nvSpPr>
        <p:spPr>
          <a:xfrm>
            <a:off x="10381183" y="356616"/>
            <a:ext cx="178308" cy="178308"/>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Oval 4"/>
          <p:cNvSpPr/>
          <p:nvPr/>
        </p:nvSpPr>
        <p:spPr>
          <a:xfrm>
            <a:off x="10632643"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Oval 5"/>
          <p:cNvSpPr/>
          <p:nvPr/>
        </p:nvSpPr>
        <p:spPr>
          <a:xfrm>
            <a:off x="10852099"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Oval 6"/>
          <p:cNvSpPr/>
          <p:nvPr/>
        </p:nvSpPr>
        <p:spPr>
          <a:xfrm>
            <a:off x="11071555"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Oval 7"/>
          <p:cNvSpPr/>
          <p:nvPr/>
        </p:nvSpPr>
        <p:spPr>
          <a:xfrm>
            <a:off x="11291011"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Oval 8"/>
          <p:cNvSpPr/>
          <p:nvPr/>
        </p:nvSpPr>
        <p:spPr>
          <a:xfrm>
            <a:off x="11510467"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548640" y="585216"/>
            <a:ext cx="11057839" cy="749808"/>
          </a:xfrm>
          <a:prstGeom prst="rect">
            <a:avLst/>
          </a:prstGeom>
          <a:noFill/>
        </p:spPr>
        <p:txBody>
          <a:bodyPr wrap="square" lIns="45720" tIns="27432" rIns="45720" bIns="27432" anchor="ctr">
            <a:noAutofit/>
          </a:bodyPr>
          <a:lstStyle/>
          <a:p>
            <a:pPr algn="l">
              <a:lnSpc>
                <a:spcPct val="105000"/>
              </a:lnSpc>
            </a:pPr>
            <a:r>
              <a:rPr lang="es-ES" sz="3200" b="1" i="0">
                <a:solidFill>
                  <a:srgbClr val="1B2A4A"/>
                </a:solidFill>
                <a:latin typeface="Calibri"/>
              </a:rPr>
              <a:t>Un objetivo general, seis específicos</a:t>
            </a:r>
          </a:p>
        </p:txBody>
      </p:sp>
      <p:sp>
        <p:nvSpPr>
          <p:cNvPr id="11" name="Rectangle 10"/>
          <p:cNvSpPr/>
          <p:nvPr/>
        </p:nvSpPr>
        <p:spPr>
          <a:xfrm>
            <a:off x="566928" y="1371600"/>
            <a:ext cx="1051560" cy="50292"/>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566928" y="1572768"/>
            <a:ext cx="11057839" cy="558800"/>
          </a:xfrm>
          <a:prstGeom prst="rect">
            <a:avLst/>
          </a:prstGeom>
          <a:noFill/>
        </p:spPr>
        <p:txBody>
          <a:bodyPr wrap="square" lIns="45720" tIns="27432" rIns="45720" bIns="27432" anchor="t">
            <a:noAutofit/>
          </a:bodyPr>
          <a:lstStyle/>
          <a:p>
            <a:pPr algn="l">
              <a:lnSpc>
                <a:spcPct val="108000"/>
              </a:lnSpc>
            </a:pPr>
            <a:r>
              <a:rPr lang="es-ES" sz="1600" b="0" i="1">
                <a:solidFill>
                  <a:srgbClr val="5B6575"/>
                </a:solidFill>
                <a:latin typeface="Calibri"/>
              </a:rPr>
              <a:t>Desarrollar EduFEM en Python, integrando la formulación matemática, el modelado interactivo y la verificación numérica</a:t>
            </a:r>
          </a:p>
        </p:txBody>
      </p:sp>
      <p:graphicFrame>
        <p:nvGraphicFramePr>
          <p:cNvPr id="13" name="Table 12"/>
          <p:cNvGraphicFramePr>
            <a:graphicFrameLocks noGrp="1"/>
          </p:cNvGraphicFramePr>
          <p:nvPr/>
        </p:nvGraphicFramePr>
        <p:xfrm>
          <a:off x="566928" y="2318947"/>
          <a:ext cx="11057838" cy="3254388"/>
        </p:xfrm>
        <a:graphic>
          <a:graphicData uri="http://schemas.openxmlformats.org/drawingml/2006/table">
            <a:tbl>
              <a:tblPr>
                <a:tableStyleId>{5C22544A-7EE6-4342-B048-85BDC9FD1C3A}</a:tableStyleId>
              </a:tblPr>
              <a:tblGrid>
                <a:gridCol w="963033">
                  <a:extLst>
                    <a:ext uri="{9D8B030D-6E8A-4147-A177-3AD203B41FA5}">
                      <a16:colId xmlns:a16="http://schemas.microsoft.com/office/drawing/2014/main" val="20000"/>
                    </a:ext>
                  </a:extLst>
                </a:gridCol>
                <a:gridCol w="8248195">
                  <a:extLst>
                    <a:ext uri="{9D8B030D-6E8A-4147-A177-3AD203B41FA5}">
                      <a16:colId xmlns:a16="http://schemas.microsoft.com/office/drawing/2014/main" val="20001"/>
                    </a:ext>
                  </a:extLst>
                </a:gridCol>
                <a:gridCol w="1846610">
                  <a:extLst>
                    <a:ext uri="{9D8B030D-6E8A-4147-A177-3AD203B41FA5}">
                      <a16:colId xmlns:a16="http://schemas.microsoft.com/office/drawing/2014/main" val="20002"/>
                    </a:ext>
                  </a:extLst>
                </a:gridCol>
              </a:tblGrid>
              <a:tr h="566928">
                <a:tc>
                  <a:txBody>
                    <a:bodyPr/>
                    <a:lstStyle/>
                    <a:p>
                      <a:pPr algn="l"/>
                      <a:r>
                        <a:rPr lang="es-ES" sz="1800" b="1" i="0">
                          <a:solidFill>
                            <a:srgbClr val="FFFFFF"/>
                          </a:solidFill>
                          <a:latin typeface="Calibri"/>
                        </a:rPr>
                        <a:t>OE</a:t>
                      </a:r>
                    </a:p>
                  </a:txBody>
                  <a:tcPr marL="73152" marR="73152" marT="27432" marB="27432" anchor="ctr">
                    <a:solidFill>
                      <a:srgbClr val="1B2A4A"/>
                    </a:solidFill>
                  </a:tcPr>
                </a:tc>
                <a:tc>
                  <a:txBody>
                    <a:bodyPr/>
                    <a:lstStyle/>
                    <a:p>
                      <a:pPr algn="ctr"/>
                      <a:r>
                        <a:rPr lang="es-ES" sz="1800" b="1" i="0">
                          <a:solidFill>
                            <a:srgbClr val="FFFFFF"/>
                          </a:solidFill>
                          <a:latin typeface="Calibri"/>
                        </a:rPr>
                        <a:t>Qué se hace</a:t>
                      </a:r>
                    </a:p>
                  </a:txBody>
                  <a:tcPr marL="73152" marR="73152" marT="27432" marB="27432" anchor="ctr">
                    <a:solidFill>
                      <a:srgbClr val="1B2A4A"/>
                    </a:solidFill>
                  </a:tcPr>
                </a:tc>
                <a:tc>
                  <a:txBody>
                    <a:bodyPr/>
                    <a:lstStyle/>
                    <a:p>
                      <a:pPr algn="ctr"/>
                      <a:r>
                        <a:rPr lang="es-ES" sz="1800" b="1" i="0">
                          <a:solidFill>
                            <a:srgbClr val="FFFFFF"/>
                          </a:solidFill>
                          <a:latin typeface="Calibri"/>
                        </a:rPr>
                        <a:t>Dónde se cumple</a:t>
                      </a:r>
                    </a:p>
                  </a:txBody>
                  <a:tcPr marL="73152" marR="73152" marT="27432" marB="27432" anchor="ctr">
                    <a:solidFill>
                      <a:srgbClr val="1B2A4A"/>
                    </a:solidFill>
                  </a:tcPr>
                </a:tc>
                <a:extLst>
                  <a:ext uri="{0D108BD9-81ED-4DB2-BD59-A6C34878D82A}">
                    <a16:rowId xmlns:a16="http://schemas.microsoft.com/office/drawing/2014/main" val="10000"/>
                  </a:ext>
                </a:extLst>
              </a:tr>
              <a:tr h="447910">
                <a:tc>
                  <a:txBody>
                    <a:bodyPr/>
                    <a:lstStyle/>
                    <a:p>
                      <a:pPr algn="l"/>
                      <a:r>
                        <a:rPr lang="es-ES" sz="1800" b="1" i="0">
                          <a:solidFill>
                            <a:srgbClr val="1F2937"/>
                          </a:solidFill>
                          <a:latin typeface="Calibri"/>
                        </a:rPr>
                        <a:t>OE1</a:t>
                      </a:r>
                    </a:p>
                  </a:txBody>
                  <a:tcPr marL="73152" marR="73152" marT="27432" marB="27432" anchor="ctr">
                    <a:solidFill>
                      <a:srgbClr val="FFFFFF"/>
                    </a:solidFill>
                  </a:tcPr>
                </a:tc>
                <a:tc>
                  <a:txBody>
                    <a:bodyPr/>
                    <a:lstStyle/>
                    <a:p>
                      <a:pPr algn="ctr"/>
                      <a:r>
                        <a:rPr lang="es-ES" sz="1800" b="0" i="0">
                          <a:solidFill>
                            <a:srgbClr val="1F2937"/>
                          </a:solidFill>
                          <a:latin typeface="Calibri"/>
                        </a:rPr>
                        <a:t>Fundamentar el MEF plano con Q4 y Q9</a:t>
                      </a:r>
                    </a:p>
                  </a:txBody>
                  <a:tcPr marL="73152" marR="73152" marT="27432" marB="27432" anchor="ctr">
                    <a:solidFill>
                      <a:srgbClr val="FFFFFF"/>
                    </a:solidFill>
                  </a:tcPr>
                </a:tc>
                <a:tc>
                  <a:txBody>
                    <a:bodyPr/>
                    <a:lstStyle/>
                    <a:p>
                      <a:pPr algn="ctr"/>
                      <a:r>
                        <a:rPr lang="es-ES" sz="1800" b="0" i="0">
                          <a:solidFill>
                            <a:srgbClr val="1F2937"/>
                          </a:solidFill>
                          <a:latin typeface="Calibri"/>
                        </a:rPr>
                        <a:t>Cap. 1</a:t>
                      </a:r>
                    </a:p>
                  </a:txBody>
                  <a:tcPr marL="73152" marR="73152" marT="27432" marB="27432" anchor="ctr">
                    <a:solidFill>
                      <a:srgbClr val="FFFFFF"/>
                    </a:solidFill>
                  </a:tcPr>
                </a:tc>
                <a:extLst>
                  <a:ext uri="{0D108BD9-81ED-4DB2-BD59-A6C34878D82A}">
                    <a16:rowId xmlns:a16="http://schemas.microsoft.com/office/drawing/2014/main" val="10001"/>
                  </a:ext>
                </a:extLst>
              </a:tr>
              <a:tr h="447910">
                <a:tc>
                  <a:txBody>
                    <a:bodyPr/>
                    <a:lstStyle/>
                    <a:p>
                      <a:pPr algn="l"/>
                      <a:r>
                        <a:rPr lang="es-ES" sz="1800" b="1" i="0">
                          <a:solidFill>
                            <a:srgbClr val="1F2937"/>
                          </a:solidFill>
                          <a:latin typeface="Calibri"/>
                        </a:rPr>
                        <a:t>OE2</a:t>
                      </a:r>
                    </a:p>
                  </a:txBody>
                  <a:tcPr marL="73152" marR="73152" marT="27432" marB="27432" anchor="ctr">
                    <a:solidFill>
                      <a:srgbClr val="F6F8FC"/>
                    </a:solidFill>
                  </a:tcPr>
                </a:tc>
                <a:tc>
                  <a:txBody>
                    <a:bodyPr/>
                    <a:lstStyle/>
                    <a:p>
                      <a:pPr algn="ctr"/>
                      <a:r>
                        <a:rPr lang="es-ES" sz="1800" b="0" i="0">
                          <a:solidFill>
                            <a:srgbClr val="1F2937"/>
                          </a:solidFill>
                          <a:latin typeface="Calibri"/>
                        </a:rPr>
                        <a:t>Motor MEF 2D: N, J, B, D, kₑ, ensamblaje, restricciones y tensiones</a:t>
                      </a:r>
                    </a:p>
                  </a:txBody>
                  <a:tcPr marL="73152" marR="73152" marT="27432" marB="27432" anchor="ctr">
                    <a:solidFill>
                      <a:srgbClr val="F6F8FC"/>
                    </a:solidFill>
                  </a:tcPr>
                </a:tc>
                <a:tc>
                  <a:txBody>
                    <a:bodyPr/>
                    <a:lstStyle/>
                    <a:p>
                      <a:pPr algn="ctr"/>
                      <a:r>
                        <a:rPr lang="es-ES" sz="1800" b="0" i="0">
                          <a:solidFill>
                            <a:srgbClr val="1F2937"/>
                          </a:solidFill>
                          <a:latin typeface="Calibri"/>
                        </a:rPr>
                        <a:t>§2.2</a:t>
                      </a:r>
                    </a:p>
                  </a:txBody>
                  <a:tcPr marL="73152" marR="73152" marT="27432" marB="27432" anchor="ctr">
                    <a:solidFill>
                      <a:srgbClr val="F6F8FC"/>
                    </a:solidFill>
                  </a:tcPr>
                </a:tc>
                <a:extLst>
                  <a:ext uri="{0D108BD9-81ED-4DB2-BD59-A6C34878D82A}">
                    <a16:rowId xmlns:a16="http://schemas.microsoft.com/office/drawing/2014/main" val="10002"/>
                  </a:ext>
                </a:extLst>
              </a:tr>
              <a:tr h="447910">
                <a:tc>
                  <a:txBody>
                    <a:bodyPr/>
                    <a:lstStyle/>
                    <a:p>
                      <a:pPr algn="l"/>
                      <a:r>
                        <a:rPr lang="es-ES" sz="1800" b="1" i="0">
                          <a:solidFill>
                            <a:srgbClr val="1F2937"/>
                          </a:solidFill>
                          <a:latin typeface="Calibri"/>
                        </a:rPr>
                        <a:t>OE3</a:t>
                      </a:r>
                    </a:p>
                  </a:txBody>
                  <a:tcPr marL="73152" marR="73152" marT="27432" marB="27432" anchor="ctr">
                    <a:solidFill>
                      <a:srgbClr val="FFFFFF"/>
                    </a:solidFill>
                  </a:tcPr>
                </a:tc>
                <a:tc>
                  <a:txBody>
                    <a:bodyPr/>
                    <a:lstStyle/>
                    <a:p>
                      <a:pPr algn="ctr"/>
                      <a:r>
                        <a:rPr lang="es-ES" sz="1800" b="0" i="0">
                          <a:solidFill>
                            <a:srgbClr val="1F2937"/>
                          </a:solidFill>
                          <a:latin typeface="Calibri"/>
                        </a:rPr>
                        <a:t>Interfaz pre / proceso / post con lienzo único</a:t>
                      </a:r>
                    </a:p>
                  </a:txBody>
                  <a:tcPr marL="73152" marR="73152" marT="27432" marB="27432" anchor="ctr">
                    <a:solidFill>
                      <a:srgbClr val="FFFFFF"/>
                    </a:solidFill>
                  </a:tcPr>
                </a:tc>
                <a:tc>
                  <a:txBody>
                    <a:bodyPr/>
                    <a:lstStyle/>
                    <a:p>
                      <a:pPr algn="ctr"/>
                      <a:r>
                        <a:rPr lang="es-ES" sz="1800" b="0" i="0">
                          <a:solidFill>
                            <a:srgbClr val="1F2937"/>
                          </a:solidFill>
                          <a:latin typeface="Calibri"/>
                        </a:rPr>
                        <a:t>§2.2</a:t>
                      </a:r>
                    </a:p>
                  </a:txBody>
                  <a:tcPr marL="73152" marR="73152" marT="27432" marB="27432" anchor="ctr">
                    <a:solidFill>
                      <a:srgbClr val="FFFFFF"/>
                    </a:solidFill>
                  </a:tcPr>
                </a:tc>
                <a:extLst>
                  <a:ext uri="{0D108BD9-81ED-4DB2-BD59-A6C34878D82A}">
                    <a16:rowId xmlns:a16="http://schemas.microsoft.com/office/drawing/2014/main" val="10003"/>
                  </a:ext>
                </a:extLst>
              </a:tr>
              <a:tr h="447910">
                <a:tc>
                  <a:txBody>
                    <a:bodyPr/>
                    <a:lstStyle/>
                    <a:p>
                      <a:pPr algn="l"/>
                      <a:r>
                        <a:rPr lang="es-ES" sz="1800" b="1" i="0">
                          <a:solidFill>
                            <a:srgbClr val="1F2937"/>
                          </a:solidFill>
                          <a:latin typeface="Calibri"/>
                        </a:rPr>
                        <a:t>OE4</a:t>
                      </a:r>
                    </a:p>
                  </a:txBody>
                  <a:tcPr marL="73152" marR="73152" marT="27432" marB="27432" anchor="ctr">
                    <a:solidFill>
                      <a:srgbClr val="F6F8FC"/>
                    </a:solidFill>
                  </a:tcPr>
                </a:tc>
                <a:tc>
                  <a:txBody>
                    <a:bodyPr/>
                    <a:lstStyle/>
                    <a:p>
                      <a:pPr algn="ctr"/>
                      <a:r>
                        <a:rPr lang="es-ES" sz="1800" b="0" i="0">
                          <a:solidFill>
                            <a:srgbClr val="1F2937"/>
                          </a:solidFill>
                          <a:latin typeface="Calibri"/>
                        </a:rPr>
                        <a:t>Módulos paso a paso hasta el ensamblaje, más post-proceso y memoria</a:t>
                      </a:r>
                    </a:p>
                  </a:txBody>
                  <a:tcPr marL="73152" marR="73152" marT="27432" marB="27432" anchor="ctr">
                    <a:solidFill>
                      <a:srgbClr val="F6F8FC"/>
                    </a:solidFill>
                  </a:tcPr>
                </a:tc>
                <a:tc>
                  <a:txBody>
                    <a:bodyPr/>
                    <a:lstStyle/>
                    <a:p>
                      <a:pPr algn="ctr"/>
                      <a:r>
                        <a:rPr lang="es-ES" sz="1800" b="0" i="0">
                          <a:solidFill>
                            <a:srgbClr val="1F2937"/>
                          </a:solidFill>
                          <a:latin typeface="Calibri"/>
                        </a:rPr>
                        <a:t>§2.2</a:t>
                      </a:r>
                    </a:p>
                  </a:txBody>
                  <a:tcPr marL="73152" marR="73152" marT="27432" marB="27432" anchor="ctr">
                    <a:solidFill>
                      <a:srgbClr val="F6F8FC"/>
                    </a:solidFill>
                  </a:tcPr>
                </a:tc>
                <a:extLst>
                  <a:ext uri="{0D108BD9-81ED-4DB2-BD59-A6C34878D82A}">
                    <a16:rowId xmlns:a16="http://schemas.microsoft.com/office/drawing/2014/main" val="10004"/>
                  </a:ext>
                </a:extLst>
              </a:tr>
              <a:tr h="447910">
                <a:tc>
                  <a:txBody>
                    <a:bodyPr/>
                    <a:lstStyle/>
                    <a:p>
                      <a:pPr algn="l"/>
                      <a:r>
                        <a:rPr lang="es-ES" sz="1800" b="1" i="0">
                          <a:solidFill>
                            <a:srgbClr val="1F2937"/>
                          </a:solidFill>
                          <a:latin typeface="Calibri"/>
                        </a:rPr>
                        <a:t>OE5</a:t>
                      </a:r>
                    </a:p>
                  </a:txBody>
                  <a:tcPr marL="73152" marR="73152" marT="27432" marB="27432" anchor="ctr">
                    <a:solidFill>
                      <a:srgbClr val="FFFFFF"/>
                    </a:solidFill>
                  </a:tcPr>
                </a:tc>
                <a:tc>
                  <a:txBody>
                    <a:bodyPr/>
                    <a:lstStyle/>
                    <a:p>
                      <a:pPr algn="ctr"/>
                      <a:r>
                        <a:rPr lang="es-ES" sz="1800" b="0" i="0">
                          <a:solidFill>
                            <a:srgbClr val="1F2937"/>
                          </a:solidFill>
                          <a:latin typeface="Calibri"/>
                        </a:rPr>
                        <a:t>V&amp;V: MMS, Timoshenko, Cook y SAP2000</a:t>
                      </a:r>
                    </a:p>
                  </a:txBody>
                  <a:tcPr marL="73152" marR="73152" marT="27432" marB="27432" anchor="ctr">
                    <a:solidFill>
                      <a:srgbClr val="FFFFFF"/>
                    </a:solidFill>
                  </a:tcPr>
                </a:tc>
                <a:tc>
                  <a:txBody>
                    <a:bodyPr/>
                    <a:lstStyle/>
                    <a:p>
                      <a:pPr algn="ctr"/>
                      <a:r>
                        <a:rPr lang="es-ES" sz="1800" b="0" i="0">
                          <a:solidFill>
                            <a:srgbClr val="1F2937"/>
                          </a:solidFill>
                          <a:latin typeface="Calibri"/>
                        </a:rPr>
                        <a:t>Cap. 3</a:t>
                      </a:r>
                    </a:p>
                  </a:txBody>
                  <a:tcPr marL="73152" marR="73152" marT="27432" marB="27432" anchor="ctr">
                    <a:solidFill>
                      <a:srgbClr val="FFFFFF"/>
                    </a:solidFill>
                  </a:tcPr>
                </a:tc>
                <a:extLst>
                  <a:ext uri="{0D108BD9-81ED-4DB2-BD59-A6C34878D82A}">
                    <a16:rowId xmlns:a16="http://schemas.microsoft.com/office/drawing/2014/main" val="10005"/>
                  </a:ext>
                </a:extLst>
              </a:tr>
              <a:tr h="447910">
                <a:tc>
                  <a:txBody>
                    <a:bodyPr/>
                    <a:lstStyle/>
                    <a:p>
                      <a:pPr algn="l"/>
                      <a:r>
                        <a:rPr lang="es-ES" sz="1800" b="1" i="0">
                          <a:solidFill>
                            <a:srgbClr val="1F2937"/>
                          </a:solidFill>
                          <a:latin typeface="Calibri"/>
                        </a:rPr>
                        <a:t>OE6</a:t>
                      </a:r>
                    </a:p>
                  </a:txBody>
                  <a:tcPr marL="73152" marR="73152" marT="27432" marB="27432" anchor="ctr">
                    <a:solidFill>
                      <a:srgbClr val="F6F8FC"/>
                    </a:solidFill>
                  </a:tcPr>
                </a:tc>
                <a:tc>
                  <a:txBody>
                    <a:bodyPr/>
                    <a:lstStyle/>
                    <a:p>
                      <a:pPr algn="ctr"/>
                      <a:r>
                        <a:rPr lang="es-ES" sz="1800" b="0" i="0">
                          <a:solidFill>
                            <a:srgbClr val="1F2937"/>
                          </a:solidFill>
                          <a:latin typeface="Calibri"/>
                        </a:rPr>
                        <a:t>Memoria de cálculo en PDF; DXF y CSV como complemento instrumental</a:t>
                      </a:r>
                    </a:p>
                  </a:txBody>
                  <a:tcPr marL="73152" marR="73152" marT="27432" marB="27432" anchor="ctr">
                    <a:solidFill>
                      <a:srgbClr val="F6F8FC"/>
                    </a:solidFill>
                  </a:tcPr>
                </a:tc>
                <a:tc>
                  <a:txBody>
                    <a:bodyPr/>
                    <a:lstStyle/>
                    <a:p>
                      <a:pPr algn="ctr"/>
                      <a:r>
                        <a:rPr lang="es-ES" sz="1800" b="0" i="0">
                          <a:solidFill>
                            <a:srgbClr val="1F2937"/>
                          </a:solidFill>
                          <a:latin typeface="Calibri"/>
                        </a:rPr>
                        <a:t>§2.2</a:t>
                      </a:r>
                    </a:p>
                  </a:txBody>
                  <a:tcPr marL="73152" marR="73152" marT="27432" marB="27432" anchor="ctr">
                    <a:solidFill>
                      <a:srgbClr val="F6F8FC"/>
                    </a:solidFill>
                  </a:tcPr>
                </a:tc>
                <a:extLst>
                  <a:ext uri="{0D108BD9-81ED-4DB2-BD59-A6C34878D82A}">
                    <a16:rowId xmlns:a16="http://schemas.microsoft.com/office/drawing/2014/main" val="10006"/>
                  </a:ext>
                </a:extLst>
              </a:tr>
            </a:tbl>
          </a:graphicData>
        </a:graphic>
      </p:graphicFrame>
      <p:sp>
        <p:nvSpPr>
          <p:cNvPr id="14" name="Rectangle 13"/>
          <p:cNvSpPr/>
          <p:nvPr/>
        </p:nvSpPr>
        <p:spPr>
          <a:xfrm>
            <a:off x="566928" y="2853871"/>
            <a:ext cx="11057839" cy="41148"/>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Rectangle 14"/>
          <p:cNvSpPr/>
          <p:nvPr/>
        </p:nvSpPr>
        <p:spPr>
          <a:xfrm>
            <a:off x="566928" y="5760720"/>
            <a:ext cx="11057839" cy="530352"/>
          </a:xfrm>
          <a:prstGeom prst="rect">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Rectangle 15"/>
          <p:cNvSpPr/>
          <p:nvPr/>
        </p:nvSpPr>
        <p:spPr>
          <a:xfrm>
            <a:off x="566928" y="5760720"/>
            <a:ext cx="77724" cy="530352"/>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795528" y="5760720"/>
            <a:ext cx="10737799" cy="530352"/>
          </a:xfrm>
          <a:prstGeom prst="rect">
            <a:avLst/>
          </a:prstGeom>
          <a:noFill/>
        </p:spPr>
        <p:txBody>
          <a:bodyPr wrap="square" lIns="45720" tIns="27432" rIns="45720" bIns="27432" anchor="ctr">
            <a:noAutofit/>
          </a:bodyPr>
          <a:lstStyle/>
          <a:p>
            <a:pPr algn="l">
              <a:lnSpc>
                <a:spcPct val="100000"/>
              </a:lnSpc>
            </a:pPr>
            <a:r>
              <a:rPr lang="es-ES" sz="2200" b="1" i="0">
                <a:solidFill>
                  <a:srgbClr val="1B2A4A"/>
                </a:solidFill>
                <a:latin typeface="Calibri"/>
              </a:rPr>
              <a:t>Esta tabla vuelve en las conclusiones con la columna «cumplimiento»</a:t>
            </a:r>
          </a:p>
        </p:txBody>
      </p:sp>
      <p:sp>
        <p:nvSpPr>
          <p:cNvPr id="18" name="Rectangle 17"/>
          <p:cNvSpPr/>
          <p:nvPr/>
        </p:nvSpPr>
        <p:spPr>
          <a:xfrm>
            <a:off x="566928" y="6364224"/>
            <a:ext cx="11057839" cy="7315"/>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566928" y="6437376"/>
            <a:ext cx="5029200" cy="292608"/>
          </a:xfrm>
          <a:prstGeom prst="rect">
            <a:avLst/>
          </a:prstGeom>
          <a:noFill/>
        </p:spPr>
        <p:txBody>
          <a:bodyPr wrap="square" lIns="45720" tIns="27432" rIns="45720" bIns="27432" anchor="ctr">
            <a:noAutofit/>
          </a:bodyPr>
          <a:lstStyle/>
          <a:p>
            <a:pPr algn="l">
              <a:lnSpc>
                <a:spcPct val="105000"/>
              </a:lnSpc>
            </a:pPr>
            <a:r>
              <a:rPr lang="es-ES" sz="1200" b="0" i="0">
                <a:solidFill>
                  <a:srgbClr val="5B6575"/>
                </a:solidFill>
                <a:latin typeface="Calibri"/>
              </a:rPr>
              <a:t>EduFEM · Defensa de tesis · Ingeniería Civil · UATF</a:t>
            </a:r>
          </a:p>
        </p:txBody>
      </p:sp>
      <p:sp>
        <p:nvSpPr>
          <p:cNvPr id="20" name="TextBox 19"/>
          <p:cNvSpPr txBox="1"/>
          <p:nvPr/>
        </p:nvSpPr>
        <p:spPr>
          <a:xfrm>
            <a:off x="4023360" y="6437376"/>
            <a:ext cx="5394960" cy="292608"/>
          </a:xfrm>
          <a:prstGeom prst="rect">
            <a:avLst/>
          </a:prstGeom>
          <a:noFill/>
        </p:spPr>
        <p:txBody>
          <a:bodyPr wrap="square" lIns="45720" tIns="27432" rIns="45720" bIns="27432" anchor="ctr">
            <a:noAutofit/>
          </a:bodyPr>
          <a:lstStyle/>
          <a:p>
            <a:pPr algn="ctr">
              <a:lnSpc>
                <a:spcPct val="105000"/>
              </a:lnSpc>
            </a:pPr>
            <a:r>
              <a:rPr lang="es-ES" sz="1200" b="0" i="0">
                <a:solidFill>
                  <a:srgbClr val="5B6575"/>
                </a:solidFill>
                <a:latin typeface="Calibri"/>
              </a:rPr>
              <a:t>Tesis: Introducción, objetivos</a:t>
            </a:r>
          </a:p>
        </p:txBody>
      </p:sp>
      <p:sp>
        <p:nvSpPr>
          <p:cNvPr id="21" name="TextBox 20"/>
          <p:cNvSpPr txBox="1"/>
          <p:nvPr/>
        </p:nvSpPr>
        <p:spPr>
          <a:xfrm>
            <a:off x="10527487" y="6437376"/>
            <a:ext cx="1097280" cy="292608"/>
          </a:xfrm>
          <a:prstGeom prst="rect">
            <a:avLst/>
          </a:prstGeom>
          <a:noFill/>
        </p:spPr>
        <p:txBody>
          <a:bodyPr wrap="none" lIns="45720" tIns="18288" rIns="45720" bIns="18288">
            <a:spAutoFit/>
          </a:bodyPr>
          <a:lstStyle/>
          <a:p>
            <a:pPr algn="r"/>
            <a:fld id="{B6F15528-21DE-4FAA-801E-634DDDAF4B2B}" type="slidenum">
              <a:rPr lang="es-ES" sz="1200" dirty="0">
                <a:solidFill>
                  <a:srgbClr val="5B6575"/>
                </a:solidFill>
                <a:latin typeface="Calibri"/>
              </a:rPr>
              <a:t>5</a:t>
            </a:fld>
            <a:endParaRPr lang="es-ES" sz="1200" dirty="0">
              <a:solidFill>
                <a:srgbClr val="5B6575"/>
              </a:solidFill>
              <a:latin typeface="Calibri"/>
            </a:endParaRPr>
          </a:p>
        </p:txBody>
      </p:sp>
      <p:pic>
        <p:nvPicPr>
          <p:cNvPr id="22" name="s05">
            <a:hlinkClick r:id="" action="ppaction://media"/>
            <a:extLst>
              <a:ext uri="{FF2B5EF4-FFF2-40B4-BE49-F238E27FC236}">
                <a16:creationId xmlns:a16="http://schemas.microsoft.com/office/drawing/2014/main" id="{69A1370A-128B-89B3-812A-486CA3CBEA5C}"/>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254000" y="254000"/>
            <a:ext cx="508000" cy="508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66728"/>
    </mc:Choice>
    <mc:Fallback>
      <p:transition spd="slow" advTm="66728"/>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22"/>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22"/>
                </p:tgtEl>
              </p:cMediaNode>
            </p:audio>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566928" y="361188"/>
            <a:ext cx="50292" cy="173736"/>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TextBox 2"/>
          <p:cNvSpPr txBox="1"/>
          <p:nvPr/>
        </p:nvSpPr>
        <p:spPr>
          <a:xfrm>
            <a:off x="704088" y="310896"/>
            <a:ext cx="6766560" cy="274320"/>
          </a:xfrm>
          <a:prstGeom prst="rect">
            <a:avLst/>
          </a:prstGeom>
          <a:noFill/>
        </p:spPr>
        <p:txBody>
          <a:bodyPr wrap="square" lIns="45720" tIns="27432" rIns="45720" bIns="27432" anchor="ctr">
            <a:noAutofit/>
          </a:bodyPr>
          <a:lstStyle/>
          <a:p>
            <a:pPr algn="l">
              <a:lnSpc>
                <a:spcPct val="105000"/>
              </a:lnSpc>
            </a:pPr>
            <a:r>
              <a:rPr lang="es-ES" sz="1200" b="1" i="0" spc="80">
                <a:solidFill>
                  <a:srgbClr val="F28C28"/>
                </a:solidFill>
                <a:latin typeface="Calibri"/>
              </a:rPr>
              <a:t>01   INTRODUCCIÓN</a:t>
            </a:r>
          </a:p>
        </p:txBody>
      </p:sp>
      <p:sp>
        <p:nvSpPr>
          <p:cNvPr id="4" name="Oval 3"/>
          <p:cNvSpPr/>
          <p:nvPr/>
        </p:nvSpPr>
        <p:spPr>
          <a:xfrm>
            <a:off x="10381183" y="356616"/>
            <a:ext cx="178308" cy="178308"/>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Oval 4"/>
          <p:cNvSpPr/>
          <p:nvPr/>
        </p:nvSpPr>
        <p:spPr>
          <a:xfrm>
            <a:off x="10632643"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Oval 5"/>
          <p:cNvSpPr/>
          <p:nvPr/>
        </p:nvSpPr>
        <p:spPr>
          <a:xfrm>
            <a:off x="10852099"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Oval 6"/>
          <p:cNvSpPr/>
          <p:nvPr/>
        </p:nvSpPr>
        <p:spPr>
          <a:xfrm>
            <a:off x="11071555"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Oval 7"/>
          <p:cNvSpPr/>
          <p:nvPr/>
        </p:nvSpPr>
        <p:spPr>
          <a:xfrm>
            <a:off x="11291011"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Oval 8"/>
          <p:cNvSpPr/>
          <p:nvPr/>
        </p:nvSpPr>
        <p:spPr>
          <a:xfrm>
            <a:off x="11510467"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548640" y="585216"/>
            <a:ext cx="11057839" cy="749808"/>
          </a:xfrm>
          <a:prstGeom prst="rect">
            <a:avLst/>
          </a:prstGeom>
          <a:noFill/>
        </p:spPr>
        <p:txBody>
          <a:bodyPr wrap="square" lIns="45720" tIns="27432" rIns="45720" bIns="27432" anchor="ctr">
            <a:noAutofit/>
          </a:bodyPr>
          <a:lstStyle/>
          <a:p>
            <a:pPr algn="l">
              <a:lnSpc>
                <a:spcPct val="105000"/>
              </a:lnSpc>
            </a:pPr>
            <a:r>
              <a:rPr lang="es-ES" sz="3200" b="1" i="0">
                <a:solidFill>
                  <a:srgbClr val="1B2A4A"/>
                </a:solidFill>
                <a:latin typeface="Calibri"/>
              </a:rPr>
              <a:t>Hipótesis de diseño y preguntas</a:t>
            </a:r>
          </a:p>
        </p:txBody>
      </p:sp>
      <p:sp>
        <p:nvSpPr>
          <p:cNvPr id="11" name="Rectangle 10"/>
          <p:cNvSpPr/>
          <p:nvPr/>
        </p:nvSpPr>
        <p:spPr>
          <a:xfrm>
            <a:off x="566928" y="1371600"/>
            <a:ext cx="1051560" cy="50292"/>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566928" y="1572768"/>
            <a:ext cx="11057839" cy="558800"/>
          </a:xfrm>
          <a:prstGeom prst="rect">
            <a:avLst/>
          </a:prstGeom>
          <a:noFill/>
        </p:spPr>
        <p:txBody>
          <a:bodyPr wrap="square" lIns="45720" tIns="27432" rIns="45720" bIns="27432" anchor="t">
            <a:noAutofit/>
          </a:bodyPr>
          <a:lstStyle/>
          <a:p>
            <a:pPr algn="l">
              <a:lnSpc>
                <a:spcPct val="108000"/>
              </a:lnSpc>
            </a:pPr>
            <a:r>
              <a:rPr lang="es-ES" sz="1600" b="0" i="1">
                <a:solidFill>
                  <a:srgbClr val="5B6575"/>
                </a:solidFill>
                <a:latin typeface="Calibri"/>
              </a:rPr>
              <a:t>Si el software expone el canal de forma transparente, interactiva y coherente con el flujo profesional, entonces…</a:t>
            </a:r>
          </a:p>
        </p:txBody>
      </p:sp>
      <p:sp>
        <p:nvSpPr>
          <p:cNvPr id="13" name="Rounded Rectangle 12"/>
          <p:cNvSpPr/>
          <p:nvPr/>
        </p:nvSpPr>
        <p:spPr>
          <a:xfrm>
            <a:off x="566928" y="2241296"/>
            <a:ext cx="5346039" cy="3098800"/>
          </a:xfrm>
          <a:prstGeom prst="roundRect">
            <a:avLst>
              <a:gd name="adj" fmla="val 5000"/>
            </a:avLst>
          </a:prstGeom>
          <a:solidFill>
            <a:srgbClr val="F6F8FC"/>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Rounded Rectangle 13"/>
          <p:cNvSpPr/>
          <p:nvPr/>
        </p:nvSpPr>
        <p:spPr>
          <a:xfrm>
            <a:off x="566928" y="2241296"/>
            <a:ext cx="5346039" cy="621792"/>
          </a:xfrm>
          <a:prstGeom prst="roundRect">
            <a:avLst>
              <a:gd name="adj" fmla="val 12000"/>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Rectangle 14"/>
          <p:cNvSpPr/>
          <p:nvPr/>
        </p:nvSpPr>
        <p:spPr>
          <a:xfrm>
            <a:off x="566928" y="2588768"/>
            <a:ext cx="5346039" cy="27432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566928" y="2241296"/>
            <a:ext cx="5346039" cy="621792"/>
          </a:xfrm>
          <a:prstGeom prst="rect">
            <a:avLst/>
          </a:prstGeom>
          <a:noFill/>
        </p:spPr>
        <p:txBody>
          <a:bodyPr wrap="square" lIns="45720" tIns="27432" rIns="45720" bIns="27432" anchor="ctr">
            <a:noAutofit/>
          </a:bodyPr>
          <a:lstStyle/>
          <a:p>
            <a:pPr algn="ctr">
              <a:lnSpc>
                <a:spcPct val="100000"/>
              </a:lnSpc>
            </a:pPr>
            <a:r>
              <a:rPr lang="es-ES" sz="2000" b="1" i="0">
                <a:solidFill>
                  <a:srgbClr val="FFFFFF"/>
                </a:solidFill>
                <a:latin typeface="Calibri"/>
              </a:rPr>
              <a:t>Hipótesis de diseño: tres cláusulas</a:t>
            </a:r>
          </a:p>
        </p:txBody>
      </p:sp>
      <p:sp>
        <p:nvSpPr>
          <p:cNvPr id="17" name="TextBox 16"/>
          <p:cNvSpPr txBox="1"/>
          <p:nvPr/>
        </p:nvSpPr>
        <p:spPr>
          <a:xfrm>
            <a:off x="768096" y="3064256"/>
            <a:ext cx="4943703" cy="2147824"/>
          </a:xfrm>
          <a:prstGeom prst="rect">
            <a:avLst/>
          </a:prstGeom>
          <a:noFill/>
        </p:spPr>
        <p:txBody>
          <a:bodyPr wrap="square" lIns="45720" tIns="27432" rIns="45720" bIns="27432" anchor="t">
            <a:noAutofit/>
          </a:bodyPr>
          <a:lstStyle/>
          <a:p>
            <a:pPr marL="347472" indent="-347472">
              <a:lnSpc>
                <a:spcPct val="112000"/>
              </a:lnSpc>
              <a:spcAft>
                <a:spcPts val="900"/>
              </a:spcAft>
              <a:buClr>
                <a:srgbClr val="1B2A4A"/>
              </a:buClr>
              <a:buSzPct val="100000"/>
              <a:buFont typeface="Arial"/>
              <a:buChar char="•"/>
            </a:pPr>
            <a:r>
              <a:rPr lang="es-ES" sz="1700" b="0" i="0">
                <a:solidFill>
                  <a:srgbClr val="1F2937"/>
                </a:solidFill>
                <a:latin typeface="Calibri"/>
              </a:rPr>
              <a:t>(a) tasas teóricas; error &lt; 1 % en σₓ y &lt; 3 % en la flecha</a:t>
            </a:r>
          </a:p>
          <a:p>
            <a:pPr marL="347472" indent="-347472">
              <a:lnSpc>
                <a:spcPct val="112000"/>
              </a:lnSpc>
              <a:spcAft>
                <a:spcPts val="900"/>
              </a:spcAft>
              <a:buClr>
                <a:srgbClr val="1B2A4A"/>
              </a:buClr>
              <a:buSzPct val="100000"/>
              <a:buFont typeface="Arial"/>
              <a:buChar char="•"/>
            </a:pPr>
            <a:r>
              <a:rPr lang="es-ES" sz="1700" b="0" i="0">
                <a:solidFill>
                  <a:srgbClr val="1F2937"/>
                </a:solidFill>
                <a:latin typeface="Calibri"/>
              </a:rPr>
              <a:t>(b) el Q4 bloquea en Cook; el Q9 converge</a:t>
            </a:r>
          </a:p>
          <a:p>
            <a:pPr marL="347472" indent="-347472">
              <a:lnSpc>
                <a:spcPct val="112000"/>
              </a:lnSpc>
              <a:spcAft>
                <a:spcPts val="900"/>
              </a:spcAft>
              <a:buClr>
                <a:srgbClr val="1B2A4A"/>
              </a:buClr>
              <a:buSzPct val="100000"/>
              <a:buFont typeface="Arial"/>
              <a:buChar char="•"/>
            </a:pPr>
            <a:r>
              <a:rPr lang="es-ES" sz="1700" b="0" i="0">
                <a:solidFill>
                  <a:srgbClr val="1F2937"/>
                </a:solidFill>
                <a:latin typeface="Calibri"/>
              </a:rPr>
              <a:t>(c) cada etapa, observable en un módulo o en la memoria</a:t>
            </a:r>
          </a:p>
          <a:p>
            <a:pPr marL="347472" indent="-347472">
              <a:lnSpc>
                <a:spcPct val="112000"/>
              </a:lnSpc>
              <a:spcAft>
                <a:spcPts val="900"/>
              </a:spcAft>
              <a:buClr>
                <a:srgbClr val="1B2A4A"/>
              </a:buClr>
              <a:buSzPct val="100000"/>
              <a:buFont typeface="Arial"/>
              <a:buChar char="•"/>
            </a:pPr>
            <a:r>
              <a:rPr lang="es-ES" sz="1700" b="1" i="0">
                <a:solidFill>
                  <a:srgbClr val="1B2A4A"/>
                </a:solidFill>
                <a:latin typeface="Calibri"/>
              </a:rPr>
              <a:t>Supuesto:</a:t>
            </a:r>
            <a:r>
              <a:rPr lang="es-ES" sz="1700" b="0" i="0">
                <a:solidFill>
                  <a:srgbClr val="1F2937"/>
                </a:solidFill>
                <a:latin typeface="Calibri"/>
              </a:rPr>
              <a:t> que eso apoye el aprendizaje no se contrasta</a:t>
            </a:r>
          </a:p>
        </p:txBody>
      </p:sp>
      <p:sp>
        <p:nvSpPr>
          <p:cNvPr id="18" name="Rounded Rectangle 17"/>
          <p:cNvSpPr/>
          <p:nvPr/>
        </p:nvSpPr>
        <p:spPr>
          <a:xfrm>
            <a:off x="6278727" y="2241296"/>
            <a:ext cx="5346039" cy="3098800"/>
          </a:xfrm>
          <a:prstGeom prst="roundRect">
            <a:avLst>
              <a:gd name="adj" fmla="val 5000"/>
            </a:avLst>
          </a:prstGeom>
          <a:solidFill>
            <a:srgbClr val="F6F8FC"/>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Rounded Rectangle 18"/>
          <p:cNvSpPr/>
          <p:nvPr/>
        </p:nvSpPr>
        <p:spPr>
          <a:xfrm>
            <a:off x="6278727" y="2241296"/>
            <a:ext cx="5346039" cy="621792"/>
          </a:xfrm>
          <a:prstGeom prst="roundRect">
            <a:avLst>
              <a:gd name="adj" fmla="val 12000"/>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Rectangle 19"/>
          <p:cNvSpPr/>
          <p:nvPr/>
        </p:nvSpPr>
        <p:spPr>
          <a:xfrm>
            <a:off x="6278727" y="2588768"/>
            <a:ext cx="5346039" cy="27432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p:cNvSpPr txBox="1"/>
          <p:nvPr/>
        </p:nvSpPr>
        <p:spPr>
          <a:xfrm>
            <a:off x="6278727" y="2241296"/>
            <a:ext cx="5346039" cy="621792"/>
          </a:xfrm>
          <a:prstGeom prst="rect">
            <a:avLst/>
          </a:prstGeom>
          <a:noFill/>
        </p:spPr>
        <p:txBody>
          <a:bodyPr wrap="square" lIns="45720" tIns="27432" rIns="45720" bIns="27432" anchor="ctr">
            <a:noAutofit/>
          </a:bodyPr>
          <a:lstStyle/>
          <a:p>
            <a:pPr algn="ctr">
              <a:lnSpc>
                <a:spcPct val="100000"/>
              </a:lnSpc>
            </a:pPr>
            <a:r>
              <a:rPr lang="es-ES" sz="2300" b="1" i="0">
                <a:solidFill>
                  <a:srgbClr val="FFFFFF"/>
                </a:solidFill>
                <a:latin typeface="Calibri"/>
              </a:rPr>
              <a:t>Preguntas de investigación</a:t>
            </a:r>
          </a:p>
        </p:txBody>
      </p:sp>
      <p:sp>
        <p:nvSpPr>
          <p:cNvPr id="22" name="TextBox 21"/>
          <p:cNvSpPr txBox="1"/>
          <p:nvPr/>
        </p:nvSpPr>
        <p:spPr>
          <a:xfrm>
            <a:off x="6479895" y="3064256"/>
            <a:ext cx="4943703" cy="2147824"/>
          </a:xfrm>
          <a:prstGeom prst="rect">
            <a:avLst/>
          </a:prstGeom>
          <a:noFill/>
        </p:spPr>
        <p:txBody>
          <a:bodyPr wrap="square" lIns="45720" tIns="27432" rIns="45720" bIns="27432" anchor="t">
            <a:noAutofit/>
          </a:bodyPr>
          <a:lstStyle/>
          <a:p>
            <a:pPr marL="347472" indent="-347472">
              <a:lnSpc>
                <a:spcPct val="112000"/>
              </a:lnSpc>
              <a:spcAft>
                <a:spcPts val="900"/>
              </a:spcAft>
              <a:buClr>
                <a:srgbClr val="F28C28"/>
              </a:buClr>
              <a:buSzPct val="100000"/>
              <a:buFont typeface="Arial"/>
              <a:buChar char="•"/>
            </a:pPr>
            <a:r>
              <a:rPr lang="es-ES" sz="1900" b="1" i="0">
                <a:solidFill>
                  <a:srgbClr val="1B2A4A"/>
                </a:solidFill>
                <a:latin typeface="Calibri"/>
              </a:rPr>
              <a:t>PI-1:</a:t>
            </a:r>
            <a:r>
              <a:rPr lang="es-ES" sz="1900" b="0" i="0">
                <a:solidFill>
                  <a:srgbClr val="1F2937"/>
                </a:solidFill>
                <a:latin typeface="Calibri"/>
              </a:rPr>
              <a:t> ¿precisión verificable frente a soluciones analíticas y SAP2000?</a:t>
            </a:r>
          </a:p>
          <a:p>
            <a:pPr marL="347472" indent="-347472">
              <a:lnSpc>
                <a:spcPct val="112000"/>
              </a:lnSpc>
              <a:spcAft>
                <a:spcPts val="900"/>
              </a:spcAft>
              <a:buClr>
                <a:srgbClr val="F28C28"/>
              </a:buClr>
              <a:buSzPct val="100000"/>
              <a:buFont typeface="Arial"/>
              <a:buChar char="•"/>
            </a:pPr>
            <a:r>
              <a:rPr lang="es-ES" sz="1900" b="1" i="0">
                <a:solidFill>
                  <a:srgbClr val="1B2A4A"/>
                </a:solidFill>
                <a:latin typeface="Calibri"/>
              </a:rPr>
              <a:t>PI-2:</a:t>
            </a:r>
            <a:r>
              <a:rPr lang="es-ES" sz="1900" b="0" i="0">
                <a:solidFill>
                  <a:srgbClr val="1F2937"/>
                </a:solidFill>
                <a:latin typeface="Calibri"/>
              </a:rPr>
              <a:t> ¿qué organización de interfaz y módulos expone la cadena de cálculo?</a:t>
            </a:r>
          </a:p>
          <a:p>
            <a:pPr marL="347472" indent="-347472">
              <a:lnSpc>
                <a:spcPct val="112000"/>
              </a:lnSpc>
              <a:spcAft>
                <a:spcPts val="900"/>
              </a:spcAft>
              <a:buClr>
                <a:srgbClr val="F28C28"/>
              </a:buClr>
              <a:buSzPct val="100000"/>
              <a:buFont typeface="Arial"/>
              <a:buChar char="•"/>
            </a:pPr>
            <a:r>
              <a:rPr lang="es-ES" sz="1900" b="1" i="0">
                <a:solidFill>
                  <a:srgbClr val="1B2A4A"/>
                </a:solidFill>
                <a:latin typeface="Calibri"/>
              </a:rPr>
              <a:t>PI-3:</a:t>
            </a:r>
            <a:r>
              <a:rPr lang="es-ES" sz="1900" b="0" i="0">
                <a:solidFill>
                  <a:srgbClr val="1F2937"/>
                </a:solidFill>
                <a:latin typeface="Calibri"/>
              </a:rPr>
              <a:t> ¿evidencia el bloqueo por cortante del Q4 frente al Q9?</a:t>
            </a:r>
          </a:p>
        </p:txBody>
      </p:sp>
      <p:sp>
        <p:nvSpPr>
          <p:cNvPr id="23" name="Rectangle 22"/>
          <p:cNvSpPr/>
          <p:nvPr/>
        </p:nvSpPr>
        <p:spPr>
          <a:xfrm>
            <a:off x="566928" y="5449824"/>
            <a:ext cx="11057839" cy="841248"/>
          </a:xfrm>
          <a:prstGeom prst="rect">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Rectangle 23"/>
          <p:cNvSpPr/>
          <p:nvPr/>
        </p:nvSpPr>
        <p:spPr>
          <a:xfrm>
            <a:off x="566928" y="5449824"/>
            <a:ext cx="77724" cy="841248"/>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TextBox 24"/>
          <p:cNvSpPr txBox="1"/>
          <p:nvPr/>
        </p:nvSpPr>
        <p:spPr>
          <a:xfrm>
            <a:off x="795528" y="5449824"/>
            <a:ext cx="10737799" cy="841248"/>
          </a:xfrm>
          <a:prstGeom prst="rect">
            <a:avLst/>
          </a:prstGeom>
          <a:noFill/>
        </p:spPr>
        <p:txBody>
          <a:bodyPr wrap="square" lIns="45720" tIns="27432" rIns="45720" bIns="27432" anchor="ctr">
            <a:noAutofit/>
          </a:bodyPr>
          <a:lstStyle/>
          <a:p>
            <a:pPr algn="l">
              <a:lnSpc>
                <a:spcPct val="100000"/>
              </a:lnSpc>
            </a:pPr>
            <a:r>
              <a:rPr lang="es-ES" sz="2000" b="1" i="0">
                <a:solidFill>
                  <a:srgbClr val="1B2A4A"/>
                </a:solidFill>
                <a:latin typeface="Calibri"/>
              </a:rPr>
              <a:t>Cada cláusula puede resultar falsa; los criterios con que se contrastan se fijan a priori en §2.1.6</a:t>
            </a:r>
          </a:p>
        </p:txBody>
      </p:sp>
      <p:sp>
        <p:nvSpPr>
          <p:cNvPr id="26" name="Rectangle 25"/>
          <p:cNvSpPr/>
          <p:nvPr/>
        </p:nvSpPr>
        <p:spPr>
          <a:xfrm>
            <a:off x="566928" y="6364224"/>
            <a:ext cx="11057839" cy="7315"/>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TextBox 26"/>
          <p:cNvSpPr txBox="1"/>
          <p:nvPr/>
        </p:nvSpPr>
        <p:spPr>
          <a:xfrm>
            <a:off x="566928" y="6437376"/>
            <a:ext cx="5029200" cy="292608"/>
          </a:xfrm>
          <a:prstGeom prst="rect">
            <a:avLst/>
          </a:prstGeom>
          <a:noFill/>
        </p:spPr>
        <p:txBody>
          <a:bodyPr wrap="square" lIns="45720" tIns="27432" rIns="45720" bIns="27432" anchor="ctr">
            <a:noAutofit/>
          </a:bodyPr>
          <a:lstStyle/>
          <a:p>
            <a:pPr algn="l">
              <a:lnSpc>
                <a:spcPct val="105000"/>
              </a:lnSpc>
            </a:pPr>
            <a:r>
              <a:rPr lang="es-ES" sz="1200" b="0" i="0">
                <a:solidFill>
                  <a:srgbClr val="5B6575"/>
                </a:solidFill>
                <a:latin typeface="Calibri"/>
              </a:rPr>
              <a:t>EduFEM · Defensa de tesis · Ingeniería Civil · UATF</a:t>
            </a:r>
          </a:p>
        </p:txBody>
      </p:sp>
      <p:sp>
        <p:nvSpPr>
          <p:cNvPr id="28" name="TextBox 27"/>
          <p:cNvSpPr txBox="1"/>
          <p:nvPr/>
        </p:nvSpPr>
        <p:spPr>
          <a:xfrm>
            <a:off x="4023360" y="6437376"/>
            <a:ext cx="5394960" cy="292608"/>
          </a:xfrm>
          <a:prstGeom prst="rect">
            <a:avLst/>
          </a:prstGeom>
          <a:noFill/>
        </p:spPr>
        <p:txBody>
          <a:bodyPr wrap="square" lIns="45720" tIns="27432" rIns="45720" bIns="27432" anchor="ctr">
            <a:noAutofit/>
          </a:bodyPr>
          <a:lstStyle/>
          <a:p>
            <a:pPr algn="ctr">
              <a:lnSpc>
                <a:spcPct val="105000"/>
              </a:lnSpc>
            </a:pPr>
            <a:r>
              <a:rPr lang="es-ES" sz="1200" b="0" i="0">
                <a:solidFill>
                  <a:srgbClr val="5B6575"/>
                </a:solidFill>
                <a:latin typeface="Calibri"/>
              </a:rPr>
              <a:t>Tesis: Introducción, hipótesis, preguntas y metodología</a:t>
            </a:r>
          </a:p>
        </p:txBody>
      </p:sp>
      <p:sp>
        <p:nvSpPr>
          <p:cNvPr id="29" name="TextBox 28"/>
          <p:cNvSpPr txBox="1"/>
          <p:nvPr/>
        </p:nvSpPr>
        <p:spPr>
          <a:xfrm>
            <a:off x="10527487" y="6437376"/>
            <a:ext cx="1097280" cy="292608"/>
          </a:xfrm>
          <a:prstGeom prst="rect">
            <a:avLst/>
          </a:prstGeom>
          <a:noFill/>
        </p:spPr>
        <p:txBody>
          <a:bodyPr wrap="none" lIns="45720" tIns="18288" rIns="45720" bIns="18288">
            <a:spAutoFit/>
          </a:bodyPr>
          <a:lstStyle/>
          <a:p>
            <a:pPr algn="r"/>
            <a:fld id="{B6F15528-21DE-4FAA-801E-634DDDAF4B2B}" type="slidenum">
              <a:rPr lang="es-ES" sz="1200" dirty="0">
                <a:solidFill>
                  <a:srgbClr val="5B6575"/>
                </a:solidFill>
                <a:latin typeface="Calibri"/>
              </a:rPr>
              <a:t>6</a:t>
            </a:fld>
            <a:endParaRPr lang="es-ES" sz="1200" dirty="0">
              <a:solidFill>
                <a:srgbClr val="5B6575"/>
              </a:solidFill>
              <a:latin typeface="Calibri"/>
            </a:endParaRPr>
          </a:p>
        </p:txBody>
      </p:sp>
      <p:pic>
        <p:nvPicPr>
          <p:cNvPr id="30" name="s06">
            <a:hlinkClick r:id="" action="ppaction://media"/>
            <a:extLst>
              <a:ext uri="{FF2B5EF4-FFF2-40B4-BE49-F238E27FC236}">
                <a16:creationId xmlns:a16="http://schemas.microsoft.com/office/drawing/2014/main" id="{BB3939D7-1E09-D08E-E223-492AAA83D342}"/>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254000" y="254000"/>
            <a:ext cx="508000" cy="508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68648"/>
    </mc:Choice>
    <mc:Fallback>
      <p:transition spd="slow" advTm="68648"/>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30"/>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30"/>
                </p:tgtEl>
              </p:cMediaNode>
            </p:audio>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E182E"/>
        </a:solidFill>
        <a:effectLst/>
      </p:bgPr>
    </p:bg>
    <p:spTree>
      <p:nvGrpSpPr>
        <p:cNvPr id="1" name=""/>
        <p:cNvGrpSpPr/>
        <p:nvPr/>
      </p:nvGrpSpPr>
      <p:grpSpPr>
        <a:xfrm>
          <a:off x="0" y="0"/>
          <a:ext cx="0" cy="0"/>
          <a:chOff x="0" y="0"/>
          <a:chExt cx="0" cy="0"/>
        </a:xfrm>
      </p:grpSpPr>
      <p:sp>
        <p:nvSpPr>
          <p:cNvPr id="2" name="Rectangle 1"/>
          <p:cNvSpPr/>
          <p:nvPr/>
        </p:nvSpPr>
        <p:spPr>
          <a:xfrm>
            <a:off x="8183879" y="960120"/>
            <a:ext cx="3611880" cy="10972"/>
          </a:xfrm>
          <a:prstGeom prst="rect">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Rectangle 2"/>
          <p:cNvSpPr/>
          <p:nvPr/>
        </p:nvSpPr>
        <p:spPr>
          <a:xfrm>
            <a:off x="8183879" y="1859280"/>
            <a:ext cx="3611880" cy="10972"/>
          </a:xfrm>
          <a:prstGeom prst="rect">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Rectangle 3"/>
          <p:cNvSpPr/>
          <p:nvPr/>
        </p:nvSpPr>
        <p:spPr>
          <a:xfrm>
            <a:off x="8183879" y="2758440"/>
            <a:ext cx="3611880" cy="10972"/>
          </a:xfrm>
          <a:prstGeom prst="rect">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Rectangle 4"/>
          <p:cNvSpPr/>
          <p:nvPr/>
        </p:nvSpPr>
        <p:spPr>
          <a:xfrm>
            <a:off x="8183879" y="3657600"/>
            <a:ext cx="3611880" cy="10972"/>
          </a:xfrm>
          <a:prstGeom prst="rect">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Rectangle 5"/>
          <p:cNvSpPr/>
          <p:nvPr/>
        </p:nvSpPr>
        <p:spPr>
          <a:xfrm>
            <a:off x="8183879" y="960120"/>
            <a:ext cx="10972" cy="2697480"/>
          </a:xfrm>
          <a:prstGeom prst="rect">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Rectangle 6"/>
          <p:cNvSpPr/>
          <p:nvPr/>
        </p:nvSpPr>
        <p:spPr>
          <a:xfrm>
            <a:off x="9086850" y="960120"/>
            <a:ext cx="10972" cy="2697480"/>
          </a:xfrm>
          <a:prstGeom prst="rect">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Rectangle 7"/>
          <p:cNvSpPr/>
          <p:nvPr/>
        </p:nvSpPr>
        <p:spPr>
          <a:xfrm>
            <a:off x="9989819" y="960120"/>
            <a:ext cx="10972" cy="2697480"/>
          </a:xfrm>
          <a:prstGeom prst="rect">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Rectangle 8"/>
          <p:cNvSpPr/>
          <p:nvPr/>
        </p:nvSpPr>
        <p:spPr>
          <a:xfrm>
            <a:off x="10892790" y="960120"/>
            <a:ext cx="10972" cy="2697480"/>
          </a:xfrm>
          <a:prstGeom prst="rect">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Rectangle 9"/>
          <p:cNvSpPr/>
          <p:nvPr/>
        </p:nvSpPr>
        <p:spPr>
          <a:xfrm>
            <a:off x="11795759" y="960120"/>
            <a:ext cx="10972" cy="2697480"/>
          </a:xfrm>
          <a:prstGeom prst="rect">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Oval 10"/>
          <p:cNvSpPr/>
          <p:nvPr/>
        </p:nvSpPr>
        <p:spPr>
          <a:xfrm>
            <a:off x="8145017" y="92125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Oval 11"/>
          <p:cNvSpPr/>
          <p:nvPr/>
        </p:nvSpPr>
        <p:spPr>
          <a:xfrm>
            <a:off x="9047988" y="92125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Oval 12"/>
          <p:cNvSpPr/>
          <p:nvPr/>
        </p:nvSpPr>
        <p:spPr>
          <a:xfrm>
            <a:off x="9950957" y="92125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Oval 13"/>
          <p:cNvSpPr/>
          <p:nvPr/>
        </p:nvSpPr>
        <p:spPr>
          <a:xfrm>
            <a:off x="10853928" y="92125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Oval 14"/>
          <p:cNvSpPr/>
          <p:nvPr/>
        </p:nvSpPr>
        <p:spPr>
          <a:xfrm>
            <a:off x="11756897" y="92125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Oval 15"/>
          <p:cNvSpPr/>
          <p:nvPr/>
        </p:nvSpPr>
        <p:spPr>
          <a:xfrm>
            <a:off x="8145017" y="182041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Oval 16"/>
          <p:cNvSpPr/>
          <p:nvPr/>
        </p:nvSpPr>
        <p:spPr>
          <a:xfrm>
            <a:off x="9047988" y="182041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Oval 17"/>
          <p:cNvSpPr/>
          <p:nvPr/>
        </p:nvSpPr>
        <p:spPr>
          <a:xfrm>
            <a:off x="9950957" y="182041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Oval 18"/>
          <p:cNvSpPr/>
          <p:nvPr/>
        </p:nvSpPr>
        <p:spPr>
          <a:xfrm>
            <a:off x="10853928" y="182041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Oval 19"/>
          <p:cNvSpPr/>
          <p:nvPr/>
        </p:nvSpPr>
        <p:spPr>
          <a:xfrm>
            <a:off x="11756897" y="182041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Oval 20"/>
          <p:cNvSpPr/>
          <p:nvPr/>
        </p:nvSpPr>
        <p:spPr>
          <a:xfrm>
            <a:off x="8145017" y="271957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Oval 21"/>
          <p:cNvSpPr/>
          <p:nvPr/>
        </p:nvSpPr>
        <p:spPr>
          <a:xfrm>
            <a:off x="9047988" y="271957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Oval 22"/>
          <p:cNvSpPr/>
          <p:nvPr/>
        </p:nvSpPr>
        <p:spPr>
          <a:xfrm>
            <a:off x="9950957" y="271957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Oval 23"/>
          <p:cNvSpPr/>
          <p:nvPr/>
        </p:nvSpPr>
        <p:spPr>
          <a:xfrm>
            <a:off x="10853928" y="271957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Oval 24"/>
          <p:cNvSpPr/>
          <p:nvPr/>
        </p:nvSpPr>
        <p:spPr>
          <a:xfrm>
            <a:off x="11756897" y="271957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Oval 25"/>
          <p:cNvSpPr/>
          <p:nvPr/>
        </p:nvSpPr>
        <p:spPr>
          <a:xfrm>
            <a:off x="8145017" y="361873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Oval 26"/>
          <p:cNvSpPr/>
          <p:nvPr/>
        </p:nvSpPr>
        <p:spPr>
          <a:xfrm>
            <a:off x="9047988" y="361873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Oval 27"/>
          <p:cNvSpPr/>
          <p:nvPr/>
        </p:nvSpPr>
        <p:spPr>
          <a:xfrm>
            <a:off x="9950957" y="361873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Oval 28"/>
          <p:cNvSpPr/>
          <p:nvPr/>
        </p:nvSpPr>
        <p:spPr>
          <a:xfrm>
            <a:off x="10853928" y="361873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 name="Oval 29"/>
          <p:cNvSpPr/>
          <p:nvPr/>
        </p:nvSpPr>
        <p:spPr>
          <a:xfrm>
            <a:off x="11756897" y="361873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TextBox 30"/>
          <p:cNvSpPr txBox="1"/>
          <p:nvPr/>
        </p:nvSpPr>
        <p:spPr>
          <a:xfrm>
            <a:off x="731520" y="1417320"/>
            <a:ext cx="2194560" cy="1828800"/>
          </a:xfrm>
          <a:prstGeom prst="rect">
            <a:avLst/>
          </a:prstGeom>
          <a:noFill/>
        </p:spPr>
        <p:txBody>
          <a:bodyPr wrap="square" lIns="45720" tIns="27432" rIns="45720" bIns="27432" anchor="ctr">
            <a:noAutofit/>
          </a:bodyPr>
          <a:lstStyle/>
          <a:p>
            <a:pPr algn="l">
              <a:lnSpc>
                <a:spcPct val="105000"/>
              </a:lnSpc>
            </a:pPr>
            <a:r>
              <a:rPr lang="es-ES" sz="9600" b="1" i="0">
                <a:solidFill>
                  <a:srgbClr val="F28C28"/>
                </a:solidFill>
                <a:latin typeface="Calibri"/>
              </a:rPr>
              <a:t>02</a:t>
            </a:r>
          </a:p>
        </p:txBody>
      </p:sp>
      <p:sp>
        <p:nvSpPr>
          <p:cNvPr id="32" name="Rectangle 31"/>
          <p:cNvSpPr/>
          <p:nvPr/>
        </p:nvSpPr>
        <p:spPr>
          <a:xfrm>
            <a:off x="3063240" y="1691640"/>
            <a:ext cx="54864" cy="132588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 name="TextBox 32"/>
          <p:cNvSpPr txBox="1"/>
          <p:nvPr/>
        </p:nvSpPr>
        <p:spPr>
          <a:xfrm>
            <a:off x="3383280" y="1417320"/>
            <a:ext cx="8138160" cy="1188720"/>
          </a:xfrm>
          <a:prstGeom prst="rect">
            <a:avLst/>
          </a:prstGeom>
          <a:noFill/>
        </p:spPr>
        <p:txBody>
          <a:bodyPr wrap="square" lIns="45720" tIns="27432" rIns="45720" bIns="27432" anchor="ctr">
            <a:noAutofit/>
          </a:bodyPr>
          <a:lstStyle/>
          <a:p>
            <a:pPr algn="l">
              <a:lnSpc>
                <a:spcPct val="105000"/>
              </a:lnSpc>
            </a:pPr>
            <a:r>
              <a:rPr lang="es-ES" sz="4400" b="1" i="0">
                <a:solidFill>
                  <a:srgbClr val="FFFFFF"/>
                </a:solidFill>
                <a:latin typeface="Calibri"/>
              </a:rPr>
              <a:t>Base teórica</a:t>
            </a:r>
          </a:p>
        </p:txBody>
      </p:sp>
      <p:sp>
        <p:nvSpPr>
          <p:cNvPr id="34" name="TextBox 33"/>
          <p:cNvSpPr txBox="1"/>
          <p:nvPr/>
        </p:nvSpPr>
        <p:spPr>
          <a:xfrm>
            <a:off x="3383280" y="2606040"/>
            <a:ext cx="8138160" cy="1280160"/>
          </a:xfrm>
          <a:prstGeom prst="rect">
            <a:avLst/>
          </a:prstGeom>
          <a:noFill/>
        </p:spPr>
        <p:txBody>
          <a:bodyPr wrap="square" lIns="45720" tIns="27432" rIns="45720" bIns="27432" anchor="t">
            <a:noAutofit/>
          </a:bodyPr>
          <a:lstStyle/>
          <a:p>
            <a:pPr algn="l">
              <a:lnSpc>
                <a:spcPct val="115000"/>
              </a:lnSpc>
            </a:pPr>
            <a:r>
              <a:rPr lang="es-ES" sz="2100" b="0" i="0">
                <a:solidFill>
                  <a:srgbClr val="C7D2E8"/>
                </a:solidFill>
                <a:latin typeface="Calibri"/>
              </a:rPr>
              <a:t>Abrir la caja: el estado del arte y el canal de cálculo del MEF isoparamétrico</a:t>
            </a:r>
          </a:p>
        </p:txBody>
      </p:sp>
      <p:sp>
        <p:nvSpPr>
          <p:cNvPr id="35" name="Rounded Rectangle 34"/>
          <p:cNvSpPr/>
          <p:nvPr/>
        </p:nvSpPr>
        <p:spPr>
          <a:xfrm>
            <a:off x="566928" y="5806440"/>
            <a:ext cx="1751533" cy="493776"/>
          </a:xfrm>
          <a:prstGeom prst="roundRect">
            <a:avLst>
              <a:gd name="adj" fmla="val 28000"/>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noAutofit/>
          </a:bodyPr>
          <a:lstStyle/>
          <a:p>
            <a:pPr algn="ctr">
              <a:lnSpc>
                <a:spcPct val="100000"/>
              </a:lnSpc>
            </a:pPr>
            <a:r>
              <a:rPr lang="es-ES" sz="1200" b="0" i="0">
                <a:solidFill>
                  <a:srgbClr val="FFFFFF"/>
                </a:solidFill>
                <a:latin typeface="Calibri"/>
              </a:rPr>
              <a:t>1. Introducción</a:t>
            </a:r>
          </a:p>
        </p:txBody>
      </p:sp>
      <p:sp>
        <p:nvSpPr>
          <p:cNvPr id="36" name="Rounded Rectangle 35"/>
          <p:cNvSpPr/>
          <p:nvPr/>
        </p:nvSpPr>
        <p:spPr>
          <a:xfrm>
            <a:off x="2428189" y="5806440"/>
            <a:ext cx="1751533" cy="493776"/>
          </a:xfrm>
          <a:prstGeom prst="roundRect">
            <a:avLst>
              <a:gd name="adj" fmla="val 28000"/>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noAutofit/>
          </a:bodyPr>
          <a:lstStyle/>
          <a:p>
            <a:pPr algn="ctr">
              <a:lnSpc>
                <a:spcPct val="100000"/>
              </a:lnSpc>
            </a:pPr>
            <a:r>
              <a:rPr lang="es-ES" sz="1200" b="1" i="0">
                <a:solidFill>
                  <a:srgbClr val="FFFFFF"/>
                </a:solidFill>
                <a:latin typeface="Calibri"/>
              </a:rPr>
              <a:t>2. Base teórica</a:t>
            </a:r>
          </a:p>
        </p:txBody>
      </p:sp>
      <p:sp>
        <p:nvSpPr>
          <p:cNvPr id="37" name="Rounded Rectangle 36"/>
          <p:cNvSpPr/>
          <p:nvPr/>
        </p:nvSpPr>
        <p:spPr>
          <a:xfrm>
            <a:off x="4289450" y="5806440"/>
            <a:ext cx="1751533" cy="493776"/>
          </a:xfrm>
          <a:prstGeom prst="roundRect">
            <a:avLst>
              <a:gd name="adj" fmla="val 28000"/>
            </a:avLst>
          </a:prstGeom>
          <a:noFill/>
          <a:ln w="9525">
            <a:solidFill>
              <a:srgbClr val="2C3E63"/>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noAutofit/>
          </a:bodyPr>
          <a:lstStyle/>
          <a:p>
            <a:pPr algn="ctr">
              <a:lnSpc>
                <a:spcPct val="100000"/>
              </a:lnSpc>
            </a:pPr>
            <a:r>
              <a:rPr lang="es-ES" sz="1200" b="0" i="0">
                <a:solidFill>
                  <a:srgbClr val="C7D2E8"/>
                </a:solidFill>
                <a:latin typeface="Calibri"/>
              </a:rPr>
              <a:t>3. Diseño y desarrollo del modelo</a:t>
            </a:r>
          </a:p>
        </p:txBody>
      </p:sp>
      <p:sp>
        <p:nvSpPr>
          <p:cNvPr id="38" name="Rounded Rectangle 37"/>
          <p:cNvSpPr/>
          <p:nvPr/>
        </p:nvSpPr>
        <p:spPr>
          <a:xfrm>
            <a:off x="6150711" y="5806440"/>
            <a:ext cx="1751533" cy="493776"/>
          </a:xfrm>
          <a:prstGeom prst="roundRect">
            <a:avLst>
              <a:gd name="adj" fmla="val 28000"/>
            </a:avLst>
          </a:prstGeom>
          <a:noFill/>
          <a:ln w="9525">
            <a:solidFill>
              <a:srgbClr val="2C3E63"/>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noAutofit/>
          </a:bodyPr>
          <a:lstStyle/>
          <a:p>
            <a:pPr algn="ctr">
              <a:lnSpc>
                <a:spcPct val="100000"/>
              </a:lnSpc>
            </a:pPr>
            <a:r>
              <a:rPr lang="es-ES" sz="1200" b="0" i="0">
                <a:solidFill>
                  <a:srgbClr val="C7D2E8"/>
                </a:solidFill>
                <a:latin typeface="Calibri"/>
              </a:rPr>
              <a:t>4. Presentación de resultados</a:t>
            </a:r>
          </a:p>
        </p:txBody>
      </p:sp>
      <p:sp>
        <p:nvSpPr>
          <p:cNvPr id="39" name="Rounded Rectangle 38"/>
          <p:cNvSpPr/>
          <p:nvPr/>
        </p:nvSpPr>
        <p:spPr>
          <a:xfrm>
            <a:off x="8011972" y="5806440"/>
            <a:ext cx="1751533" cy="493776"/>
          </a:xfrm>
          <a:prstGeom prst="roundRect">
            <a:avLst>
              <a:gd name="adj" fmla="val 28000"/>
            </a:avLst>
          </a:prstGeom>
          <a:noFill/>
          <a:ln w="9525">
            <a:solidFill>
              <a:srgbClr val="2C3E63"/>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noAutofit/>
          </a:bodyPr>
          <a:lstStyle/>
          <a:p>
            <a:pPr algn="ctr">
              <a:lnSpc>
                <a:spcPct val="100000"/>
              </a:lnSpc>
            </a:pPr>
            <a:r>
              <a:rPr lang="es-ES" sz="1200" b="0" i="0">
                <a:solidFill>
                  <a:srgbClr val="C7D2E8"/>
                </a:solidFill>
                <a:latin typeface="Calibri"/>
              </a:rPr>
              <a:t>5. Análisis de resultados</a:t>
            </a:r>
          </a:p>
        </p:txBody>
      </p:sp>
      <p:sp>
        <p:nvSpPr>
          <p:cNvPr id="40" name="Rounded Rectangle 39"/>
          <p:cNvSpPr/>
          <p:nvPr/>
        </p:nvSpPr>
        <p:spPr>
          <a:xfrm>
            <a:off x="9873233" y="5806440"/>
            <a:ext cx="1751533" cy="493776"/>
          </a:xfrm>
          <a:prstGeom prst="roundRect">
            <a:avLst>
              <a:gd name="adj" fmla="val 28000"/>
            </a:avLst>
          </a:prstGeom>
          <a:noFill/>
          <a:ln w="9525">
            <a:solidFill>
              <a:srgbClr val="2C3E63"/>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noAutofit/>
          </a:bodyPr>
          <a:lstStyle/>
          <a:p>
            <a:pPr algn="ctr">
              <a:lnSpc>
                <a:spcPct val="100000"/>
              </a:lnSpc>
            </a:pPr>
            <a:r>
              <a:rPr lang="es-ES" sz="1200" b="0" i="0">
                <a:solidFill>
                  <a:srgbClr val="C7D2E8"/>
                </a:solidFill>
                <a:latin typeface="Calibri"/>
              </a:rPr>
              <a:t>6. Conclusiones y recomendaciones</a:t>
            </a:r>
          </a:p>
        </p:txBody>
      </p:sp>
      <p:pic>
        <p:nvPicPr>
          <p:cNvPr id="41" name="s07">
            <a:hlinkClick r:id="" action="ppaction://media"/>
            <a:extLst>
              <a:ext uri="{FF2B5EF4-FFF2-40B4-BE49-F238E27FC236}">
                <a16:creationId xmlns:a16="http://schemas.microsoft.com/office/drawing/2014/main" id="{9D9EB4A1-8399-C362-33A8-7F63B104DA07}"/>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254000" y="254000"/>
            <a:ext cx="508000" cy="508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10064"/>
    </mc:Choice>
    <mc:Fallback>
      <p:transition spd="slow" advTm="10064"/>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1"/>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41"/>
                </p:tgtEl>
              </p:cMediaNode>
            </p:audio>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566928" y="361188"/>
            <a:ext cx="50292" cy="173736"/>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TextBox 2"/>
          <p:cNvSpPr txBox="1"/>
          <p:nvPr/>
        </p:nvSpPr>
        <p:spPr>
          <a:xfrm>
            <a:off x="704088" y="310896"/>
            <a:ext cx="6766560" cy="274320"/>
          </a:xfrm>
          <a:prstGeom prst="rect">
            <a:avLst/>
          </a:prstGeom>
          <a:noFill/>
        </p:spPr>
        <p:txBody>
          <a:bodyPr wrap="square" lIns="45720" tIns="27432" rIns="45720" bIns="27432" anchor="ctr">
            <a:noAutofit/>
          </a:bodyPr>
          <a:lstStyle/>
          <a:p>
            <a:pPr algn="l">
              <a:lnSpc>
                <a:spcPct val="105000"/>
              </a:lnSpc>
            </a:pPr>
            <a:r>
              <a:rPr lang="es-ES" sz="1200" b="1" i="0" spc="80">
                <a:solidFill>
                  <a:srgbClr val="F28C28"/>
                </a:solidFill>
                <a:latin typeface="Calibri"/>
              </a:rPr>
              <a:t>02   BASE TEÓRICA</a:t>
            </a:r>
          </a:p>
        </p:txBody>
      </p:sp>
      <p:sp>
        <p:nvSpPr>
          <p:cNvPr id="4" name="Oval 3"/>
          <p:cNvSpPr/>
          <p:nvPr/>
        </p:nvSpPr>
        <p:spPr>
          <a:xfrm>
            <a:off x="10413187" y="388620"/>
            <a:ext cx="114300" cy="1143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Oval 4"/>
          <p:cNvSpPr/>
          <p:nvPr/>
        </p:nvSpPr>
        <p:spPr>
          <a:xfrm>
            <a:off x="10600639" y="356616"/>
            <a:ext cx="178308" cy="178308"/>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Oval 5"/>
          <p:cNvSpPr/>
          <p:nvPr/>
        </p:nvSpPr>
        <p:spPr>
          <a:xfrm>
            <a:off x="10852099"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Oval 6"/>
          <p:cNvSpPr/>
          <p:nvPr/>
        </p:nvSpPr>
        <p:spPr>
          <a:xfrm>
            <a:off x="11071555"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Oval 7"/>
          <p:cNvSpPr/>
          <p:nvPr/>
        </p:nvSpPr>
        <p:spPr>
          <a:xfrm>
            <a:off x="11291011"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Oval 8"/>
          <p:cNvSpPr/>
          <p:nvPr/>
        </p:nvSpPr>
        <p:spPr>
          <a:xfrm>
            <a:off x="11510467"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548640" y="585216"/>
            <a:ext cx="11057839" cy="749808"/>
          </a:xfrm>
          <a:prstGeom prst="rect">
            <a:avLst/>
          </a:prstGeom>
          <a:noFill/>
        </p:spPr>
        <p:txBody>
          <a:bodyPr wrap="square" lIns="45720" tIns="27432" rIns="45720" bIns="27432" anchor="ctr">
            <a:noAutofit/>
          </a:bodyPr>
          <a:lstStyle/>
          <a:p>
            <a:pPr algn="l">
              <a:lnSpc>
                <a:spcPct val="105000"/>
              </a:lnSpc>
            </a:pPr>
            <a:r>
              <a:rPr lang="es-ES" sz="3200" b="1" i="0">
                <a:solidFill>
                  <a:srgbClr val="1B2A4A"/>
                </a:solidFill>
                <a:latin typeface="Calibri"/>
              </a:rPr>
              <a:t>Estado del arte: el vacío que se cubre</a:t>
            </a:r>
          </a:p>
        </p:txBody>
      </p:sp>
      <p:sp>
        <p:nvSpPr>
          <p:cNvPr id="11" name="Rectangle 10"/>
          <p:cNvSpPr/>
          <p:nvPr/>
        </p:nvSpPr>
        <p:spPr>
          <a:xfrm>
            <a:off x="566928" y="1371600"/>
            <a:ext cx="1051560" cy="50292"/>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566928" y="1572768"/>
            <a:ext cx="11057839" cy="354329"/>
          </a:xfrm>
          <a:prstGeom prst="rect">
            <a:avLst/>
          </a:prstGeom>
          <a:noFill/>
        </p:spPr>
        <p:txBody>
          <a:bodyPr wrap="square" lIns="45720" tIns="27432" rIns="45720" bIns="27432" anchor="t">
            <a:noAutofit/>
          </a:bodyPr>
          <a:lstStyle/>
          <a:p>
            <a:pPr algn="l">
              <a:lnSpc>
                <a:spcPct val="108000"/>
              </a:lnSpc>
            </a:pPr>
            <a:r>
              <a:rPr lang="es-ES" sz="1800" b="0" i="1">
                <a:solidFill>
                  <a:srgbClr val="5B6575"/>
                </a:solidFill>
                <a:latin typeface="Calibri"/>
              </a:rPr>
              <a:t>«No consta»: la fuente no lo documenta · «Propósito general»: bibliotecas y comerciales</a:t>
            </a:r>
          </a:p>
        </p:txBody>
      </p:sp>
      <p:graphicFrame>
        <p:nvGraphicFramePr>
          <p:cNvPr id="13" name="Table 12"/>
          <p:cNvGraphicFramePr>
            <a:graphicFrameLocks noGrp="1"/>
          </p:cNvGraphicFramePr>
          <p:nvPr/>
        </p:nvGraphicFramePr>
        <p:xfrm>
          <a:off x="566928" y="2036826"/>
          <a:ext cx="11057835" cy="3303265"/>
        </p:xfrm>
        <a:graphic>
          <a:graphicData uri="http://schemas.openxmlformats.org/drawingml/2006/table">
            <a:tbl>
              <a:tblPr>
                <a:tableStyleId>{5C22544A-7EE6-4342-B048-85BDC9FD1C3A}</a:tableStyleId>
              </a:tblPr>
              <a:tblGrid>
                <a:gridCol w="2049533">
                  <a:extLst>
                    <a:ext uri="{9D8B030D-6E8A-4147-A177-3AD203B41FA5}">
                      <a16:colId xmlns:a16="http://schemas.microsoft.com/office/drawing/2014/main" val="20000"/>
                    </a:ext>
                  </a:extLst>
                </a:gridCol>
                <a:gridCol w="2504985">
                  <a:extLst>
                    <a:ext uri="{9D8B030D-6E8A-4147-A177-3AD203B41FA5}">
                      <a16:colId xmlns:a16="http://schemas.microsoft.com/office/drawing/2014/main" val="20001"/>
                    </a:ext>
                  </a:extLst>
                </a:gridCol>
                <a:gridCol w="1935670">
                  <a:extLst>
                    <a:ext uri="{9D8B030D-6E8A-4147-A177-3AD203B41FA5}">
                      <a16:colId xmlns:a16="http://schemas.microsoft.com/office/drawing/2014/main" val="20002"/>
                    </a:ext>
                  </a:extLst>
                </a:gridCol>
                <a:gridCol w="1379485">
                  <a:extLst>
                    <a:ext uri="{9D8B030D-6E8A-4147-A177-3AD203B41FA5}">
                      <a16:colId xmlns:a16="http://schemas.microsoft.com/office/drawing/2014/main" val="20003"/>
                    </a:ext>
                  </a:extLst>
                </a:gridCol>
                <a:gridCol w="1252492">
                  <a:extLst>
                    <a:ext uri="{9D8B030D-6E8A-4147-A177-3AD203B41FA5}">
                      <a16:colId xmlns:a16="http://schemas.microsoft.com/office/drawing/2014/main" val="20004"/>
                    </a:ext>
                  </a:extLst>
                </a:gridCol>
                <a:gridCol w="1935670">
                  <a:extLst>
                    <a:ext uri="{9D8B030D-6E8A-4147-A177-3AD203B41FA5}">
                      <a16:colId xmlns:a16="http://schemas.microsoft.com/office/drawing/2014/main" val="20005"/>
                    </a:ext>
                  </a:extLst>
                </a:gridCol>
              </a:tblGrid>
              <a:tr h="471895">
                <a:tc>
                  <a:txBody>
                    <a:bodyPr/>
                    <a:lstStyle/>
                    <a:p>
                      <a:pPr algn="l"/>
                      <a:r>
                        <a:rPr lang="es-ES" sz="1500" b="1" i="0">
                          <a:solidFill>
                            <a:srgbClr val="FFFFFF"/>
                          </a:solidFill>
                          <a:latin typeface="Calibri"/>
                        </a:rPr>
                        <a:t>Atributo</a:t>
                      </a:r>
                    </a:p>
                  </a:txBody>
                  <a:tcPr marL="73152" marR="73152" marT="27432" marB="27432" anchor="ctr">
                    <a:solidFill>
                      <a:srgbClr val="1B2A4A"/>
                    </a:solidFill>
                  </a:tcPr>
                </a:tc>
                <a:tc>
                  <a:txBody>
                    <a:bodyPr/>
                    <a:lstStyle/>
                    <a:p>
                      <a:pPr algn="ctr"/>
                      <a:r>
                        <a:rPr lang="es-ES" sz="1500" b="1" i="0">
                          <a:solidFill>
                            <a:srgbClr val="FFFFFF"/>
                          </a:solidFill>
                          <a:latin typeface="Calibri"/>
                        </a:rPr>
                        <a:t>EduFEM</a:t>
                      </a:r>
                    </a:p>
                  </a:txBody>
                  <a:tcPr marL="73152" marR="73152" marT="27432" marB="27432" anchor="ctr">
                    <a:solidFill>
                      <a:srgbClr val="1B2A4A"/>
                    </a:solidFill>
                  </a:tcPr>
                </a:tc>
                <a:tc>
                  <a:txBody>
                    <a:bodyPr/>
                    <a:lstStyle/>
                    <a:p>
                      <a:pPr algn="ctr"/>
                      <a:r>
                        <a:rPr lang="es-ES" sz="1500" b="1" i="0">
                          <a:solidFill>
                            <a:srgbClr val="FFFFFF"/>
                          </a:solidFill>
                          <a:latin typeface="Calibri"/>
                        </a:rPr>
                        <a:t>ED-Elas2D</a:t>
                      </a:r>
                    </a:p>
                  </a:txBody>
                  <a:tcPr marL="73152" marR="73152" marT="27432" marB="27432" anchor="ctr">
                    <a:solidFill>
                      <a:srgbClr val="1B2A4A"/>
                    </a:solidFill>
                  </a:tcPr>
                </a:tc>
                <a:tc>
                  <a:txBody>
                    <a:bodyPr/>
                    <a:lstStyle/>
                    <a:p>
                      <a:pPr algn="ctr"/>
                      <a:r>
                        <a:rPr lang="es-ES" sz="1500" b="1" i="0">
                          <a:solidFill>
                            <a:srgbClr val="FFFFFF"/>
                          </a:solidFill>
                          <a:latin typeface="Calibri"/>
                        </a:rPr>
                        <a:t>Reticulados</a:t>
                      </a:r>
                    </a:p>
                  </a:txBody>
                  <a:tcPr marL="73152" marR="73152" marT="27432" marB="27432" anchor="ctr">
                    <a:solidFill>
                      <a:srgbClr val="1B2A4A"/>
                    </a:solidFill>
                  </a:tcPr>
                </a:tc>
                <a:tc>
                  <a:txBody>
                    <a:bodyPr/>
                    <a:lstStyle/>
                    <a:p>
                      <a:pPr algn="ctr"/>
                      <a:r>
                        <a:rPr lang="es-ES" sz="1500" b="1" i="0">
                          <a:solidFill>
                            <a:srgbClr val="FFFFFF"/>
                          </a:solidFill>
                          <a:latin typeface="Calibri"/>
                        </a:rPr>
                        <a:t>VisualFEA</a:t>
                      </a:r>
                    </a:p>
                  </a:txBody>
                  <a:tcPr marL="73152" marR="73152" marT="27432" marB="27432" anchor="ctr">
                    <a:solidFill>
                      <a:srgbClr val="1B2A4A"/>
                    </a:solidFill>
                  </a:tcPr>
                </a:tc>
                <a:tc>
                  <a:txBody>
                    <a:bodyPr/>
                    <a:lstStyle/>
                    <a:p>
                      <a:pPr algn="ctr"/>
                      <a:r>
                        <a:rPr lang="es-ES" sz="1500" b="1" i="0">
                          <a:solidFill>
                            <a:srgbClr val="FFFFFF"/>
                          </a:solidFill>
                          <a:latin typeface="Calibri"/>
                        </a:rPr>
                        <a:t>Propósito general</a:t>
                      </a:r>
                    </a:p>
                  </a:txBody>
                  <a:tcPr marL="73152" marR="73152" marT="27432" marB="27432" anchor="ctr">
                    <a:solidFill>
                      <a:srgbClr val="1B2A4A"/>
                    </a:solidFill>
                  </a:tcPr>
                </a:tc>
                <a:extLst>
                  <a:ext uri="{0D108BD9-81ED-4DB2-BD59-A6C34878D82A}">
                    <a16:rowId xmlns:a16="http://schemas.microsoft.com/office/drawing/2014/main" val="10000"/>
                  </a:ext>
                </a:extLst>
              </a:tr>
              <a:tr h="471895">
                <a:tc>
                  <a:txBody>
                    <a:bodyPr/>
                    <a:lstStyle/>
                    <a:p>
                      <a:pPr algn="l"/>
                      <a:r>
                        <a:rPr lang="es-ES" sz="1500" b="1" i="0">
                          <a:solidFill>
                            <a:srgbClr val="1F2937"/>
                          </a:solidFill>
                          <a:latin typeface="Calibri"/>
                        </a:rPr>
                        <a:t>Idioma</a:t>
                      </a:r>
                    </a:p>
                  </a:txBody>
                  <a:tcPr marL="73152" marR="73152" marT="27432" marB="27432" anchor="ctr">
                    <a:solidFill>
                      <a:srgbClr val="FFFFFF"/>
                    </a:solidFill>
                  </a:tcPr>
                </a:tc>
                <a:tc>
                  <a:txBody>
                    <a:bodyPr/>
                    <a:lstStyle/>
                    <a:p>
                      <a:pPr algn="ctr"/>
                      <a:r>
                        <a:rPr lang="es-ES" sz="1500" b="1" i="0">
                          <a:solidFill>
                            <a:srgbClr val="1F2937"/>
                          </a:solidFill>
                          <a:latin typeface="Calibri"/>
                        </a:rPr>
                        <a:t>Español</a:t>
                      </a:r>
                    </a:p>
                  </a:txBody>
                  <a:tcPr marL="73152" marR="73152" marT="27432" marB="27432" anchor="ctr">
                    <a:solidFill>
                      <a:srgbClr val="FDF1E2"/>
                    </a:solidFill>
                  </a:tcPr>
                </a:tc>
                <a:tc>
                  <a:txBody>
                    <a:bodyPr/>
                    <a:lstStyle/>
                    <a:p>
                      <a:pPr algn="ctr"/>
                      <a:r>
                        <a:rPr lang="es-ES" sz="1500" b="0" i="0">
                          <a:solidFill>
                            <a:srgbClr val="1F2937"/>
                          </a:solidFill>
                          <a:latin typeface="Calibri"/>
                        </a:rPr>
                        <a:t>Español (parcial)</a:t>
                      </a:r>
                    </a:p>
                  </a:txBody>
                  <a:tcPr marL="73152" marR="73152" marT="27432" marB="27432" anchor="ctr">
                    <a:solidFill>
                      <a:srgbClr val="FFFFFF"/>
                    </a:solidFill>
                  </a:tcPr>
                </a:tc>
                <a:tc>
                  <a:txBody>
                    <a:bodyPr/>
                    <a:lstStyle/>
                    <a:p>
                      <a:pPr algn="ctr"/>
                      <a:r>
                        <a:rPr lang="es-ES" sz="1500" b="0" i="0">
                          <a:solidFill>
                            <a:srgbClr val="1F2937"/>
                          </a:solidFill>
                          <a:latin typeface="Calibri"/>
                        </a:rPr>
                        <a:t>Inglés</a:t>
                      </a:r>
                    </a:p>
                  </a:txBody>
                  <a:tcPr marL="73152" marR="73152" marT="27432" marB="27432" anchor="ctr">
                    <a:solidFill>
                      <a:srgbClr val="FFFFFF"/>
                    </a:solidFill>
                  </a:tcPr>
                </a:tc>
                <a:tc>
                  <a:txBody>
                    <a:bodyPr/>
                    <a:lstStyle/>
                    <a:p>
                      <a:pPr algn="ctr"/>
                      <a:r>
                        <a:rPr lang="es-ES" sz="1500" b="0" i="0">
                          <a:solidFill>
                            <a:srgbClr val="1F2937"/>
                          </a:solidFill>
                          <a:latin typeface="Calibri"/>
                        </a:rPr>
                        <a:t>Inglés</a:t>
                      </a:r>
                    </a:p>
                  </a:txBody>
                  <a:tcPr marL="73152" marR="73152" marT="27432" marB="27432" anchor="ctr">
                    <a:solidFill>
                      <a:srgbClr val="FFFFFF"/>
                    </a:solidFill>
                  </a:tcPr>
                </a:tc>
                <a:tc>
                  <a:txBody>
                    <a:bodyPr/>
                    <a:lstStyle/>
                    <a:p>
                      <a:pPr algn="ctr"/>
                      <a:r>
                        <a:rPr lang="es-ES" sz="1500" b="0" i="0">
                          <a:solidFill>
                            <a:srgbClr val="1F2937"/>
                          </a:solidFill>
                          <a:latin typeface="Calibri"/>
                        </a:rPr>
                        <a:t>Inglés</a:t>
                      </a:r>
                    </a:p>
                  </a:txBody>
                  <a:tcPr marL="73152" marR="73152" marT="27432" marB="27432" anchor="ctr">
                    <a:solidFill>
                      <a:srgbClr val="FFFFFF"/>
                    </a:solidFill>
                  </a:tcPr>
                </a:tc>
                <a:extLst>
                  <a:ext uri="{0D108BD9-81ED-4DB2-BD59-A6C34878D82A}">
                    <a16:rowId xmlns:a16="http://schemas.microsoft.com/office/drawing/2014/main" val="10001"/>
                  </a:ext>
                </a:extLst>
              </a:tr>
              <a:tr h="471895">
                <a:tc>
                  <a:txBody>
                    <a:bodyPr/>
                    <a:lstStyle/>
                    <a:p>
                      <a:pPr algn="l"/>
                      <a:r>
                        <a:rPr lang="es-ES" sz="1500" b="1" i="0">
                          <a:solidFill>
                            <a:srgbClr val="1F2937"/>
                          </a:solidFill>
                          <a:latin typeface="Calibri"/>
                        </a:rPr>
                        <a:t>Licencia</a:t>
                      </a:r>
                    </a:p>
                  </a:txBody>
                  <a:tcPr marL="73152" marR="73152" marT="27432" marB="27432" anchor="ctr">
                    <a:solidFill>
                      <a:srgbClr val="F6F8FC"/>
                    </a:solidFill>
                  </a:tcPr>
                </a:tc>
                <a:tc>
                  <a:txBody>
                    <a:bodyPr/>
                    <a:lstStyle/>
                    <a:p>
                      <a:pPr algn="ctr"/>
                      <a:r>
                        <a:rPr lang="es-ES" sz="1500" b="1" i="0">
                          <a:solidFill>
                            <a:srgbClr val="1F2937"/>
                          </a:solidFill>
                          <a:latin typeface="Calibri"/>
                        </a:rPr>
                        <a:t>Libre y abierta</a:t>
                      </a:r>
                    </a:p>
                  </a:txBody>
                  <a:tcPr marL="73152" marR="73152" marT="27432" marB="27432" anchor="ctr">
                    <a:solidFill>
                      <a:srgbClr val="FDF1E2"/>
                    </a:solidFill>
                  </a:tcPr>
                </a:tc>
                <a:tc>
                  <a:txBody>
                    <a:bodyPr/>
                    <a:lstStyle/>
                    <a:p>
                      <a:pPr algn="ctr"/>
                      <a:r>
                        <a:rPr lang="es-ES" sz="1500" b="0" i="0">
                          <a:solidFill>
                            <a:srgbClr val="1F2937"/>
                          </a:solidFill>
                          <a:latin typeface="Calibri"/>
                        </a:rPr>
                        <a:t>No consta</a:t>
                      </a:r>
                    </a:p>
                  </a:txBody>
                  <a:tcPr marL="73152" marR="73152" marT="27432" marB="27432" anchor="ctr">
                    <a:solidFill>
                      <a:srgbClr val="F6F8FC"/>
                    </a:solidFill>
                  </a:tcPr>
                </a:tc>
                <a:tc>
                  <a:txBody>
                    <a:bodyPr/>
                    <a:lstStyle/>
                    <a:p>
                      <a:pPr algn="ctr"/>
                      <a:r>
                        <a:rPr lang="es-ES" sz="1500" b="0" i="0">
                          <a:solidFill>
                            <a:srgbClr val="1F2937"/>
                          </a:solidFill>
                          <a:latin typeface="Calibri"/>
                        </a:rPr>
                        <a:t>No declarada</a:t>
                      </a:r>
                    </a:p>
                  </a:txBody>
                  <a:tcPr marL="73152" marR="73152" marT="27432" marB="27432" anchor="ctr">
                    <a:solidFill>
                      <a:srgbClr val="F6F8FC"/>
                    </a:solidFill>
                  </a:tcPr>
                </a:tc>
                <a:tc>
                  <a:txBody>
                    <a:bodyPr/>
                    <a:lstStyle/>
                    <a:p>
                      <a:pPr algn="ctr"/>
                      <a:r>
                        <a:rPr lang="es-ES" sz="1500" b="0" i="0">
                          <a:solidFill>
                            <a:srgbClr val="1F2937"/>
                          </a:solidFill>
                          <a:latin typeface="Calibri"/>
                        </a:rPr>
                        <a:t>Comercial</a:t>
                      </a:r>
                    </a:p>
                  </a:txBody>
                  <a:tcPr marL="73152" marR="73152" marT="27432" marB="27432" anchor="ctr">
                    <a:solidFill>
                      <a:srgbClr val="F6F8FC"/>
                    </a:solidFill>
                  </a:tcPr>
                </a:tc>
                <a:tc>
                  <a:txBody>
                    <a:bodyPr/>
                    <a:lstStyle/>
                    <a:p>
                      <a:pPr algn="ctr"/>
                      <a:r>
                        <a:rPr lang="es-ES" sz="1500" b="0" i="0">
                          <a:solidFill>
                            <a:srgbClr val="1F2937"/>
                          </a:solidFill>
                          <a:latin typeface="Calibri"/>
                        </a:rPr>
                        <a:t>Libre / comercial</a:t>
                      </a:r>
                    </a:p>
                  </a:txBody>
                  <a:tcPr marL="73152" marR="73152" marT="27432" marB="27432" anchor="ctr">
                    <a:solidFill>
                      <a:srgbClr val="F6F8FC"/>
                    </a:solidFill>
                  </a:tcPr>
                </a:tc>
                <a:extLst>
                  <a:ext uri="{0D108BD9-81ED-4DB2-BD59-A6C34878D82A}">
                    <a16:rowId xmlns:a16="http://schemas.microsoft.com/office/drawing/2014/main" val="10002"/>
                  </a:ext>
                </a:extLst>
              </a:tr>
              <a:tr h="471895">
                <a:tc>
                  <a:txBody>
                    <a:bodyPr/>
                    <a:lstStyle/>
                    <a:p>
                      <a:pPr algn="l"/>
                      <a:r>
                        <a:rPr lang="es-ES" sz="1500" b="1" i="0">
                          <a:solidFill>
                            <a:srgbClr val="1F2937"/>
                          </a:solidFill>
                          <a:latin typeface="Calibri"/>
                        </a:rPr>
                        <a:t>Paso a paso</a:t>
                      </a:r>
                    </a:p>
                  </a:txBody>
                  <a:tcPr marL="73152" marR="73152" marT="27432" marB="27432" anchor="ctr">
                    <a:solidFill>
                      <a:srgbClr val="FFFFFF"/>
                    </a:solidFill>
                  </a:tcPr>
                </a:tc>
                <a:tc>
                  <a:txBody>
                    <a:bodyPr/>
                    <a:lstStyle/>
                    <a:p>
                      <a:pPr algn="ctr"/>
                      <a:r>
                        <a:rPr lang="es-ES" sz="1500" b="1" i="0">
                          <a:solidFill>
                            <a:srgbClr val="1F2937"/>
                          </a:solidFill>
                          <a:latin typeface="Calibri"/>
                        </a:rPr>
                        <a:t>Alta: M0 a M7</a:t>
                      </a:r>
                    </a:p>
                  </a:txBody>
                  <a:tcPr marL="73152" marR="73152" marT="27432" marB="27432" anchor="ctr">
                    <a:solidFill>
                      <a:srgbClr val="FDF1E2"/>
                    </a:solidFill>
                  </a:tcPr>
                </a:tc>
                <a:tc>
                  <a:txBody>
                    <a:bodyPr/>
                    <a:lstStyle/>
                    <a:p>
                      <a:pPr algn="ctr"/>
                      <a:r>
                        <a:rPr lang="es-ES" sz="1500" b="0" i="0">
                          <a:solidFill>
                            <a:srgbClr val="1F2937"/>
                          </a:solidFill>
                          <a:latin typeface="Calibri"/>
                        </a:rPr>
                        <a:t>Media</a:t>
                      </a:r>
                    </a:p>
                  </a:txBody>
                  <a:tcPr marL="73152" marR="73152" marT="27432" marB="27432" anchor="ctr">
                    <a:solidFill>
                      <a:srgbClr val="FFFFFF"/>
                    </a:solidFill>
                  </a:tcPr>
                </a:tc>
                <a:tc>
                  <a:txBody>
                    <a:bodyPr/>
                    <a:lstStyle/>
                    <a:p>
                      <a:pPr algn="ctr"/>
                      <a:r>
                        <a:rPr lang="es-ES" sz="1500" b="0" i="0">
                          <a:solidFill>
                            <a:srgbClr val="1F2937"/>
                          </a:solidFill>
                          <a:latin typeface="Calibri"/>
                        </a:rPr>
                        <a:t>Media-alta</a:t>
                      </a:r>
                    </a:p>
                  </a:txBody>
                  <a:tcPr marL="73152" marR="73152" marT="27432" marB="27432" anchor="ctr">
                    <a:solidFill>
                      <a:srgbClr val="FFFFFF"/>
                    </a:solidFill>
                  </a:tcPr>
                </a:tc>
                <a:tc>
                  <a:txBody>
                    <a:bodyPr/>
                    <a:lstStyle/>
                    <a:p>
                      <a:pPr algn="ctr"/>
                      <a:r>
                        <a:rPr lang="es-ES" sz="1500" b="0" i="0">
                          <a:solidFill>
                            <a:srgbClr val="1F2937"/>
                          </a:solidFill>
                          <a:latin typeface="Calibri"/>
                        </a:rPr>
                        <a:t>Un eslabón</a:t>
                      </a:r>
                    </a:p>
                  </a:txBody>
                  <a:tcPr marL="73152" marR="73152" marT="27432" marB="27432" anchor="ctr">
                    <a:solidFill>
                      <a:srgbClr val="FFFFFF"/>
                    </a:solidFill>
                  </a:tcPr>
                </a:tc>
                <a:tc>
                  <a:txBody>
                    <a:bodyPr/>
                    <a:lstStyle/>
                    <a:p>
                      <a:pPr algn="ctr"/>
                      <a:r>
                        <a:rPr lang="es-ES" sz="1500" b="0" i="0">
                          <a:solidFill>
                            <a:srgbClr val="1F2937"/>
                          </a:solidFill>
                          <a:latin typeface="Calibri"/>
                        </a:rPr>
                        <a:t>Baja</a:t>
                      </a:r>
                    </a:p>
                  </a:txBody>
                  <a:tcPr marL="73152" marR="73152" marT="27432" marB="27432" anchor="ctr">
                    <a:solidFill>
                      <a:srgbClr val="FFFFFF"/>
                    </a:solidFill>
                  </a:tcPr>
                </a:tc>
                <a:extLst>
                  <a:ext uri="{0D108BD9-81ED-4DB2-BD59-A6C34878D82A}">
                    <a16:rowId xmlns:a16="http://schemas.microsoft.com/office/drawing/2014/main" val="10003"/>
                  </a:ext>
                </a:extLst>
              </a:tr>
              <a:tr h="471895">
                <a:tc>
                  <a:txBody>
                    <a:bodyPr/>
                    <a:lstStyle/>
                    <a:p>
                      <a:pPr algn="l"/>
                      <a:r>
                        <a:rPr lang="es-ES" sz="1500" b="1" i="0">
                          <a:solidFill>
                            <a:srgbClr val="1F2937"/>
                          </a:solidFill>
                          <a:latin typeface="Calibri"/>
                        </a:rPr>
                        <a:t>Canal completo</a:t>
                      </a:r>
                    </a:p>
                  </a:txBody>
                  <a:tcPr marL="73152" marR="73152" marT="27432" marB="27432" anchor="ctr">
                    <a:solidFill>
                      <a:srgbClr val="F6F8FC"/>
                    </a:solidFill>
                  </a:tcPr>
                </a:tc>
                <a:tc>
                  <a:txBody>
                    <a:bodyPr/>
                    <a:lstStyle/>
                    <a:p>
                      <a:pPr algn="ctr"/>
                      <a:r>
                        <a:rPr lang="es-ES" sz="1500" b="1" i="0">
                          <a:solidFill>
                            <a:srgbClr val="1F2937"/>
                          </a:solidFill>
                          <a:latin typeface="Calibri"/>
                        </a:rPr>
                        <a:t>Sí</a:t>
                      </a:r>
                    </a:p>
                  </a:txBody>
                  <a:tcPr marL="73152" marR="73152" marT="27432" marB="27432" anchor="ctr">
                    <a:solidFill>
                      <a:srgbClr val="FDF1E2"/>
                    </a:solidFill>
                  </a:tcPr>
                </a:tc>
                <a:tc>
                  <a:txBody>
                    <a:bodyPr/>
                    <a:lstStyle/>
                    <a:p>
                      <a:pPr algn="ctr"/>
                      <a:r>
                        <a:rPr lang="es-ES" sz="1500" b="0" i="0">
                          <a:solidFill>
                            <a:srgbClr val="1F2937"/>
                          </a:solidFill>
                          <a:latin typeface="Calibri"/>
                        </a:rPr>
                        <a:t>Sí</a:t>
                      </a:r>
                    </a:p>
                  </a:txBody>
                  <a:tcPr marL="73152" marR="73152" marT="27432" marB="27432" anchor="ctr">
                    <a:solidFill>
                      <a:srgbClr val="F6F8FC"/>
                    </a:solidFill>
                  </a:tcPr>
                </a:tc>
                <a:tc>
                  <a:txBody>
                    <a:bodyPr/>
                    <a:lstStyle/>
                    <a:p>
                      <a:pPr algn="ctr"/>
                      <a:r>
                        <a:rPr lang="es-ES" sz="1500" b="0" i="0">
                          <a:solidFill>
                            <a:srgbClr val="1F2937"/>
                          </a:solidFill>
                          <a:latin typeface="Calibri"/>
                        </a:rPr>
                        <a:t>Parcial</a:t>
                      </a:r>
                    </a:p>
                  </a:txBody>
                  <a:tcPr marL="73152" marR="73152" marT="27432" marB="27432" anchor="ctr">
                    <a:solidFill>
                      <a:srgbClr val="F6F8FC"/>
                    </a:solidFill>
                  </a:tcPr>
                </a:tc>
                <a:tc>
                  <a:txBody>
                    <a:bodyPr/>
                    <a:lstStyle/>
                    <a:p>
                      <a:pPr algn="ctr"/>
                      <a:r>
                        <a:rPr lang="es-ES" sz="1500" b="0" i="0">
                          <a:solidFill>
                            <a:srgbClr val="1F2937"/>
                          </a:solidFill>
                          <a:latin typeface="Calibri"/>
                        </a:rPr>
                        <a:t>Parcial</a:t>
                      </a:r>
                    </a:p>
                  </a:txBody>
                  <a:tcPr marL="73152" marR="73152" marT="27432" marB="27432" anchor="ctr">
                    <a:solidFill>
                      <a:srgbClr val="F6F8FC"/>
                    </a:solidFill>
                  </a:tcPr>
                </a:tc>
                <a:tc>
                  <a:txBody>
                    <a:bodyPr/>
                    <a:lstStyle/>
                    <a:p>
                      <a:pPr algn="ctr"/>
                      <a:r>
                        <a:rPr lang="es-ES" sz="1500" b="0" i="0">
                          <a:solidFill>
                            <a:srgbClr val="1F2937"/>
                          </a:solidFill>
                          <a:latin typeface="Calibri"/>
                        </a:rPr>
                        <a:t>No</a:t>
                      </a:r>
                    </a:p>
                  </a:txBody>
                  <a:tcPr marL="73152" marR="73152" marT="27432" marB="27432" anchor="ctr">
                    <a:solidFill>
                      <a:srgbClr val="F6F8FC"/>
                    </a:solidFill>
                  </a:tcPr>
                </a:tc>
                <a:extLst>
                  <a:ext uri="{0D108BD9-81ED-4DB2-BD59-A6C34878D82A}">
                    <a16:rowId xmlns:a16="http://schemas.microsoft.com/office/drawing/2014/main" val="10004"/>
                  </a:ext>
                </a:extLst>
              </a:tr>
              <a:tr h="471895">
                <a:tc>
                  <a:txBody>
                    <a:bodyPr/>
                    <a:lstStyle/>
                    <a:p>
                      <a:pPr algn="l"/>
                      <a:r>
                        <a:rPr lang="es-ES" sz="1500" b="1" i="0">
                          <a:solidFill>
                            <a:srgbClr val="1F2937"/>
                          </a:solidFill>
                          <a:latin typeface="Calibri"/>
                        </a:rPr>
                        <a:t>Memoria automática</a:t>
                      </a:r>
                    </a:p>
                  </a:txBody>
                  <a:tcPr marL="73152" marR="73152" marT="27432" marB="27432" anchor="ctr">
                    <a:solidFill>
                      <a:srgbClr val="FFFFFF"/>
                    </a:solidFill>
                  </a:tcPr>
                </a:tc>
                <a:tc>
                  <a:txBody>
                    <a:bodyPr/>
                    <a:lstStyle/>
                    <a:p>
                      <a:pPr algn="ctr"/>
                      <a:r>
                        <a:rPr lang="es-ES" sz="1500" b="1" i="0">
                          <a:solidFill>
                            <a:srgbClr val="1F2937"/>
                          </a:solidFill>
                          <a:latin typeface="Calibri"/>
                        </a:rPr>
                        <a:t>Sí, PDF trazable</a:t>
                      </a:r>
                    </a:p>
                  </a:txBody>
                  <a:tcPr marL="73152" marR="73152" marT="27432" marB="27432" anchor="ctr">
                    <a:solidFill>
                      <a:srgbClr val="FDF1E2"/>
                    </a:solidFill>
                  </a:tcPr>
                </a:tc>
                <a:tc>
                  <a:txBody>
                    <a:bodyPr/>
                    <a:lstStyle/>
                    <a:p>
                      <a:pPr algn="ctr"/>
                      <a:r>
                        <a:rPr lang="es-ES" sz="1500" b="0" i="0">
                          <a:solidFill>
                            <a:srgbClr val="1F2937"/>
                          </a:solidFill>
                          <a:latin typeface="Calibri"/>
                        </a:rPr>
                        <a:t>No consta</a:t>
                      </a:r>
                    </a:p>
                  </a:txBody>
                  <a:tcPr marL="73152" marR="73152" marT="27432" marB="27432" anchor="ctr">
                    <a:solidFill>
                      <a:srgbClr val="FFFFFF"/>
                    </a:solidFill>
                  </a:tcPr>
                </a:tc>
                <a:tc>
                  <a:txBody>
                    <a:bodyPr/>
                    <a:lstStyle/>
                    <a:p>
                      <a:pPr algn="ctr"/>
                      <a:r>
                        <a:rPr lang="es-ES" sz="1500" b="0" i="0">
                          <a:solidFill>
                            <a:srgbClr val="1F2937"/>
                          </a:solidFill>
                          <a:latin typeface="Calibri"/>
                        </a:rPr>
                        <a:t>No consta</a:t>
                      </a:r>
                    </a:p>
                  </a:txBody>
                  <a:tcPr marL="73152" marR="73152" marT="27432" marB="27432" anchor="ctr">
                    <a:solidFill>
                      <a:srgbClr val="FFFFFF"/>
                    </a:solidFill>
                  </a:tcPr>
                </a:tc>
                <a:tc>
                  <a:txBody>
                    <a:bodyPr/>
                    <a:lstStyle/>
                    <a:p>
                      <a:pPr algn="ctr"/>
                      <a:r>
                        <a:rPr lang="es-ES" sz="1500" b="0" i="0">
                          <a:solidFill>
                            <a:srgbClr val="1F2937"/>
                          </a:solidFill>
                          <a:latin typeface="Calibri"/>
                        </a:rPr>
                        <a:t>En pantalla</a:t>
                      </a:r>
                    </a:p>
                  </a:txBody>
                  <a:tcPr marL="73152" marR="73152" marT="27432" marB="27432" anchor="ctr">
                    <a:solidFill>
                      <a:srgbClr val="FFFFFF"/>
                    </a:solidFill>
                  </a:tcPr>
                </a:tc>
                <a:tc>
                  <a:txBody>
                    <a:bodyPr/>
                    <a:lstStyle/>
                    <a:p>
                      <a:pPr algn="ctr"/>
                      <a:r>
                        <a:rPr lang="es-ES" sz="1500" b="0" i="0">
                          <a:solidFill>
                            <a:srgbClr val="1F2937"/>
                          </a:solidFill>
                          <a:latin typeface="Calibri"/>
                        </a:rPr>
                        <a:t>Solo informes</a:t>
                      </a:r>
                    </a:p>
                  </a:txBody>
                  <a:tcPr marL="73152" marR="73152" marT="27432" marB="27432" anchor="ctr">
                    <a:solidFill>
                      <a:srgbClr val="FFFFFF"/>
                    </a:solidFill>
                  </a:tcPr>
                </a:tc>
                <a:extLst>
                  <a:ext uri="{0D108BD9-81ED-4DB2-BD59-A6C34878D82A}">
                    <a16:rowId xmlns:a16="http://schemas.microsoft.com/office/drawing/2014/main" val="10005"/>
                  </a:ext>
                </a:extLst>
              </a:tr>
              <a:tr h="471895">
                <a:tc>
                  <a:txBody>
                    <a:bodyPr/>
                    <a:lstStyle/>
                    <a:p>
                      <a:pPr algn="l"/>
                      <a:r>
                        <a:rPr lang="es-ES" sz="1500" b="1" i="0">
                          <a:solidFill>
                            <a:srgbClr val="1F2937"/>
                          </a:solidFill>
                          <a:latin typeface="Calibri"/>
                        </a:rPr>
                        <a:t>V&amp;V publicada</a:t>
                      </a:r>
                    </a:p>
                  </a:txBody>
                  <a:tcPr marL="73152" marR="73152" marT="27432" marB="27432" anchor="ctr">
                    <a:solidFill>
                      <a:srgbClr val="F6F8FC"/>
                    </a:solidFill>
                  </a:tcPr>
                </a:tc>
                <a:tc>
                  <a:txBody>
                    <a:bodyPr/>
                    <a:lstStyle/>
                    <a:p>
                      <a:pPr algn="ctr"/>
                      <a:r>
                        <a:rPr lang="es-ES" sz="1500" b="1" i="0">
                          <a:solidFill>
                            <a:srgbClr val="1F2937"/>
                          </a:solidFill>
                          <a:latin typeface="Calibri"/>
                        </a:rPr>
                        <a:t>MMS, Timoshenko y Cook</a:t>
                      </a:r>
                    </a:p>
                  </a:txBody>
                  <a:tcPr marL="73152" marR="73152" marT="27432" marB="27432" anchor="ctr">
                    <a:solidFill>
                      <a:srgbClr val="FDF1E2"/>
                    </a:solidFill>
                  </a:tcPr>
                </a:tc>
                <a:tc>
                  <a:txBody>
                    <a:bodyPr/>
                    <a:lstStyle/>
                    <a:p>
                      <a:pPr algn="ctr"/>
                      <a:r>
                        <a:rPr lang="es-ES" sz="1500" b="0" i="0">
                          <a:solidFill>
                            <a:srgbClr val="1F2937"/>
                          </a:solidFill>
                          <a:latin typeface="Calibri"/>
                        </a:rPr>
                        <a:t>No consta</a:t>
                      </a:r>
                    </a:p>
                  </a:txBody>
                  <a:tcPr marL="73152" marR="73152" marT="27432" marB="27432" anchor="ctr">
                    <a:solidFill>
                      <a:srgbClr val="F6F8FC"/>
                    </a:solidFill>
                  </a:tcPr>
                </a:tc>
                <a:tc>
                  <a:txBody>
                    <a:bodyPr/>
                    <a:lstStyle/>
                    <a:p>
                      <a:pPr algn="ctr"/>
                      <a:r>
                        <a:rPr lang="es-ES" sz="1500" b="0" i="0">
                          <a:solidFill>
                            <a:srgbClr val="1F2937"/>
                          </a:solidFill>
                          <a:latin typeface="Calibri"/>
                        </a:rPr>
                        <a:t>No consta</a:t>
                      </a:r>
                    </a:p>
                  </a:txBody>
                  <a:tcPr marL="73152" marR="73152" marT="27432" marB="27432" anchor="ctr">
                    <a:solidFill>
                      <a:srgbClr val="F6F8FC"/>
                    </a:solidFill>
                  </a:tcPr>
                </a:tc>
                <a:tc>
                  <a:txBody>
                    <a:bodyPr/>
                    <a:lstStyle/>
                    <a:p>
                      <a:pPr algn="ctr"/>
                      <a:r>
                        <a:rPr lang="es-ES" sz="1500" b="0" i="0">
                          <a:solidFill>
                            <a:srgbClr val="1F2937"/>
                          </a:solidFill>
                          <a:latin typeface="Calibri"/>
                        </a:rPr>
                        <a:t>No consta</a:t>
                      </a:r>
                    </a:p>
                  </a:txBody>
                  <a:tcPr marL="73152" marR="73152" marT="27432" marB="27432" anchor="ctr">
                    <a:solidFill>
                      <a:srgbClr val="F6F8FC"/>
                    </a:solidFill>
                  </a:tcPr>
                </a:tc>
                <a:tc>
                  <a:txBody>
                    <a:bodyPr/>
                    <a:lstStyle/>
                    <a:p>
                      <a:pPr algn="ctr"/>
                      <a:r>
                        <a:rPr lang="es-ES" sz="1500" b="0" i="0">
                          <a:solidFill>
                            <a:srgbClr val="1F2937"/>
                          </a:solidFill>
                          <a:latin typeface="Calibri"/>
                        </a:rPr>
                        <a:t>—</a:t>
                      </a:r>
                    </a:p>
                  </a:txBody>
                  <a:tcPr marL="73152" marR="73152" marT="27432" marB="27432" anchor="ctr">
                    <a:solidFill>
                      <a:srgbClr val="F6F8FC"/>
                    </a:solidFill>
                  </a:tcPr>
                </a:tc>
                <a:extLst>
                  <a:ext uri="{0D108BD9-81ED-4DB2-BD59-A6C34878D82A}">
                    <a16:rowId xmlns:a16="http://schemas.microsoft.com/office/drawing/2014/main" val="10006"/>
                  </a:ext>
                </a:extLst>
              </a:tr>
            </a:tbl>
          </a:graphicData>
        </a:graphic>
      </p:graphicFrame>
      <p:sp>
        <p:nvSpPr>
          <p:cNvPr id="14" name="Rectangle 13"/>
          <p:cNvSpPr/>
          <p:nvPr/>
        </p:nvSpPr>
        <p:spPr>
          <a:xfrm>
            <a:off x="566928" y="2476717"/>
            <a:ext cx="11057839" cy="41148"/>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Rectangle 14"/>
          <p:cNvSpPr/>
          <p:nvPr/>
        </p:nvSpPr>
        <p:spPr>
          <a:xfrm>
            <a:off x="566928" y="5449824"/>
            <a:ext cx="11057839" cy="841248"/>
          </a:xfrm>
          <a:prstGeom prst="rect">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Rectangle 15"/>
          <p:cNvSpPr/>
          <p:nvPr/>
        </p:nvSpPr>
        <p:spPr>
          <a:xfrm>
            <a:off x="566928" y="5449824"/>
            <a:ext cx="77724" cy="841248"/>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795528" y="5449824"/>
            <a:ext cx="10737799" cy="841248"/>
          </a:xfrm>
          <a:prstGeom prst="rect">
            <a:avLst/>
          </a:prstGeom>
          <a:noFill/>
        </p:spPr>
        <p:txBody>
          <a:bodyPr wrap="square" lIns="45720" tIns="27432" rIns="45720" bIns="27432" anchor="ctr">
            <a:noAutofit/>
          </a:bodyPr>
          <a:lstStyle/>
          <a:p>
            <a:pPr algn="l">
              <a:lnSpc>
                <a:spcPct val="100000"/>
              </a:lnSpc>
            </a:pPr>
            <a:r>
              <a:rPr lang="es-ES" sz="2000" b="1" i="0">
                <a:solidFill>
                  <a:srgbClr val="1B2A4A"/>
                </a:solidFill>
                <a:latin typeface="Calibri"/>
              </a:rPr>
              <a:t>Ninguno reúne español, licencia libre, continuo plano, canal completo, memoria trazable y fenómenos numéricos observables</a:t>
            </a:r>
          </a:p>
        </p:txBody>
      </p:sp>
      <p:sp>
        <p:nvSpPr>
          <p:cNvPr id="18" name="Rectangle 17"/>
          <p:cNvSpPr/>
          <p:nvPr/>
        </p:nvSpPr>
        <p:spPr>
          <a:xfrm>
            <a:off x="566928" y="6364224"/>
            <a:ext cx="11057839" cy="7315"/>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566928" y="6437376"/>
            <a:ext cx="5029200" cy="292608"/>
          </a:xfrm>
          <a:prstGeom prst="rect">
            <a:avLst/>
          </a:prstGeom>
          <a:noFill/>
        </p:spPr>
        <p:txBody>
          <a:bodyPr wrap="square" lIns="45720" tIns="27432" rIns="45720" bIns="27432" anchor="ctr">
            <a:noAutofit/>
          </a:bodyPr>
          <a:lstStyle/>
          <a:p>
            <a:pPr algn="l">
              <a:lnSpc>
                <a:spcPct val="105000"/>
              </a:lnSpc>
            </a:pPr>
            <a:r>
              <a:rPr lang="es-ES" sz="1200" b="0" i="0">
                <a:solidFill>
                  <a:srgbClr val="5B6575"/>
                </a:solidFill>
                <a:latin typeface="Calibri"/>
              </a:rPr>
              <a:t>EduFEM · Defensa de tesis · Ingeniería Civil · UATF</a:t>
            </a:r>
          </a:p>
        </p:txBody>
      </p:sp>
      <p:sp>
        <p:nvSpPr>
          <p:cNvPr id="20" name="TextBox 19"/>
          <p:cNvSpPr txBox="1"/>
          <p:nvPr/>
        </p:nvSpPr>
        <p:spPr>
          <a:xfrm>
            <a:off x="4023360" y="6437376"/>
            <a:ext cx="5394960" cy="292608"/>
          </a:xfrm>
          <a:prstGeom prst="rect">
            <a:avLst/>
          </a:prstGeom>
          <a:noFill/>
        </p:spPr>
        <p:txBody>
          <a:bodyPr wrap="square" lIns="45720" tIns="27432" rIns="45720" bIns="27432" anchor="ctr">
            <a:noAutofit/>
          </a:bodyPr>
          <a:lstStyle/>
          <a:p>
            <a:pPr algn="ctr">
              <a:lnSpc>
                <a:spcPct val="105000"/>
              </a:lnSpc>
            </a:pPr>
            <a:r>
              <a:rPr lang="es-ES" sz="1200" b="0" i="0">
                <a:solidFill>
                  <a:srgbClr val="5B6575"/>
                </a:solidFill>
                <a:latin typeface="Calibri"/>
              </a:rPr>
              <a:t>Tesis: Cap. 1, §1.1, Tabla 1.1</a:t>
            </a:r>
          </a:p>
        </p:txBody>
      </p:sp>
      <p:sp>
        <p:nvSpPr>
          <p:cNvPr id="21" name="TextBox 20"/>
          <p:cNvSpPr txBox="1"/>
          <p:nvPr/>
        </p:nvSpPr>
        <p:spPr>
          <a:xfrm>
            <a:off x="10527487" y="6437376"/>
            <a:ext cx="1097280" cy="292608"/>
          </a:xfrm>
          <a:prstGeom prst="rect">
            <a:avLst/>
          </a:prstGeom>
          <a:noFill/>
        </p:spPr>
        <p:txBody>
          <a:bodyPr wrap="none" lIns="45720" tIns="18288" rIns="45720" bIns="18288">
            <a:spAutoFit/>
          </a:bodyPr>
          <a:lstStyle/>
          <a:p>
            <a:pPr algn="r"/>
            <a:fld id="{B6F15528-21DE-4FAA-801E-634DDDAF4B2B}" type="slidenum">
              <a:rPr lang="es-ES" sz="1200" dirty="0">
                <a:solidFill>
                  <a:srgbClr val="5B6575"/>
                </a:solidFill>
                <a:latin typeface="Calibri"/>
              </a:rPr>
              <a:t>8</a:t>
            </a:fld>
            <a:endParaRPr lang="es-ES" sz="1200" dirty="0">
              <a:solidFill>
                <a:srgbClr val="5B6575"/>
              </a:solidFill>
              <a:latin typeface="Calibri"/>
            </a:endParaRPr>
          </a:p>
        </p:txBody>
      </p:sp>
      <p:pic>
        <p:nvPicPr>
          <p:cNvPr id="22" name="s08">
            <a:hlinkClick r:id="" action="ppaction://media"/>
            <a:extLst>
              <a:ext uri="{FF2B5EF4-FFF2-40B4-BE49-F238E27FC236}">
                <a16:creationId xmlns:a16="http://schemas.microsoft.com/office/drawing/2014/main" id="{2A4B8073-6869-EB34-191C-F5E88239BC89}"/>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254000" y="254000"/>
            <a:ext cx="508000" cy="508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75152"/>
    </mc:Choice>
    <mc:Fallback>
      <p:transition spd="slow" advTm="75152"/>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22"/>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22"/>
                </p:tgtEl>
              </p:cMediaNode>
            </p:audio>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566928" y="361188"/>
            <a:ext cx="50292" cy="173736"/>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TextBox 2"/>
          <p:cNvSpPr txBox="1"/>
          <p:nvPr/>
        </p:nvSpPr>
        <p:spPr>
          <a:xfrm>
            <a:off x="704088" y="310896"/>
            <a:ext cx="6766560" cy="274320"/>
          </a:xfrm>
          <a:prstGeom prst="rect">
            <a:avLst/>
          </a:prstGeom>
          <a:noFill/>
        </p:spPr>
        <p:txBody>
          <a:bodyPr wrap="square" lIns="45720" tIns="27432" rIns="45720" bIns="27432" anchor="ctr">
            <a:noAutofit/>
          </a:bodyPr>
          <a:lstStyle/>
          <a:p>
            <a:pPr algn="l">
              <a:lnSpc>
                <a:spcPct val="105000"/>
              </a:lnSpc>
            </a:pPr>
            <a:r>
              <a:rPr lang="es-ES" sz="1200" b="1" i="0" spc="80">
                <a:solidFill>
                  <a:srgbClr val="F28C28"/>
                </a:solidFill>
                <a:latin typeface="Calibri"/>
              </a:rPr>
              <a:t>02   BASE TEÓRICA</a:t>
            </a:r>
          </a:p>
        </p:txBody>
      </p:sp>
      <p:sp>
        <p:nvSpPr>
          <p:cNvPr id="4" name="Oval 3"/>
          <p:cNvSpPr/>
          <p:nvPr/>
        </p:nvSpPr>
        <p:spPr>
          <a:xfrm>
            <a:off x="10413187" y="388620"/>
            <a:ext cx="114300" cy="1143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Oval 4"/>
          <p:cNvSpPr/>
          <p:nvPr/>
        </p:nvSpPr>
        <p:spPr>
          <a:xfrm>
            <a:off x="10600639" y="356616"/>
            <a:ext cx="178308" cy="178308"/>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Oval 5"/>
          <p:cNvSpPr/>
          <p:nvPr/>
        </p:nvSpPr>
        <p:spPr>
          <a:xfrm>
            <a:off x="10852099"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Oval 6"/>
          <p:cNvSpPr/>
          <p:nvPr/>
        </p:nvSpPr>
        <p:spPr>
          <a:xfrm>
            <a:off x="11071555"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Oval 7"/>
          <p:cNvSpPr/>
          <p:nvPr/>
        </p:nvSpPr>
        <p:spPr>
          <a:xfrm>
            <a:off x="11291011"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Oval 8"/>
          <p:cNvSpPr/>
          <p:nvPr/>
        </p:nvSpPr>
        <p:spPr>
          <a:xfrm>
            <a:off x="11510467"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548640" y="585216"/>
            <a:ext cx="11057839" cy="749808"/>
          </a:xfrm>
          <a:prstGeom prst="rect">
            <a:avLst/>
          </a:prstGeom>
          <a:noFill/>
        </p:spPr>
        <p:txBody>
          <a:bodyPr wrap="square" lIns="45720" tIns="27432" rIns="45720" bIns="27432" anchor="ctr">
            <a:noAutofit/>
          </a:bodyPr>
          <a:lstStyle/>
          <a:p>
            <a:pPr algn="l">
              <a:lnSpc>
                <a:spcPct val="105000"/>
              </a:lnSpc>
            </a:pPr>
            <a:r>
              <a:rPr lang="es-ES" sz="3200" b="1" i="0">
                <a:solidFill>
                  <a:srgbClr val="1B2A4A"/>
                </a:solidFill>
                <a:latin typeface="Calibri"/>
              </a:rPr>
              <a:t>De la forma fuerte a K u = F</a:t>
            </a:r>
          </a:p>
        </p:txBody>
      </p:sp>
      <p:sp>
        <p:nvSpPr>
          <p:cNvPr id="11" name="Rectangle 10"/>
          <p:cNvSpPr/>
          <p:nvPr/>
        </p:nvSpPr>
        <p:spPr>
          <a:xfrm>
            <a:off x="566928" y="1371600"/>
            <a:ext cx="1051560" cy="50292"/>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Rounded Rectangle 11"/>
          <p:cNvSpPr/>
          <p:nvPr/>
        </p:nvSpPr>
        <p:spPr>
          <a:xfrm>
            <a:off x="566928" y="1664208"/>
            <a:ext cx="11057839" cy="758952"/>
          </a:xfrm>
          <a:prstGeom prst="roundRect">
            <a:avLst>
              <a:gd name="adj" fmla="val 7000"/>
            </a:avLst>
          </a:prstGeom>
          <a:solidFill>
            <a:srgbClr val="F6F8FC"/>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Rectangle 12"/>
          <p:cNvSpPr/>
          <p:nvPr/>
        </p:nvSpPr>
        <p:spPr>
          <a:xfrm>
            <a:off x="566928" y="1664208"/>
            <a:ext cx="77724" cy="758952"/>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841247" y="1664208"/>
            <a:ext cx="3108960" cy="758952"/>
          </a:xfrm>
          <a:prstGeom prst="rect">
            <a:avLst/>
          </a:prstGeom>
          <a:noFill/>
        </p:spPr>
        <p:txBody>
          <a:bodyPr wrap="square" lIns="45720" tIns="27432" rIns="45720" bIns="27432" anchor="ctr">
            <a:noAutofit/>
          </a:bodyPr>
          <a:lstStyle/>
          <a:p>
            <a:pPr algn="l">
              <a:lnSpc>
                <a:spcPct val="105000"/>
              </a:lnSpc>
            </a:pPr>
            <a:r>
              <a:rPr lang="es-ES" sz="1800" b="1" i="0">
                <a:solidFill>
                  <a:srgbClr val="5B6575"/>
                </a:solidFill>
                <a:latin typeface="Calibri"/>
              </a:rPr>
              <a:t>Equilibrio (forma fuerte)</a:t>
            </a:r>
          </a:p>
        </p:txBody>
      </p:sp>
      <p:sp>
        <p:nvSpPr>
          <p:cNvPr id="15" name="TextBox 14"/>
          <p:cNvSpPr txBox="1"/>
          <p:nvPr/>
        </p:nvSpPr>
        <p:spPr>
          <a:xfrm>
            <a:off x="3950208" y="1664208"/>
            <a:ext cx="7445959" cy="758952"/>
          </a:xfrm>
          <a:prstGeom prst="rect">
            <a:avLst/>
          </a:prstGeom>
          <a:noFill/>
        </p:spPr>
        <p:txBody>
          <a:bodyPr wrap="square" lIns="45720" tIns="27432" rIns="45720" bIns="27432" anchor="ctr">
            <a:noAutofit/>
          </a:bodyPr>
          <a:lstStyle/>
          <a:p>
            <a:pPr algn="l">
              <a:lnSpc>
                <a:spcPct val="105000"/>
              </a:lnSpc>
            </a:pPr>
            <a:r>
              <a:rPr lang="es-ES" sz="1800" b="0" i="0">
                <a:solidFill>
                  <a:srgbClr val="1B2A4A"/>
                </a:solidFill>
                <a:latin typeface="Cambria Math"/>
              </a:rPr>
              <a:t>∇·σ + b = 0   en Ω</a:t>
            </a:r>
          </a:p>
        </p:txBody>
      </p:sp>
      <p:sp>
        <p:nvSpPr>
          <p:cNvPr id="16" name="Rounded Rectangle 15"/>
          <p:cNvSpPr/>
          <p:nvPr/>
        </p:nvSpPr>
        <p:spPr>
          <a:xfrm>
            <a:off x="566928" y="2606040"/>
            <a:ext cx="11057839" cy="758952"/>
          </a:xfrm>
          <a:prstGeom prst="roundRect">
            <a:avLst>
              <a:gd name="adj" fmla="val 7000"/>
            </a:avLst>
          </a:prstGeom>
          <a:solidFill>
            <a:srgbClr val="F6F8FC"/>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Rectangle 16"/>
          <p:cNvSpPr/>
          <p:nvPr/>
        </p:nvSpPr>
        <p:spPr>
          <a:xfrm>
            <a:off x="566928" y="2606040"/>
            <a:ext cx="77724" cy="758952"/>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841247" y="2606040"/>
            <a:ext cx="3108960" cy="758952"/>
          </a:xfrm>
          <a:prstGeom prst="rect">
            <a:avLst/>
          </a:prstGeom>
          <a:noFill/>
        </p:spPr>
        <p:txBody>
          <a:bodyPr wrap="square" lIns="45720" tIns="27432" rIns="45720" bIns="27432" anchor="ctr">
            <a:noAutofit/>
          </a:bodyPr>
          <a:lstStyle/>
          <a:p>
            <a:pPr algn="l">
              <a:lnSpc>
                <a:spcPct val="105000"/>
              </a:lnSpc>
            </a:pPr>
            <a:r>
              <a:rPr lang="es-ES" sz="1800" b="1" i="0">
                <a:solidFill>
                  <a:srgbClr val="5B6575"/>
                </a:solidFill>
                <a:latin typeface="Calibri"/>
              </a:rPr>
              <a:t>Trabajos virtuales</a:t>
            </a:r>
          </a:p>
        </p:txBody>
      </p:sp>
      <p:sp>
        <p:nvSpPr>
          <p:cNvPr id="19" name="TextBox 18"/>
          <p:cNvSpPr txBox="1"/>
          <p:nvPr/>
        </p:nvSpPr>
        <p:spPr>
          <a:xfrm>
            <a:off x="3950208" y="2606040"/>
            <a:ext cx="7445959" cy="758952"/>
          </a:xfrm>
          <a:prstGeom prst="rect">
            <a:avLst/>
          </a:prstGeom>
          <a:noFill/>
        </p:spPr>
        <p:txBody>
          <a:bodyPr wrap="square" lIns="45720" tIns="27432" rIns="45720" bIns="27432" anchor="ctr">
            <a:noAutofit/>
          </a:bodyPr>
          <a:lstStyle/>
          <a:p>
            <a:pPr algn="l">
              <a:lnSpc>
                <a:spcPct val="105000"/>
              </a:lnSpc>
            </a:pPr>
            <a:r>
              <a:rPr lang="es-ES" sz="1800" b="0" i="0">
                <a:solidFill>
                  <a:srgbClr val="1B2A4A"/>
                </a:solidFill>
                <a:latin typeface="Cambria Math"/>
              </a:rPr>
              <a:t>∫Ω δεᵀ σ dΩ = ∫Ω δuᵀ b dΩ + ∫Γₜ δuᵀ t dΓ</a:t>
            </a:r>
          </a:p>
        </p:txBody>
      </p:sp>
      <p:sp>
        <p:nvSpPr>
          <p:cNvPr id="20" name="Rounded Rectangle 19"/>
          <p:cNvSpPr/>
          <p:nvPr/>
        </p:nvSpPr>
        <p:spPr>
          <a:xfrm>
            <a:off x="566928" y="3547872"/>
            <a:ext cx="11057839" cy="758952"/>
          </a:xfrm>
          <a:prstGeom prst="roundRect">
            <a:avLst>
              <a:gd name="adj" fmla="val 7000"/>
            </a:avLst>
          </a:prstGeom>
          <a:solidFill>
            <a:srgbClr val="F6F8FC"/>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Rectangle 20"/>
          <p:cNvSpPr/>
          <p:nvPr/>
        </p:nvSpPr>
        <p:spPr>
          <a:xfrm>
            <a:off x="566928" y="3547872"/>
            <a:ext cx="77724" cy="758952"/>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841247" y="3547872"/>
            <a:ext cx="3108960" cy="758952"/>
          </a:xfrm>
          <a:prstGeom prst="rect">
            <a:avLst/>
          </a:prstGeom>
          <a:noFill/>
        </p:spPr>
        <p:txBody>
          <a:bodyPr wrap="square" lIns="45720" tIns="27432" rIns="45720" bIns="27432" anchor="ctr">
            <a:noAutofit/>
          </a:bodyPr>
          <a:lstStyle/>
          <a:p>
            <a:pPr algn="l">
              <a:lnSpc>
                <a:spcPct val="105000"/>
              </a:lnSpc>
            </a:pPr>
            <a:r>
              <a:rPr lang="es-ES" sz="1800" b="1" i="0">
                <a:solidFill>
                  <a:srgbClr val="5B6575"/>
                </a:solidFill>
                <a:latin typeface="Calibri"/>
              </a:rPr>
              <a:t>Discretización</a:t>
            </a:r>
          </a:p>
        </p:txBody>
      </p:sp>
      <p:sp>
        <p:nvSpPr>
          <p:cNvPr id="23" name="TextBox 22"/>
          <p:cNvSpPr txBox="1"/>
          <p:nvPr/>
        </p:nvSpPr>
        <p:spPr>
          <a:xfrm>
            <a:off x="3950208" y="3547872"/>
            <a:ext cx="7445959" cy="758952"/>
          </a:xfrm>
          <a:prstGeom prst="rect">
            <a:avLst/>
          </a:prstGeom>
          <a:noFill/>
        </p:spPr>
        <p:txBody>
          <a:bodyPr wrap="square" lIns="45720" tIns="27432" rIns="45720" bIns="27432" anchor="ctr">
            <a:noAutofit/>
          </a:bodyPr>
          <a:lstStyle/>
          <a:p>
            <a:pPr algn="l">
              <a:lnSpc>
                <a:spcPct val="105000"/>
              </a:lnSpc>
            </a:pPr>
            <a:r>
              <a:rPr lang="es-ES" sz="1800" b="0" i="0">
                <a:solidFill>
                  <a:srgbClr val="1B2A4A"/>
                </a:solidFill>
                <a:latin typeface="Cambria Math"/>
              </a:rPr>
              <a:t>u ≈ N uₑ ,   ε = B uₑ ,   σ = D ε   ⇒   K u = F</a:t>
            </a:r>
          </a:p>
        </p:txBody>
      </p:sp>
      <p:sp>
        <p:nvSpPr>
          <p:cNvPr id="24" name="Rounded Rectangle 23"/>
          <p:cNvSpPr/>
          <p:nvPr/>
        </p:nvSpPr>
        <p:spPr>
          <a:xfrm>
            <a:off x="566928" y="4489703"/>
            <a:ext cx="11057839" cy="758952"/>
          </a:xfrm>
          <a:prstGeom prst="roundRect">
            <a:avLst>
              <a:gd name="adj" fmla="val 7000"/>
            </a:avLst>
          </a:prstGeom>
          <a:solidFill>
            <a:srgbClr val="F6F8FC"/>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Rectangle 24"/>
          <p:cNvSpPr/>
          <p:nvPr/>
        </p:nvSpPr>
        <p:spPr>
          <a:xfrm>
            <a:off x="566928" y="4489703"/>
            <a:ext cx="77724" cy="758952"/>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TextBox 25"/>
          <p:cNvSpPr txBox="1"/>
          <p:nvPr/>
        </p:nvSpPr>
        <p:spPr>
          <a:xfrm>
            <a:off x="841247" y="4489703"/>
            <a:ext cx="3108960" cy="758952"/>
          </a:xfrm>
          <a:prstGeom prst="rect">
            <a:avLst/>
          </a:prstGeom>
          <a:noFill/>
        </p:spPr>
        <p:txBody>
          <a:bodyPr wrap="square" lIns="45720" tIns="27432" rIns="45720" bIns="27432" anchor="ctr">
            <a:noAutofit/>
          </a:bodyPr>
          <a:lstStyle/>
          <a:p>
            <a:pPr algn="l">
              <a:lnSpc>
                <a:spcPct val="105000"/>
              </a:lnSpc>
            </a:pPr>
            <a:r>
              <a:rPr lang="es-ES" sz="1800" b="1" i="0">
                <a:solidFill>
                  <a:srgbClr val="5B6575"/>
                </a:solidFill>
                <a:latin typeface="Calibri"/>
              </a:rPr>
              <a:t>Constitutiva (tensión plana)</a:t>
            </a:r>
          </a:p>
        </p:txBody>
      </p:sp>
      <p:sp>
        <p:nvSpPr>
          <p:cNvPr id="27" name="TextBox 26"/>
          <p:cNvSpPr txBox="1"/>
          <p:nvPr/>
        </p:nvSpPr>
        <p:spPr>
          <a:xfrm>
            <a:off x="3950208" y="4489703"/>
            <a:ext cx="7445959" cy="758952"/>
          </a:xfrm>
          <a:prstGeom prst="rect">
            <a:avLst/>
          </a:prstGeom>
          <a:noFill/>
        </p:spPr>
        <p:txBody>
          <a:bodyPr wrap="square" lIns="45720" tIns="27432" rIns="45720" bIns="27432" anchor="ctr">
            <a:noAutofit/>
          </a:bodyPr>
          <a:lstStyle/>
          <a:p>
            <a:pPr algn="l">
              <a:lnSpc>
                <a:spcPct val="105000"/>
              </a:lnSpc>
            </a:pPr>
            <a:r>
              <a:rPr lang="es-ES" sz="1800" b="0" i="0">
                <a:solidFill>
                  <a:srgbClr val="1B2A4A"/>
                </a:solidFill>
                <a:latin typeface="Cambria Math"/>
              </a:rPr>
              <a:t>D = E/(1−ν²) · [ 1  ν  0 ;  ν  1  0 ;  0  0  (1−ν)/2 ]</a:t>
            </a:r>
          </a:p>
        </p:txBody>
      </p:sp>
      <p:sp>
        <p:nvSpPr>
          <p:cNvPr id="28" name="Rectangle 27"/>
          <p:cNvSpPr/>
          <p:nvPr/>
        </p:nvSpPr>
        <p:spPr>
          <a:xfrm>
            <a:off x="566928" y="5449824"/>
            <a:ext cx="11057839" cy="841248"/>
          </a:xfrm>
          <a:prstGeom prst="rect">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Rectangle 28"/>
          <p:cNvSpPr/>
          <p:nvPr/>
        </p:nvSpPr>
        <p:spPr>
          <a:xfrm>
            <a:off x="566928" y="5449824"/>
            <a:ext cx="77724" cy="841248"/>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 name="TextBox 29"/>
          <p:cNvSpPr txBox="1"/>
          <p:nvPr/>
        </p:nvSpPr>
        <p:spPr>
          <a:xfrm>
            <a:off x="795528" y="5449824"/>
            <a:ext cx="10737799" cy="841248"/>
          </a:xfrm>
          <a:prstGeom prst="rect">
            <a:avLst/>
          </a:prstGeom>
          <a:noFill/>
        </p:spPr>
        <p:txBody>
          <a:bodyPr wrap="square" lIns="45720" tIns="27432" rIns="45720" bIns="27432" anchor="ctr">
            <a:noAutofit/>
          </a:bodyPr>
          <a:lstStyle/>
          <a:p>
            <a:pPr algn="l">
              <a:lnSpc>
                <a:spcPct val="100000"/>
              </a:lnSpc>
            </a:pPr>
            <a:r>
              <a:rPr lang="es-ES" sz="2200" b="1" i="0">
                <a:solidFill>
                  <a:srgbClr val="1B2A4A"/>
                </a:solidFill>
                <a:latin typeface="Calibri"/>
              </a:rPr>
              <a:t>En deformación plana el factor (1−2ν) tiende a cero cuando ν → 0,5: bloqueo volumétrico</a:t>
            </a:r>
          </a:p>
        </p:txBody>
      </p:sp>
      <p:sp>
        <p:nvSpPr>
          <p:cNvPr id="31" name="Rectangle 30"/>
          <p:cNvSpPr/>
          <p:nvPr/>
        </p:nvSpPr>
        <p:spPr>
          <a:xfrm>
            <a:off x="566928" y="6364224"/>
            <a:ext cx="11057839" cy="7315"/>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 name="TextBox 31"/>
          <p:cNvSpPr txBox="1"/>
          <p:nvPr/>
        </p:nvSpPr>
        <p:spPr>
          <a:xfrm>
            <a:off x="566928" y="6437376"/>
            <a:ext cx="5029200" cy="292608"/>
          </a:xfrm>
          <a:prstGeom prst="rect">
            <a:avLst/>
          </a:prstGeom>
          <a:noFill/>
        </p:spPr>
        <p:txBody>
          <a:bodyPr wrap="square" lIns="45720" tIns="27432" rIns="45720" bIns="27432" anchor="ctr">
            <a:noAutofit/>
          </a:bodyPr>
          <a:lstStyle/>
          <a:p>
            <a:pPr algn="l">
              <a:lnSpc>
                <a:spcPct val="105000"/>
              </a:lnSpc>
            </a:pPr>
            <a:r>
              <a:rPr lang="es-ES" sz="1200" b="0" i="0">
                <a:solidFill>
                  <a:srgbClr val="5B6575"/>
                </a:solidFill>
                <a:latin typeface="Calibri"/>
              </a:rPr>
              <a:t>EduFEM · Defensa de tesis · Ingeniería Civil · UATF</a:t>
            </a:r>
          </a:p>
        </p:txBody>
      </p:sp>
      <p:sp>
        <p:nvSpPr>
          <p:cNvPr id="33" name="TextBox 32"/>
          <p:cNvSpPr txBox="1"/>
          <p:nvPr/>
        </p:nvSpPr>
        <p:spPr>
          <a:xfrm>
            <a:off x="4023360" y="6437376"/>
            <a:ext cx="5394960" cy="292608"/>
          </a:xfrm>
          <a:prstGeom prst="rect">
            <a:avLst/>
          </a:prstGeom>
          <a:noFill/>
        </p:spPr>
        <p:txBody>
          <a:bodyPr wrap="square" lIns="45720" tIns="27432" rIns="45720" bIns="27432" anchor="ctr">
            <a:noAutofit/>
          </a:bodyPr>
          <a:lstStyle/>
          <a:p>
            <a:pPr algn="ctr">
              <a:lnSpc>
                <a:spcPct val="105000"/>
              </a:lnSpc>
            </a:pPr>
            <a:r>
              <a:rPr lang="es-ES" sz="1200" b="0" i="0">
                <a:solidFill>
                  <a:srgbClr val="5B6575"/>
                </a:solidFill>
                <a:latin typeface="Calibri"/>
              </a:rPr>
              <a:t>Tesis: Cap. 1, formulación variacional y matriz constitutiva</a:t>
            </a:r>
          </a:p>
        </p:txBody>
      </p:sp>
      <p:sp>
        <p:nvSpPr>
          <p:cNvPr id="34" name="TextBox 33"/>
          <p:cNvSpPr txBox="1"/>
          <p:nvPr/>
        </p:nvSpPr>
        <p:spPr>
          <a:xfrm>
            <a:off x="10527487" y="6437376"/>
            <a:ext cx="1097280" cy="292608"/>
          </a:xfrm>
          <a:prstGeom prst="rect">
            <a:avLst/>
          </a:prstGeom>
          <a:noFill/>
        </p:spPr>
        <p:txBody>
          <a:bodyPr wrap="none" lIns="45720" tIns="18288" rIns="45720" bIns="18288">
            <a:spAutoFit/>
          </a:bodyPr>
          <a:lstStyle/>
          <a:p>
            <a:pPr algn="r"/>
            <a:fld id="{B6F15528-21DE-4FAA-801E-634DDDAF4B2B}" type="slidenum">
              <a:rPr lang="es-ES" sz="1200" dirty="0">
                <a:solidFill>
                  <a:srgbClr val="5B6575"/>
                </a:solidFill>
                <a:latin typeface="Calibri"/>
              </a:rPr>
              <a:t>9</a:t>
            </a:fld>
            <a:endParaRPr lang="es-ES" sz="1200" dirty="0">
              <a:solidFill>
                <a:srgbClr val="5B6575"/>
              </a:solidFill>
              <a:latin typeface="Calibri"/>
            </a:endParaRPr>
          </a:p>
        </p:txBody>
      </p:sp>
      <p:pic>
        <p:nvPicPr>
          <p:cNvPr id="35" name="s09">
            <a:hlinkClick r:id="" action="ppaction://media"/>
            <a:extLst>
              <a:ext uri="{FF2B5EF4-FFF2-40B4-BE49-F238E27FC236}">
                <a16:creationId xmlns:a16="http://schemas.microsoft.com/office/drawing/2014/main" id="{A6488340-45C5-1905-AF4E-723E8479AAA4}"/>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254000" y="254000"/>
            <a:ext cx="508000" cy="508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7192"/>
    </mc:Choice>
    <mc:Fallback>
      <p:transition spd="slow" advTm="47192"/>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35"/>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35"/>
                </p:tgtEl>
              </p:cMediaNode>
            </p:audio>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566928" y="361188"/>
            <a:ext cx="50292" cy="173736"/>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TextBox 2"/>
          <p:cNvSpPr txBox="1"/>
          <p:nvPr/>
        </p:nvSpPr>
        <p:spPr>
          <a:xfrm>
            <a:off x="704088" y="310896"/>
            <a:ext cx="6766560" cy="274320"/>
          </a:xfrm>
          <a:prstGeom prst="rect">
            <a:avLst/>
          </a:prstGeom>
          <a:noFill/>
        </p:spPr>
        <p:txBody>
          <a:bodyPr wrap="square" lIns="45720" tIns="27432" rIns="45720" bIns="27432" anchor="ctr">
            <a:noAutofit/>
          </a:bodyPr>
          <a:lstStyle/>
          <a:p>
            <a:pPr algn="l">
              <a:lnSpc>
                <a:spcPct val="105000"/>
              </a:lnSpc>
            </a:pPr>
            <a:r>
              <a:rPr lang="es-ES" sz="1200" b="1" i="0" spc="80">
                <a:solidFill>
                  <a:srgbClr val="F28C28"/>
                </a:solidFill>
                <a:latin typeface="Calibri"/>
              </a:rPr>
              <a:t>02   BASE TEÓRICA</a:t>
            </a:r>
          </a:p>
        </p:txBody>
      </p:sp>
      <p:sp>
        <p:nvSpPr>
          <p:cNvPr id="4" name="Oval 3"/>
          <p:cNvSpPr/>
          <p:nvPr/>
        </p:nvSpPr>
        <p:spPr>
          <a:xfrm>
            <a:off x="10413187" y="388620"/>
            <a:ext cx="114300" cy="1143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Oval 4"/>
          <p:cNvSpPr/>
          <p:nvPr/>
        </p:nvSpPr>
        <p:spPr>
          <a:xfrm>
            <a:off x="10600639" y="356616"/>
            <a:ext cx="178308" cy="178308"/>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Oval 5"/>
          <p:cNvSpPr/>
          <p:nvPr/>
        </p:nvSpPr>
        <p:spPr>
          <a:xfrm>
            <a:off x="10852099"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Oval 6"/>
          <p:cNvSpPr/>
          <p:nvPr/>
        </p:nvSpPr>
        <p:spPr>
          <a:xfrm>
            <a:off x="11071555"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Oval 7"/>
          <p:cNvSpPr/>
          <p:nvPr/>
        </p:nvSpPr>
        <p:spPr>
          <a:xfrm>
            <a:off x="11291011"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Oval 8"/>
          <p:cNvSpPr/>
          <p:nvPr/>
        </p:nvSpPr>
        <p:spPr>
          <a:xfrm>
            <a:off x="11510467"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548640" y="585216"/>
            <a:ext cx="11057839" cy="749808"/>
          </a:xfrm>
          <a:prstGeom prst="rect">
            <a:avLst/>
          </a:prstGeom>
          <a:noFill/>
        </p:spPr>
        <p:txBody>
          <a:bodyPr wrap="square" lIns="45720" tIns="27432" rIns="45720" bIns="27432" anchor="ctr">
            <a:noAutofit/>
          </a:bodyPr>
          <a:lstStyle/>
          <a:p>
            <a:pPr algn="l">
              <a:lnSpc>
                <a:spcPct val="105000"/>
              </a:lnSpc>
            </a:pPr>
            <a:r>
              <a:rPr lang="es-ES" sz="3200" b="1" i="0">
                <a:solidFill>
                  <a:srgbClr val="1B2A4A"/>
                </a:solidFill>
                <a:latin typeface="Calibri"/>
              </a:rPr>
              <a:t>El canal isoparamétrico</a:t>
            </a:r>
          </a:p>
        </p:txBody>
      </p:sp>
      <p:sp>
        <p:nvSpPr>
          <p:cNvPr id="11" name="Rectangle 10"/>
          <p:cNvSpPr/>
          <p:nvPr/>
        </p:nvSpPr>
        <p:spPr>
          <a:xfrm>
            <a:off x="566928" y="1371600"/>
            <a:ext cx="1051560" cy="50292"/>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612648" y="1618488"/>
            <a:ext cx="5257800" cy="4626864"/>
          </a:xfrm>
          <a:prstGeom prst="rect">
            <a:avLst/>
          </a:prstGeom>
          <a:noFill/>
        </p:spPr>
        <p:txBody>
          <a:bodyPr wrap="square" lIns="45720" tIns="27432" rIns="45720" bIns="27432" anchor="ctr">
            <a:noAutofit/>
          </a:bodyPr>
          <a:lstStyle/>
          <a:p>
            <a:pPr marL="347472" indent="-347472">
              <a:lnSpc>
                <a:spcPct val="112000"/>
              </a:lnSpc>
              <a:spcAft>
                <a:spcPts val="1200"/>
              </a:spcAft>
              <a:buClr>
                <a:srgbClr val="F28C28"/>
              </a:buClr>
              <a:buSzPct val="100000"/>
              <a:buFont typeface="Arial"/>
              <a:buChar char="•"/>
            </a:pPr>
            <a:r>
              <a:rPr lang="es-ES" sz="2400" b="0" i="0">
                <a:solidFill>
                  <a:srgbClr val="1F2937"/>
                </a:solidFill>
                <a:latin typeface="Calibri"/>
              </a:rPr>
              <a:t>Mismas N para geometría y desplazamiento: Q4 bilineal (8 GDL), Q9 bicuadrático (18 GDL)</a:t>
            </a:r>
          </a:p>
          <a:p>
            <a:pPr marL="347472" indent="-347472">
              <a:lnSpc>
                <a:spcPct val="112000"/>
              </a:lnSpc>
              <a:spcAft>
                <a:spcPts val="1200"/>
              </a:spcAft>
              <a:buClr>
                <a:srgbClr val="F28C28"/>
              </a:buClr>
              <a:buSzPct val="100000"/>
              <a:buFont typeface="Arial"/>
              <a:buChar char="•"/>
            </a:pPr>
            <a:r>
              <a:rPr lang="es-ES" sz="2400" b="0" i="0">
                <a:solidFill>
                  <a:srgbClr val="1F2937"/>
                </a:solidFill>
                <a:latin typeface="Calibri"/>
              </a:rPr>
              <a:t>J = ∂N · Xₑ con det J &gt; 0; B (3 × 2n) vía J⁻¹</a:t>
            </a:r>
          </a:p>
          <a:p>
            <a:pPr marL="347472" indent="-347472">
              <a:lnSpc>
                <a:spcPct val="112000"/>
              </a:lnSpc>
              <a:spcAft>
                <a:spcPts val="1200"/>
              </a:spcAft>
              <a:buClr>
                <a:srgbClr val="F28C28"/>
              </a:buClr>
              <a:buSzPct val="100000"/>
              <a:buFont typeface="Arial"/>
              <a:buChar char="•"/>
            </a:pPr>
            <a:r>
              <a:rPr lang="es-ES" sz="2400" b="1" i="0">
                <a:solidFill>
                  <a:srgbClr val="1B2A4A"/>
                </a:solidFill>
                <a:latin typeface="Calibri"/>
              </a:rPr>
              <a:t>kₑ = Σ wₚ Bᵀ D B t |det J|:</a:t>
            </a:r>
            <a:r>
              <a:rPr lang="es-ES" sz="2400" b="0" i="0">
                <a:solidFill>
                  <a:srgbClr val="1F2937"/>
                </a:solidFill>
                <a:latin typeface="Calibri"/>
              </a:rPr>
              <a:t> Gauss 2×2 (Q4) y 3×3 (Q9)</a:t>
            </a:r>
          </a:p>
          <a:p>
            <a:pPr marL="347472" indent="-347472">
              <a:lnSpc>
                <a:spcPct val="112000"/>
              </a:lnSpc>
              <a:spcAft>
                <a:spcPts val="1200"/>
              </a:spcAft>
              <a:buClr>
                <a:srgbClr val="F28C28"/>
              </a:buClr>
              <a:buSzPct val="100000"/>
              <a:buFont typeface="Arial"/>
              <a:buChar char="•"/>
            </a:pPr>
            <a:r>
              <a:rPr lang="es-ES" sz="2400" b="1" i="0">
                <a:solidFill>
                  <a:srgbClr val="1B2A4A"/>
                </a:solidFill>
                <a:latin typeface="Calibri"/>
              </a:rPr>
              <a:t>K u = F disperso (CSR, LU); σ:</a:t>
            </a:r>
            <a:r>
              <a:rPr lang="es-ES" sz="2400" b="0" i="0">
                <a:solidFill>
                  <a:srgbClr val="1F2937"/>
                </a:solidFill>
                <a:latin typeface="Calibri"/>
              </a:rPr>
              <a:t> Gauss → nodos → promedio</a:t>
            </a:r>
          </a:p>
        </p:txBody>
      </p:sp>
      <p:sp>
        <p:nvSpPr>
          <p:cNvPr id="13" name="Rounded Rectangle 12"/>
          <p:cNvSpPr/>
          <p:nvPr/>
        </p:nvSpPr>
        <p:spPr>
          <a:xfrm>
            <a:off x="6236208" y="2780725"/>
            <a:ext cx="5388559" cy="1781181"/>
          </a:xfrm>
          <a:prstGeom prst="roundRect">
            <a:avLst>
              <a:gd name="adj" fmla="val 4000"/>
            </a:avLst>
          </a:prstGeom>
          <a:solidFill>
            <a:srgbClr val="F6F8FC"/>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4" name="Picture 13" descr="fig_isoparametricos.png"/>
          <p:cNvPicPr>
            <a:picLocks noChangeAspect="1"/>
          </p:cNvPicPr>
          <p:nvPr/>
        </p:nvPicPr>
        <p:blipFill>
          <a:blip r:embed="rId5"/>
          <a:stretch>
            <a:fillRect/>
          </a:stretch>
        </p:blipFill>
        <p:spPr>
          <a:xfrm>
            <a:off x="6355080" y="2899597"/>
            <a:ext cx="5150815" cy="1543437"/>
          </a:xfrm>
          <a:prstGeom prst="rect">
            <a:avLst/>
          </a:prstGeom>
        </p:spPr>
      </p:pic>
      <p:sp>
        <p:nvSpPr>
          <p:cNvPr id="15" name="TextBox 14"/>
          <p:cNvSpPr txBox="1"/>
          <p:nvPr/>
        </p:nvSpPr>
        <p:spPr>
          <a:xfrm>
            <a:off x="6236208" y="4488753"/>
            <a:ext cx="5388559" cy="502920"/>
          </a:xfrm>
          <a:prstGeom prst="rect">
            <a:avLst/>
          </a:prstGeom>
          <a:noFill/>
        </p:spPr>
        <p:txBody>
          <a:bodyPr wrap="square" lIns="45720" tIns="27432" rIns="45720" bIns="27432" anchor="t">
            <a:noAutofit/>
          </a:bodyPr>
          <a:lstStyle/>
          <a:p>
            <a:pPr algn="ctr">
              <a:lnSpc>
                <a:spcPct val="105000"/>
              </a:lnSpc>
            </a:pPr>
            <a:r>
              <a:rPr lang="es-ES" sz="1500" b="0" i="1">
                <a:solidFill>
                  <a:srgbClr val="5B6575"/>
                </a:solidFill>
                <a:latin typeface="Calibri"/>
              </a:rPr>
              <a:t>Q4 y Q9 en el cuadrado natural y mapeo de N₁ a un elemento distorsionado</a:t>
            </a:r>
          </a:p>
        </p:txBody>
      </p:sp>
      <p:sp>
        <p:nvSpPr>
          <p:cNvPr id="16" name="Rectangle 15"/>
          <p:cNvSpPr/>
          <p:nvPr/>
        </p:nvSpPr>
        <p:spPr>
          <a:xfrm>
            <a:off x="566928" y="6364224"/>
            <a:ext cx="11057839" cy="7315"/>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566928" y="6437376"/>
            <a:ext cx="5029200" cy="292608"/>
          </a:xfrm>
          <a:prstGeom prst="rect">
            <a:avLst/>
          </a:prstGeom>
          <a:noFill/>
        </p:spPr>
        <p:txBody>
          <a:bodyPr wrap="square" lIns="45720" tIns="27432" rIns="45720" bIns="27432" anchor="ctr">
            <a:noAutofit/>
          </a:bodyPr>
          <a:lstStyle/>
          <a:p>
            <a:pPr algn="l">
              <a:lnSpc>
                <a:spcPct val="105000"/>
              </a:lnSpc>
            </a:pPr>
            <a:r>
              <a:rPr lang="es-ES" sz="1200" b="0" i="0">
                <a:solidFill>
                  <a:srgbClr val="5B6575"/>
                </a:solidFill>
                <a:latin typeface="Calibri"/>
              </a:rPr>
              <a:t>EduFEM · Defensa de tesis · Ingeniería Civil · UATF</a:t>
            </a:r>
          </a:p>
        </p:txBody>
      </p:sp>
      <p:sp>
        <p:nvSpPr>
          <p:cNvPr id="18" name="TextBox 17"/>
          <p:cNvSpPr txBox="1"/>
          <p:nvPr/>
        </p:nvSpPr>
        <p:spPr>
          <a:xfrm>
            <a:off x="4023360" y="6437376"/>
            <a:ext cx="5394960" cy="292608"/>
          </a:xfrm>
          <a:prstGeom prst="rect">
            <a:avLst/>
          </a:prstGeom>
          <a:noFill/>
        </p:spPr>
        <p:txBody>
          <a:bodyPr wrap="square" lIns="45720" tIns="27432" rIns="45720" bIns="27432" anchor="ctr">
            <a:noAutofit/>
          </a:bodyPr>
          <a:lstStyle/>
          <a:p>
            <a:pPr algn="ctr">
              <a:lnSpc>
                <a:spcPct val="105000"/>
              </a:lnSpc>
            </a:pPr>
            <a:r>
              <a:rPr lang="es-ES" sz="1100" b="0" i="0">
                <a:solidFill>
                  <a:srgbClr val="5B6575"/>
                </a:solidFill>
                <a:latin typeface="Calibri"/>
              </a:rPr>
              <a:t>Tesis: Cap. 1, mapeo isoparamétrico, Jacobiano, B, cuadratura y ensamblaje</a:t>
            </a:r>
          </a:p>
        </p:txBody>
      </p:sp>
      <p:sp>
        <p:nvSpPr>
          <p:cNvPr id="19" name="TextBox 18"/>
          <p:cNvSpPr txBox="1"/>
          <p:nvPr/>
        </p:nvSpPr>
        <p:spPr>
          <a:xfrm>
            <a:off x="10527487" y="6437376"/>
            <a:ext cx="1097280" cy="292608"/>
          </a:xfrm>
          <a:prstGeom prst="rect">
            <a:avLst/>
          </a:prstGeom>
          <a:noFill/>
        </p:spPr>
        <p:txBody>
          <a:bodyPr wrap="none" lIns="45720" tIns="18288" rIns="45720" bIns="18288">
            <a:spAutoFit/>
          </a:bodyPr>
          <a:lstStyle/>
          <a:p>
            <a:pPr algn="r"/>
            <a:fld id="{B6F15528-21DE-4FAA-801E-634DDDAF4B2B}" type="slidenum">
              <a:rPr lang="es-ES" sz="1200" dirty="0">
                <a:solidFill>
                  <a:srgbClr val="5B6575"/>
                </a:solidFill>
                <a:latin typeface="Calibri"/>
              </a:rPr>
              <a:t>10</a:t>
            </a:fld>
            <a:endParaRPr lang="es-ES" sz="1200" dirty="0">
              <a:solidFill>
                <a:srgbClr val="5B6575"/>
              </a:solidFill>
              <a:latin typeface="Calibri"/>
            </a:endParaRPr>
          </a:p>
        </p:txBody>
      </p:sp>
      <p:pic>
        <p:nvPicPr>
          <p:cNvPr id="20" name="s10">
            <a:hlinkClick r:id="" action="ppaction://media"/>
            <a:extLst>
              <a:ext uri="{FF2B5EF4-FFF2-40B4-BE49-F238E27FC236}">
                <a16:creationId xmlns:a16="http://schemas.microsoft.com/office/drawing/2014/main" id="{83EC688C-3C5B-588F-10C5-92F554BF5CA3}"/>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254000" y="254000"/>
            <a:ext cx="508000" cy="508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5160"/>
    </mc:Choice>
    <mc:Fallback>
      <p:transition spd="slow" advTm="5516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20"/>
                </p:tgtEl>
              </p:cMediaNode>
            </p:audio>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566928" y="361188"/>
            <a:ext cx="50292" cy="173736"/>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TextBox 2"/>
          <p:cNvSpPr txBox="1"/>
          <p:nvPr/>
        </p:nvSpPr>
        <p:spPr>
          <a:xfrm>
            <a:off x="704088" y="310896"/>
            <a:ext cx="6766560" cy="274320"/>
          </a:xfrm>
          <a:prstGeom prst="rect">
            <a:avLst/>
          </a:prstGeom>
          <a:noFill/>
        </p:spPr>
        <p:txBody>
          <a:bodyPr wrap="square" lIns="45720" tIns="27432" rIns="45720" bIns="27432" anchor="ctr">
            <a:noAutofit/>
          </a:bodyPr>
          <a:lstStyle/>
          <a:p>
            <a:pPr algn="l">
              <a:lnSpc>
                <a:spcPct val="105000"/>
              </a:lnSpc>
            </a:pPr>
            <a:r>
              <a:rPr lang="es-ES" sz="1200" b="1" i="0" spc="80">
                <a:solidFill>
                  <a:srgbClr val="F28C28"/>
                </a:solidFill>
                <a:latin typeface="Calibri"/>
              </a:rPr>
              <a:t>02   BASE TEÓRICA</a:t>
            </a:r>
          </a:p>
        </p:txBody>
      </p:sp>
      <p:sp>
        <p:nvSpPr>
          <p:cNvPr id="4" name="Oval 3"/>
          <p:cNvSpPr/>
          <p:nvPr/>
        </p:nvSpPr>
        <p:spPr>
          <a:xfrm>
            <a:off x="10413187" y="388620"/>
            <a:ext cx="114300" cy="1143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Oval 4"/>
          <p:cNvSpPr/>
          <p:nvPr/>
        </p:nvSpPr>
        <p:spPr>
          <a:xfrm>
            <a:off x="10600639" y="356616"/>
            <a:ext cx="178308" cy="178308"/>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Oval 5"/>
          <p:cNvSpPr/>
          <p:nvPr/>
        </p:nvSpPr>
        <p:spPr>
          <a:xfrm>
            <a:off x="10852099"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Oval 6"/>
          <p:cNvSpPr/>
          <p:nvPr/>
        </p:nvSpPr>
        <p:spPr>
          <a:xfrm>
            <a:off x="11071555"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Oval 7"/>
          <p:cNvSpPr/>
          <p:nvPr/>
        </p:nvSpPr>
        <p:spPr>
          <a:xfrm>
            <a:off x="11291011"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Oval 8"/>
          <p:cNvSpPr/>
          <p:nvPr/>
        </p:nvSpPr>
        <p:spPr>
          <a:xfrm>
            <a:off x="11510467"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548640" y="585216"/>
            <a:ext cx="11057839" cy="749808"/>
          </a:xfrm>
          <a:prstGeom prst="rect">
            <a:avLst/>
          </a:prstGeom>
          <a:noFill/>
        </p:spPr>
        <p:txBody>
          <a:bodyPr wrap="square" lIns="45720" tIns="27432" rIns="45720" bIns="27432" anchor="ctr">
            <a:noAutofit/>
          </a:bodyPr>
          <a:lstStyle/>
          <a:p>
            <a:pPr algn="l">
              <a:lnSpc>
                <a:spcPct val="105000"/>
              </a:lnSpc>
            </a:pPr>
            <a:r>
              <a:rPr lang="es-ES" sz="3200" b="1" i="0">
                <a:solidFill>
                  <a:srgbClr val="1B2A4A"/>
                </a:solidFill>
                <a:latin typeface="Calibri"/>
              </a:rPr>
              <a:t>Dos patologías que el alumno debe ver</a:t>
            </a:r>
          </a:p>
        </p:txBody>
      </p:sp>
      <p:sp>
        <p:nvSpPr>
          <p:cNvPr id="11" name="Rectangle 10"/>
          <p:cNvSpPr/>
          <p:nvPr/>
        </p:nvSpPr>
        <p:spPr>
          <a:xfrm>
            <a:off x="566928" y="1371600"/>
            <a:ext cx="1051560" cy="50292"/>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Rounded Rectangle 11"/>
          <p:cNvSpPr/>
          <p:nvPr/>
        </p:nvSpPr>
        <p:spPr>
          <a:xfrm>
            <a:off x="566928" y="1572768"/>
            <a:ext cx="5346039" cy="3767328"/>
          </a:xfrm>
          <a:prstGeom prst="roundRect">
            <a:avLst>
              <a:gd name="adj" fmla="val 5000"/>
            </a:avLst>
          </a:prstGeom>
          <a:solidFill>
            <a:srgbClr val="F6F8FC"/>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Rounded Rectangle 12"/>
          <p:cNvSpPr/>
          <p:nvPr/>
        </p:nvSpPr>
        <p:spPr>
          <a:xfrm>
            <a:off x="566928" y="1572768"/>
            <a:ext cx="5346039" cy="621792"/>
          </a:xfrm>
          <a:prstGeom prst="roundRect">
            <a:avLst>
              <a:gd name="adj" fmla="val 12000"/>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Rectangle 13"/>
          <p:cNvSpPr/>
          <p:nvPr/>
        </p:nvSpPr>
        <p:spPr>
          <a:xfrm>
            <a:off x="566928" y="1920240"/>
            <a:ext cx="5346039" cy="27432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566928" y="1572768"/>
            <a:ext cx="5346039" cy="621792"/>
          </a:xfrm>
          <a:prstGeom prst="rect">
            <a:avLst/>
          </a:prstGeom>
          <a:noFill/>
        </p:spPr>
        <p:txBody>
          <a:bodyPr wrap="square" lIns="45720" tIns="27432" rIns="45720" bIns="27432" anchor="ctr">
            <a:noAutofit/>
          </a:bodyPr>
          <a:lstStyle/>
          <a:p>
            <a:pPr algn="ctr">
              <a:lnSpc>
                <a:spcPct val="100000"/>
              </a:lnSpc>
            </a:pPr>
            <a:r>
              <a:rPr lang="es-ES" sz="2000" b="1" i="0">
                <a:solidFill>
                  <a:srgbClr val="FFFFFF"/>
                </a:solidFill>
                <a:latin typeface="Calibri"/>
              </a:rPr>
              <a:t>Bloqueo por cortante (shear-locking)</a:t>
            </a:r>
          </a:p>
        </p:txBody>
      </p:sp>
      <p:sp>
        <p:nvSpPr>
          <p:cNvPr id="16" name="TextBox 15"/>
          <p:cNvSpPr txBox="1"/>
          <p:nvPr/>
        </p:nvSpPr>
        <p:spPr>
          <a:xfrm>
            <a:off x="768096" y="2395728"/>
            <a:ext cx="4943703" cy="2816352"/>
          </a:xfrm>
          <a:prstGeom prst="rect">
            <a:avLst/>
          </a:prstGeom>
          <a:noFill/>
        </p:spPr>
        <p:txBody>
          <a:bodyPr wrap="square" lIns="45720" tIns="27432" rIns="45720" bIns="27432" anchor="t">
            <a:noAutofit/>
          </a:bodyPr>
          <a:lstStyle/>
          <a:p>
            <a:pPr marL="347472" indent="-347472">
              <a:lnSpc>
                <a:spcPct val="112000"/>
              </a:lnSpc>
              <a:spcAft>
                <a:spcPts val="900"/>
              </a:spcAft>
              <a:buClr>
                <a:srgbClr val="1B2A4A"/>
              </a:buClr>
              <a:buSzPct val="100000"/>
              <a:buFont typeface="Arial"/>
              <a:buChar char="•"/>
            </a:pPr>
            <a:r>
              <a:rPr lang="es-ES" sz="2000" b="1" i="0">
                <a:solidFill>
                  <a:srgbClr val="1B2A4A"/>
                </a:solidFill>
                <a:latin typeface="Calibri"/>
              </a:rPr>
              <a:t>Q4 en flexión:</a:t>
            </a:r>
            <a:r>
              <a:rPr lang="es-ES" sz="2000" b="0" i="0">
                <a:solidFill>
                  <a:srgbClr val="1F2937"/>
                </a:solidFill>
                <a:latin typeface="Calibri"/>
              </a:rPr>
              <a:t> el campo bilineal no reproduce la curvatura</a:t>
            </a:r>
          </a:p>
          <a:p>
            <a:pPr marL="347472" indent="-347472">
              <a:lnSpc>
                <a:spcPct val="112000"/>
              </a:lnSpc>
              <a:spcAft>
                <a:spcPts val="900"/>
              </a:spcAft>
              <a:buClr>
                <a:srgbClr val="1B2A4A"/>
              </a:buClr>
              <a:buSzPct val="100000"/>
              <a:buFont typeface="Arial"/>
              <a:buChar char="•"/>
            </a:pPr>
            <a:r>
              <a:rPr lang="es-ES" sz="2000" b="1" i="0">
                <a:solidFill>
                  <a:srgbClr val="1B2A4A"/>
                </a:solidFill>
                <a:latin typeface="Calibri"/>
              </a:rPr>
              <a:t>Corte espurio:</a:t>
            </a:r>
            <a:r>
              <a:rPr lang="es-ES" sz="2000" b="0" i="0">
                <a:solidFill>
                  <a:srgbClr val="1F2937"/>
                </a:solidFill>
                <a:latin typeface="Calibri"/>
              </a:rPr>
              <a:t> elemento artificialmente rígido</a:t>
            </a:r>
          </a:p>
          <a:p>
            <a:pPr marL="347472" indent="-347472">
              <a:lnSpc>
                <a:spcPct val="112000"/>
              </a:lnSpc>
              <a:spcAft>
                <a:spcPts val="900"/>
              </a:spcAft>
              <a:buClr>
                <a:srgbClr val="1B2A4A"/>
              </a:buClr>
              <a:buSzPct val="100000"/>
              <a:buFont typeface="Arial"/>
              <a:buChar char="•"/>
            </a:pPr>
            <a:r>
              <a:rPr lang="es-ES" sz="2000" b="1" i="0">
                <a:solidFill>
                  <a:srgbClr val="1B2A4A"/>
                </a:solidFill>
                <a:latin typeface="Calibri"/>
              </a:rPr>
              <a:t>Cook N = 8:</a:t>
            </a:r>
            <a:r>
              <a:rPr lang="es-ES" sz="2000" b="0" i="0">
                <a:solidFill>
                  <a:srgbClr val="1F2937"/>
                </a:solidFill>
                <a:latin typeface="Calibri"/>
              </a:rPr>
              <a:t> uy = 22,079 frente a 23,96 (−7,85 %)</a:t>
            </a:r>
          </a:p>
          <a:p>
            <a:pPr marL="347472" indent="-347472">
              <a:lnSpc>
                <a:spcPct val="112000"/>
              </a:lnSpc>
              <a:spcAft>
                <a:spcPts val="900"/>
              </a:spcAft>
              <a:buClr>
                <a:srgbClr val="1B2A4A"/>
              </a:buClr>
              <a:buSzPct val="100000"/>
              <a:buFont typeface="Arial"/>
              <a:buChar char="•"/>
            </a:pPr>
            <a:r>
              <a:rPr lang="es-ES" sz="2000" b="1" i="0">
                <a:solidFill>
                  <a:srgbClr val="1B2A4A"/>
                </a:solidFill>
                <a:latin typeface="Calibri"/>
              </a:rPr>
              <a:t>Q9:</a:t>
            </a:r>
            <a:r>
              <a:rPr lang="es-ES" sz="2000" b="0" i="0">
                <a:solidFill>
                  <a:srgbClr val="1F2937"/>
                </a:solidFill>
                <a:latin typeface="Calibri"/>
              </a:rPr>
              <a:t> prácticamente libre del bloqueo</a:t>
            </a:r>
          </a:p>
        </p:txBody>
      </p:sp>
      <p:sp>
        <p:nvSpPr>
          <p:cNvPr id="17" name="Rounded Rectangle 16"/>
          <p:cNvSpPr/>
          <p:nvPr/>
        </p:nvSpPr>
        <p:spPr>
          <a:xfrm>
            <a:off x="6278727" y="1572768"/>
            <a:ext cx="5346039" cy="3767328"/>
          </a:xfrm>
          <a:prstGeom prst="roundRect">
            <a:avLst>
              <a:gd name="adj" fmla="val 5000"/>
            </a:avLst>
          </a:prstGeom>
          <a:solidFill>
            <a:srgbClr val="F6F8FC"/>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Rounded Rectangle 17"/>
          <p:cNvSpPr/>
          <p:nvPr/>
        </p:nvSpPr>
        <p:spPr>
          <a:xfrm>
            <a:off x="6278727" y="1572768"/>
            <a:ext cx="5346039" cy="621792"/>
          </a:xfrm>
          <a:prstGeom prst="roundRect">
            <a:avLst>
              <a:gd name="adj" fmla="val 12000"/>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Rectangle 18"/>
          <p:cNvSpPr/>
          <p:nvPr/>
        </p:nvSpPr>
        <p:spPr>
          <a:xfrm>
            <a:off x="6278727" y="1920240"/>
            <a:ext cx="5346039" cy="27432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6278727" y="1572768"/>
            <a:ext cx="5346039" cy="621792"/>
          </a:xfrm>
          <a:prstGeom prst="rect">
            <a:avLst/>
          </a:prstGeom>
          <a:noFill/>
        </p:spPr>
        <p:txBody>
          <a:bodyPr wrap="square" lIns="45720" tIns="27432" rIns="45720" bIns="27432" anchor="ctr">
            <a:noAutofit/>
          </a:bodyPr>
          <a:lstStyle/>
          <a:p>
            <a:pPr algn="ctr">
              <a:lnSpc>
                <a:spcPct val="100000"/>
              </a:lnSpc>
            </a:pPr>
            <a:r>
              <a:rPr lang="es-ES" sz="2300" b="1" i="0">
                <a:solidFill>
                  <a:srgbClr val="FFFFFF"/>
                </a:solidFill>
                <a:latin typeface="Calibri"/>
              </a:rPr>
              <a:t>Modos espurios (hourglass)</a:t>
            </a:r>
          </a:p>
        </p:txBody>
      </p:sp>
      <p:sp>
        <p:nvSpPr>
          <p:cNvPr id="21" name="TextBox 20"/>
          <p:cNvSpPr txBox="1"/>
          <p:nvPr/>
        </p:nvSpPr>
        <p:spPr>
          <a:xfrm>
            <a:off x="6479895" y="2395728"/>
            <a:ext cx="4943703" cy="2816352"/>
          </a:xfrm>
          <a:prstGeom prst="rect">
            <a:avLst/>
          </a:prstGeom>
          <a:noFill/>
        </p:spPr>
        <p:txBody>
          <a:bodyPr wrap="square" lIns="45720" tIns="27432" rIns="45720" bIns="27432" anchor="t">
            <a:noAutofit/>
          </a:bodyPr>
          <a:lstStyle/>
          <a:p>
            <a:pPr marL="347472" indent="-347472">
              <a:lnSpc>
                <a:spcPct val="112000"/>
              </a:lnSpc>
              <a:spcAft>
                <a:spcPts val="900"/>
              </a:spcAft>
              <a:buClr>
                <a:srgbClr val="F28C28"/>
              </a:buClr>
              <a:buSzPct val="100000"/>
              <a:buFont typeface="Arial"/>
              <a:buChar char="•"/>
            </a:pPr>
            <a:r>
              <a:rPr lang="es-ES" sz="2000" b="0" i="0">
                <a:solidFill>
                  <a:srgbClr val="1F2937"/>
                </a:solidFill>
                <a:latin typeface="Calibri"/>
              </a:rPr>
              <a:t>Aparecen al subintegrar (Q4 con un punto de Gauss)</a:t>
            </a:r>
          </a:p>
          <a:p>
            <a:pPr marL="347472" indent="-347472">
              <a:lnSpc>
                <a:spcPct val="112000"/>
              </a:lnSpc>
              <a:spcAft>
                <a:spcPts val="900"/>
              </a:spcAft>
              <a:buClr>
                <a:srgbClr val="F28C28"/>
              </a:buClr>
              <a:buSzPct val="100000"/>
              <a:buFont typeface="Arial"/>
              <a:buChar char="•"/>
            </a:pPr>
            <a:r>
              <a:rPr lang="es-ES" sz="2000" b="1" i="0">
                <a:solidFill>
                  <a:srgbClr val="1B2A4A"/>
                </a:solidFill>
                <a:latin typeface="Calibri"/>
              </a:rPr>
              <a:t>Rango deficiente:</a:t>
            </a:r>
            <a:r>
              <a:rPr lang="es-ES" sz="2000" b="0" i="0">
                <a:solidFill>
                  <a:srgbClr val="1F2937"/>
                </a:solidFill>
                <a:latin typeface="Calibri"/>
              </a:rPr>
              <a:t> modos de energía nula</a:t>
            </a:r>
          </a:p>
          <a:p>
            <a:pPr marL="347472" indent="-347472">
              <a:lnSpc>
                <a:spcPct val="112000"/>
              </a:lnSpc>
              <a:spcAft>
                <a:spcPts val="900"/>
              </a:spcAft>
              <a:buClr>
                <a:srgbClr val="F28C28"/>
              </a:buClr>
              <a:buSzPct val="100000"/>
              <a:buFont typeface="Arial"/>
              <a:buChar char="•"/>
            </a:pPr>
            <a:r>
              <a:rPr lang="es-ES" sz="2000" b="1" i="0">
                <a:solidFill>
                  <a:srgbClr val="1B2A4A"/>
                </a:solidFill>
                <a:latin typeface="Calibri"/>
              </a:rPr>
              <a:t>EduFEM:</a:t>
            </a:r>
            <a:r>
              <a:rPr lang="es-ES" sz="2000" b="0" i="0">
                <a:solidFill>
                  <a:srgbClr val="1F2937"/>
                </a:solidFill>
                <a:latin typeface="Calibri"/>
              </a:rPr>
              <a:t> integración completa 2×2 y 3×3</a:t>
            </a:r>
          </a:p>
          <a:p>
            <a:pPr marL="347472" indent="-347472">
              <a:lnSpc>
                <a:spcPct val="112000"/>
              </a:lnSpc>
              <a:spcAft>
                <a:spcPts val="900"/>
              </a:spcAft>
              <a:buClr>
                <a:srgbClr val="F28C28"/>
              </a:buClr>
              <a:buSzPct val="100000"/>
              <a:buFont typeface="Arial"/>
              <a:buChar char="•"/>
            </a:pPr>
            <a:r>
              <a:rPr lang="es-ES" sz="2000" b="1" i="0">
                <a:solidFill>
                  <a:srgbClr val="1B2A4A"/>
                </a:solidFill>
                <a:latin typeface="Calibri"/>
              </a:rPr>
              <a:t>Sin SRI ni B-bar:</a:t>
            </a:r>
            <a:r>
              <a:rPr lang="es-ES" sz="2000" b="0" i="0">
                <a:solidFill>
                  <a:srgbClr val="1F2937"/>
                </a:solidFill>
                <a:latin typeface="Calibri"/>
              </a:rPr>
              <a:t> el Q4 queda como recurso didáctico</a:t>
            </a:r>
          </a:p>
        </p:txBody>
      </p:sp>
      <p:sp>
        <p:nvSpPr>
          <p:cNvPr id="22" name="Rectangle 21"/>
          <p:cNvSpPr/>
          <p:nvPr/>
        </p:nvSpPr>
        <p:spPr>
          <a:xfrm>
            <a:off x="566928" y="5449824"/>
            <a:ext cx="11057839" cy="841248"/>
          </a:xfrm>
          <a:prstGeom prst="rect">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Rectangle 22"/>
          <p:cNvSpPr/>
          <p:nvPr/>
        </p:nvSpPr>
        <p:spPr>
          <a:xfrm>
            <a:off x="566928" y="5449824"/>
            <a:ext cx="77724" cy="841248"/>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TextBox 23"/>
          <p:cNvSpPr txBox="1"/>
          <p:nvPr/>
        </p:nvSpPr>
        <p:spPr>
          <a:xfrm>
            <a:off x="795528" y="5449824"/>
            <a:ext cx="10737799" cy="841248"/>
          </a:xfrm>
          <a:prstGeom prst="rect">
            <a:avLst/>
          </a:prstGeom>
          <a:noFill/>
        </p:spPr>
        <p:txBody>
          <a:bodyPr wrap="square" lIns="45720" tIns="27432" rIns="45720" bIns="27432" anchor="ctr">
            <a:noAutofit/>
          </a:bodyPr>
          <a:lstStyle/>
          <a:p>
            <a:pPr algn="l">
              <a:lnSpc>
                <a:spcPct val="100000"/>
              </a:lnSpc>
            </a:pPr>
            <a:r>
              <a:rPr lang="es-ES" sz="2000" b="1" i="0">
                <a:solidFill>
                  <a:srgbClr val="1B2A4A"/>
                </a:solidFill>
                <a:latin typeface="Calibri"/>
              </a:rPr>
              <a:t>Regla de m puntos: exacta hasta grado 2m−1; subintegrar crea modos espurios, sobreintegrar encarece</a:t>
            </a:r>
          </a:p>
        </p:txBody>
      </p:sp>
      <p:sp>
        <p:nvSpPr>
          <p:cNvPr id="25" name="Rectangle 24"/>
          <p:cNvSpPr/>
          <p:nvPr/>
        </p:nvSpPr>
        <p:spPr>
          <a:xfrm>
            <a:off x="566928" y="6364224"/>
            <a:ext cx="11057839" cy="7315"/>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TextBox 25"/>
          <p:cNvSpPr txBox="1"/>
          <p:nvPr/>
        </p:nvSpPr>
        <p:spPr>
          <a:xfrm>
            <a:off x="566928" y="6437376"/>
            <a:ext cx="5029200" cy="292608"/>
          </a:xfrm>
          <a:prstGeom prst="rect">
            <a:avLst/>
          </a:prstGeom>
          <a:noFill/>
        </p:spPr>
        <p:txBody>
          <a:bodyPr wrap="square" lIns="45720" tIns="27432" rIns="45720" bIns="27432" anchor="ctr">
            <a:noAutofit/>
          </a:bodyPr>
          <a:lstStyle/>
          <a:p>
            <a:pPr algn="l">
              <a:lnSpc>
                <a:spcPct val="105000"/>
              </a:lnSpc>
            </a:pPr>
            <a:r>
              <a:rPr lang="es-ES" sz="1200" b="0" i="0">
                <a:solidFill>
                  <a:srgbClr val="5B6575"/>
                </a:solidFill>
                <a:latin typeface="Calibri"/>
              </a:rPr>
              <a:t>EduFEM · Defensa de tesis · Ingeniería Civil · UATF</a:t>
            </a:r>
          </a:p>
        </p:txBody>
      </p:sp>
      <p:sp>
        <p:nvSpPr>
          <p:cNvPr id="27" name="TextBox 26"/>
          <p:cNvSpPr txBox="1"/>
          <p:nvPr/>
        </p:nvSpPr>
        <p:spPr>
          <a:xfrm>
            <a:off x="4023360" y="6437376"/>
            <a:ext cx="5394960" cy="292608"/>
          </a:xfrm>
          <a:prstGeom prst="rect">
            <a:avLst/>
          </a:prstGeom>
          <a:noFill/>
        </p:spPr>
        <p:txBody>
          <a:bodyPr wrap="square" lIns="45720" tIns="27432" rIns="45720" bIns="27432" anchor="ctr">
            <a:noAutofit/>
          </a:bodyPr>
          <a:lstStyle/>
          <a:p>
            <a:pPr algn="ctr">
              <a:lnSpc>
                <a:spcPct val="105000"/>
              </a:lnSpc>
            </a:pPr>
            <a:r>
              <a:rPr lang="es-ES" sz="1200" b="0" i="0">
                <a:solidFill>
                  <a:srgbClr val="5B6575"/>
                </a:solidFill>
                <a:latin typeface="Calibri"/>
              </a:rPr>
              <a:t>Tesis: Cap. 1, bloqueo y modos espurios; Cap. 3, tabla de Cook</a:t>
            </a:r>
          </a:p>
        </p:txBody>
      </p:sp>
      <p:sp>
        <p:nvSpPr>
          <p:cNvPr id="28" name="TextBox 27"/>
          <p:cNvSpPr txBox="1"/>
          <p:nvPr/>
        </p:nvSpPr>
        <p:spPr>
          <a:xfrm>
            <a:off x="10527487" y="6437376"/>
            <a:ext cx="1097280" cy="292608"/>
          </a:xfrm>
          <a:prstGeom prst="rect">
            <a:avLst/>
          </a:prstGeom>
          <a:noFill/>
        </p:spPr>
        <p:txBody>
          <a:bodyPr wrap="none" lIns="45720" tIns="18288" rIns="45720" bIns="18288">
            <a:spAutoFit/>
          </a:bodyPr>
          <a:lstStyle/>
          <a:p>
            <a:pPr algn="r"/>
            <a:fld id="{B6F15528-21DE-4FAA-801E-634DDDAF4B2B}" type="slidenum">
              <a:rPr lang="es-ES" sz="1200" dirty="0">
                <a:solidFill>
                  <a:srgbClr val="5B6575"/>
                </a:solidFill>
                <a:latin typeface="Calibri"/>
              </a:rPr>
              <a:t>11</a:t>
            </a:fld>
            <a:endParaRPr lang="es-ES" sz="1200" dirty="0">
              <a:solidFill>
                <a:srgbClr val="5B6575"/>
              </a:solidFill>
              <a:latin typeface="Calibri"/>
            </a:endParaRPr>
          </a:p>
        </p:txBody>
      </p:sp>
      <p:pic>
        <p:nvPicPr>
          <p:cNvPr id="29" name="s11">
            <a:hlinkClick r:id="" action="ppaction://media"/>
            <a:extLst>
              <a:ext uri="{FF2B5EF4-FFF2-40B4-BE49-F238E27FC236}">
                <a16:creationId xmlns:a16="http://schemas.microsoft.com/office/drawing/2014/main" id="{65B74355-1E6F-955C-632F-156ABFD30843}"/>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254000" y="254000"/>
            <a:ext cx="508000" cy="508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7488"/>
    </mc:Choice>
    <mc:Fallback>
      <p:transition spd="slow" advTm="57488"/>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29"/>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29"/>
                </p:tgtEl>
              </p:cMediaNode>
            </p:audio>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566928" y="361188"/>
            <a:ext cx="50292" cy="173736"/>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TextBox 2"/>
          <p:cNvSpPr txBox="1"/>
          <p:nvPr/>
        </p:nvSpPr>
        <p:spPr>
          <a:xfrm>
            <a:off x="704088" y="310896"/>
            <a:ext cx="6766560" cy="274320"/>
          </a:xfrm>
          <a:prstGeom prst="rect">
            <a:avLst/>
          </a:prstGeom>
          <a:noFill/>
        </p:spPr>
        <p:txBody>
          <a:bodyPr wrap="square" lIns="45720" tIns="27432" rIns="45720" bIns="27432" anchor="ctr">
            <a:noAutofit/>
          </a:bodyPr>
          <a:lstStyle/>
          <a:p>
            <a:pPr algn="l">
              <a:lnSpc>
                <a:spcPct val="105000"/>
              </a:lnSpc>
            </a:pPr>
            <a:r>
              <a:rPr lang="es-ES" sz="1200" b="1" i="0" spc="80">
                <a:solidFill>
                  <a:srgbClr val="F28C28"/>
                </a:solidFill>
                <a:latin typeface="Calibri"/>
              </a:rPr>
              <a:t>02   BASE TEÓRICA</a:t>
            </a:r>
          </a:p>
        </p:txBody>
      </p:sp>
      <p:sp>
        <p:nvSpPr>
          <p:cNvPr id="4" name="Oval 3"/>
          <p:cNvSpPr/>
          <p:nvPr/>
        </p:nvSpPr>
        <p:spPr>
          <a:xfrm>
            <a:off x="10413187" y="388620"/>
            <a:ext cx="114300" cy="1143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Oval 4"/>
          <p:cNvSpPr/>
          <p:nvPr/>
        </p:nvSpPr>
        <p:spPr>
          <a:xfrm>
            <a:off x="10600639" y="356616"/>
            <a:ext cx="178308" cy="178308"/>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Oval 5"/>
          <p:cNvSpPr/>
          <p:nvPr/>
        </p:nvSpPr>
        <p:spPr>
          <a:xfrm>
            <a:off x="10852099"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Oval 6"/>
          <p:cNvSpPr/>
          <p:nvPr/>
        </p:nvSpPr>
        <p:spPr>
          <a:xfrm>
            <a:off x="11071555"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Oval 7"/>
          <p:cNvSpPr/>
          <p:nvPr/>
        </p:nvSpPr>
        <p:spPr>
          <a:xfrm>
            <a:off x="11291011"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Oval 8"/>
          <p:cNvSpPr/>
          <p:nvPr/>
        </p:nvSpPr>
        <p:spPr>
          <a:xfrm>
            <a:off x="11510467"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548640" y="585216"/>
            <a:ext cx="11057839" cy="749808"/>
          </a:xfrm>
          <a:prstGeom prst="rect">
            <a:avLst/>
          </a:prstGeom>
          <a:noFill/>
        </p:spPr>
        <p:txBody>
          <a:bodyPr wrap="square" lIns="45720" tIns="27432" rIns="45720" bIns="27432" anchor="ctr">
            <a:noAutofit/>
          </a:bodyPr>
          <a:lstStyle/>
          <a:p>
            <a:pPr algn="l">
              <a:lnSpc>
                <a:spcPct val="105000"/>
              </a:lnSpc>
            </a:pPr>
            <a:r>
              <a:rPr lang="es-ES" sz="3200" b="1" i="0">
                <a:solidFill>
                  <a:srgbClr val="1B2A4A"/>
                </a:solidFill>
                <a:latin typeface="Calibri"/>
              </a:rPr>
              <a:t>Recuperación de tensiones y verificación</a:t>
            </a:r>
          </a:p>
        </p:txBody>
      </p:sp>
      <p:sp>
        <p:nvSpPr>
          <p:cNvPr id="11" name="Rectangle 10"/>
          <p:cNvSpPr/>
          <p:nvPr/>
        </p:nvSpPr>
        <p:spPr>
          <a:xfrm>
            <a:off x="566928" y="1371600"/>
            <a:ext cx="1051560" cy="50292"/>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Rounded Rectangle 11"/>
          <p:cNvSpPr/>
          <p:nvPr/>
        </p:nvSpPr>
        <p:spPr>
          <a:xfrm>
            <a:off x="566928" y="1664208"/>
            <a:ext cx="11057839" cy="758952"/>
          </a:xfrm>
          <a:prstGeom prst="roundRect">
            <a:avLst>
              <a:gd name="adj" fmla="val 7000"/>
            </a:avLst>
          </a:prstGeom>
          <a:solidFill>
            <a:srgbClr val="F6F8FC"/>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Rectangle 12"/>
          <p:cNvSpPr/>
          <p:nvPr/>
        </p:nvSpPr>
        <p:spPr>
          <a:xfrm>
            <a:off x="566928" y="1664208"/>
            <a:ext cx="77724" cy="758952"/>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841247" y="1664208"/>
            <a:ext cx="3108960" cy="758952"/>
          </a:xfrm>
          <a:prstGeom prst="rect">
            <a:avLst/>
          </a:prstGeom>
          <a:noFill/>
        </p:spPr>
        <p:txBody>
          <a:bodyPr wrap="square" lIns="45720" tIns="27432" rIns="45720" bIns="27432" anchor="ctr">
            <a:noAutofit/>
          </a:bodyPr>
          <a:lstStyle/>
          <a:p>
            <a:pPr algn="l">
              <a:lnSpc>
                <a:spcPct val="105000"/>
              </a:lnSpc>
            </a:pPr>
            <a:r>
              <a:rPr lang="es-ES" sz="1800" b="1" i="0">
                <a:solidFill>
                  <a:srgbClr val="5B6575"/>
                </a:solidFill>
                <a:latin typeface="Calibri"/>
              </a:rPr>
              <a:t>Tensiones en los puntos de Gauss</a:t>
            </a:r>
          </a:p>
        </p:txBody>
      </p:sp>
      <p:sp>
        <p:nvSpPr>
          <p:cNvPr id="15" name="TextBox 14"/>
          <p:cNvSpPr txBox="1"/>
          <p:nvPr/>
        </p:nvSpPr>
        <p:spPr>
          <a:xfrm>
            <a:off x="3950208" y="1664208"/>
            <a:ext cx="7445959" cy="758952"/>
          </a:xfrm>
          <a:prstGeom prst="rect">
            <a:avLst/>
          </a:prstGeom>
          <a:noFill/>
        </p:spPr>
        <p:txBody>
          <a:bodyPr wrap="square" lIns="45720" tIns="27432" rIns="45720" bIns="27432" anchor="ctr">
            <a:noAutofit/>
          </a:bodyPr>
          <a:lstStyle/>
          <a:p>
            <a:pPr algn="l">
              <a:lnSpc>
                <a:spcPct val="105000"/>
              </a:lnSpc>
            </a:pPr>
            <a:r>
              <a:rPr lang="es-ES" sz="2000" b="0" i="0">
                <a:solidFill>
                  <a:srgbClr val="1B2A4A"/>
                </a:solidFill>
                <a:latin typeface="Cambria Math"/>
              </a:rPr>
              <a:t>σₚ = D Bₚ uₑ   (2×2 en Q4, 3×3 en Q9)</a:t>
            </a:r>
          </a:p>
        </p:txBody>
      </p:sp>
      <p:sp>
        <p:nvSpPr>
          <p:cNvPr id="16" name="Rounded Rectangle 15"/>
          <p:cNvSpPr/>
          <p:nvPr/>
        </p:nvSpPr>
        <p:spPr>
          <a:xfrm>
            <a:off x="566928" y="2606040"/>
            <a:ext cx="11057839" cy="758952"/>
          </a:xfrm>
          <a:prstGeom prst="roundRect">
            <a:avLst>
              <a:gd name="adj" fmla="val 7000"/>
            </a:avLst>
          </a:prstGeom>
          <a:solidFill>
            <a:srgbClr val="F6F8FC"/>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Rectangle 16"/>
          <p:cNvSpPr/>
          <p:nvPr/>
        </p:nvSpPr>
        <p:spPr>
          <a:xfrm>
            <a:off x="566928" y="2606040"/>
            <a:ext cx="77724" cy="758952"/>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841247" y="2606040"/>
            <a:ext cx="3108960" cy="758952"/>
          </a:xfrm>
          <a:prstGeom prst="rect">
            <a:avLst/>
          </a:prstGeom>
          <a:noFill/>
        </p:spPr>
        <p:txBody>
          <a:bodyPr wrap="square" lIns="45720" tIns="27432" rIns="45720" bIns="27432" anchor="ctr">
            <a:noAutofit/>
          </a:bodyPr>
          <a:lstStyle/>
          <a:p>
            <a:pPr algn="l">
              <a:lnSpc>
                <a:spcPct val="105000"/>
              </a:lnSpc>
            </a:pPr>
            <a:r>
              <a:rPr lang="es-ES" sz="1800" b="1" i="0">
                <a:solidFill>
                  <a:srgbClr val="5B6575"/>
                </a:solidFill>
                <a:latin typeface="Calibri"/>
              </a:rPr>
              <a:t>Extrapolación a nodos</a:t>
            </a:r>
          </a:p>
          <a:p>
            <a:pPr algn="l">
              <a:lnSpc>
                <a:spcPct val="105000"/>
              </a:lnSpc>
            </a:pPr>
            <a:r>
              <a:rPr lang="es-ES" sz="1800" b="1" i="0">
                <a:solidFill>
                  <a:srgbClr val="5B6575"/>
                </a:solidFill>
                <a:latin typeface="Calibri"/>
              </a:rPr>
              <a:t>(Mⱼᵢ = Nᵢ(ξⱼ, ηⱼ))</a:t>
            </a:r>
          </a:p>
        </p:txBody>
      </p:sp>
      <p:sp>
        <p:nvSpPr>
          <p:cNvPr id="19" name="TextBox 18"/>
          <p:cNvSpPr txBox="1"/>
          <p:nvPr/>
        </p:nvSpPr>
        <p:spPr>
          <a:xfrm>
            <a:off x="3950208" y="2606040"/>
            <a:ext cx="7445959" cy="758952"/>
          </a:xfrm>
          <a:prstGeom prst="rect">
            <a:avLst/>
          </a:prstGeom>
          <a:noFill/>
        </p:spPr>
        <p:txBody>
          <a:bodyPr wrap="square" lIns="45720" tIns="27432" rIns="45720" bIns="27432" anchor="ctr">
            <a:noAutofit/>
          </a:bodyPr>
          <a:lstStyle/>
          <a:p>
            <a:pPr algn="l">
              <a:lnSpc>
                <a:spcPct val="105000"/>
              </a:lnSpc>
            </a:pPr>
            <a:r>
              <a:rPr lang="es-ES" sz="2000" b="0" i="0">
                <a:solidFill>
                  <a:srgbClr val="1B2A4A"/>
                </a:solidFill>
                <a:latin typeface="Cambria Math"/>
              </a:rPr>
              <a:t>σnodal = E σGauss ,   E = M⁻¹</a:t>
            </a:r>
          </a:p>
        </p:txBody>
      </p:sp>
      <p:sp>
        <p:nvSpPr>
          <p:cNvPr id="20" name="Rounded Rectangle 19"/>
          <p:cNvSpPr/>
          <p:nvPr/>
        </p:nvSpPr>
        <p:spPr>
          <a:xfrm>
            <a:off x="566928" y="3547872"/>
            <a:ext cx="11057839" cy="758952"/>
          </a:xfrm>
          <a:prstGeom prst="roundRect">
            <a:avLst>
              <a:gd name="adj" fmla="val 7000"/>
            </a:avLst>
          </a:prstGeom>
          <a:solidFill>
            <a:srgbClr val="F6F8FC"/>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Rectangle 20"/>
          <p:cNvSpPr/>
          <p:nvPr/>
        </p:nvSpPr>
        <p:spPr>
          <a:xfrm>
            <a:off x="566928" y="3547872"/>
            <a:ext cx="77724" cy="758952"/>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841247" y="3547872"/>
            <a:ext cx="3108960" cy="758952"/>
          </a:xfrm>
          <a:prstGeom prst="rect">
            <a:avLst/>
          </a:prstGeom>
          <a:noFill/>
        </p:spPr>
        <p:txBody>
          <a:bodyPr wrap="square" lIns="45720" tIns="27432" rIns="45720" bIns="27432" anchor="ctr">
            <a:noAutofit/>
          </a:bodyPr>
          <a:lstStyle/>
          <a:p>
            <a:pPr algn="l">
              <a:lnSpc>
                <a:spcPct val="105000"/>
              </a:lnSpc>
            </a:pPr>
            <a:r>
              <a:rPr lang="es-ES" sz="1800" b="1" i="0">
                <a:solidFill>
                  <a:srgbClr val="5B6575"/>
                </a:solidFill>
                <a:latin typeface="Calibri"/>
              </a:rPr>
              <a:t>Q4: forma cerrada</a:t>
            </a:r>
          </a:p>
        </p:txBody>
      </p:sp>
      <p:sp>
        <p:nvSpPr>
          <p:cNvPr id="23" name="TextBox 22"/>
          <p:cNvSpPr txBox="1"/>
          <p:nvPr/>
        </p:nvSpPr>
        <p:spPr>
          <a:xfrm>
            <a:off x="3950208" y="3547872"/>
            <a:ext cx="7445959" cy="758952"/>
          </a:xfrm>
          <a:prstGeom prst="rect">
            <a:avLst/>
          </a:prstGeom>
          <a:noFill/>
        </p:spPr>
        <p:txBody>
          <a:bodyPr wrap="square" lIns="45720" tIns="27432" rIns="45720" bIns="27432" anchor="ctr">
            <a:noAutofit/>
          </a:bodyPr>
          <a:lstStyle/>
          <a:p>
            <a:pPr algn="l">
              <a:lnSpc>
                <a:spcPct val="105000"/>
              </a:lnSpc>
            </a:pPr>
            <a:r>
              <a:rPr lang="es-ES" sz="2000" b="0" i="0">
                <a:solidFill>
                  <a:srgbClr val="1B2A4A"/>
                </a:solidFill>
                <a:latin typeface="Cambria Math"/>
              </a:rPr>
              <a:t>a ≈ 1,866 ;   b = −½ ;   c ≈ 0,134</a:t>
            </a:r>
          </a:p>
        </p:txBody>
      </p:sp>
      <p:sp>
        <p:nvSpPr>
          <p:cNvPr id="24" name="Rounded Rectangle 23"/>
          <p:cNvSpPr/>
          <p:nvPr/>
        </p:nvSpPr>
        <p:spPr>
          <a:xfrm>
            <a:off x="566928" y="4489703"/>
            <a:ext cx="11057839" cy="758952"/>
          </a:xfrm>
          <a:prstGeom prst="roundRect">
            <a:avLst>
              <a:gd name="adj" fmla="val 7000"/>
            </a:avLst>
          </a:prstGeom>
          <a:solidFill>
            <a:srgbClr val="F6F8FC"/>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Rectangle 24"/>
          <p:cNvSpPr/>
          <p:nvPr/>
        </p:nvSpPr>
        <p:spPr>
          <a:xfrm>
            <a:off x="566928" y="4489703"/>
            <a:ext cx="77724" cy="758952"/>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TextBox 25"/>
          <p:cNvSpPr txBox="1"/>
          <p:nvPr/>
        </p:nvSpPr>
        <p:spPr>
          <a:xfrm>
            <a:off x="841247" y="4489703"/>
            <a:ext cx="3108960" cy="758952"/>
          </a:xfrm>
          <a:prstGeom prst="rect">
            <a:avLst/>
          </a:prstGeom>
          <a:noFill/>
        </p:spPr>
        <p:txBody>
          <a:bodyPr wrap="square" lIns="45720" tIns="27432" rIns="45720" bIns="27432" anchor="ctr">
            <a:noAutofit/>
          </a:bodyPr>
          <a:lstStyle/>
          <a:p>
            <a:pPr algn="l">
              <a:lnSpc>
                <a:spcPct val="105000"/>
              </a:lnSpc>
            </a:pPr>
            <a:r>
              <a:rPr lang="es-ES" sz="1800" b="1" i="0">
                <a:solidFill>
                  <a:srgbClr val="5B6575"/>
                </a:solidFill>
                <a:latin typeface="Calibri"/>
              </a:rPr>
              <a:t>Tasas teóricas (MMS)</a:t>
            </a:r>
          </a:p>
        </p:txBody>
      </p:sp>
      <p:sp>
        <p:nvSpPr>
          <p:cNvPr id="27" name="TextBox 26"/>
          <p:cNvSpPr txBox="1"/>
          <p:nvPr/>
        </p:nvSpPr>
        <p:spPr>
          <a:xfrm>
            <a:off x="3950208" y="4489703"/>
            <a:ext cx="7445959" cy="758952"/>
          </a:xfrm>
          <a:prstGeom prst="rect">
            <a:avLst/>
          </a:prstGeom>
          <a:noFill/>
        </p:spPr>
        <p:txBody>
          <a:bodyPr wrap="square" lIns="45720" tIns="27432" rIns="45720" bIns="27432" anchor="ctr">
            <a:noAutofit/>
          </a:bodyPr>
          <a:lstStyle/>
          <a:p>
            <a:pPr algn="l">
              <a:lnSpc>
                <a:spcPct val="105000"/>
              </a:lnSpc>
            </a:pPr>
            <a:r>
              <a:rPr lang="es-ES" sz="2000" b="0" i="0">
                <a:solidFill>
                  <a:srgbClr val="1B2A4A"/>
                </a:solidFill>
                <a:latin typeface="Cambria Math"/>
              </a:rPr>
              <a:t>‖e‖₂ = O(hᵖ⁺¹) ,   |e|₁ = O(hᵖ) ,   b = −∇·σ(uₘ)</a:t>
            </a:r>
          </a:p>
        </p:txBody>
      </p:sp>
      <p:sp>
        <p:nvSpPr>
          <p:cNvPr id="28" name="Rectangle 27"/>
          <p:cNvSpPr/>
          <p:nvPr/>
        </p:nvSpPr>
        <p:spPr>
          <a:xfrm>
            <a:off x="566928" y="5449824"/>
            <a:ext cx="11057839" cy="841248"/>
          </a:xfrm>
          <a:prstGeom prst="rect">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Rectangle 28"/>
          <p:cNvSpPr/>
          <p:nvPr/>
        </p:nvSpPr>
        <p:spPr>
          <a:xfrm>
            <a:off x="566928" y="5449824"/>
            <a:ext cx="77724" cy="841248"/>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 name="TextBox 29"/>
          <p:cNvSpPr txBox="1"/>
          <p:nvPr/>
        </p:nvSpPr>
        <p:spPr>
          <a:xfrm>
            <a:off x="795528" y="5449824"/>
            <a:ext cx="10737799" cy="841248"/>
          </a:xfrm>
          <a:prstGeom prst="rect">
            <a:avLst/>
          </a:prstGeom>
          <a:noFill/>
        </p:spPr>
        <p:txBody>
          <a:bodyPr wrap="square" lIns="45720" tIns="27432" rIns="45720" bIns="27432" anchor="ctr">
            <a:noAutofit/>
          </a:bodyPr>
          <a:lstStyle/>
          <a:p>
            <a:pPr algn="l">
              <a:lnSpc>
                <a:spcPct val="100000"/>
              </a:lnSpc>
            </a:pPr>
            <a:r>
              <a:rPr lang="es-ES" sz="2000" b="1" i="0">
                <a:solidFill>
                  <a:srgbClr val="1B2A4A"/>
                </a:solidFill>
                <a:latin typeface="Calibri"/>
              </a:rPr>
              <a:t>Verificar es resolver bien las ecuaciones; validar, que representen la realidad. La tasa de σ* se mide, no se supone</a:t>
            </a:r>
          </a:p>
        </p:txBody>
      </p:sp>
      <p:sp>
        <p:nvSpPr>
          <p:cNvPr id="31" name="Rectangle 30"/>
          <p:cNvSpPr/>
          <p:nvPr/>
        </p:nvSpPr>
        <p:spPr>
          <a:xfrm>
            <a:off x="566928" y="6364224"/>
            <a:ext cx="11057839" cy="7315"/>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 name="TextBox 31"/>
          <p:cNvSpPr txBox="1"/>
          <p:nvPr/>
        </p:nvSpPr>
        <p:spPr>
          <a:xfrm>
            <a:off x="566928" y="6437376"/>
            <a:ext cx="5029200" cy="292608"/>
          </a:xfrm>
          <a:prstGeom prst="rect">
            <a:avLst/>
          </a:prstGeom>
          <a:noFill/>
        </p:spPr>
        <p:txBody>
          <a:bodyPr wrap="square" lIns="45720" tIns="27432" rIns="45720" bIns="27432" anchor="ctr">
            <a:noAutofit/>
          </a:bodyPr>
          <a:lstStyle/>
          <a:p>
            <a:pPr algn="l">
              <a:lnSpc>
                <a:spcPct val="105000"/>
              </a:lnSpc>
            </a:pPr>
            <a:r>
              <a:rPr lang="es-ES" sz="1200" b="0" i="0">
                <a:solidFill>
                  <a:srgbClr val="5B6575"/>
                </a:solidFill>
                <a:latin typeface="Calibri"/>
              </a:rPr>
              <a:t>EduFEM · Defensa de tesis · Ingeniería Civil · UATF</a:t>
            </a:r>
          </a:p>
        </p:txBody>
      </p:sp>
      <p:sp>
        <p:nvSpPr>
          <p:cNvPr id="33" name="TextBox 32"/>
          <p:cNvSpPr txBox="1"/>
          <p:nvPr/>
        </p:nvSpPr>
        <p:spPr>
          <a:xfrm>
            <a:off x="4023360" y="6437376"/>
            <a:ext cx="5394960" cy="292608"/>
          </a:xfrm>
          <a:prstGeom prst="rect">
            <a:avLst/>
          </a:prstGeom>
          <a:noFill/>
        </p:spPr>
        <p:txBody>
          <a:bodyPr wrap="square" lIns="45720" tIns="27432" rIns="45720" bIns="27432" anchor="ctr">
            <a:noAutofit/>
          </a:bodyPr>
          <a:lstStyle/>
          <a:p>
            <a:pPr algn="ctr">
              <a:lnSpc>
                <a:spcPct val="105000"/>
              </a:lnSpc>
            </a:pPr>
            <a:r>
              <a:rPr lang="es-ES" sz="1200" b="0" i="0">
                <a:solidFill>
                  <a:srgbClr val="5B6575"/>
                </a:solidFill>
                <a:latin typeface="Calibri"/>
              </a:rPr>
              <a:t>Tesis: Cap. 1, §1.11 y §1.13</a:t>
            </a:r>
          </a:p>
        </p:txBody>
      </p:sp>
      <p:sp>
        <p:nvSpPr>
          <p:cNvPr id="34" name="TextBox 33"/>
          <p:cNvSpPr txBox="1"/>
          <p:nvPr/>
        </p:nvSpPr>
        <p:spPr>
          <a:xfrm>
            <a:off x="10527487" y="6437376"/>
            <a:ext cx="1097280" cy="292608"/>
          </a:xfrm>
          <a:prstGeom prst="rect">
            <a:avLst/>
          </a:prstGeom>
          <a:noFill/>
        </p:spPr>
        <p:txBody>
          <a:bodyPr wrap="none" lIns="45720" tIns="18288" rIns="45720" bIns="18288">
            <a:spAutoFit/>
          </a:bodyPr>
          <a:lstStyle/>
          <a:p>
            <a:pPr algn="r"/>
            <a:fld id="{B6F15528-21DE-4FAA-801E-634DDDAF4B2B}" type="slidenum">
              <a:rPr lang="es-ES" sz="1200" dirty="0">
                <a:solidFill>
                  <a:srgbClr val="5B6575"/>
                </a:solidFill>
                <a:latin typeface="Calibri"/>
              </a:rPr>
              <a:t>12</a:t>
            </a:fld>
            <a:endParaRPr lang="es-ES" sz="1200" dirty="0">
              <a:solidFill>
                <a:srgbClr val="5B6575"/>
              </a:solidFill>
              <a:latin typeface="Calibri"/>
            </a:endParaRPr>
          </a:p>
        </p:txBody>
      </p:sp>
      <p:pic>
        <p:nvPicPr>
          <p:cNvPr id="35" name="s12">
            <a:hlinkClick r:id="" action="ppaction://media"/>
            <a:extLst>
              <a:ext uri="{FF2B5EF4-FFF2-40B4-BE49-F238E27FC236}">
                <a16:creationId xmlns:a16="http://schemas.microsoft.com/office/drawing/2014/main" id="{1D8B9B32-3D62-708D-5486-9F8431383FEB}"/>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254000" y="254000"/>
            <a:ext cx="508000" cy="508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74504"/>
    </mc:Choice>
    <mc:Fallback>
      <p:transition spd="slow" advTm="74504"/>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35"/>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35"/>
                </p:tgtEl>
              </p:cMediaNode>
            </p:audio>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E182E"/>
        </a:solidFill>
        <a:effectLst/>
      </p:bgPr>
    </p:bg>
    <p:spTree>
      <p:nvGrpSpPr>
        <p:cNvPr id="1" name=""/>
        <p:cNvGrpSpPr/>
        <p:nvPr/>
      </p:nvGrpSpPr>
      <p:grpSpPr>
        <a:xfrm>
          <a:off x="0" y="0"/>
          <a:ext cx="0" cy="0"/>
          <a:chOff x="0" y="0"/>
          <a:chExt cx="0" cy="0"/>
        </a:xfrm>
      </p:grpSpPr>
      <p:sp>
        <p:nvSpPr>
          <p:cNvPr id="2" name="Rectangle 1"/>
          <p:cNvSpPr/>
          <p:nvPr/>
        </p:nvSpPr>
        <p:spPr>
          <a:xfrm>
            <a:off x="8183879" y="960120"/>
            <a:ext cx="3611880" cy="10972"/>
          </a:xfrm>
          <a:prstGeom prst="rect">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Rectangle 2"/>
          <p:cNvSpPr/>
          <p:nvPr/>
        </p:nvSpPr>
        <p:spPr>
          <a:xfrm>
            <a:off x="8183879" y="1859280"/>
            <a:ext cx="3611880" cy="10972"/>
          </a:xfrm>
          <a:prstGeom prst="rect">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Rectangle 3"/>
          <p:cNvSpPr/>
          <p:nvPr/>
        </p:nvSpPr>
        <p:spPr>
          <a:xfrm>
            <a:off x="8183879" y="2758440"/>
            <a:ext cx="3611880" cy="10972"/>
          </a:xfrm>
          <a:prstGeom prst="rect">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Rectangle 4"/>
          <p:cNvSpPr/>
          <p:nvPr/>
        </p:nvSpPr>
        <p:spPr>
          <a:xfrm>
            <a:off x="8183879" y="3657600"/>
            <a:ext cx="3611880" cy="10972"/>
          </a:xfrm>
          <a:prstGeom prst="rect">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Rectangle 5"/>
          <p:cNvSpPr/>
          <p:nvPr/>
        </p:nvSpPr>
        <p:spPr>
          <a:xfrm>
            <a:off x="8183879" y="960120"/>
            <a:ext cx="10972" cy="2697480"/>
          </a:xfrm>
          <a:prstGeom prst="rect">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Rectangle 6"/>
          <p:cNvSpPr/>
          <p:nvPr/>
        </p:nvSpPr>
        <p:spPr>
          <a:xfrm>
            <a:off x="9086850" y="960120"/>
            <a:ext cx="10972" cy="2697480"/>
          </a:xfrm>
          <a:prstGeom prst="rect">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Rectangle 7"/>
          <p:cNvSpPr/>
          <p:nvPr/>
        </p:nvSpPr>
        <p:spPr>
          <a:xfrm>
            <a:off x="9989819" y="960120"/>
            <a:ext cx="10972" cy="2697480"/>
          </a:xfrm>
          <a:prstGeom prst="rect">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Rectangle 8"/>
          <p:cNvSpPr/>
          <p:nvPr/>
        </p:nvSpPr>
        <p:spPr>
          <a:xfrm>
            <a:off x="10892790" y="960120"/>
            <a:ext cx="10972" cy="2697480"/>
          </a:xfrm>
          <a:prstGeom prst="rect">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Rectangle 9"/>
          <p:cNvSpPr/>
          <p:nvPr/>
        </p:nvSpPr>
        <p:spPr>
          <a:xfrm>
            <a:off x="11795759" y="960120"/>
            <a:ext cx="10972" cy="2697480"/>
          </a:xfrm>
          <a:prstGeom prst="rect">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Oval 10"/>
          <p:cNvSpPr/>
          <p:nvPr/>
        </p:nvSpPr>
        <p:spPr>
          <a:xfrm>
            <a:off x="8145017" y="92125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Oval 11"/>
          <p:cNvSpPr/>
          <p:nvPr/>
        </p:nvSpPr>
        <p:spPr>
          <a:xfrm>
            <a:off x="9047988" y="92125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Oval 12"/>
          <p:cNvSpPr/>
          <p:nvPr/>
        </p:nvSpPr>
        <p:spPr>
          <a:xfrm>
            <a:off x="9950957" y="92125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Oval 13"/>
          <p:cNvSpPr/>
          <p:nvPr/>
        </p:nvSpPr>
        <p:spPr>
          <a:xfrm>
            <a:off x="10853928" y="92125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Oval 14"/>
          <p:cNvSpPr/>
          <p:nvPr/>
        </p:nvSpPr>
        <p:spPr>
          <a:xfrm>
            <a:off x="11756897" y="92125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Oval 15"/>
          <p:cNvSpPr/>
          <p:nvPr/>
        </p:nvSpPr>
        <p:spPr>
          <a:xfrm>
            <a:off x="8145017" y="182041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Oval 16"/>
          <p:cNvSpPr/>
          <p:nvPr/>
        </p:nvSpPr>
        <p:spPr>
          <a:xfrm>
            <a:off x="9047988" y="182041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Oval 17"/>
          <p:cNvSpPr/>
          <p:nvPr/>
        </p:nvSpPr>
        <p:spPr>
          <a:xfrm>
            <a:off x="9950957" y="182041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Oval 18"/>
          <p:cNvSpPr/>
          <p:nvPr/>
        </p:nvSpPr>
        <p:spPr>
          <a:xfrm>
            <a:off x="10853928" y="182041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Oval 19"/>
          <p:cNvSpPr/>
          <p:nvPr/>
        </p:nvSpPr>
        <p:spPr>
          <a:xfrm>
            <a:off x="11756897" y="182041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Oval 20"/>
          <p:cNvSpPr/>
          <p:nvPr/>
        </p:nvSpPr>
        <p:spPr>
          <a:xfrm>
            <a:off x="8145017" y="271957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Oval 21"/>
          <p:cNvSpPr/>
          <p:nvPr/>
        </p:nvSpPr>
        <p:spPr>
          <a:xfrm>
            <a:off x="9047988" y="271957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Oval 22"/>
          <p:cNvSpPr/>
          <p:nvPr/>
        </p:nvSpPr>
        <p:spPr>
          <a:xfrm>
            <a:off x="9950957" y="271957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Oval 23"/>
          <p:cNvSpPr/>
          <p:nvPr/>
        </p:nvSpPr>
        <p:spPr>
          <a:xfrm>
            <a:off x="10853928" y="271957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Oval 24"/>
          <p:cNvSpPr/>
          <p:nvPr/>
        </p:nvSpPr>
        <p:spPr>
          <a:xfrm>
            <a:off x="11756897" y="271957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Oval 25"/>
          <p:cNvSpPr/>
          <p:nvPr/>
        </p:nvSpPr>
        <p:spPr>
          <a:xfrm>
            <a:off x="8145017" y="361873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Oval 26"/>
          <p:cNvSpPr/>
          <p:nvPr/>
        </p:nvSpPr>
        <p:spPr>
          <a:xfrm>
            <a:off x="9047988" y="361873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Oval 27"/>
          <p:cNvSpPr/>
          <p:nvPr/>
        </p:nvSpPr>
        <p:spPr>
          <a:xfrm>
            <a:off x="9950957" y="361873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Oval 28"/>
          <p:cNvSpPr/>
          <p:nvPr/>
        </p:nvSpPr>
        <p:spPr>
          <a:xfrm>
            <a:off x="10853928" y="361873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 name="Oval 29"/>
          <p:cNvSpPr/>
          <p:nvPr/>
        </p:nvSpPr>
        <p:spPr>
          <a:xfrm>
            <a:off x="11756897" y="361873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TextBox 30"/>
          <p:cNvSpPr txBox="1"/>
          <p:nvPr/>
        </p:nvSpPr>
        <p:spPr>
          <a:xfrm>
            <a:off x="731520" y="1417320"/>
            <a:ext cx="2194560" cy="1828800"/>
          </a:xfrm>
          <a:prstGeom prst="rect">
            <a:avLst/>
          </a:prstGeom>
          <a:noFill/>
        </p:spPr>
        <p:txBody>
          <a:bodyPr wrap="square" lIns="45720" tIns="27432" rIns="45720" bIns="27432" anchor="ctr">
            <a:noAutofit/>
          </a:bodyPr>
          <a:lstStyle/>
          <a:p>
            <a:pPr algn="l">
              <a:lnSpc>
                <a:spcPct val="105000"/>
              </a:lnSpc>
            </a:pPr>
            <a:r>
              <a:rPr lang="es-ES" sz="9600" b="1" i="0">
                <a:solidFill>
                  <a:srgbClr val="F28C28"/>
                </a:solidFill>
                <a:latin typeface="Calibri"/>
              </a:rPr>
              <a:t>03</a:t>
            </a:r>
          </a:p>
        </p:txBody>
      </p:sp>
      <p:sp>
        <p:nvSpPr>
          <p:cNvPr id="32" name="Rectangle 31"/>
          <p:cNvSpPr/>
          <p:nvPr/>
        </p:nvSpPr>
        <p:spPr>
          <a:xfrm>
            <a:off x="3063240" y="1691640"/>
            <a:ext cx="54864" cy="132588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 name="TextBox 32"/>
          <p:cNvSpPr txBox="1"/>
          <p:nvPr/>
        </p:nvSpPr>
        <p:spPr>
          <a:xfrm>
            <a:off x="3383280" y="1417320"/>
            <a:ext cx="8138160" cy="1188720"/>
          </a:xfrm>
          <a:prstGeom prst="rect">
            <a:avLst/>
          </a:prstGeom>
          <a:noFill/>
        </p:spPr>
        <p:txBody>
          <a:bodyPr wrap="square" lIns="45720" tIns="27432" rIns="45720" bIns="27432" anchor="ctr">
            <a:noAutofit/>
          </a:bodyPr>
          <a:lstStyle/>
          <a:p>
            <a:pPr algn="l">
              <a:lnSpc>
                <a:spcPct val="105000"/>
              </a:lnSpc>
            </a:pPr>
            <a:r>
              <a:rPr lang="es-ES" sz="4400" b="1" i="0">
                <a:solidFill>
                  <a:srgbClr val="FFFFFF"/>
                </a:solidFill>
                <a:latin typeface="Calibri"/>
              </a:rPr>
              <a:t>Diseño y desarrollo del modelo</a:t>
            </a:r>
          </a:p>
        </p:txBody>
      </p:sp>
      <p:sp>
        <p:nvSpPr>
          <p:cNvPr id="34" name="TextBox 33"/>
          <p:cNvSpPr txBox="1"/>
          <p:nvPr/>
        </p:nvSpPr>
        <p:spPr>
          <a:xfrm>
            <a:off x="3383280" y="2606040"/>
            <a:ext cx="8138160" cy="1280160"/>
          </a:xfrm>
          <a:prstGeom prst="rect">
            <a:avLst/>
          </a:prstGeom>
          <a:noFill/>
        </p:spPr>
        <p:txBody>
          <a:bodyPr wrap="square" lIns="45720" tIns="27432" rIns="45720" bIns="27432" anchor="t">
            <a:noAutofit/>
          </a:bodyPr>
          <a:lstStyle/>
          <a:p>
            <a:pPr algn="l">
              <a:lnSpc>
                <a:spcPct val="115000"/>
              </a:lnSpc>
            </a:pPr>
            <a:r>
              <a:rPr lang="es-ES" sz="2100" b="0" i="0">
                <a:solidFill>
                  <a:srgbClr val="C7D2E8"/>
                </a:solidFill>
                <a:latin typeface="Calibri"/>
              </a:rPr>
              <a:t>Construir la caja abierta: diseño metodológico, diseño e implementación de EduFEM y demostración en vivo</a:t>
            </a:r>
          </a:p>
        </p:txBody>
      </p:sp>
      <p:sp>
        <p:nvSpPr>
          <p:cNvPr id="35" name="Rounded Rectangle 34"/>
          <p:cNvSpPr/>
          <p:nvPr/>
        </p:nvSpPr>
        <p:spPr>
          <a:xfrm>
            <a:off x="566928" y="5806440"/>
            <a:ext cx="1751533" cy="493776"/>
          </a:xfrm>
          <a:prstGeom prst="roundRect">
            <a:avLst>
              <a:gd name="adj" fmla="val 28000"/>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noAutofit/>
          </a:bodyPr>
          <a:lstStyle/>
          <a:p>
            <a:pPr algn="ctr">
              <a:lnSpc>
                <a:spcPct val="100000"/>
              </a:lnSpc>
            </a:pPr>
            <a:r>
              <a:rPr lang="es-ES" sz="1200" b="0" i="0">
                <a:solidFill>
                  <a:srgbClr val="FFFFFF"/>
                </a:solidFill>
                <a:latin typeface="Calibri"/>
              </a:rPr>
              <a:t>1. Introducción</a:t>
            </a:r>
          </a:p>
        </p:txBody>
      </p:sp>
      <p:sp>
        <p:nvSpPr>
          <p:cNvPr id="36" name="Rounded Rectangle 35"/>
          <p:cNvSpPr/>
          <p:nvPr/>
        </p:nvSpPr>
        <p:spPr>
          <a:xfrm>
            <a:off x="2428189" y="5806440"/>
            <a:ext cx="1751533" cy="493776"/>
          </a:xfrm>
          <a:prstGeom prst="roundRect">
            <a:avLst>
              <a:gd name="adj" fmla="val 28000"/>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noAutofit/>
          </a:bodyPr>
          <a:lstStyle/>
          <a:p>
            <a:pPr algn="ctr">
              <a:lnSpc>
                <a:spcPct val="100000"/>
              </a:lnSpc>
            </a:pPr>
            <a:r>
              <a:rPr lang="es-ES" sz="1200" b="0" i="0">
                <a:solidFill>
                  <a:srgbClr val="FFFFFF"/>
                </a:solidFill>
                <a:latin typeface="Calibri"/>
              </a:rPr>
              <a:t>2. Base teórica</a:t>
            </a:r>
          </a:p>
        </p:txBody>
      </p:sp>
      <p:sp>
        <p:nvSpPr>
          <p:cNvPr id="37" name="Rounded Rectangle 36"/>
          <p:cNvSpPr/>
          <p:nvPr/>
        </p:nvSpPr>
        <p:spPr>
          <a:xfrm>
            <a:off x="4289450" y="5806440"/>
            <a:ext cx="1751533" cy="493776"/>
          </a:xfrm>
          <a:prstGeom prst="roundRect">
            <a:avLst>
              <a:gd name="adj" fmla="val 28000"/>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noAutofit/>
          </a:bodyPr>
          <a:lstStyle/>
          <a:p>
            <a:pPr algn="ctr">
              <a:lnSpc>
                <a:spcPct val="100000"/>
              </a:lnSpc>
            </a:pPr>
            <a:r>
              <a:rPr lang="es-ES" sz="1200" b="1" i="0">
                <a:solidFill>
                  <a:srgbClr val="FFFFFF"/>
                </a:solidFill>
                <a:latin typeface="Calibri"/>
              </a:rPr>
              <a:t>3. Diseño y desarrollo del modelo</a:t>
            </a:r>
          </a:p>
        </p:txBody>
      </p:sp>
      <p:sp>
        <p:nvSpPr>
          <p:cNvPr id="38" name="Rounded Rectangle 37"/>
          <p:cNvSpPr/>
          <p:nvPr/>
        </p:nvSpPr>
        <p:spPr>
          <a:xfrm>
            <a:off x="6150711" y="5806440"/>
            <a:ext cx="1751533" cy="493776"/>
          </a:xfrm>
          <a:prstGeom prst="roundRect">
            <a:avLst>
              <a:gd name="adj" fmla="val 28000"/>
            </a:avLst>
          </a:prstGeom>
          <a:noFill/>
          <a:ln w="9525">
            <a:solidFill>
              <a:srgbClr val="2C3E63"/>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noAutofit/>
          </a:bodyPr>
          <a:lstStyle/>
          <a:p>
            <a:pPr algn="ctr">
              <a:lnSpc>
                <a:spcPct val="100000"/>
              </a:lnSpc>
            </a:pPr>
            <a:r>
              <a:rPr lang="es-ES" sz="1200" b="0" i="0">
                <a:solidFill>
                  <a:srgbClr val="C7D2E8"/>
                </a:solidFill>
                <a:latin typeface="Calibri"/>
              </a:rPr>
              <a:t>4. Presentación de resultados</a:t>
            </a:r>
          </a:p>
        </p:txBody>
      </p:sp>
      <p:sp>
        <p:nvSpPr>
          <p:cNvPr id="39" name="Rounded Rectangle 38"/>
          <p:cNvSpPr/>
          <p:nvPr/>
        </p:nvSpPr>
        <p:spPr>
          <a:xfrm>
            <a:off x="8011972" y="5806440"/>
            <a:ext cx="1751533" cy="493776"/>
          </a:xfrm>
          <a:prstGeom prst="roundRect">
            <a:avLst>
              <a:gd name="adj" fmla="val 28000"/>
            </a:avLst>
          </a:prstGeom>
          <a:noFill/>
          <a:ln w="9525">
            <a:solidFill>
              <a:srgbClr val="2C3E63"/>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noAutofit/>
          </a:bodyPr>
          <a:lstStyle/>
          <a:p>
            <a:pPr algn="ctr">
              <a:lnSpc>
                <a:spcPct val="100000"/>
              </a:lnSpc>
            </a:pPr>
            <a:r>
              <a:rPr lang="es-ES" sz="1200" b="0" i="0">
                <a:solidFill>
                  <a:srgbClr val="C7D2E8"/>
                </a:solidFill>
                <a:latin typeface="Calibri"/>
              </a:rPr>
              <a:t>5. Análisis de resultados</a:t>
            </a:r>
          </a:p>
        </p:txBody>
      </p:sp>
      <p:sp>
        <p:nvSpPr>
          <p:cNvPr id="40" name="Rounded Rectangle 39"/>
          <p:cNvSpPr/>
          <p:nvPr/>
        </p:nvSpPr>
        <p:spPr>
          <a:xfrm>
            <a:off x="9873233" y="5806440"/>
            <a:ext cx="1751533" cy="493776"/>
          </a:xfrm>
          <a:prstGeom prst="roundRect">
            <a:avLst>
              <a:gd name="adj" fmla="val 28000"/>
            </a:avLst>
          </a:prstGeom>
          <a:noFill/>
          <a:ln w="9525">
            <a:solidFill>
              <a:srgbClr val="2C3E63"/>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noAutofit/>
          </a:bodyPr>
          <a:lstStyle/>
          <a:p>
            <a:pPr algn="ctr">
              <a:lnSpc>
                <a:spcPct val="100000"/>
              </a:lnSpc>
            </a:pPr>
            <a:r>
              <a:rPr lang="es-ES" sz="1200" b="0" i="0">
                <a:solidFill>
                  <a:srgbClr val="C7D2E8"/>
                </a:solidFill>
                <a:latin typeface="Calibri"/>
              </a:rPr>
              <a:t>6. Conclusiones y recomendaciones</a:t>
            </a:r>
          </a:p>
        </p:txBody>
      </p:sp>
      <p:pic>
        <p:nvPicPr>
          <p:cNvPr id="41" name="s13">
            <a:hlinkClick r:id="" action="ppaction://media"/>
            <a:extLst>
              <a:ext uri="{FF2B5EF4-FFF2-40B4-BE49-F238E27FC236}">
                <a16:creationId xmlns:a16="http://schemas.microsoft.com/office/drawing/2014/main" id="{813BF4CF-B905-2171-5978-E121BF47F473}"/>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254000" y="254000"/>
            <a:ext cx="508000" cy="508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12176"/>
    </mc:Choice>
    <mc:Fallback>
      <p:transition spd="slow" advTm="12176"/>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1"/>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41"/>
                </p:tgtEl>
              </p:cMediaNode>
            </p:audi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566928" y="361188"/>
            <a:ext cx="50292" cy="173736"/>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TextBox 2"/>
          <p:cNvSpPr txBox="1"/>
          <p:nvPr/>
        </p:nvSpPr>
        <p:spPr>
          <a:xfrm>
            <a:off x="704088" y="310896"/>
            <a:ext cx="6766560" cy="274320"/>
          </a:xfrm>
          <a:prstGeom prst="rect">
            <a:avLst/>
          </a:prstGeom>
          <a:noFill/>
        </p:spPr>
        <p:txBody>
          <a:bodyPr wrap="square" lIns="45720" tIns="27432" rIns="45720" bIns="27432" anchor="ctr">
            <a:noAutofit/>
          </a:bodyPr>
          <a:lstStyle/>
          <a:p>
            <a:pPr algn="l">
              <a:lnSpc>
                <a:spcPct val="105000"/>
              </a:lnSpc>
            </a:pPr>
            <a:r>
              <a:rPr lang="es-ES" sz="1200" b="1" i="0" spc="80">
                <a:solidFill>
                  <a:srgbClr val="F28C28"/>
                </a:solidFill>
                <a:latin typeface="Calibri"/>
              </a:rPr>
              <a:t>03   DISEÑO Y DESARROLLO DEL MODELO</a:t>
            </a:r>
          </a:p>
        </p:txBody>
      </p:sp>
      <p:sp>
        <p:nvSpPr>
          <p:cNvPr id="4" name="Oval 3"/>
          <p:cNvSpPr/>
          <p:nvPr/>
        </p:nvSpPr>
        <p:spPr>
          <a:xfrm>
            <a:off x="10413187" y="388620"/>
            <a:ext cx="114300" cy="1143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Oval 4"/>
          <p:cNvSpPr/>
          <p:nvPr/>
        </p:nvSpPr>
        <p:spPr>
          <a:xfrm>
            <a:off x="10632643" y="388620"/>
            <a:ext cx="114300" cy="1143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Oval 5"/>
          <p:cNvSpPr/>
          <p:nvPr/>
        </p:nvSpPr>
        <p:spPr>
          <a:xfrm>
            <a:off x="10820095" y="356616"/>
            <a:ext cx="178308" cy="178308"/>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Oval 6"/>
          <p:cNvSpPr/>
          <p:nvPr/>
        </p:nvSpPr>
        <p:spPr>
          <a:xfrm>
            <a:off x="11071555"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Oval 7"/>
          <p:cNvSpPr/>
          <p:nvPr/>
        </p:nvSpPr>
        <p:spPr>
          <a:xfrm>
            <a:off x="11291011"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Oval 8"/>
          <p:cNvSpPr/>
          <p:nvPr/>
        </p:nvSpPr>
        <p:spPr>
          <a:xfrm>
            <a:off x="11510467"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548640" y="585216"/>
            <a:ext cx="11057839" cy="749808"/>
          </a:xfrm>
          <a:prstGeom prst="rect">
            <a:avLst/>
          </a:prstGeom>
          <a:noFill/>
        </p:spPr>
        <p:txBody>
          <a:bodyPr wrap="square" lIns="45720" tIns="27432" rIns="45720" bIns="27432" anchor="ctr">
            <a:noAutofit/>
          </a:bodyPr>
          <a:lstStyle/>
          <a:p>
            <a:pPr algn="l">
              <a:lnSpc>
                <a:spcPct val="105000"/>
              </a:lnSpc>
            </a:pPr>
            <a:r>
              <a:rPr lang="es-ES" sz="3200" b="1" i="0">
                <a:solidFill>
                  <a:srgbClr val="1B2A4A"/>
                </a:solidFill>
                <a:latin typeface="Calibri"/>
              </a:rPr>
              <a:t>Variables del modelo de simulación</a:t>
            </a:r>
          </a:p>
        </p:txBody>
      </p:sp>
      <p:sp>
        <p:nvSpPr>
          <p:cNvPr id="11" name="Rectangle 10"/>
          <p:cNvSpPr/>
          <p:nvPr/>
        </p:nvSpPr>
        <p:spPr>
          <a:xfrm>
            <a:off x="566928" y="1371600"/>
            <a:ext cx="1051560" cy="50292"/>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graphicFrame>
        <p:nvGraphicFramePr>
          <p:cNvPr id="12" name="Table 11"/>
          <p:cNvGraphicFramePr>
            <a:graphicFrameLocks noGrp="1"/>
          </p:cNvGraphicFramePr>
          <p:nvPr/>
        </p:nvGraphicFramePr>
        <p:xfrm>
          <a:off x="566928" y="1659636"/>
          <a:ext cx="11057838" cy="3593592"/>
        </p:xfrm>
        <a:graphic>
          <a:graphicData uri="http://schemas.openxmlformats.org/drawingml/2006/table">
            <a:tbl>
              <a:tblPr>
                <a:tableStyleId>{5C22544A-7EE6-4342-B048-85BDC9FD1C3A}</a:tableStyleId>
              </a:tblPr>
              <a:tblGrid>
                <a:gridCol w="3239165">
                  <a:extLst>
                    <a:ext uri="{9D8B030D-6E8A-4147-A177-3AD203B41FA5}">
                      <a16:colId xmlns:a16="http://schemas.microsoft.com/office/drawing/2014/main" val="20000"/>
                    </a:ext>
                  </a:extLst>
                </a:gridCol>
                <a:gridCol w="5584767">
                  <a:extLst>
                    <a:ext uri="{9D8B030D-6E8A-4147-A177-3AD203B41FA5}">
                      <a16:colId xmlns:a16="http://schemas.microsoft.com/office/drawing/2014/main" val="20001"/>
                    </a:ext>
                  </a:extLst>
                </a:gridCol>
                <a:gridCol w="2233906">
                  <a:extLst>
                    <a:ext uri="{9D8B030D-6E8A-4147-A177-3AD203B41FA5}">
                      <a16:colId xmlns:a16="http://schemas.microsoft.com/office/drawing/2014/main" val="20002"/>
                    </a:ext>
                  </a:extLst>
                </a:gridCol>
              </a:tblGrid>
              <a:tr h="409956">
                <a:tc>
                  <a:txBody>
                    <a:bodyPr/>
                    <a:lstStyle/>
                    <a:p>
                      <a:pPr algn="l"/>
                      <a:r>
                        <a:rPr lang="es-ES" sz="1600" b="1" i="0">
                          <a:solidFill>
                            <a:srgbClr val="FFFFFF"/>
                          </a:solidFill>
                          <a:latin typeface="Calibri"/>
                        </a:rPr>
                        <a:t>Variable</a:t>
                      </a:r>
                    </a:p>
                  </a:txBody>
                  <a:tcPr marL="73152" marR="73152" marT="27432" marB="27432" anchor="ctr">
                    <a:solidFill>
                      <a:srgbClr val="1B2A4A"/>
                    </a:solidFill>
                  </a:tcPr>
                </a:tc>
                <a:tc>
                  <a:txBody>
                    <a:bodyPr/>
                    <a:lstStyle/>
                    <a:p>
                      <a:pPr algn="ctr"/>
                      <a:r>
                        <a:rPr lang="es-ES" sz="1600" b="1" i="0">
                          <a:solidFill>
                            <a:srgbClr val="FFFFFF"/>
                          </a:solidFill>
                          <a:latin typeface="Calibri"/>
                        </a:rPr>
                        <a:t>Indicador</a:t>
                      </a:r>
                    </a:p>
                  </a:txBody>
                  <a:tcPr marL="73152" marR="73152" marT="27432" marB="27432" anchor="ctr">
                    <a:solidFill>
                      <a:srgbClr val="1B2A4A"/>
                    </a:solidFill>
                  </a:tcPr>
                </a:tc>
                <a:tc>
                  <a:txBody>
                    <a:bodyPr/>
                    <a:lstStyle/>
                    <a:p>
                      <a:pPr algn="ctr"/>
                      <a:r>
                        <a:rPr lang="es-ES" sz="1600" b="1" i="0">
                          <a:solidFill>
                            <a:srgbClr val="FFFFFF"/>
                          </a:solidFill>
                          <a:latin typeface="Calibri"/>
                        </a:rPr>
                        <a:t>Instrumento</a:t>
                      </a:r>
                    </a:p>
                  </a:txBody>
                  <a:tcPr marL="73152" marR="73152" marT="27432" marB="27432" anchor="ctr">
                    <a:solidFill>
                      <a:srgbClr val="1B2A4A"/>
                    </a:solidFill>
                  </a:tcPr>
                </a:tc>
                <a:extLst>
                  <a:ext uri="{0D108BD9-81ED-4DB2-BD59-A6C34878D82A}">
                    <a16:rowId xmlns:a16="http://schemas.microsoft.com/office/drawing/2014/main" val="10000"/>
                  </a:ext>
                </a:extLst>
              </a:tr>
              <a:tr h="566928">
                <a:tc>
                  <a:txBody>
                    <a:bodyPr/>
                    <a:lstStyle/>
                    <a:p>
                      <a:pPr algn="l"/>
                      <a:r>
                        <a:rPr lang="es-ES" sz="1600" b="1" i="0">
                          <a:solidFill>
                            <a:srgbClr val="1F2937"/>
                          </a:solidFill>
                          <a:latin typeface="Calibri"/>
                        </a:rPr>
                        <a:t>Atributos del artefacto</a:t>
                      </a:r>
                    </a:p>
                  </a:txBody>
                  <a:tcPr marL="73152" marR="73152" marT="27432" marB="27432" anchor="ctr">
                    <a:solidFill>
                      <a:srgbClr val="FFFFFF"/>
                    </a:solidFill>
                  </a:tcPr>
                </a:tc>
                <a:tc>
                  <a:txBody>
                    <a:bodyPr/>
                    <a:lstStyle/>
                    <a:p>
                      <a:pPr algn="ctr"/>
                      <a:r>
                        <a:rPr lang="es-ES" sz="1600" b="0" i="0">
                          <a:solidFill>
                            <a:srgbClr val="1F2937"/>
                          </a:solidFill>
                          <a:latin typeface="Calibri"/>
                        </a:rPr>
                        <a:t>Etapas con módulo y en la memoria; fases; formatos</a:t>
                      </a:r>
                    </a:p>
                  </a:txBody>
                  <a:tcPr marL="73152" marR="73152" marT="27432" marB="27432" anchor="ctr">
                    <a:solidFill>
                      <a:srgbClr val="FFFFFF"/>
                    </a:solidFill>
                  </a:tcPr>
                </a:tc>
                <a:tc>
                  <a:txBody>
                    <a:bodyPr/>
                    <a:lstStyle/>
                    <a:p>
                      <a:pPr algn="ctr"/>
                      <a:r>
                        <a:rPr lang="es-ES" sz="1600" b="0" i="0">
                          <a:solidFill>
                            <a:srgbClr val="1F2937"/>
                          </a:solidFill>
                          <a:latin typeface="Calibri"/>
                        </a:rPr>
                        <a:t>Inventario y pruebas</a:t>
                      </a:r>
                    </a:p>
                  </a:txBody>
                  <a:tcPr marL="73152" marR="73152" marT="27432" marB="27432" anchor="ctr">
                    <a:solidFill>
                      <a:srgbClr val="FFFFFF"/>
                    </a:solidFill>
                  </a:tcPr>
                </a:tc>
                <a:extLst>
                  <a:ext uri="{0D108BD9-81ED-4DB2-BD59-A6C34878D82A}">
                    <a16:rowId xmlns:a16="http://schemas.microsoft.com/office/drawing/2014/main" val="10001"/>
                  </a:ext>
                </a:extLst>
              </a:tr>
              <a:tr h="409956">
                <a:tc>
                  <a:txBody>
                    <a:bodyPr/>
                    <a:lstStyle/>
                    <a:p>
                      <a:pPr algn="l"/>
                      <a:r>
                        <a:rPr lang="es-ES" sz="1600" b="1" i="0">
                          <a:solidFill>
                            <a:srgbClr val="1F2937"/>
                          </a:solidFill>
                          <a:latin typeface="Calibri"/>
                        </a:rPr>
                        <a:t>Independiente: modelo</a:t>
                      </a:r>
                    </a:p>
                  </a:txBody>
                  <a:tcPr marL="73152" marR="73152" marT="27432" marB="27432" anchor="ctr">
                    <a:solidFill>
                      <a:srgbClr val="F6F8FC"/>
                    </a:solidFill>
                  </a:tcPr>
                </a:tc>
                <a:tc>
                  <a:txBody>
                    <a:bodyPr/>
                    <a:lstStyle/>
                    <a:p>
                      <a:pPr algn="ctr"/>
                      <a:r>
                        <a:rPr lang="es-ES" sz="1600" b="0" i="0">
                          <a:solidFill>
                            <a:srgbClr val="1F2937"/>
                          </a:solidFill>
                          <a:latin typeface="Calibri"/>
                        </a:rPr>
                        <a:t>Dominio; E, ν, t; cargas y restricciones</a:t>
                      </a:r>
                    </a:p>
                  </a:txBody>
                  <a:tcPr marL="73152" marR="73152" marT="27432" marB="27432" anchor="ctr">
                    <a:solidFill>
                      <a:srgbClr val="F6F8FC"/>
                    </a:solidFill>
                  </a:tcPr>
                </a:tc>
                <a:tc>
                  <a:txBody>
                    <a:bodyPr/>
                    <a:lstStyle/>
                    <a:p>
                      <a:pPr algn="ctr"/>
                      <a:r>
                        <a:rPr lang="es-ES" sz="1600" b="0" i="0">
                          <a:solidFill>
                            <a:srgbClr val="1F2937"/>
                          </a:solidFill>
                          <a:latin typeface="Calibri"/>
                        </a:rPr>
                        <a:t>Guion del caso</a:t>
                      </a:r>
                    </a:p>
                  </a:txBody>
                  <a:tcPr marL="73152" marR="73152" marT="27432" marB="27432" anchor="ctr">
                    <a:solidFill>
                      <a:srgbClr val="F6F8FC"/>
                    </a:solidFill>
                  </a:tcPr>
                </a:tc>
                <a:extLst>
                  <a:ext uri="{0D108BD9-81ED-4DB2-BD59-A6C34878D82A}">
                    <a16:rowId xmlns:a16="http://schemas.microsoft.com/office/drawing/2014/main" val="10002"/>
                  </a:ext>
                </a:extLst>
              </a:tr>
              <a:tr h="409956">
                <a:tc>
                  <a:txBody>
                    <a:bodyPr/>
                    <a:lstStyle/>
                    <a:p>
                      <a:pPr algn="l"/>
                      <a:r>
                        <a:rPr lang="es-ES" sz="1600" b="1" i="0">
                          <a:solidFill>
                            <a:srgbClr val="1F2937"/>
                          </a:solidFill>
                          <a:latin typeface="Calibri"/>
                        </a:rPr>
                        <a:t>Independiente: discretización</a:t>
                      </a:r>
                    </a:p>
                  </a:txBody>
                  <a:tcPr marL="73152" marR="73152" marT="27432" marB="27432" anchor="ctr">
                    <a:solidFill>
                      <a:srgbClr val="FFFFFF"/>
                    </a:solidFill>
                  </a:tcPr>
                </a:tc>
                <a:tc>
                  <a:txBody>
                    <a:bodyPr/>
                    <a:lstStyle/>
                    <a:p>
                      <a:pPr algn="ctr"/>
                      <a:r>
                        <a:rPr lang="es-ES" sz="1600" b="0" i="0">
                          <a:solidFill>
                            <a:srgbClr val="1F2937"/>
                          </a:solidFill>
                          <a:latin typeface="Calibri"/>
                        </a:rPr>
                        <a:t>Q4 o Q9; h o N×N; GDL</a:t>
                      </a:r>
                    </a:p>
                  </a:txBody>
                  <a:tcPr marL="73152" marR="73152" marT="27432" marB="27432" anchor="ctr">
                    <a:solidFill>
                      <a:srgbClr val="FFFFFF"/>
                    </a:solidFill>
                  </a:tcPr>
                </a:tc>
                <a:tc>
                  <a:txBody>
                    <a:bodyPr/>
                    <a:lstStyle/>
                    <a:p>
                      <a:pPr algn="ctr"/>
                      <a:r>
                        <a:rPr lang="es-ES" sz="1600" b="0" i="0">
                          <a:solidFill>
                            <a:srgbClr val="1F2937"/>
                          </a:solidFill>
                          <a:latin typeface="Calibri"/>
                        </a:rPr>
                        <a:t>Guion del caso</a:t>
                      </a:r>
                    </a:p>
                  </a:txBody>
                  <a:tcPr marL="73152" marR="73152" marT="27432" marB="27432" anchor="ctr">
                    <a:solidFill>
                      <a:srgbClr val="FFFFFF"/>
                    </a:solidFill>
                  </a:tcPr>
                </a:tc>
                <a:extLst>
                  <a:ext uri="{0D108BD9-81ED-4DB2-BD59-A6C34878D82A}">
                    <a16:rowId xmlns:a16="http://schemas.microsoft.com/office/drawing/2014/main" val="10003"/>
                  </a:ext>
                </a:extLst>
              </a:tr>
              <a:tr h="409956">
                <a:tc>
                  <a:txBody>
                    <a:bodyPr/>
                    <a:lstStyle/>
                    <a:p>
                      <a:pPr algn="l"/>
                      <a:r>
                        <a:rPr lang="es-ES" sz="1600" b="1" i="0">
                          <a:solidFill>
                            <a:srgbClr val="1F2937"/>
                          </a:solidFill>
                          <a:latin typeface="Calibri"/>
                        </a:rPr>
                        <a:t>Dependiente: respuesta</a:t>
                      </a:r>
                    </a:p>
                  </a:txBody>
                  <a:tcPr marL="73152" marR="73152" marT="27432" marB="27432" anchor="ctr">
                    <a:solidFill>
                      <a:srgbClr val="F6F8FC"/>
                    </a:solidFill>
                  </a:tcPr>
                </a:tc>
                <a:tc>
                  <a:txBody>
                    <a:bodyPr/>
                    <a:lstStyle/>
                    <a:p>
                      <a:pPr algn="ctr"/>
                      <a:r>
                        <a:rPr lang="es-ES" sz="1600" b="0" i="0">
                          <a:solidFill>
                            <a:srgbClr val="1F2937"/>
                          </a:solidFill>
                          <a:latin typeface="Calibri"/>
                        </a:rPr>
                        <a:t>σₓ, σᵧ, τₓᵧ, σVM; u, v</a:t>
                      </a:r>
                    </a:p>
                  </a:txBody>
                  <a:tcPr marL="73152" marR="73152" marT="27432" marB="27432" anchor="ctr">
                    <a:solidFill>
                      <a:srgbClr val="F6F8FC"/>
                    </a:solidFill>
                  </a:tcPr>
                </a:tc>
                <a:tc>
                  <a:txBody>
                    <a:bodyPr/>
                    <a:lstStyle/>
                    <a:p>
                      <a:pPr algn="ctr"/>
                      <a:r>
                        <a:rPr lang="es-ES" sz="1600" b="0" i="0">
                          <a:solidFill>
                            <a:srgbClr val="1F2937"/>
                          </a:solidFill>
                          <a:latin typeface="Calibri"/>
                        </a:rPr>
                        <a:t>Solucionador MEF</a:t>
                      </a:r>
                    </a:p>
                  </a:txBody>
                  <a:tcPr marL="73152" marR="73152" marT="27432" marB="27432" anchor="ctr">
                    <a:solidFill>
                      <a:srgbClr val="F6F8FC"/>
                    </a:solidFill>
                  </a:tcPr>
                </a:tc>
                <a:extLst>
                  <a:ext uri="{0D108BD9-81ED-4DB2-BD59-A6C34878D82A}">
                    <a16:rowId xmlns:a16="http://schemas.microsoft.com/office/drawing/2014/main" val="10004"/>
                  </a:ext>
                </a:extLst>
              </a:tr>
              <a:tr h="409956">
                <a:tc>
                  <a:txBody>
                    <a:bodyPr/>
                    <a:lstStyle/>
                    <a:p>
                      <a:pPr algn="l"/>
                      <a:r>
                        <a:rPr lang="es-ES" sz="1600" b="1" i="0">
                          <a:solidFill>
                            <a:srgbClr val="1F2937"/>
                          </a:solidFill>
                          <a:latin typeface="Calibri"/>
                        </a:rPr>
                        <a:t>Dependiente: exactitud</a:t>
                      </a:r>
                    </a:p>
                  </a:txBody>
                  <a:tcPr marL="73152" marR="73152" marT="27432" marB="27432" anchor="ctr">
                    <a:solidFill>
                      <a:srgbClr val="FFFFFF"/>
                    </a:solidFill>
                  </a:tcPr>
                </a:tc>
                <a:tc>
                  <a:txBody>
                    <a:bodyPr/>
                    <a:lstStyle/>
                    <a:p>
                      <a:pPr algn="ctr"/>
                      <a:r>
                        <a:rPr lang="es-ES" sz="1600" b="0" i="0">
                          <a:solidFill>
                            <a:srgbClr val="1F2937"/>
                          </a:solidFill>
                          <a:latin typeface="Calibri"/>
                        </a:rPr>
                        <a:t>Orden p; L², H¹ y σ*; error %; equilibrio</a:t>
                      </a:r>
                    </a:p>
                  </a:txBody>
                  <a:tcPr marL="73152" marR="73152" marT="27432" marB="27432" anchor="ctr">
                    <a:solidFill>
                      <a:srgbClr val="FFFFFF"/>
                    </a:solidFill>
                  </a:tcPr>
                </a:tc>
                <a:tc>
                  <a:txBody>
                    <a:bodyPr/>
                    <a:lstStyle/>
                    <a:p>
                      <a:pPr algn="ctr"/>
                      <a:r>
                        <a:rPr lang="es-ES" sz="1600" b="0" i="0">
                          <a:solidFill>
                            <a:srgbClr val="1F2937"/>
                          </a:solidFill>
                          <a:latin typeface="Calibri"/>
                        </a:rPr>
                        <a:t>Guiones de V&amp;V</a:t>
                      </a:r>
                    </a:p>
                  </a:txBody>
                  <a:tcPr marL="73152" marR="73152" marT="27432" marB="27432" anchor="ctr">
                    <a:solidFill>
                      <a:srgbClr val="FFFFFF"/>
                    </a:solidFill>
                  </a:tcPr>
                </a:tc>
                <a:extLst>
                  <a:ext uri="{0D108BD9-81ED-4DB2-BD59-A6C34878D82A}">
                    <a16:rowId xmlns:a16="http://schemas.microsoft.com/office/drawing/2014/main" val="10005"/>
                  </a:ext>
                </a:extLst>
              </a:tr>
              <a:tr h="566928">
                <a:tc>
                  <a:txBody>
                    <a:bodyPr/>
                    <a:lstStyle/>
                    <a:p>
                      <a:pPr algn="l"/>
                      <a:r>
                        <a:rPr lang="es-ES" sz="1600" b="1" i="0">
                          <a:solidFill>
                            <a:srgbClr val="1F2937"/>
                          </a:solidFill>
                          <a:latin typeface="Calibri"/>
                        </a:rPr>
                        <a:t>Controladas</a:t>
                      </a:r>
                    </a:p>
                  </a:txBody>
                  <a:tcPr marL="73152" marR="73152" marT="27432" marB="27432" anchor="ctr">
                    <a:solidFill>
                      <a:srgbClr val="F6F8FC"/>
                    </a:solidFill>
                  </a:tcPr>
                </a:tc>
                <a:tc>
                  <a:txBody>
                    <a:bodyPr/>
                    <a:lstStyle/>
                    <a:p>
                      <a:pPr algn="ctr"/>
                      <a:r>
                        <a:rPr lang="es-ES" sz="1600" b="0" i="0">
                          <a:solidFill>
                            <a:srgbClr val="1F2937"/>
                          </a:solidFill>
                          <a:latin typeface="Calibri"/>
                        </a:rPr>
                        <a:t>Tensión o deformación plana; 2×2, 3×3</a:t>
                      </a:r>
                    </a:p>
                  </a:txBody>
                  <a:tcPr marL="73152" marR="73152" marT="27432" marB="27432" anchor="ctr">
                    <a:solidFill>
                      <a:srgbClr val="F6F8FC"/>
                    </a:solidFill>
                  </a:tcPr>
                </a:tc>
                <a:tc>
                  <a:txBody>
                    <a:bodyPr/>
                    <a:lstStyle/>
                    <a:p>
                      <a:pPr algn="ctr"/>
                      <a:r>
                        <a:rPr lang="es-ES" sz="1600" b="0" i="0">
                          <a:solidFill>
                            <a:srgbClr val="1F2937"/>
                          </a:solidFill>
                          <a:latin typeface="Calibri"/>
                        </a:rPr>
                        <a:t>Constantes del guion</a:t>
                      </a:r>
                    </a:p>
                  </a:txBody>
                  <a:tcPr marL="73152" marR="73152" marT="27432" marB="27432" anchor="ctr">
                    <a:solidFill>
                      <a:srgbClr val="F6F8FC"/>
                    </a:solidFill>
                  </a:tcPr>
                </a:tc>
                <a:extLst>
                  <a:ext uri="{0D108BD9-81ED-4DB2-BD59-A6C34878D82A}">
                    <a16:rowId xmlns:a16="http://schemas.microsoft.com/office/drawing/2014/main" val="10006"/>
                  </a:ext>
                </a:extLst>
              </a:tr>
              <a:tr h="409956">
                <a:tc>
                  <a:txBody>
                    <a:bodyPr/>
                    <a:lstStyle/>
                    <a:p>
                      <a:pPr algn="l"/>
                      <a:r>
                        <a:rPr lang="es-ES" sz="1600" b="1" i="0">
                          <a:solidFill>
                            <a:srgbClr val="1F2937"/>
                          </a:solidFill>
                          <a:latin typeface="Calibri"/>
                        </a:rPr>
                        <a:t>Observada: desempeño</a:t>
                      </a:r>
                    </a:p>
                  </a:txBody>
                  <a:tcPr marL="73152" marR="73152" marT="27432" marB="27432" anchor="ctr">
                    <a:solidFill>
                      <a:srgbClr val="FFFFFF"/>
                    </a:solidFill>
                  </a:tcPr>
                </a:tc>
                <a:tc>
                  <a:txBody>
                    <a:bodyPr/>
                    <a:lstStyle/>
                    <a:p>
                      <a:pPr algn="ctr"/>
                      <a:r>
                        <a:rPr lang="es-ES" sz="1600" b="0" i="0">
                          <a:solidFill>
                            <a:srgbClr val="1F2937"/>
                          </a:solidFill>
                          <a:latin typeface="Calibri"/>
                        </a:rPr>
                        <a:t>Tiempos; K densa frente a dispersa</a:t>
                      </a:r>
                    </a:p>
                  </a:txBody>
                  <a:tcPr marL="73152" marR="73152" marT="27432" marB="27432" anchor="ctr">
                    <a:solidFill>
                      <a:srgbClr val="FFFFFF"/>
                    </a:solidFill>
                  </a:tcPr>
                </a:tc>
                <a:tc>
                  <a:txBody>
                    <a:bodyPr/>
                    <a:lstStyle/>
                    <a:p>
                      <a:pPr algn="ctr"/>
                      <a:r>
                        <a:rPr lang="es-ES" sz="1600" b="0" i="0">
                          <a:solidFill>
                            <a:srgbClr val="1F2937"/>
                          </a:solidFill>
                          <a:latin typeface="Calibri"/>
                        </a:rPr>
                        <a:t>Guion de tiempos</a:t>
                      </a:r>
                    </a:p>
                  </a:txBody>
                  <a:tcPr marL="73152" marR="73152" marT="27432" marB="27432" anchor="ctr">
                    <a:solidFill>
                      <a:srgbClr val="FFFFFF"/>
                    </a:solidFill>
                  </a:tcPr>
                </a:tc>
                <a:extLst>
                  <a:ext uri="{0D108BD9-81ED-4DB2-BD59-A6C34878D82A}">
                    <a16:rowId xmlns:a16="http://schemas.microsoft.com/office/drawing/2014/main" val="10007"/>
                  </a:ext>
                </a:extLst>
              </a:tr>
            </a:tbl>
          </a:graphicData>
        </a:graphic>
      </p:graphicFrame>
      <p:sp>
        <p:nvSpPr>
          <p:cNvPr id="13" name="Rectangle 12"/>
          <p:cNvSpPr/>
          <p:nvPr/>
        </p:nvSpPr>
        <p:spPr>
          <a:xfrm>
            <a:off x="566928" y="2037587"/>
            <a:ext cx="11057839" cy="41148"/>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Rectangle 13"/>
          <p:cNvSpPr/>
          <p:nvPr/>
        </p:nvSpPr>
        <p:spPr>
          <a:xfrm>
            <a:off x="566928" y="5449824"/>
            <a:ext cx="11057839" cy="841248"/>
          </a:xfrm>
          <a:prstGeom prst="rect">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Rectangle 14"/>
          <p:cNvSpPr/>
          <p:nvPr/>
        </p:nvSpPr>
        <p:spPr>
          <a:xfrm>
            <a:off x="566928" y="5449824"/>
            <a:ext cx="77724" cy="841248"/>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795528" y="5449824"/>
            <a:ext cx="10737799" cy="841248"/>
          </a:xfrm>
          <a:prstGeom prst="rect">
            <a:avLst/>
          </a:prstGeom>
          <a:noFill/>
        </p:spPr>
        <p:txBody>
          <a:bodyPr wrap="square" lIns="45720" tIns="27432" rIns="45720" bIns="27432" anchor="ctr">
            <a:noAutofit/>
          </a:bodyPr>
          <a:lstStyle/>
          <a:p>
            <a:pPr algn="l">
              <a:lnSpc>
                <a:spcPct val="100000"/>
              </a:lnSpc>
            </a:pPr>
            <a:r>
              <a:rPr lang="es-ES" sz="2000" b="1" i="0">
                <a:solidFill>
                  <a:srgbClr val="1B2A4A"/>
                </a:solidFill>
                <a:latin typeface="Calibri"/>
              </a:rPr>
              <a:t>Las variables del problema científico se operacionalizan como atributos del artefacto, con indicadores contables</a:t>
            </a:r>
          </a:p>
        </p:txBody>
      </p:sp>
      <p:sp>
        <p:nvSpPr>
          <p:cNvPr id="17" name="Rectangle 16"/>
          <p:cNvSpPr/>
          <p:nvPr/>
        </p:nvSpPr>
        <p:spPr>
          <a:xfrm>
            <a:off x="566928" y="6364224"/>
            <a:ext cx="11057839" cy="7315"/>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566928" y="6437376"/>
            <a:ext cx="5029200" cy="292608"/>
          </a:xfrm>
          <a:prstGeom prst="rect">
            <a:avLst/>
          </a:prstGeom>
          <a:noFill/>
        </p:spPr>
        <p:txBody>
          <a:bodyPr wrap="square" lIns="45720" tIns="27432" rIns="45720" bIns="27432" anchor="ctr">
            <a:noAutofit/>
          </a:bodyPr>
          <a:lstStyle/>
          <a:p>
            <a:pPr algn="l">
              <a:lnSpc>
                <a:spcPct val="105000"/>
              </a:lnSpc>
            </a:pPr>
            <a:r>
              <a:rPr lang="es-ES" sz="1200" b="0" i="0">
                <a:solidFill>
                  <a:srgbClr val="5B6575"/>
                </a:solidFill>
                <a:latin typeface="Calibri"/>
              </a:rPr>
              <a:t>EduFEM · Defensa de tesis · Ingeniería Civil · UATF</a:t>
            </a:r>
          </a:p>
        </p:txBody>
      </p:sp>
      <p:sp>
        <p:nvSpPr>
          <p:cNvPr id="19" name="TextBox 18"/>
          <p:cNvSpPr txBox="1"/>
          <p:nvPr/>
        </p:nvSpPr>
        <p:spPr>
          <a:xfrm>
            <a:off x="4023360" y="6437376"/>
            <a:ext cx="5394960" cy="292608"/>
          </a:xfrm>
          <a:prstGeom prst="rect">
            <a:avLst/>
          </a:prstGeom>
          <a:noFill/>
        </p:spPr>
        <p:txBody>
          <a:bodyPr wrap="square" lIns="45720" tIns="27432" rIns="45720" bIns="27432" anchor="ctr">
            <a:noAutofit/>
          </a:bodyPr>
          <a:lstStyle/>
          <a:p>
            <a:pPr algn="ctr">
              <a:lnSpc>
                <a:spcPct val="105000"/>
              </a:lnSpc>
            </a:pPr>
            <a:r>
              <a:rPr lang="es-ES" sz="1200" b="0" i="0">
                <a:solidFill>
                  <a:srgbClr val="5B6575"/>
                </a:solidFill>
                <a:latin typeface="Calibri"/>
              </a:rPr>
              <a:t>Tesis: §2.1.2, Tabla 2.1</a:t>
            </a:r>
          </a:p>
        </p:txBody>
      </p:sp>
      <p:sp>
        <p:nvSpPr>
          <p:cNvPr id="20" name="TextBox 19"/>
          <p:cNvSpPr txBox="1"/>
          <p:nvPr/>
        </p:nvSpPr>
        <p:spPr>
          <a:xfrm>
            <a:off x="10527487" y="6437376"/>
            <a:ext cx="1097280" cy="292608"/>
          </a:xfrm>
          <a:prstGeom prst="rect">
            <a:avLst/>
          </a:prstGeom>
          <a:noFill/>
        </p:spPr>
        <p:txBody>
          <a:bodyPr wrap="none" lIns="45720" tIns="18288" rIns="45720" bIns="18288">
            <a:spAutoFit/>
          </a:bodyPr>
          <a:lstStyle/>
          <a:p>
            <a:pPr algn="r"/>
            <a:fld id="{B6F15528-21DE-4FAA-801E-634DDDAF4B2B}" type="slidenum">
              <a:rPr lang="es-ES" sz="1200" dirty="0">
                <a:solidFill>
                  <a:srgbClr val="5B6575"/>
                </a:solidFill>
                <a:latin typeface="Calibri"/>
              </a:rPr>
              <a:t>14</a:t>
            </a:fld>
            <a:endParaRPr lang="es-ES" sz="1200" dirty="0">
              <a:solidFill>
                <a:srgbClr val="5B6575"/>
              </a:solidFill>
              <a:latin typeface="Calibri"/>
            </a:endParaRPr>
          </a:p>
        </p:txBody>
      </p:sp>
      <p:pic>
        <p:nvPicPr>
          <p:cNvPr id="21" name="s14">
            <a:hlinkClick r:id="" action="ppaction://media"/>
            <a:extLst>
              <a:ext uri="{FF2B5EF4-FFF2-40B4-BE49-F238E27FC236}">
                <a16:creationId xmlns:a16="http://schemas.microsoft.com/office/drawing/2014/main" id="{43F6DB75-1D8D-E138-9D55-56317D435ECA}"/>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254000" y="254000"/>
            <a:ext cx="508000" cy="508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68408"/>
    </mc:Choice>
    <mc:Fallback>
      <p:transition spd="slow" advTm="68408"/>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21"/>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21"/>
                </p:tgtEl>
              </p:cMediaNode>
            </p:audio>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566928" y="361188"/>
            <a:ext cx="50292" cy="173736"/>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TextBox 2"/>
          <p:cNvSpPr txBox="1"/>
          <p:nvPr/>
        </p:nvSpPr>
        <p:spPr>
          <a:xfrm>
            <a:off x="704088" y="310896"/>
            <a:ext cx="6766560" cy="274320"/>
          </a:xfrm>
          <a:prstGeom prst="rect">
            <a:avLst/>
          </a:prstGeom>
          <a:noFill/>
        </p:spPr>
        <p:txBody>
          <a:bodyPr wrap="square" lIns="45720" tIns="27432" rIns="45720" bIns="27432" anchor="ctr">
            <a:noAutofit/>
          </a:bodyPr>
          <a:lstStyle/>
          <a:p>
            <a:pPr algn="l">
              <a:lnSpc>
                <a:spcPct val="105000"/>
              </a:lnSpc>
            </a:pPr>
            <a:r>
              <a:rPr lang="es-ES" sz="1200" b="1" i="0" spc="80">
                <a:solidFill>
                  <a:srgbClr val="F28C28"/>
                </a:solidFill>
                <a:latin typeface="Calibri"/>
              </a:rPr>
              <a:t>03   DISEÑO Y DESARROLLO DEL MODELO</a:t>
            </a:r>
          </a:p>
        </p:txBody>
      </p:sp>
      <p:sp>
        <p:nvSpPr>
          <p:cNvPr id="4" name="Oval 3"/>
          <p:cNvSpPr/>
          <p:nvPr/>
        </p:nvSpPr>
        <p:spPr>
          <a:xfrm>
            <a:off x="10413187" y="388620"/>
            <a:ext cx="114300" cy="1143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Oval 4"/>
          <p:cNvSpPr/>
          <p:nvPr/>
        </p:nvSpPr>
        <p:spPr>
          <a:xfrm>
            <a:off x="10632643" y="388620"/>
            <a:ext cx="114300" cy="1143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Oval 5"/>
          <p:cNvSpPr/>
          <p:nvPr/>
        </p:nvSpPr>
        <p:spPr>
          <a:xfrm>
            <a:off x="10820095" y="356616"/>
            <a:ext cx="178308" cy="178308"/>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Oval 6"/>
          <p:cNvSpPr/>
          <p:nvPr/>
        </p:nvSpPr>
        <p:spPr>
          <a:xfrm>
            <a:off x="11071555"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Oval 7"/>
          <p:cNvSpPr/>
          <p:nvPr/>
        </p:nvSpPr>
        <p:spPr>
          <a:xfrm>
            <a:off x="11291011"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Oval 8"/>
          <p:cNvSpPr/>
          <p:nvPr/>
        </p:nvSpPr>
        <p:spPr>
          <a:xfrm>
            <a:off x="11510467"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548640" y="585216"/>
            <a:ext cx="11057839" cy="749808"/>
          </a:xfrm>
          <a:prstGeom prst="rect">
            <a:avLst/>
          </a:prstGeom>
          <a:noFill/>
        </p:spPr>
        <p:txBody>
          <a:bodyPr wrap="square" lIns="45720" tIns="27432" rIns="45720" bIns="27432" anchor="ctr">
            <a:noAutofit/>
          </a:bodyPr>
          <a:lstStyle/>
          <a:p>
            <a:pPr algn="l">
              <a:lnSpc>
                <a:spcPct val="105000"/>
              </a:lnSpc>
            </a:pPr>
            <a:r>
              <a:rPr lang="es-ES" sz="3200" b="1" i="0">
                <a:solidFill>
                  <a:srgbClr val="1B2A4A"/>
                </a:solidFill>
                <a:latin typeface="Calibri"/>
              </a:rPr>
              <a:t>Matriz de consistencia</a:t>
            </a:r>
          </a:p>
        </p:txBody>
      </p:sp>
      <p:sp>
        <p:nvSpPr>
          <p:cNvPr id="11" name="Rectangle 10"/>
          <p:cNvSpPr/>
          <p:nvPr/>
        </p:nvSpPr>
        <p:spPr>
          <a:xfrm>
            <a:off x="566928" y="1371600"/>
            <a:ext cx="1051560" cy="50292"/>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graphicFrame>
        <p:nvGraphicFramePr>
          <p:cNvPr id="12" name="Table 11"/>
          <p:cNvGraphicFramePr>
            <a:graphicFrameLocks noGrp="1"/>
          </p:cNvGraphicFramePr>
          <p:nvPr/>
        </p:nvGraphicFramePr>
        <p:xfrm>
          <a:off x="566928" y="1737360"/>
          <a:ext cx="11057837" cy="3438144"/>
        </p:xfrm>
        <a:graphic>
          <a:graphicData uri="http://schemas.openxmlformats.org/drawingml/2006/table">
            <a:tbl>
              <a:tblPr>
                <a:tableStyleId>{5C22544A-7EE6-4342-B048-85BDC9FD1C3A}</a:tableStyleId>
              </a:tblPr>
              <a:tblGrid>
                <a:gridCol w="1861220">
                  <a:extLst>
                    <a:ext uri="{9D8B030D-6E8A-4147-A177-3AD203B41FA5}">
                      <a16:colId xmlns:a16="http://schemas.microsoft.com/office/drawing/2014/main" val="20000"/>
                    </a:ext>
                  </a:extLst>
                </a:gridCol>
                <a:gridCol w="1204319">
                  <a:extLst>
                    <a:ext uri="{9D8B030D-6E8A-4147-A177-3AD203B41FA5}">
                      <a16:colId xmlns:a16="http://schemas.microsoft.com/office/drawing/2014/main" val="20001"/>
                    </a:ext>
                  </a:extLst>
                </a:gridCol>
                <a:gridCol w="3284506">
                  <a:extLst>
                    <a:ext uri="{9D8B030D-6E8A-4147-A177-3AD203B41FA5}">
                      <a16:colId xmlns:a16="http://schemas.microsoft.com/office/drawing/2014/main" val="20002"/>
                    </a:ext>
                  </a:extLst>
                </a:gridCol>
                <a:gridCol w="2737088">
                  <a:extLst>
                    <a:ext uri="{9D8B030D-6E8A-4147-A177-3AD203B41FA5}">
                      <a16:colId xmlns:a16="http://schemas.microsoft.com/office/drawing/2014/main" val="20003"/>
                    </a:ext>
                  </a:extLst>
                </a:gridCol>
                <a:gridCol w="1970704">
                  <a:extLst>
                    <a:ext uri="{9D8B030D-6E8A-4147-A177-3AD203B41FA5}">
                      <a16:colId xmlns:a16="http://schemas.microsoft.com/office/drawing/2014/main" val="20004"/>
                    </a:ext>
                  </a:extLst>
                </a:gridCol>
              </a:tblGrid>
              <a:tr h="390144">
                <a:tc>
                  <a:txBody>
                    <a:bodyPr/>
                    <a:lstStyle/>
                    <a:p>
                      <a:pPr algn="l"/>
                      <a:r>
                        <a:rPr lang="es-ES" sz="1700" b="1" i="0">
                          <a:solidFill>
                            <a:srgbClr val="FFFFFF"/>
                          </a:solidFill>
                          <a:latin typeface="Calibri"/>
                        </a:rPr>
                        <a:t>Objetivo</a:t>
                      </a:r>
                    </a:p>
                  </a:txBody>
                  <a:tcPr marL="73152" marR="73152" marT="27432" marB="27432" anchor="ctr">
                    <a:solidFill>
                      <a:srgbClr val="1B2A4A"/>
                    </a:solidFill>
                  </a:tcPr>
                </a:tc>
                <a:tc>
                  <a:txBody>
                    <a:bodyPr/>
                    <a:lstStyle/>
                    <a:p>
                      <a:pPr algn="ctr"/>
                      <a:r>
                        <a:rPr lang="es-ES" sz="1700" b="1" i="0">
                          <a:solidFill>
                            <a:srgbClr val="FFFFFF"/>
                          </a:solidFill>
                          <a:latin typeface="Calibri"/>
                        </a:rPr>
                        <a:t>PI</a:t>
                      </a:r>
                    </a:p>
                  </a:txBody>
                  <a:tcPr marL="73152" marR="73152" marT="27432" marB="27432" anchor="ctr">
                    <a:solidFill>
                      <a:srgbClr val="1B2A4A"/>
                    </a:solidFill>
                  </a:tcPr>
                </a:tc>
                <a:tc>
                  <a:txBody>
                    <a:bodyPr/>
                    <a:lstStyle/>
                    <a:p>
                      <a:pPr algn="ctr"/>
                      <a:r>
                        <a:rPr lang="es-ES" sz="1700" b="1" i="0">
                          <a:solidFill>
                            <a:srgbClr val="FFFFFF"/>
                          </a:solidFill>
                          <a:latin typeface="Calibri"/>
                        </a:rPr>
                        <a:t>Indicador</a:t>
                      </a:r>
                    </a:p>
                  </a:txBody>
                  <a:tcPr marL="73152" marR="73152" marT="27432" marB="27432" anchor="ctr">
                    <a:solidFill>
                      <a:srgbClr val="1B2A4A"/>
                    </a:solidFill>
                  </a:tcPr>
                </a:tc>
                <a:tc>
                  <a:txBody>
                    <a:bodyPr/>
                    <a:lstStyle/>
                    <a:p>
                      <a:pPr algn="ctr"/>
                      <a:r>
                        <a:rPr lang="es-ES" sz="1700" b="1" i="0">
                          <a:solidFill>
                            <a:srgbClr val="FFFFFF"/>
                          </a:solidFill>
                          <a:latin typeface="Calibri"/>
                        </a:rPr>
                        <a:t>Instrumento</a:t>
                      </a:r>
                    </a:p>
                  </a:txBody>
                  <a:tcPr marL="73152" marR="73152" marT="27432" marB="27432" anchor="ctr">
                    <a:solidFill>
                      <a:srgbClr val="1B2A4A"/>
                    </a:solidFill>
                  </a:tcPr>
                </a:tc>
                <a:tc>
                  <a:txBody>
                    <a:bodyPr/>
                    <a:lstStyle/>
                    <a:p>
                      <a:pPr algn="ctr"/>
                      <a:r>
                        <a:rPr lang="es-ES" sz="1700" b="1" i="0">
                          <a:solidFill>
                            <a:srgbClr val="FFFFFF"/>
                          </a:solidFill>
                          <a:latin typeface="Calibri"/>
                        </a:rPr>
                        <a:t>Evidencia</a:t>
                      </a:r>
                    </a:p>
                  </a:txBody>
                  <a:tcPr marL="73152" marR="73152" marT="27432" marB="27432" anchor="ctr">
                    <a:solidFill>
                      <a:srgbClr val="1B2A4A"/>
                    </a:solidFill>
                  </a:tcPr>
                </a:tc>
                <a:extLst>
                  <a:ext uri="{0D108BD9-81ED-4DB2-BD59-A6C34878D82A}">
                    <a16:rowId xmlns:a16="http://schemas.microsoft.com/office/drawing/2014/main" val="10000"/>
                  </a:ext>
                </a:extLst>
              </a:tr>
              <a:tr h="566928">
                <a:tc>
                  <a:txBody>
                    <a:bodyPr/>
                    <a:lstStyle/>
                    <a:p>
                      <a:pPr algn="l"/>
                      <a:r>
                        <a:rPr lang="es-ES" sz="1700" b="1" i="0">
                          <a:solidFill>
                            <a:srgbClr val="1F2937"/>
                          </a:solidFill>
                          <a:latin typeface="Calibri"/>
                        </a:rPr>
                        <a:t>OE1 Fundamentar</a:t>
                      </a:r>
                    </a:p>
                  </a:txBody>
                  <a:tcPr marL="73152" marR="73152" marT="27432" marB="27432" anchor="ctr">
                    <a:solidFill>
                      <a:srgbClr val="FFFFFF"/>
                    </a:solidFill>
                  </a:tcPr>
                </a:tc>
                <a:tc>
                  <a:txBody>
                    <a:bodyPr/>
                    <a:lstStyle/>
                    <a:p>
                      <a:pPr algn="ctr"/>
                      <a:r>
                        <a:rPr lang="es-ES" sz="1700" b="0" i="0">
                          <a:solidFill>
                            <a:srgbClr val="1F2937"/>
                          </a:solidFill>
                          <a:latin typeface="Calibri"/>
                        </a:rPr>
                        <a:t>PI-1 a PI-3</a:t>
                      </a:r>
                    </a:p>
                  </a:txBody>
                  <a:tcPr marL="73152" marR="73152" marT="27432" marB="27432" anchor="ctr">
                    <a:solidFill>
                      <a:srgbClr val="FFFFFF"/>
                    </a:solidFill>
                  </a:tcPr>
                </a:tc>
                <a:tc>
                  <a:txBody>
                    <a:bodyPr/>
                    <a:lstStyle/>
                    <a:p>
                      <a:pPr algn="ctr"/>
                      <a:r>
                        <a:rPr lang="es-ES" sz="1700" b="0" i="0">
                          <a:solidFill>
                            <a:srgbClr val="1F2937"/>
                          </a:solidFill>
                          <a:latin typeface="Calibri"/>
                        </a:rPr>
                        <a:t>Canal cubierto</a:t>
                      </a:r>
                    </a:p>
                  </a:txBody>
                  <a:tcPr marL="73152" marR="73152" marT="27432" marB="27432" anchor="ctr">
                    <a:solidFill>
                      <a:srgbClr val="FFFFFF"/>
                    </a:solidFill>
                  </a:tcPr>
                </a:tc>
                <a:tc>
                  <a:txBody>
                    <a:bodyPr/>
                    <a:lstStyle/>
                    <a:p>
                      <a:pPr algn="ctr"/>
                      <a:r>
                        <a:rPr lang="es-ES" sz="1700" b="0" i="0">
                          <a:solidFill>
                            <a:srgbClr val="1F2937"/>
                          </a:solidFill>
                          <a:latin typeface="Calibri"/>
                        </a:rPr>
                        <a:t>Revisión de la literatura</a:t>
                      </a:r>
                    </a:p>
                  </a:txBody>
                  <a:tcPr marL="73152" marR="73152" marT="27432" marB="27432" anchor="ctr">
                    <a:solidFill>
                      <a:srgbClr val="FFFFFF"/>
                    </a:solidFill>
                  </a:tcPr>
                </a:tc>
                <a:tc>
                  <a:txBody>
                    <a:bodyPr/>
                    <a:lstStyle/>
                    <a:p>
                      <a:pPr algn="ctr"/>
                      <a:r>
                        <a:rPr lang="es-ES" sz="1700" b="0" i="0">
                          <a:solidFill>
                            <a:srgbClr val="1F2937"/>
                          </a:solidFill>
                          <a:latin typeface="Calibri"/>
                        </a:rPr>
                        <a:t>Cap. 1</a:t>
                      </a:r>
                    </a:p>
                  </a:txBody>
                  <a:tcPr marL="73152" marR="73152" marT="27432" marB="27432" anchor="ctr">
                    <a:solidFill>
                      <a:srgbClr val="FFFFFF"/>
                    </a:solidFill>
                  </a:tcPr>
                </a:tc>
                <a:extLst>
                  <a:ext uri="{0D108BD9-81ED-4DB2-BD59-A6C34878D82A}">
                    <a16:rowId xmlns:a16="http://schemas.microsoft.com/office/drawing/2014/main" val="10001"/>
                  </a:ext>
                </a:extLst>
              </a:tr>
              <a:tr h="390144">
                <a:tc>
                  <a:txBody>
                    <a:bodyPr/>
                    <a:lstStyle/>
                    <a:p>
                      <a:pPr algn="l"/>
                      <a:r>
                        <a:rPr lang="es-ES" sz="1700" b="1" i="0">
                          <a:solidFill>
                            <a:srgbClr val="1F2937"/>
                          </a:solidFill>
                          <a:latin typeface="Calibri"/>
                        </a:rPr>
                        <a:t>OE2 Motor Q4/Q9</a:t>
                      </a:r>
                    </a:p>
                  </a:txBody>
                  <a:tcPr marL="73152" marR="73152" marT="27432" marB="27432" anchor="ctr">
                    <a:solidFill>
                      <a:srgbClr val="F6F8FC"/>
                    </a:solidFill>
                  </a:tcPr>
                </a:tc>
                <a:tc>
                  <a:txBody>
                    <a:bodyPr/>
                    <a:lstStyle/>
                    <a:p>
                      <a:pPr algn="ctr"/>
                      <a:r>
                        <a:rPr lang="es-ES" sz="1700" b="0" i="0">
                          <a:solidFill>
                            <a:srgbClr val="1F2937"/>
                          </a:solidFill>
                          <a:latin typeface="Calibri"/>
                        </a:rPr>
                        <a:t>PI-1</a:t>
                      </a:r>
                    </a:p>
                  </a:txBody>
                  <a:tcPr marL="73152" marR="73152" marT="27432" marB="27432" anchor="ctr">
                    <a:solidFill>
                      <a:srgbClr val="F6F8FC"/>
                    </a:solidFill>
                  </a:tcPr>
                </a:tc>
                <a:tc>
                  <a:txBody>
                    <a:bodyPr/>
                    <a:lstStyle/>
                    <a:p>
                      <a:pPr algn="ctr"/>
                      <a:r>
                        <a:rPr lang="es-ES" sz="1700" b="0" i="0">
                          <a:solidFill>
                            <a:srgbClr val="1F2937"/>
                          </a:solidFill>
                          <a:latin typeface="Calibri"/>
                        </a:rPr>
                        <a:t>L², H¹ y σ*</a:t>
                      </a:r>
                    </a:p>
                  </a:txBody>
                  <a:tcPr marL="73152" marR="73152" marT="27432" marB="27432" anchor="ctr">
                    <a:solidFill>
                      <a:srgbClr val="F6F8FC"/>
                    </a:solidFill>
                  </a:tcPr>
                </a:tc>
                <a:tc>
                  <a:txBody>
                    <a:bodyPr/>
                    <a:lstStyle/>
                    <a:p>
                      <a:pPr algn="ctr"/>
                      <a:r>
                        <a:rPr lang="es-ES" sz="1700" b="0" i="0">
                          <a:solidFill>
                            <a:srgbClr val="1F2937"/>
                          </a:solidFill>
                          <a:latin typeface="Calibri"/>
                        </a:rPr>
                        <a:t>NumPy/SciPy; regresión</a:t>
                      </a:r>
                    </a:p>
                  </a:txBody>
                  <a:tcPr marL="73152" marR="73152" marT="27432" marB="27432" anchor="ctr">
                    <a:solidFill>
                      <a:srgbClr val="F6F8FC"/>
                    </a:solidFill>
                  </a:tcPr>
                </a:tc>
                <a:tc>
                  <a:txBody>
                    <a:bodyPr/>
                    <a:lstStyle/>
                    <a:p>
                      <a:pPr algn="ctr"/>
                      <a:r>
                        <a:rPr lang="es-ES" sz="1700" b="0" i="0">
                          <a:solidFill>
                            <a:srgbClr val="1F2937"/>
                          </a:solidFill>
                          <a:latin typeface="Calibri"/>
                        </a:rPr>
                        <a:t>§2.2 · MMS</a:t>
                      </a:r>
                    </a:p>
                  </a:txBody>
                  <a:tcPr marL="73152" marR="73152" marT="27432" marB="27432" anchor="ctr">
                    <a:solidFill>
                      <a:srgbClr val="F6F8FC"/>
                    </a:solidFill>
                  </a:tcPr>
                </a:tc>
                <a:extLst>
                  <a:ext uri="{0D108BD9-81ED-4DB2-BD59-A6C34878D82A}">
                    <a16:rowId xmlns:a16="http://schemas.microsoft.com/office/drawing/2014/main" val="10002"/>
                  </a:ext>
                </a:extLst>
              </a:tr>
              <a:tr h="390144">
                <a:tc>
                  <a:txBody>
                    <a:bodyPr/>
                    <a:lstStyle/>
                    <a:p>
                      <a:pPr algn="l"/>
                      <a:r>
                        <a:rPr lang="es-ES" sz="1700" b="1" i="0">
                          <a:solidFill>
                            <a:srgbClr val="1F2937"/>
                          </a:solidFill>
                          <a:latin typeface="Calibri"/>
                        </a:rPr>
                        <a:t>OE3 Interfaz</a:t>
                      </a:r>
                    </a:p>
                  </a:txBody>
                  <a:tcPr marL="73152" marR="73152" marT="27432" marB="27432" anchor="ctr">
                    <a:solidFill>
                      <a:srgbClr val="FFFFFF"/>
                    </a:solidFill>
                  </a:tcPr>
                </a:tc>
                <a:tc>
                  <a:txBody>
                    <a:bodyPr/>
                    <a:lstStyle/>
                    <a:p>
                      <a:pPr algn="ctr"/>
                      <a:r>
                        <a:rPr lang="es-ES" sz="1700" b="0" i="0">
                          <a:solidFill>
                            <a:srgbClr val="1F2937"/>
                          </a:solidFill>
                          <a:latin typeface="Calibri"/>
                        </a:rPr>
                        <a:t>PI-2</a:t>
                      </a:r>
                    </a:p>
                  </a:txBody>
                  <a:tcPr marL="73152" marR="73152" marT="27432" marB="27432" anchor="ctr">
                    <a:solidFill>
                      <a:srgbClr val="FFFFFF"/>
                    </a:solidFill>
                  </a:tcPr>
                </a:tc>
                <a:tc>
                  <a:txBody>
                    <a:bodyPr/>
                    <a:lstStyle/>
                    <a:p>
                      <a:pPr algn="ctr"/>
                      <a:r>
                        <a:rPr lang="es-ES" sz="1700" b="0" i="0">
                          <a:solidFill>
                            <a:srgbClr val="1F2937"/>
                          </a:solidFill>
                          <a:latin typeface="Calibri"/>
                        </a:rPr>
                        <a:t>Fases sobre un lienzo</a:t>
                      </a:r>
                    </a:p>
                  </a:txBody>
                  <a:tcPr marL="73152" marR="73152" marT="27432" marB="27432" anchor="ctr">
                    <a:solidFill>
                      <a:srgbClr val="FFFFFF"/>
                    </a:solidFill>
                  </a:tcPr>
                </a:tc>
                <a:tc>
                  <a:txBody>
                    <a:bodyPr/>
                    <a:lstStyle/>
                    <a:p>
                      <a:pPr algn="ctr"/>
                      <a:r>
                        <a:rPr lang="es-ES" sz="1700" b="0" i="0">
                          <a:solidFill>
                            <a:srgbClr val="1F2937"/>
                          </a:solidFill>
                          <a:latin typeface="Calibri"/>
                        </a:rPr>
                        <a:t>Lienzo único compartido</a:t>
                      </a:r>
                    </a:p>
                  </a:txBody>
                  <a:tcPr marL="73152" marR="73152" marT="27432" marB="27432" anchor="ctr">
                    <a:solidFill>
                      <a:srgbClr val="FFFFFF"/>
                    </a:solidFill>
                  </a:tcPr>
                </a:tc>
                <a:tc>
                  <a:txBody>
                    <a:bodyPr/>
                    <a:lstStyle/>
                    <a:p>
                      <a:pPr algn="ctr"/>
                      <a:r>
                        <a:rPr lang="es-ES" sz="1700" b="0" i="0">
                          <a:solidFill>
                            <a:srgbClr val="1F2937"/>
                          </a:solidFill>
                          <a:latin typeface="Calibri"/>
                        </a:rPr>
                        <a:t>§2.2 · Tabla 3.6</a:t>
                      </a:r>
                    </a:p>
                  </a:txBody>
                  <a:tcPr marL="73152" marR="73152" marT="27432" marB="27432" anchor="ctr">
                    <a:solidFill>
                      <a:srgbClr val="FFFFFF"/>
                    </a:solidFill>
                  </a:tcPr>
                </a:tc>
                <a:extLst>
                  <a:ext uri="{0D108BD9-81ED-4DB2-BD59-A6C34878D82A}">
                    <a16:rowId xmlns:a16="http://schemas.microsoft.com/office/drawing/2014/main" val="10003"/>
                  </a:ext>
                </a:extLst>
              </a:tr>
              <a:tr h="566928">
                <a:tc>
                  <a:txBody>
                    <a:bodyPr/>
                    <a:lstStyle/>
                    <a:p>
                      <a:pPr algn="l"/>
                      <a:r>
                        <a:rPr lang="es-ES" sz="1700" b="1" i="0">
                          <a:solidFill>
                            <a:srgbClr val="1F2937"/>
                          </a:solidFill>
                          <a:latin typeface="Calibri"/>
                        </a:rPr>
                        <a:t>OE4 Módulos</a:t>
                      </a:r>
                    </a:p>
                  </a:txBody>
                  <a:tcPr marL="73152" marR="73152" marT="27432" marB="27432" anchor="ctr">
                    <a:solidFill>
                      <a:srgbClr val="F6F8FC"/>
                    </a:solidFill>
                  </a:tcPr>
                </a:tc>
                <a:tc>
                  <a:txBody>
                    <a:bodyPr/>
                    <a:lstStyle/>
                    <a:p>
                      <a:pPr algn="ctr"/>
                      <a:r>
                        <a:rPr lang="es-ES" sz="1700" b="0" i="0">
                          <a:solidFill>
                            <a:srgbClr val="1F2937"/>
                          </a:solidFill>
                          <a:latin typeface="Calibri"/>
                        </a:rPr>
                        <a:t>PI-2</a:t>
                      </a:r>
                    </a:p>
                  </a:txBody>
                  <a:tcPr marL="73152" marR="73152" marT="27432" marB="27432" anchor="ctr">
                    <a:solidFill>
                      <a:srgbClr val="F6F8FC"/>
                    </a:solidFill>
                  </a:tcPr>
                </a:tc>
                <a:tc>
                  <a:txBody>
                    <a:bodyPr/>
                    <a:lstStyle/>
                    <a:p>
                      <a:pPr algn="ctr"/>
                      <a:r>
                        <a:rPr lang="es-ES" sz="1700" b="0" i="0">
                          <a:solidFill>
                            <a:srgbClr val="1F2937"/>
                          </a:solidFill>
                          <a:latin typeface="Calibri"/>
                        </a:rPr>
                        <a:t>Etapas con módulo</a:t>
                      </a:r>
                    </a:p>
                  </a:txBody>
                  <a:tcPr marL="73152" marR="73152" marT="27432" marB="27432" anchor="ctr">
                    <a:solidFill>
                      <a:srgbClr val="F6F8FC"/>
                    </a:solidFill>
                  </a:tcPr>
                </a:tc>
                <a:tc>
                  <a:txBody>
                    <a:bodyPr/>
                    <a:lstStyle/>
                    <a:p>
                      <a:pPr algn="ctr"/>
                      <a:r>
                        <a:rPr lang="es-ES" sz="1700" b="0" i="0">
                          <a:solidFill>
                            <a:srgbClr val="1F2937"/>
                          </a:solidFill>
                          <a:latin typeface="Calibri"/>
                        </a:rPr>
                        <a:t>Capas sobre la malla real</a:t>
                      </a:r>
                    </a:p>
                  </a:txBody>
                  <a:tcPr marL="73152" marR="73152" marT="27432" marB="27432" anchor="ctr">
                    <a:solidFill>
                      <a:srgbClr val="F6F8FC"/>
                    </a:solidFill>
                  </a:tcPr>
                </a:tc>
                <a:tc>
                  <a:txBody>
                    <a:bodyPr/>
                    <a:lstStyle/>
                    <a:p>
                      <a:pPr algn="ctr"/>
                      <a:r>
                        <a:rPr lang="es-ES" sz="1700" b="0" i="0">
                          <a:solidFill>
                            <a:srgbClr val="1F2937"/>
                          </a:solidFill>
                          <a:latin typeface="Calibri"/>
                        </a:rPr>
                        <a:t>§2.2 · §3.6</a:t>
                      </a:r>
                    </a:p>
                  </a:txBody>
                  <a:tcPr marL="73152" marR="73152" marT="27432" marB="27432" anchor="ctr">
                    <a:solidFill>
                      <a:srgbClr val="F6F8FC"/>
                    </a:solidFill>
                  </a:tcPr>
                </a:tc>
                <a:extLst>
                  <a:ext uri="{0D108BD9-81ED-4DB2-BD59-A6C34878D82A}">
                    <a16:rowId xmlns:a16="http://schemas.microsoft.com/office/drawing/2014/main" val="10004"/>
                  </a:ext>
                </a:extLst>
              </a:tr>
              <a:tr h="566928">
                <a:tc>
                  <a:txBody>
                    <a:bodyPr/>
                    <a:lstStyle/>
                    <a:p>
                      <a:pPr algn="l"/>
                      <a:r>
                        <a:rPr lang="es-ES" sz="1700" b="1" i="0">
                          <a:solidFill>
                            <a:srgbClr val="1F2937"/>
                          </a:solidFill>
                          <a:latin typeface="Calibri"/>
                        </a:rPr>
                        <a:t>OE5 V&amp;V</a:t>
                      </a:r>
                    </a:p>
                  </a:txBody>
                  <a:tcPr marL="73152" marR="73152" marT="27432" marB="27432" anchor="ctr">
                    <a:solidFill>
                      <a:srgbClr val="FFFFFF"/>
                    </a:solidFill>
                  </a:tcPr>
                </a:tc>
                <a:tc>
                  <a:txBody>
                    <a:bodyPr/>
                    <a:lstStyle/>
                    <a:p>
                      <a:pPr algn="ctr"/>
                      <a:r>
                        <a:rPr lang="es-ES" sz="1700" b="0" i="0">
                          <a:solidFill>
                            <a:srgbClr val="1F2937"/>
                          </a:solidFill>
                          <a:latin typeface="Calibri"/>
                        </a:rPr>
                        <a:t>PI-1, PI-3</a:t>
                      </a:r>
                    </a:p>
                  </a:txBody>
                  <a:tcPr marL="73152" marR="73152" marT="27432" marB="27432" anchor="ctr">
                    <a:solidFill>
                      <a:srgbClr val="FFFFFF"/>
                    </a:solidFill>
                  </a:tcPr>
                </a:tc>
                <a:tc>
                  <a:txBody>
                    <a:bodyPr/>
                    <a:lstStyle/>
                    <a:p>
                      <a:pPr algn="ctr"/>
                      <a:r>
                        <a:rPr lang="es-ES" sz="1700" b="0" i="0">
                          <a:solidFill>
                            <a:srgbClr val="1F2937"/>
                          </a:solidFill>
                          <a:latin typeface="Calibri"/>
                        </a:rPr>
                        <a:t>Error, tasa, bloqueo</a:t>
                      </a:r>
                    </a:p>
                  </a:txBody>
                  <a:tcPr marL="73152" marR="73152" marT="27432" marB="27432" anchor="ctr">
                    <a:solidFill>
                      <a:srgbClr val="FFFFFF"/>
                    </a:solidFill>
                  </a:tcPr>
                </a:tc>
                <a:tc>
                  <a:txBody>
                    <a:bodyPr/>
                    <a:lstStyle/>
                    <a:p>
                      <a:pPr algn="ctr"/>
                      <a:r>
                        <a:rPr lang="es-ES" sz="1700" b="0" i="0">
                          <a:solidFill>
                            <a:srgbClr val="1F2937"/>
                          </a:solidFill>
                          <a:latin typeface="Calibri"/>
                        </a:rPr>
                        <a:t>MMS, Timoshenko, Cook</a:t>
                      </a:r>
                    </a:p>
                  </a:txBody>
                  <a:tcPr marL="73152" marR="73152" marT="27432" marB="27432" anchor="ctr">
                    <a:solidFill>
                      <a:srgbClr val="FFFFFF"/>
                    </a:solidFill>
                  </a:tcPr>
                </a:tc>
                <a:tc>
                  <a:txBody>
                    <a:bodyPr/>
                    <a:lstStyle/>
                    <a:p>
                      <a:pPr algn="ctr"/>
                      <a:r>
                        <a:rPr lang="es-ES" sz="1700" b="0" i="0">
                          <a:solidFill>
                            <a:srgbClr val="1F2937"/>
                          </a:solidFill>
                          <a:latin typeface="Calibri"/>
                        </a:rPr>
                        <a:t>Cap. 3</a:t>
                      </a:r>
                    </a:p>
                  </a:txBody>
                  <a:tcPr marL="73152" marR="73152" marT="27432" marB="27432" anchor="ctr">
                    <a:solidFill>
                      <a:srgbClr val="FFFFFF"/>
                    </a:solidFill>
                  </a:tcPr>
                </a:tc>
                <a:extLst>
                  <a:ext uri="{0D108BD9-81ED-4DB2-BD59-A6C34878D82A}">
                    <a16:rowId xmlns:a16="http://schemas.microsoft.com/office/drawing/2014/main" val="10005"/>
                  </a:ext>
                </a:extLst>
              </a:tr>
              <a:tr h="566928">
                <a:tc>
                  <a:txBody>
                    <a:bodyPr/>
                    <a:lstStyle/>
                    <a:p>
                      <a:pPr algn="l"/>
                      <a:r>
                        <a:rPr lang="es-ES" sz="1700" b="1" i="0">
                          <a:solidFill>
                            <a:srgbClr val="1F2937"/>
                          </a:solidFill>
                          <a:latin typeface="Calibri"/>
                        </a:rPr>
                        <a:t>OE6 Memoria e I/O</a:t>
                      </a:r>
                    </a:p>
                  </a:txBody>
                  <a:tcPr marL="73152" marR="73152" marT="27432" marB="27432" anchor="ctr">
                    <a:solidFill>
                      <a:srgbClr val="F6F8FC"/>
                    </a:solidFill>
                  </a:tcPr>
                </a:tc>
                <a:tc>
                  <a:txBody>
                    <a:bodyPr/>
                    <a:lstStyle/>
                    <a:p>
                      <a:pPr algn="ctr"/>
                      <a:r>
                        <a:rPr lang="es-ES" sz="1700" b="0" i="0">
                          <a:solidFill>
                            <a:srgbClr val="1F2937"/>
                          </a:solidFill>
                          <a:latin typeface="Calibri"/>
                        </a:rPr>
                        <a:t>PI-2</a:t>
                      </a:r>
                    </a:p>
                  </a:txBody>
                  <a:tcPr marL="73152" marR="73152" marT="27432" marB="27432" anchor="ctr">
                    <a:solidFill>
                      <a:srgbClr val="F6F8FC"/>
                    </a:solidFill>
                  </a:tcPr>
                </a:tc>
                <a:tc>
                  <a:txBody>
                    <a:bodyPr/>
                    <a:lstStyle/>
                    <a:p>
                      <a:pPr algn="ctr"/>
                      <a:r>
                        <a:rPr lang="es-ES" sz="1700" b="0" i="0">
                          <a:solidFill>
                            <a:srgbClr val="1F2937"/>
                          </a:solidFill>
                          <a:latin typeface="Calibri"/>
                        </a:rPr>
                        <a:t>Etapas en la memoria; formatos</a:t>
                      </a:r>
                    </a:p>
                  </a:txBody>
                  <a:tcPr marL="73152" marR="73152" marT="27432" marB="27432" anchor="ctr">
                    <a:solidFill>
                      <a:srgbClr val="F6F8FC"/>
                    </a:solidFill>
                  </a:tcPr>
                </a:tc>
                <a:tc>
                  <a:txBody>
                    <a:bodyPr/>
                    <a:lstStyle/>
                    <a:p>
                      <a:pPr algn="ctr"/>
                      <a:r>
                        <a:rPr lang="es-ES" sz="1700" b="0" i="0">
                          <a:solidFill>
                            <a:srgbClr val="1F2937"/>
                          </a:solidFill>
                          <a:latin typeface="Calibri"/>
                        </a:rPr>
                        <a:t>PDF; DXF y CSV</a:t>
                      </a:r>
                    </a:p>
                  </a:txBody>
                  <a:tcPr marL="73152" marR="73152" marT="27432" marB="27432" anchor="ctr">
                    <a:solidFill>
                      <a:srgbClr val="F6F8FC"/>
                    </a:solidFill>
                  </a:tcPr>
                </a:tc>
                <a:tc>
                  <a:txBody>
                    <a:bodyPr/>
                    <a:lstStyle/>
                    <a:p>
                      <a:pPr algn="ctr"/>
                      <a:r>
                        <a:rPr lang="es-ES" sz="1700" b="0" i="0">
                          <a:solidFill>
                            <a:srgbClr val="1F2937"/>
                          </a:solidFill>
                          <a:latin typeface="Calibri"/>
                        </a:rPr>
                        <a:t>§2.2 · §3.3 · §3.6</a:t>
                      </a:r>
                    </a:p>
                  </a:txBody>
                  <a:tcPr marL="73152" marR="73152" marT="27432" marB="27432" anchor="ctr">
                    <a:solidFill>
                      <a:srgbClr val="F6F8FC"/>
                    </a:solidFill>
                  </a:tcPr>
                </a:tc>
                <a:extLst>
                  <a:ext uri="{0D108BD9-81ED-4DB2-BD59-A6C34878D82A}">
                    <a16:rowId xmlns:a16="http://schemas.microsoft.com/office/drawing/2014/main" val="10006"/>
                  </a:ext>
                </a:extLst>
              </a:tr>
            </a:tbl>
          </a:graphicData>
        </a:graphic>
      </p:graphicFrame>
      <p:sp>
        <p:nvSpPr>
          <p:cNvPr id="13" name="Rectangle 12"/>
          <p:cNvSpPr/>
          <p:nvPr/>
        </p:nvSpPr>
        <p:spPr>
          <a:xfrm>
            <a:off x="566928" y="2095499"/>
            <a:ext cx="11057839" cy="41148"/>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Rectangle 13"/>
          <p:cNvSpPr/>
          <p:nvPr/>
        </p:nvSpPr>
        <p:spPr>
          <a:xfrm>
            <a:off x="566928" y="5449824"/>
            <a:ext cx="11057839" cy="841248"/>
          </a:xfrm>
          <a:prstGeom prst="rect">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Rectangle 14"/>
          <p:cNvSpPr/>
          <p:nvPr/>
        </p:nvSpPr>
        <p:spPr>
          <a:xfrm>
            <a:off x="566928" y="5449824"/>
            <a:ext cx="77724" cy="841248"/>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795528" y="5449824"/>
            <a:ext cx="10737799" cy="841248"/>
          </a:xfrm>
          <a:prstGeom prst="rect">
            <a:avLst/>
          </a:prstGeom>
          <a:noFill/>
        </p:spPr>
        <p:txBody>
          <a:bodyPr wrap="square" lIns="45720" tIns="27432" rIns="45720" bIns="27432" anchor="ctr">
            <a:noAutofit/>
          </a:bodyPr>
          <a:lstStyle/>
          <a:p>
            <a:pPr algn="l">
              <a:lnSpc>
                <a:spcPct val="100000"/>
              </a:lnSpc>
            </a:pPr>
            <a:r>
              <a:rPr lang="es-ES" sz="2000" b="1" i="0">
                <a:solidFill>
                  <a:srgbClr val="1B2A4A"/>
                </a:solidFill>
                <a:latin typeface="Calibri"/>
              </a:rPr>
              <a:t>OE1 es transversal; OE6 responde a PI-2 con la memoria, y la interoperabilidad es su complemento instrumental</a:t>
            </a:r>
          </a:p>
        </p:txBody>
      </p:sp>
      <p:sp>
        <p:nvSpPr>
          <p:cNvPr id="17" name="Rectangle 16"/>
          <p:cNvSpPr/>
          <p:nvPr/>
        </p:nvSpPr>
        <p:spPr>
          <a:xfrm>
            <a:off x="566928" y="6364224"/>
            <a:ext cx="11057839" cy="7315"/>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566928" y="6437376"/>
            <a:ext cx="5029200" cy="292608"/>
          </a:xfrm>
          <a:prstGeom prst="rect">
            <a:avLst/>
          </a:prstGeom>
          <a:noFill/>
        </p:spPr>
        <p:txBody>
          <a:bodyPr wrap="square" lIns="45720" tIns="27432" rIns="45720" bIns="27432" anchor="ctr">
            <a:noAutofit/>
          </a:bodyPr>
          <a:lstStyle/>
          <a:p>
            <a:pPr algn="l">
              <a:lnSpc>
                <a:spcPct val="105000"/>
              </a:lnSpc>
            </a:pPr>
            <a:r>
              <a:rPr lang="es-ES" sz="1200" b="0" i="0">
                <a:solidFill>
                  <a:srgbClr val="5B6575"/>
                </a:solidFill>
                <a:latin typeface="Calibri"/>
              </a:rPr>
              <a:t>EduFEM · Defensa de tesis · Ingeniería Civil · UATF</a:t>
            </a:r>
          </a:p>
        </p:txBody>
      </p:sp>
      <p:sp>
        <p:nvSpPr>
          <p:cNvPr id="19" name="TextBox 18"/>
          <p:cNvSpPr txBox="1"/>
          <p:nvPr/>
        </p:nvSpPr>
        <p:spPr>
          <a:xfrm>
            <a:off x="4023360" y="6437376"/>
            <a:ext cx="5394960" cy="292608"/>
          </a:xfrm>
          <a:prstGeom prst="rect">
            <a:avLst/>
          </a:prstGeom>
          <a:noFill/>
        </p:spPr>
        <p:txBody>
          <a:bodyPr wrap="square" lIns="45720" tIns="27432" rIns="45720" bIns="27432" anchor="ctr">
            <a:noAutofit/>
          </a:bodyPr>
          <a:lstStyle/>
          <a:p>
            <a:pPr algn="ctr">
              <a:lnSpc>
                <a:spcPct val="105000"/>
              </a:lnSpc>
            </a:pPr>
            <a:r>
              <a:rPr lang="es-ES" sz="1200" b="0" i="0">
                <a:solidFill>
                  <a:srgbClr val="5B6575"/>
                </a:solidFill>
                <a:latin typeface="Calibri"/>
              </a:rPr>
              <a:t>Tesis: §2.1.3, Tabla 2.2</a:t>
            </a:r>
          </a:p>
        </p:txBody>
      </p:sp>
      <p:sp>
        <p:nvSpPr>
          <p:cNvPr id="20" name="TextBox 19"/>
          <p:cNvSpPr txBox="1"/>
          <p:nvPr/>
        </p:nvSpPr>
        <p:spPr>
          <a:xfrm>
            <a:off x="10527487" y="6437376"/>
            <a:ext cx="1097280" cy="292608"/>
          </a:xfrm>
          <a:prstGeom prst="rect">
            <a:avLst/>
          </a:prstGeom>
          <a:noFill/>
        </p:spPr>
        <p:txBody>
          <a:bodyPr wrap="none" lIns="45720" tIns="18288" rIns="45720" bIns="18288">
            <a:spAutoFit/>
          </a:bodyPr>
          <a:lstStyle/>
          <a:p>
            <a:pPr algn="r"/>
            <a:fld id="{B6F15528-21DE-4FAA-801E-634DDDAF4B2B}" type="slidenum">
              <a:rPr lang="es-ES" sz="1200" dirty="0">
                <a:solidFill>
                  <a:srgbClr val="5B6575"/>
                </a:solidFill>
                <a:latin typeface="Calibri"/>
              </a:rPr>
              <a:t>15</a:t>
            </a:fld>
            <a:endParaRPr lang="es-ES" sz="1200" dirty="0">
              <a:solidFill>
                <a:srgbClr val="5B6575"/>
              </a:solidFill>
              <a:latin typeface="Calibri"/>
            </a:endParaRPr>
          </a:p>
        </p:txBody>
      </p:sp>
      <p:pic>
        <p:nvPicPr>
          <p:cNvPr id="21" name="s15">
            <a:hlinkClick r:id="" action="ppaction://media"/>
            <a:extLst>
              <a:ext uri="{FF2B5EF4-FFF2-40B4-BE49-F238E27FC236}">
                <a16:creationId xmlns:a16="http://schemas.microsoft.com/office/drawing/2014/main" id="{8E11B11B-9E48-1DF6-DAF0-8AF4B04F7818}"/>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254000" y="254000"/>
            <a:ext cx="508000" cy="508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9392"/>
    </mc:Choice>
    <mc:Fallback>
      <p:transition spd="slow" advTm="39392"/>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21"/>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21"/>
                </p:tgtEl>
              </p:cMediaNode>
            </p:audio>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566928" y="361188"/>
            <a:ext cx="50292" cy="173736"/>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TextBox 2"/>
          <p:cNvSpPr txBox="1"/>
          <p:nvPr/>
        </p:nvSpPr>
        <p:spPr>
          <a:xfrm>
            <a:off x="704088" y="310896"/>
            <a:ext cx="6766560" cy="274320"/>
          </a:xfrm>
          <a:prstGeom prst="rect">
            <a:avLst/>
          </a:prstGeom>
          <a:noFill/>
        </p:spPr>
        <p:txBody>
          <a:bodyPr wrap="square" lIns="45720" tIns="27432" rIns="45720" bIns="27432" anchor="ctr">
            <a:noAutofit/>
          </a:bodyPr>
          <a:lstStyle/>
          <a:p>
            <a:pPr algn="l">
              <a:lnSpc>
                <a:spcPct val="105000"/>
              </a:lnSpc>
            </a:pPr>
            <a:r>
              <a:rPr lang="es-ES" sz="1200" b="1" i="0" spc="80">
                <a:solidFill>
                  <a:srgbClr val="F28C28"/>
                </a:solidFill>
                <a:latin typeface="Calibri"/>
              </a:rPr>
              <a:t>03   DISEÑO Y DESARROLLO DEL MODELO</a:t>
            </a:r>
          </a:p>
        </p:txBody>
      </p:sp>
      <p:sp>
        <p:nvSpPr>
          <p:cNvPr id="4" name="Oval 3"/>
          <p:cNvSpPr/>
          <p:nvPr/>
        </p:nvSpPr>
        <p:spPr>
          <a:xfrm>
            <a:off x="10413187" y="388620"/>
            <a:ext cx="114300" cy="1143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Oval 4"/>
          <p:cNvSpPr/>
          <p:nvPr/>
        </p:nvSpPr>
        <p:spPr>
          <a:xfrm>
            <a:off x="10632643" y="388620"/>
            <a:ext cx="114300" cy="1143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Oval 5"/>
          <p:cNvSpPr/>
          <p:nvPr/>
        </p:nvSpPr>
        <p:spPr>
          <a:xfrm>
            <a:off x="10820095" y="356616"/>
            <a:ext cx="178308" cy="178308"/>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Oval 6"/>
          <p:cNvSpPr/>
          <p:nvPr/>
        </p:nvSpPr>
        <p:spPr>
          <a:xfrm>
            <a:off x="11071555"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Oval 7"/>
          <p:cNvSpPr/>
          <p:nvPr/>
        </p:nvSpPr>
        <p:spPr>
          <a:xfrm>
            <a:off x="11291011"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Oval 8"/>
          <p:cNvSpPr/>
          <p:nvPr/>
        </p:nvSpPr>
        <p:spPr>
          <a:xfrm>
            <a:off x="11510467"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548640" y="585216"/>
            <a:ext cx="11057839" cy="749808"/>
          </a:xfrm>
          <a:prstGeom prst="rect">
            <a:avLst/>
          </a:prstGeom>
          <a:noFill/>
        </p:spPr>
        <p:txBody>
          <a:bodyPr wrap="square" lIns="45720" tIns="27432" rIns="45720" bIns="27432" anchor="ctr">
            <a:noAutofit/>
          </a:bodyPr>
          <a:lstStyle/>
          <a:p>
            <a:pPr algn="l">
              <a:lnSpc>
                <a:spcPct val="105000"/>
              </a:lnSpc>
            </a:pPr>
            <a:r>
              <a:rPr lang="es-ES" sz="3200" b="1" i="0">
                <a:solidFill>
                  <a:srgbClr val="1B2A4A"/>
                </a:solidFill>
                <a:latin typeface="Calibri"/>
              </a:rPr>
              <a:t>Procedimiento de verificación y validación</a:t>
            </a:r>
          </a:p>
        </p:txBody>
      </p:sp>
      <p:sp>
        <p:nvSpPr>
          <p:cNvPr id="11" name="Rectangle 10"/>
          <p:cNvSpPr/>
          <p:nvPr/>
        </p:nvSpPr>
        <p:spPr>
          <a:xfrm>
            <a:off x="566928" y="1371600"/>
            <a:ext cx="1051560" cy="50292"/>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Rounded Rectangle 11"/>
          <p:cNvSpPr/>
          <p:nvPr/>
        </p:nvSpPr>
        <p:spPr>
          <a:xfrm>
            <a:off x="566928" y="2221991"/>
            <a:ext cx="1772655" cy="2468880"/>
          </a:xfrm>
          <a:prstGeom prst="roundRect">
            <a:avLst>
              <a:gd name="adj" fmla="val 9000"/>
            </a:avLst>
          </a:prstGeom>
          <a:solidFill>
            <a:srgbClr val="F6F8FC"/>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Rectangle 12"/>
          <p:cNvSpPr/>
          <p:nvPr/>
        </p:nvSpPr>
        <p:spPr>
          <a:xfrm>
            <a:off x="585216" y="2240279"/>
            <a:ext cx="1736079" cy="100584"/>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566928" y="3022854"/>
            <a:ext cx="1772655" cy="606298"/>
          </a:xfrm>
          <a:prstGeom prst="rect">
            <a:avLst/>
          </a:prstGeom>
          <a:noFill/>
        </p:spPr>
        <p:txBody>
          <a:bodyPr wrap="square" tIns="18288" bIns="18288" anchor="t">
            <a:noAutofit/>
          </a:bodyPr>
          <a:lstStyle/>
          <a:p>
            <a:pPr algn="ctr">
              <a:lnSpc>
                <a:spcPct val="105000"/>
              </a:lnSpc>
            </a:pPr>
            <a:r>
              <a:rPr lang="es-ES" sz="1700" b="1" i="0">
                <a:solidFill>
                  <a:srgbClr val="1B2A4A"/>
                </a:solidFill>
                <a:latin typeface="Calibri"/>
              </a:rPr>
              <a:t>Guion del caso</a:t>
            </a:r>
          </a:p>
        </p:txBody>
      </p:sp>
      <p:sp>
        <p:nvSpPr>
          <p:cNvPr id="15" name="TextBox 14"/>
          <p:cNvSpPr txBox="1"/>
          <p:nvPr/>
        </p:nvSpPr>
        <p:spPr>
          <a:xfrm>
            <a:off x="566928" y="3592576"/>
            <a:ext cx="1772655" cy="507746"/>
          </a:xfrm>
          <a:prstGeom prst="rect">
            <a:avLst/>
          </a:prstGeom>
          <a:noFill/>
        </p:spPr>
        <p:txBody>
          <a:bodyPr wrap="square" tIns="18288" bIns="18288" anchor="t">
            <a:noAutofit/>
          </a:bodyPr>
          <a:lstStyle/>
          <a:p>
            <a:pPr algn="ctr">
              <a:lnSpc>
                <a:spcPct val="105000"/>
              </a:lnSpc>
            </a:pPr>
            <a:r>
              <a:rPr lang="es-ES" sz="1300" b="0" i="0">
                <a:solidFill>
                  <a:srgbClr val="5B6575"/>
                </a:solidFill>
                <a:latin typeface="Calibri"/>
              </a:rPr>
              <a:t>malla, material, cargas, apoyos</a:t>
            </a:r>
          </a:p>
        </p:txBody>
      </p:sp>
      <p:sp>
        <p:nvSpPr>
          <p:cNvPr id="16" name="Right Arrow 15"/>
          <p:cNvSpPr/>
          <p:nvPr/>
        </p:nvSpPr>
        <p:spPr>
          <a:xfrm>
            <a:off x="2440167" y="3337560"/>
            <a:ext cx="347472" cy="237744"/>
          </a:xfrm>
          <a:prstGeom prst="rightArrow">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2888223" y="2221991"/>
            <a:ext cx="1772655" cy="2468880"/>
          </a:xfrm>
          <a:prstGeom prst="roundRect">
            <a:avLst>
              <a:gd name="adj" fmla="val 9000"/>
            </a:avLst>
          </a:prstGeom>
          <a:solidFill>
            <a:srgbClr val="F6F8FC"/>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Rectangle 17"/>
          <p:cNvSpPr/>
          <p:nvPr/>
        </p:nvSpPr>
        <p:spPr>
          <a:xfrm>
            <a:off x="2906511" y="2240279"/>
            <a:ext cx="1736079" cy="100584"/>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2888223" y="3022854"/>
            <a:ext cx="1772655" cy="606298"/>
          </a:xfrm>
          <a:prstGeom prst="rect">
            <a:avLst/>
          </a:prstGeom>
          <a:noFill/>
        </p:spPr>
        <p:txBody>
          <a:bodyPr wrap="square" tIns="18288" bIns="18288" anchor="t">
            <a:noAutofit/>
          </a:bodyPr>
          <a:lstStyle/>
          <a:p>
            <a:pPr algn="ctr">
              <a:lnSpc>
                <a:spcPct val="105000"/>
              </a:lnSpc>
            </a:pPr>
            <a:r>
              <a:rPr lang="es-ES" sz="1700" b="1" i="0">
                <a:solidFill>
                  <a:srgbClr val="1B2A4A"/>
                </a:solidFill>
                <a:latin typeface="Calibri"/>
              </a:rPr>
              <a:t>Validador de salud</a:t>
            </a:r>
          </a:p>
        </p:txBody>
      </p:sp>
      <p:sp>
        <p:nvSpPr>
          <p:cNvPr id="20" name="TextBox 19"/>
          <p:cNvSpPr txBox="1"/>
          <p:nvPr/>
        </p:nvSpPr>
        <p:spPr>
          <a:xfrm>
            <a:off x="2888223" y="3592576"/>
            <a:ext cx="1772655" cy="507746"/>
          </a:xfrm>
          <a:prstGeom prst="rect">
            <a:avLst/>
          </a:prstGeom>
          <a:noFill/>
        </p:spPr>
        <p:txBody>
          <a:bodyPr wrap="square" tIns="18288" bIns="18288" anchor="t">
            <a:noAutofit/>
          </a:bodyPr>
          <a:lstStyle/>
          <a:p>
            <a:pPr algn="ctr">
              <a:lnSpc>
                <a:spcPct val="105000"/>
              </a:lnSpc>
            </a:pPr>
            <a:r>
              <a:rPr lang="es-ES" sz="1300" b="0" i="0">
                <a:solidFill>
                  <a:srgbClr val="5B6575"/>
                </a:solidFill>
                <a:latin typeface="Calibri"/>
              </a:rPr>
              <a:t>det J &gt; 0, sin cuerpo rígido</a:t>
            </a:r>
          </a:p>
        </p:txBody>
      </p:sp>
      <p:sp>
        <p:nvSpPr>
          <p:cNvPr id="21" name="Right Arrow 20"/>
          <p:cNvSpPr/>
          <p:nvPr/>
        </p:nvSpPr>
        <p:spPr>
          <a:xfrm>
            <a:off x="4761463" y="3337560"/>
            <a:ext cx="347472" cy="237744"/>
          </a:xfrm>
          <a:prstGeom prst="rightArrow">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1"/>
          <p:cNvSpPr/>
          <p:nvPr/>
        </p:nvSpPr>
        <p:spPr>
          <a:xfrm>
            <a:off x="5209519" y="2221991"/>
            <a:ext cx="1772655" cy="2468880"/>
          </a:xfrm>
          <a:prstGeom prst="roundRect">
            <a:avLst>
              <a:gd name="adj" fmla="val 9000"/>
            </a:avLst>
          </a:prstGeom>
          <a:solidFill>
            <a:srgbClr val="F6F8FC"/>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Rectangle 22"/>
          <p:cNvSpPr/>
          <p:nvPr/>
        </p:nvSpPr>
        <p:spPr>
          <a:xfrm>
            <a:off x="5227807" y="2240279"/>
            <a:ext cx="1736079" cy="100584"/>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TextBox 23"/>
          <p:cNvSpPr txBox="1"/>
          <p:nvPr/>
        </p:nvSpPr>
        <p:spPr>
          <a:xfrm>
            <a:off x="5209519" y="3022854"/>
            <a:ext cx="1772655" cy="606298"/>
          </a:xfrm>
          <a:prstGeom prst="rect">
            <a:avLst/>
          </a:prstGeom>
          <a:noFill/>
        </p:spPr>
        <p:txBody>
          <a:bodyPr wrap="square" tIns="18288" bIns="18288" anchor="t">
            <a:noAutofit/>
          </a:bodyPr>
          <a:lstStyle/>
          <a:p>
            <a:pPr algn="ctr">
              <a:lnSpc>
                <a:spcPct val="105000"/>
              </a:lnSpc>
            </a:pPr>
            <a:r>
              <a:rPr lang="es-ES" sz="1700" b="1" i="0">
                <a:solidFill>
                  <a:srgbClr val="1B2A4A"/>
                </a:solidFill>
                <a:latin typeface="Calibri"/>
              </a:rPr>
              <a:t>Mismo motor</a:t>
            </a:r>
          </a:p>
        </p:txBody>
      </p:sp>
      <p:sp>
        <p:nvSpPr>
          <p:cNvPr id="25" name="TextBox 24"/>
          <p:cNvSpPr txBox="1"/>
          <p:nvPr/>
        </p:nvSpPr>
        <p:spPr>
          <a:xfrm>
            <a:off x="5209519" y="3592576"/>
            <a:ext cx="1772655" cy="507746"/>
          </a:xfrm>
          <a:prstGeom prst="rect">
            <a:avLst/>
          </a:prstGeom>
          <a:noFill/>
        </p:spPr>
        <p:txBody>
          <a:bodyPr wrap="square" tIns="18288" bIns="18288" anchor="t">
            <a:noAutofit/>
          </a:bodyPr>
          <a:lstStyle/>
          <a:p>
            <a:pPr algn="ctr">
              <a:lnSpc>
                <a:spcPct val="105000"/>
              </a:lnSpc>
            </a:pPr>
            <a:r>
              <a:rPr lang="es-ES" sz="1300" b="0" i="0">
                <a:solidFill>
                  <a:srgbClr val="5B6575"/>
                </a:solidFill>
                <a:latin typeface="Calibri"/>
              </a:rPr>
              <a:t>el que usan módulos y memoria</a:t>
            </a:r>
          </a:p>
        </p:txBody>
      </p:sp>
      <p:sp>
        <p:nvSpPr>
          <p:cNvPr id="26" name="Right Arrow 25"/>
          <p:cNvSpPr/>
          <p:nvPr/>
        </p:nvSpPr>
        <p:spPr>
          <a:xfrm>
            <a:off x="7082759" y="3337560"/>
            <a:ext cx="347472" cy="237744"/>
          </a:xfrm>
          <a:prstGeom prst="rightArrow">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ounded Rectangle 26"/>
          <p:cNvSpPr/>
          <p:nvPr/>
        </p:nvSpPr>
        <p:spPr>
          <a:xfrm>
            <a:off x="7530815" y="2221991"/>
            <a:ext cx="1772655" cy="2468880"/>
          </a:xfrm>
          <a:prstGeom prst="roundRect">
            <a:avLst>
              <a:gd name="adj" fmla="val 9000"/>
            </a:avLst>
          </a:prstGeom>
          <a:solidFill>
            <a:srgbClr val="F6F8FC"/>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Rectangle 27"/>
          <p:cNvSpPr/>
          <p:nvPr/>
        </p:nvSpPr>
        <p:spPr>
          <a:xfrm>
            <a:off x="7549103" y="2240279"/>
            <a:ext cx="1736079" cy="100584"/>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TextBox 28"/>
          <p:cNvSpPr txBox="1"/>
          <p:nvPr/>
        </p:nvSpPr>
        <p:spPr>
          <a:xfrm>
            <a:off x="7530815" y="3022854"/>
            <a:ext cx="1772655" cy="606298"/>
          </a:xfrm>
          <a:prstGeom prst="rect">
            <a:avLst/>
          </a:prstGeom>
          <a:noFill/>
        </p:spPr>
        <p:txBody>
          <a:bodyPr wrap="square" tIns="18288" bIns="18288" anchor="t">
            <a:noAutofit/>
          </a:bodyPr>
          <a:lstStyle/>
          <a:p>
            <a:pPr algn="ctr">
              <a:lnSpc>
                <a:spcPct val="105000"/>
              </a:lnSpc>
            </a:pPr>
            <a:r>
              <a:rPr lang="es-ES" sz="1700" b="1" i="0">
                <a:solidFill>
                  <a:srgbClr val="1B2A4A"/>
                </a:solidFill>
                <a:latin typeface="Calibri"/>
              </a:rPr>
              <a:t>Normas L², H¹, σ*</a:t>
            </a:r>
          </a:p>
        </p:txBody>
      </p:sp>
      <p:sp>
        <p:nvSpPr>
          <p:cNvPr id="30" name="TextBox 29"/>
          <p:cNvSpPr txBox="1"/>
          <p:nvPr/>
        </p:nvSpPr>
        <p:spPr>
          <a:xfrm>
            <a:off x="7530815" y="3592576"/>
            <a:ext cx="1772655" cy="507746"/>
          </a:xfrm>
          <a:prstGeom prst="rect">
            <a:avLst/>
          </a:prstGeom>
          <a:noFill/>
        </p:spPr>
        <p:txBody>
          <a:bodyPr wrap="square" tIns="18288" bIns="18288" anchor="t">
            <a:noAutofit/>
          </a:bodyPr>
          <a:lstStyle/>
          <a:p>
            <a:pPr algn="ctr">
              <a:lnSpc>
                <a:spcPct val="105000"/>
              </a:lnSpc>
            </a:pPr>
            <a:r>
              <a:rPr lang="es-ES" sz="1300" b="0" i="0">
                <a:solidFill>
                  <a:srgbClr val="5B6575"/>
                </a:solidFill>
                <a:latin typeface="Calibri"/>
              </a:rPr>
              <a:t>un punto de Gauss más</a:t>
            </a:r>
          </a:p>
        </p:txBody>
      </p:sp>
      <p:sp>
        <p:nvSpPr>
          <p:cNvPr id="31" name="Right Arrow 30"/>
          <p:cNvSpPr/>
          <p:nvPr/>
        </p:nvSpPr>
        <p:spPr>
          <a:xfrm>
            <a:off x="9404055" y="3337560"/>
            <a:ext cx="347472" cy="237744"/>
          </a:xfrm>
          <a:prstGeom prst="rightArrow">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ounded Rectangle 31"/>
          <p:cNvSpPr/>
          <p:nvPr/>
        </p:nvSpPr>
        <p:spPr>
          <a:xfrm>
            <a:off x="9852111" y="2221991"/>
            <a:ext cx="1772655" cy="2468880"/>
          </a:xfrm>
          <a:prstGeom prst="roundRect">
            <a:avLst>
              <a:gd name="adj" fmla="val 9000"/>
            </a:avLst>
          </a:prstGeom>
          <a:solidFill>
            <a:srgbClr val="F6F8FC"/>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 name="Rectangle 32"/>
          <p:cNvSpPr/>
          <p:nvPr/>
        </p:nvSpPr>
        <p:spPr>
          <a:xfrm>
            <a:off x="9870399" y="2240279"/>
            <a:ext cx="1736079" cy="100584"/>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4" name="TextBox 33"/>
          <p:cNvSpPr txBox="1"/>
          <p:nvPr/>
        </p:nvSpPr>
        <p:spPr>
          <a:xfrm>
            <a:off x="9852111" y="3022854"/>
            <a:ext cx="1772655" cy="606298"/>
          </a:xfrm>
          <a:prstGeom prst="rect">
            <a:avLst/>
          </a:prstGeom>
          <a:noFill/>
        </p:spPr>
        <p:txBody>
          <a:bodyPr wrap="square" tIns="18288" bIns="18288" anchor="t">
            <a:noAutofit/>
          </a:bodyPr>
          <a:lstStyle/>
          <a:p>
            <a:pPr algn="ctr">
              <a:lnSpc>
                <a:spcPct val="105000"/>
              </a:lnSpc>
            </a:pPr>
            <a:r>
              <a:rPr lang="es-ES" sz="1700" b="1" i="0">
                <a:solidFill>
                  <a:srgbClr val="1B2A4A"/>
                </a:solidFill>
                <a:latin typeface="Calibri"/>
              </a:rPr>
              <a:t>CSV + criterios</a:t>
            </a:r>
          </a:p>
        </p:txBody>
      </p:sp>
      <p:sp>
        <p:nvSpPr>
          <p:cNvPr id="35" name="TextBox 34"/>
          <p:cNvSpPr txBox="1"/>
          <p:nvPr/>
        </p:nvSpPr>
        <p:spPr>
          <a:xfrm>
            <a:off x="9852111" y="3592576"/>
            <a:ext cx="1772655" cy="507746"/>
          </a:xfrm>
          <a:prstGeom prst="rect">
            <a:avLst/>
          </a:prstGeom>
          <a:noFill/>
        </p:spPr>
        <p:txBody>
          <a:bodyPr wrap="square" tIns="18288" bIns="18288" anchor="t">
            <a:noAutofit/>
          </a:bodyPr>
          <a:lstStyle/>
          <a:p>
            <a:pPr algn="ctr">
              <a:lnSpc>
                <a:spcPct val="105000"/>
              </a:lnSpc>
            </a:pPr>
            <a:r>
              <a:rPr lang="es-ES" sz="1300" b="0" i="0">
                <a:solidFill>
                  <a:srgbClr val="5B6575"/>
                </a:solidFill>
                <a:latin typeface="Calibri"/>
              </a:rPr>
              <a:t>el guion falla si no cumple</a:t>
            </a:r>
          </a:p>
        </p:txBody>
      </p:sp>
      <p:sp>
        <p:nvSpPr>
          <p:cNvPr id="36" name="Rectangle 35"/>
          <p:cNvSpPr/>
          <p:nvPr/>
        </p:nvSpPr>
        <p:spPr>
          <a:xfrm>
            <a:off x="566928" y="5449824"/>
            <a:ext cx="11057839" cy="841248"/>
          </a:xfrm>
          <a:prstGeom prst="rect">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7" name="Rectangle 36"/>
          <p:cNvSpPr/>
          <p:nvPr/>
        </p:nvSpPr>
        <p:spPr>
          <a:xfrm>
            <a:off x="566928" y="5449824"/>
            <a:ext cx="77724" cy="841248"/>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8" name="TextBox 37"/>
          <p:cNvSpPr txBox="1"/>
          <p:nvPr/>
        </p:nvSpPr>
        <p:spPr>
          <a:xfrm>
            <a:off x="795528" y="5449824"/>
            <a:ext cx="10737799" cy="841248"/>
          </a:xfrm>
          <a:prstGeom prst="rect">
            <a:avLst/>
          </a:prstGeom>
          <a:noFill/>
        </p:spPr>
        <p:txBody>
          <a:bodyPr wrap="square" lIns="45720" tIns="27432" rIns="45720" bIns="27432" anchor="ctr">
            <a:noAutofit/>
          </a:bodyPr>
          <a:lstStyle/>
          <a:p>
            <a:pPr algn="l">
              <a:lnSpc>
                <a:spcPct val="100000"/>
              </a:lnSpc>
            </a:pPr>
            <a:r>
              <a:rPr lang="es-ES" sz="2000" b="1" i="0">
                <a:solidFill>
                  <a:srgbClr val="1B2A4A"/>
                </a:solidFill>
                <a:latin typeface="Calibri"/>
              </a:rPr>
              <a:t>Casos por valor probatorio: MMS (solución exacta), Timoshenko (analítica y SAP2000) y Cook (referencia histórica)</a:t>
            </a:r>
          </a:p>
        </p:txBody>
      </p:sp>
      <p:sp>
        <p:nvSpPr>
          <p:cNvPr id="39" name="Rectangle 38"/>
          <p:cNvSpPr/>
          <p:nvPr/>
        </p:nvSpPr>
        <p:spPr>
          <a:xfrm>
            <a:off x="566928" y="6364224"/>
            <a:ext cx="11057839" cy="7315"/>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0" name="TextBox 39"/>
          <p:cNvSpPr txBox="1"/>
          <p:nvPr/>
        </p:nvSpPr>
        <p:spPr>
          <a:xfrm>
            <a:off x="566928" y="6437376"/>
            <a:ext cx="5029200" cy="292608"/>
          </a:xfrm>
          <a:prstGeom prst="rect">
            <a:avLst/>
          </a:prstGeom>
          <a:noFill/>
        </p:spPr>
        <p:txBody>
          <a:bodyPr wrap="square" lIns="45720" tIns="27432" rIns="45720" bIns="27432" anchor="ctr">
            <a:noAutofit/>
          </a:bodyPr>
          <a:lstStyle/>
          <a:p>
            <a:pPr algn="l">
              <a:lnSpc>
                <a:spcPct val="105000"/>
              </a:lnSpc>
            </a:pPr>
            <a:r>
              <a:rPr lang="es-ES" sz="1200" b="0" i="0">
                <a:solidFill>
                  <a:srgbClr val="5B6575"/>
                </a:solidFill>
                <a:latin typeface="Calibri"/>
              </a:rPr>
              <a:t>EduFEM · Defensa de tesis · Ingeniería Civil · UATF</a:t>
            </a:r>
          </a:p>
        </p:txBody>
      </p:sp>
      <p:sp>
        <p:nvSpPr>
          <p:cNvPr id="41" name="TextBox 40"/>
          <p:cNvSpPr txBox="1"/>
          <p:nvPr/>
        </p:nvSpPr>
        <p:spPr>
          <a:xfrm>
            <a:off x="4023360" y="6437376"/>
            <a:ext cx="5394960" cy="292608"/>
          </a:xfrm>
          <a:prstGeom prst="rect">
            <a:avLst/>
          </a:prstGeom>
          <a:noFill/>
        </p:spPr>
        <p:txBody>
          <a:bodyPr wrap="square" lIns="45720" tIns="27432" rIns="45720" bIns="27432" anchor="ctr">
            <a:noAutofit/>
          </a:bodyPr>
          <a:lstStyle/>
          <a:p>
            <a:pPr algn="ctr">
              <a:lnSpc>
                <a:spcPct val="105000"/>
              </a:lnSpc>
            </a:pPr>
            <a:r>
              <a:rPr lang="es-ES" sz="1200" b="0" i="0">
                <a:solidFill>
                  <a:srgbClr val="5B6575"/>
                </a:solidFill>
                <a:latin typeface="Calibri"/>
              </a:rPr>
              <a:t>Tesis: §2.1.4 y §2.1.5</a:t>
            </a:r>
          </a:p>
        </p:txBody>
      </p:sp>
      <p:sp>
        <p:nvSpPr>
          <p:cNvPr id="42" name="TextBox 41"/>
          <p:cNvSpPr txBox="1"/>
          <p:nvPr/>
        </p:nvSpPr>
        <p:spPr>
          <a:xfrm>
            <a:off x="10527487" y="6437376"/>
            <a:ext cx="1097280" cy="292608"/>
          </a:xfrm>
          <a:prstGeom prst="rect">
            <a:avLst/>
          </a:prstGeom>
          <a:noFill/>
        </p:spPr>
        <p:txBody>
          <a:bodyPr wrap="none" lIns="45720" tIns="18288" rIns="45720" bIns="18288">
            <a:spAutoFit/>
          </a:bodyPr>
          <a:lstStyle/>
          <a:p>
            <a:pPr algn="r"/>
            <a:fld id="{B6F15528-21DE-4FAA-801E-634DDDAF4B2B}" type="slidenum">
              <a:rPr lang="es-ES" sz="1200" dirty="0">
                <a:solidFill>
                  <a:srgbClr val="5B6575"/>
                </a:solidFill>
                <a:latin typeface="Calibri"/>
              </a:rPr>
              <a:t>16</a:t>
            </a:fld>
            <a:endParaRPr lang="es-ES" sz="1200" dirty="0">
              <a:solidFill>
                <a:srgbClr val="5B6575"/>
              </a:solidFill>
              <a:latin typeface="Calibri"/>
            </a:endParaRPr>
          </a:p>
        </p:txBody>
      </p:sp>
      <p:pic>
        <p:nvPicPr>
          <p:cNvPr id="43" name="s16">
            <a:hlinkClick r:id="" action="ppaction://media"/>
            <a:extLst>
              <a:ext uri="{FF2B5EF4-FFF2-40B4-BE49-F238E27FC236}">
                <a16:creationId xmlns:a16="http://schemas.microsoft.com/office/drawing/2014/main" id="{A203140F-37E6-E1DB-610D-EB1EDF41D5EE}"/>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254000" y="254000"/>
            <a:ext cx="508000" cy="508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76760"/>
    </mc:Choice>
    <mc:Fallback>
      <p:transition spd="slow" advTm="7676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3"/>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43"/>
                </p:tgtEl>
              </p:cMediaNode>
            </p:audio>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566928" y="361188"/>
            <a:ext cx="50292" cy="173736"/>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TextBox 2"/>
          <p:cNvSpPr txBox="1"/>
          <p:nvPr/>
        </p:nvSpPr>
        <p:spPr>
          <a:xfrm>
            <a:off x="704088" y="310896"/>
            <a:ext cx="6766560" cy="274320"/>
          </a:xfrm>
          <a:prstGeom prst="rect">
            <a:avLst/>
          </a:prstGeom>
          <a:noFill/>
        </p:spPr>
        <p:txBody>
          <a:bodyPr wrap="square" lIns="45720" tIns="27432" rIns="45720" bIns="27432" anchor="ctr">
            <a:noAutofit/>
          </a:bodyPr>
          <a:lstStyle/>
          <a:p>
            <a:pPr algn="l">
              <a:lnSpc>
                <a:spcPct val="105000"/>
              </a:lnSpc>
            </a:pPr>
            <a:r>
              <a:rPr lang="es-ES" sz="1200" b="1" i="0" spc="80">
                <a:solidFill>
                  <a:srgbClr val="F28C28"/>
                </a:solidFill>
                <a:latin typeface="Calibri"/>
              </a:rPr>
              <a:t>03   DISEÑO Y DESARROLLO DEL MODELO</a:t>
            </a:r>
          </a:p>
        </p:txBody>
      </p:sp>
      <p:sp>
        <p:nvSpPr>
          <p:cNvPr id="4" name="Oval 3"/>
          <p:cNvSpPr/>
          <p:nvPr/>
        </p:nvSpPr>
        <p:spPr>
          <a:xfrm>
            <a:off x="10413187" y="388620"/>
            <a:ext cx="114300" cy="1143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Oval 4"/>
          <p:cNvSpPr/>
          <p:nvPr/>
        </p:nvSpPr>
        <p:spPr>
          <a:xfrm>
            <a:off x="10632643" y="388620"/>
            <a:ext cx="114300" cy="1143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Oval 5"/>
          <p:cNvSpPr/>
          <p:nvPr/>
        </p:nvSpPr>
        <p:spPr>
          <a:xfrm>
            <a:off x="10820095" y="356616"/>
            <a:ext cx="178308" cy="178308"/>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Oval 6"/>
          <p:cNvSpPr/>
          <p:nvPr/>
        </p:nvSpPr>
        <p:spPr>
          <a:xfrm>
            <a:off x="11071555"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Oval 7"/>
          <p:cNvSpPr/>
          <p:nvPr/>
        </p:nvSpPr>
        <p:spPr>
          <a:xfrm>
            <a:off x="11291011"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Oval 8"/>
          <p:cNvSpPr/>
          <p:nvPr/>
        </p:nvSpPr>
        <p:spPr>
          <a:xfrm>
            <a:off x="11510467"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548640" y="585216"/>
            <a:ext cx="11057839" cy="749808"/>
          </a:xfrm>
          <a:prstGeom prst="rect">
            <a:avLst/>
          </a:prstGeom>
          <a:noFill/>
        </p:spPr>
        <p:txBody>
          <a:bodyPr wrap="square" lIns="45720" tIns="27432" rIns="45720" bIns="27432" anchor="ctr">
            <a:noAutofit/>
          </a:bodyPr>
          <a:lstStyle/>
          <a:p>
            <a:pPr algn="l">
              <a:lnSpc>
                <a:spcPct val="105000"/>
              </a:lnSpc>
            </a:pPr>
            <a:r>
              <a:rPr lang="es-ES" sz="3200" b="1" i="0">
                <a:solidFill>
                  <a:srgbClr val="1B2A4A"/>
                </a:solidFill>
                <a:latin typeface="Calibri"/>
              </a:rPr>
              <a:t>Criterios de aceptación fijados a priori</a:t>
            </a:r>
          </a:p>
        </p:txBody>
      </p:sp>
      <p:sp>
        <p:nvSpPr>
          <p:cNvPr id="11" name="Rectangle 10"/>
          <p:cNvSpPr/>
          <p:nvPr/>
        </p:nvSpPr>
        <p:spPr>
          <a:xfrm>
            <a:off x="566928" y="1371600"/>
            <a:ext cx="1051560" cy="50292"/>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Rounded Rectangle 11"/>
          <p:cNvSpPr/>
          <p:nvPr/>
        </p:nvSpPr>
        <p:spPr>
          <a:xfrm>
            <a:off x="566928" y="1572768"/>
            <a:ext cx="3515258" cy="1755648"/>
          </a:xfrm>
          <a:prstGeom prst="roundRect">
            <a:avLst>
              <a:gd name="adj" fmla="val 6000"/>
            </a:avLst>
          </a:prstGeom>
          <a:solidFill>
            <a:srgbClr val="F6F8FC"/>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Rectangle 12"/>
          <p:cNvSpPr/>
          <p:nvPr/>
        </p:nvSpPr>
        <p:spPr>
          <a:xfrm>
            <a:off x="822960" y="1719072"/>
            <a:ext cx="566928" cy="54864"/>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795528" y="1938528"/>
            <a:ext cx="3058058" cy="585978"/>
          </a:xfrm>
          <a:prstGeom prst="rect">
            <a:avLst/>
          </a:prstGeom>
          <a:noFill/>
        </p:spPr>
        <p:txBody>
          <a:bodyPr wrap="square" lIns="45720" tIns="27432" rIns="45720" bIns="27432" anchor="t">
            <a:noAutofit/>
          </a:bodyPr>
          <a:lstStyle/>
          <a:p>
            <a:pPr algn="l">
              <a:lnSpc>
                <a:spcPct val="100000"/>
              </a:lnSpc>
            </a:pPr>
            <a:r>
              <a:rPr lang="es-ES" sz="3000" b="1" i="0">
                <a:solidFill>
                  <a:srgbClr val="1B2A4A"/>
                </a:solidFill>
                <a:latin typeface="Calibri"/>
              </a:rPr>
              <a:t>± 0,5</a:t>
            </a:r>
          </a:p>
        </p:txBody>
      </p:sp>
      <p:sp>
        <p:nvSpPr>
          <p:cNvPr id="15" name="TextBox 14"/>
          <p:cNvSpPr txBox="1"/>
          <p:nvPr/>
        </p:nvSpPr>
        <p:spPr>
          <a:xfrm>
            <a:off x="795528" y="2524506"/>
            <a:ext cx="3058058" cy="845820"/>
          </a:xfrm>
          <a:prstGeom prst="rect">
            <a:avLst/>
          </a:prstGeom>
          <a:noFill/>
        </p:spPr>
        <p:txBody>
          <a:bodyPr wrap="square" lIns="45720" tIns="27432" rIns="45720" bIns="27432" anchor="t">
            <a:noAutofit/>
          </a:bodyPr>
          <a:lstStyle/>
          <a:p>
            <a:pPr algn="l">
              <a:lnSpc>
                <a:spcPct val="112000"/>
              </a:lnSpc>
            </a:pPr>
            <a:r>
              <a:rPr lang="es-ES" sz="1500" b="0" i="0">
                <a:solidFill>
                  <a:srgbClr val="5B6575"/>
                </a:solidFill>
                <a:latin typeface="Calibri"/>
              </a:rPr>
              <a:t>tasas del desplazamiento frente a las teóricas, en las cuatro configuraciones del MMS</a:t>
            </a:r>
          </a:p>
        </p:txBody>
      </p:sp>
      <p:sp>
        <p:nvSpPr>
          <p:cNvPr id="16" name="Rounded Rectangle 15"/>
          <p:cNvSpPr/>
          <p:nvPr/>
        </p:nvSpPr>
        <p:spPr>
          <a:xfrm>
            <a:off x="4338218" y="1572768"/>
            <a:ext cx="3515258" cy="1755648"/>
          </a:xfrm>
          <a:prstGeom prst="roundRect">
            <a:avLst>
              <a:gd name="adj" fmla="val 6000"/>
            </a:avLst>
          </a:prstGeom>
          <a:solidFill>
            <a:srgbClr val="F6F8FC"/>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Rectangle 16"/>
          <p:cNvSpPr/>
          <p:nvPr/>
        </p:nvSpPr>
        <p:spPr>
          <a:xfrm>
            <a:off x="4594250" y="1719072"/>
            <a:ext cx="566928" cy="54864"/>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4566818" y="1938528"/>
            <a:ext cx="3058058" cy="585978"/>
          </a:xfrm>
          <a:prstGeom prst="rect">
            <a:avLst/>
          </a:prstGeom>
          <a:noFill/>
        </p:spPr>
        <p:txBody>
          <a:bodyPr wrap="square" lIns="45720" tIns="27432" rIns="45720" bIns="27432" anchor="t">
            <a:noAutofit/>
          </a:bodyPr>
          <a:lstStyle/>
          <a:p>
            <a:pPr algn="l">
              <a:lnSpc>
                <a:spcPct val="100000"/>
              </a:lnSpc>
            </a:pPr>
            <a:r>
              <a:rPr lang="es-ES" sz="3000" b="1" i="0">
                <a:solidFill>
                  <a:srgbClr val="1B2A4A"/>
                </a:solidFill>
                <a:latin typeface="Calibri"/>
              </a:rPr>
              <a:t>1 %</a:t>
            </a:r>
          </a:p>
        </p:txBody>
      </p:sp>
      <p:sp>
        <p:nvSpPr>
          <p:cNvPr id="19" name="TextBox 18"/>
          <p:cNvSpPr txBox="1"/>
          <p:nvPr/>
        </p:nvSpPr>
        <p:spPr>
          <a:xfrm>
            <a:off x="4566818" y="2524506"/>
            <a:ext cx="3058058" cy="845820"/>
          </a:xfrm>
          <a:prstGeom prst="rect">
            <a:avLst/>
          </a:prstGeom>
          <a:noFill/>
        </p:spPr>
        <p:txBody>
          <a:bodyPr wrap="square" lIns="45720" tIns="27432" rIns="45720" bIns="27432" anchor="t">
            <a:noAutofit/>
          </a:bodyPr>
          <a:lstStyle/>
          <a:p>
            <a:pPr algn="l">
              <a:lnSpc>
                <a:spcPct val="112000"/>
              </a:lnSpc>
            </a:pPr>
            <a:r>
              <a:rPr lang="es-ES" sz="1500" b="0" i="0">
                <a:solidFill>
                  <a:srgbClr val="5B6575"/>
                </a:solidFill>
                <a:latin typeface="Calibri"/>
              </a:rPr>
              <a:t>σₓ de Timoshenko frente al analítico y frente a SAP2000, en tres puntos</a:t>
            </a:r>
          </a:p>
        </p:txBody>
      </p:sp>
      <p:sp>
        <p:nvSpPr>
          <p:cNvPr id="20" name="Rounded Rectangle 19"/>
          <p:cNvSpPr/>
          <p:nvPr/>
        </p:nvSpPr>
        <p:spPr>
          <a:xfrm>
            <a:off x="8109508" y="1572768"/>
            <a:ext cx="3515258" cy="1755648"/>
          </a:xfrm>
          <a:prstGeom prst="roundRect">
            <a:avLst>
              <a:gd name="adj" fmla="val 6000"/>
            </a:avLst>
          </a:prstGeom>
          <a:solidFill>
            <a:srgbClr val="F6F8FC"/>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Rectangle 20"/>
          <p:cNvSpPr/>
          <p:nvPr/>
        </p:nvSpPr>
        <p:spPr>
          <a:xfrm>
            <a:off x="8365540" y="1719072"/>
            <a:ext cx="566928" cy="54864"/>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8338108" y="1938528"/>
            <a:ext cx="3058058" cy="585978"/>
          </a:xfrm>
          <a:prstGeom prst="rect">
            <a:avLst/>
          </a:prstGeom>
          <a:noFill/>
        </p:spPr>
        <p:txBody>
          <a:bodyPr wrap="square" lIns="45720" tIns="27432" rIns="45720" bIns="27432" anchor="t">
            <a:noAutofit/>
          </a:bodyPr>
          <a:lstStyle/>
          <a:p>
            <a:pPr algn="l">
              <a:lnSpc>
                <a:spcPct val="100000"/>
              </a:lnSpc>
            </a:pPr>
            <a:r>
              <a:rPr lang="es-ES" sz="3000" b="1" i="0">
                <a:solidFill>
                  <a:srgbClr val="1B2A4A"/>
                </a:solidFill>
                <a:latin typeface="Calibri"/>
              </a:rPr>
              <a:t>3 %</a:t>
            </a:r>
          </a:p>
        </p:txBody>
      </p:sp>
      <p:sp>
        <p:nvSpPr>
          <p:cNvPr id="23" name="TextBox 22"/>
          <p:cNvSpPr txBox="1"/>
          <p:nvPr/>
        </p:nvSpPr>
        <p:spPr>
          <a:xfrm>
            <a:off x="8338108" y="2524506"/>
            <a:ext cx="3058058" cy="845820"/>
          </a:xfrm>
          <a:prstGeom prst="rect">
            <a:avLst/>
          </a:prstGeom>
          <a:noFill/>
        </p:spPr>
        <p:txBody>
          <a:bodyPr wrap="square" lIns="45720" tIns="27432" rIns="45720" bIns="27432" anchor="t">
            <a:noAutofit/>
          </a:bodyPr>
          <a:lstStyle/>
          <a:p>
            <a:pPr algn="l">
              <a:lnSpc>
                <a:spcPct val="112000"/>
              </a:lnSpc>
            </a:pPr>
            <a:r>
              <a:rPr lang="es-ES" sz="1500" b="0" i="0">
                <a:solidFill>
                  <a:srgbClr val="5B6575"/>
                </a:solidFill>
                <a:latin typeface="Calibri"/>
              </a:rPr>
              <a:t>flecha central frente a la analítica con corrección de cortante</a:t>
            </a:r>
          </a:p>
        </p:txBody>
      </p:sp>
      <p:sp>
        <p:nvSpPr>
          <p:cNvPr id="24" name="Rounded Rectangle 23"/>
          <p:cNvSpPr/>
          <p:nvPr/>
        </p:nvSpPr>
        <p:spPr>
          <a:xfrm>
            <a:off x="566928" y="3584448"/>
            <a:ext cx="3515258" cy="1755648"/>
          </a:xfrm>
          <a:prstGeom prst="roundRect">
            <a:avLst>
              <a:gd name="adj" fmla="val 6000"/>
            </a:avLst>
          </a:prstGeom>
          <a:solidFill>
            <a:srgbClr val="F6F8FC"/>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Rectangle 24"/>
          <p:cNvSpPr/>
          <p:nvPr/>
        </p:nvSpPr>
        <p:spPr>
          <a:xfrm>
            <a:off x="822960" y="3730752"/>
            <a:ext cx="566928" cy="54864"/>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TextBox 25"/>
          <p:cNvSpPr txBox="1"/>
          <p:nvPr/>
        </p:nvSpPr>
        <p:spPr>
          <a:xfrm>
            <a:off x="795528" y="3950208"/>
            <a:ext cx="3058058" cy="585978"/>
          </a:xfrm>
          <a:prstGeom prst="rect">
            <a:avLst/>
          </a:prstGeom>
          <a:noFill/>
        </p:spPr>
        <p:txBody>
          <a:bodyPr wrap="square" lIns="45720" tIns="27432" rIns="45720" bIns="27432" anchor="t">
            <a:noAutofit/>
          </a:bodyPr>
          <a:lstStyle/>
          <a:p>
            <a:pPr algn="l">
              <a:lnSpc>
                <a:spcPct val="100000"/>
              </a:lnSpc>
            </a:pPr>
            <a:r>
              <a:rPr lang="es-ES" sz="3000" b="1" i="0">
                <a:solidFill>
                  <a:srgbClr val="1B2A4A"/>
                </a:solidFill>
                <a:latin typeface="Calibri"/>
              </a:rPr>
              <a:t>1,5 %</a:t>
            </a:r>
          </a:p>
        </p:txBody>
      </p:sp>
      <p:sp>
        <p:nvSpPr>
          <p:cNvPr id="27" name="TextBox 26"/>
          <p:cNvSpPr txBox="1"/>
          <p:nvPr/>
        </p:nvSpPr>
        <p:spPr>
          <a:xfrm>
            <a:off x="795528" y="4536186"/>
            <a:ext cx="3058058" cy="845820"/>
          </a:xfrm>
          <a:prstGeom prst="rect">
            <a:avLst/>
          </a:prstGeom>
          <a:noFill/>
        </p:spPr>
        <p:txBody>
          <a:bodyPr wrap="square" lIns="45720" tIns="27432" rIns="45720" bIns="27432" anchor="t">
            <a:noAutofit/>
          </a:bodyPr>
          <a:lstStyle/>
          <a:p>
            <a:pPr algn="l">
              <a:lnSpc>
                <a:spcPct val="112000"/>
              </a:lnSpc>
            </a:pPr>
            <a:r>
              <a:rPr lang="es-ES" sz="1500" b="0" i="0">
                <a:solidFill>
                  <a:srgbClr val="5B6575"/>
                </a:solidFill>
                <a:latin typeface="Calibri"/>
              </a:rPr>
              <a:t>Cook: Q9 con N = 8 frente a la referencia 23,96</a:t>
            </a:r>
          </a:p>
        </p:txBody>
      </p:sp>
      <p:sp>
        <p:nvSpPr>
          <p:cNvPr id="28" name="Rounded Rectangle 27"/>
          <p:cNvSpPr/>
          <p:nvPr/>
        </p:nvSpPr>
        <p:spPr>
          <a:xfrm>
            <a:off x="4338218" y="3584448"/>
            <a:ext cx="3515258" cy="1755648"/>
          </a:xfrm>
          <a:prstGeom prst="roundRect">
            <a:avLst>
              <a:gd name="adj" fmla="val 6000"/>
            </a:avLst>
          </a:prstGeom>
          <a:solidFill>
            <a:srgbClr val="F6F8FC"/>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Rectangle 28"/>
          <p:cNvSpPr/>
          <p:nvPr/>
        </p:nvSpPr>
        <p:spPr>
          <a:xfrm>
            <a:off x="4594250" y="3730752"/>
            <a:ext cx="566928" cy="54864"/>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 name="TextBox 29"/>
          <p:cNvSpPr txBox="1"/>
          <p:nvPr/>
        </p:nvSpPr>
        <p:spPr>
          <a:xfrm>
            <a:off x="4566818" y="3950208"/>
            <a:ext cx="3058058" cy="585978"/>
          </a:xfrm>
          <a:prstGeom prst="rect">
            <a:avLst/>
          </a:prstGeom>
          <a:noFill/>
        </p:spPr>
        <p:txBody>
          <a:bodyPr wrap="square" lIns="45720" tIns="27432" rIns="45720" bIns="27432" anchor="t">
            <a:noAutofit/>
          </a:bodyPr>
          <a:lstStyle/>
          <a:p>
            <a:pPr algn="l">
              <a:lnSpc>
                <a:spcPct val="100000"/>
              </a:lnSpc>
            </a:pPr>
            <a:r>
              <a:rPr lang="es-ES" sz="3000" b="1" i="0">
                <a:solidFill>
                  <a:srgbClr val="1B2A4A"/>
                </a:solidFill>
                <a:latin typeface="Calibri"/>
              </a:rPr>
              <a:t>u(Q4) &lt; u(Q9)</a:t>
            </a:r>
          </a:p>
        </p:txBody>
      </p:sp>
      <p:sp>
        <p:nvSpPr>
          <p:cNvPr id="31" name="TextBox 30"/>
          <p:cNvSpPr txBox="1"/>
          <p:nvPr/>
        </p:nvSpPr>
        <p:spPr>
          <a:xfrm>
            <a:off x="4566818" y="4536186"/>
            <a:ext cx="3058058" cy="845820"/>
          </a:xfrm>
          <a:prstGeom prst="rect">
            <a:avLst/>
          </a:prstGeom>
          <a:noFill/>
        </p:spPr>
        <p:txBody>
          <a:bodyPr wrap="square" lIns="45720" tIns="27432" rIns="45720" bIns="27432" anchor="t">
            <a:noAutofit/>
          </a:bodyPr>
          <a:lstStyle/>
          <a:p>
            <a:pPr algn="l">
              <a:lnSpc>
                <a:spcPct val="112000"/>
              </a:lnSpc>
            </a:pPr>
            <a:r>
              <a:rPr lang="es-ES" sz="1500" b="0" i="0">
                <a:solidFill>
                  <a:srgbClr val="5B6575"/>
                </a:solidFill>
                <a:latin typeface="Calibri"/>
              </a:rPr>
              <a:t>a igual malla: la firma del bloqueo por cortante</a:t>
            </a:r>
          </a:p>
        </p:txBody>
      </p:sp>
      <p:sp>
        <p:nvSpPr>
          <p:cNvPr id="32" name="Rounded Rectangle 31"/>
          <p:cNvSpPr/>
          <p:nvPr/>
        </p:nvSpPr>
        <p:spPr>
          <a:xfrm>
            <a:off x="8109508" y="3584448"/>
            <a:ext cx="3515258" cy="1755648"/>
          </a:xfrm>
          <a:prstGeom prst="roundRect">
            <a:avLst>
              <a:gd name="adj" fmla="val 6000"/>
            </a:avLst>
          </a:prstGeom>
          <a:solidFill>
            <a:srgbClr val="F6F8FC"/>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 name="Rectangle 32"/>
          <p:cNvSpPr/>
          <p:nvPr/>
        </p:nvSpPr>
        <p:spPr>
          <a:xfrm>
            <a:off x="8365540" y="3730752"/>
            <a:ext cx="566928" cy="54864"/>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4" name="TextBox 33"/>
          <p:cNvSpPr txBox="1"/>
          <p:nvPr/>
        </p:nvSpPr>
        <p:spPr>
          <a:xfrm>
            <a:off x="8338108" y="3950208"/>
            <a:ext cx="3058058" cy="585978"/>
          </a:xfrm>
          <a:prstGeom prst="rect">
            <a:avLst/>
          </a:prstGeom>
          <a:noFill/>
        </p:spPr>
        <p:txBody>
          <a:bodyPr wrap="square" lIns="45720" tIns="27432" rIns="45720" bIns="27432" anchor="t">
            <a:noAutofit/>
          </a:bodyPr>
          <a:lstStyle/>
          <a:p>
            <a:pPr algn="l">
              <a:lnSpc>
                <a:spcPct val="100000"/>
              </a:lnSpc>
            </a:pPr>
            <a:r>
              <a:rPr lang="es-ES" sz="3000" b="1" i="0">
                <a:solidFill>
                  <a:srgbClr val="1B2A4A"/>
                </a:solidFill>
                <a:latin typeface="Calibri"/>
              </a:rPr>
              <a:t>7/7 · 9/9</a:t>
            </a:r>
          </a:p>
        </p:txBody>
      </p:sp>
      <p:sp>
        <p:nvSpPr>
          <p:cNvPr id="35" name="TextBox 34"/>
          <p:cNvSpPr txBox="1"/>
          <p:nvPr/>
        </p:nvSpPr>
        <p:spPr>
          <a:xfrm>
            <a:off x="8338108" y="4536186"/>
            <a:ext cx="3058058" cy="845820"/>
          </a:xfrm>
          <a:prstGeom prst="rect">
            <a:avLst/>
          </a:prstGeom>
          <a:noFill/>
        </p:spPr>
        <p:txBody>
          <a:bodyPr wrap="square" lIns="45720" tIns="27432" rIns="45720" bIns="27432" anchor="t">
            <a:noAutofit/>
          </a:bodyPr>
          <a:lstStyle/>
          <a:p>
            <a:pPr algn="l">
              <a:lnSpc>
                <a:spcPct val="112000"/>
              </a:lnSpc>
            </a:pPr>
            <a:r>
              <a:rPr lang="es-ES" sz="1500" b="0" i="0">
                <a:solidFill>
                  <a:srgbClr val="5B6575"/>
                </a:solidFill>
                <a:latin typeface="Calibri"/>
              </a:rPr>
              <a:t>etapas con módulo interactivo y con desarrollo numérico en la memoria</a:t>
            </a:r>
          </a:p>
        </p:txBody>
      </p:sp>
      <p:sp>
        <p:nvSpPr>
          <p:cNvPr id="36" name="Rectangle 35"/>
          <p:cNvSpPr/>
          <p:nvPr/>
        </p:nvSpPr>
        <p:spPr>
          <a:xfrm>
            <a:off x="566928" y="5449824"/>
            <a:ext cx="11057839" cy="841248"/>
          </a:xfrm>
          <a:prstGeom prst="rect">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7" name="Rectangle 36"/>
          <p:cNvSpPr/>
          <p:nvPr/>
        </p:nvSpPr>
        <p:spPr>
          <a:xfrm>
            <a:off x="566928" y="5449824"/>
            <a:ext cx="77724" cy="841248"/>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8" name="TextBox 37"/>
          <p:cNvSpPr txBox="1"/>
          <p:nvPr/>
        </p:nvSpPr>
        <p:spPr>
          <a:xfrm>
            <a:off x="795528" y="5449824"/>
            <a:ext cx="10737799" cy="841248"/>
          </a:xfrm>
          <a:prstGeom prst="rect">
            <a:avLst/>
          </a:prstGeom>
          <a:noFill/>
        </p:spPr>
        <p:txBody>
          <a:bodyPr wrap="square" lIns="45720" tIns="27432" rIns="45720" bIns="27432" anchor="ctr">
            <a:noAutofit/>
          </a:bodyPr>
          <a:lstStyle/>
          <a:p>
            <a:pPr algn="l">
              <a:lnSpc>
                <a:spcPct val="100000"/>
              </a:lnSpc>
            </a:pPr>
            <a:r>
              <a:rPr lang="es-ES" sz="2000" b="1" i="0">
                <a:solidFill>
                  <a:srgbClr val="1B2A4A"/>
                </a:solidFill>
                <a:latin typeface="Calibri"/>
              </a:rPr>
              <a:t>Los guiones los evalúan solos y terminan con error si alguno falla; también entran el equilibrio (residuo &lt; 10⁻⁸) y la ida y vuelta de los formatos</a:t>
            </a:r>
          </a:p>
        </p:txBody>
      </p:sp>
      <p:sp>
        <p:nvSpPr>
          <p:cNvPr id="39" name="Rectangle 38"/>
          <p:cNvSpPr/>
          <p:nvPr/>
        </p:nvSpPr>
        <p:spPr>
          <a:xfrm>
            <a:off x="566928" y="6364224"/>
            <a:ext cx="11057839" cy="7315"/>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0" name="TextBox 39"/>
          <p:cNvSpPr txBox="1"/>
          <p:nvPr/>
        </p:nvSpPr>
        <p:spPr>
          <a:xfrm>
            <a:off x="566928" y="6437376"/>
            <a:ext cx="5029200" cy="292608"/>
          </a:xfrm>
          <a:prstGeom prst="rect">
            <a:avLst/>
          </a:prstGeom>
          <a:noFill/>
        </p:spPr>
        <p:txBody>
          <a:bodyPr wrap="square" lIns="45720" tIns="27432" rIns="45720" bIns="27432" anchor="ctr">
            <a:noAutofit/>
          </a:bodyPr>
          <a:lstStyle/>
          <a:p>
            <a:pPr algn="l">
              <a:lnSpc>
                <a:spcPct val="105000"/>
              </a:lnSpc>
            </a:pPr>
            <a:r>
              <a:rPr lang="es-ES" sz="1200" b="0" i="0">
                <a:solidFill>
                  <a:srgbClr val="5B6575"/>
                </a:solidFill>
                <a:latin typeface="Calibri"/>
              </a:rPr>
              <a:t>EduFEM · Defensa de tesis · Ingeniería Civil · UATF</a:t>
            </a:r>
          </a:p>
        </p:txBody>
      </p:sp>
      <p:sp>
        <p:nvSpPr>
          <p:cNvPr id="41" name="TextBox 40"/>
          <p:cNvSpPr txBox="1"/>
          <p:nvPr/>
        </p:nvSpPr>
        <p:spPr>
          <a:xfrm>
            <a:off x="4023360" y="6437376"/>
            <a:ext cx="5394960" cy="292608"/>
          </a:xfrm>
          <a:prstGeom prst="rect">
            <a:avLst/>
          </a:prstGeom>
          <a:noFill/>
        </p:spPr>
        <p:txBody>
          <a:bodyPr wrap="square" lIns="45720" tIns="27432" rIns="45720" bIns="27432" anchor="ctr">
            <a:noAutofit/>
          </a:bodyPr>
          <a:lstStyle/>
          <a:p>
            <a:pPr algn="ctr">
              <a:lnSpc>
                <a:spcPct val="105000"/>
              </a:lnSpc>
            </a:pPr>
            <a:r>
              <a:rPr lang="es-ES" sz="1100" b="0" i="0">
                <a:solidFill>
                  <a:srgbClr val="5B6575"/>
                </a:solidFill>
                <a:latin typeface="Calibri"/>
              </a:rPr>
              <a:t>Tesis: §2.1.6, criterios de aceptación y contraste de la hipótesis</a:t>
            </a:r>
          </a:p>
        </p:txBody>
      </p:sp>
      <p:sp>
        <p:nvSpPr>
          <p:cNvPr id="42" name="TextBox 41"/>
          <p:cNvSpPr txBox="1"/>
          <p:nvPr/>
        </p:nvSpPr>
        <p:spPr>
          <a:xfrm>
            <a:off x="10527487" y="6437376"/>
            <a:ext cx="1097280" cy="292608"/>
          </a:xfrm>
          <a:prstGeom prst="rect">
            <a:avLst/>
          </a:prstGeom>
          <a:noFill/>
        </p:spPr>
        <p:txBody>
          <a:bodyPr wrap="none" lIns="45720" tIns="18288" rIns="45720" bIns="18288">
            <a:spAutoFit/>
          </a:bodyPr>
          <a:lstStyle/>
          <a:p>
            <a:pPr algn="r"/>
            <a:fld id="{B6F15528-21DE-4FAA-801E-634DDDAF4B2B}" type="slidenum">
              <a:rPr lang="es-ES" sz="1200" dirty="0">
                <a:solidFill>
                  <a:srgbClr val="5B6575"/>
                </a:solidFill>
                <a:latin typeface="Calibri"/>
              </a:rPr>
              <a:t>17</a:t>
            </a:fld>
            <a:endParaRPr lang="es-ES" sz="1200" dirty="0">
              <a:solidFill>
                <a:srgbClr val="5B6575"/>
              </a:solidFill>
              <a:latin typeface="Calibri"/>
            </a:endParaRPr>
          </a:p>
        </p:txBody>
      </p:sp>
      <p:pic>
        <p:nvPicPr>
          <p:cNvPr id="43" name="s17">
            <a:hlinkClick r:id="" action="ppaction://media"/>
            <a:extLst>
              <a:ext uri="{FF2B5EF4-FFF2-40B4-BE49-F238E27FC236}">
                <a16:creationId xmlns:a16="http://schemas.microsoft.com/office/drawing/2014/main" id="{5E57E1AD-256A-8421-C20F-D646FA0EB9F6}"/>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254000" y="254000"/>
            <a:ext cx="508000" cy="508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70496"/>
    </mc:Choice>
    <mc:Fallback>
      <p:transition spd="slow" advTm="70496"/>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3"/>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43"/>
                </p:tgtEl>
              </p:cMediaNode>
            </p:audio>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566928" y="361188"/>
            <a:ext cx="50292" cy="173736"/>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TextBox 2"/>
          <p:cNvSpPr txBox="1"/>
          <p:nvPr/>
        </p:nvSpPr>
        <p:spPr>
          <a:xfrm>
            <a:off x="704088" y="310896"/>
            <a:ext cx="6766560" cy="274320"/>
          </a:xfrm>
          <a:prstGeom prst="rect">
            <a:avLst/>
          </a:prstGeom>
          <a:noFill/>
        </p:spPr>
        <p:txBody>
          <a:bodyPr wrap="square" lIns="45720" tIns="27432" rIns="45720" bIns="27432" anchor="ctr">
            <a:noAutofit/>
          </a:bodyPr>
          <a:lstStyle/>
          <a:p>
            <a:pPr algn="l">
              <a:lnSpc>
                <a:spcPct val="105000"/>
              </a:lnSpc>
            </a:pPr>
            <a:r>
              <a:rPr lang="es-ES" sz="1200" b="1" i="0" spc="80">
                <a:solidFill>
                  <a:srgbClr val="F28C28"/>
                </a:solidFill>
                <a:latin typeface="Calibri"/>
              </a:rPr>
              <a:t>03   DISEÑO Y DESARROLLO DEL MODELO</a:t>
            </a:r>
          </a:p>
        </p:txBody>
      </p:sp>
      <p:sp>
        <p:nvSpPr>
          <p:cNvPr id="4" name="Oval 3"/>
          <p:cNvSpPr/>
          <p:nvPr/>
        </p:nvSpPr>
        <p:spPr>
          <a:xfrm>
            <a:off x="10413187" y="388620"/>
            <a:ext cx="114300" cy="1143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Oval 4"/>
          <p:cNvSpPr/>
          <p:nvPr/>
        </p:nvSpPr>
        <p:spPr>
          <a:xfrm>
            <a:off x="10632643" y="388620"/>
            <a:ext cx="114300" cy="1143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Oval 5"/>
          <p:cNvSpPr/>
          <p:nvPr/>
        </p:nvSpPr>
        <p:spPr>
          <a:xfrm>
            <a:off x="10820095" y="356616"/>
            <a:ext cx="178308" cy="178308"/>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Oval 6"/>
          <p:cNvSpPr/>
          <p:nvPr/>
        </p:nvSpPr>
        <p:spPr>
          <a:xfrm>
            <a:off x="11071555"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Oval 7"/>
          <p:cNvSpPr/>
          <p:nvPr/>
        </p:nvSpPr>
        <p:spPr>
          <a:xfrm>
            <a:off x="11291011"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Oval 8"/>
          <p:cNvSpPr/>
          <p:nvPr/>
        </p:nvSpPr>
        <p:spPr>
          <a:xfrm>
            <a:off x="11510467"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548640" y="585216"/>
            <a:ext cx="11057839" cy="749808"/>
          </a:xfrm>
          <a:prstGeom prst="rect">
            <a:avLst/>
          </a:prstGeom>
          <a:noFill/>
        </p:spPr>
        <p:txBody>
          <a:bodyPr wrap="square" lIns="45720" tIns="27432" rIns="45720" bIns="27432" anchor="ctr">
            <a:noAutofit/>
          </a:bodyPr>
          <a:lstStyle/>
          <a:p>
            <a:pPr algn="l">
              <a:lnSpc>
                <a:spcPct val="105000"/>
              </a:lnSpc>
            </a:pPr>
            <a:r>
              <a:rPr lang="es-ES" sz="3200" b="1" i="0">
                <a:solidFill>
                  <a:srgbClr val="1B2A4A"/>
                </a:solidFill>
                <a:latin typeface="Calibri"/>
              </a:rPr>
              <a:t>Arquitectura: seis capas, un modelo</a:t>
            </a:r>
          </a:p>
        </p:txBody>
      </p:sp>
      <p:sp>
        <p:nvSpPr>
          <p:cNvPr id="11" name="Rectangle 10"/>
          <p:cNvSpPr/>
          <p:nvPr/>
        </p:nvSpPr>
        <p:spPr>
          <a:xfrm>
            <a:off x="566928" y="1371600"/>
            <a:ext cx="1051560" cy="50292"/>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612648" y="1618488"/>
            <a:ext cx="5257800" cy="4626864"/>
          </a:xfrm>
          <a:prstGeom prst="rect">
            <a:avLst/>
          </a:prstGeom>
          <a:noFill/>
        </p:spPr>
        <p:txBody>
          <a:bodyPr wrap="square" lIns="45720" tIns="27432" rIns="45720" bIns="27432" anchor="ctr">
            <a:noAutofit/>
          </a:bodyPr>
          <a:lstStyle/>
          <a:p>
            <a:pPr marL="347472" indent="-347472">
              <a:lnSpc>
                <a:spcPct val="112000"/>
              </a:lnSpc>
              <a:spcAft>
                <a:spcPts val="1200"/>
              </a:spcAft>
              <a:buClr>
                <a:srgbClr val="F28C28"/>
              </a:buClr>
              <a:buSzPct val="100000"/>
              <a:buFont typeface="Arial"/>
              <a:buChar char="•"/>
            </a:pPr>
            <a:r>
              <a:rPr lang="es-ES" sz="2400" b="1" i="0">
                <a:solidFill>
                  <a:srgbClr val="1B2A4A"/>
                </a:solidFill>
                <a:latin typeface="Calibri"/>
              </a:rPr>
              <a:t>Python libre:</a:t>
            </a:r>
            <a:r>
              <a:rPr lang="es-ES" sz="2400" b="0" i="0">
                <a:solidFill>
                  <a:srgbClr val="1F2937"/>
                </a:solidFill>
                <a:latin typeface="Calibri"/>
              </a:rPr>
              <a:t> tkinter y ttkbootstrap, NumPy y SciPy</a:t>
            </a:r>
          </a:p>
          <a:p>
            <a:pPr marL="347472" indent="-347472">
              <a:lnSpc>
                <a:spcPct val="112000"/>
              </a:lnSpc>
              <a:spcAft>
                <a:spcPts val="1200"/>
              </a:spcAft>
              <a:buClr>
                <a:srgbClr val="F28C28"/>
              </a:buClr>
              <a:buSzPct val="100000"/>
              <a:buFont typeface="Arial"/>
              <a:buChar char="•"/>
            </a:pPr>
            <a:r>
              <a:rPr lang="es-ES" sz="2400" b="0" i="0">
                <a:solidFill>
                  <a:srgbClr val="1F2937"/>
                </a:solidFill>
                <a:latin typeface="Calibri"/>
              </a:rPr>
              <a:t>ProjectModel compartido por referencia: el estado que todas las capas mutan</a:t>
            </a:r>
          </a:p>
          <a:p>
            <a:pPr marL="347472" indent="-347472">
              <a:lnSpc>
                <a:spcPct val="112000"/>
              </a:lnSpc>
              <a:spcAft>
                <a:spcPts val="1200"/>
              </a:spcAft>
              <a:buClr>
                <a:srgbClr val="F28C28"/>
              </a:buClr>
              <a:buSzPct val="100000"/>
              <a:buFont typeface="Arial"/>
              <a:buChar char="•"/>
            </a:pPr>
            <a:r>
              <a:rPr lang="es-ES" sz="2400" b="1" i="0">
                <a:solidFill>
                  <a:srgbClr val="1B2A4A"/>
                </a:solidFill>
                <a:latin typeface="Calibri"/>
              </a:rPr>
              <a:t>fem/ es puro:</a:t>
            </a:r>
            <a:r>
              <a:rPr lang="es-ES" sz="2400" b="0" i="0">
                <a:solidFill>
                  <a:srgbClr val="1F2937"/>
                </a:solidFill>
                <a:latin typeface="Calibri"/>
              </a:rPr>
              <a:t> sin tkinter ni matplotlib, corre sin pantalla</a:t>
            </a:r>
          </a:p>
          <a:p>
            <a:pPr marL="347472" indent="-347472">
              <a:lnSpc>
                <a:spcPct val="112000"/>
              </a:lnSpc>
              <a:spcAft>
                <a:spcPts val="1200"/>
              </a:spcAft>
              <a:buClr>
                <a:srgbClr val="F28C28"/>
              </a:buClr>
              <a:buSzPct val="100000"/>
              <a:buFont typeface="Arial"/>
              <a:buChar char="•"/>
            </a:pPr>
            <a:r>
              <a:rPr lang="es-ES" sz="2400" b="1" i="0">
                <a:solidFill>
                  <a:srgbClr val="1B2A4A"/>
                </a:solidFill>
                <a:latin typeface="Calibri"/>
              </a:rPr>
              <a:t>GDL por índice ordinal:</a:t>
            </a:r>
            <a:r>
              <a:rPr lang="es-ES" sz="2400" b="0" i="0">
                <a:solidFill>
                  <a:srgbClr val="1F2937"/>
                </a:solidFill>
                <a:latin typeface="Calibri"/>
              </a:rPr>
              <a:t> K se dimensiona 2N, no 2·máx(id de nodo)</a:t>
            </a:r>
          </a:p>
        </p:txBody>
      </p:sp>
      <p:sp>
        <p:nvSpPr>
          <p:cNvPr id="13" name="Rounded Rectangle 12"/>
          <p:cNvSpPr/>
          <p:nvPr/>
        </p:nvSpPr>
        <p:spPr>
          <a:xfrm>
            <a:off x="6236208" y="1804260"/>
            <a:ext cx="5388559" cy="3734111"/>
          </a:xfrm>
          <a:prstGeom prst="roundRect">
            <a:avLst>
              <a:gd name="adj" fmla="val 4000"/>
            </a:avLst>
          </a:prstGeom>
          <a:solidFill>
            <a:srgbClr val="F6F8FC"/>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4" name="Picture 13" descr="fig_arquitectura.png"/>
          <p:cNvPicPr>
            <a:picLocks noChangeAspect="1"/>
          </p:cNvPicPr>
          <p:nvPr/>
        </p:nvPicPr>
        <p:blipFill>
          <a:blip r:embed="rId5"/>
          <a:stretch>
            <a:fillRect/>
          </a:stretch>
        </p:blipFill>
        <p:spPr>
          <a:xfrm>
            <a:off x="6355080" y="1923132"/>
            <a:ext cx="5150815" cy="3496367"/>
          </a:xfrm>
          <a:prstGeom prst="rect">
            <a:avLst/>
          </a:prstGeom>
        </p:spPr>
      </p:pic>
      <p:sp>
        <p:nvSpPr>
          <p:cNvPr id="15" name="TextBox 14"/>
          <p:cNvSpPr txBox="1"/>
          <p:nvPr/>
        </p:nvSpPr>
        <p:spPr>
          <a:xfrm>
            <a:off x="6236208" y="5465219"/>
            <a:ext cx="5388559" cy="502920"/>
          </a:xfrm>
          <a:prstGeom prst="rect">
            <a:avLst/>
          </a:prstGeom>
          <a:noFill/>
        </p:spPr>
        <p:txBody>
          <a:bodyPr wrap="square" lIns="45720" tIns="27432" rIns="45720" bIns="27432" anchor="t">
            <a:noAutofit/>
          </a:bodyPr>
          <a:lstStyle/>
          <a:p>
            <a:pPr algn="ctr">
              <a:lnSpc>
                <a:spcPct val="105000"/>
              </a:lnSpc>
            </a:pPr>
            <a:r>
              <a:rPr lang="es-ES" sz="1500" b="0" i="1">
                <a:solidFill>
                  <a:srgbClr val="5B6575"/>
                </a:solidFill>
                <a:latin typeface="Calibri"/>
              </a:rPr>
              <a:t>Arquitectura por capas centrada en el modelo de proyecto</a:t>
            </a:r>
          </a:p>
        </p:txBody>
      </p:sp>
      <p:sp>
        <p:nvSpPr>
          <p:cNvPr id="16" name="Rectangle 15"/>
          <p:cNvSpPr/>
          <p:nvPr/>
        </p:nvSpPr>
        <p:spPr>
          <a:xfrm>
            <a:off x="566928" y="6364224"/>
            <a:ext cx="11057839" cy="7315"/>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566928" y="6437376"/>
            <a:ext cx="5029200" cy="292608"/>
          </a:xfrm>
          <a:prstGeom prst="rect">
            <a:avLst/>
          </a:prstGeom>
          <a:noFill/>
        </p:spPr>
        <p:txBody>
          <a:bodyPr wrap="square" lIns="45720" tIns="27432" rIns="45720" bIns="27432" anchor="ctr">
            <a:noAutofit/>
          </a:bodyPr>
          <a:lstStyle/>
          <a:p>
            <a:pPr algn="l">
              <a:lnSpc>
                <a:spcPct val="105000"/>
              </a:lnSpc>
            </a:pPr>
            <a:r>
              <a:rPr lang="es-ES" sz="1200" b="0" i="0">
                <a:solidFill>
                  <a:srgbClr val="5B6575"/>
                </a:solidFill>
                <a:latin typeface="Calibri"/>
              </a:rPr>
              <a:t>EduFEM · Defensa de tesis · Ingeniería Civil · UATF</a:t>
            </a:r>
          </a:p>
        </p:txBody>
      </p:sp>
      <p:sp>
        <p:nvSpPr>
          <p:cNvPr id="18" name="TextBox 17"/>
          <p:cNvSpPr txBox="1"/>
          <p:nvPr/>
        </p:nvSpPr>
        <p:spPr>
          <a:xfrm>
            <a:off x="4023360" y="6437376"/>
            <a:ext cx="5394960" cy="292608"/>
          </a:xfrm>
          <a:prstGeom prst="rect">
            <a:avLst/>
          </a:prstGeom>
          <a:noFill/>
        </p:spPr>
        <p:txBody>
          <a:bodyPr wrap="square" lIns="45720" tIns="27432" rIns="45720" bIns="27432" anchor="ctr">
            <a:noAutofit/>
          </a:bodyPr>
          <a:lstStyle/>
          <a:p>
            <a:pPr algn="ctr">
              <a:lnSpc>
                <a:spcPct val="105000"/>
              </a:lnSpc>
            </a:pPr>
            <a:r>
              <a:rPr lang="es-ES" sz="1200" b="0" i="0">
                <a:solidFill>
                  <a:srgbClr val="5B6575"/>
                </a:solidFill>
                <a:latin typeface="Calibri"/>
              </a:rPr>
              <a:t>Tesis: §2.2, requisitos, stack y arquitectura</a:t>
            </a:r>
          </a:p>
        </p:txBody>
      </p:sp>
      <p:sp>
        <p:nvSpPr>
          <p:cNvPr id="19" name="TextBox 18"/>
          <p:cNvSpPr txBox="1"/>
          <p:nvPr/>
        </p:nvSpPr>
        <p:spPr>
          <a:xfrm>
            <a:off x="10527487" y="6437376"/>
            <a:ext cx="1097280" cy="292608"/>
          </a:xfrm>
          <a:prstGeom prst="rect">
            <a:avLst/>
          </a:prstGeom>
          <a:noFill/>
        </p:spPr>
        <p:txBody>
          <a:bodyPr wrap="none" lIns="45720" tIns="18288" rIns="45720" bIns="18288">
            <a:spAutoFit/>
          </a:bodyPr>
          <a:lstStyle/>
          <a:p>
            <a:pPr algn="r"/>
            <a:fld id="{B6F15528-21DE-4FAA-801E-634DDDAF4B2B}" type="slidenum">
              <a:rPr lang="es-ES" sz="1200" dirty="0">
                <a:solidFill>
                  <a:srgbClr val="5B6575"/>
                </a:solidFill>
                <a:latin typeface="Calibri"/>
              </a:rPr>
              <a:t>18</a:t>
            </a:fld>
            <a:endParaRPr lang="es-ES" sz="1200" dirty="0">
              <a:solidFill>
                <a:srgbClr val="5B6575"/>
              </a:solidFill>
              <a:latin typeface="Calibri"/>
            </a:endParaRPr>
          </a:p>
        </p:txBody>
      </p:sp>
      <p:pic>
        <p:nvPicPr>
          <p:cNvPr id="20" name="s18">
            <a:hlinkClick r:id="" action="ppaction://media"/>
            <a:extLst>
              <a:ext uri="{FF2B5EF4-FFF2-40B4-BE49-F238E27FC236}">
                <a16:creationId xmlns:a16="http://schemas.microsoft.com/office/drawing/2014/main" id="{F421AC85-03CB-1BB9-183F-419C9E8FB928}"/>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254000" y="254000"/>
            <a:ext cx="508000" cy="508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3216"/>
    </mc:Choice>
    <mc:Fallback>
      <p:transition spd="slow" advTm="53216"/>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20"/>
                </p:tgtEl>
              </p:cMediaNode>
            </p:audio>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566928" y="361188"/>
            <a:ext cx="50292" cy="173736"/>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TextBox 2"/>
          <p:cNvSpPr txBox="1"/>
          <p:nvPr/>
        </p:nvSpPr>
        <p:spPr>
          <a:xfrm>
            <a:off x="704088" y="310896"/>
            <a:ext cx="6766560" cy="274320"/>
          </a:xfrm>
          <a:prstGeom prst="rect">
            <a:avLst/>
          </a:prstGeom>
          <a:noFill/>
        </p:spPr>
        <p:txBody>
          <a:bodyPr wrap="square" lIns="45720" tIns="27432" rIns="45720" bIns="27432" anchor="ctr">
            <a:noAutofit/>
          </a:bodyPr>
          <a:lstStyle/>
          <a:p>
            <a:pPr algn="l">
              <a:lnSpc>
                <a:spcPct val="105000"/>
              </a:lnSpc>
            </a:pPr>
            <a:r>
              <a:rPr lang="es-ES" sz="1200" b="1" i="0" spc="80">
                <a:solidFill>
                  <a:srgbClr val="F28C28"/>
                </a:solidFill>
                <a:latin typeface="Calibri"/>
              </a:rPr>
              <a:t>03   DISEÑO Y DESARROLLO DEL MODELO</a:t>
            </a:r>
          </a:p>
        </p:txBody>
      </p:sp>
      <p:sp>
        <p:nvSpPr>
          <p:cNvPr id="4" name="Oval 3"/>
          <p:cNvSpPr/>
          <p:nvPr/>
        </p:nvSpPr>
        <p:spPr>
          <a:xfrm>
            <a:off x="10413187" y="388620"/>
            <a:ext cx="114300" cy="1143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Oval 4"/>
          <p:cNvSpPr/>
          <p:nvPr/>
        </p:nvSpPr>
        <p:spPr>
          <a:xfrm>
            <a:off x="10632643" y="388620"/>
            <a:ext cx="114300" cy="1143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Oval 5"/>
          <p:cNvSpPr/>
          <p:nvPr/>
        </p:nvSpPr>
        <p:spPr>
          <a:xfrm>
            <a:off x="10820095" y="356616"/>
            <a:ext cx="178308" cy="178308"/>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Oval 6"/>
          <p:cNvSpPr/>
          <p:nvPr/>
        </p:nvSpPr>
        <p:spPr>
          <a:xfrm>
            <a:off x="11071555"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Oval 7"/>
          <p:cNvSpPr/>
          <p:nvPr/>
        </p:nvSpPr>
        <p:spPr>
          <a:xfrm>
            <a:off x="11291011"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Oval 8"/>
          <p:cNvSpPr/>
          <p:nvPr/>
        </p:nvSpPr>
        <p:spPr>
          <a:xfrm>
            <a:off x="11510467"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548640" y="585216"/>
            <a:ext cx="11057839" cy="749808"/>
          </a:xfrm>
          <a:prstGeom prst="rect">
            <a:avLst/>
          </a:prstGeom>
          <a:noFill/>
        </p:spPr>
        <p:txBody>
          <a:bodyPr wrap="square" lIns="45720" tIns="27432" rIns="45720" bIns="27432" anchor="ctr">
            <a:noAutofit/>
          </a:bodyPr>
          <a:lstStyle/>
          <a:p>
            <a:pPr algn="l">
              <a:lnSpc>
                <a:spcPct val="105000"/>
              </a:lnSpc>
            </a:pPr>
            <a:r>
              <a:rPr lang="es-ES" sz="3200" b="1" i="0">
                <a:solidFill>
                  <a:srgbClr val="1B2A4A"/>
                </a:solidFill>
                <a:latin typeface="Calibri"/>
              </a:rPr>
              <a:t>Pre-proceso: un lienzo, cinco tablas</a:t>
            </a:r>
          </a:p>
        </p:txBody>
      </p:sp>
      <p:sp>
        <p:nvSpPr>
          <p:cNvPr id="11" name="Rectangle 10"/>
          <p:cNvSpPr/>
          <p:nvPr/>
        </p:nvSpPr>
        <p:spPr>
          <a:xfrm>
            <a:off x="566928" y="1371600"/>
            <a:ext cx="1051560" cy="50292"/>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612648" y="1618488"/>
            <a:ext cx="5257800" cy="4626864"/>
          </a:xfrm>
          <a:prstGeom prst="rect">
            <a:avLst/>
          </a:prstGeom>
          <a:noFill/>
        </p:spPr>
        <p:txBody>
          <a:bodyPr wrap="square" lIns="45720" tIns="27432" rIns="45720" bIns="27432" anchor="ctr">
            <a:noAutofit/>
          </a:bodyPr>
          <a:lstStyle/>
          <a:p>
            <a:pPr marL="347472" indent="-347472">
              <a:lnSpc>
                <a:spcPct val="112000"/>
              </a:lnSpc>
              <a:spcAft>
                <a:spcPts val="1200"/>
              </a:spcAft>
              <a:buClr>
                <a:srgbClr val="F28C28"/>
              </a:buClr>
              <a:buSzPct val="100000"/>
              <a:buFont typeface="Arial"/>
              <a:buChar char="•"/>
            </a:pPr>
            <a:r>
              <a:rPr lang="es-ES" sz="2200" b="0" i="0">
                <a:solidFill>
                  <a:srgbClr val="1F2937"/>
                </a:solidFill>
                <a:latin typeface="Calibri"/>
              </a:rPr>
              <a:t>Lienzo único compartido por pre-proceso, proceso y post-proceso</a:t>
            </a:r>
          </a:p>
          <a:p>
            <a:pPr marL="347472" indent="-347472">
              <a:lnSpc>
                <a:spcPct val="112000"/>
              </a:lnSpc>
              <a:spcAft>
                <a:spcPts val="1200"/>
              </a:spcAft>
              <a:buClr>
                <a:srgbClr val="F28C28"/>
              </a:buClr>
              <a:buSzPct val="100000"/>
              <a:buFont typeface="Arial"/>
              <a:buChar char="•"/>
            </a:pPr>
            <a:r>
              <a:rPr lang="es-ES" sz="2200" b="1" i="0">
                <a:solidFill>
                  <a:srgbClr val="1B2A4A"/>
                </a:solidFill>
                <a:latin typeface="Calibri"/>
              </a:rPr>
              <a:t>Modo dibujo tipo CAD:</a:t>
            </a:r>
            <a:r>
              <a:rPr lang="es-ES" sz="2200" b="0" i="0">
                <a:solidFill>
                  <a:srgbClr val="1F2937"/>
                </a:solidFill>
                <a:latin typeface="Calibri"/>
              </a:rPr>
              <a:t> cuatro vértices, snap, orientación antihoraria</a:t>
            </a:r>
          </a:p>
          <a:p>
            <a:pPr marL="347472" indent="-347472">
              <a:lnSpc>
                <a:spcPct val="112000"/>
              </a:lnSpc>
              <a:spcAft>
                <a:spcPts val="1200"/>
              </a:spcAft>
              <a:buClr>
                <a:srgbClr val="F28C28"/>
              </a:buClr>
              <a:buSzPct val="100000"/>
              <a:buFont typeface="Arial"/>
              <a:buChar char="•"/>
            </a:pPr>
            <a:r>
              <a:rPr lang="es-ES" sz="2200" b="0" i="0">
                <a:solidFill>
                  <a:srgbClr val="1F2937"/>
                </a:solidFill>
                <a:latin typeface="Calibri"/>
              </a:rPr>
              <a:t>Deshacer y rehacer por instantáneas; sincronización tabla ↔ lienzo</a:t>
            </a:r>
          </a:p>
          <a:p>
            <a:pPr marL="347472" indent="-347472">
              <a:lnSpc>
                <a:spcPct val="112000"/>
              </a:lnSpc>
              <a:spcAft>
                <a:spcPts val="1200"/>
              </a:spcAft>
              <a:buClr>
                <a:srgbClr val="F28C28"/>
              </a:buClr>
              <a:buSzPct val="100000"/>
              <a:buFont typeface="Arial"/>
              <a:buChar char="•"/>
            </a:pPr>
            <a:r>
              <a:rPr lang="es-ES" sz="2200" b="1" i="0">
                <a:solidFill>
                  <a:srgbClr val="1B2A4A"/>
                </a:solidFill>
                <a:latin typeface="Calibri"/>
              </a:rPr>
              <a:t>Validador de salud:</a:t>
            </a:r>
            <a:r>
              <a:rPr lang="es-ES" sz="2200" b="0" i="0">
                <a:solidFill>
                  <a:srgbClr val="1F2937"/>
                </a:solidFill>
                <a:latin typeface="Calibri"/>
              </a:rPr>
              <a:t> 22 chequeos (13 críticos, 8 advertencias, 1 informativo)</a:t>
            </a:r>
          </a:p>
          <a:p>
            <a:pPr marL="347472" indent="-347472">
              <a:lnSpc>
                <a:spcPct val="112000"/>
              </a:lnSpc>
              <a:spcAft>
                <a:spcPts val="1200"/>
              </a:spcAft>
              <a:buClr>
                <a:srgbClr val="F28C28"/>
              </a:buClr>
              <a:buSzPct val="100000"/>
              <a:buFont typeface="Arial"/>
              <a:buChar char="•"/>
            </a:pPr>
            <a:r>
              <a:rPr lang="es-ES" sz="2200" b="1" i="0">
                <a:solidFill>
                  <a:srgbClr val="1B2A4A"/>
                </a:solidFill>
                <a:latin typeface="Calibri"/>
              </a:rPr>
              <a:t>Calidad de malla (M0):</a:t>
            </a:r>
            <a:r>
              <a:rPr lang="es-ES" sz="2200" b="0" i="0">
                <a:solidFill>
                  <a:srgbClr val="1F2937"/>
                </a:solidFill>
                <a:latin typeface="Calibri"/>
              </a:rPr>
              <a:t> q_SJ ≥ 0,50, más exigente que el 0,30 de Verdict</a:t>
            </a:r>
          </a:p>
        </p:txBody>
      </p:sp>
      <p:sp>
        <p:nvSpPr>
          <p:cNvPr id="13" name="Rounded Rectangle 12"/>
          <p:cNvSpPr/>
          <p:nvPr/>
        </p:nvSpPr>
        <p:spPr>
          <a:xfrm>
            <a:off x="6236208" y="1652647"/>
            <a:ext cx="5388559" cy="4037336"/>
          </a:xfrm>
          <a:prstGeom prst="roundRect">
            <a:avLst>
              <a:gd name="adj" fmla="val 4000"/>
            </a:avLst>
          </a:prstGeom>
          <a:solidFill>
            <a:srgbClr val="F6F8FC"/>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4" name="Picture 13" descr="fig_lienzo_lod.png"/>
          <p:cNvPicPr>
            <a:picLocks noChangeAspect="1"/>
          </p:cNvPicPr>
          <p:nvPr/>
        </p:nvPicPr>
        <p:blipFill>
          <a:blip r:embed="rId5"/>
          <a:stretch>
            <a:fillRect/>
          </a:stretch>
        </p:blipFill>
        <p:spPr>
          <a:xfrm>
            <a:off x="6355080" y="1771519"/>
            <a:ext cx="5150815" cy="3799592"/>
          </a:xfrm>
          <a:prstGeom prst="rect">
            <a:avLst/>
          </a:prstGeom>
        </p:spPr>
      </p:pic>
      <p:sp>
        <p:nvSpPr>
          <p:cNvPr id="15" name="TextBox 14"/>
          <p:cNvSpPr txBox="1"/>
          <p:nvPr/>
        </p:nvSpPr>
        <p:spPr>
          <a:xfrm>
            <a:off x="6236208" y="5616831"/>
            <a:ext cx="5388559" cy="502920"/>
          </a:xfrm>
          <a:prstGeom prst="rect">
            <a:avLst/>
          </a:prstGeom>
          <a:noFill/>
        </p:spPr>
        <p:txBody>
          <a:bodyPr wrap="square" lIns="45720" tIns="27432" rIns="45720" bIns="27432" anchor="t">
            <a:noAutofit/>
          </a:bodyPr>
          <a:lstStyle/>
          <a:p>
            <a:pPr algn="ctr">
              <a:lnSpc>
                <a:spcPct val="105000"/>
              </a:lnSpc>
            </a:pPr>
            <a:r>
              <a:rPr lang="es-ES" sz="1500" b="0" i="1">
                <a:solidFill>
                  <a:srgbClr val="5B6575"/>
                </a:solidFill>
                <a:latin typeface="Calibri"/>
              </a:rPr>
              <a:t>Modo de dibujo sobre el lienzo compartido</a:t>
            </a:r>
          </a:p>
        </p:txBody>
      </p:sp>
      <p:sp>
        <p:nvSpPr>
          <p:cNvPr id="16" name="Rectangle 15"/>
          <p:cNvSpPr/>
          <p:nvPr/>
        </p:nvSpPr>
        <p:spPr>
          <a:xfrm>
            <a:off x="566928" y="6364224"/>
            <a:ext cx="11057839" cy="7315"/>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566928" y="6437376"/>
            <a:ext cx="5029200" cy="292608"/>
          </a:xfrm>
          <a:prstGeom prst="rect">
            <a:avLst/>
          </a:prstGeom>
          <a:noFill/>
        </p:spPr>
        <p:txBody>
          <a:bodyPr wrap="square" lIns="45720" tIns="27432" rIns="45720" bIns="27432" anchor="ctr">
            <a:noAutofit/>
          </a:bodyPr>
          <a:lstStyle/>
          <a:p>
            <a:pPr algn="l">
              <a:lnSpc>
                <a:spcPct val="105000"/>
              </a:lnSpc>
            </a:pPr>
            <a:r>
              <a:rPr lang="es-ES" sz="1200" b="0" i="0">
                <a:solidFill>
                  <a:srgbClr val="5B6575"/>
                </a:solidFill>
                <a:latin typeface="Calibri"/>
              </a:rPr>
              <a:t>EduFEM · Defensa de tesis · Ingeniería Civil · UATF</a:t>
            </a:r>
          </a:p>
        </p:txBody>
      </p:sp>
      <p:sp>
        <p:nvSpPr>
          <p:cNvPr id="18" name="TextBox 17"/>
          <p:cNvSpPr txBox="1"/>
          <p:nvPr/>
        </p:nvSpPr>
        <p:spPr>
          <a:xfrm>
            <a:off x="4023360" y="6437376"/>
            <a:ext cx="5394960" cy="292608"/>
          </a:xfrm>
          <a:prstGeom prst="rect">
            <a:avLst/>
          </a:prstGeom>
          <a:noFill/>
        </p:spPr>
        <p:txBody>
          <a:bodyPr wrap="square" lIns="45720" tIns="27432" rIns="45720" bIns="27432" anchor="ctr">
            <a:noAutofit/>
          </a:bodyPr>
          <a:lstStyle/>
          <a:p>
            <a:pPr algn="ctr">
              <a:lnSpc>
                <a:spcPct val="105000"/>
              </a:lnSpc>
            </a:pPr>
            <a:r>
              <a:rPr lang="es-ES" sz="1200" b="0" i="0">
                <a:solidFill>
                  <a:srgbClr val="5B6575"/>
                </a:solidFill>
                <a:latin typeface="Calibri"/>
              </a:rPr>
              <a:t>Tesis: §2.2 pre-proceso; Cap. 1 calidad de malla; Anexo B</a:t>
            </a:r>
          </a:p>
        </p:txBody>
      </p:sp>
      <p:sp>
        <p:nvSpPr>
          <p:cNvPr id="19" name="TextBox 18"/>
          <p:cNvSpPr txBox="1"/>
          <p:nvPr/>
        </p:nvSpPr>
        <p:spPr>
          <a:xfrm>
            <a:off x="10527487" y="6437376"/>
            <a:ext cx="1097280" cy="292608"/>
          </a:xfrm>
          <a:prstGeom prst="rect">
            <a:avLst/>
          </a:prstGeom>
          <a:noFill/>
        </p:spPr>
        <p:txBody>
          <a:bodyPr wrap="none" lIns="45720" tIns="18288" rIns="45720" bIns="18288">
            <a:spAutoFit/>
          </a:bodyPr>
          <a:lstStyle/>
          <a:p>
            <a:pPr algn="r"/>
            <a:fld id="{B6F15528-21DE-4FAA-801E-634DDDAF4B2B}" type="slidenum">
              <a:rPr lang="es-ES" sz="1200" dirty="0">
                <a:solidFill>
                  <a:srgbClr val="5B6575"/>
                </a:solidFill>
                <a:latin typeface="Calibri"/>
              </a:rPr>
              <a:t>19</a:t>
            </a:fld>
            <a:endParaRPr lang="es-ES" sz="1200" dirty="0">
              <a:solidFill>
                <a:srgbClr val="5B6575"/>
              </a:solidFill>
              <a:latin typeface="Calibri"/>
            </a:endParaRPr>
          </a:p>
        </p:txBody>
      </p:sp>
      <p:pic>
        <p:nvPicPr>
          <p:cNvPr id="20" name="s19">
            <a:hlinkClick r:id="" action="ppaction://media"/>
            <a:extLst>
              <a:ext uri="{FF2B5EF4-FFF2-40B4-BE49-F238E27FC236}">
                <a16:creationId xmlns:a16="http://schemas.microsoft.com/office/drawing/2014/main" id="{C0D4552D-B75E-5A13-2C7A-654DE67A76D3}"/>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254000" y="254000"/>
            <a:ext cx="508000" cy="508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7552"/>
    </mc:Choice>
    <mc:Fallback>
      <p:transition spd="slow" advTm="47552"/>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20"/>
                </p:tgtEl>
              </p:cMediaNode>
            </p:audio>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566928" y="361188"/>
            <a:ext cx="50292" cy="173736"/>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TextBox 2"/>
          <p:cNvSpPr txBox="1"/>
          <p:nvPr/>
        </p:nvSpPr>
        <p:spPr>
          <a:xfrm>
            <a:off x="704088" y="310896"/>
            <a:ext cx="6766560" cy="274320"/>
          </a:xfrm>
          <a:prstGeom prst="rect">
            <a:avLst/>
          </a:prstGeom>
          <a:noFill/>
        </p:spPr>
        <p:txBody>
          <a:bodyPr wrap="square" lIns="45720" tIns="27432" rIns="45720" bIns="27432" anchor="ctr">
            <a:noAutofit/>
          </a:bodyPr>
          <a:lstStyle/>
          <a:p>
            <a:pPr algn="l">
              <a:lnSpc>
                <a:spcPct val="105000"/>
              </a:lnSpc>
            </a:pPr>
            <a:r>
              <a:rPr lang="es-ES" sz="1200" b="1" i="0" spc="80">
                <a:solidFill>
                  <a:srgbClr val="F28C28"/>
                </a:solidFill>
                <a:latin typeface="Calibri"/>
              </a:rPr>
              <a:t>03   DISEÑO Y DESARROLLO DEL MODELO</a:t>
            </a:r>
          </a:p>
        </p:txBody>
      </p:sp>
      <p:sp>
        <p:nvSpPr>
          <p:cNvPr id="4" name="Oval 3"/>
          <p:cNvSpPr/>
          <p:nvPr/>
        </p:nvSpPr>
        <p:spPr>
          <a:xfrm>
            <a:off x="10413187" y="388620"/>
            <a:ext cx="114300" cy="1143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Oval 4"/>
          <p:cNvSpPr/>
          <p:nvPr/>
        </p:nvSpPr>
        <p:spPr>
          <a:xfrm>
            <a:off x="10632643" y="388620"/>
            <a:ext cx="114300" cy="1143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Oval 5"/>
          <p:cNvSpPr/>
          <p:nvPr/>
        </p:nvSpPr>
        <p:spPr>
          <a:xfrm>
            <a:off x="10820095" y="356616"/>
            <a:ext cx="178308" cy="178308"/>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Oval 6"/>
          <p:cNvSpPr/>
          <p:nvPr/>
        </p:nvSpPr>
        <p:spPr>
          <a:xfrm>
            <a:off x="11071555"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Oval 7"/>
          <p:cNvSpPr/>
          <p:nvPr/>
        </p:nvSpPr>
        <p:spPr>
          <a:xfrm>
            <a:off x="11291011"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Oval 8"/>
          <p:cNvSpPr/>
          <p:nvPr/>
        </p:nvSpPr>
        <p:spPr>
          <a:xfrm>
            <a:off x="11510467"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548640" y="585216"/>
            <a:ext cx="11057839" cy="749808"/>
          </a:xfrm>
          <a:prstGeom prst="rect">
            <a:avLst/>
          </a:prstGeom>
          <a:noFill/>
        </p:spPr>
        <p:txBody>
          <a:bodyPr wrap="square" lIns="45720" tIns="27432" rIns="45720" bIns="27432" anchor="ctr">
            <a:noAutofit/>
          </a:bodyPr>
          <a:lstStyle/>
          <a:p>
            <a:pPr algn="l">
              <a:lnSpc>
                <a:spcPct val="105000"/>
              </a:lnSpc>
            </a:pPr>
            <a:r>
              <a:rPr lang="es-ES" sz="3200" b="1" i="0">
                <a:solidFill>
                  <a:srgbClr val="1B2A4A"/>
                </a:solidFill>
                <a:latin typeface="Calibri"/>
              </a:rPr>
              <a:t>Ocho módulos recorren el canal del MEF</a:t>
            </a:r>
          </a:p>
        </p:txBody>
      </p:sp>
      <p:sp>
        <p:nvSpPr>
          <p:cNvPr id="11" name="Rectangle 10"/>
          <p:cNvSpPr/>
          <p:nvPr/>
        </p:nvSpPr>
        <p:spPr>
          <a:xfrm>
            <a:off x="566928" y="1371600"/>
            <a:ext cx="1051560" cy="50292"/>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Rounded Rectangle 11"/>
          <p:cNvSpPr/>
          <p:nvPr/>
        </p:nvSpPr>
        <p:spPr>
          <a:xfrm>
            <a:off x="566928" y="1801368"/>
            <a:ext cx="2352979" cy="1426464"/>
          </a:xfrm>
          <a:prstGeom prst="roundRect">
            <a:avLst>
              <a:gd name="adj" fmla="val 9000"/>
            </a:avLst>
          </a:prstGeom>
          <a:solidFill>
            <a:srgbClr val="F6F8FC"/>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Rectangle 12"/>
          <p:cNvSpPr/>
          <p:nvPr/>
        </p:nvSpPr>
        <p:spPr>
          <a:xfrm>
            <a:off x="585216" y="1819656"/>
            <a:ext cx="2316403" cy="100584"/>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566928" y="2278189"/>
            <a:ext cx="2352979" cy="401828"/>
          </a:xfrm>
          <a:prstGeom prst="rect">
            <a:avLst/>
          </a:prstGeom>
          <a:noFill/>
        </p:spPr>
        <p:txBody>
          <a:bodyPr wrap="square" tIns="18288" bIns="18288" anchor="t">
            <a:noAutofit/>
          </a:bodyPr>
          <a:lstStyle/>
          <a:p>
            <a:pPr algn="ctr">
              <a:lnSpc>
                <a:spcPct val="105000"/>
              </a:lnSpc>
            </a:pPr>
            <a:r>
              <a:rPr lang="es-ES" sz="2000" b="1" i="0">
                <a:solidFill>
                  <a:srgbClr val="1B2A4A"/>
                </a:solidFill>
                <a:latin typeface="Calibri"/>
              </a:rPr>
              <a:t>M0 Calidad</a:t>
            </a:r>
          </a:p>
        </p:txBody>
      </p:sp>
      <p:sp>
        <p:nvSpPr>
          <p:cNvPr id="15" name="TextBox 14"/>
          <p:cNvSpPr txBox="1"/>
          <p:nvPr/>
        </p:nvSpPr>
        <p:spPr>
          <a:xfrm>
            <a:off x="566928" y="2643441"/>
            <a:ext cx="2352979" cy="317881"/>
          </a:xfrm>
          <a:prstGeom prst="rect">
            <a:avLst/>
          </a:prstGeom>
          <a:noFill/>
        </p:spPr>
        <p:txBody>
          <a:bodyPr wrap="square" tIns="18288" bIns="18288" anchor="t">
            <a:noAutofit/>
          </a:bodyPr>
          <a:lstStyle/>
          <a:p>
            <a:pPr algn="ctr">
              <a:lnSpc>
                <a:spcPct val="105000"/>
              </a:lnSpc>
            </a:pPr>
            <a:r>
              <a:rPr lang="es-ES" sz="1300" b="0" i="0">
                <a:solidFill>
                  <a:srgbClr val="5B6575"/>
                </a:solidFill>
                <a:latin typeface="Calibri"/>
              </a:rPr>
              <a:t>de malla</a:t>
            </a:r>
          </a:p>
        </p:txBody>
      </p:sp>
      <p:sp>
        <p:nvSpPr>
          <p:cNvPr id="16" name="Right Arrow 15"/>
          <p:cNvSpPr/>
          <p:nvPr/>
        </p:nvSpPr>
        <p:spPr>
          <a:xfrm>
            <a:off x="3020491" y="2395728"/>
            <a:ext cx="347472" cy="237744"/>
          </a:xfrm>
          <a:prstGeom prst="rightArrow">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3468547" y="1801368"/>
            <a:ext cx="2352979" cy="1426464"/>
          </a:xfrm>
          <a:prstGeom prst="roundRect">
            <a:avLst>
              <a:gd name="adj" fmla="val 9000"/>
            </a:avLst>
          </a:prstGeom>
          <a:solidFill>
            <a:srgbClr val="F6F8FC"/>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Rectangle 17"/>
          <p:cNvSpPr/>
          <p:nvPr/>
        </p:nvSpPr>
        <p:spPr>
          <a:xfrm>
            <a:off x="3486835" y="1819656"/>
            <a:ext cx="2316403" cy="100584"/>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3468547" y="2278189"/>
            <a:ext cx="2352979" cy="401828"/>
          </a:xfrm>
          <a:prstGeom prst="rect">
            <a:avLst/>
          </a:prstGeom>
          <a:noFill/>
        </p:spPr>
        <p:txBody>
          <a:bodyPr wrap="square" tIns="18288" bIns="18288" anchor="t">
            <a:noAutofit/>
          </a:bodyPr>
          <a:lstStyle/>
          <a:p>
            <a:pPr algn="ctr">
              <a:lnSpc>
                <a:spcPct val="105000"/>
              </a:lnSpc>
            </a:pPr>
            <a:r>
              <a:rPr lang="es-ES" sz="2000" b="1" i="0">
                <a:solidFill>
                  <a:srgbClr val="1B2A4A"/>
                </a:solidFill>
                <a:latin typeface="Calibri"/>
              </a:rPr>
              <a:t>M1 Mapeo</a:t>
            </a:r>
          </a:p>
        </p:txBody>
      </p:sp>
      <p:sp>
        <p:nvSpPr>
          <p:cNvPr id="20" name="TextBox 19"/>
          <p:cNvSpPr txBox="1"/>
          <p:nvPr/>
        </p:nvSpPr>
        <p:spPr>
          <a:xfrm>
            <a:off x="3468547" y="2643441"/>
            <a:ext cx="2352979" cy="317881"/>
          </a:xfrm>
          <a:prstGeom prst="rect">
            <a:avLst/>
          </a:prstGeom>
          <a:noFill/>
        </p:spPr>
        <p:txBody>
          <a:bodyPr wrap="square" tIns="18288" bIns="18288" anchor="t">
            <a:noAutofit/>
          </a:bodyPr>
          <a:lstStyle/>
          <a:p>
            <a:pPr algn="ctr">
              <a:lnSpc>
                <a:spcPct val="105000"/>
              </a:lnSpc>
            </a:pPr>
            <a:r>
              <a:rPr lang="es-ES" sz="1300" b="0" i="0">
                <a:solidFill>
                  <a:srgbClr val="5B6575"/>
                </a:solidFill>
                <a:latin typeface="Calibri"/>
              </a:rPr>
              <a:t>isoparamétrico</a:t>
            </a:r>
          </a:p>
        </p:txBody>
      </p:sp>
      <p:sp>
        <p:nvSpPr>
          <p:cNvPr id="21" name="Right Arrow 20"/>
          <p:cNvSpPr/>
          <p:nvPr/>
        </p:nvSpPr>
        <p:spPr>
          <a:xfrm>
            <a:off x="5922111" y="2395728"/>
            <a:ext cx="347472" cy="237744"/>
          </a:xfrm>
          <a:prstGeom prst="rightArrow">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1"/>
          <p:cNvSpPr/>
          <p:nvPr/>
        </p:nvSpPr>
        <p:spPr>
          <a:xfrm>
            <a:off x="6370167" y="1801368"/>
            <a:ext cx="2352979" cy="1426464"/>
          </a:xfrm>
          <a:prstGeom prst="roundRect">
            <a:avLst>
              <a:gd name="adj" fmla="val 9000"/>
            </a:avLst>
          </a:prstGeom>
          <a:solidFill>
            <a:srgbClr val="F6F8FC"/>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Rectangle 22"/>
          <p:cNvSpPr/>
          <p:nvPr/>
        </p:nvSpPr>
        <p:spPr>
          <a:xfrm>
            <a:off x="6388455" y="1819656"/>
            <a:ext cx="2316403" cy="100584"/>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TextBox 23"/>
          <p:cNvSpPr txBox="1"/>
          <p:nvPr/>
        </p:nvSpPr>
        <p:spPr>
          <a:xfrm>
            <a:off x="6370167" y="2278189"/>
            <a:ext cx="2352979" cy="401828"/>
          </a:xfrm>
          <a:prstGeom prst="rect">
            <a:avLst/>
          </a:prstGeom>
          <a:noFill/>
        </p:spPr>
        <p:txBody>
          <a:bodyPr wrap="square" tIns="18288" bIns="18288" anchor="t">
            <a:noAutofit/>
          </a:bodyPr>
          <a:lstStyle/>
          <a:p>
            <a:pPr algn="ctr">
              <a:lnSpc>
                <a:spcPct val="105000"/>
              </a:lnSpc>
            </a:pPr>
            <a:r>
              <a:rPr lang="es-ES" sz="2000" b="1" i="0">
                <a:solidFill>
                  <a:srgbClr val="1B2A4A"/>
                </a:solidFill>
                <a:latin typeface="Calibri"/>
              </a:rPr>
              <a:t>M2 Jacobiano</a:t>
            </a:r>
          </a:p>
        </p:txBody>
      </p:sp>
      <p:sp>
        <p:nvSpPr>
          <p:cNvPr id="25" name="TextBox 24"/>
          <p:cNvSpPr txBox="1"/>
          <p:nvPr/>
        </p:nvSpPr>
        <p:spPr>
          <a:xfrm>
            <a:off x="6370167" y="2643441"/>
            <a:ext cx="2352979" cy="317881"/>
          </a:xfrm>
          <a:prstGeom prst="rect">
            <a:avLst/>
          </a:prstGeom>
          <a:noFill/>
        </p:spPr>
        <p:txBody>
          <a:bodyPr wrap="square" tIns="18288" bIns="18288" anchor="t">
            <a:noAutofit/>
          </a:bodyPr>
          <a:lstStyle/>
          <a:p>
            <a:pPr algn="ctr">
              <a:lnSpc>
                <a:spcPct val="105000"/>
              </a:lnSpc>
            </a:pPr>
            <a:r>
              <a:rPr lang="es-ES" sz="1300" b="0" i="0">
                <a:solidFill>
                  <a:srgbClr val="5B6575"/>
                </a:solidFill>
                <a:latin typeface="Calibri"/>
              </a:rPr>
              <a:t>distorsión y det J</a:t>
            </a:r>
          </a:p>
        </p:txBody>
      </p:sp>
      <p:sp>
        <p:nvSpPr>
          <p:cNvPr id="26" name="Right Arrow 25"/>
          <p:cNvSpPr/>
          <p:nvPr/>
        </p:nvSpPr>
        <p:spPr>
          <a:xfrm>
            <a:off x="8823731" y="2395728"/>
            <a:ext cx="347472" cy="237744"/>
          </a:xfrm>
          <a:prstGeom prst="rightArrow">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ounded Rectangle 26"/>
          <p:cNvSpPr/>
          <p:nvPr/>
        </p:nvSpPr>
        <p:spPr>
          <a:xfrm>
            <a:off x="9271787" y="1801368"/>
            <a:ext cx="2352979" cy="1426464"/>
          </a:xfrm>
          <a:prstGeom prst="roundRect">
            <a:avLst>
              <a:gd name="adj" fmla="val 9000"/>
            </a:avLst>
          </a:prstGeom>
          <a:solidFill>
            <a:srgbClr val="F6F8FC"/>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Rectangle 27"/>
          <p:cNvSpPr/>
          <p:nvPr/>
        </p:nvSpPr>
        <p:spPr>
          <a:xfrm>
            <a:off x="9290075" y="1819656"/>
            <a:ext cx="2316403" cy="100584"/>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TextBox 28"/>
          <p:cNvSpPr txBox="1"/>
          <p:nvPr/>
        </p:nvSpPr>
        <p:spPr>
          <a:xfrm>
            <a:off x="9271787" y="2278189"/>
            <a:ext cx="2352979" cy="401828"/>
          </a:xfrm>
          <a:prstGeom prst="rect">
            <a:avLst/>
          </a:prstGeom>
          <a:noFill/>
        </p:spPr>
        <p:txBody>
          <a:bodyPr wrap="square" tIns="18288" bIns="18288" anchor="t">
            <a:noAutofit/>
          </a:bodyPr>
          <a:lstStyle/>
          <a:p>
            <a:pPr algn="ctr">
              <a:lnSpc>
                <a:spcPct val="105000"/>
              </a:lnSpc>
            </a:pPr>
            <a:r>
              <a:rPr lang="es-ES" sz="2000" b="1" i="0">
                <a:solidFill>
                  <a:srgbClr val="1B2A4A"/>
                </a:solidFill>
                <a:latin typeface="Calibri"/>
              </a:rPr>
              <a:t>M3 Matriz B</a:t>
            </a:r>
          </a:p>
        </p:txBody>
      </p:sp>
      <p:sp>
        <p:nvSpPr>
          <p:cNvPr id="30" name="TextBox 29"/>
          <p:cNvSpPr txBox="1"/>
          <p:nvPr/>
        </p:nvSpPr>
        <p:spPr>
          <a:xfrm>
            <a:off x="9271787" y="2643441"/>
            <a:ext cx="2352979" cy="317881"/>
          </a:xfrm>
          <a:prstGeom prst="rect">
            <a:avLst/>
          </a:prstGeom>
          <a:noFill/>
        </p:spPr>
        <p:txBody>
          <a:bodyPr wrap="square" tIns="18288" bIns="18288" anchor="t">
            <a:noAutofit/>
          </a:bodyPr>
          <a:lstStyle/>
          <a:p>
            <a:pPr algn="ctr">
              <a:lnSpc>
                <a:spcPct val="105000"/>
              </a:lnSpc>
            </a:pPr>
            <a:r>
              <a:rPr lang="es-ES" sz="1300" b="0" i="0">
                <a:solidFill>
                  <a:srgbClr val="5B6575"/>
                </a:solidFill>
                <a:latin typeface="Calibri"/>
              </a:rPr>
              <a:t>ε = B u</a:t>
            </a:r>
          </a:p>
        </p:txBody>
      </p:sp>
      <p:sp>
        <p:nvSpPr>
          <p:cNvPr id="31" name="Rounded Rectangle 30"/>
          <p:cNvSpPr/>
          <p:nvPr/>
        </p:nvSpPr>
        <p:spPr>
          <a:xfrm>
            <a:off x="566928" y="3685032"/>
            <a:ext cx="2352979" cy="1426464"/>
          </a:xfrm>
          <a:prstGeom prst="roundRect">
            <a:avLst>
              <a:gd name="adj" fmla="val 9000"/>
            </a:avLst>
          </a:prstGeom>
          <a:solidFill>
            <a:srgbClr val="F6F8FC"/>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 name="Rectangle 31"/>
          <p:cNvSpPr/>
          <p:nvPr/>
        </p:nvSpPr>
        <p:spPr>
          <a:xfrm>
            <a:off x="585216" y="3703320"/>
            <a:ext cx="2316403" cy="100584"/>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 name="TextBox 32"/>
          <p:cNvSpPr txBox="1"/>
          <p:nvPr/>
        </p:nvSpPr>
        <p:spPr>
          <a:xfrm>
            <a:off x="566928" y="4161853"/>
            <a:ext cx="2352979" cy="401828"/>
          </a:xfrm>
          <a:prstGeom prst="rect">
            <a:avLst/>
          </a:prstGeom>
          <a:noFill/>
        </p:spPr>
        <p:txBody>
          <a:bodyPr wrap="square" tIns="18288" bIns="18288" anchor="t">
            <a:noAutofit/>
          </a:bodyPr>
          <a:lstStyle/>
          <a:p>
            <a:pPr algn="ctr">
              <a:lnSpc>
                <a:spcPct val="105000"/>
              </a:lnSpc>
            </a:pPr>
            <a:r>
              <a:rPr lang="es-ES" sz="2000" b="1" i="0">
                <a:solidFill>
                  <a:srgbClr val="1B2A4A"/>
                </a:solidFill>
                <a:latin typeface="Calibri"/>
              </a:rPr>
              <a:t>M4 Matriz D</a:t>
            </a:r>
          </a:p>
        </p:txBody>
      </p:sp>
      <p:sp>
        <p:nvSpPr>
          <p:cNvPr id="34" name="TextBox 33"/>
          <p:cNvSpPr txBox="1"/>
          <p:nvPr/>
        </p:nvSpPr>
        <p:spPr>
          <a:xfrm>
            <a:off x="566928" y="4527105"/>
            <a:ext cx="2352979" cy="317881"/>
          </a:xfrm>
          <a:prstGeom prst="rect">
            <a:avLst/>
          </a:prstGeom>
          <a:noFill/>
        </p:spPr>
        <p:txBody>
          <a:bodyPr wrap="square" tIns="18288" bIns="18288" anchor="t">
            <a:noAutofit/>
          </a:bodyPr>
          <a:lstStyle/>
          <a:p>
            <a:pPr algn="ctr">
              <a:lnSpc>
                <a:spcPct val="105000"/>
              </a:lnSpc>
            </a:pPr>
            <a:r>
              <a:rPr lang="es-ES" sz="1300" b="0" i="0">
                <a:solidFill>
                  <a:srgbClr val="5B6575"/>
                </a:solidFill>
                <a:latin typeface="Calibri"/>
              </a:rPr>
              <a:t>material</a:t>
            </a:r>
          </a:p>
        </p:txBody>
      </p:sp>
      <p:sp>
        <p:nvSpPr>
          <p:cNvPr id="35" name="Right Arrow 34"/>
          <p:cNvSpPr/>
          <p:nvPr/>
        </p:nvSpPr>
        <p:spPr>
          <a:xfrm>
            <a:off x="3020491" y="4279392"/>
            <a:ext cx="347472" cy="237744"/>
          </a:xfrm>
          <a:prstGeom prst="rightArrow">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ounded Rectangle 35"/>
          <p:cNvSpPr/>
          <p:nvPr/>
        </p:nvSpPr>
        <p:spPr>
          <a:xfrm>
            <a:off x="3468547" y="3685032"/>
            <a:ext cx="2352979" cy="1426464"/>
          </a:xfrm>
          <a:prstGeom prst="roundRect">
            <a:avLst>
              <a:gd name="adj" fmla="val 9000"/>
            </a:avLst>
          </a:prstGeom>
          <a:solidFill>
            <a:srgbClr val="F6F8FC"/>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7" name="Rectangle 36"/>
          <p:cNvSpPr/>
          <p:nvPr/>
        </p:nvSpPr>
        <p:spPr>
          <a:xfrm>
            <a:off x="3486835" y="3703320"/>
            <a:ext cx="2316403" cy="100584"/>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8" name="TextBox 37"/>
          <p:cNvSpPr txBox="1"/>
          <p:nvPr/>
        </p:nvSpPr>
        <p:spPr>
          <a:xfrm>
            <a:off x="3468547" y="4161853"/>
            <a:ext cx="2352979" cy="401828"/>
          </a:xfrm>
          <a:prstGeom prst="rect">
            <a:avLst/>
          </a:prstGeom>
          <a:noFill/>
        </p:spPr>
        <p:txBody>
          <a:bodyPr wrap="square" tIns="18288" bIns="18288" anchor="t">
            <a:noAutofit/>
          </a:bodyPr>
          <a:lstStyle/>
          <a:p>
            <a:pPr algn="ctr">
              <a:lnSpc>
                <a:spcPct val="105000"/>
              </a:lnSpc>
            </a:pPr>
            <a:r>
              <a:rPr lang="es-ES" sz="2000" b="1" i="0">
                <a:solidFill>
                  <a:srgbClr val="1B2A4A"/>
                </a:solidFill>
                <a:latin typeface="Calibri"/>
              </a:rPr>
              <a:t>M5 Rigidez kₑ</a:t>
            </a:r>
          </a:p>
        </p:txBody>
      </p:sp>
      <p:sp>
        <p:nvSpPr>
          <p:cNvPr id="39" name="TextBox 38"/>
          <p:cNvSpPr txBox="1"/>
          <p:nvPr/>
        </p:nvSpPr>
        <p:spPr>
          <a:xfrm>
            <a:off x="3468547" y="4527105"/>
            <a:ext cx="2352979" cy="317881"/>
          </a:xfrm>
          <a:prstGeom prst="rect">
            <a:avLst/>
          </a:prstGeom>
          <a:noFill/>
        </p:spPr>
        <p:txBody>
          <a:bodyPr wrap="square" tIns="18288" bIns="18288" anchor="t">
            <a:noAutofit/>
          </a:bodyPr>
          <a:lstStyle/>
          <a:p>
            <a:pPr algn="ctr">
              <a:lnSpc>
                <a:spcPct val="105000"/>
              </a:lnSpc>
            </a:pPr>
            <a:r>
              <a:rPr lang="es-ES" sz="1300" b="0" i="0">
                <a:solidFill>
                  <a:srgbClr val="5B6575"/>
                </a:solidFill>
                <a:latin typeface="Calibri"/>
              </a:rPr>
              <a:t>cuadratura de Gauss</a:t>
            </a:r>
          </a:p>
        </p:txBody>
      </p:sp>
      <p:sp>
        <p:nvSpPr>
          <p:cNvPr id="40" name="Right Arrow 39"/>
          <p:cNvSpPr/>
          <p:nvPr/>
        </p:nvSpPr>
        <p:spPr>
          <a:xfrm>
            <a:off x="5922111" y="4279392"/>
            <a:ext cx="347472" cy="237744"/>
          </a:xfrm>
          <a:prstGeom prst="rightArrow">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ounded Rectangle 40"/>
          <p:cNvSpPr/>
          <p:nvPr/>
        </p:nvSpPr>
        <p:spPr>
          <a:xfrm>
            <a:off x="6370167" y="3685032"/>
            <a:ext cx="2352979" cy="1426464"/>
          </a:xfrm>
          <a:prstGeom prst="roundRect">
            <a:avLst>
              <a:gd name="adj" fmla="val 9000"/>
            </a:avLst>
          </a:prstGeom>
          <a:solidFill>
            <a:srgbClr val="F6F8FC"/>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2" name="Rectangle 41"/>
          <p:cNvSpPr/>
          <p:nvPr/>
        </p:nvSpPr>
        <p:spPr>
          <a:xfrm>
            <a:off x="6388455" y="3703320"/>
            <a:ext cx="2316403" cy="100584"/>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3" name="TextBox 42"/>
          <p:cNvSpPr txBox="1"/>
          <p:nvPr/>
        </p:nvSpPr>
        <p:spPr>
          <a:xfrm>
            <a:off x="6370167" y="4161853"/>
            <a:ext cx="2352979" cy="401828"/>
          </a:xfrm>
          <a:prstGeom prst="rect">
            <a:avLst/>
          </a:prstGeom>
          <a:noFill/>
        </p:spPr>
        <p:txBody>
          <a:bodyPr wrap="square" tIns="18288" bIns="18288" anchor="t">
            <a:noAutofit/>
          </a:bodyPr>
          <a:lstStyle/>
          <a:p>
            <a:pPr algn="ctr">
              <a:lnSpc>
                <a:spcPct val="105000"/>
              </a:lnSpc>
            </a:pPr>
            <a:r>
              <a:rPr lang="es-ES" sz="2000" b="1" i="0">
                <a:solidFill>
                  <a:srgbClr val="1B2A4A"/>
                </a:solidFill>
                <a:latin typeface="Calibri"/>
              </a:rPr>
              <a:t>M6 Fuerzas</a:t>
            </a:r>
          </a:p>
        </p:txBody>
      </p:sp>
      <p:sp>
        <p:nvSpPr>
          <p:cNvPr id="44" name="TextBox 43"/>
          <p:cNvSpPr txBox="1"/>
          <p:nvPr/>
        </p:nvSpPr>
        <p:spPr>
          <a:xfrm>
            <a:off x="6370167" y="4527105"/>
            <a:ext cx="2352979" cy="317881"/>
          </a:xfrm>
          <a:prstGeom prst="rect">
            <a:avLst/>
          </a:prstGeom>
          <a:noFill/>
        </p:spPr>
        <p:txBody>
          <a:bodyPr wrap="square" tIns="18288" bIns="18288" anchor="t">
            <a:noAutofit/>
          </a:bodyPr>
          <a:lstStyle/>
          <a:p>
            <a:pPr algn="ctr">
              <a:lnSpc>
                <a:spcPct val="105000"/>
              </a:lnSpc>
            </a:pPr>
            <a:r>
              <a:rPr lang="es-ES" sz="1300" b="0" i="0">
                <a:solidFill>
                  <a:srgbClr val="5B6575"/>
                </a:solidFill>
                <a:latin typeface="Calibri"/>
              </a:rPr>
              <a:t>equivalentes</a:t>
            </a:r>
          </a:p>
        </p:txBody>
      </p:sp>
      <p:sp>
        <p:nvSpPr>
          <p:cNvPr id="45" name="Right Arrow 44"/>
          <p:cNvSpPr/>
          <p:nvPr/>
        </p:nvSpPr>
        <p:spPr>
          <a:xfrm>
            <a:off x="8823731" y="4279392"/>
            <a:ext cx="347472" cy="237744"/>
          </a:xfrm>
          <a:prstGeom prst="rightArrow">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Rounded Rectangle 45"/>
          <p:cNvSpPr/>
          <p:nvPr/>
        </p:nvSpPr>
        <p:spPr>
          <a:xfrm>
            <a:off x="9271787" y="3685032"/>
            <a:ext cx="2352979" cy="1426464"/>
          </a:xfrm>
          <a:prstGeom prst="roundRect">
            <a:avLst>
              <a:gd name="adj" fmla="val 9000"/>
            </a:avLst>
          </a:prstGeom>
          <a:solidFill>
            <a:srgbClr val="F6F8FC"/>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7" name="Rectangle 46"/>
          <p:cNvSpPr/>
          <p:nvPr/>
        </p:nvSpPr>
        <p:spPr>
          <a:xfrm>
            <a:off x="9290075" y="3703320"/>
            <a:ext cx="2316403" cy="100584"/>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8" name="TextBox 47"/>
          <p:cNvSpPr txBox="1"/>
          <p:nvPr/>
        </p:nvSpPr>
        <p:spPr>
          <a:xfrm>
            <a:off x="9271787" y="4161853"/>
            <a:ext cx="2352979" cy="401828"/>
          </a:xfrm>
          <a:prstGeom prst="rect">
            <a:avLst/>
          </a:prstGeom>
          <a:noFill/>
        </p:spPr>
        <p:txBody>
          <a:bodyPr wrap="square" tIns="18288" bIns="18288" anchor="t">
            <a:noAutofit/>
          </a:bodyPr>
          <a:lstStyle/>
          <a:p>
            <a:pPr algn="ctr">
              <a:lnSpc>
                <a:spcPct val="105000"/>
              </a:lnSpc>
            </a:pPr>
            <a:r>
              <a:rPr lang="es-ES" sz="2000" b="1" i="0">
                <a:solidFill>
                  <a:srgbClr val="1B2A4A"/>
                </a:solidFill>
                <a:latin typeface="Calibri"/>
              </a:rPr>
              <a:t>M7 Ensamblaje</a:t>
            </a:r>
          </a:p>
        </p:txBody>
      </p:sp>
      <p:sp>
        <p:nvSpPr>
          <p:cNvPr id="49" name="TextBox 48"/>
          <p:cNvSpPr txBox="1"/>
          <p:nvPr/>
        </p:nvSpPr>
        <p:spPr>
          <a:xfrm>
            <a:off x="9271787" y="4527105"/>
            <a:ext cx="2352979" cy="317881"/>
          </a:xfrm>
          <a:prstGeom prst="rect">
            <a:avLst/>
          </a:prstGeom>
          <a:noFill/>
        </p:spPr>
        <p:txBody>
          <a:bodyPr wrap="square" tIns="18288" bIns="18288" anchor="t">
            <a:noAutofit/>
          </a:bodyPr>
          <a:lstStyle/>
          <a:p>
            <a:pPr algn="ctr">
              <a:lnSpc>
                <a:spcPct val="105000"/>
              </a:lnSpc>
            </a:pPr>
            <a:r>
              <a:rPr lang="es-ES" sz="1300" b="0" i="0">
                <a:solidFill>
                  <a:srgbClr val="5B6575"/>
                </a:solidFill>
                <a:latin typeface="Calibri"/>
              </a:rPr>
              <a:t>K y F globales</a:t>
            </a:r>
          </a:p>
        </p:txBody>
      </p:sp>
      <p:sp>
        <p:nvSpPr>
          <p:cNvPr id="50" name="Rectangle 49"/>
          <p:cNvSpPr/>
          <p:nvPr/>
        </p:nvSpPr>
        <p:spPr>
          <a:xfrm>
            <a:off x="566928" y="5449824"/>
            <a:ext cx="11057839" cy="841248"/>
          </a:xfrm>
          <a:prstGeom prst="rect">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1" name="Rectangle 50"/>
          <p:cNvSpPr/>
          <p:nvPr/>
        </p:nvSpPr>
        <p:spPr>
          <a:xfrm>
            <a:off x="566928" y="5449824"/>
            <a:ext cx="77724" cy="841248"/>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2" name="TextBox 51"/>
          <p:cNvSpPr txBox="1"/>
          <p:nvPr/>
        </p:nvSpPr>
        <p:spPr>
          <a:xfrm>
            <a:off x="795528" y="5449824"/>
            <a:ext cx="10737799" cy="841248"/>
          </a:xfrm>
          <a:prstGeom prst="rect">
            <a:avLst/>
          </a:prstGeom>
          <a:noFill/>
        </p:spPr>
        <p:txBody>
          <a:bodyPr wrap="square" lIns="45720" tIns="27432" rIns="45720" bIns="27432" anchor="ctr">
            <a:noAutofit/>
          </a:bodyPr>
          <a:lstStyle/>
          <a:p>
            <a:pPr algn="l">
              <a:lnSpc>
                <a:spcPct val="100000"/>
              </a:lnSpc>
            </a:pPr>
            <a:r>
              <a:rPr lang="es-ES" sz="2200" b="1" i="0">
                <a:solidFill>
                  <a:srgbClr val="1B2A4A"/>
                </a:solidFill>
                <a:latin typeface="Calibri"/>
              </a:rPr>
              <a:t>Capas sobre la malla real, una sola activa a la vez, conmutador Fórmula ↔ Valores</a:t>
            </a:r>
          </a:p>
        </p:txBody>
      </p:sp>
      <p:sp>
        <p:nvSpPr>
          <p:cNvPr id="53" name="Rectangle 52"/>
          <p:cNvSpPr/>
          <p:nvPr/>
        </p:nvSpPr>
        <p:spPr>
          <a:xfrm>
            <a:off x="566928" y="6364224"/>
            <a:ext cx="11057839" cy="7315"/>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4" name="TextBox 53"/>
          <p:cNvSpPr txBox="1"/>
          <p:nvPr/>
        </p:nvSpPr>
        <p:spPr>
          <a:xfrm>
            <a:off x="566928" y="6437376"/>
            <a:ext cx="5029200" cy="292608"/>
          </a:xfrm>
          <a:prstGeom prst="rect">
            <a:avLst/>
          </a:prstGeom>
          <a:noFill/>
        </p:spPr>
        <p:txBody>
          <a:bodyPr wrap="square" lIns="45720" tIns="27432" rIns="45720" bIns="27432" anchor="ctr">
            <a:noAutofit/>
          </a:bodyPr>
          <a:lstStyle/>
          <a:p>
            <a:pPr algn="l">
              <a:lnSpc>
                <a:spcPct val="105000"/>
              </a:lnSpc>
            </a:pPr>
            <a:r>
              <a:rPr lang="es-ES" sz="1200" b="0" i="0">
                <a:solidFill>
                  <a:srgbClr val="5B6575"/>
                </a:solidFill>
                <a:latin typeface="Calibri"/>
              </a:rPr>
              <a:t>EduFEM · Defensa de tesis · Ingeniería Civil · UATF</a:t>
            </a:r>
          </a:p>
        </p:txBody>
      </p:sp>
      <p:sp>
        <p:nvSpPr>
          <p:cNvPr id="55" name="TextBox 54"/>
          <p:cNvSpPr txBox="1"/>
          <p:nvPr/>
        </p:nvSpPr>
        <p:spPr>
          <a:xfrm>
            <a:off x="4023360" y="6437376"/>
            <a:ext cx="5394960" cy="292608"/>
          </a:xfrm>
          <a:prstGeom prst="rect">
            <a:avLst/>
          </a:prstGeom>
          <a:noFill/>
        </p:spPr>
        <p:txBody>
          <a:bodyPr wrap="square" lIns="45720" tIns="27432" rIns="45720" bIns="27432" anchor="ctr">
            <a:noAutofit/>
          </a:bodyPr>
          <a:lstStyle/>
          <a:p>
            <a:pPr algn="ctr">
              <a:lnSpc>
                <a:spcPct val="105000"/>
              </a:lnSpc>
            </a:pPr>
            <a:r>
              <a:rPr lang="es-ES" sz="1200" b="0" i="0">
                <a:solidFill>
                  <a:srgbClr val="5B6575"/>
                </a:solidFill>
                <a:latin typeface="Calibri"/>
              </a:rPr>
              <a:t>Tesis: §2.2, módulos educativos, tabla de módulos</a:t>
            </a:r>
          </a:p>
        </p:txBody>
      </p:sp>
      <p:sp>
        <p:nvSpPr>
          <p:cNvPr id="56" name="TextBox 55"/>
          <p:cNvSpPr txBox="1"/>
          <p:nvPr/>
        </p:nvSpPr>
        <p:spPr>
          <a:xfrm>
            <a:off x="10527487" y="6437376"/>
            <a:ext cx="1097280" cy="292608"/>
          </a:xfrm>
          <a:prstGeom prst="rect">
            <a:avLst/>
          </a:prstGeom>
          <a:noFill/>
        </p:spPr>
        <p:txBody>
          <a:bodyPr wrap="none" lIns="45720" tIns="18288" rIns="45720" bIns="18288">
            <a:spAutoFit/>
          </a:bodyPr>
          <a:lstStyle/>
          <a:p>
            <a:pPr algn="r"/>
            <a:fld id="{B6F15528-21DE-4FAA-801E-634DDDAF4B2B}" type="slidenum">
              <a:rPr lang="es-ES" sz="1200" dirty="0">
                <a:solidFill>
                  <a:srgbClr val="5B6575"/>
                </a:solidFill>
                <a:latin typeface="Calibri"/>
              </a:rPr>
              <a:t>20</a:t>
            </a:fld>
            <a:endParaRPr lang="es-ES" sz="1200" dirty="0">
              <a:solidFill>
                <a:srgbClr val="5B6575"/>
              </a:solidFill>
              <a:latin typeface="Calibri"/>
            </a:endParaRPr>
          </a:p>
        </p:txBody>
      </p:sp>
      <p:pic>
        <p:nvPicPr>
          <p:cNvPr id="57" name="s20">
            <a:hlinkClick r:id="" action="ppaction://media"/>
            <a:extLst>
              <a:ext uri="{FF2B5EF4-FFF2-40B4-BE49-F238E27FC236}">
                <a16:creationId xmlns:a16="http://schemas.microsoft.com/office/drawing/2014/main" id="{1B02D3E9-8EA7-62B5-E681-014654C31624}"/>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254000" y="254000"/>
            <a:ext cx="508000" cy="508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7384"/>
    </mc:Choice>
    <mc:Fallback>
      <p:transition spd="slow" advTm="47384"/>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57"/>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57"/>
                </p:tgtEl>
              </p:cMediaNode>
            </p:audio>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566928" y="361188"/>
            <a:ext cx="50292" cy="173736"/>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TextBox 2"/>
          <p:cNvSpPr txBox="1"/>
          <p:nvPr/>
        </p:nvSpPr>
        <p:spPr>
          <a:xfrm>
            <a:off x="704088" y="310896"/>
            <a:ext cx="6766560" cy="274320"/>
          </a:xfrm>
          <a:prstGeom prst="rect">
            <a:avLst/>
          </a:prstGeom>
          <a:noFill/>
        </p:spPr>
        <p:txBody>
          <a:bodyPr wrap="square" lIns="45720" tIns="27432" rIns="45720" bIns="27432" anchor="ctr">
            <a:noAutofit/>
          </a:bodyPr>
          <a:lstStyle/>
          <a:p>
            <a:pPr algn="l">
              <a:lnSpc>
                <a:spcPct val="105000"/>
              </a:lnSpc>
            </a:pPr>
            <a:r>
              <a:rPr lang="es-ES" sz="1200" b="1" i="0" spc="80">
                <a:solidFill>
                  <a:srgbClr val="F28C28"/>
                </a:solidFill>
                <a:latin typeface="Calibri"/>
              </a:rPr>
              <a:t>03   DISEÑO Y DESARROLLO DEL MODELO</a:t>
            </a:r>
          </a:p>
        </p:txBody>
      </p:sp>
      <p:sp>
        <p:nvSpPr>
          <p:cNvPr id="4" name="Oval 3"/>
          <p:cNvSpPr/>
          <p:nvPr/>
        </p:nvSpPr>
        <p:spPr>
          <a:xfrm>
            <a:off x="10413187" y="388620"/>
            <a:ext cx="114300" cy="1143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Oval 4"/>
          <p:cNvSpPr/>
          <p:nvPr/>
        </p:nvSpPr>
        <p:spPr>
          <a:xfrm>
            <a:off x="10632643" y="388620"/>
            <a:ext cx="114300" cy="1143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Oval 5"/>
          <p:cNvSpPr/>
          <p:nvPr/>
        </p:nvSpPr>
        <p:spPr>
          <a:xfrm>
            <a:off x="10820095" y="356616"/>
            <a:ext cx="178308" cy="178308"/>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Oval 6"/>
          <p:cNvSpPr/>
          <p:nvPr/>
        </p:nvSpPr>
        <p:spPr>
          <a:xfrm>
            <a:off x="11071555"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Oval 7"/>
          <p:cNvSpPr/>
          <p:nvPr/>
        </p:nvSpPr>
        <p:spPr>
          <a:xfrm>
            <a:off x="11291011"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Oval 8"/>
          <p:cNvSpPr/>
          <p:nvPr/>
        </p:nvSpPr>
        <p:spPr>
          <a:xfrm>
            <a:off x="11510467"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548640" y="585216"/>
            <a:ext cx="11057839" cy="749808"/>
          </a:xfrm>
          <a:prstGeom prst="rect">
            <a:avLst/>
          </a:prstGeom>
          <a:noFill/>
        </p:spPr>
        <p:txBody>
          <a:bodyPr wrap="square" lIns="45720" tIns="27432" rIns="45720" bIns="27432" anchor="ctr">
            <a:noAutofit/>
          </a:bodyPr>
          <a:lstStyle/>
          <a:p>
            <a:pPr algn="l">
              <a:lnSpc>
                <a:spcPct val="105000"/>
              </a:lnSpc>
            </a:pPr>
            <a:r>
              <a:rPr lang="es-ES" sz="3200" b="1" i="0">
                <a:solidFill>
                  <a:srgbClr val="1B2A4A"/>
                </a:solidFill>
                <a:latin typeface="Calibri"/>
              </a:rPr>
              <a:t>M5: de la integral a la suma</a:t>
            </a:r>
          </a:p>
        </p:txBody>
      </p:sp>
      <p:sp>
        <p:nvSpPr>
          <p:cNvPr id="11" name="Rectangle 10"/>
          <p:cNvSpPr/>
          <p:nvPr/>
        </p:nvSpPr>
        <p:spPr>
          <a:xfrm>
            <a:off x="566928" y="1371600"/>
            <a:ext cx="1051560" cy="50292"/>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Rounded Rectangle 11"/>
          <p:cNvSpPr/>
          <p:nvPr/>
        </p:nvSpPr>
        <p:spPr>
          <a:xfrm>
            <a:off x="2701631" y="1572768"/>
            <a:ext cx="6788432" cy="3291839"/>
          </a:xfrm>
          <a:prstGeom prst="roundRect">
            <a:avLst>
              <a:gd name="adj" fmla="val 4000"/>
            </a:avLst>
          </a:prstGeom>
          <a:solidFill>
            <a:srgbClr val="F6F8FC"/>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3" name="Picture 12" descr="fig_modulo_m5.png"/>
          <p:cNvPicPr>
            <a:picLocks noChangeAspect="1"/>
          </p:cNvPicPr>
          <p:nvPr/>
        </p:nvPicPr>
        <p:blipFill>
          <a:blip r:embed="rId5"/>
          <a:stretch>
            <a:fillRect/>
          </a:stretch>
        </p:blipFill>
        <p:spPr>
          <a:xfrm>
            <a:off x="2820503" y="1691640"/>
            <a:ext cx="6550688" cy="3054096"/>
          </a:xfrm>
          <a:prstGeom prst="rect">
            <a:avLst/>
          </a:prstGeom>
        </p:spPr>
      </p:pic>
      <p:sp>
        <p:nvSpPr>
          <p:cNvPr id="14" name="TextBox 13"/>
          <p:cNvSpPr txBox="1"/>
          <p:nvPr/>
        </p:nvSpPr>
        <p:spPr>
          <a:xfrm>
            <a:off x="566928" y="4800600"/>
            <a:ext cx="11057839" cy="457200"/>
          </a:xfrm>
          <a:prstGeom prst="rect">
            <a:avLst/>
          </a:prstGeom>
          <a:noFill/>
        </p:spPr>
        <p:txBody>
          <a:bodyPr wrap="square" lIns="45720" tIns="27432" rIns="45720" bIns="27432" anchor="t">
            <a:noAutofit/>
          </a:bodyPr>
          <a:lstStyle/>
          <a:p>
            <a:pPr algn="ctr">
              <a:lnSpc>
                <a:spcPct val="105000"/>
              </a:lnSpc>
            </a:pPr>
            <a:r>
              <a:rPr lang="es-ES" sz="1600" b="0" i="1">
                <a:solidFill>
                  <a:srgbClr val="5B6575"/>
                </a:solidFill>
                <a:latin typeface="Calibri"/>
              </a:rPr>
              <a:t>kₑ ≈ Σ wₚ Bᵀ D B t |det J|: los puntos de Gauss se iluminan sobre el elemento seleccionado</a:t>
            </a:r>
          </a:p>
        </p:txBody>
      </p:sp>
      <p:sp>
        <p:nvSpPr>
          <p:cNvPr id="15" name="Rectangle 14"/>
          <p:cNvSpPr/>
          <p:nvPr/>
        </p:nvSpPr>
        <p:spPr>
          <a:xfrm>
            <a:off x="566928" y="5449824"/>
            <a:ext cx="11057839" cy="841248"/>
          </a:xfrm>
          <a:prstGeom prst="rect">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Rectangle 15"/>
          <p:cNvSpPr/>
          <p:nvPr/>
        </p:nvSpPr>
        <p:spPr>
          <a:xfrm>
            <a:off x="566928" y="5449824"/>
            <a:ext cx="77724" cy="841248"/>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795528" y="5449824"/>
            <a:ext cx="10737799" cy="841248"/>
          </a:xfrm>
          <a:prstGeom prst="rect">
            <a:avLst/>
          </a:prstGeom>
          <a:noFill/>
        </p:spPr>
        <p:txBody>
          <a:bodyPr wrap="square" lIns="45720" tIns="27432" rIns="45720" bIns="27432" anchor="ctr">
            <a:noAutofit/>
          </a:bodyPr>
          <a:lstStyle/>
          <a:p>
            <a:pPr algn="l">
              <a:lnSpc>
                <a:spcPct val="100000"/>
              </a:lnSpc>
            </a:pPr>
            <a:r>
              <a:rPr lang="es-ES" sz="2200" b="1" i="0">
                <a:solidFill>
                  <a:srgbClr val="1B2A4A"/>
                </a:solidFill>
                <a:latin typeface="Calibri"/>
              </a:rPr>
              <a:t>El alumno agrega o quita puntos de Gauss y ve crecer kₑ con cada contribución</a:t>
            </a:r>
          </a:p>
        </p:txBody>
      </p:sp>
      <p:sp>
        <p:nvSpPr>
          <p:cNvPr id="18" name="Rectangle 17"/>
          <p:cNvSpPr/>
          <p:nvPr/>
        </p:nvSpPr>
        <p:spPr>
          <a:xfrm>
            <a:off x="566928" y="6364224"/>
            <a:ext cx="11057839" cy="7315"/>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566928" y="6437376"/>
            <a:ext cx="5029200" cy="292608"/>
          </a:xfrm>
          <a:prstGeom prst="rect">
            <a:avLst/>
          </a:prstGeom>
          <a:noFill/>
        </p:spPr>
        <p:txBody>
          <a:bodyPr wrap="square" lIns="45720" tIns="27432" rIns="45720" bIns="27432" anchor="ctr">
            <a:noAutofit/>
          </a:bodyPr>
          <a:lstStyle/>
          <a:p>
            <a:pPr algn="l">
              <a:lnSpc>
                <a:spcPct val="105000"/>
              </a:lnSpc>
            </a:pPr>
            <a:r>
              <a:rPr lang="es-ES" sz="1200" b="0" i="0">
                <a:solidFill>
                  <a:srgbClr val="5B6575"/>
                </a:solidFill>
                <a:latin typeface="Calibri"/>
              </a:rPr>
              <a:t>EduFEM · Defensa de tesis · Ingeniería Civil · UATF</a:t>
            </a:r>
          </a:p>
        </p:txBody>
      </p:sp>
      <p:sp>
        <p:nvSpPr>
          <p:cNvPr id="20" name="TextBox 19"/>
          <p:cNvSpPr txBox="1"/>
          <p:nvPr/>
        </p:nvSpPr>
        <p:spPr>
          <a:xfrm>
            <a:off x="4023360" y="6437376"/>
            <a:ext cx="5394960" cy="292608"/>
          </a:xfrm>
          <a:prstGeom prst="rect">
            <a:avLst/>
          </a:prstGeom>
          <a:noFill/>
        </p:spPr>
        <p:txBody>
          <a:bodyPr wrap="square" lIns="45720" tIns="27432" rIns="45720" bIns="27432" anchor="ctr">
            <a:noAutofit/>
          </a:bodyPr>
          <a:lstStyle/>
          <a:p>
            <a:pPr algn="ctr">
              <a:lnSpc>
                <a:spcPct val="105000"/>
              </a:lnSpc>
            </a:pPr>
            <a:r>
              <a:rPr lang="es-ES" sz="1200" b="0" i="0">
                <a:solidFill>
                  <a:srgbClr val="5B6575"/>
                </a:solidFill>
                <a:latin typeface="Calibri"/>
              </a:rPr>
              <a:t>Tesis: Anexo B, catálogo de módulos educativos</a:t>
            </a:r>
          </a:p>
        </p:txBody>
      </p:sp>
      <p:sp>
        <p:nvSpPr>
          <p:cNvPr id="21" name="TextBox 20"/>
          <p:cNvSpPr txBox="1"/>
          <p:nvPr/>
        </p:nvSpPr>
        <p:spPr>
          <a:xfrm>
            <a:off x="10527487" y="6437376"/>
            <a:ext cx="1097280" cy="292608"/>
          </a:xfrm>
          <a:prstGeom prst="rect">
            <a:avLst/>
          </a:prstGeom>
          <a:noFill/>
        </p:spPr>
        <p:txBody>
          <a:bodyPr wrap="none" lIns="45720" tIns="18288" rIns="45720" bIns="18288">
            <a:spAutoFit/>
          </a:bodyPr>
          <a:lstStyle/>
          <a:p>
            <a:pPr algn="r"/>
            <a:fld id="{B6F15528-21DE-4FAA-801E-634DDDAF4B2B}" type="slidenum">
              <a:rPr lang="es-ES" sz="1200" dirty="0">
                <a:solidFill>
                  <a:srgbClr val="5B6575"/>
                </a:solidFill>
                <a:latin typeface="Calibri"/>
              </a:rPr>
              <a:t>21</a:t>
            </a:fld>
            <a:endParaRPr lang="es-ES" sz="1200" dirty="0">
              <a:solidFill>
                <a:srgbClr val="5B6575"/>
              </a:solidFill>
              <a:latin typeface="Calibri"/>
            </a:endParaRPr>
          </a:p>
        </p:txBody>
      </p:sp>
      <p:pic>
        <p:nvPicPr>
          <p:cNvPr id="22" name="s21">
            <a:hlinkClick r:id="" action="ppaction://media"/>
            <a:extLst>
              <a:ext uri="{FF2B5EF4-FFF2-40B4-BE49-F238E27FC236}">
                <a16:creationId xmlns:a16="http://schemas.microsoft.com/office/drawing/2014/main" id="{14FE25B0-6410-8543-1106-D69248442DDF}"/>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254000" y="254000"/>
            <a:ext cx="508000" cy="508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25640"/>
    </mc:Choice>
    <mc:Fallback>
      <p:transition spd="slow" advTm="2564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22"/>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22"/>
                </p:tgtEl>
              </p:cMediaNode>
            </p:audio>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566928" y="361188"/>
            <a:ext cx="50292" cy="173736"/>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TextBox 2"/>
          <p:cNvSpPr txBox="1"/>
          <p:nvPr/>
        </p:nvSpPr>
        <p:spPr>
          <a:xfrm>
            <a:off x="704088" y="310896"/>
            <a:ext cx="6766560" cy="274320"/>
          </a:xfrm>
          <a:prstGeom prst="rect">
            <a:avLst/>
          </a:prstGeom>
          <a:noFill/>
        </p:spPr>
        <p:txBody>
          <a:bodyPr wrap="square" lIns="45720" tIns="27432" rIns="45720" bIns="27432" anchor="ctr">
            <a:noAutofit/>
          </a:bodyPr>
          <a:lstStyle/>
          <a:p>
            <a:pPr algn="l">
              <a:lnSpc>
                <a:spcPct val="105000"/>
              </a:lnSpc>
            </a:pPr>
            <a:r>
              <a:rPr lang="es-ES" sz="1200" b="1" i="0" spc="80">
                <a:solidFill>
                  <a:srgbClr val="F28C28"/>
                </a:solidFill>
                <a:latin typeface="Calibri"/>
              </a:rPr>
              <a:t>03   DISEÑO Y DESARROLLO DEL MODELO</a:t>
            </a:r>
          </a:p>
        </p:txBody>
      </p:sp>
      <p:sp>
        <p:nvSpPr>
          <p:cNvPr id="4" name="Oval 3"/>
          <p:cNvSpPr/>
          <p:nvPr/>
        </p:nvSpPr>
        <p:spPr>
          <a:xfrm>
            <a:off x="10413187" y="388620"/>
            <a:ext cx="114300" cy="1143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Oval 4"/>
          <p:cNvSpPr/>
          <p:nvPr/>
        </p:nvSpPr>
        <p:spPr>
          <a:xfrm>
            <a:off x="10632643" y="388620"/>
            <a:ext cx="114300" cy="1143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Oval 5"/>
          <p:cNvSpPr/>
          <p:nvPr/>
        </p:nvSpPr>
        <p:spPr>
          <a:xfrm>
            <a:off x="10820095" y="356616"/>
            <a:ext cx="178308" cy="178308"/>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Oval 6"/>
          <p:cNvSpPr/>
          <p:nvPr/>
        </p:nvSpPr>
        <p:spPr>
          <a:xfrm>
            <a:off x="11071555"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Oval 7"/>
          <p:cNvSpPr/>
          <p:nvPr/>
        </p:nvSpPr>
        <p:spPr>
          <a:xfrm>
            <a:off x="11291011"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Oval 8"/>
          <p:cNvSpPr/>
          <p:nvPr/>
        </p:nvSpPr>
        <p:spPr>
          <a:xfrm>
            <a:off x="11510467"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548640" y="585216"/>
            <a:ext cx="11057839" cy="749808"/>
          </a:xfrm>
          <a:prstGeom prst="rect">
            <a:avLst/>
          </a:prstGeom>
          <a:noFill/>
        </p:spPr>
        <p:txBody>
          <a:bodyPr wrap="square" lIns="45720" tIns="27432" rIns="45720" bIns="27432" anchor="ctr">
            <a:noAutofit/>
          </a:bodyPr>
          <a:lstStyle/>
          <a:p>
            <a:pPr algn="l">
              <a:lnSpc>
                <a:spcPct val="105000"/>
              </a:lnSpc>
            </a:pPr>
            <a:r>
              <a:rPr lang="es-ES" sz="3200" b="1" i="0">
                <a:solidFill>
                  <a:srgbClr val="1B2A4A"/>
                </a:solidFill>
                <a:latin typeface="Calibri"/>
              </a:rPr>
              <a:t>Post-proceso sobre el mismo lienzo</a:t>
            </a:r>
          </a:p>
        </p:txBody>
      </p:sp>
      <p:sp>
        <p:nvSpPr>
          <p:cNvPr id="11" name="Rectangle 10"/>
          <p:cNvSpPr/>
          <p:nvPr/>
        </p:nvSpPr>
        <p:spPr>
          <a:xfrm>
            <a:off x="566928" y="1371600"/>
            <a:ext cx="1051560" cy="50292"/>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Rounded Rectangle 11"/>
          <p:cNvSpPr/>
          <p:nvPr/>
        </p:nvSpPr>
        <p:spPr>
          <a:xfrm>
            <a:off x="2746503" y="1572768"/>
            <a:ext cx="6698688" cy="3291839"/>
          </a:xfrm>
          <a:prstGeom prst="roundRect">
            <a:avLst>
              <a:gd name="adj" fmla="val 4000"/>
            </a:avLst>
          </a:prstGeom>
          <a:solidFill>
            <a:srgbClr val="F6F8FC"/>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3" name="Picture 12" descr="fig_postproceso.png"/>
          <p:cNvPicPr>
            <a:picLocks noChangeAspect="1"/>
          </p:cNvPicPr>
          <p:nvPr/>
        </p:nvPicPr>
        <p:blipFill>
          <a:blip r:embed="rId5"/>
          <a:stretch>
            <a:fillRect/>
          </a:stretch>
        </p:blipFill>
        <p:spPr>
          <a:xfrm>
            <a:off x="2865375" y="1691640"/>
            <a:ext cx="6460944" cy="3054096"/>
          </a:xfrm>
          <a:prstGeom prst="rect">
            <a:avLst/>
          </a:prstGeom>
        </p:spPr>
      </p:pic>
      <p:sp>
        <p:nvSpPr>
          <p:cNvPr id="14" name="TextBox 13"/>
          <p:cNvSpPr txBox="1"/>
          <p:nvPr/>
        </p:nvSpPr>
        <p:spPr>
          <a:xfrm>
            <a:off x="566928" y="4800600"/>
            <a:ext cx="11057839" cy="457200"/>
          </a:xfrm>
          <a:prstGeom prst="rect">
            <a:avLst/>
          </a:prstGeom>
          <a:noFill/>
        </p:spPr>
        <p:txBody>
          <a:bodyPr wrap="square" lIns="45720" tIns="27432" rIns="45720" bIns="27432" anchor="t">
            <a:noAutofit/>
          </a:bodyPr>
          <a:lstStyle/>
          <a:p>
            <a:pPr algn="ctr">
              <a:lnSpc>
                <a:spcPct val="105000"/>
              </a:lnSpc>
            </a:pPr>
            <a:r>
              <a:rPr lang="es-ES" sz="1600" b="0" i="1">
                <a:solidFill>
                  <a:srgbClr val="5B6575"/>
                </a:solidFill>
                <a:latin typeface="Calibri"/>
              </a:rPr>
              <a:t>Contorno de von Mises con interpolación de Gouraud, reacciones en los apoyos y sonda con círculo de Mohr</a:t>
            </a:r>
          </a:p>
        </p:txBody>
      </p:sp>
      <p:sp>
        <p:nvSpPr>
          <p:cNvPr id="15" name="Rectangle 14"/>
          <p:cNvSpPr/>
          <p:nvPr/>
        </p:nvSpPr>
        <p:spPr>
          <a:xfrm>
            <a:off x="566928" y="5449824"/>
            <a:ext cx="11057839" cy="841248"/>
          </a:xfrm>
          <a:prstGeom prst="rect">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Rectangle 15"/>
          <p:cNvSpPr/>
          <p:nvPr/>
        </p:nvSpPr>
        <p:spPr>
          <a:xfrm>
            <a:off x="566928" y="5449824"/>
            <a:ext cx="77724" cy="841248"/>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795528" y="5449824"/>
            <a:ext cx="10737799" cy="841248"/>
          </a:xfrm>
          <a:prstGeom prst="rect">
            <a:avLst/>
          </a:prstGeom>
          <a:noFill/>
        </p:spPr>
        <p:txBody>
          <a:bodyPr wrap="square" lIns="45720" tIns="27432" rIns="45720" bIns="27432" anchor="ctr">
            <a:noAutofit/>
          </a:bodyPr>
          <a:lstStyle/>
          <a:p>
            <a:pPr algn="l">
              <a:lnSpc>
                <a:spcPct val="100000"/>
              </a:lnSpc>
            </a:pPr>
            <a:r>
              <a:rPr lang="es-ES" sz="2000" b="1" i="0">
                <a:solidFill>
                  <a:srgbClr val="1B2A4A"/>
                </a:solidFill>
                <a:latin typeface="Calibri"/>
              </a:rPr>
              <a:t>Contorno, deformada, isolíneas, sonda puntual y vista 3D del campo, con la paleta jet de la práctica profesional</a:t>
            </a:r>
          </a:p>
        </p:txBody>
      </p:sp>
      <p:sp>
        <p:nvSpPr>
          <p:cNvPr id="18" name="Rectangle 17"/>
          <p:cNvSpPr/>
          <p:nvPr/>
        </p:nvSpPr>
        <p:spPr>
          <a:xfrm>
            <a:off x="566928" y="6364224"/>
            <a:ext cx="11057839" cy="7315"/>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566928" y="6437376"/>
            <a:ext cx="5029200" cy="292608"/>
          </a:xfrm>
          <a:prstGeom prst="rect">
            <a:avLst/>
          </a:prstGeom>
          <a:noFill/>
        </p:spPr>
        <p:txBody>
          <a:bodyPr wrap="square" lIns="45720" tIns="27432" rIns="45720" bIns="27432" anchor="ctr">
            <a:noAutofit/>
          </a:bodyPr>
          <a:lstStyle/>
          <a:p>
            <a:pPr algn="l">
              <a:lnSpc>
                <a:spcPct val="105000"/>
              </a:lnSpc>
            </a:pPr>
            <a:r>
              <a:rPr lang="es-ES" sz="1200" b="0" i="0">
                <a:solidFill>
                  <a:srgbClr val="5B6575"/>
                </a:solidFill>
                <a:latin typeface="Calibri"/>
              </a:rPr>
              <a:t>EduFEM · Defensa de tesis · Ingeniería Civil · UATF</a:t>
            </a:r>
          </a:p>
        </p:txBody>
      </p:sp>
      <p:sp>
        <p:nvSpPr>
          <p:cNvPr id="20" name="TextBox 19"/>
          <p:cNvSpPr txBox="1"/>
          <p:nvPr/>
        </p:nvSpPr>
        <p:spPr>
          <a:xfrm>
            <a:off x="4023360" y="6437376"/>
            <a:ext cx="5394960" cy="292608"/>
          </a:xfrm>
          <a:prstGeom prst="rect">
            <a:avLst/>
          </a:prstGeom>
          <a:noFill/>
        </p:spPr>
        <p:txBody>
          <a:bodyPr wrap="square" lIns="45720" tIns="27432" rIns="45720" bIns="27432" anchor="ctr">
            <a:noAutofit/>
          </a:bodyPr>
          <a:lstStyle/>
          <a:p>
            <a:pPr algn="ctr">
              <a:lnSpc>
                <a:spcPct val="105000"/>
              </a:lnSpc>
            </a:pPr>
            <a:r>
              <a:rPr lang="es-ES" sz="1200" b="0" i="0">
                <a:solidFill>
                  <a:srgbClr val="5B6575"/>
                </a:solidFill>
                <a:latin typeface="Calibri"/>
              </a:rPr>
              <a:t>Tesis: §2.2, post-proceso</a:t>
            </a:r>
          </a:p>
        </p:txBody>
      </p:sp>
      <p:sp>
        <p:nvSpPr>
          <p:cNvPr id="21" name="TextBox 20"/>
          <p:cNvSpPr txBox="1"/>
          <p:nvPr/>
        </p:nvSpPr>
        <p:spPr>
          <a:xfrm>
            <a:off x="10527487" y="6437376"/>
            <a:ext cx="1097280" cy="292608"/>
          </a:xfrm>
          <a:prstGeom prst="rect">
            <a:avLst/>
          </a:prstGeom>
          <a:noFill/>
        </p:spPr>
        <p:txBody>
          <a:bodyPr wrap="none" lIns="45720" tIns="18288" rIns="45720" bIns="18288">
            <a:spAutoFit/>
          </a:bodyPr>
          <a:lstStyle/>
          <a:p>
            <a:pPr algn="r"/>
            <a:fld id="{B6F15528-21DE-4FAA-801E-634DDDAF4B2B}" type="slidenum">
              <a:rPr lang="es-ES" sz="1200" dirty="0">
                <a:solidFill>
                  <a:srgbClr val="5B6575"/>
                </a:solidFill>
                <a:latin typeface="Calibri"/>
              </a:rPr>
              <a:t>22</a:t>
            </a:fld>
            <a:endParaRPr lang="es-ES" sz="1200" dirty="0">
              <a:solidFill>
                <a:srgbClr val="5B6575"/>
              </a:solidFill>
              <a:latin typeface="Calibri"/>
            </a:endParaRPr>
          </a:p>
        </p:txBody>
      </p:sp>
      <p:pic>
        <p:nvPicPr>
          <p:cNvPr id="22" name="s22">
            <a:hlinkClick r:id="" action="ppaction://media"/>
            <a:extLst>
              <a:ext uri="{FF2B5EF4-FFF2-40B4-BE49-F238E27FC236}">
                <a16:creationId xmlns:a16="http://schemas.microsoft.com/office/drawing/2014/main" id="{E8C1EF5A-58A8-1C39-55BD-8575A36AD2A2}"/>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254000" y="254000"/>
            <a:ext cx="508000" cy="508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6368"/>
    </mc:Choice>
    <mc:Fallback>
      <p:transition spd="slow" advTm="36368"/>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22"/>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22"/>
                </p:tgtEl>
              </p:cMediaNode>
            </p:audio>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566928" y="361188"/>
            <a:ext cx="50292" cy="173736"/>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TextBox 2"/>
          <p:cNvSpPr txBox="1"/>
          <p:nvPr/>
        </p:nvSpPr>
        <p:spPr>
          <a:xfrm>
            <a:off x="704088" y="310896"/>
            <a:ext cx="6766560" cy="274320"/>
          </a:xfrm>
          <a:prstGeom prst="rect">
            <a:avLst/>
          </a:prstGeom>
          <a:noFill/>
        </p:spPr>
        <p:txBody>
          <a:bodyPr wrap="square" lIns="45720" tIns="27432" rIns="45720" bIns="27432" anchor="ctr">
            <a:noAutofit/>
          </a:bodyPr>
          <a:lstStyle/>
          <a:p>
            <a:pPr algn="l">
              <a:lnSpc>
                <a:spcPct val="105000"/>
              </a:lnSpc>
            </a:pPr>
            <a:r>
              <a:rPr lang="es-ES" sz="1200" b="1" i="0" spc="80">
                <a:solidFill>
                  <a:srgbClr val="F28C28"/>
                </a:solidFill>
                <a:latin typeface="Calibri"/>
              </a:rPr>
              <a:t>03   DISEÑO Y DESARROLLO DEL MODELO</a:t>
            </a:r>
          </a:p>
        </p:txBody>
      </p:sp>
      <p:sp>
        <p:nvSpPr>
          <p:cNvPr id="4" name="Oval 3"/>
          <p:cNvSpPr/>
          <p:nvPr/>
        </p:nvSpPr>
        <p:spPr>
          <a:xfrm>
            <a:off x="10413187" y="388620"/>
            <a:ext cx="114300" cy="1143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Oval 4"/>
          <p:cNvSpPr/>
          <p:nvPr/>
        </p:nvSpPr>
        <p:spPr>
          <a:xfrm>
            <a:off x="10632643" y="388620"/>
            <a:ext cx="114300" cy="1143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Oval 5"/>
          <p:cNvSpPr/>
          <p:nvPr/>
        </p:nvSpPr>
        <p:spPr>
          <a:xfrm>
            <a:off x="10820095" y="356616"/>
            <a:ext cx="178308" cy="178308"/>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Oval 6"/>
          <p:cNvSpPr/>
          <p:nvPr/>
        </p:nvSpPr>
        <p:spPr>
          <a:xfrm>
            <a:off x="11071555"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Oval 7"/>
          <p:cNvSpPr/>
          <p:nvPr/>
        </p:nvSpPr>
        <p:spPr>
          <a:xfrm>
            <a:off x="11291011"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Oval 8"/>
          <p:cNvSpPr/>
          <p:nvPr/>
        </p:nvSpPr>
        <p:spPr>
          <a:xfrm>
            <a:off x="11510467"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548640" y="585216"/>
            <a:ext cx="11057839" cy="749808"/>
          </a:xfrm>
          <a:prstGeom prst="rect">
            <a:avLst/>
          </a:prstGeom>
          <a:noFill/>
        </p:spPr>
        <p:txBody>
          <a:bodyPr wrap="square" lIns="45720" tIns="27432" rIns="45720" bIns="27432" anchor="ctr">
            <a:noAutofit/>
          </a:bodyPr>
          <a:lstStyle/>
          <a:p>
            <a:pPr algn="l">
              <a:lnSpc>
                <a:spcPct val="105000"/>
              </a:lnSpc>
            </a:pPr>
            <a:r>
              <a:rPr lang="es-ES" sz="2900" b="1" i="0">
                <a:solidFill>
                  <a:srgbClr val="1B2A4A"/>
                </a:solidFill>
                <a:latin typeface="Calibri"/>
              </a:rPr>
              <a:t>Memoria de cálculo: el ejemplo canónico paso a paso</a:t>
            </a:r>
          </a:p>
        </p:txBody>
      </p:sp>
      <p:sp>
        <p:nvSpPr>
          <p:cNvPr id="11" name="Rectangle 10"/>
          <p:cNvSpPr/>
          <p:nvPr/>
        </p:nvSpPr>
        <p:spPr>
          <a:xfrm>
            <a:off x="566928" y="1371600"/>
            <a:ext cx="1051560" cy="50292"/>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Rounded Rectangle 11"/>
          <p:cNvSpPr/>
          <p:nvPr/>
        </p:nvSpPr>
        <p:spPr>
          <a:xfrm>
            <a:off x="566928" y="1801368"/>
            <a:ext cx="3320186" cy="1426464"/>
          </a:xfrm>
          <a:prstGeom prst="roundRect">
            <a:avLst>
              <a:gd name="adj" fmla="val 9000"/>
            </a:avLst>
          </a:prstGeom>
          <a:solidFill>
            <a:srgbClr val="F6F8FC"/>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Rectangle 12"/>
          <p:cNvSpPr/>
          <p:nvPr/>
        </p:nvSpPr>
        <p:spPr>
          <a:xfrm>
            <a:off x="585216" y="1819656"/>
            <a:ext cx="3283610" cy="100584"/>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566928" y="2278189"/>
            <a:ext cx="3320186" cy="401828"/>
          </a:xfrm>
          <a:prstGeom prst="rect">
            <a:avLst/>
          </a:prstGeom>
          <a:noFill/>
        </p:spPr>
        <p:txBody>
          <a:bodyPr wrap="square" tIns="18288" bIns="18288" anchor="t">
            <a:noAutofit/>
          </a:bodyPr>
          <a:lstStyle/>
          <a:p>
            <a:pPr algn="ctr">
              <a:lnSpc>
                <a:spcPct val="105000"/>
              </a:lnSpc>
            </a:pPr>
            <a:r>
              <a:rPr lang="es-ES" sz="2000" b="1" i="0">
                <a:solidFill>
                  <a:srgbClr val="1B2A4A"/>
                </a:solidFill>
                <a:latin typeface="Calibri"/>
              </a:rPr>
              <a:t>Matriz D</a:t>
            </a:r>
          </a:p>
        </p:txBody>
      </p:sp>
      <p:sp>
        <p:nvSpPr>
          <p:cNvPr id="15" name="TextBox 14"/>
          <p:cNvSpPr txBox="1"/>
          <p:nvPr/>
        </p:nvSpPr>
        <p:spPr>
          <a:xfrm>
            <a:off x="566928" y="2643441"/>
            <a:ext cx="3320186" cy="317881"/>
          </a:xfrm>
          <a:prstGeom prst="rect">
            <a:avLst/>
          </a:prstGeom>
          <a:noFill/>
        </p:spPr>
        <p:txBody>
          <a:bodyPr wrap="square" tIns="18288" bIns="18288" anchor="t">
            <a:noAutofit/>
          </a:bodyPr>
          <a:lstStyle/>
          <a:p>
            <a:pPr algn="ctr">
              <a:lnSpc>
                <a:spcPct val="105000"/>
              </a:lnSpc>
            </a:pPr>
            <a:r>
              <a:rPr lang="es-ES" sz="1300" b="0" i="0">
                <a:solidFill>
                  <a:srgbClr val="5B6575"/>
                </a:solidFill>
                <a:latin typeface="Calibri"/>
              </a:rPr>
              <a:t>factor E/(1−ν²) = 234375</a:t>
            </a:r>
          </a:p>
        </p:txBody>
      </p:sp>
      <p:sp>
        <p:nvSpPr>
          <p:cNvPr id="16" name="Right Arrow 15"/>
          <p:cNvSpPr/>
          <p:nvPr/>
        </p:nvSpPr>
        <p:spPr>
          <a:xfrm>
            <a:off x="3987698" y="2395728"/>
            <a:ext cx="347472" cy="237744"/>
          </a:xfrm>
          <a:prstGeom prst="rightArrow">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4435754" y="1801368"/>
            <a:ext cx="3320186" cy="1426464"/>
          </a:xfrm>
          <a:prstGeom prst="roundRect">
            <a:avLst>
              <a:gd name="adj" fmla="val 9000"/>
            </a:avLst>
          </a:prstGeom>
          <a:solidFill>
            <a:srgbClr val="F6F8FC"/>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Rectangle 17"/>
          <p:cNvSpPr/>
          <p:nvPr/>
        </p:nvSpPr>
        <p:spPr>
          <a:xfrm>
            <a:off x="4454042" y="1819656"/>
            <a:ext cx="3283610" cy="100584"/>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4435754" y="2278189"/>
            <a:ext cx="3320186" cy="401828"/>
          </a:xfrm>
          <a:prstGeom prst="rect">
            <a:avLst/>
          </a:prstGeom>
          <a:noFill/>
        </p:spPr>
        <p:txBody>
          <a:bodyPr wrap="square" tIns="18288" bIns="18288" anchor="t">
            <a:noAutofit/>
          </a:bodyPr>
          <a:lstStyle/>
          <a:p>
            <a:pPr algn="ctr">
              <a:lnSpc>
                <a:spcPct val="105000"/>
              </a:lnSpc>
            </a:pPr>
            <a:r>
              <a:rPr lang="es-ES" sz="2000" b="1" i="0">
                <a:solidFill>
                  <a:srgbClr val="1B2A4A"/>
                </a:solidFill>
                <a:latin typeface="Calibri"/>
              </a:rPr>
              <a:t>kₑ del elemento 3</a:t>
            </a:r>
          </a:p>
        </p:txBody>
      </p:sp>
      <p:sp>
        <p:nvSpPr>
          <p:cNvPr id="20" name="TextBox 19"/>
          <p:cNvSpPr txBox="1"/>
          <p:nvPr/>
        </p:nvSpPr>
        <p:spPr>
          <a:xfrm>
            <a:off x="4435754" y="2643441"/>
            <a:ext cx="3320186" cy="317881"/>
          </a:xfrm>
          <a:prstGeom prst="rect">
            <a:avLst/>
          </a:prstGeom>
          <a:noFill/>
        </p:spPr>
        <p:txBody>
          <a:bodyPr wrap="square" tIns="18288" bIns="18288" anchor="t">
            <a:noAutofit/>
          </a:bodyPr>
          <a:lstStyle/>
          <a:p>
            <a:pPr algn="ctr">
              <a:lnSpc>
                <a:spcPct val="105000"/>
              </a:lnSpc>
            </a:pPr>
            <a:r>
              <a:rPr lang="es-ES" sz="1300" b="0" i="0">
                <a:solidFill>
                  <a:srgbClr val="5B6575"/>
                </a:solidFill>
                <a:latin typeface="Calibri"/>
              </a:rPr>
              <a:t>det J = 4,7604 en el PG 1</a:t>
            </a:r>
          </a:p>
        </p:txBody>
      </p:sp>
      <p:sp>
        <p:nvSpPr>
          <p:cNvPr id="21" name="Right Arrow 20"/>
          <p:cNvSpPr/>
          <p:nvPr/>
        </p:nvSpPr>
        <p:spPr>
          <a:xfrm>
            <a:off x="7856524" y="2395728"/>
            <a:ext cx="347472" cy="237744"/>
          </a:xfrm>
          <a:prstGeom prst="rightArrow">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1"/>
          <p:cNvSpPr/>
          <p:nvPr/>
        </p:nvSpPr>
        <p:spPr>
          <a:xfrm>
            <a:off x="8304580" y="1801368"/>
            <a:ext cx="3320186" cy="1426464"/>
          </a:xfrm>
          <a:prstGeom prst="roundRect">
            <a:avLst>
              <a:gd name="adj" fmla="val 9000"/>
            </a:avLst>
          </a:prstGeom>
          <a:solidFill>
            <a:srgbClr val="F6F8FC"/>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Rectangle 22"/>
          <p:cNvSpPr/>
          <p:nvPr/>
        </p:nvSpPr>
        <p:spPr>
          <a:xfrm>
            <a:off x="8322868" y="1819656"/>
            <a:ext cx="3283610" cy="100584"/>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TextBox 23"/>
          <p:cNvSpPr txBox="1"/>
          <p:nvPr/>
        </p:nvSpPr>
        <p:spPr>
          <a:xfrm>
            <a:off x="8304580" y="2278189"/>
            <a:ext cx="3320186" cy="401828"/>
          </a:xfrm>
          <a:prstGeom prst="rect">
            <a:avLst/>
          </a:prstGeom>
          <a:noFill/>
        </p:spPr>
        <p:txBody>
          <a:bodyPr wrap="square" tIns="18288" bIns="18288" anchor="t">
            <a:noAutofit/>
          </a:bodyPr>
          <a:lstStyle/>
          <a:p>
            <a:pPr algn="ctr">
              <a:lnSpc>
                <a:spcPct val="105000"/>
              </a:lnSpc>
            </a:pPr>
            <a:r>
              <a:rPr lang="es-ES" sz="2000" b="1" i="0">
                <a:solidFill>
                  <a:srgbClr val="1B2A4A"/>
                </a:solidFill>
                <a:latin typeface="Calibri"/>
              </a:rPr>
              <a:t>Ensamblaje</a:t>
            </a:r>
          </a:p>
        </p:txBody>
      </p:sp>
      <p:sp>
        <p:nvSpPr>
          <p:cNvPr id="25" name="TextBox 24"/>
          <p:cNvSpPr txBox="1"/>
          <p:nvPr/>
        </p:nvSpPr>
        <p:spPr>
          <a:xfrm>
            <a:off x="8304580" y="2643441"/>
            <a:ext cx="3320186" cy="317881"/>
          </a:xfrm>
          <a:prstGeom prst="rect">
            <a:avLst/>
          </a:prstGeom>
          <a:noFill/>
        </p:spPr>
        <p:txBody>
          <a:bodyPr wrap="square" tIns="18288" bIns="18288" anchor="t">
            <a:noAutofit/>
          </a:bodyPr>
          <a:lstStyle/>
          <a:p>
            <a:pPr algn="ctr">
              <a:lnSpc>
                <a:spcPct val="105000"/>
              </a:lnSpc>
            </a:pPr>
            <a:r>
              <a:rPr lang="es-ES" sz="1300" b="0" i="0">
                <a:solidFill>
                  <a:srgbClr val="5B6575"/>
                </a:solidFill>
                <a:latin typeface="Calibri"/>
              </a:rPr>
              <a:t>K de 18×18; F₇ᵧ = −1000</a:t>
            </a:r>
          </a:p>
        </p:txBody>
      </p:sp>
      <p:sp>
        <p:nvSpPr>
          <p:cNvPr id="26" name="Rounded Rectangle 25"/>
          <p:cNvSpPr/>
          <p:nvPr/>
        </p:nvSpPr>
        <p:spPr>
          <a:xfrm>
            <a:off x="566928" y="3685032"/>
            <a:ext cx="3320186" cy="1426464"/>
          </a:xfrm>
          <a:prstGeom prst="roundRect">
            <a:avLst>
              <a:gd name="adj" fmla="val 9000"/>
            </a:avLst>
          </a:prstGeom>
          <a:solidFill>
            <a:srgbClr val="F6F8FC"/>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Rectangle 26"/>
          <p:cNvSpPr/>
          <p:nvPr/>
        </p:nvSpPr>
        <p:spPr>
          <a:xfrm>
            <a:off x="585216" y="3703320"/>
            <a:ext cx="3283610" cy="100584"/>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TextBox 27"/>
          <p:cNvSpPr txBox="1"/>
          <p:nvPr/>
        </p:nvSpPr>
        <p:spPr>
          <a:xfrm>
            <a:off x="566928" y="4161853"/>
            <a:ext cx="3320186" cy="401828"/>
          </a:xfrm>
          <a:prstGeom prst="rect">
            <a:avLst/>
          </a:prstGeom>
          <a:noFill/>
        </p:spPr>
        <p:txBody>
          <a:bodyPr wrap="square" tIns="18288" bIns="18288" anchor="t">
            <a:noAutofit/>
          </a:bodyPr>
          <a:lstStyle/>
          <a:p>
            <a:pPr algn="ctr">
              <a:lnSpc>
                <a:spcPct val="105000"/>
              </a:lnSpc>
            </a:pPr>
            <a:r>
              <a:rPr lang="es-ES" sz="2000" b="1" i="0">
                <a:solidFill>
                  <a:srgbClr val="1B2A4A"/>
                </a:solidFill>
                <a:latin typeface="Calibri"/>
              </a:rPr>
              <a:t>Partición</a:t>
            </a:r>
          </a:p>
        </p:txBody>
      </p:sp>
      <p:sp>
        <p:nvSpPr>
          <p:cNvPr id="29" name="TextBox 28"/>
          <p:cNvSpPr txBox="1"/>
          <p:nvPr/>
        </p:nvSpPr>
        <p:spPr>
          <a:xfrm>
            <a:off x="566928" y="4527105"/>
            <a:ext cx="3320186" cy="317881"/>
          </a:xfrm>
          <a:prstGeom prst="rect">
            <a:avLst/>
          </a:prstGeom>
          <a:noFill/>
        </p:spPr>
        <p:txBody>
          <a:bodyPr wrap="square" tIns="18288" bIns="18288" anchor="t">
            <a:noAutofit/>
          </a:bodyPr>
          <a:lstStyle/>
          <a:p>
            <a:pPr algn="ctr">
              <a:lnSpc>
                <a:spcPct val="105000"/>
              </a:lnSpc>
            </a:pPr>
            <a:r>
              <a:rPr lang="es-ES" sz="1300" b="0" i="0">
                <a:solidFill>
                  <a:srgbClr val="5B6575"/>
                </a:solidFill>
                <a:latin typeface="Calibri"/>
              </a:rPr>
              <a:t>6 GDL restringidos, 12 libres</a:t>
            </a:r>
          </a:p>
        </p:txBody>
      </p:sp>
      <p:sp>
        <p:nvSpPr>
          <p:cNvPr id="30" name="Right Arrow 29"/>
          <p:cNvSpPr/>
          <p:nvPr/>
        </p:nvSpPr>
        <p:spPr>
          <a:xfrm>
            <a:off x="3987698" y="4279392"/>
            <a:ext cx="347472" cy="237744"/>
          </a:xfrm>
          <a:prstGeom prst="rightArrow">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ounded Rectangle 30"/>
          <p:cNvSpPr/>
          <p:nvPr/>
        </p:nvSpPr>
        <p:spPr>
          <a:xfrm>
            <a:off x="4435754" y="3685032"/>
            <a:ext cx="3320186" cy="1426464"/>
          </a:xfrm>
          <a:prstGeom prst="roundRect">
            <a:avLst>
              <a:gd name="adj" fmla="val 9000"/>
            </a:avLst>
          </a:prstGeom>
          <a:solidFill>
            <a:srgbClr val="F6F8FC"/>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 name="Rectangle 31"/>
          <p:cNvSpPr/>
          <p:nvPr/>
        </p:nvSpPr>
        <p:spPr>
          <a:xfrm>
            <a:off x="4454042" y="3703320"/>
            <a:ext cx="3283610" cy="100584"/>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 name="TextBox 32"/>
          <p:cNvSpPr txBox="1"/>
          <p:nvPr/>
        </p:nvSpPr>
        <p:spPr>
          <a:xfrm>
            <a:off x="4435754" y="4161853"/>
            <a:ext cx="3320186" cy="401828"/>
          </a:xfrm>
          <a:prstGeom prst="rect">
            <a:avLst/>
          </a:prstGeom>
          <a:noFill/>
        </p:spPr>
        <p:txBody>
          <a:bodyPr wrap="square" tIns="18288" bIns="18288" anchor="t">
            <a:noAutofit/>
          </a:bodyPr>
          <a:lstStyle/>
          <a:p>
            <a:pPr algn="ctr">
              <a:lnSpc>
                <a:spcPct val="105000"/>
              </a:lnSpc>
            </a:pPr>
            <a:r>
              <a:rPr lang="es-ES" sz="2000" b="1" i="0">
                <a:solidFill>
                  <a:srgbClr val="1B2A4A"/>
                </a:solidFill>
                <a:latin typeface="Calibri"/>
              </a:rPr>
              <a:t>Reacciones</a:t>
            </a:r>
          </a:p>
        </p:txBody>
      </p:sp>
      <p:sp>
        <p:nvSpPr>
          <p:cNvPr id="34" name="TextBox 33"/>
          <p:cNvSpPr txBox="1"/>
          <p:nvPr/>
        </p:nvSpPr>
        <p:spPr>
          <a:xfrm>
            <a:off x="4435754" y="4527105"/>
            <a:ext cx="3320186" cy="317881"/>
          </a:xfrm>
          <a:prstGeom prst="rect">
            <a:avLst/>
          </a:prstGeom>
          <a:noFill/>
        </p:spPr>
        <p:txBody>
          <a:bodyPr wrap="square" tIns="18288" bIns="18288" anchor="t">
            <a:noAutofit/>
          </a:bodyPr>
          <a:lstStyle/>
          <a:p>
            <a:pPr algn="ctr">
              <a:lnSpc>
                <a:spcPct val="105000"/>
              </a:lnSpc>
            </a:pPr>
            <a:r>
              <a:rPr lang="es-ES" sz="1300" b="0" i="0">
                <a:solidFill>
                  <a:srgbClr val="5B6575"/>
                </a:solidFill>
                <a:latin typeface="Calibri"/>
              </a:rPr>
              <a:t>ΣRₓ = 0,00 · ΣRᵧ = 1000,00</a:t>
            </a:r>
          </a:p>
        </p:txBody>
      </p:sp>
      <p:sp>
        <p:nvSpPr>
          <p:cNvPr id="35" name="Right Arrow 34"/>
          <p:cNvSpPr/>
          <p:nvPr/>
        </p:nvSpPr>
        <p:spPr>
          <a:xfrm>
            <a:off x="7856524" y="4279392"/>
            <a:ext cx="347472" cy="237744"/>
          </a:xfrm>
          <a:prstGeom prst="rightArrow">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ounded Rectangle 35"/>
          <p:cNvSpPr/>
          <p:nvPr/>
        </p:nvSpPr>
        <p:spPr>
          <a:xfrm>
            <a:off x="8304580" y="3685032"/>
            <a:ext cx="3320186" cy="1426464"/>
          </a:xfrm>
          <a:prstGeom prst="roundRect">
            <a:avLst>
              <a:gd name="adj" fmla="val 9000"/>
            </a:avLst>
          </a:prstGeom>
          <a:solidFill>
            <a:srgbClr val="F6F8FC"/>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7" name="Rectangle 36"/>
          <p:cNvSpPr/>
          <p:nvPr/>
        </p:nvSpPr>
        <p:spPr>
          <a:xfrm>
            <a:off x="8322868" y="3703320"/>
            <a:ext cx="3283610" cy="100584"/>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8" name="TextBox 37"/>
          <p:cNvSpPr txBox="1"/>
          <p:nvPr/>
        </p:nvSpPr>
        <p:spPr>
          <a:xfrm>
            <a:off x="8304580" y="4161853"/>
            <a:ext cx="3320186" cy="401828"/>
          </a:xfrm>
          <a:prstGeom prst="rect">
            <a:avLst/>
          </a:prstGeom>
          <a:noFill/>
        </p:spPr>
        <p:txBody>
          <a:bodyPr wrap="square" tIns="18288" bIns="18288" anchor="t">
            <a:noAutofit/>
          </a:bodyPr>
          <a:lstStyle/>
          <a:p>
            <a:pPr algn="ctr">
              <a:lnSpc>
                <a:spcPct val="105000"/>
              </a:lnSpc>
            </a:pPr>
            <a:r>
              <a:rPr lang="es-ES" sz="2000" b="1" i="0">
                <a:solidFill>
                  <a:srgbClr val="1B2A4A"/>
                </a:solidFill>
                <a:latin typeface="Calibri"/>
              </a:rPr>
              <a:t>Tensiones</a:t>
            </a:r>
          </a:p>
        </p:txBody>
      </p:sp>
      <p:sp>
        <p:nvSpPr>
          <p:cNvPr id="39" name="TextBox 38"/>
          <p:cNvSpPr txBox="1"/>
          <p:nvPr/>
        </p:nvSpPr>
        <p:spPr>
          <a:xfrm>
            <a:off x="8304580" y="4527105"/>
            <a:ext cx="3320186" cy="317881"/>
          </a:xfrm>
          <a:prstGeom prst="rect">
            <a:avLst/>
          </a:prstGeom>
          <a:noFill/>
        </p:spPr>
        <p:txBody>
          <a:bodyPr wrap="square" tIns="18288" bIns="18288" anchor="t">
            <a:noAutofit/>
          </a:bodyPr>
          <a:lstStyle/>
          <a:p>
            <a:pPr algn="ctr">
              <a:lnSpc>
                <a:spcPct val="105000"/>
              </a:lnSpc>
            </a:pPr>
            <a:r>
              <a:rPr lang="es-ES" sz="1300" b="0" i="0">
                <a:solidFill>
                  <a:srgbClr val="5B6575"/>
                </a:solidFill>
                <a:latin typeface="Calibri"/>
              </a:rPr>
              <a:t>σVM máx = 864,70 en el nodo 7</a:t>
            </a:r>
          </a:p>
        </p:txBody>
      </p:sp>
      <p:sp>
        <p:nvSpPr>
          <p:cNvPr id="40" name="Rectangle 39"/>
          <p:cNvSpPr/>
          <p:nvPr/>
        </p:nvSpPr>
        <p:spPr>
          <a:xfrm>
            <a:off x="566928" y="5449824"/>
            <a:ext cx="11057839" cy="841248"/>
          </a:xfrm>
          <a:prstGeom prst="rect">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1" name="Rectangle 40"/>
          <p:cNvSpPr/>
          <p:nvPr/>
        </p:nvSpPr>
        <p:spPr>
          <a:xfrm>
            <a:off x="566928" y="5449824"/>
            <a:ext cx="77724" cy="841248"/>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2" name="TextBox 41"/>
          <p:cNvSpPr txBox="1"/>
          <p:nvPr/>
        </p:nvSpPr>
        <p:spPr>
          <a:xfrm>
            <a:off x="795528" y="5449824"/>
            <a:ext cx="10737799" cy="841248"/>
          </a:xfrm>
          <a:prstGeom prst="rect">
            <a:avLst/>
          </a:prstGeom>
          <a:noFill/>
        </p:spPr>
        <p:txBody>
          <a:bodyPr wrap="square" lIns="45720" tIns="27432" rIns="45720" bIns="27432" anchor="ctr">
            <a:noAutofit/>
          </a:bodyPr>
          <a:lstStyle/>
          <a:p>
            <a:pPr algn="l">
              <a:lnSpc>
                <a:spcPct val="100000"/>
              </a:lnSpc>
            </a:pPr>
            <a:r>
              <a:rPr lang="es-ES" sz="2200" b="1" i="0">
                <a:solidFill>
                  <a:srgbClr val="1B2A4A"/>
                </a:solidFill>
                <a:latin typeface="Calibri"/>
              </a:rPr>
              <a:t>PDF en dos estilos (educativo y directo) con TeX Live embebido; formatos .edufem, CSV/ZIP y DXF</a:t>
            </a:r>
          </a:p>
        </p:txBody>
      </p:sp>
      <p:sp>
        <p:nvSpPr>
          <p:cNvPr id="43" name="Rectangle 42"/>
          <p:cNvSpPr/>
          <p:nvPr/>
        </p:nvSpPr>
        <p:spPr>
          <a:xfrm>
            <a:off x="566928" y="6364224"/>
            <a:ext cx="11057839" cy="7315"/>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4" name="TextBox 43"/>
          <p:cNvSpPr txBox="1"/>
          <p:nvPr/>
        </p:nvSpPr>
        <p:spPr>
          <a:xfrm>
            <a:off x="566928" y="6437376"/>
            <a:ext cx="5029200" cy="292608"/>
          </a:xfrm>
          <a:prstGeom prst="rect">
            <a:avLst/>
          </a:prstGeom>
          <a:noFill/>
        </p:spPr>
        <p:txBody>
          <a:bodyPr wrap="square" lIns="45720" tIns="27432" rIns="45720" bIns="27432" anchor="ctr">
            <a:noAutofit/>
          </a:bodyPr>
          <a:lstStyle/>
          <a:p>
            <a:pPr algn="l">
              <a:lnSpc>
                <a:spcPct val="105000"/>
              </a:lnSpc>
            </a:pPr>
            <a:r>
              <a:rPr lang="es-ES" sz="1200" b="0" i="0">
                <a:solidFill>
                  <a:srgbClr val="5B6575"/>
                </a:solidFill>
                <a:latin typeface="Calibri"/>
              </a:rPr>
              <a:t>EduFEM · Defensa de tesis · Ingeniería Civil · UATF</a:t>
            </a:r>
          </a:p>
        </p:txBody>
      </p:sp>
      <p:sp>
        <p:nvSpPr>
          <p:cNvPr id="45" name="TextBox 44"/>
          <p:cNvSpPr txBox="1"/>
          <p:nvPr/>
        </p:nvSpPr>
        <p:spPr>
          <a:xfrm>
            <a:off x="4023360" y="6437376"/>
            <a:ext cx="5394960" cy="292608"/>
          </a:xfrm>
          <a:prstGeom prst="rect">
            <a:avLst/>
          </a:prstGeom>
          <a:noFill/>
        </p:spPr>
        <p:txBody>
          <a:bodyPr wrap="square" lIns="45720" tIns="27432" rIns="45720" bIns="27432" anchor="ctr">
            <a:noAutofit/>
          </a:bodyPr>
          <a:lstStyle/>
          <a:p>
            <a:pPr algn="ctr">
              <a:lnSpc>
                <a:spcPct val="105000"/>
              </a:lnSpc>
            </a:pPr>
            <a:r>
              <a:rPr lang="es-ES" sz="1200" b="0" i="0">
                <a:solidFill>
                  <a:srgbClr val="5B6575"/>
                </a:solidFill>
                <a:latin typeface="Calibri"/>
              </a:rPr>
              <a:t>Tesis: §2.2, memoria e interoperabilidad; Anexo G</a:t>
            </a:r>
          </a:p>
        </p:txBody>
      </p:sp>
      <p:sp>
        <p:nvSpPr>
          <p:cNvPr id="46" name="TextBox 45"/>
          <p:cNvSpPr txBox="1"/>
          <p:nvPr/>
        </p:nvSpPr>
        <p:spPr>
          <a:xfrm>
            <a:off x="10527487" y="6437376"/>
            <a:ext cx="1097280" cy="292608"/>
          </a:xfrm>
          <a:prstGeom prst="rect">
            <a:avLst/>
          </a:prstGeom>
          <a:noFill/>
        </p:spPr>
        <p:txBody>
          <a:bodyPr wrap="none" lIns="45720" tIns="18288" rIns="45720" bIns="18288">
            <a:spAutoFit/>
          </a:bodyPr>
          <a:lstStyle/>
          <a:p>
            <a:pPr algn="r"/>
            <a:fld id="{B6F15528-21DE-4FAA-801E-634DDDAF4B2B}" type="slidenum">
              <a:rPr lang="es-ES" sz="1200" dirty="0">
                <a:solidFill>
                  <a:srgbClr val="5B6575"/>
                </a:solidFill>
                <a:latin typeface="Calibri"/>
              </a:rPr>
              <a:t>23</a:t>
            </a:fld>
            <a:endParaRPr lang="es-ES" sz="1200" dirty="0">
              <a:solidFill>
                <a:srgbClr val="5B6575"/>
              </a:solidFill>
              <a:latin typeface="Calibri"/>
            </a:endParaRPr>
          </a:p>
        </p:txBody>
      </p:sp>
      <p:pic>
        <p:nvPicPr>
          <p:cNvPr id="47" name="s23">
            <a:hlinkClick r:id="" action="ppaction://media"/>
            <a:extLst>
              <a:ext uri="{FF2B5EF4-FFF2-40B4-BE49-F238E27FC236}">
                <a16:creationId xmlns:a16="http://schemas.microsoft.com/office/drawing/2014/main" id="{DCF974F7-001A-B081-0C5D-B7671E3C8235}"/>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254000" y="254000"/>
            <a:ext cx="508000" cy="508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64112"/>
    </mc:Choice>
    <mc:Fallback>
      <p:transition spd="slow" advTm="64112"/>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7"/>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47"/>
                </p:tgtEl>
              </p:cMediaNode>
            </p:audio>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566928" y="361188"/>
            <a:ext cx="50292" cy="173736"/>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TextBox 2"/>
          <p:cNvSpPr txBox="1"/>
          <p:nvPr/>
        </p:nvSpPr>
        <p:spPr>
          <a:xfrm>
            <a:off x="704088" y="310896"/>
            <a:ext cx="6766560" cy="274320"/>
          </a:xfrm>
          <a:prstGeom prst="rect">
            <a:avLst/>
          </a:prstGeom>
          <a:noFill/>
        </p:spPr>
        <p:txBody>
          <a:bodyPr wrap="square" lIns="45720" tIns="27432" rIns="45720" bIns="27432" anchor="ctr">
            <a:noAutofit/>
          </a:bodyPr>
          <a:lstStyle/>
          <a:p>
            <a:pPr algn="l">
              <a:lnSpc>
                <a:spcPct val="105000"/>
              </a:lnSpc>
            </a:pPr>
            <a:r>
              <a:rPr lang="es-ES" sz="1200" b="1" i="0" spc="80">
                <a:solidFill>
                  <a:srgbClr val="F28C28"/>
                </a:solidFill>
                <a:latin typeface="Calibri"/>
              </a:rPr>
              <a:t>03   DISEÑO Y DESARROLLO DEL MODELO</a:t>
            </a:r>
          </a:p>
        </p:txBody>
      </p:sp>
      <p:sp>
        <p:nvSpPr>
          <p:cNvPr id="4" name="Oval 3"/>
          <p:cNvSpPr/>
          <p:nvPr/>
        </p:nvSpPr>
        <p:spPr>
          <a:xfrm>
            <a:off x="10413187" y="388620"/>
            <a:ext cx="114300" cy="1143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Oval 4"/>
          <p:cNvSpPr/>
          <p:nvPr/>
        </p:nvSpPr>
        <p:spPr>
          <a:xfrm>
            <a:off x="10632643" y="388620"/>
            <a:ext cx="114300" cy="1143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Oval 5"/>
          <p:cNvSpPr/>
          <p:nvPr/>
        </p:nvSpPr>
        <p:spPr>
          <a:xfrm>
            <a:off x="10820095" y="356616"/>
            <a:ext cx="178308" cy="178308"/>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Oval 6"/>
          <p:cNvSpPr/>
          <p:nvPr/>
        </p:nvSpPr>
        <p:spPr>
          <a:xfrm>
            <a:off x="11071555"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Oval 7"/>
          <p:cNvSpPr/>
          <p:nvPr/>
        </p:nvSpPr>
        <p:spPr>
          <a:xfrm>
            <a:off x="11291011"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Oval 8"/>
          <p:cNvSpPr/>
          <p:nvPr/>
        </p:nvSpPr>
        <p:spPr>
          <a:xfrm>
            <a:off x="11510467"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548640" y="585216"/>
            <a:ext cx="11057839" cy="749808"/>
          </a:xfrm>
          <a:prstGeom prst="rect">
            <a:avLst/>
          </a:prstGeom>
          <a:noFill/>
        </p:spPr>
        <p:txBody>
          <a:bodyPr wrap="square" lIns="45720" tIns="27432" rIns="45720" bIns="27432" anchor="ctr">
            <a:noAutofit/>
          </a:bodyPr>
          <a:lstStyle/>
          <a:p>
            <a:pPr algn="l">
              <a:lnSpc>
                <a:spcPct val="105000"/>
              </a:lnSpc>
            </a:pPr>
            <a:r>
              <a:rPr lang="es-ES" sz="3200" b="1" i="0">
                <a:solidFill>
                  <a:srgbClr val="1B2A4A"/>
                </a:solidFill>
                <a:latin typeface="Calibri"/>
              </a:rPr>
              <a:t>Demostración en vivo</a:t>
            </a:r>
          </a:p>
        </p:txBody>
      </p:sp>
      <p:sp>
        <p:nvSpPr>
          <p:cNvPr id="11" name="Rectangle 10"/>
          <p:cNvSpPr/>
          <p:nvPr/>
        </p:nvSpPr>
        <p:spPr>
          <a:xfrm>
            <a:off x="566928" y="1371600"/>
            <a:ext cx="1051560" cy="50292"/>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Rounded Rectangle 11"/>
          <p:cNvSpPr/>
          <p:nvPr/>
        </p:nvSpPr>
        <p:spPr>
          <a:xfrm>
            <a:off x="566927" y="2061429"/>
            <a:ext cx="7223760" cy="3740980"/>
          </a:xfrm>
          <a:prstGeom prst="roundRect">
            <a:avLst>
              <a:gd name="adj" fmla="val 4000"/>
            </a:avLst>
          </a:prstGeom>
          <a:solidFill>
            <a:srgbClr val="F6F8FC"/>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3" name="Picture 12" descr="fig_app_completa.png"/>
          <p:cNvPicPr>
            <a:picLocks noChangeAspect="1"/>
          </p:cNvPicPr>
          <p:nvPr/>
        </p:nvPicPr>
        <p:blipFill>
          <a:blip r:embed="rId5"/>
          <a:stretch>
            <a:fillRect/>
          </a:stretch>
        </p:blipFill>
        <p:spPr>
          <a:xfrm>
            <a:off x="685799" y="2180301"/>
            <a:ext cx="6986016" cy="3503236"/>
          </a:xfrm>
          <a:prstGeom prst="rect">
            <a:avLst/>
          </a:prstGeom>
        </p:spPr>
      </p:pic>
      <p:sp>
        <p:nvSpPr>
          <p:cNvPr id="14" name="TextBox 13"/>
          <p:cNvSpPr txBox="1"/>
          <p:nvPr/>
        </p:nvSpPr>
        <p:spPr>
          <a:xfrm>
            <a:off x="8156448" y="1572768"/>
            <a:ext cx="3468319" cy="384048"/>
          </a:xfrm>
          <a:prstGeom prst="rect">
            <a:avLst/>
          </a:prstGeom>
          <a:noFill/>
        </p:spPr>
        <p:txBody>
          <a:bodyPr wrap="square" lIns="45720" tIns="27432" rIns="45720" bIns="27432" anchor="ctr">
            <a:noAutofit/>
          </a:bodyPr>
          <a:lstStyle/>
          <a:p>
            <a:pPr algn="l">
              <a:lnSpc>
                <a:spcPct val="105000"/>
              </a:lnSpc>
            </a:pPr>
            <a:r>
              <a:rPr lang="es-ES" sz="2000" b="1" i="0">
                <a:solidFill>
                  <a:srgbClr val="F28C28"/>
                </a:solidFill>
                <a:latin typeface="Calibri"/>
              </a:rPr>
              <a:t>Qué vamos a ver</a:t>
            </a:r>
          </a:p>
        </p:txBody>
      </p:sp>
      <p:sp>
        <p:nvSpPr>
          <p:cNvPr id="15" name="Oval 14"/>
          <p:cNvSpPr/>
          <p:nvPr/>
        </p:nvSpPr>
        <p:spPr>
          <a:xfrm>
            <a:off x="8156448" y="2139696"/>
            <a:ext cx="420624" cy="420624"/>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lnSpc>
                <a:spcPct val="100000"/>
              </a:lnSpc>
            </a:pPr>
            <a:r>
              <a:rPr lang="es-ES" sz="1700" b="1" i="0">
                <a:solidFill>
                  <a:srgbClr val="FFFFFF"/>
                </a:solidFill>
                <a:latin typeface="Calibri"/>
              </a:rPr>
              <a:t>1</a:t>
            </a:r>
          </a:p>
        </p:txBody>
      </p:sp>
      <p:sp>
        <p:nvSpPr>
          <p:cNvPr id="16" name="TextBox 15"/>
          <p:cNvSpPr txBox="1"/>
          <p:nvPr/>
        </p:nvSpPr>
        <p:spPr>
          <a:xfrm>
            <a:off x="8723376" y="2103120"/>
            <a:ext cx="2901391" cy="1442720"/>
          </a:xfrm>
          <a:prstGeom prst="rect">
            <a:avLst/>
          </a:prstGeom>
          <a:noFill/>
        </p:spPr>
        <p:txBody>
          <a:bodyPr wrap="square" lIns="45720" tIns="27432" rIns="45720" bIns="27432" anchor="t">
            <a:noAutofit/>
          </a:bodyPr>
          <a:lstStyle/>
          <a:p>
            <a:pPr algn="l">
              <a:lnSpc>
                <a:spcPct val="115000"/>
              </a:lnSpc>
            </a:pPr>
            <a:r>
              <a:rPr lang="es-ES" sz="2000" b="0" i="0">
                <a:solidFill>
                  <a:srgbClr val="1F2937"/>
                </a:solidFill>
                <a:latin typeface="Calibri"/>
              </a:rPr>
              <a:t>Cargar el ejemplo canónico (Ctrl+E): 9 nodos, 4 elementos Q4, carga en el nodo 7</a:t>
            </a:r>
          </a:p>
        </p:txBody>
      </p:sp>
      <p:sp>
        <p:nvSpPr>
          <p:cNvPr id="17" name="Oval 16"/>
          <p:cNvSpPr/>
          <p:nvPr/>
        </p:nvSpPr>
        <p:spPr>
          <a:xfrm>
            <a:off x="8156448" y="3582415"/>
            <a:ext cx="420624" cy="420624"/>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lnSpc>
                <a:spcPct val="100000"/>
              </a:lnSpc>
            </a:pPr>
            <a:r>
              <a:rPr lang="es-ES" sz="1700" b="1" i="0">
                <a:solidFill>
                  <a:srgbClr val="FFFFFF"/>
                </a:solidFill>
                <a:latin typeface="Calibri"/>
              </a:rPr>
              <a:t>2</a:t>
            </a:r>
          </a:p>
        </p:txBody>
      </p:sp>
      <p:sp>
        <p:nvSpPr>
          <p:cNvPr id="18" name="TextBox 17"/>
          <p:cNvSpPr txBox="1"/>
          <p:nvPr/>
        </p:nvSpPr>
        <p:spPr>
          <a:xfrm>
            <a:off x="8723376" y="3545839"/>
            <a:ext cx="2901391" cy="1150620"/>
          </a:xfrm>
          <a:prstGeom prst="rect">
            <a:avLst/>
          </a:prstGeom>
          <a:noFill/>
        </p:spPr>
        <p:txBody>
          <a:bodyPr wrap="square" lIns="45720" tIns="27432" rIns="45720" bIns="27432" anchor="t">
            <a:noAutofit/>
          </a:bodyPr>
          <a:lstStyle/>
          <a:p>
            <a:pPr algn="l">
              <a:lnSpc>
                <a:spcPct val="115000"/>
              </a:lnSpc>
            </a:pPr>
            <a:r>
              <a:rPr lang="es-ES" sz="2000" b="0" i="0">
                <a:solidFill>
                  <a:srgbClr val="1F2937"/>
                </a:solidFill>
                <a:latin typeface="Calibri"/>
              </a:rPr>
              <a:t>Abrir M5 (Ctrl+5) sobre un elemento: puntos de Gauss y kₑ</a:t>
            </a:r>
          </a:p>
        </p:txBody>
      </p:sp>
      <p:sp>
        <p:nvSpPr>
          <p:cNvPr id="19" name="Oval 18"/>
          <p:cNvSpPr/>
          <p:nvPr/>
        </p:nvSpPr>
        <p:spPr>
          <a:xfrm>
            <a:off x="8156448" y="4733036"/>
            <a:ext cx="420624" cy="420624"/>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lnSpc>
                <a:spcPct val="100000"/>
              </a:lnSpc>
            </a:pPr>
            <a:r>
              <a:rPr lang="es-ES" sz="1700" b="1" i="0">
                <a:solidFill>
                  <a:srgbClr val="FFFFFF"/>
                </a:solidFill>
                <a:latin typeface="Calibri"/>
              </a:rPr>
              <a:t>3</a:t>
            </a:r>
          </a:p>
        </p:txBody>
      </p:sp>
      <p:sp>
        <p:nvSpPr>
          <p:cNvPr id="20" name="TextBox 19"/>
          <p:cNvSpPr txBox="1"/>
          <p:nvPr/>
        </p:nvSpPr>
        <p:spPr>
          <a:xfrm>
            <a:off x="8723376" y="4696460"/>
            <a:ext cx="2901391" cy="1442720"/>
          </a:xfrm>
          <a:prstGeom prst="rect">
            <a:avLst/>
          </a:prstGeom>
          <a:noFill/>
        </p:spPr>
        <p:txBody>
          <a:bodyPr wrap="square" lIns="45720" tIns="27432" rIns="45720" bIns="27432" anchor="t">
            <a:noAutofit/>
          </a:bodyPr>
          <a:lstStyle/>
          <a:p>
            <a:pPr algn="l">
              <a:lnSpc>
                <a:spcPct val="115000"/>
              </a:lnSpc>
            </a:pPr>
            <a:r>
              <a:rPr lang="es-ES" sz="2000" b="0" i="0">
                <a:solidFill>
                  <a:srgbClr val="1F2937"/>
                </a:solidFill>
                <a:latin typeface="Calibri"/>
              </a:rPr>
              <a:t>Resolver (F5): contorno de von Mises, sonda con círculo de Mohr y memoria PDF</a:t>
            </a:r>
          </a:p>
        </p:txBody>
      </p:sp>
      <p:sp>
        <p:nvSpPr>
          <p:cNvPr id="21" name="Rectangle 20"/>
          <p:cNvSpPr/>
          <p:nvPr/>
        </p:nvSpPr>
        <p:spPr>
          <a:xfrm>
            <a:off x="566928" y="6364224"/>
            <a:ext cx="11057839" cy="7315"/>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566928" y="6437376"/>
            <a:ext cx="5029200" cy="292608"/>
          </a:xfrm>
          <a:prstGeom prst="rect">
            <a:avLst/>
          </a:prstGeom>
          <a:noFill/>
        </p:spPr>
        <p:txBody>
          <a:bodyPr wrap="square" lIns="45720" tIns="27432" rIns="45720" bIns="27432" anchor="ctr">
            <a:noAutofit/>
          </a:bodyPr>
          <a:lstStyle/>
          <a:p>
            <a:pPr algn="l">
              <a:lnSpc>
                <a:spcPct val="105000"/>
              </a:lnSpc>
            </a:pPr>
            <a:r>
              <a:rPr lang="es-ES" sz="1200" b="0" i="0">
                <a:solidFill>
                  <a:srgbClr val="5B6575"/>
                </a:solidFill>
                <a:latin typeface="Calibri"/>
              </a:rPr>
              <a:t>EduFEM · Defensa de tesis · Ingeniería Civil · UATF</a:t>
            </a:r>
          </a:p>
        </p:txBody>
      </p:sp>
      <p:sp>
        <p:nvSpPr>
          <p:cNvPr id="23" name="TextBox 22"/>
          <p:cNvSpPr txBox="1"/>
          <p:nvPr/>
        </p:nvSpPr>
        <p:spPr>
          <a:xfrm>
            <a:off x="4023360" y="6437376"/>
            <a:ext cx="5394960" cy="292608"/>
          </a:xfrm>
          <a:prstGeom prst="rect">
            <a:avLst/>
          </a:prstGeom>
          <a:noFill/>
        </p:spPr>
        <p:txBody>
          <a:bodyPr wrap="square" lIns="45720" tIns="27432" rIns="45720" bIns="27432" anchor="ctr">
            <a:noAutofit/>
          </a:bodyPr>
          <a:lstStyle/>
          <a:p>
            <a:pPr algn="ctr">
              <a:lnSpc>
                <a:spcPct val="105000"/>
              </a:lnSpc>
            </a:pPr>
            <a:r>
              <a:rPr lang="es-ES" sz="1200" b="0" i="0">
                <a:solidFill>
                  <a:srgbClr val="5B6575"/>
                </a:solidFill>
                <a:latin typeface="Calibri"/>
              </a:rPr>
              <a:t>Tesis: Anexo B, manual de uso</a:t>
            </a:r>
          </a:p>
        </p:txBody>
      </p:sp>
      <p:sp>
        <p:nvSpPr>
          <p:cNvPr id="24" name="TextBox 23"/>
          <p:cNvSpPr txBox="1"/>
          <p:nvPr/>
        </p:nvSpPr>
        <p:spPr>
          <a:xfrm>
            <a:off x="10527487" y="6437376"/>
            <a:ext cx="1097280" cy="292608"/>
          </a:xfrm>
          <a:prstGeom prst="rect">
            <a:avLst/>
          </a:prstGeom>
          <a:noFill/>
        </p:spPr>
        <p:txBody>
          <a:bodyPr wrap="none" lIns="45720" tIns="18288" rIns="45720" bIns="18288">
            <a:spAutoFit/>
          </a:bodyPr>
          <a:lstStyle/>
          <a:p>
            <a:pPr algn="r"/>
            <a:fld id="{B6F15528-21DE-4FAA-801E-634DDDAF4B2B}" type="slidenum">
              <a:rPr lang="es-ES" sz="1200" dirty="0">
                <a:solidFill>
                  <a:srgbClr val="5B6575"/>
                </a:solidFill>
                <a:latin typeface="Calibri"/>
              </a:rPr>
              <a:t>24</a:t>
            </a:fld>
            <a:endParaRPr lang="es-ES" sz="1200" dirty="0">
              <a:solidFill>
                <a:srgbClr val="5B6575"/>
              </a:solidFill>
              <a:latin typeface="Calibri"/>
            </a:endParaRPr>
          </a:p>
        </p:txBody>
      </p:sp>
      <p:pic>
        <p:nvPicPr>
          <p:cNvPr id="25" name="s24">
            <a:hlinkClick r:id="" action="ppaction://media"/>
            <a:extLst>
              <a:ext uri="{FF2B5EF4-FFF2-40B4-BE49-F238E27FC236}">
                <a16:creationId xmlns:a16="http://schemas.microsoft.com/office/drawing/2014/main" id="{E4D2C07E-B1FD-128F-E23D-9BA1D2D676F1}"/>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254000" y="254000"/>
            <a:ext cx="508000" cy="508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24488"/>
    </mc:Choice>
    <mc:Fallback>
      <p:transition spd="slow" advTm="24488"/>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25"/>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25"/>
                </p:tgtEl>
              </p:cMediaNode>
            </p:audio>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0E182E"/>
        </a:solidFill>
        <a:effectLst/>
      </p:bgPr>
    </p:bg>
    <p:spTree>
      <p:nvGrpSpPr>
        <p:cNvPr id="1" name=""/>
        <p:cNvGrpSpPr/>
        <p:nvPr/>
      </p:nvGrpSpPr>
      <p:grpSpPr>
        <a:xfrm>
          <a:off x="0" y="0"/>
          <a:ext cx="0" cy="0"/>
          <a:chOff x="0" y="0"/>
          <a:chExt cx="0" cy="0"/>
        </a:xfrm>
      </p:grpSpPr>
      <p:sp>
        <p:nvSpPr>
          <p:cNvPr id="2" name="Rectangle 1"/>
          <p:cNvSpPr/>
          <p:nvPr/>
        </p:nvSpPr>
        <p:spPr>
          <a:xfrm>
            <a:off x="8183879" y="960120"/>
            <a:ext cx="3611880" cy="10972"/>
          </a:xfrm>
          <a:prstGeom prst="rect">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Rectangle 2"/>
          <p:cNvSpPr/>
          <p:nvPr/>
        </p:nvSpPr>
        <p:spPr>
          <a:xfrm>
            <a:off x="8183879" y="1859280"/>
            <a:ext cx="3611880" cy="10972"/>
          </a:xfrm>
          <a:prstGeom prst="rect">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Rectangle 3"/>
          <p:cNvSpPr/>
          <p:nvPr/>
        </p:nvSpPr>
        <p:spPr>
          <a:xfrm>
            <a:off x="8183879" y="2758440"/>
            <a:ext cx="3611880" cy="10972"/>
          </a:xfrm>
          <a:prstGeom prst="rect">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Rectangle 4"/>
          <p:cNvSpPr/>
          <p:nvPr/>
        </p:nvSpPr>
        <p:spPr>
          <a:xfrm>
            <a:off x="8183879" y="3657600"/>
            <a:ext cx="3611880" cy="10972"/>
          </a:xfrm>
          <a:prstGeom prst="rect">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Rectangle 5"/>
          <p:cNvSpPr/>
          <p:nvPr/>
        </p:nvSpPr>
        <p:spPr>
          <a:xfrm>
            <a:off x="8183879" y="960120"/>
            <a:ext cx="10972" cy="2697480"/>
          </a:xfrm>
          <a:prstGeom prst="rect">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Rectangle 6"/>
          <p:cNvSpPr/>
          <p:nvPr/>
        </p:nvSpPr>
        <p:spPr>
          <a:xfrm>
            <a:off x="9086850" y="960120"/>
            <a:ext cx="10972" cy="2697480"/>
          </a:xfrm>
          <a:prstGeom prst="rect">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Rectangle 7"/>
          <p:cNvSpPr/>
          <p:nvPr/>
        </p:nvSpPr>
        <p:spPr>
          <a:xfrm>
            <a:off x="9989819" y="960120"/>
            <a:ext cx="10972" cy="2697480"/>
          </a:xfrm>
          <a:prstGeom prst="rect">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Rectangle 8"/>
          <p:cNvSpPr/>
          <p:nvPr/>
        </p:nvSpPr>
        <p:spPr>
          <a:xfrm>
            <a:off x="10892790" y="960120"/>
            <a:ext cx="10972" cy="2697480"/>
          </a:xfrm>
          <a:prstGeom prst="rect">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Rectangle 9"/>
          <p:cNvSpPr/>
          <p:nvPr/>
        </p:nvSpPr>
        <p:spPr>
          <a:xfrm>
            <a:off x="11795759" y="960120"/>
            <a:ext cx="10972" cy="2697480"/>
          </a:xfrm>
          <a:prstGeom prst="rect">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Oval 10"/>
          <p:cNvSpPr/>
          <p:nvPr/>
        </p:nvSpPr>
        <p:spPr>
          <a:xfrm>
            <a:off x="8145017" y="92125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Oval 11"/>
          <p:cNvSpPr/>
          <p:nvPr/>
        </p:nvSpPr>
        <p:spPr>
          <a:xfrm>
            <a:off x="9047988" y="92125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Oval 12"/>
          <p:cNvSpPr/>
          <p:nvPr/>
        </p:nvSpPr>
        <p:spPr>
          <a:xfrm>
            <a:off x="9950957" y="92125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Oval 13"/>
          <p:cNvSpPr/>
          <p:nvPr/>
        </p:nvSpPr>
        <p:spPr>
          <a:xfrm>
            <a:off x="10853928" y="92125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Oval 14"/>
          <p:cNvSpPr/>
          <p:nvPr/>
        </p:nvSpPr>
        <p:spPr>
          <a:xfrm>
            <a:off x="11756897" y="92125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Oval 15"/>
          <p:cNvSpPr/>
          <p:nvPr/>
        </p:nvSpPr>
        <p:spPr>
          <a:xfrm>
            <a:off x="8145017" y="182041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Oval 16"/>
          <p:cNvSpPr/>
          <p:nvPr/>
        </p:nvSpPr>
        <p:spPr>
          <a:xfrm>
            <a:off x="9047988" y="182041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Oval 17"/>
          <p:cNvSpPr/>
          <p:nvPr/>
        </p:nvSpPr>
        <p:spPr>
          <a:xfrm>
            <a:off x="9950957" y="182041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Oval 18"/>
          <p:cNvSpPr/>
          <p:nvPr/>
        </p:nvSpPr>
        <p:spPr>
          <a:xfrm>
            <a:off x="10853928" y="182041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Oval 19"/>
          <p:cNvSpPr/>
          <p:nvPr/>
        </p:nvSpPr>
        <p:spPr>
          <a:xfrm>
            <a:off x="11756897" y="182041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Oval 20"/>
          <p:cNvSpPr/>
          <p:nvPr/>
        </p:nvSpPr>
        <p:spPr>
          <a:xfrm>
            <a:off x="8145017" y="271957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Oval 21"/>
          <p:cNvSpPr/>
          <p:nvPr/>
        </p:nvSpPr>
        <p:spPr>
          <a:xfrm>
            <a:off x="9047988" y="271957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Oval 22"/>
          <p:cNvSpPr/>
          <p:nvPr/>
        </p:nvSpPr>
        <p:spPr>
          <a:xfrm>
            <a:off x="9950957" y="271957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Oval 23"/>
          <p:cNvSpPr/>
          <p:nvPr/>
        </p:nvSpPr>
        <p:spPr>
          <a:xfrm>
            <a:off x="10853928" y="271957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Oval 24"/>
          <p:cNvSpPr/>
          <p:nvPr/>
        </p:nvSpPr>
        <p:spPr>
          <a:xfrm>
            <a:off x="11756897" y="271957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Oval 25"/>
          <p:cNvSpPr/>
          <p:nvPr/>
        </p:nvSpPr>
        <p:spPr>
          <a:xfrm>
            <a:off x="8145017" y="361873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Oval 26"/>
          <p:cNvSpPr/>
          <p:nvPr/>
        </p:nvSpPr>
        <p:spPr>
          <a:xfrm>
            <a:off x="9047988" y="361873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Oval 27"/>
          <p:cNvSpPr/>
          <p:nvPr/>
        </p:nvSpPr>
        <p:spPr>
          <a:xfrm>
            <a:off x="9950957" y="361873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Oval 28"/>
          <p:cNvSpPr/>
          <p:nvPr/>
        </p:nvSpPr>
        <p:spPr>
          <a:xfrm>
            <a:off x="10853928" y="361873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 name="Oval 29"/>
          <p:cNvSpPr/>
          <p:nvPr/>
        </p:nvSpPr>
        <p:spPr>
          <a:xfrm>
            <a:off x="11756897" y="361873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TextBox 30"/>
          <p:cNvSpPr txBox="1"/>
          <p:nvPr/>
        </p:nvSpPr>
        <p:spPr>
          <a:xfrm>
            <a:off x="731520" y="1417320"/>
            <a:ext cx="2194560" cy="1828800"/>
          </a:xfrm>
          <a:prstGeom prst="rect">
            <a:avLst/>
          </a:prstGeom>
          <a:noFill/>
        </p:spPr>
        <p:txBody>
          <a:bodyPr wrap="square" lIns="45720" tIns="27432" rIns="45720" bIns="27432" anchor="ctr">
            <a:noAutofit/>
          </a:bodyPr>
          <a:lstStyle/>
          <a:p>
            <a:pPr algn="l">
              <a:lnSpc>
                <a:spcPct val="105000"/>
              </a:lnSpc>
            </a:pPr>
            <a:r>
              <a:rPr lang="es-ES" sz="9600" b="1" i="0">
                <a:solidFill>
                  <a:srgbClr val="F28C28"/>
                </a:solidFill>
                <a:latin typeface="Calibri"/>
              </a:rPr>
              <a:t>04</a:t>
            </a:r>
          </a:p>
        </p:txBody>
      </p:sp>
      <p:sp>
        <p:nvSpPr>
          <p:cNvPr id="32" name="Rectangle 31"/>
          <p:cNvSpPr/>
          <p:nvPr/>
        </p:nvSpPr>
        <p:spPr>
          <a:xfrm>
            <a:off x="3063240" y="1691640"/>
            <a:ext cx="54864" cy="132588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 name="TextBox 32"/>
          <p:cNvSpPr txBox="1"/>
          <p:nvPr/>
        </p:nvSpPr>
        <p:spPr>
          <a:xfrm>
            <a:off x="3383280" y="1417320"/>
            <a:ext cx="8138160" cy="1188720"/>
          </a:xfrm>
          <a:prstGeom prst="rect">
            <a:avLst/>
          </a:prstGeom>
          <a:noFill/>
        </p:spPr>
        <p:txBody>
          <a:bodyPr wrap="square" lIns="45720" tIns="27432" rIns="45720" bIns="27432" anchor="ctr">
            <a:noAutofit/>
          </a:bodyPr>
          <a:lstStyle/>
          <a:p>
            <a:pPr algn="l">
              <a:lnSpc>
                <a:spcPct val="105000"/>
              </a:lnSpc>
            </a:pPr>
            <a:r>
              <a:rPr lang="es-ES" sz="4400" b="1" i="0">
                <a:solidFill>
                  <a:srgbClr val="FFFFFF"/>
                </a:solidFill>
                <a:latin typeface="Calibri"/>
              </a:rPr>
              <a:t>Presentación de resultados</a:t>
            </a:r>
          </a:p>
        </p:txBody>
      </p:sp>
      <p:sp>
        <p:nvSpPr>
          <p:cNvPr id="34" name="TextBox 33"/>
          <p:cNvSpPr txBox="1"/>
          <p:nvPr/>
        </p:nvSpPr>
        <p:spPr>
          <a:xfrm>
            <a:off x="3383280" y="2606040"/>
            <a:ext cx="8138160" cy="1280160"/>
          </a:xfrm>
          <a:prstGeom prst="rect">
            <a:avLst/>
          </a:prstGeom>
          <a:noFill/>
        </p:spPr>
        <p:txBody>
          <a:bodyPr wrap="square" lIns="45720" tIns="27432" rIns="45720" bIns="27432" anchor="t">
            <a:noAutofit/>
          </a:bodyPr>
          <a:lstStyle/>
          <a:p>
            <a:pPr algn="l">
              <a:lnSpc>
                <a:spcPct val="115000"/>
              </a:lnSpc>
            </a:pPr>
            <a:r>
              <a:rPr lang="es-ES" sz="2100" b="0" i="0">
                <a:solidFill>
                  <a:srgbClr val="C7D2E8"/>
                </a:solidFill>
                <a:latin typeface="Calibri"/>
              </a:rPr>
              <a:t>Probar que la caja abierta calcula bien: MMS, consistencia interna, viga de Timoshenko y membrana de Cook</a:t>
            </a:r>
          </a:p>
        </p:txBody>
      </p:sp>
      <p:sp>
        <p:nvSpPr>
          <p:cNvPr id="35" name="Rounded Rectangle 34"/>
          <p:cNvSpPr/>
          <p:nvPr/>
        </p:nvSpPr>
        <p:spPr>
          <a:xfrm>
            <a:off x="566928" y="5806440"/>
            <a:ext cx="1751533" cy="493776"/>
          </a:xfrm>
          <a:prstGeom prst="roundRect">
            <a:avLst>
              <a:gd name="adj" fmla="val 28000"/>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noAutofit/>
          </a:bodyPr>
          <a:lstStyle/>
          <a:p>
            <a:pPr algn="ctr">
              <a:lnSpc>
                <a:spcPct val="100000"/>
              </a:lnSpc>
            </a:pPr>
            <a:r>
              <a:rPr lang="es-ES" sz="1200" b="0" i="0">
                <a:solidFill>
                  <a:srgbClr val="FFFFFF"/>
                </a:solidFill>
                <a:latin typeface="Calibri"/>
              </a:rPr>
              <a:t>1. Introducción</a:t>
            </a:r>
          </a:p>
        </p:txBody>
      </p:sp>
      <p:sp>
        <p:nvSpPr>
          <p:cNvPr id="36" name="Rounded Rectangle 35"/>
          <p:cNvSpPr/>
          <p:nvPr/>
        </p:nvSpPr>
        <p:spPr>
          <a:xfrm>
            <a:off x="2428189" y="5806440"/>
            <a:ext cx="1751533" cy="493776"/>
          </a:xfrm>
          <a:prstGeom prst="roundRect">
            <a:avLst>
              <a:gd name="adj" fmla="val 28000"/>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noAutofit/>
          </a:bodyPr>
          <a:lstStyle/>
          <a:p>
            <a:pPr algn="ctr">
              <a:lnSpc>
                <a:spcPct val="100000"/>
              </a:lnSpc>
            </a:pPr>
            <a:r>
              <a:rPr lang="es-ES" sz="1200" b="0" i="0">
                <a:solidFill>
                  <a:srgbClr val="FFFFFF"/>
                </a:solidFill>
                <a:latin typeface="Calibri"/>
              </a:rPr>
              <a:t>2. Base teórica</a:t>
            </a:r>
          </a:p>
        </p:txBody>
      </p:sp>
      <p:sp>
        <p:nvSpPr>
          <p:cNvPr id="37" name="Rounded Rectangle 36"/>
          <p:cNvSpPr/>
          <p:nvPr/>
        </p:nvSpPr>
        <p:spPr>
          <a:xfrm>
            <a:off x="4289450" y="5806440"/>
            <a:ext cx="1751533" cy="493776"/>
          </a:xfrm>
          <a:prstGeom prst="roundRect">
            <a:avLst>
              <a:gd name="adj" fmla="val 28000"/>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noAutofit/>
          </a:bodyPr>
          <a:lstStyle/>
          <a:p>
            <a:pPr algn="ctr">
              <a:lnSpc>
                <a:spcPct val="100000"/>
              </a:lnSpc>
            </a:pPr>
            <a:r>
              <a:rPr lang="es-ES" sz="1200" b="0" i="0">
                <a:solidFill>
                  <a:srgbClr val="FFFFFF"/>
                </a:solidFill>
                <a:latin typeface="Calibri"/>
              </a:rPr>
              <a:t>3. Diseño y desarrollo del modelo</a:t>
            </a:r>
          </a:p>
        </p:txBody>
      </p:sp>
      <p:sp>
        <p:nvSpPr>
          <p:cNvPr id="38" name="Rounded Rectangle 37"/>
          <p:cNvSpPr/>
          <p:nvPr/>
        </p:nvSpPr>
        <p:spPr>
          <a:xfrm>
            <a:off x="6150711" y="5806440"/>
            <a:ext cx="1751533" cy="493776"/>
          </a:xfrm>
          <a:prstGeom prst="roundRect">
            <a:avLst>
              <a:gd name="adj" fmla="val 28000"/>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noAutofit/>
          </a:bodyPr>
          <a:lstStyle/>
          <a:p>
            <a:pPr algn="ctr">
              <a:lnSpc>
                <a:spcPct val="100000"/>
              </a:lnSpc>
            </a:pPr>
            <a:r>
              <a:rPr lang="es-ES" sz="1200" b="1" i="0">
                <a:solidFill>
                  <a:srgbClr val="FFFFFF"/>
                </a:solidFill>
                <a:latin typeface="Calibri"/>
              </a:rPr>
              <a:t>4. Presentación de resultados</a:t>
            </a:r>
          </a:p>
        </p:txBody>
      </p:sp>
      <p:sp>
        <p:nvSpPr>
          <p:cNvPr id="39" name="Rounded Rectangle 38"/>
          <p:cNvSpPr/>
          <p:nvPr/>
        </p:nvSpPr>
        <p:spPr>
          <a:xfrm>
            <a:off x="8011972" y="5806440"/>
            <a:ext cx="1751533" cy="493776"/>
          </a:xfrm>
          <a:prstGeom prst="roundRect">
            <a:avLst>
              <a:gd name="adj" fmla="val 28000"/>
            </a:avLst>
          </a:prstGeom>
          <a:noFill/>
          <a:ln w="9525">
            <a:solidFill>
              <a:srgbClr val="2C3E63"/>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noAutofit/>
          </a:bodyPr>
          <a:lstStyle/>
          <a:p>
            <a:pPr algn="ctr">
              <a:lnSpc>
                <a:spcPct val="100000"/>
              </a:lnSpc>
            </a:pPr>
            <a:r>
              <a:rPr lang="es-ES" sz="1200" b="0" i="0">
                <a:solidFill>
                  <a:srgbClr val="C7D2E8"/>
                </a:solidFill>
                <a:latin typeface="Calibri"/>
              </a:rPr>
              <a:t>5. Análisis de resultados</a:t>
            </a:r>
          </a:p>
        </p:txBody>
      </p:sp>
      <p:sp>
        <p:nvSpPr>
          <p:cNvPr id="40" name="Rounded Rectangle 39"/>
          <p:cNvSpPr/>
          <p:nvPr/>
        </p:nvSpPr>
        <p:spPr>
          <a:xfrm>
            <a:off x="9873233" y="5806440"/>
            <a:ext cx="1751533" cy="493776"/>
          </a:xfrm>
          <a:prstGeom prst="roundRect">
            <a:avLst>
              <a:gd name="adj" fmla="val 28000"/>
            </a:avLst>
          </a:prstGeom>
          <a:noFill/>
          <a:ln w="9525">
            <a:solidFill>
              <a:srgbClr val="2C3E63"/>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noAutofit/>
          </a:bodyPr>
          <a:lstStyle/>
          <a:p>
            <a:pPr algn="ctr">
              <a:lnSpc>
                <a:spcPct val="100000"/>
              </a:lnSpc>
            </a:pPr>
            <a:r>
              <a:rPr lang="es-ES" sz="1200" b="0" i="0">
                <a:solidFill>
                  <a:srgbClr val="C7D2E8"/>
                </a:solidFill>
                <a:latin typeface="Calibri"/>
              </a:rPr>
              <a:t>6. Conclusiones y recomendaciones</a:t>
            </a:r>
          </a:p>
        </p:txBody>
      </p:sp>
      <p:pic>
        <p:nvPicPr>
          <p:cNvPr id="41" name="s25">
            <a:hlinkClick r:id="" action="ppaction://media"/>
            <a:extLst>
              <a:ext uri="{FF2B5EF4-FFF2-40B4-BE49-F238E27FC236}">
                <a16:creationId xmlns:a16="http://schemas.microsoft.com/office/drawing/2014/main" id="{95C21634-59BE-CFF9-2A80-EEFACEA21BDC}"/>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254000" y="254000"/>
            <a:ext cx="508000" cy="508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7400"/>
    </mc:Choice>
    <mc:Fallback>
      <p:transition spd="slow" advTm="74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1"/>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41"/>
                </p:tgtEl>
              </p:cMediaNode>
            </p:audio>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566928" y="361188"/>
            <a:ext cx="50292" cy="173736"/>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TextBox 2"/>
          <p:cNvSpPr txBox="1"/>
          <p:nvPr/>
        </p:nvSpPr>
        <p:spPr>
          <a:xfrm>
            <a:off x="704088" y="310896"/>
            <a:ext cx="6766560" cy="274320"/>
          </a:xfrm>
          <a:prstGeom prst="rect">
            <a:avLst/>
          </a:prstGeom>
          <a:noFill/>
        </p:spPr>
        <p:txBody>
          <a:bodyPr wrap="square" lIns="45720" tIns="27432" rIns="45720" bIns="27432" anchor="ctr">
            <a:noAutofit/>
          </a:bodyPr>
          <a:lstStyle/>
          <a:p>
            <a:pPr algn="l">
              <a:lnSpc>
                <a:spcPct val="105000"/>
              </a:lnSpc>
            </a:pPr>
            <a:r>
              <a:rPr lang="es-ES" sz="1200" b="1" i="0" spc="80">
                <a:solidFill>
                  <a:srgbClr val="F28C28"/>
                </a:solidFill>
                <a:latin typeface="Calibri"/>
              </a:rPr>
              <a:t>04   PRESENTACIÓN DE RESULTADOS</a:t>
            </a:r>
          </a:p>
        </p:txBody>
      </p:sp>
      <p:sp>
        <p:nvSpPr>
          <p:cNvPr id="4" name="Oval 3"/>
          <p:cNvSpPr/>
          <p:nvPr/>
        </p:nvSpPr>
        <p:spPr>
          <a:xfrm>
            <a:off x="10413187" y="388620"/>
            <a:ext cx="114300" cy="1143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Oval 4"/>
          <p:cNvSpPr/>
          <p:nvPr/>
        </p:nvSpPr>
        <p:spPr>
          <a:xfrm>
            <a:off x="10632643" y="388620"/>
            <a:ext cx="114300" cy="1143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Oval 5"/>
          <p:cNvSpPr/>
          <p:nvPr/>
        </p:nvSpPr>
        <p:spPr>
          <a:xfrm>
            <a:off x="10852099" y="388620"/>
            <a:ext cx="114300" cy="1143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Oval 6"/>
          <p:cNvSpPr/>
          <p:nvPr/>
        </p:nvSpPr>
        <p:spPr>
          <a:xfrm>
            <a:off x="11039551" y="356616"/>
            <a:ext cx="178308" cy="178308"/>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Oval 7"/>
          <p:cNvSpPr/>
          <p:nvPr/>
        </p:nvSpPr>
        <p:spPr>
          <a:xfrm>
            <a:off x="11291011"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Oval 8"/>
          <p:cNvSpPr/>
          <p:nvPr/>
        </p:nvSpPr>
        <p:spPr>
          <a:xfrm>
            <a:off x="11510467"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548640" y="585216"/>
            <a:ext cx="11057839" cy="749808"/>
          </a:xfrm>
          <a:prstGeom prst="rect">
            <a:avLst/>
          </a:prstGeom>
          <a:noFill/>
        </p:spPr>
        <p:txBody>
          <a:bodyPr wrap="square" lIns="45720" tIns="27432" rIns="45720" bIns="27432" anchor="ctr">
            <a:noAutofit/>
          </a:bodyPr>
          <a:lstStyle/>
          <a:p>
            <a:pPr algn="l">
              <a:lnSpc>
                <a:spcPct val="105000"/>
              </a:lnSpc>
            </a:pPr>
            <a:r>
              <a:rPr lang="es-ES" sz="3200" b="1" i="0">
                <a:solidFill>
                  <a:srgbClr val="1B2A4A"/>
                </a:solidFill>
                <a:latin typeface="Calibri"/>
              </a:rPr>
              <a:t>MMS: las tasas teóricas se cumplen</a:t>
            </a:r>
          </a:p>
        </p:txBody>
      </p:sp>
      <p:sp>
        <p:nvSpPr>
          <p:cNvPr id="11" name="Rectangle 10"/>
          <p:cNvSpPr/>
          <p:nvPr/>
        </p:nvSpPr>
        <p:spPr>
          <a:xfrm>
            <a:off x="566928" y="1371600"/>
            <a:ext cx="1051560" cy="50292"/>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612648" y="1618488"/>
            <a:ext cx="5257800" cy="3675888"/>
          </a:xfrm>
          <a:prstGeom prst="rect">
            <a:avLst/>
          </a:prstGeom>
          <a:noFill/>
        </p:spPr>
        <p:txBody>
          <a:bodyPr wrap="square" lIns="45720" tIns="27432" rIns="45720" bIns="27432" anchor="ctr">
            <a:noAutofit/>
          </a:bodyPr>
          <a:lstStyle/>
          <a:p>
            <a:pPr marL="347472" indent="-347472">
              <a:lnSpc>
                <a:spcPct val="112000"/>
              </a:lnSpc>
              <a:spcAft>
                <a:spcPts val="1200"/>
              </a:spcAft>
              <a:buClr>
                <a:srgbClr val="F28C28"/>
              </a:buClr>
              <a:buSzPct val="100000"/>
              <a:buFont typeface="Arial"/>
              <a:buChar char="•"/>
            </a:pPr>
            <a:r>
              <a:rPr lang="es-ES" sz="2400" b="1" i="0">
                <a:solidFill>
                  <a:srgbClr val="1B2A4A"/>
                </a:solidFill>
                <a:latin typeface="Calibri"/>
              </a:rPr>
              <a:t>Q4:</a:t>
            </a:r>
            <a:r>
              <a:rPr lang="es-ES" sz="2400" b="0" i="0">
                <a:solidFill>
                  <a:srgbClr val="1F2937"/>
                </a:solidFill>
                <a:latin typeface="Calibri"/>
              </a:rPr>
              <a:t> O(h²·⁰⁰) en L², O(h¹·⁰⁰) en H¹ y O(h¹·⁵⁴) en σ*</a:t>
            </a:r>
          </a:p>
          <a:p>
            <a:pPr marL="347472" indent="-347472">
              <a:lnSpc>
                <a:spcPct val="112000"/>
              </a:lnSpc>
              <a:spcAft>
                <a:spcPts val="1200"/>
              </a:spcAft>
              <a:buClr>
                <a:srgbClr val="F28C28"/>
              </a:buClr>
              <a:buSzPct val="100000"/>
              <a:buFont typeface="Arial"/>
              <a:buChar char="•"/>
            </a:pPr>
            <a:r>
              <a:rPr lang="es-ES" sz="2400" b="1" i="0">
                <a:solidFill>
                  <a:srgbClr val="1B2A4A"/>
                </a:solidFill>
                <a:latin typeface="Calibri"/>
              </a:rPr>
              <a:t>Q9:</a:t>
            </a:r>
            <a:r>
              <a:rPr lang="es-ES" sz="2400" b="0" i="0">
                <a:solidFill>
                  <a:srgbClr val="1F2937"/>
                </a:solidFill>
                <a:latin typeface="Calibri"/>
              </a:rPr>
              <a:t> O(h³·⁰⁰) en L², O(h²·⁰⁰) en H¹ y O(h²·⁰⁰) en σ*</a:t>
            </a:r>
          </a:p>
          <a:p>
            <a:pPr marL="347472" indent="-347472">
              <a:lnSpc>
                <a:spcPct val="112000"/>
              </a:lnSpc>
              <a:spcAft>
                <a:spcPts val="1200"/>
              </a:spcAft>
              <a:buClr>
                <a:srgbClr val="F28C28"/>
              </a:buClr>
              <a:buSzPct val="100000"/>
              <a:buFont typeface="Arial"/>
              <a:buChar char="•"/>
            </a:pPr>
            <a:r>
              <a:rPr lang="es-ES" sz="2400" b="1" i="0">
                <a:solidFill>
                  <a:srgbClr val="1B2A4A"/>
                </a:solidFill>
                <a:latin typeface="Calibri"/>
              </a:rPr>
              <a:t>Mallas de 2×2 a 32×32:</a:t>
            </a:r>
            <a:r>
              <a:rPr lang="es-ES" sz="2400" b="0" i="0">
                <a:solidFill>
                  <a:srgbClr val="1F2937"/>
                </a:solidFill>
                <a:latin typeface="Calibri"/>
              </a:rPr>
              <a:t> Q4 de 18 a 2178 GDL; Q9 de 50 a 8450 GDL</a:t>
            </a:r>
          </a:p>
          <a:p>
            <a:pPr marL="347472" indent="-347472">
              <a:lnSpc>
                <a:spcPct val="112000"/>
              </a:lnSpc>
              <a:spcAft>
                <a:spcPts val="1200"/>
              </a:spcAft>
              <a:buClr>
                <a:srgbClr val="F28C28"/>
              </a:buClr>
              <a:buSzPct val="100000"/>
              <a:buFont typeface="Arial"/>
              <a:buChar char="•"/>
            </a:pPr>
            <a:r>
              <a:rPr lang="es-ES" sz="2400" b="1" i="0">
                <a:solidFill>
                  <a:srgbClr val="1B2A4A"/>
                </a:solidFill>
                <a:latin typeface="Calibri"/>
              </a:rPr>
              <a:t>Cuatro configuraciones:</a:t>
            </a:r>
            <a:r>
              <a:rPr lang="es-ES" sz="2400" b="0" i="0">
                <a:solidFill>
                  <a:srgbClr val="1F2937"/>
                </a:solidFill>
                <a:latin typeface="Calibri"/>
              </a:rPr>
              <a:t> las mismas tasas, con diferencias &lt; 0,01</a:t>
            </a:r>
          </a:p>
        </p:txBody>
      </p:sp>
      <p:sp>
        <p:nvSpPr>
          <p:cNvPr id="13" name="Rounded Rectangle 12"/>
          <p:cNvSpPr/>
          <p:nvPr/>
        </p:nvSpPr>
        <p:spPr>
          <a:xfrm>
            <a:off x="6705752" y="1572768"/>
            <a:ext cx="4449470" cy="3246120"/>
          </a:xfrm>
          <a:prstGeom prst="roundRect">
            <a:avLst>
              <a:gd name="adj" fmla="val 4000"/>
            </a:avLst>
          </a:prstGeom>
          <a:solidFill>
            <a:srgbClr val="F6F8FC"/>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4" name="Picture 13" descr="mms_convergence_l2.png"/>
          <p:cNvPicPr>
            <a:picLocks noChangeAspect="1"/>
          </p:cNvPicPr>
          <p:nvPr/>
        </p:nvPicPr>
        <p:blipFill>
          <a:blip r:embed="rId5"/>
          <a:stretch>
            <a:fillRect/>
          </a:stretch>
        </p:blipFill>
        <p:spPr>
          <a:xfrm>
            <a:off x="6824624" y="1691640"/>
            <a:ext cx="4211726" cy="3008376"/>
          </a:xfrm>
          <a:prstGeom prst="rect">
            <a:avLst/>
          </a:prstGeom>
        </p:spPr>
      </p:pic>
      <p:sp>
        <p:nvSpPr>
          <p:cNvPr id="15" name="TextBox 14"/>
          <p:cNvSpPr txBox="1"/>
          <p:nvPr/>
        </p:nvSpPr>
        <p:spPr>
          <a:xfrm>
            <a:off x="6236208" y="4745736"/>
            <a:ext cx="5388559" cy="502920"/>
          </a:xfrm>
          <a:prstGeom prst="rect">
            <a:avLst/>
          </a:prstGeom>
          <a:noFill/>
        </p:spPr>
        <p:txBody>
          <a:bodyPr wrap="square" lIns="45720" tIns="27432" rIns="45720" bIns="27432" anchor="t">
            <a:noAutofit/>
          </a:bodyPr>
          <a:lstStyle/>
          <a:p>
            <a:pPr algn="ctr">
              <a:lnSpc>
                <a:spcPct val="105000"/>
              </a:lnSpc>
            </a:pPr>
            <a:r>
              <a:rPr lang="es-ES" sz="1500" b="0" i="1">
                <a:solidFill>
                  <a:srgbClr val="5B6575"/>
                </a:solidFill>
                <a:latin typeface="Calibri"/>
              </a:rPr>
              <a:t>Error L² del desplazamiento frente a h: la pendiente es la tasa</a:t>
            </a:r>
          </a:p>
        </p:txBody>
      </p:sp>
      <p:sp>
        <p:nvSpPr>
          <p:cNvPr id="16" name="Rectangle 15"/>
          <p:cNvSpPr/>
          <p:nvPr/>
        </p:nvSpPr>
        <p:spPr>
          <a:xfrm>
            <a:off x="566928" y="5449824"/>
            <a:ext cx="11057839" cy="841248"/>
          </a:xfrm>
          <a:prstGeom prst="rect">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Rectangle 16"/>
          <p:cNvSpPr/>
          <p:nvPr/>
        </p:nvSpPr>
        <p:spPr>
          <a:xfrm>
            <a:off x="566928" y="5449824"/>
            <a:ext cx="77724" cy="841248"/>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795528" y="5449824"/>
            <a:ext cx="10737799" cy="841248"/>
          </a:xfrm>
          <a:prstGeom prst="rect">
            <a:avLst/>
          </a:prstGeom>
          <a:noFill/>
        </p:spPr>
        <p:txBody>
          <a:bodyPr wrap="square" lIns="45720" tIns="27432" rIns="45720" bIns="27432" anchor="ctr">
            <a:noAutofit/>
          </a:bodyPr>
          <a:lstStyle/>
          <a:p>
            <a:pPr algn="l">
              <a:lnSpc>
                <a:spcPct val="100000"/>
              </a:lnSpc>
            </a:pPr>
            <a:r>
              <a:rPr lang="es-ES" sz="2200" b="1" i="0">
                <a:solidFill>
                  <a:srgbClr val="1B2A4A"/>
                </a:solidFill>
                <a:latin typeface="Calibri"/>
              </a:rPr>
              <a:t>La tasa del Q4 sube de 1,82 a 2,00 al refinar: la firma del régimen asintótico</a:t>
            </a:r>
          </a:p>
        </p:txBody>
      </p:sp>
      <p:sp>
        <p:nvSpPr>
          <p:cNvPr id="19" name="Rectangle 18"/>
          <p:cNvSpPr/>
          <p:nvPr/>
        </p:nvSpPr>
        <p:spPr>
          <a:xfrm>
            <a:off x="566928" y="6364224"/>
            <a:ext cx="11057839" cy="7315"/>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566928" y="6437376"/>
            <a:ext cx="5029200" cy="292608"/>
          </a:xfrm>
          <a:prstGeom prst="rect">
            <a:avLst/>
          </a:prstGeom>
          <a:noFill/>
        </p:spPr>
        <p:txBody>
          <a:bodyPr wrap="square" lIns="45720" tIns="27432" rIns="45720" bIns="27432" anchor="ctr">
            <a:noAutofit/>
          </a:bodyPr>
          <a:lstStyle/>
          <a:p>
            <a:pPr algn="l">
              <a:lnSpc>
                <a:spcPct val="105000"/>
              </a:lnSpc>
            </a:pPr>
            <a:r>
              <a:rPr lang="es-ES" sz="1200" b="0" i="0">
                <a:solidFill>
                  <a:srgbClr val="5B6575"/>
                </a:solidFill>
                <a:latin typeface="Calibri"/>
              </a:rPr>
              <a:t>EduFEM · Defensa de tesis · Ingeniería Civil · UATF</a:t>
            </a:r>
          </a:p>
        </p:txBody>
      </p:sp>
      <p:sp>
        <p:nvSpPr>
          <p:cNvPr id="21" name="TextBox 20"/>
          <p:cNvSpPr txBox="1"/>
          <p:nvPr/>
        </p:nvSpPr>
        <p:spPr>
          <a:xfrm>
            <a:off x="4023360" y="6437376"/>
            <a:ext cx="5394960" cy="292608"/>
          </a:xfrm>
          <a:prstGeom prst="rect">
            <a:avLst/>
          </a:prstGeom>
          <a:noFill/>
        </p:spPr>
        <p:txBody>
          <a:bodyPr wrap="square" lIns="45720" tIns="27432" rIns="45720" bIns="27432" anchor="ctr">
            <a:noAutofit/>
          </a:bodyPr>
          <a:lstStyle/>
          <a:p>
            <a:pPr algn="ctr">
              <a:lnSpc>
                <a:spcPct val="105000"/>
              </a:lnSpc>
            </a:pPr>
            <a:r>
              <a:rPr lang="es-ES" sz="1200" b="0" i="0">
                <a:solidFill>
                  <a:srgbClr val="5B6575"/>
                </a:solidFill>
                <a:latin typeface="Calibri"/>
              </a:rPr>
              <a:t>Tesis: §3.2, tabla MMS y figura de convergencia</a:t>
            </a:r>
          </a:p>
        </p:txBody>
      </p:sp>
      <p:sp>
        <p:nvSpPr>
          <p:cNvPr id="22" name="TextBox 21"/>
          <p:cNvSpPr txBox="1"/>
          <p:nvPr/>
        </p:nvSpPr>
        <p:spPr>
          <a:xfrm>
            <a:off x="10527487" y="6437376"/>
            <a:ext cx="1097280" cy="292608"/>
          </a:xfrm>
          <a:prstGeom prst="rect">
            <a:avLst/>
          </a:prstGeom>
          <a:noFill/>
        </p:spPr>
        <p:txBody>
          <a:bodyPr wrap="none" lIns="45720" tIns="18288" rIns="45720" bIns="18288">
            <a:spAutoFit/>
          </a:bodyPr>
          <a:lstStyle/>
          <a:p>
            <a:pPr algn="r"/>
            <a:fld id="{B6F15528-21DE-4FAA-801E-634DDDAF4B2B}" type="slidenum">
              <a:rPr lang="es-ES" sz="1200" dirty="0">
                <a:solidFill>
                  <a:srgbClr val="5B6575"/>
                </a:solidFill>
                <a:latin typeface="Calibri"/>
              </a:rPr>
              <a:t>26</a:t>
            </a:fld>
            <a:endParaRPr lang="es-ES" sz="1200" dirty="0">
              <a:solidFill>
                <a:srgbClr val="5B6575"/>
              </a:solidFill>
              <a:latin typeface="Calibri"/>
            </a:endParaRPr>
          </a:p>
        </p:txBody>
      </p:sp>
      <p:pic>
        <p:nvPicPr>
          <p:cNvPr id="23" name="s26">
            <a:hlinkClick r:id="" action="ppaction://media"/>
            <a:extLst>
              <a:ext uri="{FF2B5EF4-FFF2-40B4-BE49-F238E27FC236}">
                <a16:creationId xmlns:a16="http://schemas.microsoft.com/office/drawing/2014/main" id="{AD9DB7FE-7E49-E1BF-D7F6-17CD641D1078}"/>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254000" y="254000"/>
            <a:ext cx="508000" cy="508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64160"/>
    </mc:Choice>
    <mc:Fallback>
      <p:transition spd="slow" advTm="6416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23"/>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23"/>
                </p:tgtEl>
              </p:cMediaNode>
            </p:audio>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566928" y="361188"/>
            <a:ext cx="50292" cy="173736"/>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TextBox 2"/>
          <p:cNvSpPr txBox="1"/>
          <p:nvPr/>
        </p:nvSpPr>
        <p:spPr>
          <a:xfrm>
            <a:off x="704088" y="310896"/>
            <a:ext cx="6766560" cy="274320"/>
          </a:xfrm>
          <a:prstGeom prst="rect">
            <a:avLst/>
          </a:prstGeom>
          <a:noFill/>
        </p:spPr>
        <p:txBody>
          <a:bodyPr wrap="square" lIns="45720" tIns="27432" rIns="45720" bIns="27432" anchor="ctr">
            <a:noAutofit/>
          </a:bodyPr>
          <a:lstStyle/>
          <a:p>
            <a:pPr algn="l">
              <a:lnSpc>
                <a:spcPct val="105000"/>
              </a:lnSpc>
            </a:pPr>
            <a:r>
              <a:rPr lang="es-ES" sz="1200" b="1" i="0" spc="80">
                <a:solidFill>
                  <a:srgbClr val="F28C28"/>
                </a:solidFill>
                <a:latin typeface="Calibri"/>
              </a:rPr>
              <a:t>04   PRESENTACIÓN DE RESULTADOS</a:t>
            </a:r>
          </a:p>
        </p:txBody>
      </p:sp>
      <p:sp>
        <p:nvSpPr>
          <p:cNvPr id="4" name="Oval 3"/>
          <p:cNvSpPr/>
          <p:nvPr/>
        </p:nvSpPr>
        <p:spPr>
          <a:xfrm>
            <a:off x="10413187" y="388620"/>
            <a:ext cx="114300" cy="1143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Oval 4"/>
          <p:cNvSpPr/>
          <p:nvPr/>
        </p:nvSpPr>
        <p:spPr>
          <a:xfrm>
            <a:off x="10632643" y="388620"/>
            <a:ext cx="114300" cy="1143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Oval 5"/>
          <p:cNvSpPr/>
          <p:nvPr/>
        </p:nvSpPr>
        <p:spPr>
          <a:xfrm>
            <a:off x="10852099" y="388620"/>
            <a:ext cx="114300" cy="1143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Oval 6"/>
          <p:cNvSpPr/>
          <p:nvPr/>
        </p:nvSpPr>
        <p:spPr>
          <a:xfrm>
            <a:off x="11039551" y="356616"/>
            <a:ext cx="178308" cy="178308"/>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Oval 7"/>
          <p:cNvSpPr/>
          <p:nvPr/>
        </p:nvSpPr>
        <p:spPr>
          <a:xfrm>
            <a:off x="11291011"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Oval 8"/>
          <p:cNvSpPr/>
          <p:nvPr/>
        </p:nvSpPr>
        <p:spPr>
          <a:xfrm>
            <a:off x="11510467"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548640" y="585216"/>
            <a:ext cx="11057839" cy="749808"/>
          </a:xfrm>
          <a:prstGeom prst="rect">
            <a:avLst/>
          </a:prstGeom>
          <a:noFill/>
        </p:spPr>
        <p:txBody>
          <a:bodyPr wrap="square" lIns="45720" tIns="27432" rIns="45720" bIns="27432" anchor="ctr">
            <a:noAutofit/>
          </a:bodyPr>
          <a:lstStyle/>
          <a:p>
            <a:pPr algn="l">
              <a:lnSpc>
                <a:spcPct val="105000"/>
              </a:lnSpc>
            </a:pPr>
            <a:r>
              <a:rPr lang="es-ES" sz="3200" b="1" i="0">
                <a:solidFill>
                  <a:srgbClr val="1B2A4A"/>
                </a:solidFill>
                <a:latin typeface="Calibri"/>
              </a:rPr>
              <a:t>El modelo no deriva</a:t>
            </a:r>
          </a:p>
        </p:txBody>
      </p:sp>
      <p:sp>
        <p:nvSpPr>
          <p:cNvPr id="11" name="Rectangle 10"/>
          <p:cNvSpPr/>
          <p:nvPr/>
        </p:nvSpPr>
        <p:spPr>
          <a:xfrm>
            <a:off x="566928" y="1371600"/>
            <a:ext cx="1051560" cy="50292"/>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Rounded Rectangle 11"/>
          <p:cNvSpPr/>
          <p:nvPr/>
        </p:nvSpPr>
        <p:spPr>
          <a:xfrm>
            <a:off x="566928" y="1947672"/>
            <a:ext cx="2572435" cy="3017520"/>
          </a:xfrm>
          <a:prstGeom prst="roundRect">
            <a:avLst>
              <a:gd name="adj" fmla="val 6000"/>
            </a:avLst>
          </a:prstGeom>
          <a:solidFill>
            <a:srgbClr val="F6F8FC"/>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Rectangle 12"/>
          <p:cNvSpPr/>
          <p:nvPr/>
        </p:nvSpPr>
        <p:spPr>
          <a:xfrm>
            <a:off x="822960" y="2671826"/>
            <a:ext cx="566928" cy="54864"/>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795528" y="2891281"/>
            <a:ext cx="2115235" cy="554227"/>
          </a:xfrm>
          <a:prstGeom prst="rect">
            <a:avLst/>
          </a:prstGeom>
          <a:noFill/>
        </p:spPr>
        <p:txBody>
          <a:bodyPr wrap="square" lIns="45720" tIns="27432" rIns="45720" bIns="27432" anchor="t">
            <a:noAutofit/>
          </a:bodyPr>
          <a:lstStyle/>
          <a:p>
            <a:pPr algn="l">
              <a:lnSpc>
                <a:spcPct val="100000"/>
              </a:lnSpc>
            </a:pPr>
            <a:r>
              <a:rPr lang="es-ES" sz="2800" b="1" i="0">
                <a:solidFill>
                  <a:srgbClr val="1B2A4A"/>
                </a:solidFill>
                <a:latin typeface="Calibri"/>
              </a:rPr>
              <a:t>&lt; 10⁻⁹</a:t>
            </a:r>
          </a:p>
        </p:txBody>
      </p:sp>
      <p:sp>
        <p:nvSpPr>
          <p:cNvPr id="15" name="TextBox 14"/>
          <p:cNvSpPr txBox="1"/>
          <p:nvPr/>
        </p:nvSpPr>
        <p:spPr>
          <a:xfrm>
            <a:off x="795528" y="3445509"/>
            <a:ext cx="2115235" cy="978407"/>
          </a:xfrm>
          <a:prstGeom prst="rect">
            <a:avLst/>
          </a:prstGeom>
          <a:noFill/>
        </p:spPr>
        <p:txBody>
          <a:bodyPr wrap="square" lIns="45720" tIns="27432" rIns="45720" bIns="27432" anchor="t">
            <a:noAutofit/>
          </a:bodyPr>
          <a:lstStyle/>
          <a:p>
            <a:pPr algn="l">
              <a:lnSpc>
                <a:spcPct val="112000"/>
              </a:lnSpc>
            </a:pPr>
            <a:r>
              <a:rPr lang="es-ES" sz="1800" b="0" i="0">
                <a:solidFill>
                  <a:srgbClr val="5B6575"/>
                </a:solidFill>
                <a:latin typeface="Calibri"/>
              </a:rPr>
              <a:t>ciclo Q4 → Q9 → Q4, diferencia en u</a:t>
            </a:r>
          </a:p>
        </p:txBody>
      </p:sp>
      <p:sp>
        <p:nvSpPr>
          <p:cNvPr id="16" name="Rounded Rectangle 15"/>
          <p:cNvSpPr/>
          <p:nvPr/>
        </p:nvSpPr>
        <p:spPr>
          <a:xfrm>
            <a:off x="3395395" y="1947672"/>
            <a:ext cx="2572435" cy="3017520"/>
          </a:xfrm>
          <a:prstGeom prst="roundRect">
            <a:avLst>
              <a:gd name="adj" fmla="val 6000"/>
            </a:avLst>
          </a:prstGeom>
          <a:solidFill>
            <a:srgbClr val="F6F8FC"/>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Rectangle 16"/>
          <p:cNvSpPr/>
          <p:nvPr/>
        </p:nvSpPr>
        <p:spPr>
          <a:xfrm>
            <a:off x="3651427" y="2671826"/>
            <a:ext cx="566928" cy="54864"/>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3623995" y="2891281"/>
            <a:ext cx="2115235" cy="554227"/>
          </a:xfrm>
          <a:prstGeom prst="rect">
            <a:avLst/>
          </a:prstGeom>
          <a:noFill/>
        </p:spPr>
        <p:txBody>
          <a:bodyPr wrap="square" lIns="45720" tIns="27432" rIns="45720" bIns="27432" anchor="t">
            <a:noAutofit/>
          </a:bodyPr>
          <a:lstStyle/>
          <a:p>
            <a:pPr algn="l">
              <a:lnSpc>
                <a:spcPct val="100000"/>
              </a:lnSpc>
            </a:pPr>
            <a:r>
              <a:rPr lang="es-ES" sz="2800" b="1" i="0">
                <a:solidFill>
                  <a:srgbClr val="1B2A4A"/>
                </a:solidFill>
                <a:latin typeface="Calibri"/>
              </a:rPr>
              <a:t>&lt; 10⁻⁹</a:t>
            </a:r>
          </a:p>
        </p:txBody>
      </p:sp>
      <p:sp>
        <p:nvSpPr>
          <p:cNvPr id="19" name="TextBox 18"/>
          <p:cNvSpPr txBox="1"/>
          <p:nvPr/>
        </p:nvSpPr>
        <p:spPr>
          <a:xfrm>
            <a:off x="3623995" y="3445509"/>
            <a:ext cx="2115235" cy="978407"/>
          </a:xfrm>
          <a:prstGeom prst="rect">
            <a:avLst/>
          </a:prstGeom>
          <a:noFill/>
        </p:spPr>
        <p:txBody>
          <a:bodyPr wrap="square" lIns="45720" tIns="27432" rIns="45720" bIns="27432" anchor="t">
            <a:noAutofit/>
          </a:bodyPr>
          <a:lstStyle/>
          <a:p>
            <a:pPr algn="l">
              <a:lnSpc>
                <a:spcPct val="112000"/>
              </a:lnSpc>
            </a:pPr>
            <a:r>
              <a:rPr lang="es-ES" sz="1800" b="0" i="0">
                <a:solidFill>
                  <a:srgbClr val="5B6575"/>
                </a:solidFill>
                <a:latin typeface="Calibri"/>
              </a:rPr>
              <a:t>ids {1, 5, 50, 99} frente a {1, 2, 3, 4}</a:t>
            </a:r>
          </a:p>
        </p:txBody>
      </p:sp>
      <p:sp>
        <p:nvSpPr>
          <p:cNvPr id="20" name="Rounded Rectangle 19"/>
          <p:cNvSpPr/>
          <p:nvPr/>
        </p:nvSpPr>
        <p:spPr>
          <a:xfrm>
            <a:off x="6223863" y="1947672"/>
            <a:ext cx="2572435" cy="3017520"/>
          </a:xfrm>
          <a:prstGeom prst="roundRect">
            <a:avLst>
              <a:gd name="adj" fmla="val 6000"/>
            </a:avLst>
          </a:prstGeom>
          <a:solidFill>
            <a:srgbClr val="F6F8FC"/>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Rectangle 20"/>
          <p:cNvSpPr/>
          <p:nvPr/>
        </p:nvSpPr>
        <p:spPr>
          <a:xfrm>
            <a:off x="6479895" y="2671826"/>
            <a:ext cx="566928" cy="54864"/>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6452463" y="2891281"/>
            <a:ext cx="2115235" cy="554227"/>
          </a:xfrm>
          <a:prstGeom prst="rect">
            <a:avLst/>
          </a:prstGeom>
          <a:noFill/>
        </p:spPr>
        <p:txBody>
          <a:bodyPr wrap="square" lIns="45720" tIns="27432" rIns="45720" bIns="27432" anchor="t">
            <a:noAutofit/>
          </a:bodyPr>
          <a:lstStyle/>
          <a:p>
            <a:pPr algn="l">
              <a:lnSpc>
                <a:spcPct val="100000"/>
              </a:lnSpc>
            </a:pPr>
            <a:r>
              <a:rPr lang="es-ES" sz="2800" b="1" i="0">
                <a:solidFill>
                  <a:srgbClr val="1B2A4A"/>
                </a:solidFill>
                <a:latin typeface="Calibri"/>
              </a:rPr>
              <a:t>&lt; 10⁻¹²</a:t>
            </a:r>
          </a:p>
        </p:txBody>
      </p:sp>
      <p:sp>
        <p:nvSpPr>
          <p:cNvPr id="23" name="TextBox 22"/>
          <p:cNvSpPr txBox="1"/>
          <p:nvPr/>
        </p:nvSpPr>
        <p:spPr>
          <a:xfrm>
            <a:off x="6452463" y="3445509"/>
            <a:ext cx="2115235" cy="978407"/>
          </a:xfrm>
          <a:prstGeom prst="rect">
            <a:avLst/>
          </a:prstGeom>
          <a:noFill/>
        </p:spPr>
        <p:txBody>
          <a:bodyPr wrap="square" lIns="45720" tIns="27432" rIns="45720" bIns="27432" anchor="t">
            <a:noAutofit/>
          </a:bodyPr>
          <a:lstStyle/>
          <a:p>
            <a:pPr algn="l">
              <a:lnSpc>
                <a:spcPct val="112000"/>
              </a:lnSpc>
            </a:pPr>
            <a:r>
              <a:rPr lang="es-ES" sz="1800" b="0" i="0">
                <a:solidFill>
                  <a:srgbClr val="5B6575"/>
                </a:solidFill>
                <a:latin typeface="Calibri"/>
              </a:rPr>
              <a:t>máx |Δu| tras ida y vuelta CSV/ZIP</a:t>
            </a:r>
          </a:p>
        </p:txBody>
      </p:sp>
      <p:sp>
        <p:nvSpPr>
          <p:cNvPr id="24" name="Rounded Rectangle 23"/>
          <p:cNvSpPr/>
          <p:nvPr/>
        </p:nvSpPr>
        <p:spPr>
          <a:xfrm>
            <a:off x="9052331" y="1947672"/>
            <a:ext cx="2572435" cy="3017520"/>
          </a:xfrm>
          <a:prstGeom prst="roundRect">
            <a:avLst>
              <a:gd name="adj" fmla="val 6000"/>
            </a:avLst>
          </a:prstGeom>
          <a:solidFill>
            <a:srgbClr val="F6F8FC"/>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Rectangle 24"/>
          <p:cNvSpPr/>
          <p:nvPr/>
        </p:nvSpPr>
        <p:spPr>
          <a:xfrm>
            <a:off x="9308363" y="2671826"/>
            <a:ext cx="566928" cy="54864"/>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TextBox 25"/>
          <p:cNvSpPr txBox="1"/>
          <p:nvPr/>
        </p:nvSpPr>
        <p:spPr>
          <a:xfrm>
            <a:off x="9280931" y="2891281"/>
            <a:ext cx="2115235" cy="554227"/>
          </a:xfrm>
          <a:prstGeom prst="rect">
            <a:avLst/>
          </a:prstGeom>
          <a:noFill/>
        </p:spPr>
        <p:txBody>
          <a:bodyPr wrap="square" lIns="45720" tIns="27432" rIns="45720" bIns="27432" anchor="t">
            <a:noAutofit/>
          </a:bodyPr>
          <a:lstStyle/>
          <a:p>
            <a:pPr algn="l">
              <a:lnSpc>
                <a:spcPct val="100000"/>
              </a:lnSpc>
            </a:pPr>
            <a:r>
              <a:rPr lang="es-ES" sz="2800" b="1" i="0">
                <a:solidFill>
                  <a:srgbClr val="1B2A4A"/>
                </a:solidFill>
                <a:latin typeface="Calibri"/>
              </a:rPr>
              <a:t>6 · 12 · 0</a:t>
            </a:r>
          </a:p>
        </p:txBody>
      </p:sp>
      <p:sp>
        <p:nvSpPr>
          <p:cNvPr id="27" name="TextBox 26"/>
          <p:cNvSpPr txBox="1"/>
          <p:nvPr/>
        </p:nvSpPr>
        <p:spPr>
          <a:xfrm>
            <a:off x="9280931" y="3445509"/>
            <a:ext cx="2115235" cy="978407"/>
          </a:xfrm>
          <a:prstGeom prst="rect">
            <a:avLst/>
          </a:prstGeom>
          <a:noFill/>
        </p:spPr>
        <p:txBody>
          <a:bodyPr wrap="square" lIns="45720" tIns="27432" rIns="45720" bIns="27432" anchor="t">
            <a:noAutofit/>
          </a:bodyPr>
          <a:lstStyle/>
          <a:p>
            <a:pPr algn="l">
              <a:lnSpc>
                <a:spcPct val="112000"/>
              </a:lnSpc>
            </a:pPr>
            <a:r>
              <a:rPr lang="es-ES" sz="1800" b="0" i="0">
                <a:solidFill>
                  <a:srgbClr val="5B6575"/>
                </a:solidFill>
                <a:latin typeface="Calibri"/>
              </a:rPr>
              <a:t>DXF: elementos, nodos, nuevos al reimportar</a:t>
            </a:r>
          </a:p>
        </p:txBody>
      </p:sp>
      <p:sp>
        <p:nvSpPr>
          <p:cNvPr id="28" name="Rectangle 27"/>
          <p:cNvSpPr/>
          <p:nvPr/>
        </p:nvSpPr>
        <p:spPr>
          <a:xfrm>
            <a:off x="566928" y="5449824"/>
            <a:ext cx="11057839" cy="841248"/>
          </a:xfrm>
          <a:prstGeom prst="rect">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Rectangle 28"/>
          <p:cNvSpPr/>
          <p:nvPr/>
        </p:nvSpPr>
        <p:spPr>
          <a:xfrm>
            <a:off x="566928" y="5449824"/>
            <a:ext cx="77724" cy="841248"/>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 name="TextBox 29"/>
          <p:cNvSpPr txBox="1"/>
          <p:nvPr/>
        </p:nvSpPr>
        <p:spPr>
          <a:xfrm>
            <a:off x="795528" y="5449824"/>
            <a:ext cx="10737799" cy="841248"/>
          </a:xfrm>
          <a:prstGeom prst="rect">
            <a:avLst/>
          </a:prstGeom>
          <a:noFill/>
        </p:spPr>
        <p:txBody>
          <a:bodyPr wrap="square" lIns="45720" tIns="27432" rIns="45720" bIns="27432" anchor="ctr">
            <a:noAutofit/>
          </a:bodyPr>
          <a:lstStyle/>
          <a:p>
            <a:pPr algn="l">
              <a:lnSpc>
                <a:spcPct val="100000"/>
              </a:lnSpc>
            </a:pPr>
            <a:r>
              <a:rPr lang="es-ES" sz="2000" b="1" i="0">
                <a:solidFill>
                  <a:srgbClr val="1B2A4A"/>
                </a:solidFill>
                <a:latin typeface="Calibri"/>
              </a:rPr>
              <a:t>Consistencia interna: expandir, reducir, renumerar e intercambiar formatos no cambia la solución</a:t>
            </a:r>
          </a:p>
        </p:txBody>
      </p:sp>
      <p:sp>
        <p:nvSpPr>
          <p:cNvPr id="31" name="Rectangle 30"/>
          <p:cNvSpPr/>
          <p:nvPr/>
        </p:nvSpPr>
        <p:spPr>
          <a:xfrm>
            <a:off x="566928" y="6364224"/>
            <a:ext cx="11057839" cy="7315"/>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 name="TextBox 31"/>
          <p:cNvSpPr txBox="1"/>
          <p:nvPr/>
        </p:nvSpPr>
        <p:spPr>
          <a:xfrm>
            <a:off x="566928" y="6437376"/>
            <a:ext cx="5029200" cy="292608"/>
          </a:xfrm>
          <a:prstGeom prst="rect">
            <a:avLst/>
          </a:prstGeom>
          <a:noFill/>
        </p:spPr>
        <p:txBody>
          <a:bodyPr wrap="square" lIns="45720" tIns="27432" rIns="45720" bIns="27432" anchor="ctr">
            <a:noAutofit/>
          </a:bodyPr>
          <a:lstStyle/>
          <a:p>
            <a:pPr algn="l">
              <a:lnSpc>
                <a:spcPct val="105000"/>
              </a:lnSpc>
            </a:pPr>
            <a:r>
              <a:rPr lang="es-ES" sz="1200" b="0" i="0">
                <a:solidFill>
                  <a:srgbClr val="5B6575"/>
                </a:solidFill>
                <a:latin typeface="Calibri"/>
              </a:rPr>
              <a:t>EduFEM · Defensa de tesis · Ingeniería Civil · UATF</a:t>
            </a:r>
          </a:p>
        </p:txBody>
      </p:sp>
      <p:sp>
        <p:nvSpPr>
          <p:cNvPr id="33" name="TextBox 32"/>
          <p:cNvSpPr txBox="1"/>
          <p:nvPr/>
        </p:nvSpPr>
        <p:spPr>
          <a:xfrm>
            <a:off x="4023360" y="6437376"/>
            <a:ext cx="5394960" cy="292608"/>
          </a:xfrm>
          <a:prstGeom prst="rect">
            <a:avLst/>
          </a:prstGeom>
          <a:noFill/>
        </p:spPr>
        <p:txBody>
          <a:bodyPr wrap="square" lIns="45720" tIns="27432" rIns="45720" bIns="27432" anchor="ctr">
            <a:noAutofit/>
          </a:bodyPr>
          <a:lstStyle/>
          <a:p>
            <a:pPr algn="ctr">
              <a:lnSpc>
                <a:spcPct val="105000"/>
              </a:lnSpc>
            </a:pPr>
            <a:r>
              <a:rPr lang="es-ES" sz="1200" b="0" i="0">
                <a:solidFill>
                  <a:srgbClr val="5B6575"/>
                </a:solidFill>
                <a:latin typeface="Calibri"/>
              </a:rPr>
              <a:t>Tesis: §3.3, consistencia interna</a:t>
            </a:r>
          </a:p>
        </p:txBody>
      </p:sp>
      <p:sp>
        <p:nvSpPr>
          <p:cNvPr id="34" name="TextBox 33"/>
          <p:cNvSpPr txBox="1"/>
          <p:nvPr/>
        </p:nvSpPr>
        <p:spPr>
          <a:xfrm>
            <a:off x="10527487" y="6437376"/>
            <a:ext cx="1097280" cy="292608"/>
          </a:xfrm>
          <a:prstGeom prst="rect">
            <a:avLst/>
          </a:prstGeom>
          <a:noFill/>
        </p:spPr>
        <p:txBody>
          <a:bodyPr wrap="none" lIns="45720" tIns="18288" rIns="45720" bIns="18288">
            <a:spAutoFit/>
          </a:bodyPr>
          <a:lstStyle/>
          <a:p>
            <a:pPr algn="r"/>
            <a:fld id="{B6F15528-21DE-4FAA-801E-634DDDAF4B2B}" type="slidenum">
              <a:rPr lang="es-ES" sz="1200" dirty="0">
                <a:solidFill>
                  <a:srgbClr val="5B6575"/>
                </a:solidFill>
                <a:latin typeface="Calibri"/>
              </a:rPr>
              <a:t>27</a:t>
            </a:fld>
            <a:endParaRPr lang="es-ES" sz="1200" dirty="0">
              <a:solidFill>
                <a:srgbClr val="5B6575"/>
              </a:solidFill>
              <a:latin typeface="Calibri"/>
            </a:endParaRPr>
          </a:p>
        </p:txBody>
      </p:sp>
      <p:pic>
        <p:nvPicPr>
          <p:cNvPr id="35" name="s27">
            <a:hlinkClick r:id="" action="ppaction://media"/>
            <a:extLst>
              <a:ext uri="{FF2B5EF4-FFF2-40B4-BE49-F238E27FC236}">
                <a16:creationId xmlns:a16="http://schemas.microsoft.com/office/drawing/2014/main" id="{D140C649-C679-B484-964B-AEC10E2DC1D9}"/>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254000" y="254000"/>
            <a:ext cx="508000" cy="508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6152"/>
    </mc:Choice>
    <mc:Fallback>
      <p:transition spd="slow" advTm="36152"/>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35"/>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35"/>
                </p:tgtEl>
              </p:cMediaNode>
            </p:audio>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566928" y="361188"/>
            <a:ext cx="50292" cy="173736"/>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TextBox 2"/>
          <p:cNvSpPr txBox="1"/>
          <p:nvPr/>
        </p:nvSpPr>
        <p:spPr>
          <a:xfrm>
            <a:off x="704088" y="310896"/>
            <a:ext cx="6766560" cy="274320"/>
          </a:xfrm>
          <a:prstGeom prst="rect">
            <a:avLst/>
          </a:prstGeom>
          <a:noFill/>
        </p:spPr>
        <p:txBody>
          <a:bodyPr wrap="square" lIns="45720" tIns="27432" rIns="45720" bIns="27432" anchor="ctr">
            <a:noAutofit/>
          </a:bodyPr>
          <a:lstStyle/>
          <a:p>
            <a:pPr algn="l">
              <a:lnSpc>
                <a:spcPct val="105000"/>
              </a:lnSpc>
            </a:pPr>
            <a:r>
              <a:rPr lang="es-ES" sz="1200" b="1" i="0" spc="80">
                <a:solidFill>
                  <a:srgbClr val="F28C28"/>
                </a:solidFill>
                <a:latin typeface="Calibri"/>
              </a:rPr>
              <a:t>04   PRESENTACIÓN DE RESULTADOS</a:t>
            </a:r>
          </a:p>
        </p:txBody>
      </p:sp>
      <p:sp>
        <p:nvSpPr>
          <p:cNvPr id="4" name="Oval 3"/>
          <p:cNvSpPr/>
          <p:nvPr/>
        </p:nvSpPr>
        <p:spPr>
          <a:xfrm>
            <a:off x="10413187" y="388620"/>
            <a:ext cx="114300" cy="1143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Oval 4"/>
          <p:cNvSpPr/>
          <p:nvPr/>
        </p:nvSpPr>
        <p:spPr>
          <a:xfrm>
            <a:off x="10632643" y="388620"/>
            <a:ext cx="114300" cy="1143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Oval 5"/>
          <p:cNvSpPr/>
          <p:nvPr/>
        </p:nvSpPr>
        <p:spPr>
          <a:xfrm>
            <a:off x="10852099" y="388620"/>
            <a:ext cx="114300" cy="1143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Oval 6"/>
          <p:cNvSpPr/>
          <p:nvPr/>
        </p:nvSpPr>
        <p:spPr>
          <a:xfrm>
            <a:off x="11039551" y="356616"/>
            <a:ext cx="178308" cy="178308"/>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Oval 7"/>
          <p:cNvSpPr/>
          <p:nvPr/>
        </p:nvSpPr>
        <p:spPr>
          <a:xfrm>
            <a:off x="11291011"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Oval 8"/>
          <p:cNvSpPr/>
          <p:nvPr/>
        </p:nvSpPr>
        <p:spPr>
          <a:xfrm>
            <a:off x="11510467"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548640" y="585216"/>
            <a:ext cx="11057839" cy="749808"/>
          </a:xfrm>
          <a:prstGeom prst="rect">
            <a:avLst/>
          </a:prstGeom>
          <a:noFill/>
        </p:spPr>
        <p:txBody>
          <a:bodyPr wrap="square" lIns="45720" tIns="27432" rIns="45720" bIns="27432" anchor="ctr">
            <a:noAutofit/>
          </a:bodyPr>
          <a:lstStyle/>
          <a:p>
            <a:pPr algn="l">
              <a:lnSpc>
                <a:spcPct val="105000"/>
              </a:lnSpc>
            </a:pPr>
            <a:r>
              <a:rPr lang="es-ES" sz="3200" b="1" i="0">
                <a:solidFill>
                  <a:srgbClr val="1B2A4A"/>
                </a:solidFill>
                <a:latin typeface="Calibri"/>
              </a:rPr>
              <a:t>Viga de Timoshenko: analítico y SAP2000</a:t>
            </a:r>
          </a:p>
        </p:txBody>
      </p:sp>
      <p:sp>
        <p:nvSpPr>
          <p:cNvPr id="11" name="Rectangle 10"/>
          <p:cNvSpPr/>
          <p:nvPr/>
        </p:nvSpPr>
        <p:spPr>
          <a:xfrm>
            <a:off x="566928" y="1371600"/>
            <a:ext cx="1051560" cy="50292"/>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612648" y="1618488"/>
            <a:ext cx="5257800" cy="3675888"/>
          </a:xfrm>
          <a:prstGeom prst="rect">
            <a:avLst/>
          </a:prstGeom>
          <a:noFill/>
        </p:spPr>
        <p:txBody>
          <a:bodyPr wrap="square" lIns="45720" tIns="27432" rIns="45720" bIns="27432" anchor="ctr">
            <a:noAutofit/>
          </a:bodyPr>
          <a:lstStyle/>
          <a:p>
            <a:pPr marL="347472" indent="-347472">
              <a:lnSpc>
                <a:spcPct val="112000"/>
              </a:lnSpc>
              <a:spcAft>
                <a:spcPts val="1200"/>
              </a:spcAft>
              <a:buClr>
                <a:srgbClr val="F28C28"/>
              </a:buClr>
              <a:buSzPct val="100000"/>
              <a:buFont typeface="Arial"/>
              <a:buChar char="•"/>
            </a:pPr>
            <a:r>
              <a:rPr lang="es-ES" sz="2100" b="1" i="0">
                <a:solidFill>
                  <a:srgbClr val="1B2A4A"/>
                </a:solidFill>
                <a:latin typeface="Calibri"/>
              </a:rPr>
              <a:t>Viga de hormigón:</a:t>
            </a:r>
            <a:r>
              <a:rPr lang="es-ES" sz="2100" b="0" i="0">
                <a:solidFill>
                  <a:srgbClr val="1F2937"/>
                </a:solidFill>
                <a:latin typeface="Calibri"/>
              </a:rPr>
              <a:t> L = 14 m, H = 1,20 m, q = 5000 kgf/m; Q9 de 56×8, 3842 GDL</a:t>
            </a:r>
          </a:p>
          <a:p>
            <a:pPr marL="347472" indent="-347472">
              <a:lnSpc>
                <a:spcPct val="112000"/>
              </a:lnSpc>
              <a:spcAft>
                <a:spcPts val="1200"/>
              </a:spcAft>
              <a:buClr>
                <a:srgbClr val="F28C28"/>
              </a:buClr>
              <a:buSzPct val="100000"/>
              <a:buFont typeface="Arial"/>
              <a:buChar char="•"/>
            </a:pPr>
            <a:r>
              <a:rPr lang="es-ES" sz="2100" b="1" i="0">
                <a:solidFill>
                  <a:srgbClr val="1B2A4A"/>
                </a:solidFill>
                <a:latin typeface="Calibri"/>
              </a:rPr>
              <a:t>σₓ:</a:t>
            </a:r>
            <a:r>
              <a:rPr lang="es-ES" sz="2100" b="0" i="0">
                <a:solidFill>
                  <a:srgbClr val="1F2937"/>
                </a:solidFill>
                <a:latin typeface="Calibri"/>
              </a:rPr>
              <a:t> 0,0414 % frente al analítico y 0,2066 % frente a SAP2000</a:t>
            </a:r>
          </a:p>
          <a:p>
            <a:pPr marL="347472" indent="-347472">
              <a:lnSpc>
                <a:spcPct val="112000"/>
              </a:lnSpc>
              <a:spcAft>
                <a:spcPts val="1200"/>
              </a:spcAft>
              <a:buClr>
                <a:srgbClr val="F28C28"/>
              </a:buClr>
              <a:buSzPct val="100000"/>
              <a:buFont typeface="Arial"/>
              <a:buChar char="•"/>
            </a:pPr>
            <a:r>
              <a:rPr lang="es-ES" sz="2100" b="1" i="0">
                <a:solidFill>
                  <a:srgbClr val="1B2A4A"/>
                </a:solidFill>
                <a:latin typeface="Calibri"/>
              </a:rPr>
              <a:t>Flecha:</a:t>
            </a:r>
            <a:r>
              <a:rPr lang="es-ES" sz="2100" b="0" i="0">
                <a:solidFill>
                  <a:srgbClr val="1F2937"/>
                </a:solidFill>
                <a:latin typeface="Calibri"/>
              </a:rPr>
              <a:t> 2,03460 frente a 2,02926 cm (0,2633 %); con Euler-Bernoulli, 1,85 %</a:t>
            </a:r>
          </a:p>
          <a:p>
            <a:pPr marL="347472" indent="-347472">
              <a:lnSpc>
                <a:spcPct val="112000"/>
              </a:lnSpc>
              <a:spcAft>
                <a:spcPts val="1200"/>
              </a:spcAft>
              <a:buClr>
                <a:srgbClr val="F28C28"/>
              </a:buClr>
              <a:buSzPct val="100000"/>
              <a:buFont typeface="Arial"/>
              <a:buChar char="•"/>
            </a:pPr>
            <a:r>
              <a:rPr lang="es-ES" sz="2100" b="1" i="0">
                <a:solidFill>
                  <a:srgbClr val="1B2A4A"/>
                </a:solidFill>
                <a:latin typeface="Calibri"/>
              </a:rPr>
              <a:t>En B:</a:t>
            </a:r>
            <a:r>
              <a:rPr lang="es-ES" sz="2100" b="0" i="0">
                <a:solidFill>
                  <a:srgbClr val="1F2937"/>
                </a:solidFill>
                <a:latin typeface="Calibri"/>
              </a:rPr>
              <a:t> σᵧ 0,94 % y τₓᵧ 2,89 %, con magnitudes 6 a 35 veces menores</a:t>
            </a:r>
          </a:p>
        </p:txBody>
      </p:sp>
      <p:sp>
        <p:nvSpPr>
          <p:cNvPr id="13" name="Rounded Rectangle 12"/>
          <p:cNvSpPr/>
          <p:nvPr/>
        </p:nvSpPr>
        <p:spPr>
          <a:xfrm>
            <a:off x="6772503" y="1572768"/>
            <a:ext cx="4315968" cy="3246120"/>
          </a:xfrm>
          <a:prstGeom prst="roundRect">
            <a:avLst>
              <a:gd name="adj" fmla="val 4000"/>
            </a:avLst>
          </a:prstGeom>
          <a:solidFill>
            <a:srgbClr val="F6F8FC"/>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4" name="Picture 13" descr="fig_timoshenko_contorno.png"/>
          <p:cNvPicPr>
            <a:picLocks noChangeAspect="1"/>
          </p:cNvPicPr>
          <p:nvPr/>
        </p:nvPicPr>
        <p:blipFill>
          <a:blip r:embed="rId5"/>
          <a:stretch>
            <a:fillRect/>
          </a:stretch>
        </p:blipFill>
        <p:spPr>
          <a:xfrm>
            <a:off x="6891375" y="1691640"/>
            <a:ext cx="4078224" cy="3008376"/>
          </a:xfrm>
          <a:prstGeom prst="rect">
            <a:avLst/>
          </a:prstGeom>
        </p:spPr>
      </p:pic>
      <p:sp>
        <p:nvSpPr>
          <p:cNvPr id="15" name="TextBox 14"/>
          <p:cNvSpPr txBox="1"/>
          <p:nvPr/>
        </p:nvSpPr>
        <p:spPr>
          <a:xfrm>
            <a:off x="6236208" y="4745736"/>
            <a:ext cx="5388559" cy="502920"/>
          </a:xfrm>
          <a:prstGeom prst="rect">
            <a:avLst/>
          </a:prstGeom>
          <a:noFill/>
        </p:spPr>
        <p:txBody>
          <a:bodyPr wrap="square" lIns="45720" tIns="27432" rIns="45720" bIns="27432" anchor="t">
            <a:noAutofit/>
          </a:bodyPr>
          <a:lstStyle/>
          <a:p>
            <a:pPr algn="ctr">
              <a:lnSpc>
                <a:spcPct val="105000"/>
              </a:lnSpc>
            </a:pPr>
            <a:r>
              <a:rPr lang="es-ES" sz="1500" b="0" i="1">
                <a:solidFill>
                  <a:srgbClr val="5B6575"/>
                </a:solidFill>
                <a:latin typeface="Calibri"/>
              </a:rPr>
              <a:t>Campo σₓ sobre la deformada: tracción abajo, compresión arriba</a:t>
            </a:r>
          </a:p>
        </p:txBody>
      </p:sp>
      <p:sp>
        <p:nvSpPr>
          <p:cNvPr id="16" name="Rectangle 15"/>
          <p:cNvSpPr/>
          <p:nvPr/>
        </p:nvSpPr>
        <p:spPr>
          <a:xfrm>
            <a:off x="566928" y="5449824"/>
            <a:ext cx="11057839" cy="841248"/>
          </a:xfrm>
          <a:prstGeom prst="rect">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Rectangle 16"/>
          <p:cNvSpPr/>
          <p:nvPr/>
        </p:nvSpPr>
        <p:spPr>
          <a:xfrm>
            <a:off x="566928" y="5449824"/>
            <a:ext cx="77724" cy="841248"/>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795528" y="5449824"/>
            <a:ext cx="10737799" cy="841248"/>
          </a:xfrm>
          <a:prstGeom prst="rect">
            <a:avLst/>
          </a:prstGeom>
          <a:noFill/>
        </p:spPr>
        <p:txBody>
          <a:bodyPr wrap="square" lIns="45720" tIns="27432" rIns="45720" bIns="27432" anchor="ctr">
            <a:noAutofit/>
          </a:bodyPr>
          <a:lstStyle/>
          <a:p>
            <a:pPr algn="l">
              <a:lnSpc>
                <a:spcPct val="100000"/>
              </a:lnSpc>
            </a:pPr>
            <a:r>
              <a:rPr lang="es-ES" sz="2200" b="1" i="0">
                <a:solidFill>
                  <a:srgbClr val="1B2A4A"/>
                </a:solidFill>
                <a:latin typeface="Calibri"/>
              </a:rPr>
              <a:t>Equilibrio: la suma de reacciones iguala qL = 70 000 kgf con un residuo relativo de 1,7 × 10⁻¹³</a:t>
            </a:r>
          </a:p>
        </p:txBody>
      </p:sp>
      <p:sp>
        <p:nvSpPr>
          <p:cNvPr id="19" name="Rectangle 18"/>
          <p:cNvSpPr/>
          <p:nvPr/>
        </p:nvSpPr>
        <p:spPr>
          <a:xfrm>
            <a:off x="566928" y="6364224"/>
            <a:ext cx="11057839" cy="7315"/>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566928" y="6437376"/>
            <a:ext cx="5029200" cy="292608"/>
          </a:xfrm>
          <a:prstGeom prst="rect">
            <a:avLst/>
          </a:prstGeom>
          <a:noFill/>
        </p:spPr>
        <p:txBody>
          <a:bodyPr wrap="square" lIns="45720" tIns="27432" rIns="45720" bIns="27432" anchor="ctr">
            <a:noAutofit/>
          </a:bodyPr>
          <a:lstStyle/>
          <a:p>
            <a:pPr algn="l">
              <a:lnSpc>
                <a:spcPct val="105000"/>
              </a:lnSpc>
            </a:pPr>
            <a:r>
              <a:rPr lang="es-ES" sz="1200" b="0" i="0">
                <a:solidFill>
                  <a:srgbClr val="5B6575"/>
                </a:solidFill>
                <a:latin typeface="Calibri"/>
              </a:rPr>
              <a:t>EduFEM · Defensa de tesis · Ingeniería Civil · UATF</a:t>
            </a:r>
          </a:p>
        </p:txBody>
      </p:sp>
      <p:sp>
        <p:nvSpPr>
          <p:cNvPr id="21" name="TextBox 20"/>
          <p:cNvSpPr txBox="1"/>
          <p:nvPr/>
        </p:nvSpPr>
        <p:spPr>
          <a:xfrm>
            <a:off x="4023360" y="6437376"/>
            <a:ext cx="5394960" cy="292608"/>
          </a:xfrm>
          <a:prstGeom prst="rect">
            <a:avLst/>
          </a:prstGeom>
          <a:noFill/>
        </p:spPr>
        <p:txBody>
          <a:bodyPr wrap="square" lIns="45720" tIns="27432" rIns="45720" bIns="27432" anchor="ctr">
            <a:noAutofit/>
          </a:bodyPr>
          <a:lstStyle/>
          <a:p>
            <a:pPr algn="ctr">
              <a:lnSpc>
                <a:spcPct val="105000"/>
              </a:lnSpc>
            </a:pPr>
            <a:r>
              <a:rPr lang="es-ES" sz="1200" b="0" i="0">
                <a:solidFill>
                  <a:srgbClr val="5B6575"/>
                </a:solidFill>
                <a:latin typeface="Calibri"/>
              </a:rPr>
              <a:t>Tesis: §3.4, Tablas 3.2 y 3.3</a:t>
            </a:r>
          </a:p>
        </p:txBody>
      </p:sp>
      <p:sp>
        <p:nvSpPr>
          <p:cNvPr id="22" name="TextBox 21"/>
          <p:cNvSpPr txBox="1"/>
          <p:nvPr/>
        </p:nvSpPr>
        <p:spPr>
          <a:xfrm>
            <a:off x="10527487" y="6437376"/>
            <a:ext cx="1097280" cy="292608"/>
          </a:xfrm>
          <a:prstGeom prst="rect">
            <a:avLst/>
          </a:prstGeom>
          <a:noFill/>
        </p:spPr>
        <p:txBody>
          <a:bodyPr wrap="none" lIns="45720" tIns="18288" rIns="45720" bIns="18288">
            <a:spAutoFit/>
          </a:bodyPr>
          <a:lstStyle/>
          <a:p>
            <a:pPr algn="r"/>
            <a:fld id="{B6F15528-21DE-4FAA-801E-634DDDAF4B2B}" type="slidenum">
              <a:rPr lang="es-ES" sz="1200" dirty="0">
                <a:solidFill>
                  <a:srgbClr val="5B6575"/>
                </a:solidFill>
                <a:latin typeface="Calibri"/>
              </a:rPr>
              <a:t>28</a:t>
            </a:fld>
            <a:endParaRPr lang="es-ES" sz="1200" dirty="0">
              <a:solidFill>
                <a:srgbClr val="5B6575"/>
              </a:solidFill>
              <a:latin typeface="Calibri"/>
            </a:endParaRPr>
          </a:p>
        </p:txBody>
      </p:sp>
      <p:pic>
        <p:nvPicPr>
          <p:cNvPr id="23" name="s28">
            <a:hlinkClick r:id="" action="ppaction://media"/>
            <a:extLst>
              <a:ext uri="{FF2B5EF4-FFF2-40B4-BE49-F238E27FC236}">
                <a16:creationId xmlns:a16="http://schemas.microsoft.com/office/drawing/2014/main" id="{F0386D27-B87B-D76F-D8E8-71D98847E0E9}"/>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254000" y="254000"/>
            <a:ext cx="508000" cy="508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85400"/>
    </mc:Choice>
    <mc:Fallback>
      <p:transition spd="slow" advTm="854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23"/>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23"/>
                </p:tgtEl>
              </p:cMediaNode>
            </p:audio>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566928" y="361188"/>
            <a:ext cx="50292" cy="173736"/>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TextBox 2"/>
          <p:cNvSpPr txBox="1"/>
          <p:nvPr/>
        </p:nvSpPr>
        <p:spPr>
          <a:xfrm>
            <a:off x="704088" y="310896"/>
            <a:ext cx="6766560" cy="274320"/>
          </a:xfrm>
          <a:prstGeom prst="rect">
            <a:avLst/>
          </a:prstGeom>
          <a:noFill/>
        </p:spPr>
        <p:txBody>
          <a:bodyPr wrap="square" lIns="45720" tIns="27432" rIns="45720" bIns="27432" anchor="ctr">
            <a:noAutofit/>
          </a:bodyPr>
          <a:lstStyle/>
          <a:p>
            <a:pPr algn="l">
              <a:lnSpc>
                <a:spcPct val="105000"/>
              </a:lnSpc>
            </a:pPr>
            <a:r>
              <a:rPr lang="es-ES" sz="1200" b="1" i="0" spc="80">
                <a:solidFill>
                  <a:srgbClr val="F28C28"/>
                </a:solidFill>
                <a:latin typeface="Calibri"/>
              </a:rPr>
              <a:t>04   PRESENTACIÓN DE RESULTADOS</a:t>
            </a:r>
          </a:p>
        </p:txBody>
      </p:sp>
      <p:sp>
        <p:nvSpPr>
          <p:cNvPr id="4" name="Oval 3"/>
          <p:cNvSpPr/>
          <p:nvPr/>
        </p:nvSpPr>
        <p:spPr>
          <a:xfrm>
            <a:off x="10413187" y="388620"/>
            <a:ext cx="114300" cy="1143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Oval 4"/>
          <p:cNvSpPr/>
          <p:nvPr/>
        </p:nvSpPr>
        <p:spPr>
          <a:xfrm>
            <a:off x="10632643" y="388620"/>
            <a:ext cx="114300" cy="1143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Oval 5"/>
          <p:cNvSpPr/>
          <p:nvPr/>
        </p:nvSpPr>
        <p:spPr>
          <a:xfrm>
            <a:off x="10852099" y="388620"/>
            <a:ext cx="114300" cy="1143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Oval 6"/>
          <p:cNvSpPr/>
          <p:nvPr/>
        </p:nvSpPr>
        <p:spPr>
          <a:xfrm>
            <a:off x="11039551" y="356616"/>
            <a:ext cx="178308" cy="178308"/>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Oval 7"/>
          <p:cNvSpPr/>
          <p:nvPr/>
        </p:nvSpPr>
        <p:spPr>
          <a:xfrm>
            <a:off x="11291011"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Oval 8"/>
          <p:cNvSpPr/>
          <p:nvPr/>
        </p:nvSpPr>
        <p:spPr>
          <a:xfrm>
            <a:off x="11510467"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548640" y="585216"/>
            <a:ext cx="11057839" cy="749808"/>
          </a:xfrm>
          <a:prstGeom prst="rect">
            <a:avLst/>
          </a:prstGeom>
          <a:noFill/>
        </p:spPr>
        <p:txBody>
          <a:bodyPr wrap="square" lIns="45720" tIns="27432" rIns="45720" bIns="27432" anchor="ctr">
            <a:noAutofit/>
          </a:bodyPr>
          <a:lstStyle/>
          <a:p>
            <a:pPr algn="l">
              <a:lnSpc>
                <a:spcPct val="105000"/>
              </a:lnSpc>
            </a:pPr>
            <a:r>
              <a:rPr lang="es-ES" sz="3200" b="1" i="0">
                <a:solidFill>
                  <a:srgbClr val="1B2A4A"/>
                </a:solidFill>
                <a:latin typeface="Calibri"/>
              </a:rPr>
              <a:t>Membrana de Cook: referencia 23,96</a:t>
            </a:r>
          </a:p>
        </p:txBody>
      </p:sp>
      <p:sp>
        <p:nvSpPr>
          <p:cNvPr id="11" name="Rectangle 10"/>
          <p:cNvSpPr/>
          <p:nvPr/>
        </p:nvSpPr>
        <p:spPr>
          <a:xfrm>
            <a:off x="566928" y="1371600"/>
            <a:ext cx="1051560" cy="50292"/>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566928" y="1572768"/>
            <a:ext cx="11057839" cy="354329"/>
          </a:xfrm>
          <a:prstGeom prst="rect">
            <a:avLst/>
          </a:prstGeom>
          <a:noFill/>
        </p:spPr>
        <p:txBody>
          <a:bodyPr wrap="square" lIns="45720" tIns="27432" rIns="45720" bIns="27432" anchor="t">
            <a:noAutofit/>
          </a:bodyPr>
          <a:lstStyle/>
          <a:p>
            <a:pPr algn="l">
              <a:lnSpc>
                <a:spcPct val="108000"/>
              </a:lnSpc>
            </a:pPr>
            <a:r>
              <a:rPr lang="es-ES" sz="1800" b="0" i="1">
                <a:solidFill>
                  <a:srgbClr val="5B6575"/>
                </a:solidFill>
                <a:latin typeface="Calibri"/>
              </a:rPr>
              <a:t>Trapecio empotrado con corte unitario en el extremo; E = 1, ν = 1/3, tensión plana</a:t>
            </a:r>
          </a:p>
        </p:txBody>
      </p:sp>
      <p:graphicFrame>
        <p:nvGraphicFramePr>
          <p:cNvPr id="13" name="Table 12"/>
          <p:cNvGraphicFramePr>
            <a:graphicFrameLocks noGrp="1"/>
          </p:cNvGraphicFramePr>
          <p:nvPr/>
        </p:nvGraphicFramePr>
        <p:xfrm>
          <a:off x="566928" y="2036826"/>
          <a:ext cx="11057837" cy="3303264"/>
        </p:xfrm>
        <a:graphic>
          <a:graphicData uri="http://schemas.openxmlformats.org/drawingml/2006/table">
            <a:tbl>
              <a:tblPr>
                <a:tableStyleId>{5C22544A-7EE6-4342-B048-85BDC9FD1C3A}</a:tableStyleId>
              </a:tblPr>
              <a:tblGrid>
                <a:gridCol w="2268274">
                  <a:extLst>
                    <a:ext uri="{9D8B030D-6E8A-4147-A177-3AD203B41FA5}">
                      <a16:colId xmlns:a16="http://schemas.microsoft.com/office/drawing/2014/main" val="20000"/>
                    </a:ext>
                  </a:extLst>
                </a:gridCol>
                <a:gridCol w="1134137">
                  <a:extLst>
                    <a:ext uri="{9D8B030D-6E8A-4147-A177-3AD203B41FA5}">
                      <a16:colId xmlns:a16="http://schemas.microsoft.com/office/drawing/2014/main" val="20001"/>
                    </a:ext>
                  </a:extLst>
                </a:gridCol>
                <a:gridCol w="1134137">
                  <a:extLst>
                    <a:ext uri="{9D8B030D-6E8A-4147-A177-3AD203B41FA5}">
                      <a16:colId xmlns:a16="http://schemas.microsoft.com/office/drawing/2014/main" val="20002"/>
                    </a:ext>
                  </a:extLst>
                </a:gridCol>
                <a:gridCol w="3969480">
                  <a:extLst>
                    <a:ext uri="{9D8B030D-6E8A-4147-A177-3AD203B41FA5}">
                      <a16:colId xmlns:a16="http://schemas.microsoft.com/office/drawing/2014/main" val="20003"/>
                    </a:ext>
                  </a:extLst>
                </a:gridCol>
                <a:gridCol w="2551809">
                  <a:extLst>
                    <a:ext uri="{9D8B030D-6E8A-4147-A177-3AD203B41FA5}">
                      <a16:colId xmlns:a16="http://schemas.microsoft.com/office/drawing/2014/main" val="20004"/>
                    </a:ext>
                  </a:extLst>
                </a:gridCol>
              </a:tblGrid>
              <a:tr h="412908">
                <a:tc>
                  <a:txBody>
                    <a:bodyPr/>
                    <a:lstStyle/>
                    <a:p>
                      <a:pPr algn="l"/>
                      <a:r>
                        <a:rPr lang="es-ES" sz="1800" b="1" i="0">
                          <a:solidFill>
                            <a:srgbClr val="FFFFFF"/>
                          </a:solidFill>
                          <a:latin typeface="Calibri"/>
                        </a:rPr>
                        <a:t>Elemento</a:t>
                      </a:r>
                    </a:p>
                  </a:txBody>
                  <a:tcPr marL="73152" marR="73152" marT="27432" marB="27432" anchor="ctr">
                    <a:solidFill>
                      <a:srgbClr val="1B2A4A"/>
                    </a:solidFill>
                  </a:tcPr>
                </a:tc>
                <a:tc>
                  <a:txBody>
                    <a:bodyPr/>
                    <a:lstStyle/>
                    <a:p>
                      <a:pPr algn="ctr"/>
                      <a:r>
                        <a:rPr lang="es-ES" sz="1800" b="1" i="0">
                          <a:solidFill>
                            <a:srgbClr val="FFFFFF"/>
                          </a:solidFill>
                          <a:latin typeface="Calibri"/>
                        </a:rPr>
                        <a:t>N</a:t>
                      </a:r>
                    </a:p>
                  </a:txBody>
                  <a:tcPr marL="73152" marR="73152" marT="27432" marB="27432" anchor="ctr">
                    <a:solidFill>
                      <a:srgbClr val="1B2A4A"/>
                    </a:solidFill>
                  </a:tcPr>
                </a:tc>
                <a:tc>
                  <a:txBody>
                    <a:bodyPr/>
                    <a:lstStyle/>
                    <a:p>
                      <a:pPr algn="ctr"/>
                      <a:r>
                        <a:rPr lang="es-ES" sz="1800" b="1" i="0">
                          <a:solidFill>
                            <a:srgbClr val="FFFFFF"/>
                          </a:solidFill>
                          <a:latin typeface="Calibri"/>
                        </a:rPr>
                        <a:t>GDL</a:t>
                      </a:r>
                    </a:p>
                  </a:txBody>
                  <a:tcPr marL="73152" marR="73152" marT="27432" marB="27432" anchor="ctr">
                    <a:solidFill>
                      <a:srgbClr val="1B2A4A"/>
                    </a:solidFill>
                  </a:tcPr>
                </a:tc>
                <a:tc>
                  <a:txBody>
                    <a:bodyPr/>
                    <a:lstStyle/>
                    <a:p>
                      <a:pPr algn="ctr"/>
                      <a:r>
                        <a:rPr lang="es-ES" sz="1800" b="1" i="0">
                          <a:solidFill>
                            <a:srgbClr val="FFFFFF"/>
                          </a:solidFill>
                          <a:latin typeface="Calibri"/>
                        </a:rPr>
                        <a:t>uy en (48, 52)</a:t>
                      </a:r>
                    </a:p>
                  </a:txBody>
                  <a:tcPr marL="73152" marR="73152" marT="27432" marB="27432" anchor="ctr">
                    <a:solidFill>
                      <a:srgbClr val="1B2A4A"/>
                    </a:solidFill>
                  </a:tcPr>
                </a:tc>
                <a:tc>
                  <a:txBody>
                    <a:bodyPr/>
                    <a:lstStyle/>
                    <a:p>
                      <a:pPr algn="ctr"/>
                      <a:r>
                        <a:rPr lang="es-ES" sz="1800" b="1" i="0">
                          <a:solidFill>
                            <a:srgbClr val="FFFFFF"/>
                          </a:solidFill>
                          <a:latin typeface="Calibri"/>
                        </a:rPr>
                        <a:t>Error (%)</a:t>
                      </a:r>
                    </a:p>
                  </a:txBody>
                  <a:tcPr marL="73152" marR="73152" marT="27432" marB="27432" anchor="ctr">
                    <a:solidFill>
                      <a:srgbClr val="1B2A4A"/>
                    </a:solidFill>
                  </a:tcPr>
                </a:tc>
                <a:extLst>
                  <a:ext uri="{0D108BD9-81ED-4DB2-BD59-A6C34878D82A}">
                    <a16:rowId xmlns:a16="http://schemas.microsoft.com/office/drawing/2014/main" val="10000"/>
                  </a:ext>
                </a:extLst>
              </a:tr>
              <a:tr h="412908">
                <a:tc>
                  <a:txBody>
                    <a:bodyPr/>
                    <a:lstStyle/>
                    <a:p>
                      <a:pPr algn="l"/>
                      <a:r>
                        <a:rPr lang="es-ES" sz="1800" b="1" i="0">
                          <a:solidFill>
                            <a:srgbClr val="1F2937"/>
                          </a:solidFill>
                          <a:latin typeface="Calibri"/>
                        </a:rPr>
                        <a:t>Q4</a:t>
                      </a:r>
                    </a:p>
                  </a:txBody>
                  <a:tcPr marL="73152" marR="73152" marT="27432" marB="27432" anchor="ctr">
                    <a:solidFill>
                      <a:srgbClr val="FFFFFF"/>
                    </a:solidFill>
                  </a:tcPr>
                </a:tc>
                <a:tc>
                  <a:txBody>
                    <a:bodyPr/>
                    <a:lstStyle/>
                    <a:p>
                      <a:pPr algn="ctr"/>
                      <a:r>
                        <a:rPr lang="es-ES" sz="1800" b="0" i="0">
                          <a:solidFill>
                            <a:srgbClr val="1F2937"/>
                          </a:solidFill>
                          <a:latin typeface="Calibri"/>
                        </a:rPr>
                        <a:t>2</a:t>
                      </a:r>
                    </a:p>
                  </a:txBody>
                  <a:tcPr marL="73152" marR="73152" marT="27432" marB="27432" anchor="ctr">
                    <a:solidFill>
                      <a:srgbClr val="FFFFFF"/>
                    </a:solidFill>
                  </a:tcPr>
                </a:tc>
                <a:tc>
                  <a:txBody>
                    <a:bodyPr/>
                    <a:lstStyle/>
                    <a:p>
                      <a:pPr algn="ctr"/>
                      <a:r>
                        <a:rPr lang="es-ES" sz="1800" b="0" i="0">
                          <a:solidFill>
                            <a:srgbClr val="1F2937"/>
                          </a:solidFill>
                          <a:latin typeface="Calibri"/>
                        </a:rPr>
                        <a:t>18</a:t>
                      </a:r>
                    </a:p>
                  </a:txBody>
                  <a:tcPr marL="73152" marR="73152" marT="27432" marB="27432" anchor="ctr">
                    <a:solidFill>
                      <a:srgbClr val="FFFFFF"/>
                    </a:solidFill>
                  </a:tcPr>
                </a:tc>
                <a:tc>
                  <a:txBody>
                    <a:bodyPr/>
                    <a:lstStyle/>
                    <a:p>
                      <a:pPr algn="ctr"/>
                      <a:r>
                        <a:rPr lang="es-ES" sz="1800" b="0" i="0">
                          <a:solidFill>
                            <a:srgbClr val="1F2937"/>
                          </a:solidFill>
                          <a:latin typeface="Calibri"/>
                        </a:rPr>
                        <a:t>11,845</a:t>
                      </a:r>
                    </a:p>
                  </a:txBody>
                  <a:tcPr marL="73152" marR="73152" marT="27432" marB="27432" anchor="ctr">
                    <a:solidFill>
                      <a:srgbClr val="FFFFFF"/>
                    </a:solidFill>
                  </a:tcPr>
                </a:tc>
                <a:tc>
                  <a:txBody>
                    <a:bodyPr/>
                    <a:lstStyle/>
                    <a:p>
                      <a:pPr algn="ctr"/>
                      <a:r>
                        <a:rPr lang="es-ES" sz="1800" b="0" i="0">
                          <a:solidFill>
                            <a:srgbClr val="1F2937"/>
                          </a:solidFill>
                          <a:latin typeface="Calibri"/>
                        </a:rPr>
                        <a:t>−50,563</a:t>
                      </a:r>
                    </a:p>
                  </a:txBody>
                  <a:tcPr marL="73152" marR="73152" marT="27432" marB="27432" anchor="ctr">
                    <a:solidFill>
                      <a:srgbClr val="FFFFFF"/>
                    </a:solidFill>
                  </a:tcPr>
                </a:tc>
                <a:extLst>
                  <a:ext uri="{0D108BD9-81ED-4DB2-BD59-A6C34878D82A}">
                    <a16:rowId xmlns:a16="http://schemas.microsoft.com/office/drawing/2014/main" val="10001"/>
                  </a:ext>
                </a:extLst>
              </a:tr>
              <a:tr h="412908">
                <a:tc>
                  <a:txBody>
                    <a:bodyPr/>
                    <a:lstStyle/>
                    <a:p>
                      <a:pPr algn="l"/>
                      <a:r>
                        <a:rPr lang="es-ES" sz="1800" b="1" i="0">
                          <a:solidFill>
                            <a:srgbClr val="1F2937"/>
                          </a:solidFill>
                          <a:latin typeface="Calibri"/>
                        </a:rPr>
                        <a:t>Q4</a:t>
                      </a:r>
                    </a:p>
                  </a:txBody>
                  <a:tcPr marL="73152" marR="73152" marT="27432" marB="27432" anchor="ctr">
                    <a:solidFill>
                      <a:srgbClr val="F6F8FC"/>
                    </a:solidFill>
                  </a:tcPr>
                </a:tc>
                <a:tc>
                  <a:txBody>
                    <a:bodyPr/>
                    <a:lstStyle/>
                    <a:p>
                      <a:pPr algn="ctr"/>
                      <a:r>
                        <a:rPr lang="es-ES" sz="1800" b="0" i="0">
                          <a:solidFill>
                            <a:srgbClr val="1F2937"/>
                          </a:solidFill>
                          <a:latin typeface="Calibri"/>
                        </a:rPr>
                        <a:t>8</a:t>
                      </a:r>
                    </a:p>
                  </a:txBody>
                  <a:tcPr marL="73152" marR="73152" marT="27432" marB="27432" anchor="ctr">
                    <a:solidFill>
                      <a:srgbClr val="F6F8FC"/>
                    </a:solidFill>
                  </a:tcPr>
                </a:tc>
                <a:tc>
                  <a:txBody>
                    <a:bodyPr/>
                    <a:lstStyle/>
                    <a:p>
                      <a:pPr algn="ctr"/>
                      <a:r>
                        <a:rPr lang="es-ES" sz="1800" b="0" i="0">
                          <a:solidFill>
                            <a:srgbClr val="1F2937"/>
                          </a:solidFill>
                          <a:latin typeface="Calibri"/>
                        </a:rPr>
                        <a:t>162</a:t>
                      </a:r>
                    </a:p>
                  </a:txBody>
                  <a:tcPr marL="73152" marR="73152" marT="27432" marB="27432" anchor="ctr">
                    <a:solidFill>
                      <a:srgbClr val="F6F8FC"/>
                    </a:solidFill>
                  </a:tcPr>
                </a:tc>
                <a:tc>
                  <a:txBody>
                    <a:bodyPr/>
                    <a:lstStyle/>
                    <a:p>
                      <a:pPr algn="ctr"/>
                      <a:r>
                        <a:rPr lang="es-ES" sz="1800" b="0" i="0">
                          <a:solidFill>
                            <a:srgbClr val="1F2937"/>
                          </a:solidFill>
                          <a:latin typeface="Calibri"/>
                        </a:rPr>
                        <a:t>22,079</a:t>
                      </a:r>
                    </a:p>
                  </a:txBody>
                  <a:tcPr marL="73152" marR="73152" marT="27432" marB="27432" anchor="ctr">
                    <a:solidFill>
                      <a:srgbClr val="F6F8FC"/>
                    </a:solidFill>
                  </a:tcPr>
                </a:tc>
                <a:tc>
                  <a:txBody>
                    <a:bodyPr/>
                    <a:lstStyle/>
                    <a:p>
                      <a:pPr algn="ctr"/>
                      <a:r>
                        <a:rPr lang="es-ES" sz="1800" b="0" i="0">
                          <a:solidFill>
                            <a:srgbClr val="1F2937"/>
                          </a:solidFill>
                          <a:latin typeface="Calibri"/>
                        </a:rPr>
                        <a:t>−7,850</a:t>
                      </a:r>
                    </a:p>
                  </a:txBody>
                  <a:tcPr marL="73152" marR="73152" marT="27432" marB="27432" anchor="ctr">
                    <a:solidFill>
                      <a:srgbClr val="F6F8FC"/>
                    </a:solidFill>
                  </a:tcPr>
                </a:tc>
                <a:extLst>
                  <a:ext uri="{0D108BD9-81ED-4DB2-BD59-A6C34878D82A}">
                    <a16:rowId xmlns:a16="http://schemas.microsoft.com/office/drawing/2014/main" val="10002"/>
                  </a:ext>
                </a:extLst>
              </a:tr>
              <a:tr h="412908">
                <a:tc>
                  <a:txBody>
                    <a:bodyPr/>
                    <a:lstStyle/>
                    <a:p>
                      <a:pPr algn="l"/>
                      <a:r>
                        <a:rPr lang="es-ES" sz="1800" b="1" i="0">
                          <a:solidFill>
                            <a:srgbClr val="1F2937"/>
                          </a:solidFill>
                          <a:latin typeface="Calibri"/>
                        </a:rPr>
                        <a:t>Q4</a:t>
                      </a:r>
                    </a:p>
                  </a:txBody>
                  <a:tcPr marL="73152" marR="73152" marT="27432" marB="27432" anchor="ctr">
                    <a:solidFill>
                      <a:srgbClr val="FFFFFF"/>
                    </a:solidFill>
                  </a:tcPr>
                </a:tc>
                <a:tc>
                  <a:txBody>
                    <a:bodyPr/>
                    <a:lstStyle/>
                    <a:p>
                      <a:pPr algn="ctr"/>
                      <a:r>
                        <a:rPr lang="es-ES" sz="1800" b="0" i="0">
                          <a:solidFill>
                            <a:srgbClr val="1F2937"/>
                          </a:solidFill>
                          <a:latin typeface="Calibri"/>
                        </a:rPr>
                        <a:t>32</a:t>
                      </a:r>
                    </a:p>
                  </a:txBody>
                  <a:tcPr marL="73152" marR="73152" marT="27432" marB="27432" anchor="ctr">
                    <a:solidFill>
                      <a:srgbClr val="FFFFFF"/>
                    </a:solidFill>
                  </a:tcPr>
                </a:tc>
                <a:tc>
                  <a:txBody>
                    <a:bodyPr/>
                    <a:lstStyle/>
                    <a:p>
                      <a:pPr algn="ctr"/>
                      <a:r>
                        <a:rPr lang="es-ES" sz="1800" b="0" i="0">
                          <a:solidFill>
                            <a:srgbClr val="1F2937"/>
                          </a:solidFill>
                          <a:latin typeface="Calibri"/>
                        </a:rPr>
                        <a:t>2178</a:t>
                      </a:r>
                    </a:p>
                  </a:txBody>
                  <a:tcPr marL="73152" marR="73152" marT="27432" marB="27432" anchor="ctr">
                    <a:solidFill>
                      <a:srgbClr val="FFFFFF"/>
                    </a:solidFill>
                  </a:tcPr>
                </a:tc>
                <a:tc>
                  <a:txBody>
                    <a:bodyPr/>
                    <a:lstStyle/>
                    <a:p>
                      <a:pPr algn="ctr"/>
                      <a:r>
                        <a:rPr lang="es-ES" sz="1800" b="0" i="0">
                          <a:solidFill>
                            <a:srgbClr val="1F2937"/>
                          </a:solidFill>
                          <a:latin typeface="Calibri"/>
                        </a:rPr>
                        <a:t>23,818</a:t>
                      </a:r>
                    </a:p>
                  </a:txBody>
                  <a:tcPr marL="73152" marR="73152" marT="27432" marB="27432" anchor="ctr">
                    <a:solidFill>
                      <a:srgbClr val="FFFFFF"/>
                    </a:solidFill>
                  </a:tcPr>
                </a:tc>
                <a:tc>
                  <a:txBody>
                    <a:bodyPr/>
                    <a:lstStyle/>
                    <a:p>
                      <a:pPr algn="ctr"/>
                      <a:r>
                        <a:rPr lang="es-ES" sz="1800" b="0" i="0">
                          <a:solidFill>
                            <a:srgbClr val="1F2937"/>
                          </a:solidFill>
                          <a:latin typeface="Calibri"/>
                        </a:rPr>
                        <a:t>−0,594</a:t>
                      </a:r>
                    </a:p>
                  </a:txBody>
                  <a:tcPr marL="73152" marR="73152" marT="27432" marB="27432" anchor="ctr">
                    <a:solidFill>
                      <a:srgbClr val="FFFFFF"/>
                    </a:solidFill>
                  </a:tcPr>
                </a:tc>
                <a:extLst>
                  <a:ext uri="{0D108BD9-81ED-4DB2-BD59-A6C34878D82A}">
                    <a16:rowId xmlns:a16="http://schemas.microsoft.com/office/drawing/2014/main" val="10003"/>
                  </a:ext>
                </a:extLst>
              </a:tr>
              <a:tr h="412908">
                <a:tc>
                  <a:txBody>
                    <a:bodyPr/>
                    <a:lstStyle/>
                    <a:p>
                      <a:pPr algn="l"/>
                      <a:r>
                        <a:rPr lang="es-ES" sz="1800" b="1" i="0">
                          <a:solidFill>
                            <a:srgbClr val="1F2937"/>
                          </a:solidFill>
                          <a:latin typeface="Calibri"/>
                        </a:rPr>
                        <a:t>Q9</a:t>
                      </a:r>
                    </a:p>
                  </a:txBody>
                  <a:tcPr marL="73152" marR="73152" marT="27432" marB="27432" anchor="ctr">
                    <a:solidFill>
                      <a:srgbClr val="F6F8FC"/>
                    </a:solidFill>
                  </a:tcPr>
                </a:tc>
                <a:tc>
                  <a:txBody>
                    <a:bodyPr/>
                    <a:lstStyle/>
                    <a:p>
                      <a:pPr algn="ctr"/>
                      <a:r>
                        <a:rPr lang="es-ES" sz="1800" b="0" i="0">
                          <a:solidFill>
                            <a:srgbClr val="1F2937"/>
                          </a:solidFill>
                          <a:latin typeface="Calibri"/>
                        </a:rPr>
                        <a:t>2</a:t>
                      </a:r>
                    </a:p>
                  </a:txBody>
                  <a:tcPr marL="73152" marR="73152" marT="27432" marB="27432" anchor="ctr">
                    <a:solidFill>
                      <a:srgbClr val="F6F8FC"/>
                    </a:solidFill>
                  </a:tcPr>
                </a:tc>
                <a:tc>
                  <a:txBody>
                    <a:bodyPr/>
                    <a:lstStyle/>
                    <a:p>
                      <a:pPr algn="ctr"/>
                      <a:r>
                        <a:rPr lang="es-ES" sz="1800" b="0" i="0">
                          <a:solidFill>
                            <a:srgbClr val="1F2937"/>
                          </a:solidFill>
                          <a:latin typeface="Calibri"/>
                        </a:rPr>
                        <a:t>50</a:t>
                      </a:r>
                    </a:p>
                  </a:txBody>
                  <a:tcPr marL="73152" marR="73152" marT="27432" marB="27432" anchor="ctr">
                    <a:solidFill>
                      <a:srgbClr val="F6F8FC"/>
                    </a:solidFill>
                  </a:tcPr>
                </a:tc>
                <a:tc>
                  <a:txBody>
                    <a:bodyPr/>
                    <a:lstStyle/>
                    <a:p>
                      <a:pPr algn="ctr"/>
                      <a:r>
                        <a:rPr lang="es-ES" sz="1800" b="0" i="0">
                          <a:solidFill>
                            <a:srgbClr val="1F2937"/>
                          </a:solidFill>
                          <a:latin typeface="Calibri"/>
                        </a:rPr>
                        <a:t>23,289</a:t>
                      </a:r>
                    </a:p>
                  </a:txBody>
                  <a:tcPr marL="73152" marR="73152" marT="27432" marB="27432" anchor="ctr">
                    <a:solidFill>
                      <a:srgbClr val="F6F8FC"/>
                    </a:solidFill>
                  </a:tcPr>
                </a:tc>
                <a:tc>
                  <a:txBody>
                    <a:bodyPr/>
                    <a:lstStyle/>
                    <a:p>
                      <a:pPr algn="ctr"/>
                      <a:r>
                        <a:rPr lang="es-ES" sz="1800" b="0" i="0">
                          <a:solidFill>
                            <a:srgbClr val="1F2937"/>
                          </a:solidFill>
                          <a:latin typeface="Calibri"/>
                        </a:rPr>
                        <a:t>−2,802</a:t>
                      </a:r>
                    </a:p>
                  </a:txBody>
                  <a:tcPr marL="73152" marR="73152" marT="27432" marB="27432" anchor="ctr">
                    <a:solidFill>
                      <a:srgbClr val="F6F8FC"/>
                    </a:solidFill>
                  </a:tcPr>
                </a:tc>
                <a:extLst>
                  <a:ext uri="{0D108BD9-81ED-4DB2-BD59-A6C34878D82A}">
                    <a16:rowId xmlns:a16="http://schemas.microsoft.com/office/drawing/2014/main" val="10004"/>
                  </a:ext>
                </a:extLst>
              </a:tr>
              <a:tr h="412908">
                <a:tc>
                  <a:txBody>
                    <a:bodyPr/>
                    <a:lstStyle/>
                    <a:p>
                      <a:pPr algn="l"/>
                      <a:r>
                        <a:rPr lang="es-ES" sz="1800" b="1" i="0">
                          <a:solidFill>
                            <a:srgbClr val="1F2937"/>
                          </a:solidFill>
                          <a:latin typeface="Calibri"/>
                        </a:rPr>
                        <a:t>Q9</a:t>
                      </a:r>
                    </a:p>
                  </a:txBody>
                  <a:tcPr marL="73152" marR="73152" marT="27432" marB="27432" anchor="ctr">
                    <a:solidFill>
                      <a:srgbClr val="FFFFFF"/>
                    </a:solidFill>
                  </a:tcPr>
                </a:tc>
                <a:tc>
                  <a:txBody>
                    <a:bodyPr/>
                    <a:lstStyle/>
                    <a:p>
                      <a:pPr algn="ctr"/>
                      <a:r>
                        <a:rPr lang="es-ES" sz="1800" b="0" i="0">
                          <a:solidFill>
                            <a:srgbClr val="1F2937"/>
                          </a:solidFill>
                          <a:latin typeface="Calibri"/>
                        </a:rPr>
                        <a:t>8</a:t>
                      </a:r>
                    </a:p>
                  </a:txBody>
                  <a:tcPr marL="73152" marR="73152" marT="27432" marB="27432" anchor="ctr">
                    <a:solidFill>
                      <a:srgbClr val="FFFFFF"/>
                    </a:solidFill>
                  </a:tcPr>
                </a:tc>
                <a:tc>
                  <a:txBody>
                    <a:bodyPr/>
                    <a:lstStyle/>
                    <a:p>
                      <a:pPr algn="ctr"/>
                      <a:r>
                        <a:rPr lang="es-ES" sz="1800" b="0" i="0">
                          <a:solidFill>
                            <a:srgbClr val="1F2937"/>
                          </a:solidFill>
                          <a:latin typeface="Calibri"/>
                        </a:rPr>
                        <a:t>578</a:t>
                      </a:r>
                    </a:p>
                  </a:txBody>
                  <a:tcPr marL="73152" marR="73152" marT="27432" marB="27432" anchor="ctr">
                    <a:solidFill>
                      <a:srgbClr val="FFFFFF"/>
                    </a:solidFill>
                  </a:tcPr>
                </a:tc>
                <a:tc>
                  <a:txBody>
                    <a:bodyPr/>
                    <a:lstStyle/>
                    <a:p>
                      <a:pPr algn="ctr"/>
                      <a:r>
                        <a:rPr lang="es-ES" sz="1800" b="0" i="0">
                          <a:solidFill>
                            <a:srgbClr val="1F2937"/>
                          </a:solidFill>
                          <a:latin typeface="Calibri"/>
                        </a:rPr>
                        <a:t>23,925</a:t>
                      </a:r>
                    </a:p>
                  </a:txBody>
                  <a:tcPr marL="73152" marR="73152" marT="27432" marB="27432" anchor="ctr">
                    <a:solidFill>
                      <a:srgbClr val="FFFFFF"/>
                    </a:solidFill>
                  </a:tcPr>
                </a:tc>
                <a:tc>
                  <a:txBody>
                    <a:bodyPr/>
                    <a:lstStyle/>
                    <a:p>
                      <a:pPr algn="ctr"/>
                      <a:r>
                        <a:rPr lang="es-ES" sz="1800" b="0" i="0">
                          <a:solidFill>
                            <a:srgbClr val="1F2937"/>
                          </a:solidFill>
                          <a:latin typeface="Calibri"/>
                        </a:rPr>
                        <a:t>−0,144</a:t>
                      </a:r>
                    </a:p>
                  </a:txBody>
                  <a:tcPr marL="73152" marR="73152" marT="27432" marB="27432" anchor="ctr">
                    <a:solidFill>
                      <a:srgbClr val="FFFFFF"/>
                    </a:solidFill>
                  </a:tcPr>
                </a:tc>
                <a:extLst>
                  <a:ext uri="{0D108BD9-81ED-4DB2-BD59-A6C34878D82A}">
                    <a16:rowId xmlns:a16="http://schemas.microsoft.com/office/drawing/2014/main" val="10005"/>
                  </a:ext>
                </a:extLst>
              </a:tr>
              <a:tr h="412908">
                <a:tc>
                  <a:txBody>
                    <a:bodyPr/>
                    <a:lstStyle/>
                    <a:p>
                      <a:pPr algn="l"/>
                      <a:r>
                        <a:rPr lang="es-ES" sz="1800" b="1" i="0">
                          <a:solidFill>
                            <a:srgbClr val="1F2937"/>
                          </a:solidFill>
                          <a:latin typeface="Calibri"/>
                        </a:rPr>
                        <a:t>Q9</a:t>
                      </a:r>
                    </a:p>
                  </a:txBody>
                  <a:tcPr marL="73152" marR="73152" marT="27432" marB="27432" anchor="ctr">
                    <a:solidFill>
                      <a:srgbClr val="F6F8FC"/>
                    </a:solidFill>
                  </a:tcPr>
                </a:tc>
                <a:tc>
                  <a:txBody>
                    <a:bodyPr/>
                    <a:lstStyle/>
                    <a:p>
                      <a:pPr algn="ctr"/>
                      <a:r>
                        <a:rPr lang="es-ES" sz="1800" b="0" i="0">
                          <a:solidFill>
                            <a:srgbClr val="1F2937"/>
                          </a:solidFill>
                          <a:latin typeface="Calibri"/>
                        </a:rPr>
                        <a:t>16</a:t>
                      </a:r>
                    </a:p>
                  </a:txBody>
                  <a:tcPr marL="73152" marR="73152" marT="27432" marB="27432" anchor="ctr">
                    <a:solidFill>
                      <a:srgbClr val="F6F8FC"/>
                    </a:solidFill>
                  </a:tcPr>
                </a:tc>
                <a:tc>
                  <a:txBody>
                    <a:bodyPr/>
                    <a:lstStyle/>
                    <a:p>
                      <a:pPr algn="ctr"/>
                      <a:r>
                        <a:rPr lang="es-ES" sz="1800" b="0" i="0">
                          <a:solidFill>
                            <a:srgbClr val="1F2937"/>
                          </a:solidFill>
                          <a:latin typeface="Calibri"/>
                        </a:rPr>
                        <a:t>2178</a:t>
                      </a:r>
                    </a:p>
                  </a:txBody>
                  <a:tcPr marL="73152" marR="73152" marT="27432" marB="27432" anchor="ctr">
                    <a:solidFill>
                      <a:srgbClr val="F6F8FC"/>
                    </a:solidFill>
                  </a:tcPr>
                </a:tc>
                <a:tc>
                  <a:txBody>
                    <a:bodyPr/>
                    <a:lstStyle/>
                    <a:p>
                      <a:pPr algn="ctr"/>
                      <a:r>
                        <a:rPr lang="es-ES" sz="1800" b="0" i="0">
                          <a:solidFill>
                            <a:srgbClr val="1F2937"/>
                          </a:solidFill>
                          <a:latin typeface="Calibri"/>
                        </a:rPr>
                        <a:t>23,949</a:t>
                      </a:r>
                    </a:p>
                  </a:txBody>
                  <a:tcPr marL="73152" marR="73152" marT="27432" marB="27432" anchor="ctr">
                    <a:solidFill>
                      <a:srgbClr val="F6F8FC"/>
                    </a:solidFill>
                  </a:tcPr>
                </a:tc>
                <a:tc>
                  <a:txBody>
                    <a:bodyPr/>
                    <a:lstStyle/>
                    <a:p>
                      <a:pPr algn="ctr"/>
                      <a:r>
                        <a:rPr lang="es-ES" sz="1800" b="0" i="0">
                          <a:solidFill>
                            <a:srgbClr val="1F2937"/>
                          </a:solidFill>
                          <a:latin typeface="Calibri"/>
                        </a:rPr>
                        <a:t>−0,044</a:t>
                      </a:r>
                    </a:p>
                  </a:txBody>
                  <a:tcPr marL="73152" marR="73152" marT="27432" marB="27432" anchor="ctr">
                    <a:solidFill>
                      <a:srgbClr val="F6F8FC"/>
                    </a:solidFill>
                  </a:tcPr>
                </a:tc>
                <a:extLst>
                  <a:ext uri="{0D108BD9-81ED-4DB2-BD59-A6C34878D82A}">
                    <a16:rowId xmlns:a16="http://schemas.microsoft.com/office/drawing/2014/main" val="10006"/>
                  </a:ext>
                </a:extLst>
              </a:tr>
              <a:tr h="412908">
                <a:tc>
                  <a:txBody>
                    <a:bodyPr/>
                    <a:lstStyle/>
                    <a:p>
                      <a:pPr algn="l"/>
                      <a:r>
                        <a:rPr lang="es-ES" sz="1800" b="1" i="0">
                          <a:solidFill>
                            <a:srgbClr val="1F2937"/>
                          </a:solidFill>
                          <a:latin typeface="Calibri"/>
                        </a:rPr>
                        <a:t>Q9</a:t>
                      </a:r>
                    </a:p>
                  </a:txBody>
                  <a:tcPr marL="73152" marR="73152" marT="27432" marB="27432" anchor="ctr">
                    <a:solidFill>
                      <a:srgbClr val="FFFFFF"/>
                    </a:solidFill>
                  </a:tcPr>
                </a:tc>
                <a:tc>
                  <a:txBody>
                    <a:bodyPr/>
                    <a:lstStyle/>
                    <a:p>
                      <a:pPr algn="ctr"/>
                      <a:r>
                        <a:rPr lang="es-ES" sz="1800" b="0" i="0">
                          <a:solidFill>
                            <a:srgbClr val="1F2937"/>
                          </a:solidFill>
                          <a:latin typeface="Calibri"/>
                        </a:rPr>
                        <a:t>32</a:t>
                      </a:r>
                    </a:p>
                  </a:txBody>
                  <a:tcPr marL="73152" marR="73152" marT="27432" marB="27432" anchor="ctr">
                    <a:solidFill>
                      <a:srgbClr val="FFFFFF"/>
                    </a:solidFill>
                  </a:tcPr>
                </a:tc>
                <a:tc>
                  <a:txBody>
                    <a:bodyPr/>
                    <a:lstStyle/>
                    <a:p>
                      <a:pPr algn="ctr"/>
                      <a:r>
                        <a:rPr lang="es-ES" sz="1800" b="0" i="0">
                          <a:solidFill>
                            <a:srgbClr val="1F2937"/>
                          </a:solidFill>
                          <a:latin typeface="Calibri"/>
                        </a:rPr>
                        <a:t>8450</a:t>
                      </a:r>
                    </a:p>
                  </a:txBody>
                  <a:tcPr marL="73152" marR="73152" marT="27432" marB="27432" anchor="ctr">
                    <a:solidFill>
                      <a:srgbClr val="FFFFFF"/>
                    </a:solidFill>
                  </a:tcPr>
                </a:tc>
                <a:tc>
                  <a:txBody>
                    <a:bodyPr/>
                    <a:lstStyle/>
                    <a:p>
                      <a:pPr algn="ctr"/>
                      <a:r>
                        <a:rPr lang="es-ES" sz="1800" b="0" i="0">
                          <a:solidFill>
                            <a:srgbClr val="1F2937"/>
                          </a:solidFill>
                          <a:latin typeface="Calibri"/>
                        </a:rPr>
                        <a:t>23,961</a:t>
                      </a:r>
                    </a:p>
                  </a:txBody>
                  <a:tcPr marL="73152" marR="73152" marT="27432" marB="27432" anchor="ctr">
                    <a:solidFill>
                      <a:srgbClr val="FFFFFF"/>
                    </a:solidFill>
                  </a:tcPr>
                </a:tc>
                <a:tc>
                  <a:txBody>
                    <a:bodyPr/>
                    <a:lstStyle/>
                    <a:p>
                      <a:pPr algn="ctr"/>
                      <a:r>
                        <a:rPr lang="es-ES" sz="1800" b="0" i="0">
                          <a:solidFill>
                            <a:srgbClr val="1F2937"/>
                          </a:solidFill>
                          <a:latin typeface="Calibri"/>
                        </a:rPr>
                        <a:t>+0,003</a:t>
                      </a:r>
                    </a:p>
                  </a:txBody>
                  <a:tcPr marL="73152" marR="73152" marT="27432" marB="27432" anchor="ctr">
                    <a:solidFill>
                      <a:srgbClr val="FFFFFF"/>
                    </a:solidFill>
                  </a:tcPr>
                </a:tc>
                <a:extLst>
                  <a:ext uri="{0D108BD9-81ED-4DB2-BD59-A6C34878D82A}">
                    <a16:rowId xmlns:a16="http://schemas.microsoft.com/office/drawing/2014/main" val="10007"/>
                  </a:ext>
                </a:extLst>
              </a:tr>
            </a:tbl>
          </a:graphicData>
        </a:graphic>
      </p:graphicFrame>
      <p:sp>
        <p:nvSpPr>
          <p:cNvPr id="14" name="Rectangle 13"/>
          <p:cNvSpPr/>
          <p:nvPr/>
        </p:nvSpPr>
        <p:spPr>
          <a:xfrm>
            <a:off x="566928" y="2417730"/>
            <a:ext cx="11057839" cy="41148"/>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Rectangle 14"/>
          <p:cNvSpPr/>
          <p:nvPr/>
        </p:nvSpPr>
        <p:spPr>
          <a:xfrm>
            <a:off x="566928" y="5449824"/>
            <a:ext cx="11057839" cy="841248"/>
          </a:xfrm>
          <a:prstGeom prst="rect">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Rectangle 15"/>
          <p:cNvSpPr/>
          <p:nvPr/>
        </p:nvSpPr>
        <p:spPr>
          <a:xfrm>
            <a:off x="566928" y="5449824"/>
            <a:ext cx="77724" cy="841248"/>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795528" y="5449824"/>
            <a:ext cx="10737799" cy="841248"/>
          </a:xfrm>
          <a:prstGeom prst="rect">
            <a:avLst/>
          </a:prstGeom>
          <a:noFill/>
        </p:spPr>
        <p:txBody>
          <a:bodyPr wrap="square" lIns="45720" tIns="27432" rIns="45720" bIns="27432" anchor="ctr">
            <a:noAutofit/>
          </a:bodyPr>
          <a:lstStyle/>
          <a:p>
            <a:pPr algn="l">
              <a:lnSpc>
                <a:spcPct val="100000"/>
              </a:lnSpc>
            </a:pPr>
            <a:r>
              <a:rPr lang="es-ES" sz="2000" b="1" i="0">
                <a:solidFill>
                  <a:srgbClr val="1B2A4A"/>
                </a:solidFill>
                <a:latin typeface="Calibri"/>
              </a:rPr>
              <a:t>La referencia 23,96 no es un dato exacto: la extrapolación de Richardson sobre la secuencia Q9 apunta a ≈ 23,97</a:t>
            </a:r>
          </a:p>
        </p:txBody>
      </p:sp>
      <p:sp>
        <p:nvSpPr>
          <p:cNvPr id="18" name="Rectangle 17"/>
          <p:cNvSpPr/>
          <p:nvPr/>
        </p:nvSpPr>
        <p:spPr>
          <a:xfrm>
            <a:off x="566928" y="6364224"/>
            <a:ext cx="11057839" cy="7315"/>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566928" y="6437376"/>
            <a:ext cx="5029200" cy="292608"/>
          </a:xfrm>
          <a:prstGeom prst="rect">
            <a:avLst/>
          </a:prstGeom>
          <a:noFill/>
        </p:spPr>
        <p:txBody>
          <a:bodyPr wrap="square" lIns="45720" tIns="27432" rIns="45720" bIns="27432" anchor="ctr">
            <a:noAutofit/>
          </a:bodyPr>
          <a:lstStyle/>
          <a:p>
            <a:pPr algn="l">
              <a:lnSpc>
                <a:spcPct val="105000"/>
              </a:lnSpc>
            </a:pPr>
            <a:r>
              <a:rPr lang="es-ES" sz="1200" b="0" i="0">
                <a:solidFill>
                  <a:srgbClr val="5B6575"/>
                </a:solidFill>
                <a:latin typeface="Calibri"/>
              </a:rPr>
              <a:t>EduFEM · Defensa de tesis · Ingeniería Civil · UATF</a:t>
            </a:r>
          </a:p>
        </p:txBody>
      </p:sp>
      <p:sp>
        <p:nvSpPr>
          <p:cNvPr id="20" name="TextBox 19"/>
          <p:cNvSpPr txBox="1"/>
          <p:nvPr/>
        </p:nvSpPr>
        <p:spPr>
          <a:xfrm>
            <a:off x="4023360" y="6437376"/>
            <a:ext cx="5394960" cy="292608"/>
          </a:xfrm>
          <a:prstGeom prst="rect">
            <a:avLst/>
          </a:prstGeom>
          <a:noFill/>
        </p:spPr>
        <p:txBody>
          <a:bodyPr wrap="square" lIns="45720" tIns="27432" rIns="45720" bIns="27432" anchor="ctr">
            <a:noAutofit/>
          </a:bodyPr>
          <a:lstStyle/>
          <a:p>
            <a:pPr algn="ctr">
              <a:lnSpc>
                <a:spcPct val="105000"/>
              </a:lnSpc>
            </a:pPr>
            <a:r>
              <a:rPr lang="es-ES" sz="1200" b="0" i="0">
                <a:solidFill>
                  <a:srgbClr val="5B6575"/>
                </a:solidFill>
                <a:latin typeface="Calibri"/>
              </a:rPr>
              <a:t>Tesis: §3.5, Tabla 3.4</a:t>
            </a:r>
          </a:p>
        </p:txBody>
      </p:sp>
      <p:sp>
        <p:nvSpPr>
          <p:cNvPr id="21" name="TextBox 20"/>
          <p:cNvSpPr txBox="1"/>
          <p:nvPr/>
        </p:nvSpPr>
        <p:spPr>
          <a:xfrm>
            <a:off x="10527487" y="6437376"/>
            <a:ext cx="1097280" cy="292608"/>
          </a:xfrm>
          <a:prstGeom prst="rect">
            <a:avLst/>
          </a:prstGeom>
          <a:noFill/>
        </p:spPr>
        <p:txBody>
          <a:bodyPr wrap="none" lIns="45720" tIns="18288" rIns="45720" bIns="18288">
            <a:spAutoFit/>
          </a:bodyPr>
          <a:lstStyle/>
          <a:p>
            <a:pPr algn="r"/>
            <a:fld id="{B6F15528-21DE-4FAA-801E-634DDDAF4B2B}" type="slidenum">
              <a:rPr lang="es-ES" sz="1200" dirty="0">
                <a:solidFill>
                  <a:srgbClr val="5B6575"/>
                </a:solidFill>
                <a:latin typeface="Calibri"/>
              </a:rPr>
              <a:t>29</a:t>
            </a:fld>
            <a:endParaRPr lang="es-ES" sz="1200" dirty="0">
              <a:solidFill>
                <a:srgbClr val="5B6575"/>
              </a:solidFill>
              <a:latin typeface="Calibri"/>
            </a:endParaRPr>
          </a:p>
        </p:txBody>
      </p:sp>
      <p:pic>
        <p:nvPicPr>
          <p:cNvPr id="22" name="s29">
            <a:hlinkClick r:id="" action="ppaction://media"/>
            <a:extLst>
              <a:ext uri="{FF2B5EF4-FFF2-40B4-BE49-F238E27FC236}">
                <a16:creationId xmlns:a16="http://schemas.microsoft.com/office/drawing/2014/main" id="{910DCAF2-FFE5-D5D2-8E63-C24F294EF4B3}"/>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254000" y="254000"/>
            <a:ext cx="508000" cy="508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6808"/>
    </mc:Choice>
    <mc:Fallback>
      <p:transition spd="slow" advTm="46808"/>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22"/>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22"/>
                </p:tgtEl>
              </p:cMediaNode>
            </p:audio>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566928" y="361188"/>
            <a:ext cx="50292" cy="173736"/>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TextBox 2"/>
          <p:cNvSpPr txBox="1"/>
          <p:nvPr/>
        </p:nvSpPr>
        <p:spPr>
          <a:xfrm>
            <a:off x="704088" y="310896"/>
            <a:ext cx="6766560" cy="274320"/>
          </a:xfrm>
          <a:prstGeom prst="rect">
            <a:avLst/>
          </a:prstGeom>
          <a:noFill/>
        </p:spPr>
        <p:txBody>
          <a:bodyPr wrap="square" lIns="45720" tIns="27432" rIns="45720" bIns="27432" anchor="ctr">
            <a:noAutofit/>
          </a:bodyPr>
          <a:lstStyle/>
          <a:p>
            <a:pPr algn="l">
              <a:lnSpc>
                <a:spcPct val="105000"/>
              </a:lnSpc>
            </a:pPr>
            <a:r>
              <a:rPr lang="es-ES" sz="1200" b="1" i="0" spc="80">
                <a:solidFill>
                  <a:srgbClr val="F28C28"/>
                </a:solidFill>
                <a:latin typeface="Calibri"/>
              </a:rPr>
              <a:t>04   PRESENTACIÓN DE RESULTADOS</a:t>
            </a:r>
          </a:p>
        </p:txBody>
      </p:sp>
      <p:sp>
        <p:nvSpPr>
          <p:cNvPr id="4" name="Oval 3"/>
          <p:cNvSpPr/>
          <p:nvPr/>
        </p:nvSpPr>
        <p:spPr>
          <a:xfrm>
            <a:off x="10413187" y="388620"/>
            <a:ext cx="114300" cy="1143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Oval 4"/>
          <p:cNvSpPr/>
          <p:nvPr/>
        </p:nvSpPr>
        <p:spPr>
          <a:xfrm>
            <a:off x="10632643" y="388620"/>
            <a:ext cx="114300" cy="1143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Oval 5"/>
          <p:cNvSpPr/>
          <p:nvPr/>
        </p:nvSpPr>
        <p:spPr>
          <a:xfrm>
            <a:off x="10852099" y="388620"/>
            <a:ext cx="114300" cy="1143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Oval 6"/>
          <p:cNvSpPr/>
          <p:nvPr/>
        </p:nvSpPr>
        <p:spPr>
          <a:xfrm>
            <a:off x="11039551" y="356616"/>
            <a:ext cx="178308" cy="178308"/>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Oval 7"/>
          <p:cNvSpPr/>
          <p:nvPr/>
        </p:nvSpPr>
        <p:spPr>
          <a:xfrm>
            <a:off x="11291011"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Oval 8"/>
          <p:cNvSpPr/>
          <p:nvPr/>
        </p:nvSpPr>
        <p:spPr>
          <a:xfrm>
            <a:off x="11510467"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548640" y="585216"/>
            <a:ext cx="11057839" cy="749808"/>
          </a:xfrm>
          <a:prstGeom prst="rect">
            <a:avLst/>
          </a:prstGeom>
          <a:noFill/>
        </p:spPr>
        <p:txBody>
          <a:bodyPr wrap="square" lIns="45720" tIns="27432" rIns="45720" bIns="27432" anchor="ctr">
            <a:noAutofit/>
          </a:bodyPr>
          <a:lstStyle/>
          <a:p>
            <a:pPr algn="l">
              <a:lnSpc>
                <a:spcPct val="105000"/>
              </a:lnSpc>
            </a:pPr>
            <a:r>
              <a:rPr lang="es-ES" sz="3200" b="1" i="0">
                <a:solidFill>
                  <a:srgbClr val="1B2A4A"/>
                </a:solidFill>
                <a:latin typeface="Calibri"/>
              </a:rPr>
              <a:t>El canal expuesto: siete módulos, nueve etapas</a:t>
            </a:r>
          </a:p>
        </p:txBody>
      </p:sp>
      <p:sp>
        <p:nvSpPr>
          <p:cNvPr id="11" name="Rectangle 10"/>
          <p:cNvSpPr/>
          <p:nvPr/>
        </p:nvSpPr>
        <p:spPr>
          <a:xfrm>
            <a:off x="566928" y="1371600"/>
            <a:ext cx="1051560" cy="50292"/>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Rounded Rectangle 11"/>
          <p:cNvSpPr/>
          <p:nvPr/>
        </p:nvSpPr>
        <p:spPr>
          <a:xfrm>
            <a:off x="566927" y="2138515"/>
            <a:ext cx="11057839" cy="2160345"/>
          </a:xfrm>
          <a:prstGeom prst="roundRect">
            <a:avLst>
              <a:gd name="adj" fmla="val 4000"/>
            </a:avLst>
          </a:prstGeom>
          <a:solidFill>
            <a:srgbClr val="F6F8FC"/>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3" name="Picture 12" descr="fig_fases_lienzo_ancho.png"/>
          <p:cNvPicPr>
            <a:picLocks noChangeAspect="1"/>
          </p:cNvPicPr>
          <p:nvPr/>
        </p:nvPicPr>
        <p:blipFill>
          <a:blip r:embed="rId5"/>
          <a:stretch>
            <a:fillRect/>
          </a:stretch>
        </p:blipFill>
        <p:spPr>
          <a:xfrm>
            <a:off x="685799" y="2257387"/>
            <a:ext cx="10820095" cy="1922601"/>
          </a:xfrm>
          <a:prstGeom prst="rect">
            <a:avLst/>
          </a:prstGeom>
        </p:spPr>
      </p:pic>
      <p:sp>
        <p:nvSpPr>
          <p:cNvPr id="14" name="TextBox 13"/>
          <p:cNvSpPr txBox="1"/>
          <p:nvPr/>
        </p:nvSpPr>
        <p:spPr>
          <a:xfrm>
            <a:off x="566928" y="4234852"/>
            <a:ext cx="11057839" cy="457200"/>
          </a:xfrm>
          <a:prstGeom prst="rect">
            <a:avLst/>
          </a:prstGeom>
          <a:noFill/>
        </p:spPr>
        <p:txBody>
          <a:bodyPr wrap="square" lIns="45720" tIns="27432" rIns="45720" bIns="27432" anchor="t">
            <a:noAutofit/>
          </a:bodyPr>
          <a:lstStyle/>
          <a:p>
            <a:pPr algn="ctr">
              <a:lnSpc>
                <a:spcPct val="105000"/>
              </a:lnSpc>
            </a:pPr>
            <a:r>
              <a:rPr lang="es-ES" sz="1600" b="0" i="1">
                <a:solidFill>
                  <a:srgbClr val="5B6575"/>
                </a:solidFill>
                <a:latin typeface="Calibri"/>
              </a:rPr>
              <a:t>Las tres fases sobre el mismo lienzo y el mismo modelo (ejemplo canónico: 9 nodos, 4 elementos Q4)</a:t>
            </a:r>
          </a:p>
        </p:txBody>
      </p:sp>
      <p:sp>
        <p:nvSpPr>
          <p:cNvPr id="15" name="Rectangle 14"/>
          <p:cNvSpPr/>
          <p:nvPr/>
        </p:nvSpPr>
        <p:spPr>
          <a:xfrm>
            <a:off x="566928" y="5449824"/>
            <a:ext cx="11057839" cy="841248"/>
          </a:xfrm>
          <a:prstGeom prst="rect">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Rectangle 15"/>
          <p:cNvSpPr/>
          <p:nvPr/>
        </p:nvSpPr>
        <p:spPr>
          <a:xfrm>
            <a:off x="566928" y="5449824"/>
            <a:ext cx="77724" cy="841248"/>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795528" y="5449824"/>
            <a:ext cx="10737799" cy="841248"/>
          </a:xfrm>
          <a:prstGeom prst="rect">
            <a:avLst/>
          </a:prstGeom>
          <a:noFill/>
        </p:spPr>
        <p:txBody>
          <a:bodyPr wrap="square" lIns="45720" tIns="27432" rIns="45720" bIns="27432" anchor="ctr">
            <a:noAutofit/>
          </a:bodyPr>
          <a:lstStyle/>
          <a:p>
            <a:pPr algn="l">
              <a:lnSpc>
                <a:spcPct val="100000"/>
              </a:lnSpc>
            </a:pPr>
            <a:r>
              <a:rPr lang="es-ES" sz="2000" b="1" i="0">
                <a:solidFill>
                  <a:srgbClr val="1B2A4A"/>
                </a:solidFill>
                <a:latin typeface="Calibri"/>
              </a:rPr>
              <a:t>7/7 etapas con módulo interactivo · 9/9 con desarrollo numérico en la memoria · tres fases, un solo lienzo</a:t>
            </a:r>
          </a:p>
        </p:txBody>
      </p:sp>
      <p:sp>
        <p:nvSpPr>
          <p:cNvPr id="18" name="Rectangle 17"/>
          <p:cNvSpPr/>
          <p:nvPr/>
        </p:nvSpPr>
        <p:spPr>
          <a:xfrm>
            <a:off x="566928" y="6364224"/>
            <a:ext cx="11057839" cy="7315"/>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566928" y="6437376"/>
            <a:ext cx="5029200" cy="292608"/>
          </a:xfrm>
          <a:prstGeom prst="rect">
            <a:avLst/>
          </a:prstGeom>
          <a:noFill/>
        </p:spPr>
        <p:txBody>
          <a:bodyPr wrap="square" lIns="45720" tIns="27432" rIns="45720" bIns="27432" anchor="ctr">
            <a:noAutofit/>
          </a:bodyPr>
          <a:lstStyle/>
          <a:p>
            <a:pPr algn="l">
              <a:lnSpc>
                <a:spcPct val="105000"/>
              </a:lnSpc>
            </a:pPr>
            <a:r>
              <a:rPr lang="es-ES" sz="1200" b="0" i="0">
                <a:solidFill>
                  <a:srgbClr val="5B6575"/>
                </a:solidFill>
                <a:latin typeface="Calibri"/>
              </a:rPr>
              <a:t>EduFEM · Defensa de tesis · Ingeniería Civil · UATF</a:t>
            </a:r>
          </a:p>
        </p:txBody>
      </p:sp>
      <p:sp>
        <p:nvSpPr>
          <p:cNvPr id="20" name="TextBox 19"/>
          <p:cNvSpPr txBox="1"/>
          <p:nvPr/>
        </p:nvSpPr>
        <p:spPr>
          <a:xfrm>
            <a:off x="4023360" y="6437376"/>
            <a:ext cx="5394960" cy="292608"/>
          </a:xfrm>
          <a:prstGeom prst="rect">
            <a:avLst/>
          </a:prstGeom>
          <a:noFill/>
        </p:spPr>
        <p:txBody>
          <a:bodyPr wrap="square" lIns="45720" tIns="27432" rIns="45720" bIns="27432" anchor="ctr">
            <a:noAutofit/>
          </a:bodyPr>
          <a:lstStyle/>
          <a:p>
            <a:pPr algn="ctr">
              <a:lnSpc>
                <a:spcPct val="105000"/>
              </a:lnSpc>
            </a:pPr>
            <a:r>
              <a:rPr lang="es-ES" sz="1200" b="0" i="0">
                <a:solidFill>
                  <a:srgbClr val="5B6575"/>
                </a:solidFill>
                <a:latin typeface="Calibri"/>
              </a:rPr>
              <a:t>Tesis: §3.6, Tabla 3.6 y Figura 3.5</a:t>
            </a:r>
          </a:p>
        </p:txBody>
      </p:sp>
      <p:sp>
        <p:nvSpPr>
          <p:cNvPr id="21" name="TextBox 20"/>
          <p:cNvSpPr txBox="1"/>
          <p:nvPr/>
        </p:nvSpPr>
        <p:spPr>
          <a:xfrm>
            <a:off x="10527487" y="6437376"/>
            <a:ext cx="1097280" cy="292608"/>
          </a:xfrm>
          <a:prstGeom prst="rect">
            <a:avLst/>
          </a:prstGeom>
          <a:noFill/>
        </p:spPr>
        <p:txBody>
          <a:bodyPr wrap="none" lIns="45720" tIns="18288" rIns="45720" bIns="18288">
            <a:spAutoFit/>
          </a:bodyPr>
          <a:lstStyle/>
          <a:p>
            <a:pPr algn="r"/>
            <a:fld id="{B6F15528-21DE-4FAA-801E-634DDDAF4B2B}" type="slidenum">
              <a:rPr lang="es-ES" sz="1200" dirty="0">
                <a:solidFill>
                  <a:srgbClr val="5B6575"/>
                </a:solidFill>
                <a:latin typeface="Calibri"/>
              </a:rPr>
              <a:t>30</a:t>
            </a:fld>
            <a:endParaRPr lang="es-ES" sz="1200" dirty="0">
              <a:solidFill>
                <a:srgbClr val="5B6575"/>
              </a:solidFill>
              <a:latin typeface="Calibri"/>
            </a:endParaRPr>
          </a:p>
        </p:txBody>
      </p:sp>
      <p:pic>
        <p:nvPicPr>
          <p:cNvPr id="22" name="s30">
            <a:hlinkClick r:id="" action="ppaction://media"/>
            <a:extLst>
              <a:ext uri="{FF2B5EF4-FFF2-40B4-BE49-F238E27FC236}">
                <a16:creationId xmlns:a16="http://schemas.microsoft.com/office/drawing/2014/main" id="{F39969C1-9790-114A-2D34-F78A386DB045}"/>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254000" y="254000"/>
            <a:ext cx="508000" cy="508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9528"/>
    </mc:Choice>
    <mc:Fallback>
      <p:transition spd="slow" advTm="59528"/>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22"/>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22"/>
                </p:tgtEl>
              </p:cMediaNode>
            </p:audio>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0E182E"/>
        </a:solidFill>
        <a:effectLst/>
      </p:bgPr>
    </p:bg>
    <p:spTree>
      <p:nvGrpSpPr>
        <p:cNvPr id="1" name=""/>
        <p:cNvGrpSpPr/>
        <p:nvPr/>
      </p:nvGrpSpPr>
      <p:grpSpPr>
        <a:xfrm>
          <a:off x="0" y="0"/>
          <a:ext cx="0" cy="0"/>
          <a:chOff x="0" y="0"/>
          <a:chExt cx="0" cy="0"/>
        </a:xfrm>
      </p:grpSpPr>
      <p:sp>
        <p:nvSpPr>
          <p:cNvPr id="2" name="Rectangle 1"/>
          <p:cNvSpPr/>
          <p:nvPr/>
        </p:nvSpPr>
        <p:spPr>
          <a:xfrm>
            <a:off x="8183879" y="960120"/>
            <a:ext cx="3611880" cy="10972"/>
          </a:xfrm>
          <a:prstGeom prst="rect">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Rectangle 2"/>
          <p:cNvSpPr/>
          <p:nvPr/>
        </p:nvSpPr>
        <p:spPr>
          <a:xfrm>
            <a:off x="8183879" y="1859280"/>
            <a:ext cx="3611880" cy="10972"/>
          </a:xfrm>
          <a:prstGeom prst="rect">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Rectangle 3"/>
          <p:cNvSpPr/>
          <p:nvPr/>
        </p:nvSpPr>
        <p:spPr>
          <a:xfrm>
            <a:off x="8183879" y="2758440"/>
            <a:ext cx="3611880" cy="10972"/>
          </a:xfrm>
          <a:prstGeom prst="rect">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Rectangle 4"/>
          <p:cNvSpPr/>
          <p:nvPr/>
        </p:nvSpPr>
        <p:spPr>
          <a:xfrm>
            <a:off x="8183879" y="3657600"/>
            <a:ext cx="3611880" cy="10972"/>
          </a:xfrm>
          <a:prstGeom prst="rect">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Rectangle 5"/>
          <p:cNvSpPr/>
          <p:nvPr/>
        </p:nvSpPr>
        <p:spPr>
          <a:xfrm>
            <a:off x="8183879" y="960120"/>
            <a:ext cx="10972" cy="2697480"/>
          </a:xfrm>
          <a:prstGeom prst="rect">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Rectangle 6"/>
          <p:cNvSpPr/>
          <p:nvPr/>
        </p:nvSpPr>
        <p:spPr>
          <a:xfrm>
            <a:off x="9086850" y="960120"/>
            <a:ext cx="10972" cy="2697480"/>
          </a:xfrm>
          <a:prstGeom prst="rect">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Rectangle 7"/>
          <p:cNvSpPr/>
          <p:nvPr/>
        </p:nvSpPr>
        <p:spPr>
          <a:xfrm>
            <a:off x="9989819" y="960120"/>
            <a:ext cx="10972" cy="2697480"/>
          </a:xfrm>
          <a:prstGeom prst="rect">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Rectangle 8"/>
          <p:cNvSpPr/>
          <p:nvPr/>
        </p:nvSpPr>
        <p:spPr>
          <a:xfrm>
            <a:off x="10892790" y="960120"/>
            <a:ext cx="10972" cy="2697480"/>
          </a:xfrm>
          <a:prstGeom prst="rect">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Rectangle 9"/>
          <p:cNvSpPr/>
          <p:nvPr/>
        </p:nvSpPr>
        <p:spPr>
          <a:xfrm>
            <a:off x="11795759" y="960120"/>
            <a:ext cx="10972" cy="2697480"/>
          </a:xfrm>
          <a:prstGeom prst="rect">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Oval 10"/>
          <p:cNvSpPr/>
          <p:nvPr/>
        </p:nvSpPr>
        <p:spPr>
          <a:xfrm>
            <a:off x="8145017" y="92125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Oval 11"/>
          <p:cNvSpPr/>
          <p:nvPr/>
        </p:nvSpPr>
        <p:spPr>
          <a:xfrm>
            <a:off x="9047988" y="92125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Oval 12"/>
          <p:cNvSpPr/>
          <p:nvPr/>
        </p:nvSpPr>
        <p:spPr>
          <a:xfrm>
            <a:off x="9950957" y="92125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Oval 13"/>
          <p:cNvSpPr/>
          <p:nvPr/>
        </p:nvSpPr>
        <p:spPr>
          <a:xfrm>
            <a:off x="10853928" y="92125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Oval 14"/>
          <p:cNvSpPr/>
          <p:nvPr/>
        </p:nvSpPr>
        <p:spPr>
          <a:xfrm>
            <a:off x="11756897" y="92125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Oval 15"/>
          <p:cNvSpPr/>
          <p:nvPr/>
        </p:nvSpPr>
        <p:spPr>
          <a:xfrm>
            <a:off x="8145017" y="182041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Oval 16"/>
          <p:cNvSpPr/>
          <p:nvPr/>
        </p:nvSpPr>
        <p:spPr>
          <a:xfrm>
            <a:off x="9047988" y="182041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Oval 17"/>
          <p:cNvSpPr/>
          <p:nvPr/>
        </p:nvSpPr>
        <p:spPr>
          <a:xfrm>
            <a:off x="9950957" y="182041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Oval 18"/>
          <p:cNvSpPr/>
          <p:nvPr/>
        </p:nvSpPr>
        <p:spPr>
          <a:xfrm>
            <a:off x="10853928" y="182041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Oval 19"/>
          <p:cNvSpPr/>
          <p:nvPr/>
        </p:nvSpPr>
        <p:spPr>
          <a:xfrm>
            <a:off x="11756897" y="182041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Oval 20"/>
          <p:cNvSpPr/>
          <p:nvPr/>
        </p:nvSpPr>
        <p:spPr>
          <a:xfrm>
            <a:off x="8145017" y="271957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Oval 21"/>
          <p:cNvSpPr/>
          <p:nvPr/>
        </p:nvSpPr>
        <p:spPr>
          <a:xfrm>
            <a:off x="9047988" y="271957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Oval 22"/>
          <p:cNvSpPr/>
          <p:nvPr/>
        </p:nvSpPr>
        <p:spPr>
          <a:xfrm>
            <a:off x="9950957" y="271957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Oval 23"/>
          <p:cNvSpPr/>
          <p:nvPr/>
        </p:nvSpPr>
        <p:spPr>
          <a:xfrm>
            <a:off x="10853928" y="271957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Oval 24"/>
          <p:cNvSpPr/>
          <p:nvPr/>
        </p:nvSpPr>
        <p:spPr>
          <a:xfrm>
            <a:off x="11756897" y="271957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Oval 25"/>
          <p:cNvSpPr/>
          <p:nvPr/>
        </p:nvSpPr>
        <p:spPr>
          <a:xfrm>
            <a:off x="8145017" y="361873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Oval 26"/>
          <p:cNvSpPr/>
          <p:nvPr/>
        </p:nvSpPr>
        <p:spPr>
          <a:xfrm>
            <a:off x="9047988" y="361873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Oval 27"/>
          <p:cNvSpPr/>
          <p:nvPr/>
        </p:nvSpPr>
        <p:spPr>
          <a:xfrm>
            <a:off x="9950957" y="361873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Oval 28"/>
          <p:cNvSpPr/>
          <p:nvPr/>
        </p:nvSpPr>
        <p:spPr>
          <a:xfrm>
            <a:off x="10853928" y="361873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 name="Oval 29"/>
          <p:cNvSpPr/>
          <p:nvPr/>
        </p:nvSpPr>
        <p:spPr>
          <a:xfrm>
            <a:off x="11756897" y="361873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TextBox 30"/>
          <p:cNvSpPr txBox="1"/>
          <p:nvPr/>
        </p:nvSpPr>
        <p:spPr>
          <a:xfrm>
            <a:off x="731520" y="1417320"/>
            <a:ext cx="2194560" cy="1828800"/>
          </a:xfrm>
          <a:prstGeom prst="rect">
            <a:avLst/>
          </a:prstGeom>
          <a:noFill/>
        </p:spPr>
        <p:txBody>
          <a:bodyPr wrap="square" lIns="45720" tIns="27432" rIns="45720" bIns="27432" anchor="ctr">
            <a:noAutofit/>
          </a:bodyPr>
          <a:lstStyle/>
          <a:p>
            <a:pPr algn="l">
              <a:lnSpc>
                <a:spcPct val="105000"/>
              </a:lnSpc>
            </a:pPr>
            <a:r>
              <a:rPr lang="es-ES" sz="9600" b="1" i="0">
                <a:solidFill>
                  <a:srgbClr val="F28C28"/>
                </a:solidFill>
                <a:latin typeface="Calibri"/>
              </a:rPr>
              <a:t>05</a:t>
            </a:r>
          </a:p>
        </p:txBody>
      </p:sp>
      <p:sp>
        <p:nvSpPr>
          <p:cNvPr id="32" name="Rectangle 31"/>
          <p:cNvSpPr/>
          <p:nvPr/>
        </p:nvSpPr>
        <p:spPr>
          <a:xfrm>
            <a:off x="3063240" y="1691640"/>
            <a:ext cx="54864" cy="132588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 name="TextBox 32"/>
          <p:cNvSpPr txBox="1"/>
          <p:nvPr/>
        </p:nvSpPr>
        <p:spPr>
          <a:xfrm>
            <a:off x="3383280" y="1417320"/>
            <a:ext cx="8138160" cy="1188720"/>
          </a:xfrm>
          <a:prstGeom prst="rect">
            <a:avLst/>
          </a:prstGeom>
          <a:noFill/>
        </p:spPr>
        <p:txBody>
          <a:bodyPr wrap="square" lIns="45720" tIns="27432" rIns="45720" bIns="27432" anchor="ctr">
            <a:noAutofit/>
          </a:bodyPr>
          <a:lstStyle/>
          <a:p>
            <a:pPr algn="l">
              <a:lnSpc>
                <a:spcPct val="105000"/>
              </a:lnSpc>
            </a:pPr>
            <a:r>
              <a:rPr lang="es-ES" sz="4400" b="1" i="0">
                <a:solidFill>
                  <a:srgbClr val="FFFFFF"/>
                </a:solidFill>
                <a:latin typeface="Calibri"/>
              </a:rPr>
              <a:t>Análisis de resultados</a:t>
            </a:r>
          </a:p>
        </p:txBody>
      </p:sp>
      <p:sp>
        <p:nvSpPr>
          <p:cNvPr id="34" name="TextBox 33"/>
          <p:cNvSpPr txBox="1"/>
          <p:nvPr/>
        </p:nvSpPr>
        <p:spPr>
          <a:xfrm>
            <a:off x="3383280" y="2606040"/>
            <a:ext cx="8138160" cy="1280160"/>
          </a:xfrm>
          <a:prstGeom prst="rect">
            <a:avLst/>
          </a:prstGeom>
          <a:noFill/>
        </p:spPr>
        <p:txBody>
          <a:bodyPr wrap="square" lIns="45720" tIns="27432" rIns="45720" bIns="27432" anchor="t">
            <a:noAutofit/>
          </a:bodyPr>
          <a:lstStyle/>
          <a:p>
            <a:pPr algn="l">
              <a:lnSpc>
                <a:spcPct val="115000"/>
              </a:lnSpc>
            </a:pPr>
            <a:r>
              <a:rPr lang="es-ES" sz="2100" b="0" i="0">
                <a:solidFill>
                  <a:srgbClr val="C7D2E8"/>
                </a:solidFill>
                <a:latin typeface="Calibri"/>
              </a:rPr>
              <a:t>Qué aprende el alumno: Q4 frente a Q9, escalabilidad y alcance de la evidencia</a:t>
            </a:r>
          </a:p>
        </p:txBody>
      </p:sp>
      <p:sp>
        <p:nvSpPr>
          <p:cNvPr id="35" name="Rounded Rectangle 34"/>
          <p:cNvSpPr/>
          <p:nvPr/>
        </p:nvSpPr>
        <p:spPr>
          <a:xfrm>
            <a:off x="566928" y="5806440"/>
            <a:ext cx="1751533" cy="493776"/>
          </a:xfrm>
          <a:prstGeom prst="roundRect">
            <a:avLst>
              <a:gd name="adj" fmla="val 28000"/>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noAutofit/>
          </a:bodyPr>
          <a:lstStyle/>
          <a:p>
            <a:pPr algn="ctr">
              <a:lnSpc>
                <a:spcPct val="100000"/>
              </a:lnSpc>
            </a:pPr>
            <a:r>
              <a:rPr lang="es-ES" sz="1200" b="0" i="0">
                <a:solidFill>
                  <a:srgbClr val="FFFFFF"/>
                </a:solidFill>
                <a:latin typeface="Calibri"/>
              </a:rPr>
              <a:t>1. Introducción</a:t>
            </a:r>
          </a:p>
        </p:txBody>
      </p:sp>
      <p:sp>
        <p:nvSpPr>
          <p:cNvPr id="36" name="Rounded Rectangle 35"/>
          <p:cNvSpPr/>
          <p:nvPr/>
        </p:nvSpPr>
        <p:spPr>
          <a:xfrm>
            <a:off x="2428189" y="5806440"/>
            <a:ext cx="1751533" cy="493776"/>
          </a:xfrm>
          <a:prstGeom prst="roundRect">
            <a:avLst>
              <a:gd name="adj" fmla="val 28000"/>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noAutofit/>
          </a:bodyPr>
          <a:lstStyle/>
          <a:p>
            <a:pPr algn="ctr">
              <a:lnSpc>
                <a:spcPct val="100000"/>
              </a:lnSpc>
            </a:pPr>
            <a:r>
              <a:rPr lang="es-ES" sz="1200" b="0" i="0">
                <a:solidFill>
                  <a:srgbClr val="FFFFFF"/>
                </a:solidFill>
                <a:latin typeface="Calibri"/>
              </a:rPr>
              <a:t>2. Base teórica</a:t>
            </a:r>
          </a:p>
        </p:txBody>
      </p:sp>
      <p:sp>
        <p:nvSpPr>
          <p:cNvPr id="37" name="Rounded Rectangle 36"/>
          <p:cNvSpPr/>
          <p:nvPr/>
        </p:nvSpPr>
        <p:spPr>
          <a:xfrm>
            <a:off x="4289450" y="5806440"/>
            <a:ext cx="1751533" cy="493776"/>
          </a:xfrm>
          <a:prstGeom prst="roundRect">
            <a:avLst>
              <a:gd name="adj" fmla="val 28000"/>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noAutofit/>
          </a:bodyPr>
          <a:lstStyle/>
          <a:p>
            <a:pPr algn="ctr">
              <a:lnSpc>
                <a:spcPct val="100000"/>
              </a:lnSpc>
            </a:pPr>
            <a:r>
              <a:rPr lang="es-ES" sz="1200" b="0" i="0">
                <a:solidFill>
                  <a:srgbClr val="FFFFFF"/>
                </a:solidFill>
                <a:latin typeface="Calibri"/>
              </a:rPr>
              <a:t>3. Diseño y desarrollo del modelo</a:t>
            </a:r>
          </a:p>
        </p:txBody>
      </p:sp>
      <p:sp>
        <p:nvSpPr>
          <p:cNvPr id="38" name="Rounded Rectangle 37"/>
          <p:cNvSpPr/>
          <p:nvPr/>
        </p:nvSpPr>
        <p:spPr>
          <a:xfrm>
            <a:off x="6150711" y="5806440"/>
            <a:ext cx="1751533" cy="493776"/>
          </a:xfrm>
          <a:prstGeom prst="roundRect">
            <a:avLst>
              <a:gd name="adj" fmla="val 28000"/>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noAutofit/>
          </a:bodyPr>
          <a:lstStyle/>
          <a:p>
            <a:pPr algn="ctr">
              <a:lnSpc>
                <a:spcPct val="100000"/>
              </a:lnSpc>
            </a:pPr>
            <a:r>
              <a:rPr lang="es-ES" sz="1200" b="0" i="0">
                <a:solidFill>
                  <a:srgbClr val="FFFFFF"/>
                </a:solidFill>
                <a:latin typeface="Calibri"/>
              </a:rPr>
              <a:t>4. Presentación de resultados</a:t>
            </a:r>
          </a:p>
        </p:txBody>
      </p:sp>
      <p:sp>
        <p:nvSpPr>
          <p:cNvPr id="39" name="Rounded Rectangle 38"/>
          <p:cNvSpPr/>
          <p:nvPr/>
        </p:nvSpPr>
        <p:spPr>
          <a:xfrm>
            <a:off x="8011972" y="5806440"/>
            <a:ext cx="1751533" cy="493776"/>
          </a:xfrm>
          <a:prstGeom prst="roundRect">
            <a:avLst>
              <a:gd name="adj" fmla="val 28000"/>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noAutofit/>
          </a:bodyPr>
          <a:lstStyle/>
          <a:p>
            <a:pPr algn="ctr">
              <a:lnSpc>
                <a:spcPct val="100000"/>
              </a:lnSpc>
            </a:pPr>
            <a:r>
              <a:rPr lang="es-ES" sz="1200" b="1" i="0">
                <a:solidFill>
                  <a:srgbClr val="FFFFFF"/>
                </a:solidFill>
                <a:latin typeface="Calibri"/>
              </a:rPr>
              <a:t>5. Análisis de resultados</a:t>
            </a:r>
          </a:p>
        </p:txBody>
      </p:sp>
      <p:sp>
        <p:nvSpPr>
          <p:cNvPr id="40" name="Rounded Rectangle 39"/>
          <p:cNvSpPr/>
          <p:nvPr/>
        </p:nvSpPr>
        <p:spPr>
          <a:xfrm>
            <a:off x="9873233" y="5806440"/>
            <a:ext cx="1751533" cy="493776"/>
          </a:xfrm>
          <a:prstGeom prst="roundRect">
            <a:avLst>
              <a:gd name="adj" fmla="val 28000"/>
            </a:avLst>
          </a:prstGeom>
          <a:noFill/>
          <a:ln w="9525">
            <a:solidFill>
              <a:srgbClr val="2C3E63"/>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noAutofit/>
          </a:bodyPr>
          <a:lstStyle/>
          <a:p>
            <a:pPr algn="ctr">
              <a:lnSpc>
                <a:spcPct val="100000"/>
              </a:lnSpc>
            </a:pPr>
            <a:r>
              <a:rPr lang="es-ES" sz="1200" b="0" i="0">
                <a:solidFill>
                  <a:srgbClr val="C7D2E8"/>
                </a:solidFill>
                <a:latin typeface="Calibri"/>
              </a:rPr>
              <a:t>6. Conclusiones y recomendaciones</a:t>
            </a:r>
          </a:p>
        </p:txBody>
      </p:sp>
      <p:pic>
        <p:nvPicPr>
          <p:cNvPr id="41" name="s31">
            <a:hlinkClick r:id="" action="ppaction://media"/>
            <a:extLst>
              <a:ext uri="{FF2B5EF4-FFF2-40B4-BE49-F238E27FC236}">
                <a16:creationId xmlns:a16="http://schemas.microsoft.com/office/drawing/2014/main" id="{F821FA74-ECC9-9600-B4C1-DA182635C0C9}"/>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254000" y="254000"/>
            <a:ext cx="508000" cy="508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6776"/>
    </mc:Choice>
    <mc:Fallback>
      <p:transition spd="slow" advTm="6776"/>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1"/>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41"/>
                </p:tgtEl>
              </p:cMediaNode>
            </p:audio>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566928" y="361188"/>
            <a:ext cx="50292" cy="173736"/>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TextBox 2"/>
          <p:cNvSpPr txBox="1"/>
          <p:nvPr/>
        </p:nvSpPr>
        <p:spPr>
          <a:xfrm>
            <a:off x="704088" y="310896"/>
            <a:ext cx="6766560" cy="274320"/>
          </a:xfrm>
          <a:prstGeom prst="rect">
            <a:avLst/>
          </a:prstGeom>
          <a:noFill/>
        </p:spPr>
        <p:txBody>
          <a:bodyPr wrap="square" lIns="45720" tIns="27432" rIns="45720" bIns="27432" anchor="ctr">
            <a:noAutofit/>
          </a:bodyPr>
          <a:lstStyle/>
          <a:p>
            <a:pPr algn="l">
              <a:lnSpc>
                <a:spcPct val="105000"/>
              </a:lnSpc>
            </a:pPr>
            <a:r>
              <a:rPr lang="es-ES" sz="1200" b="1" i="0" spc="80">
                <a:solidFill>
                  <a:srgbClr val="F28C28"/>
                </a:solidFill>
                <a:latin typeface="Calibri"/>
              </a:rPr>
              <a:t>05   ANÁLISIS DE RESULTADOS</a:t>
            </a:r>
          </a:p>
        </p:txBody>
      </p:sp>
      <p:sp>
        <p:nvSpPr>
          <p:cNvPr id="4" name="Oval 3"/>
          <p:cNvSpPr/>
          <p:nvPr/>
        </p:nvSpPr>
        <p:spPr>
          <a:xfrm>
            <a:off x="10413187" y="388620"/>
            <a:ext cx="114300" cy="1143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Oval 4"/>
          <p:cNvSpPr/>
          <p:nvPr/>
        </p:nvSpPr>
        <p:spPr>
          <a:xfrm>
            <a:off x="10632643" y="388620"/>
            <a:ext cx="114300" cy="1143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Oval 5"/>
          <p:cNvSpPr/>
          <p:nvPr/>
        </p:nvSpPr>
        <p:spPr>
          <a:xfrm>
            <a:off x="10852099" y="388620"/>
            <a:ext cx="114300" cy="1143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Oval 6"/>
          <p:cNvSpPr/>
          <p:nvPr/>
        </p:nvSpPr>
        <p:spPr>
          <a:xfrm>
            <a:off x="11071555" y="388620"/>
            <a:ext cx="114300" cy="1143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Oval 7"/>
          <p:cNvSpPr/>
          <p:nvPr/>
        </p:nvSpPr>
        <p:spPr>
          <a:xfrm>
            <a:off x="11259007" y="356616"/>
            <a:ext cx="178308" cy="178308"/>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Oval 8"/>
          <p:cNvSpPr/>
          <p:nvPr/>
        </p:nvSpPr>
        <p:spPr>
          <a:xfrm>
            <a:off x="11510467"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548640" y="585216"/>
            <a:ext cx="11057839" cy="749808"/>
          </a:xfrm>
          <a:prstGeom prst="rect">
            <a:avLst/>
          </a:prstGeom>
          <a:noFill/>
        </p:spPr>
        <p:txBody>
          <a:bodyPr wrap="square" lIns="45720" tIns="27432" rIns="45720" bIns="27432" anchor="ctr">
            <a:noAutofit/>
          </a:bodyPr>
          <a:lstStyle/>
          <a:p>
            <a:pPr algn="l">
              <a:lnSpc>
                <a:spcPct val="105000"/>
              </a:lnSpc>
            </a:pPr>
            <a:r>
              <a:rPr lang="es-ES" sz="3200" b="1" i="0">
                <a:solidFill>
                  <a:srgbClr val="1B2A4A"/>
                </a:solidFill>
                <a:latin typeface="Calibri"/>
              </a:rPr>
              <a:t>Mismos GDL: Q9 trece veces más preciso</a:t>
            </a:r>
          </a:p>
        </p:txBody>
      </p:sp>
      <p:sp>
        <p:nvSpPr>
          <p:cNvPr id="11" name="Rectangle 10"/>
          <p:cNvSpPr/>
          <p:nvPr/>
        </p:nvSpPr>
        <p:spPr>
          <a:xfrm>
            <a:off x="566928" y="1371600"/>
            <a:ext cx="1051560" cy="50292"/>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612648" y="1618488"/>
            <a:ext cx="5257800" cy="3675888"/>
          </a:xfrm>
          <a:prstGeom prst="rect">
            <a:avLst/>
          </a:prstGeom>
          <a:noFill/>
        </p:spPr>
        <p:txBody>
          <a:bodyPr wrap="square" lIns="45720" tIns="27432" rIns="45720" bIns="27432" anchor="ctr">
            <a:noAutofit/>
          </a:bodyPr>
          <a:lstStyle/>
          <a:p>
            <a:pPr marL="347472" indent="-347472">
              <a:lnSpc>
                <a:spcPct val="112000"/>
              </a:lnSpc>
              <a:spcAft>
                <a:spcPts val="1200"/>
              </a:spcAft>
              <a:buClr>
                <a:srgbClr val="F28C28"/>
              </a:buClr>
              <a:buSzPct val="100000"/>
              <a:buFont typeface="Arial"/>
              <a:buChar char="•"/>
            </a:pPr>
            <a:r>
              <a:rPr lang="es-ES" sz="2200" b="1" i="0">
                <a:solidFill>
                  <a:srgbClr val="1B2A4A"/>
                </a:solidFill>
                <a:latin typeface="Calibri"/>
              </a:rPr>
              <a:t>Con 2178 GDL:</a:t>
            </a:r>
            <a:r>
              <a:rPr lang="es-ES" sz="2200" b="0" i="0">
                <a:solidFill>
                  <a:srgbClr val="1F2937"/>
                </a:solidFill>
                <a:latin typeface="Calibri"/>
              </a:rPr>
              <a:t> Q4 (N = 32) −0,594 % frente a Q9 (N = 16) −0,044 %</a:t>
            </a:r>
          </a:p>
          <a:p>
            <a:pPr marL="347472" indent="-347472">
              <a:lnSpc>
                <a:spcPct val="112000"/>
              </a:lnSpc>
              <a:spcAft>
                <a:spcPts val="1200"/>
              </a:spcAft>
              <a:buClr>
                <a:srgbClr val="F28C28"/>
              </a:buClr>
              <a:buSzPct val="100000"/>
              <a:buFont typeface="Arial"/>
              <a:buChar char="•"/>
            </a:pPr>
            <a:r>
              <a:rPr lang="es-ES" sz="2200" b="0" i="0">
                <a:solidFill>
                  <a:srgbClr val="1F2937"/>
                </a:solidFill>
                <a:latin typeface="Calibri"/>
              </a:rPr>
              <a:t>Un orden de magnitud a favor del mayor orden, independiente de la incertidumbre de la referencia</a:t>
            </a:r>
          </a:p>
          <a:p>
            <a:pPr marL="347472" indent="-347472">
              <a:lnSpc>
                <a:spcPct val="112000"/>
              </a:lnSpc>
              <a:spcAft>
                <a:spcPts val="1200"/>
              </a:spcAft>
              <a:buClr>
                <a:srgbClr val="F28C28"/>
              </a:buClr>
              <a:buSzPct val="100000"/>
              <a:buFont typeface="Arial"/>
              <a:buChar char="•"/>
            </a:pPr>
            <a:r>
              <a:rPr lang="es-ES" sz="2200" b="1" i="0">
                <a:solidFill>
                  <a:srgbClr val="1B2A4A"/>
                </a:solidFill>
                <a:latin typeface="Calibri"/>
              </a:rPr>
              <a:t>Q4:</a:t>
            </a:r>
            <a:r>
              <a:rPr lang="es-ES" sz="2200" b="0" i="0">
                <a:solidFill>
                  <a:srgbClr val="1F2937"/>
                </a:solidFill>
                <a:latin typeface="Calibri"/>
              </a:rPr>
              <a:t> convergencia lenta y monótona por debajo, la firma del bloqueo por cortante</a:t>
            </a:r>
          </a:p>
          <a:p>
            <a:pPr marL="347472" indent="-347472">
              <a:lnSpc>
                <a:spcPct val="112000"/>
              </a:lnSpc>
              <a:spcAft>
                <a:spcPts val="1200"/>
              </a:spcAft>
              <a:buClr>
                <a:srgbClr val="F28C28"/>
              </a:buClr>
              <a:buSzPct val="100000"/>
              <a:buFont typeface="Arial"/>
              <a:buChar char="•"/>
            </a:pPr>
            <a:r>
              <a:rPr lang="es-ES" sz="2200" b="1" i="0">
                <a:solidFill>
                  <a:srgbClr val="1B2A4A"/>
                </a:solidFill>
                <a:latin typeface="Calibri"/>
              </a:rPr>
              <a:t>Q9:</a:t>
            </a:r>
            <a:r>
              <a:rPr lang="es-ES" sz="2200" b="0" i="0">
                <a:solidFill>
                  <a:srgbClr val="1F2937"/>
                </a:solidFill>
                <a:latin typeface="Calibri"/>
              </a:rPr>
              <a:t> con 578 GDL ya está a −0,144 %</a:t>
            </a:r>
          </a:p>
        </p:txBody>
      </p:sp>
      <p:sp>
        <p:nvSpPr>
          <p:cNvPr id="13" name="Rounded Rectangle 12"/>
          <p:cNvSpPr/>
          <p:nvPr/>
        </p:nvSpPr>
        <p:spPr>
          <a:xfrm>
            <a:off x="6705752" y="1572768"/>
            <a:ext cx="4449470" cy="3246120"/>
          </a:xfrm>
          <a:prstGeom prst="roundRect">
            <a:avLst>
              <a:gd name="adj" fmla="val 4000"/>
            </a:avLst>
          </a:prstGeom>
          <a:solidFill>
            <a:srgbClr val="F6F8FC"/>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4" name="Picture 13" descr="cook_convergence.png"/>
          <p:cNvPicPr>
            <a:picLocks noChangeAspect="1"/>
          </p:cNvPicPr>
          <p:nvPr/>
        </p:nvPicPr>
        <p:blipFill>
          <a:blip r:embed="rId5"/>
          <a:stretch>
            <a:fillRect/>
          </a:stretch>
        </p:blipFill>
        <p:spPr>
          <a:xfrm>
            <a:off x="6824624" y="1691640"/>
            <a:ext cx="4211726" cy="3008376"/>
          </a:xfrm>
          <a:prstGeom prst="rect">
            <a:avLst/>
          </a:prstGeom>
        </p:spPr>
      </p:pic>
      <p:sp>
        <p:nvSpPr>
          <p:cNvPr id="15" name="TextBox 14"/>
          <p:cNvSpPr txBox="1"/>
          <p:nvPr/>
        </p:nvSpPr>
        <p:spPr>
          <a:xfrm>
            <a:off x="6236208" y="4745736"/>
            <a:ext cx="5388559" cy="502920"/>
          </a:xfrm>
          <a:prstGeom prst="rect">
            <a:avLst/>
          </a:prstGeom>
          <a:noFill/>
        </p:spPr>
        <p:txBody>
          <a:bodyPr wrap="square" lIns="45720" tIns="27432" rIns="45720" bIns="27432" anchor="t">
            <a:noAutofit/>
          </a:bodyPr>
          <a:lstStyle/>
          <a:p>
            <a:pPr algn="ctr">
              <a:lnSpc>
                <a:spcPct val="105000"/>
              </a:lnSpc>
            </a:pPr>
            <a:r>
              <a:rPr lang="es-ES" sz="1500" b="0" i="1">
                <a:solidFill>
                  <a:srgbClr val="5B6575"/>
                </a:solidFill>
                <a:latin typeface="Calibri"/>
              </a:rPr>
              <a:t>uy en (48, 52) frente al número de GDL; referencia 23,96</a:t>
            </a:r>
          </a:p>
        </p:txBody>
      </p:sp>
      <p:sp>
        <p:nvSpPr>
          <p:cNvPr id="16" name="Rectangle 15"/>
          <p:cNvSpPr/>
          <p:nvPr/>
        </p:nvSpPr>
        <p:spPr>
          <a:xfrm>
            <a:off x="566928" y="5449824"/>
            <a:ext cx="11057839" cy="841248"/>
          </a:xfrm>
          <a:prstGeom prst="rect">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Rectangle 16"/>
          <p:cNvSpPr/>
          <p:nvPr/>
        </p:nvSpPr>
        <p:spPr>
          <a:xfrm>
            <a:off x="566928" y="5449824"/>
            <a:ext cx="77724" cy="841248"/>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795528" y="5449824"/>
            <a:ext cx="10737799" cy="841248"/>
          </a:xfrm>
          <a:prstGeom prst="rect">
            <a:avLst/>
          </a:prstGeom>
          <a:noFill/>
        </p:spPr>
        <p:txBody>
          <a:bodyPr wrap="square" lIns="45720" tIns="27432" rIns="45720" bIns="27432" anchor="ctr">
            <a:noAutofit/>
          </a:bodyPr>
          <a:lstStyle/>
          <a:p>
            <a:pPr algn="l">
              <a:lnSpc>
                <a:spcPct val="100000"/>
              </a:lnSpc>
            </a:pPr>
            <a:r>
              <a:rPr lang="es-ES" sz="2200" b="1" i="0">
                <a:solidFill>
                  <a:srgbClr val="1B2A4A"/>
                </a:solidFill>
                <a:latin typeface="Calibri"/>
              </a:rPr>
              <a:t>Responde PI-3: el alumno reproduce el bloqueo cargando el ejemplo de Cook en Q4 y en Q9</a:t>
            </a:r>
          </a:p>
        </p:txBody>
      </p:sp>
      <p:sp>
        <p:nvSpPr>
          <p:cNvPr id="19" name="Rectangle 18"/>
          <p:cNvSpPr/>
          <p:nvPr/>
        </p:nvSpPr>
        <p:spPr>
          <a:xfrm>
            <a:off x="566928" y="6364224"/>
            <a:ext cx="11057839" cy="7315"/>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566928" y="6437376"/>
            <a:ext cx="5029200" cy="292608"/>
          </a:xfrm>
          <a:prstGeom prst="rect">
            <a:avLst/>
          </a:prstGeom>
          <a:noFill/>
        </p:spPr>
        <p:txBody>
          <a:bodyPr wrap="square" lIns="45720" tIns="27432" rIns="45720" bIns="27432" anchor="ctr">
            <a:noAutofit/>
          </a:bodyPr>
          <a:lstStyle/>
          <a:p>
            <a:pPr algn="l">
              <a:lnSpc>
                <a:spcPct val="105000"/>
              </a:lnSpc>
            </a:pPr>
            <a:r>
              <a:rPr lang="es-ES" sz="1200" b="0" i="0">
                <a:solidFill>
                  <a:srgbClr val="5B6575"/>
                </a:solidFill>
                <a:latin typeface="Calibri"/>
              </a:rPr>
              <a:t>EduFEM · Defensa de tesis · Ingeniería Civil · UATF</a:t>
            </a:r>
          </a:p>
        </p:txBody>
      </p:sp>
      <p:sp>
        <p:nvSpPr>
          <p:cNvPr id="21" name="TextBox 20"/>
          <p:cNvSpPr txBox="1"/>
          <p:nvPr/>
        </p:nvSpPr>
        <p:spPr>
          <a:xfrm>
            <a:off x="4023360" y="6437376"/>
            <a:ext cx="5394960" cy="292608"/>
          </a:xfrm>
          <a:prstGeom prst="rect">
            <a:avLst/>
          </a:prstGeom>
          <a:noFill/>
        </p:spPr>
        <p:txBody>
          <a:bodyPr wrap="square" lIns="45720" tIns="27432" rIns="45720" bIns="27432" anchor="ctr">
            <a:noAutofit/>
          </a:bodyPr>
          <a:lstStyle/>
          <a:p>
            <a:pPr algn="ctr">
              <a:lnSpc>
                <a:spcPct val="105000"/>
              </a:lnSpc>
            </a:pPr>
            <a:r>
              <a:rPr lang="es-ES" sz="1200" b="0" i="0">
                <a:solidFill>
                  <a:srgbClr val="5B6575"/>
                </a:solidFill>
                <a:latin typeface="Calibri"/>
              </a:rPr>
              <a:t>Tesis: §3.5 y §3.7, síntesis Q4 frente a Q9</a:t>
            </a:r>
          </a:p>
        </p:txBody>
      </p:sp>
      <p:sp>
        <p:nvSpPr>
          <p:cNvPr id="22" name="TextBox 21"/>
          <p:cNvSpPr txBox="1"/>
          <p:nvPr/>
        </p:nvSpPr>
        <p:spPr>
          <a:xfrm>
            <a:off x="10527487" y="6437376"/>
            <a:ext cx="1097280" cy="292608"/>
          </a:xfrm>
          <a:prstGeom prst="rect">
            <a:avLst/>
          </a:prstGeom>
          <a:noFill/>
        </p:spPr>
        <p:txBody>
          <a:bodyPr wrap="none" lIns="45720" tIns="18288" rIns="45720" bIns="18288">
            <a:spAutoFit/>
          </a:bodyPr>
          <a:lstStyle/>
          <a:p>
            <a:pPr algn="r"/>
            <a:fld id="{B6F15528-21DE-4FAA-801E-634DDDAF4B2B}" type="slidenum">
              <a:rPr lang="es-ES" sz="1200" dirty="0">
                <a:solidFill>
                  <a:srgbClr val="5B6575"/>
                </a:solidFill>
                <a:latin typeface="Calibri"/>
              </a:rPr>
              <a:t>32</a:t>
            </a:fld>
            <a:endParaRPr lang="es-ES" sz="1200" dirty="0">
              <a:solidFill>
                <a:srgbClr val="5B6575"/>
              </a:solidFill>
              <a:latin typeface="Calibri"/>
            </a:endParaRPr>
          </a:p>
        </p:txBody>
      </p:sp>
      <p:pic>
        <p:nvPicPr>
          <p:cNvPr id="23" name="s32">
            <a:hlinkClick r:id="" action="ppaction://media"/>
            <a:extLst>
              <a:ext uri="{FF2B5EF4-FFF2-40B4-BE49-F238E27FC236}">
                <a16:creationId xmlns:a16="http://schemas.microsoft.com/office/drawing/2014/main" id="{8D05909B-A4AC-1459-FC8C-D16437AE0856}"/>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254000" y="254000"/>
            <a:ext cx="508000" cy="508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7472"/>
    </mc:Choice>
    <mc:Fallback>
      <p:transition spd="slow" advTm="37472"/>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23"/>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23"/>
                </p:tgtEl>
              </p:cMediaNode>
            </p:audio>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566928" y="361188"/>
            <a:ext cx="50292" cy="173736"/>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TextBox 2"/>
          <p:cNvSpPr txBox="1"/>
          <p:nvPr/>
        </p:nvSpPr>
        <p:spPr>
          <a:xfrm>
            <a:off x="704088" y="310896"/>
            <a:ext cx="6766560" cy="274320"/>
          </a:xfrm>
          <a:prstGeom prst="rect">
            <a:avLst/>
          </a:prstGeom>
          <a:noFill/>
        </p:spPr>
        <p:txBody>
          <a:bodyPr wrap="square" lIns="45720" tIns="27432" rIns="45720" bIns="27432" anchor="ctr">
            <a:noAutofit/>
          </a:bodyPr>
          <a:lstStyle/>
          <a:p>
            <a:pPr algn="l">
              <a:lnSpc>
                <a:spcPct val="105000"/>
              </a:lnSpc>
            </a:pPr>
            <a:r>
              <a:rPr lang="es-ES" sz="1200" b="1" i="0" spc="80">
                <a:solidFill>
                  <a:srgbClr val="F28C28"/>
                </a:solidFill>
                <a:latin typeface="Calibri"/>
              </a:rPr>
              <a:t>05   ANÁLISIS DE RESULTADOS</a:t>
            </a:r>
          </a:p>
        </p:txBody>
      </p:sp>
      <p:sp>
        <p:nvSpPr>
          <p:cNvPr id="4" name="Oval 3"/>
          <p:cNvSpPr/>
          <p:nvPr/>
        </p:nvSpPr>
        <p:spPr>
          <a:xfrm>
            <a:off x="10413187" y="388620"/>
            <a:ext cx="114300" cy="1143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Oval 4"/>
          <p:cNvSpPr/>
          <p:nvPr/>
        </p:nvSpPr>
        <p:spPr>
          <a:xfrm>
            <a:off x="10632643" y="388620"/>
            <a:ext cx="114300" cy="1143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Oval 5"/>
          <p:cNvSpPr/>
          <p:nvPr/>
        </p:nvSpPr>
        <p:spPr>
          <a:xfrm>
            <a:off x="10852099" y="388620"/>
            <a:ext cx="114300" cy="1143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Oval 6"/>
          <p:cNvSpPr/>
          <p:nvPr/>
        </p:nvSpPr>
        <p:spPr>
          <a:xfrm>
            <a:off x="11071555" y="388620"/>
            <a:ext cx="114300" cy="1143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Oval 7"/>
          <p:cNvSpPr/>
          <p:nvPr/>
        </p:nvSpPr>
        <p:spPr>
          <a:xfrm>
            <a:off x="11259007" y="356616"/>
            <a:ext cx="178308" cy="178308"/>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Oval 8"/>
          <p:cNvSpPr/>
          <p:nvPr/>
        </p:nvSpPr>
        <p:spPr>
          <a:xfrm>
            <a:off x="11510467"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548640" y="585216"/>
            <a:ext cx="11057839" cy="749808"/>
          </a:xfrm>
          <a:prstGeom prst="rect">
            <a:avLst/>
          </a:prstGeom>
          <a:noFill/>
        </p:spPr>
        <p:txBody>
          <a:bodyPr wrap="square" lIns="45720" tIns="27432" rIns="45720" bIns="27432" anchor="ctr">
            <a:noAutofit/>
          </a:bodyPr>
          <a:lstStyle/>
          <a:p>
            <a:pPr algn="l">
              <a:lnSpc>
                <a:spcPct val="105000"/>
              </a:lnSpc>
            </a:pPr>
            <a:r>
              <a:rPr lang="es-ES" sz="3200" b="1" i="0">
                <a:solidFill>
                  <a:srgbClr val="1B2A4A"/>
                </a:solidFill>
                <a:latin typeface="Calibri"/>
              </a:rPr>
              <a:t>33 282 GDL en menos de un segundo</a:t>
            </a:r>
          </a:p>
        </p:txBody>
      </p:sp>
      <p:sp>
        <p:nvSpPr>
          <p:cNvPr id="11" name="Rectangle 10"/>
          <p:cNvSpPr/>
          <p:nvPr/>
        </p:nvSpPr>
        <p:spPr>
          <a:xfrm>
            <a:off x="566928" y="1371600"/>
            <a:ext cx="1051560" cy="50292"/>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graphicFrame>
        <p:nvGraphicFramePr>
          <p:cNvPr id="12" name="Table 11"/>
          <p:cNvGraphicFramePr>
            <a:graphicFrameLocks noGrp="1"/>
          </p:cNvGraphicFramePr>
          <p:nvPr/>
        </p:nvGraphicFramePr>
        <p:xfrm>
          <a:off x="566928" y="1755648"/>
          <a:ext cx="11057836" cy="3401568"/>
        </p:xfrm>
        <a:graphic>
          <a:graphicData uri="http://schemas.openxmlformats.org/drawingml/2006/table">
            <a:tbl>
              <a:tblPr>
                <a:tableStyleId>{5C22544A-7EE6-4342-B048-85BDC9FD1C3A}</a:tableStyleId>
              </a:tblPr>
              <a:tblGrid>
                <a:gridCol w="995569">
                  <a:extLst>
                    <a:ext uri="{9D8B030D-6E8A-4147-A177-3AD203B41FA5}">
                      <a16:colId xmlns:a16="http://schemas.microsoft.com/office/drawing/2014/main" val="20000"/>
                    </a:ext>
                  </a:extLst>
                </a:gridCol>
                <a:gridCol w="2824496">
                  <a:extLst>
                    <a:ext uri="{9D8B030D-6E8A-4147-A177-3AD203B41FA5}">
                      <a16:colId xmlns:a16="http://schemas.microsoft.com/office/drawing/2014/main" val="20001"/>
                    </a:ext>
                  </a:extLst>
                </a:gridCol>
                <a:gridCol w="2471434">
                  <a:extLst>
                    <a:ext uri="{9D8B030D-6E8A-4147-A177-3AD203B41FA5}">
                      <a16:colId xmlns:a16="http://schemas.microsoft.com/office/drawing/2014/main" val="20002"/>
                    </a:ext>
                  </a:extLst>
                </a:gridCol>
                <a:gridCol w="2118372">
                  <a:extLst>
                    <a:ext uri="{9D8B030D-6E8A-4147-A177-3AD203B41FA5}">
                      <a16:colId xmlns:a16="http://schemas.microsoft.com/office/drawing/2014/main" val="20003"/>
                    </a:ext>
                  </a:extLst>
                </a:gridCol>
                <a:gridCol w="2647965">
                  <a:extLst>
                    <a:ext uri="{9D8B030D-6E8A-4147-A177-3AD203B41FA5}">
                      <a16:colId xmlns:a16="http://schemas.microsoft.com/office/drawing/2014/main" val="20004"/>
                    </a:ext>
                  </a:extLst>
                </a:gridCol>
              </a:tblGrid>
              <a:tr h="566928">
                <a:tc>
                  <a:txBody>
                    <a:bodyPr/>
                    <a:lstStyle/>
                    <a:p>
                      <a:pPr algn="l"/>
                      <a:r>
                        <a:rPr lang="es-ES" sz="2000" b="1" i="0">
                          <a:solidFill>
                            <a:srgbClr val="FFFFFF"/>
                          </a:solidFill>
                          <a:latin typeface="Calibri"/>
                        </a:rPr>
                        <a:t>GDL</a:t>
                      </a:r>
                    </a:p>
                  </a:txBody>
                  <a:tcPr marL="73152" marR="73152" marT="27432" marB="27432" anchor="ctr">
                    <a:solidFill>
                      <a:srgbClr val="1B2A4A"/>
                    </a:solidFill>
                  </a:tcPr>
                </a:tc>
                <a:tc>
                  <a:txBody>
                    <a:bodyPr/>
                    <a:lstStyle/>
                    <a:p>
                      <a:pPr algn="ctr"/>
                      <a:r>
                        <a:rPr lang="es-ES" sz="2000" b="1" i="0">
                          <a:solidFill>
                            <a:srgbClr val="FFFFFF"/>
                          </a:solidFill>
                          <a:latin typeface="Calibri"/>
                        </a:rPr>
                        <a:t>t ensamblaje (s)</a:t>
                      </a:r>
                    </a:p>
                  </a:txBody>
                  <a:tcPr marL="73152" marR="73152" marT="27432" marB="27432" anchor="ctr">
                    <a:solidFill>
                      <a:srgbClr val="1B2A4A"/>
                    </a:solidFill>
                  </a:tcPr>
                </a:tc>
                <a:tc>
                  <a:txBody>
                    <a:bodyPr/>
                    <a:lstStyle/>
                    <a:p>
                      <a:pPr algn="ctr"/>
                      <a:r>
                        <a:rPr lang="es-ES" sz="2000" b="1" i="0">
                          <a:solidFill>
                            <a:srgbClr val="FFFFFF"/>
                          </a:solidFill>
                          <a:latin typeface="Calibri"/>
                        </a:rPr>
                        <a:t>t solución (s)</a:t>
                      </a:r>
                    </a:p>
                  </a:txBody>
                  <a:tcPr marL="73152" marR="73152" marT="27432" marB="27432" anchor="ctr">
                    <a:solidFill>
                      <a:srgbClr val="1B2A4A"/>
                    </a:solidFill>
                  </a:tcPr>
                </a:tc>
                <a:tc>
                  <a:txBody>
                    <a:bodyPr/>
                    <a:lstStyle/>
                    <a:p>
                      <a:pPr algn="ctr"/>
                      <a:r>
                        <a:rPr lang="es-ES" sz="2000" b="1" i="0">
                          <a:solidFill>
                            <a:srgbClr val="FFFFFF"/>
                          </a:solidFill>
                          <a:latin typeface="Calibri"/>
                        </a:rPr>
                        <a:t>K densa (MB)</a:t>
                      </a:r>
                    </a:p>
                  </a:txBody>
                  <a:tcPr marL="73152" marR="73152" marT="27432" marB="27432" anchor="ctr">
                    <a:solidFill>
                      <a:srgbClr val="1B2A4A"/>
                    </a:solidFill>
                  </a:tcPr>
                </a:tc>
                <a:tc>
                  <a:txBody>
                    <a:bodyPr/>
                    <a:lstStyle/>
                    <a:p>
                      <a:pPr algn="ctr"/>
                      <a:r>
                        <a:rPr lang="es-ES" sz="2000" b="1" i="0">
                          <a:solidFill>
                            <a:srgbClr val="FFFFFF"/>
                          </a:solidFill>
                          <a:latin typeface="Calibri"/>
                        </a:rPr>
                        <a:t>K dispersa (MB)</a:t>
                      </a:r>
                    </a:p>
                  </a:txBody>
                  <a:tcPr marL="73152" marR="73152" marT="27432" marB="27432" anchor="ctr">
                    <a:solidFill>
                      <a:srgbClr val="1B2A4A"/>
                    </a:solidFill>
                  </a:tcPr>
                </a:tc>
                <a:extLst>
                  <a:ext uri="{0D108BD9-81ED-4DB2-BD59-A6C34878D82A}">
                    <a16:rowId xmlns:a16="http://schemas.microsoft.com/office/drawing/2014/main" val="10000"/>
                  </a:ext>
                </a:extLst>
              </a:tr>
              <a:tr h="566928">
                <a:tc>
                  <a:txBody>
                    <a:bodyPr/>
                    <a:lstStyle/>
                    <a:p>
                      <a:pPr algn="l"/>
                      <a:r>
                        <a:rPr lang="es-ES" sz="2000" b="1" i="0">
                          <a:solidFill>
                            <a:srgbClr val="1F2937"/>
                          </a:solidFill>
                          <a:latin typeface="Calibri"/>
                        </a:rPr>
                        <a:t>578</a:t>
                      </a:r>
                    </a:p>
                  </a:txBody>
                  <a:tcPr marL="73152" marR="73152" marT="27432" marB="27432" anchor="ctr">
                    <a:solidFill>
                      <a:srgbClr val="FFFFFF"/>
                    </a:solidFill>
                  </a:tcPr>
                </a:tc>
                <a:tc>
                  <a:txBody>
                    <a:bodyPr/>
                    <a:lstStyle/>
                    <a:p>
                      <a:pPr algn="ctr"/>
                      <a:r>
                        <a:rPr lang="es-ES" sz="2000" b="0" i="0">
                          <a:solidFill>
                            <a:srgbClr val="1F2937"/>
                          </a:solidFill>
                          <a:latin typeface="Calibri"/>
                        </a:rPr>
                        <a:t>0,004</a:t>
                      </a:r>
                    </a:p>
                  </a:txBody>
                  <a:tcPr marL="73152" marR="73152" marT="27432" marB="27432" anchor="ctr">
                    <a:solidFill>
                      <a:srgbClr val="FFFFFF"/>
                    </a:solidFill>
                  </a:tcPr>
                </a:tc>
                <a:tc>
                  <a:txBody>
                    <a:bodyPr/>
                    <a:lstStyle/>
                    <a:p>
                      <a:pPr algn="ctr"/>
                      <a:r>
                        <a:rPr lang="es-ES" sz="2000" b="0" i="0">
                          <a:solidFill>
                            <a:srgbClr val="1F2937"/>
                          </a:solidFill>
                          <a:latin typeface="Calibri"/>
                        </a:rPr>
                        <a:t>0,007</a:t>
                      </a:r>
                    </a:p>
                  </a:txBody>
                  <a:tcPr marL="73152" marR="73152" marT="27432" marB="27432" anchor="ctr">
                    <a:solidFill>
                      <a:srgbClr val="FFFFFF"/>
                    </a:solidFill>
                  </a:tcPr>
                </a:tc>
                <a:tc>
                  <a:txBody>
                    <a:bodyPr/>
                    <a:lstStyle/>
                    <a:p>
                      <a:pPr algn="ctr"/>
                      <a:r>
                        <a:rPr lang="es-ES" sz="2000" b="0" i="0">
                          <a:solidFill>
                            <a:srgbClr val="1F2937"/>
                          </a:solidFill>
                          <a:latin typeface="Calibri"/>
                        </a:rPr>
                        <a:t>3</a:t>
                      </a:r>
                    </a:p>
                  </a:txBody>
                  <a:tcPr marL="73152" marR="73152" marT="27432" marB="27432" anchor="ctr">
                    <a:solidFill>
                      <a:srgbClr val="FFFFFF"/>
                    </a:solidFill>
                  </a:tcPr>
                </a:tc>
                <a:tc>
                  <a:txBody>
                    <a:bodyPr/>
                    <a:lstStyle/>
                    <a:p>
                      <a:pPr algn="ctr"/>
                      <a:r>
                        <a:rPr lang="es-ES" sz="2000" b="0" i="0">
                          <a:solidFill>
                            <a:srgbClr val="1F2937"/>
                          </a:solidFill>
                          <a:latin typeface="Calibri"/>
                        </a:rPr>
                        <a:t>0,21</a:t>
                      </a:r>
                    </a:p>
                  </a:txBody>
                  <a:tcPr marL="73152" marR="73152" marT="27432" marB="27432" anchor="ctr">
                    <a:solidFill>
                      <a:srgbClr val="FFFFFF"/>
                    </a:solidFill>
                  </a:tcPr>
                </a:tc>
                <a:extLst>
                  <a:ext uri="{0D108BD9-81ED-4DB2-BD59-A6C34878D82A}">
                    <a16:rowId xmlns:a16="http://schemas.microsoft.com/office/drawing/2014/main" val="10001"/>
                  </a:ext>
                </a:extLst>
              </a:tr>
              <a:tr h="566928">
                <a:tc>
                  <a:txBody>
                    <a:bodyPr/>
                    <a:lstStyle/>
                    <a:p>
                      <a:pPr algn="l"/>
                      <a:r>
                        <a:rPr lang="es-ES" sz="2000" b="1" i="0">
                          <a:solidFill>
                            <a:srgbClr val="1F2937"/>
                          </a:solidFill>
                          <a:latin typeface="Calibri"/>
                        </a:rPr>
                        <a:t>2178</a:t>
                      </a:r>
                    </a:p>
                  </a:txBody>
                  <a:tcPr marL="73152" marR="73152" marT="27432" marB="27432" anchor="ctr">
                    <a:solidFill>
                      <a:srgbClr val="F6F8FC"/>
                    </a:solidFill>
                  </a:tcPr>
                </a:tc>
                <a:tc>
                  <a:txBody>
                    <a:bodyPr/>
                    <a:lstStyle/>
                    <a:p>
                      <a:pPr algn="ctr"/>
                      <a:r>
                        <a:rPr lang="es-ES" sz="2000" b="0" i="0">
                          <a:solidFill>
                            <a:srgbClr val="1F2937"/>
                          </a:solidFill>
                          <a:latin typeface="Calibri"/>
                        </a:rPr>
                        <a:t>0,013</a:t>
                      </a:r>
                    </a:p>
                  </a:txBody>
                  <a:tcPr marL="73152" marR="73152" marT="27432" marB="27432" anchor="ctr">
                    <a:solidFill>
                      <a:srgbClr val="F6F8FC"/>
                    </a:solidFill>
                  </a:tcPr>
                </a:tc>
                <a:tc>
                  <a:txBody>
                    <a:bodyPr/>
                    <a:lstStyle/>
                    <a:p>
                      <a:pPr algn="ctr"/>
                      <a:r>
                        <a:rPr lang="es-ES" sz="2000" b="0" i="0">
                          <a:solidFill>
                            <a:srgbClr val="1F2937"/>
                          </a:solidFill>
                          <a:latin typeface="Calibri"/>
                        </a:rPr>
                        <a:t>0,026</a:t>
                      </a:r>
                    </a:p>
                  </a:txBody>
                  <a:tcPr marL="73152" marR="73152" marT="27432" marB="27432" anchor="ctr">
                    <a:solidFill>
                      <a:srgbClr val="F6F8FC"/>
                    </a:solidFill>
                  </a:tcPr>
                </a:tc>
                <a:tc>
                  <a:txBody>
                    <a:bodyPr/>
                    <a:lstStyle/>
                    <a:p>
                      <a:pPr algn="ctr"/>
                      <a:r>
                        <a:rPr lang="es-ES" sz="2000" b="0" i="0">
                          <a:solidFill>
                            <a:srgbClr val="1F2937"/>
                          </a:solidFill>
                          <a:latin typeface="Calibri"/>
                        </a:rPr>
                        <a:t>38</a:t>
                      </a:r>
                    </a:p>
                  </a:txBody>
                  <a:tcPr marL="73152" marR="73152" marT="27432" marB="27432" anchor="ctr">
                    <a:solidFill>
                      <a:srgbClr val="F6F8FC"/>
                    </a:solidFill>
                  </a:tcPr>
                </a:tc>
                <a:tc>
                  <a:txBody>
                    <a:bodyPr/>
                    <a:lstStyle/>
                    <a:p>
                      <a:pPr algn="ctr"/>
                      <a:r>
                        <a:rPr lang="es-ES" sz="2000" b="0" i="0">
                          <a:solidFill>
                            <a:srgbClr val="1F2937"/>
                          </a:solidFill>
                          <a:latin typeface="Calibri"/>
                        </a:rPr>
                        <a:t>0,81</a:t>
                      </a:r>
                    </a:p>
                  </a:txBody>
                  <a:tcPr marL="73152" marR="73152" marT="27432" marB="27432" anchor="ctr">
                    <a:solidFill>
                      <a:srgbClr val="F6F8FC"/>
                    </a:solidFill>
                  </a:tcPr>
                </a:tc>
                <a:extLst>
                  <a:ext uri="{0D108BD9-81ED-4DB2-BD59-A6C34878D82A}">
                    <a16:rowId xmlns:a16="http://schemas.microsoft.com/office/drawing/2014/main" val="10002"/>
                  </a:ext>
                </a:extLst>
              </a:tr>
              <a:tr h="566928">
                <a:tc>
                  <a:txBody>
                    <a:bodyPr/>
                    <a:lstStyle/>
                    <a:p>
                      <a:pPr algn="l"/>
                      <a:r>
                        <a:rPr lang="es-ES" sz="2000" b="1" i="0">
                          <a:solidFill>
                            <a:srgbClr val="1F2937"/>
                          </a:solidFill>
                          <a:latin typeface="Calibri"/>
                        </a:rPr>
                        <a:t>8450</a:t>
                      </a:r>
                    </a:p>
                  </a:txBody>
                  <a:tcPr marL="73152" marR="73152" marT="27432" marB="27432" anchor="ctr">
                    <a:solidFill>
                      <a:srgbClr val="FFFFFF"/>
                    </a:solidFill>
                  </a:tcPr>
                </a:tc>
                <a:tc>
                  <a:txBody>
                    <a:bodyPr/>
                    <a:lstStyle/>
                    <a:p>
                      <a:pPr algn="ctr"/>
                      <a:r>
                        <a:rPr lang="es-ES" sz="2000" b="0" i="0">
                          <a:solidFill>
                            <a:srgbClr val="1F2937"/>
                          </a:solidFill>
                          <a:latin typeface="Calibri"/>
                        </a:rPr>
                        <a:t>0,049</a:t>
                      </a:r>
                    </a:p>
                  </a:txBody>
                  <a:tcPr marL="73152" marR="73152" marT="27432" marB="27432" anchor="ctr">
                    <a:solidFill>
                      <a:srgbClr val="FFFFFF"/>
                    </a:solidFill>
                  </a:tcPr>
                </a:tc>
                <a:tc>
                  <a:txBody>
                    <a:bodyPr/>
                    <a:lstStyle/>
                    <a:p>
                      <a:pPr algn="ctr"/>
                      <a:r>
                        <a:rPr lang="es-ES" sz="2000" b="0" i="0">
                          <a:solidFill>
                            <a:srgbClr val="1F2937"/>
                          </a:solidFill>
                          <a:latin typeface="Calibri"/>
                        </a:rPr>
                        <a:t>0,127</a:t>
                      </a:r>
                    </a:p>
                  </a:txBody>
                  <a:tcPr marL="73152" marR="73152" marT="27432" marB="27432" anchor="ctr">
                    <a:solidFill>
                      <a:srgbClr val="FFFFFF"/>
                    </a:solidFill>
                  </a:tcPr>
                </a:tc>
                <a:tc>
                  <a:txBody>
                    <a:bodyPr/>
                    <a:lstStyle/>
                    <a:p>
                      <a:pPr algn="ctr"/>
                      <a:r>
                        <a:rPr lang="es-ES" sz="2000" b="0" i="0">
                          <a:solidFill>
                            <a:srgbClr val="1F2937"/>
                          </a:solidFill>
                          <a:latin typeface="Calibri"/>
                        </a:rPr>
                        <a:t>571</a:t>
                      </a:r>
                    </a:p>
                  </a:txBody>
                  <a:tcPr marL="73152" marR="73152" marT="27432" marB="27432" anchor="ctr">
                    <a:solidFill>
                      <a:srgbClr val="FFFFFF"/>
                    </a:solidFill>
                  </a:tcPr>
                </a:tc>
                <a:tc>
                  <a:txBody>
                    <a:bodyPr/>
                    <a:lstStyle/>
                    <a:p>
                      <a:pPr algn="ctr"/>
                      <a:r>
                        <a:rPr lang="es-ES" sz="2000" b="0" i="0">
                          <a:solidFill>
                            <a:srgbClr val="1F2937"/>
                          </a:solidFill>
                          <a:latin typeface="Calibri"/>
                        </a:rPr>
                        <a:t>3,20</a:t>
                      </a:r>
                    </a:p>
                  </a:txBody>
                  <a:tcPr marL="73152" marR="73152" marT="27432" marB="27432" anchor="ctr">
                    <a:solidFill>
                      <a:srgbClr val="FFFFFF"/>
                    </a:solidFill>
                  </a:tcPr>
                </a:tc>
                <a:extLst>
                  <a:ext uri="{0D108BD9-81ED-4DB2-BD59-A6C34878D82A}">
                    <a16:rowId xmlns:a16="http://schemas.microsoft.com/office/drawing/2014/main" val="10003"/>
                  </a:ext>
                </a:extLst>
              </a:tr>
              <a:tr h="566928">
                <a:tc>
                  <a:txBody>
                    <a:bodyPr/>
                    <a:lstStyle/>
                    <a:p>
                      <a:pPr algn="l"/>
                      <a:r>
                        <a:rPr lang="es-ES" sz="2000" b="1" i="0">
                          <a:solidFill>
                            <a:srgbClr val="1F2937"/>
                          </a:solidFill>
                          <a:latin typeface="Calibri"/>
                        </a:rPr>
                        <a:t>18818</a:t>
                      </a:r>
                    </a:p>
                  </a:txBody>
                  <a:tcPr marL="73152" marR="73152" marT="27432" marB="27432" anchor="ctr">
                    <a:solidFill>
                      <a:srgbClr val="F6F8FC"/>
                    </a:solidFill>
                  </a:tcPr>
                </a:tc>
                <a:tc>
                  <a:txBody>
                    <a:bodyPr/>
                    <a:lstStyle/>
                    <a:p>
                      <a:pPr algn="ctr"/>
                      <a:r>
                        <a:rPr lang="es-ES" sz="2000" b="0" i="0">
                          <a:solidFill>
                            <a:srgbClr val="1F2937"/>
                          </a:solidFill>
                          <a:latin typeface="Calibri"/>
                        </a:rPr>
                        <a:t>0,111</a:t>
                      </a:r>
                    </a:p>
                  </a:txBody>
                  <a:tcPr marL="73152" marR="73152" marT="27432" marB="27432" anchor="ctr">
                    <a:solidFill>
                      <a:srgbClr val="F6F8FC"/>
                    </a:solidFill>
                  </a:tcPr>
                </a:tc>
                <a:tc>
                  <a:txBody>
                    <a:bodyPr/>
                    <a:lstStyle/>
                    <a:p>
                      <a:pPr algn="ctr"/>
                      <a:r>
                        <a:rPr lang="es-ES" sz="2000" b="0" i="0">
                          <a:solidFill>
                            <a:srgbClr val="1F2937"/>
                          </a:solidFill>
                          <a:latin typeface="Calibri"/>
                        </a:rPr>
                        <a:t>0,329</a:t>
                      </a:r>
                    </a:p>
                  </a:txBody>
                  <a:tcPr marL="73152" marR="73152" marT="27432" marB="27432" anchor="ctr">
                    <a:solidFill>
                      <a:srgbClr val="F6F8FC"/>
                    </a:solidFill>
                  </a:tcPr>
                </a:tc>
                <a:tc>
                  <a:txBody>
                    <a:bodyPr/>
                    <a:lstStyle/>
                    <a:p>
                      <a:pPr algn="ctr"/>
                      <a:r>
                        <a:rPr lang="es-ES" sz="2000" b="0" i="0">
                          <a:solidFill>
                            <a:srgbClr val="1F2937"/>
                          </a:solidFill>
                          <a:latin typeface="Calibri"/>
                        </a:rPr>
                        <a:t>2833</a:t>
                      </a:r>
                    </a:p>
                  </a:txBody>
                  <a:tcPr marL="73152" marR="73152" marT="27432" marB="27432" anchor="ctr">
                    <a:solidFill>
                      <a:srgbClr val="F6F8FC"/>
                    </a:solidFill>
                  </a:tcPr>
                </a:tc>
                <a:tc>
                  <a:txBody>
                    <a:bodyPr/>
                    <a:lstStyle/>
                    <a:p>
                      <a:pPr algn="ctr"/>
                      <a:r>
                        <a:rPr lang="es-ES" sz="2000" b="0" i="0">
                          <a:solidFill>
                            <a:srgbClr val="1F2937"/>
                          </a:solidFill>
                          <a:latin typeface="Calibri"/>
                        </a:rPr>
                        <a:t>7,19</a:t>
                      </a:r>
                    </a:p>
                  </a:txBody>
                  <a:tcPr marL="73152" marR="73152" marT="27432" marB="27432" anchor="ctr">
                    <a:solidFill>
                      <a:srgbClr val="F6F8FC"/>
                    </a:solidFill>
                  </a:tcPr>
                </a:tc>
                <a:extLst>
                  <a:ext uri="{0D108BD9-81ED-4DB2-BD59-A6C34878D82A}">
                    <a16:rowId xmlns:a16="http://schemas.microsoft.com/office/drawing/2014/main" val="10004"/>
                  </a:ext>
                </a:extLst>
              </a:tr>
              <a:tr h="566928">
                <a:tc>
                  <a:txBody>
                    <a:bodyPr/>
                    <a:lstStyle/>
                    <a:p>
                      <a:pPr algn="l"/>
                      <a:r>
                        <a:rPr lang="es-ES" sz="2000" b="1" i="0">
                          <a:solidFill>
                            <a:srgbClr val="1F2937"/>
                          </a:solidFill>
                          <a:latin typeface="Calibri"/>
                        </a:rPr>
                        <a:t>33282</a:t>
                      </a:r>
                    </a:p>
                  </a:txBody>
                  <a:tcPr marL="73152" marR="73152" marT="27432" marB="27432" anchor="ctr">
                    <a:solidFill>
                      <a:srgbClr val="FFFFFF"/>
                    </a:solidFill>
                  </a:tcPr>
                </a:tc>
                <a:tc>
                  <a:txBody>
                    <a:bodyPr/>
                    <a:lstStyle/>
                    <a:p>
                      <a:pPr algn="ctr"/>
                      <a:r>
                        <a:rPr lang="es-ES" sz="2000" b="0" i="0">
                          <a:solidFill>
                            <a:srgbClr val="1F2937"/>
                          </a:solidFill>
                          <a:latin typeface="Calibri"/>
                        </a:rPr>
                        <a:t>0,191</a:t>
                      </a:r>
                    </a:p>
                  </a:txBody>
                  <a:tcPr marL="73152" marR="73152" marT="27432" marB="27432" anchor="ctr">
                    <a:solidFill>
                      <a:srgbClr val="FFFFFF"/>
                    </a:solidFill>
                  </a:tcPr>
                </a:tc>
                <a:tc>
                  <a:txBody>
                    <a:bodyPr/>
                    <a:lstStyle/>
                    <a:p>
                      <a:pPr algn="ctr"/>
                      <a:r>
                        <a:rPr lang="es-ES" sz="2000" b="0" i="0">
                          <a:solidFill>
                            <a:srgbClr val="1F2937"/>
                          </a:solidFill>
                          <a:latin typeface="Calibri"/>
                        </a:rPr>
                        <a:t>0,721</a:t>
                      </a:r>
                    </a:p>
                  </a:txBody>
                  <a:tcPr marL="73152" marR="73152" marT="27432" marB="27432" anchor="ctr">
                    <a:solidFill>
                      <a:srgbClr val="FFFFFF"/>
                    </a:solidFill>
                  </a:tcPr>
                </a:tc>
                <a:tc>
                  <a:txBody>
                    <a:bodyPr/>
                    <a:lstStyle/>
                    <a:p>
                      <a:pPr algn="ctr"/>
                      <a:r>
                        <a:rPr lang="es-ES" sz="2000" b="0" i="0">
                          <a:solidFill>
                            <a:srgbClr val="1F2937"/>
                          </a:solidFill>
                          <a:latin typeface="Calibri"/>
                        </a:rPr>
                        <a:t>8862</a:t>
                      </a:r>
                    </a:p>
                  </a:txBody>
                  <a:tcPr marL="73152" marR="73152" marT="27432" marB="27432" anchor="ctr">
                    <a:solidFill>
                      <a:srgbClr val="FFFFFF"/>
                    </a:solidFill>
                  </a:tcPr>
                </a:tc>
                <a:tc>
                  <a:txBody>
                    <a:bodyPr/>
                    <a:lstStyle/>
                    <a:p>
                      <a:pPr algn="ctr"/>
                      <a:r>
                        <a:rPr lang="es-ES" sz="2000" b="0" i="0">
                          <a:solidFill>
                            <a:srgbClr val="1F2937"/>
                          </a:solidFill>
                          <a:latin typeface="Calibri"/>
                        </a:rPr>
                        <a:t>12,77</a:t>
                      </a:r>
                    </a:p>
                  </a:txBody>
                  <a:tcPr marL="73152" marR="73152" marT="27432" marB="27432" anchor="ctr">
                    <a:solidFill>
                      <a:srgbClr val="FFFFFF"/>
                    </a:solidFill>
                  </a:tcPr>
                </a:tc>
                <a:extLst>
                  <a:ext uri="{0D108BD9-81ED-4DB2-BD59-A6C34878D82A}">
                    <a16:rowId xmlns:a16="http://schemas.microsoft.com/office/drawing/2014/main" val="10005"/>
                  </a:ext>
                </a:extLst>
              </a:tr>
            </a:tbl>
          </a:graphicData>
        </a:graphic>
      </p:graphicFrame>
      <p:sp>
        <p:nvSpPr>
          <p:cNvPr id="13" name="Rectangle 12"/>
          <p:cNvSpPr/>
          <p:nvPr/>
        </p:nvSpPr>
        <p:spPr>
          <a:xfrm>
            <a:off x="566928" y="2290572"/>
            <a:ext cx="11057839" cy="41148"/>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Rectangle 13"/>
          <p:cNvSpPr/>
          <p:nvPr/>
        </p:nvSpPr>
        <p:spPr>
          <a:xfrm>
            <a:off x="566928" y="5449824"/>
            <a:ext cx="11057839" cy="841248"/>
          </a:xfrm>
          <a:prstGeom prst="rect">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Rectangle 14"/>
          <p:cNvSpPr/>
          <p:nvPr/>
        </p:nvSpPr>
        <p:spPr>
          <a:xfrm>
            <a:off x="566928" y="5449824"/>
            <a:ext cx="77724" cy="841248"/>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795528" y="5449824"/>
            <a:ext cx="10737799" cy="841248"/>
          </a:xfrm>
          <a:prstGeom prst="rect">
            <a:avLst/>
          </a:prstGeom>
          <a:noFill/>
        </p:spPr>
        <p:txBody>
          <a:bodyPr wrap="square" lIns="45720" tIns="27432" rIns="45720" bIns="27432" anchor="ctr">
            <a:noAutofit/>
          </a:bodyPr>
          <a:lstStyle/>
          <a:p>
            <a:pPr algn="l">
              <a:lnSpc>
                <a:spcPct val="100000"/>
              </a:lnSpc>
            </a:pPr>
            <a:r>
              <a:rPr lang="es-ES" sz="2200" b="1" i="0">
                <a:solidFill>
                  <a:srgbClr val="1B2A4A"/>
                </a:solidFill>
                <a:latin typeface="Calibri"/>
              </a:rPr>
              <a:t>Equipo de 2012, NumPy puro; mínimo grado sobre Aᵀ+A gana 1,7×, 2,0× y 2,9× frente a COLAMD</a:t>
            </a:r>
          </a:p>
        </p:txBody>
      </p:sp>
      <p:sp>
        <p:nvSpPr>
          <p:cNvPr id="17" name="Rectangle 16"/>
          <p:cNvSpPr/>
          <p:nvPr/>
        </p:nvSpPr>
        <p:spPr>
          <a:xfrm>
            <a:off x="566928" y="6364224"/>
            <a:ext cx="11057839" cy="7315"/>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566928" y="6437376"/>
            <a:ext cx="5029200" cy="292608"/>
          </a:xfrm>
          <a:prstGeom prst="rect">
            <a:avLst/>
          </a:prstGeom>
          <a:noFill/>
        </p:spPr>
        <p:txBody>
          <a:bodyPr wrap="square" lIns="45720" tIns="27432" rIns="45720" bIns="27432" anchor="ctr">
            <a:noAutofit/>
          </a:bodyPr>
          <a:lstStyle/>
          <a:p>
            <a:pPr algn="l">
              <a:lnSpc>
                <a:spcPct val="105000"/>
              </a:lnSpc>
            </a:pPr>
            <a:r>
              <a:rPr lang="es-ES" sz="1200" b="0" i="0">
                <a:solidFill>
                  <a:srgbClr val="5B6575"/>
                </a:solidFill>
                <a:latin typeface="Calibri"/>
              </a:rPr>
              <a:t>EduFEM · Defensa de tesis · Ingeniería Civil · UATF</a:t>
            </a:r>
          </a:p>
        </p:txBody>
      </p:sp>
      <p:sp>
        <p:nvSpPr>
          <p:cNvPr id="19" name="TextBox 18"/>
          <p:cNvSpPr txBox="1"/>
          <p:nvPr/>
        </p:nvSpPr>
        <p:spPr>
          <a:xfrm>
            <a:off x="4023360" y="6437376"/>
            <a:ext cx="5394960" cy="292608"/>
          </a:xfrm>
          <a:prstGeom prst="rect">
            <a:avLst/>
          </a:prstGeom>
          <a:noFill/>
        </p:spPr>
        <p:txBody>
          <a:bodyPr wrap="square" lIns="45720" tIns="27432" rIns="45720" bIns="27432" anchor="ctr">
            <a:noAutofit/>
          </a:bodyPr>
          <a:lstStyle/>
          <a:p>
            <a:pPr algn="ctr">
              <a:lnSpc>
                <a:spcPct val="105000"/>
              </a:lnSpc>
            </a:pPr>
            <a:r>
              <a:rPr lang="es-ES" sz="1100" b="0" i="0">
                <a:solidFill>
                  <a:srgbClr val="5B6575"/>
                </a:solidFill>
                <a:latin typeface="Calibri"/>
              </a:rPr>
              <a:t>Tesis: §3.7, tabla de tiempos, interpretación y limitaciones observadas</a:t>
            </a:r>
          </a:p>
        </p:txBody>
      </p:sp>
      <p:sp>
        <p:nvSpPr>
          <p:cNvPr id="20" name="TextBox 19"/>
          <p:cNvSpPr txBox="1"/>
          <p:nvPr/>
        </p:nvSpPr>
        <p:spPr>
          <a:xfrm>
            <a:off x="10527487" y="6437376"/>
            <a:ext cx="1097280" cy="292608"/>
          </a:xfrm>
          <a:prstGeom prst="rect">
            <a:avLst/>
          </a:prstGeom>
          <a:noFill/>
        </p:spPr>
        <p:txBody>
          <a:bodyPr wrap="none" lIns="45720" tIns="18288" rIns="45720" bIns="18288">
            <a:spAutoFit/>
          </a:bodyPr>
          <a:lstStyle/>
          <a:p>
            <a:pPr algn="r"/>
            <a:fld id="{B6F15528-21DE-4FAA-801E-634DDDAF4B2B}" type="slidenum">
              <a:rPr lang="es-ES" sz="1200" dirty="0">
                <a:solidFill>
                  <a:srgbClr val="5B6575"/>
                </a:solidFill>
                <a:latin typeface="Calibri"/>
              </a:rPr>
              <a:t>33</a:t>
            </a:fld>
            <a:endParaRPr lang="es-ES" sz="1200" dirty="0">
              <a:solidFill>
                <a:srgbClr val="5B6575"/>
              </a:solidFill>
              <a:latin typeface="Calibri"/>
            </a:endParaRPr>
          </a:p>
        </p:txBody>
      </p:sp>
      <p:pic>
        <p:nvPicPr>
          <p:cNvPr id="21" name="s33">
            <a:hlinkClick r:id="" action="ppaction://media"/>
            <a:extLst>
              <a:ext uri="{FF2B5EF4-FFF2-40B4-BE49-F238E27FC236}">
                <a16:creationId xmlns:a16="http://schemas.microsoft.com/office/drawing/2014/main" id="{4981A952-D30F-A813-4765-2CC314DD4498}"/>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254000" y="254000"/>
            <a:ext cx="508000" cy="508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60824"/>
    </mc:Choice>
    <mc:Fallback>
      <p:transition spd="slow" advTm="60824"/>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21"/>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21"/>
                </p:tgtEl>
              </p:cMediaNode>
            </p:audio>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0E182E"/>
        </a:solidFill>
        <a:effectLst/>
      </p:bgPr>
    </p:bg>
    <p:spTree>
      <p:nvGrpSpPr>
        <p:cNvPr id="1" name=""/>
        <p:cNvGrpSpPr/>
        <p:nvPr/>
      </p:nvGrpSpPr>
      <p:grpSpPr>
        <a:xfrm>
          <a:off x="0" y="0"/>
          <a:ext cx="0" cy="0"/>
          <a:chOff x="0" y="0"/>
          <a:chExt cx="0" cy="0"/>
        </a:xfrm>
      </p:grpSpPr>
      <p:sp>
        <p:nvSpPr>
          <p:cNvPr id="2" name="Rectangle 1"/>
          <p:cNvSpPr/>
          <p:nvPr/>
        </p:nvSpPr>
        <p:spPr>
          <a:xfrm>
            <a:off x="8183879" y="960120"/>
            <a:ext cx="3611880" cy="10972"/>
          </a:xfrm>
          <a:prstGeom prst="rect">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Rectangle 2"/>
          <p:cNvSpPr/>
          <p:nvPr/>
        </p:nvSpPr>
        <p:spPr>
          <a:xfrm>
            <a:off x="8183879" y="1859280"/>
            <a:ext cx="3611880" cy="10972"/>
          </a:xfrm>
          <a:prstGeom prst="rect">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Rectangle 3"/>
          <p:cNvSpPr/>
          <p:nvPr/>
        </p:nvSpPr>
        <p:spPr>
          <a:xfrm>
            <a:off x="8183879" y="2758440"/>
            <a:ext cx="3611880" cy="10972"/>
          </a:xfrm>
          <a:prstGeom prst="rect">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Rectangle 4"/>
          <p:cNvSpPr/>
          <p:nvPr/>
        </p:nvSpPr>
        <p:spPr>
          <a:xfrm>
            <a:off x="8183879" y="3657600"/>
            <a:ext cx="3611880" cy="10972"/>
          </a:xfrm>
          <a:prstGeom prst="rect">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Rectangle 5"/>
          <p:cNvSpPr/>
          <p:nvPr/>
        </p:nvSpPr>
        <p:spPr>
          <a:xfrm>
            <a:off x="8183879" y="960120"/>
            <a:ext cx="10972" cy="2697480"/>
          </a:xfrm>
          <a:prstGeom prst="rect">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Rectangle 6"/>
          <p:cNvSpPr/>
          <p:nvPr/>
        </p:nvSpPr>
        <p:spPr>
          <a:xfrm>
            <a:off x="9086850" y="960120"/>
            <a:ext cx="10972" cy="2697480"/>
          </a:xfrm>
          <a:prstGeom prst="rect">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Rectangle 7"/>
          <p:cNvSpPr/>
          <p:nvPr/>
        </p:nvSpPr>
        <p:spPr>
          <a:xfrm>
            <a:off x="9989819" y="960120"/>
            <a:ext cx="10972" cy="2697480"/>
          </a:xfrm>
          <a:prstGeom prst="rect">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Rectangle 8"/>
          <p:cNvSpPr/>
          <p:nvPr/>
        </p:nvSpPr>
        <p:spPr>
          <a:xfrm>
            <a:off x="10892790" y="960120"/>
            <a:ext cx="10972" cy="2697480"/>
          </a:xfrm>
          <a:prstGeom prst="rect">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Rectangle 9"/>
          <p:cNvSpPr/>
          <p:nvPr/>
        </p:nvSpPr>
        <p:spPr>
          <a:xfrm>
            <a:off x="11795759" y="960120"/>
            <a:ext cx="10972" cy="2697480"/>
          </a:xfrm>
          <a:prstGeom prst="rect">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Oval 10"/>
          <p:cNvSpPr/>
          <p:nvPr/>
        </p:nvSpPr>
        <p:spPr>
          <a:xfrm>
            <a:off x="8145017" y="92125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Oval 11"/>
          <p:cNvSpPr/>
          <p:nvPr/>
        </p:nvSpPr>
        <p:spPr>
          <a:xfrm>
            <a:off x="9047988" y="92125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Oval 12"/>
          <p:cNvSpPr/>
          <p:nvPr/>
        </p:nvSpPr>
        <p:spPr>
          <a:xfrm>
            <a:off x="9950957" y="92125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Oval 13"/>
          <p:cNvSpPr/>
          <p:nvPr/>
        </p:nvSpPr>
        <p:spPr>
          <a:xfrm>
            <a:off x="10853928" y="92125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Oval 14"/>
          <p:cNvSpPr/>
          <p:nvPr/>
        </p:nvSpPr>
        <p:spPr>
          <a:xfrm>
            <a:off x="11756897" y="92125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Oval 15"/>
          <p:cNvSpPr/>
          <p:nvPr/>
        </p:nvSpPr>
        <p:spPr>
          <a:xfrm>
            <a:off x="8145017" y="182041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Oval 16"/>
          <p:cNvSpPr/>
          <p:nvPr/>
        </p:nvSpPr>
        <p:spPr>
          <a:xfrm>
            <a:off x="9047988" y="182041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Oval 17"/>
          <p:cNvSpPr/>
          <p:nvPr/>
        </p:nvSpPr>
        <p:spPr>
          <a:xfrm>
            <a:off x="9950957" y="182041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Oval 18"/>
          <p:cNvSpPr/>
          <p:nvPr/>
        </p:nvSpPr>
        <p:spPr>
          <a:xfrm>
            <a:off x="10853928" y="182041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Oval 19"/>
          <p:cNvSpPr/>
          <p:nvPr/>
        </p:nvSpPr>
        <p:spPr>
          <a:xfrm>
            <a:off x="11756897" y="182041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Oval 20"/>
          <p:cNvSpPr/>
          <p:nvPr/>
        </p:nvSpPr>
        <p:spPr>
          <a:xfrm>
            <a:off x="8145017" y="271957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Oval 21"/>
          <p:cNvSpPr/>
          <p:nvPr/>
        </p:nvSpPr>
        <p:spPr>
          <a:xfrm>
            <a:off x="9047988" y="271957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Oval 22"/>
          <p:cNvSpPr/>
          <p:nvPr/>
        </p:nvSpPr>
        <p:spPr>
          <a:xfrm>
            <a:off x="9950957" y="271957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Oval 23"/>
          <p:cNvSpPr/>
          <p:nvPr/>
        </p:nvSpPr>
        <p:spPr>
          <a:xfrm>
            <a:off x="10853928" y="271957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Oval 24"/>
          <p:cNvSpPr/>
          <p:nvPr/>
        </p:nvSpPr>
        <p:spPr>
          <a:xfrm>
            <a:off x="11756897" y="271957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Oval 25"/>
          <p:cNvSpPr/>
          <p:nvPr/>
        </p:nvSpPr>
        <p:spPr>
          <a:xfrm>
            <a:off x="8145017" y="361873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Oval 26"/>
          <p:cNvSpPr/>
          <p:nvPr/>
        </p:nvSpPr>
        <p:spPr>
          <a:xfrm>
            <a:off x="9047988" y="361873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Oval 27"/>
          <p:cNvSpPr/>
          <p:nvPr/>
        </p:nvSpPr>
        <p:spPr>
          <a:xfrm>
            <a:off x="9950957" y="361873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Oval 28"/>
          <p:cNvSpPr/>
          <p:nvPr/>
        </p:nvSpPr>
        <p:spPr>
          <a:xfrm>
            <a:off x="10853928" y="361873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 name="Oval 29"/>
          <p:cNvSpPr/>
          <p:nvPr/>
        </p:nvSpPr>
        <p:spPr>
          <a:xfrm>
            <a:off x="11756897" y="361873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TextBox 30"/>
          <p:cNvSpPr txBox="1"/>
          <p:nvPr/>
        </p:nvSpPr>
        <p:spPr>
          <a:xfrm>
            <a:off x="731520" y="1417320"/>
            <a:ext cx="2194560" cy="1828800"/>
          </a:xfrm>
          <a:prstGeom prst="rect">
            <a:avLst/>
          </a:prstGeom>
          <a:noFill/>
        </p:spPr>
        <p:txBody>
          <a:bodyPr wrap="square" lIns="45720" tIns="27432" rIns="45720" bIns="27432" anchor="ctr">
            <a:noAutofit/>
          </a:bodyPr>
          <a:lstStyle/>
          <a:p>
            <a:pPr algn="l">
              <a:lnSpc>
                <a:spcPct val="105000"/>
              </a:lnSpc>
            </a:pPr>
            <a:r>
              <a:rPr lang="es-ES" sz="9600" b="1" i="0">
                <a:solidFill>
                  <a:srgbClr val="F28C28"/>
                </a:solidFill>
                <a:latin typeface="Calibri"/>
              </a:rPr>
              <a:t>06</a:t>
            </a:r>
          </a:p>
        </p:txBody>
      </p:sp>
      <p:sp>
        <p:nvSpPr>
          <p:cNvPr id="32" name="Rectangle 31"/>
          <p:cNvSpPr/>
          <p:nvPr/>
        </p:nvSpPr>
        <p:spPr>
          <a:xfrm>
            <a:off x="3063240" y="1691640"/>
            <a:ext cx="54864" cy="132588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 name="TextBox 32"/>
          <p:cNvSpPr txBox="1"/>
          <p:nvPr/>
        </p:nvSpPr>
        <p:spPr>
          <a:xfrm>
            <a:off x="3383280" y="1417320"/>
            <a:ext cx="8138160" cy="1188720"/>
          </a:xfrm>
          <a:prstGeom prst="rect">
            <a:avLst/>
          </a:prstGeom>
          <a:noFill/>
        </p:spPr>
        <p:txBody>
          <a:bodyPr wrap="square" lIns="45720" tIns="27432" rIns="45720" bIns="27432" anchor="ctr">
            <a:noAutofit/>
          </a:bodyPr>
          <a:lstStyle/>
          <a:p>
            <a:pPr algn="l">
              <a:lnSpc>
                <a:spcPct val="105000"/>
              </a:lnSpc>
            </a:pPr>
            <a:r>
              <a:rPr lang="es-ES" sz="4400" b="1" i="0">
                <a:solidFill>
                  <a:srgbClr val="FFFFFF"/>
                </a:solidFill>
                <a:latin typeface="Calibri"/>
              </a:rPr>
              <a:t>Conclusiones y recomendaciones</a:t>
            </a:r>
          </a:p>
        </p:txBody>
      </p:sp>
      <p:sp>
        <p:nvSpPr>
          <p:cNvPr id="34" name="TextBox 33"/>
          <p:cNvSpPr txBox="1"/>
          <p:nvPr/>
        </p:nvSpPr>
        <p:spPr>
          <a:xfrm>
            <a:off x="3383280" y="2606040"/>
            <a:ext cx="8138160" cy="1280160"/>
          </a:xfrm>
          <a:prstGeom prst="rect">
            <a:avLst/>
          </a:prstGeom>
          <a:noFill/>
        </p:spPr>
        <p:txBody>
          <a:bodyPr wrap="square" lIns="45720" tIns="27432" rIns="45720" bIns="27432" anchor="t">
            <a:noAutofit/>
          </a:bodyPr>
          <a:lstStyle/>
          <a:p>
            <a:pPr algn="l">
              <a:lnSpc>
                <a:spcPct val="115000"/>
              </a:lnSpc>
            </a:pPr>
            <a:r>
              <a:rPr lang="es-ES" sz="2100" b="0" i="0">
                <a:solidFill>
                  <a:srgbClr val="C7D2E8"/>
                </a:solidFill>
                <a:latin typeface="Calibri"/>
              </a:rPr>
              <a:t>Qué queda: cumplimiento de los objetivos, hipótesis, limitaciones y líneas de continuación</a:t>
            </a:r>
          </a:p>
        </p:txBody>
      </p:sp>
      <p:sp>
        <p:nvSpPr>
          <p:cNvPr id="35" name="Rounded Rectangle 34"/>
          <p:cNvSpPr/>
          <p:nvPr/>
        </p:nvSpPr>
        <p:spPr>
          <a:xfrm>
            <a:off x="566928" y="5806440"/>
            <a:ext cx="1751533" cy="493776"/>
          </a:xfrm>
          <a:prstGeom prst="roundRect">
            <a:avLst>
              <a:gd name="adj" fmla="val 28000"/>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noAutofit/>
          </a:bodyPr>
          <a:lstStyle/>
          <a:p>
            <a:pPr algn="ctr">
              <a:lnSpc>
                <a:spcPct val="100000"/>
              </a:lnSpc>
            </a:pPr>
            <a:r>
              <a:rPr lang="es-ES" sz="1200" b="0" i="0">
                <a:solidFill>
                  <a:srgbClr val="FFFFFF"/>
                </a:solidFill>
                <a:latin typeface="Calibri"/>
              </a:rPr>
              <a:t>1. Introducción</a:t>
            </a:r>
          </a:p>
        </p:txBody>
      </p:sp>
      <p:sp>
        <p:nvSpPr>
          <p:cNvPr id="36" name="Rounded Rectangle 35"/>
          <p:cNvSpPr/>
          <p:nvPr/>
        </p:nvSpPr>
        <p:spPr>
          <a:xfrm>
            <a:off x="2428189" y="5806440"/>
            <a:ext cx="1751533" cy="493776"/>
          </a:xfrm>
          <a:prstGeom prst="roundRect">
            <a:avLst>
              <a:gd name="adj" fmla="val 28000"/>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noAutofit/>
          </a:bodyPr>
          <a:lstStyle/>
          <a:p>
            <a:pPr algn="ctr">
              <a:lnSpc>
                <a:spcPct val="100000"/>
              </a:lnSpc>
            </a:pPr>
            <a:r>
              <a:rPr lang="es-ES" sz="1200" b="0" i="0">
                <a:solidFill>
                  <a:srgbClr val="FFFFFF"/>
                </a:solidFill>
                <a:latin typeface="Calibri"/>
              </a:rPr>
              <a:t>2. Base teórica</a:t>
            </a:r>
          </a:p>
        </p:txBody>
      </p:sp>
      <p:sp>
        <p:nvSpPr>
          <p:cNvPr id="37" name="Rounded Rectangle 36"/>
          <p:cNvSpPr/>
          <p:nvPr/>
        </p:nvSpPr>
        <p:spPr>
          <a:xfrm>
            <a:off x="4289450" y="5806440"/>
            <a:ext cx="1751533" cy="493776"/>
          </a:xfrm>
          <a:prstGeom prst="roundRect">
            <a:avLst>
              <a:gd name="adj" fmla="val 28000"/>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noAutofit/>
          </a:bodyPr>
          <a:lstStyle/>
          <a:p>
            <a:pPr algn="ctr">
              <a:lnSpc>
                <a:spcPct val="100000"/>
              </a:lnSpc>
            </a:pPr>
            <a:r>
              <a:rPr lang="es-ES" sz="1200" b="0" i="0">
                <a:solidFill>
                  <a:srgbClr val="FFFFFF"/>
                </a:solidFill>
                <a:latin typeface="Calibri"/>
              </a:rPr>
              <a:t>3. Diseño y desarrollo del modelo</a:t>
            </a:r>
          </a:p>
        </p:txBody>
      </p:sp>
      <p:sp>
        <p:nvSpPr>
          <p:cNvPr id="38" name="Rounded Rectangle 37"/>
          <p:cNvSpPr/>
          <p:nvPr/>
        </p:nvSpPr>
        <p:spPr>
          <a:xfrm>
            <a:off x="6150711" y="5806440"/>
            <a:ext cx="1751533" cy="493776"/>
          </a:xfrm>
          <a:prstGeom prst="roundRect">
            <a:avLst>
              <a:gd name="adj" fmla="val 28000"/>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noAutofit/>
          </a:bodyPr>
          <a:lstStyle/>
          <a:p>
            <a:pPr algn="ctr">
              <a:lnSpc>
                <a:spcPct val="100000"/>
              </a:lnSpc>
            </a:pPr>
            <a:r>
              <a:rPr lang="es-ES" sz="1200" b="0" i="0">
                <a:solidFill>
                  <a:srgbClr val="FFFFFF"/>
                </a:solidFill>
                <a:latin typeface="Calibri"/>
              </a:rPr>
              <a:t>4. Presentación de resultados</a:t>
            </a:r>
          </a:p>
        </p:txBody>
      </p:sp>
      <p:sp>
        <p:nvSpPr>
          <p:cNvPr id="39" name="Rounded Rectangle 38"/>
          <p:cNvSpPr/>
          <p:nvPr/>
        </p:nvSpPr>
        <p:spPr>
          <a:xfrm>
            <a:off x="8011972" y="5806440"/>
            <a:ext cx="1751533" cy="493776"/>
          </a:xfrm>
          <a:prstGeom prst="roundRect">
            <a:avLst>
              <a:gd name="adj" fmla="val 28000"/>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noAutofit/>
          </a:bodyPr>
          <a:lstStyle/>
          <a:p>
            <a:pPr algn="ctr">
              <a:lnSpc>
                <a:spcPct val="100000"/>
              </a:lnSpc>
            </a:pPr>
            <a:r>
              <a:rPr lang="es-ES" sz="1200" b="0" i="0">
                <a:solidFill>
                  <a:srgbClr val="FFFFFF"/>
                </a:solidFill>
                <a:latin typeface="Calibri"/>
              </a:rPr>
              <a:t>5. Análisis de resultados</a:t>
            </a:r>
          </a:p>
        </p:txBody>
      </p:sp>
      <p:sp>
        <p:nvSpPr>
          <p:cNvPr id="40" name="Rounded Rectangle 39"/>
          <p:cNvSpPr/>
          <p:nvPr/>
        </p:nvSpPr>
        <p:spPr>
          <a:xfrm>
            <a:off x="9873233" y="5806440"/>
            <a:ext cx="1751533" cy="493776"/>
          </a:xfrm>
          <a:prstGeom prst="roundRect">
            <a:avLst>
              <a:gd name="adj" fmla="val 28000"/>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noAutofit/>
          </a:bodyPr>
          <a:lstStyle/>
          <a:p>
            <a:pPr algn="ctr">
              <a:lnSpc>
                <a:spcPct val="100000"/>
              </a:lnSpc>
            </a:pPr>
            <a:r>
              <a:rPr lang="es-ES" sz="1200" b="1" i="0">
                <a:solidFill>
                  <a:srgbClr val="FFFFFF"/>
                </a:solidFill>
                <a:latin typeface="Calibri"/>
              </a:rPr>
              <a:t>6. Conclusiones y recomendaciones</a:t>
            </a:r>
          </a:p>
        </p:txBody>
      </p:sp>
      <p:pic>
        <p:nvPicPr>
          <p:cNvPr id="41" name="s34">
            <a:hlinkClick r:id="" action="ppaction://media"/>
            <a:extLst>
              <a:ext uri="{FF2B5EF4-FFF2-40B4-BE49-F238E27FC236}">
                <a16:creationId xmlns:a16="http://schemas.microsoft.com/office/drawing/2014/main" id="{106B5DA2-9F0A-EC74-6303-1CB5E522D34A}"/>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254000" y="254000"/>
            <a:ext cx="508000" cy="508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7424"/>
    </mc:Choice>
    <mc:Fallback>
      <p:transition spd="slow" advTm="7424"/>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1"/>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41"/>
                </p:tgtEl>
              </p:cMediaNode>
            </p:audio>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566928" y="361188"/>
            <a:ext cx="50292" cy="173736"/>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TextBox 2"/>
          <p:cNvSpPr txBox="1"/>
          <p:nvPr/>
        </p:nvSpPr>
        <p:spPr>
          <a:xfrm>
            <a:off x="704088" y="310896"/>
            <a:ext cx="6766560" cy="274320"/>
          </a:xfrm>
          <a:prstGeom prst="rect">
            <a:avLst/>
          </a:prstGeom>
          <a:noFill/>
        </p:spPr>
        <p:txBody>
          <a:bodyPr wrap="square" lIns="45720" tIns="27432" rIns="45720" bIns="27432" anchor="ctr">
            <a:noAutofit/>
          </a:bodyPr>
          <a:lstStyle/>
          <a:p>
            <a:pPr algn="l">
              <a:lnSpc>
                <a:spcPct val="105000"/>
              </a:lnSpc>
            </a:pPr>
            <a:r>
              <a:rPr lang="es-ES" sz="1200" b="1" i="0" spc="80">
                <a:solidFill>
                  <a:srgbClr val="F28C28"/>
                </a:solidFill>
                <a:latin typeface="Calibri"/>
              </a:rPr>
              <a:t>06   CONCLUSIONES Y RECOMENDACIONES</a:t>
            </a:r>
          </a:p>
        </p:txBody>
      </p:sp>
      <p:sp>
        <p:nvSpPr>
          <p:cNvPr id="4" name="Oval 3"/>
          <p:cNvSpPr/>
          <p:nvPr/>
        </p:nvSpPr>
        <p:spPr>
          <a:xfrm>
            <a:off x="10413187" y="388620"/>
            <a:ext cx="114300" cy="1143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Oval 4"/>
          <p:cNvSpPr/>
          <p:nvPr/>
        </p:nvSpPr>
        <p:spPr>
          <a:xfrm>
            <a:off x="10632643" y="388620"/>
            <a:ext cx="114300" cy="1143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Oval 5"/>
          <p:cNvSpPr/>
          <p:nvPr/>
        </p:nvSpPr>
        <p:spPr>
          <a:xfrm>
            <a:off x="10852099" y="388620"/>
            <a:ext cx="114300" cy="1143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Oval 6"/>
          <p:cNvSpPr/>
          <p:nvPr/>
        </p:nvSpPr>
        <p:spPr>
          <a:xfrm>
            <a:off x="11071555" y="388620"/>
            <a:ext cx="114300" cy="1143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Oval 7"/>
          <p:cNvSpPr/>
          <p:nvPr/>
        </p:nvSpPr>
        <p:spPr>
          <a:xfrm>
            <a:off x="11291011" y="388620"/>
            <a:ext cx="114300" cy="1143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Oval 8"/>
          <p:cNvSpPr/>
          <p:nvPr/>
        </p:nvSpPr>
        <p:spPr>
          <a:xfrm>
            <a:off x="11478463" y="356616"/>
            <a:ext cx="178308" cy="178308"/>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548640" y="585216"/>
            <a:ext cx="11057839" cy="749808"/>
          </a:xfrm>
          <a:prstGeom prst="rect">
            <a:avLst/>
          </a:prstGeom>
          <a:noFill/>
        </p:spPr>
        <p:txBody>
          <a:bodyPr wrap="square" lIns="45720" tIns="27432" rIns="45720" bIns="27432" anchor="ctr">
            <a:noAutofit/>
          </a:bodyPr>
          <a:lstStyle/>
          <a:p>
            <a:pPr algn="l">
              <a:lnSpc>
                <a:spcPct val="105000"/>
              </a:lnSpc>
            </a:pPr>
            <a:r>
              <a:rPr lang="es-ES" sz="3200" b="1" i="0">
                <a:solidFill>
                  <a:srgbClr val="1B2A4A"/>
                </a:solidFill>
                <a:latin typeface="Calibri"/>
              </a:rPr>
              <a:t>Seis objetivos, seis conclusiones</a:t>
            </a:r>
          </a:p>
        </p:txBody>
      </p:sp>
      <p:sp>
        <p:nvSpPr>
          <p:cNvPr id="11" name="Rectangle 10"/>
          <p:cNvSpPr/>
          <p:nvPr/>
        </p:nvSpPr>
        <p:spPr>
          <a:xfrm>
            <a:off x="566928" y="1371600"/>
            <a:ext cx="1051560" cy="50292"/>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graphicFrame>
        <p:nvGraphicFramePr>
          <p:cNvPr id="12" name="Table 11"/>
          <p:cNvGraphicFramePr>
            <a:graphicFrameLocks noGrp="1"/>
          </p:cNvGraphicFramePr>
          <p:nvPr/>
        </p:nvGraphicFramePr>
        <p:xfrm>
          <a:off x="566928" y="1764792"/>
          <a:ext cx="11057838" cy="3383280"/>
        </p:xfrm>
        <a:graphic>
          <a:graphicData uri="http://schemas.openxmlformats.org/drawingml/2006/table">
            <a:tbl>
              <a:tblPr>
                <a:tableStyleId>{5C22544A-7EE6-4342-B048-85BDC9FD1C3A}</a:tableStyleId>
              </a:tblPr>
              <a:tblGrid>
                <a:gridCol w="1716786">
                  <a:extLst>
                    <a:ext uri="{9D8B030D-6E8A-4147-A177-3AD203B41FA5}">
                      <a16:colId xmlns:a16="http://schemas.microsoft.com/office/drawing/2014/main" val="20000"/>
                    </a:ext>
                  </a:extLst>
                </a:gridCol>
                <a:gridCol w="1666005">
                  <a:extLst>
                    <a:ext uri="{9D8B030D-6E8A-4147-A177-3AD203B41FA5}">
                      <a16:colId xmlns:a16="http://schemas.microsoft.com/office/drawing/2014/main" val="20001"/>
                    </a:ext>
                  </a:extLst>
                </a:gridCol>
                <a:gridCol w="7675047">
                  <a:extLst>
                    <a:ext uri="{9D8B030D-6E8A-4147-A177-3AD203B41FA5}">
                      <a16:colId xmlns:a16="http://schemas.microsoft.com/office/drawing/2014/main" val="20002"/>
                    </a:ext>
                  </a:extLst>
                </a:gridCol>
              </a:tblGrid>
              <a:tr h="420624">
                <a:tc>
                  <a:txBody>
                    <a:bodyPr/>
                    <a:lstStyle/>
                    <a:p>
                      <a:pPr algn="l"/>
                      <a:r>
                        <a:rPr lang="es-ES" sz="1800" b="1" i="0">
                          <a:solidFill>
                            <a:srgbClr val="FFFFFF"/>
                          </a:solidFill>
                          <a:latin typeface="Calibri"/>
                        </a:rPr>
                        <a:t>OE</a:t>
                      </a:r>
                    </a:p>
                  </a:txBody>
                  <a:tcPr marL="73152" marR="73152" marT="27432" marB="27432" anchor="ctr">
                    <a:solidFill>
                      <a:srgbClr val="1B2A4A"/>
                    </a:solidFill>
                  </a:tcPr>
                </a:tc>
                <a:tc>
                  <a:txBody>
                    <a:bodyPr/>
                    <a:lstStyle/>
                    <a:p>
                      <a:pPr algn="ctr"/>
                      <a:r>
                        <a:rPr lang="es-ES" sz="1800" b="1" i="0">
                          <a:solidFill>
                            <a:srgbClr val="FFFFFF"/>
                          </a:solidFill>
                          <a:latin typeface="Calibri"/>
                        </a:rPr>
                        <a:t>Cumplimiento</a:t>
                      </a:r>
                    </a:p>
                  </a:txBody>
                  <a:tcPr marL="73152" marR="73152" marT="27432" marB="27432" anchor="ctr">
                    <a:solidFill>
                      <a:srgbClr val="1B2A4A"/>
                    </a:solidFill>
                  </a:tcPr>
                </a:tc>
                <a:tc>
                  <a:txBody>
                    <a:bodyPr/>
                    <a:lstStyle/>
                    <a:p>
                      <a:pPr algn="ctr"/>
                      <a:r>
                        <a:rPr lang="es-ES" sz="1800" b="1" i="0">
                          <a:solidFill>
                            <a:srgbClr val="FFFFFF"/>
                          </a:solidFill>
                          <a:latin typeface="Calibri"/>
                        </a:rPr>
                        <a:t>Evidencia</a:t>
                      </a:r>
                    </a:p>
                  </a:txBody>
                  <a:tcPr marL="73152" marR="73152" marT="27432" marB="27432" anchor="ctr">
                    <a:solidFill>
                      <a:srgbClr val="1B2A4A"/>
                    </a:solidFill>
                  </a:tcPr>
                </a:tc>
                <a:extLst>
                  <a:ext uri="{0D108BD9-81ED-4DB2-BD59-A6C34878D82A}">
                    <a16:rowId xmlns:a16="http://schemas.microsoft.com/office/drawing/2014/main" val="10000"/>
                  </a:ext>
                </a:extLst>
              </a:tr>
              <a:tr h="566928">
                <a:tc>
                  <a:txBody>
                    <a:bodyPr/>
                    <a:lstStyle/>
                    <a:p>
                      <a:pPr algn="l"/>
                      <a:r>
                        <a:rPr lang="es-ES" sz="1800" b="1" i="0">
                          <a:solidFill>
                            <a:srgbClr val="1F2937"/>
                          </a:solidFill>
                          <a:latin typeface="Calibri"/>
                        </a:rPr>
                        <a:t>OE1 Fundamentar</a:t>
                      </a:r>
                    </a:p>
                  </a:txBody>
                  <a:tcPr marL="73152" marR="73152" marT="27432" marB="27432" anchor="ctr">
                    <a:solidFill>
                      <a:srgbClr val="FFFFFF"/>
                    </a:solidFill>
                  </a:tcPr>
                </a:tc>
                <a:tc>
                  <a:txBody>
                    <a:bodyPr/>
                    <a:lstStyle/>
                    <a:p>
                      <a:pPr algn="ctr"/>
                      <a:r>
                        <a:rPr lang="es-ES" sz="1800" b="0" i="0">
                          <a:solidFill>
                            <a:srgbClr val="1F2937"/>
                          </a:solidFill>
                          <a:latin typeface="Calibri"/>
                        </a:rPr>
                        <a:t>Cumplido</a:t>
                      </a:r>
                    </a:p>
                  </a:txBody>
                  <a:tcPr marL="73152" marR="73152" marT="27432" marB="27432" anchor="ctr">
                    <a:solidFill>
                      <a:srgbClr val="FFFFFF"/>
                    </a:solidFill>
                  </a:tcPr>
                </a:tc>
                <a:tc>
                  <a:txBody>
                    <a:bodyPr/>
                    <a:lstStyle/>
                    <a:p>
                      <a:pPr algn="ctr"/>
                      <a:r>
                        <a:rPr lang="es-ES" sz="1800" b="0" i="0">
                          <a:solidFill>
                            <a:srgbClr val="1F2937"/>
                          </a:solidFill>
                          <a:latin typeface="Calibri"/>
                        </a:rPr>
                        <a:t>Fundamento, no resultado medido: una formulación en teoría, código y memoria</a:t>
                      </a:r>
                    </a:p>
                  </a:txBody>
                  <a:tcPr marL="73152" marR="73152" marT="27432" marB="27432" anchor="ctr">
                    <a:solidFill>
                      <a:srgbClr val="FFFFFF"/>
                    </a:solidFill>
                  </a:tcPr>
                </a:tc>
                <a:extLst>
                  <a:ext uri="{0D108BD9-81ED-4DB2-BD59-A6C34878D82A}">
                    <a16:rowId xmlns:a16="http://schemas.microsoft.com/office/drawing/2014/main" val="10001"/>
                  </a:ext>
                </a:extLst>
              </a:tr>
              <a:tr h="420624">
                <a:tc>
                  <a:txBody>
                    <a:bodyPr/>
                    <a:lstStyle/>
                    <a:p>
                      <a:pPr algn="l"/>
                      <a:r>
                        <a:rPr lang="es-ES" sz="1800" b="1" i="0">
                          <a:solidFill>
                            <a:srgbClr val="1F2937"/>
                          </a:solidFill>
                          <a:latin typeface="Calibri"/>
                        </a:rPr>
                        <a:t>OE2 Motor</a:t>
                      </a:r>
                    </a:p>
                  </a:txBody>
                  <a:tcPr marL="73152" marR="73152" marT="27432" marB="27432" anchor="ctr">
                    <a:solidFill>
                      <a:srgbClr val="F6F8FC"/>
                    </a:solidFill>
                  </a:tcPr>
                </a:tc>
                <a:tc>
                  <a:txBody>
                    <a:bodyPr/>
                    <a:lstStyle/>
                    <a:p>
                      <a:pPr algn="ctr"/>
                      <a:r>
                        <a:rPr lang="es-ES" sz="1800" b="0" i="0">
                          <a:solidFill>
                            <a:srgbClr val="1F2937"/>
                          </a:solidFill>
                          <a:latin typeface="Calibri"/>
                        </a:rPr>
                        <a:t>Cumplido</a:t>
                      </a:r>
                    </a:p>
                  </a:txBody>
                  <a:tcPr marL="73152" marR="73152" marT="27432" marB="27432" anchor="ctr">
                    <a:solidFill>
                      <a:srgbClr val="F6F8FC"/>
                    </a:solidFill>
                  </a:tcPr>
                </a:tc>
                <a:tc>
                  <a:txBody>
                    <a:bodyPr/>
                    <a:lstStyle/>
                    <a:p>
                      <a:pPr algn="ctr"/>
                      <a:r>
                        <a:rPr lang="es-ES" sz="1800" b="0" i="0">
                          <a:solidFill>
                            <a:srgbClr val="1F2937"/>
                          </a:solidFill>
                          <a:latin typeface="Calibri"/>
                        </a:rPr>
                        <a:t>MMS: Q4 O(h²)/O(h¹); Q9 O(h³)/O(h²)</a:t>
                      </a:r>
                    </a:p>
                  </a:txBody>
                  <a:tcPr marL="73152" marR="73152" marT="27432" marB="27432" anchor="ctr">
                    <a:solidFill>
                      <a:srgbClr val="F6F8FC"/>
                    </a:solidFill>
                  </a:tcPr>
                </a:tc>
                <a:extLst>
                  <a:ext uri="{0D108BD9-81ED-4DB2-BD59-A6C34878D82A}">
                    <a16:rowId xmlns:a16="http://schemas.microsoft.com/office/drawing/2014/main" val="10002"/>
                  </a:ext>
                </a:extLst>
              </a:tr>
              <a:tr h="420624">
                <a:tc>
                  <a:txBody>
                    <a:bodyPr/>
                    <a:lstStyle/>
                    <a:p>
                      <a:pPr algn="l"/>
                      <a:r>
                        <a:rPr lang="es-ES" sz="1800" b="1" i="0">
                          <a:solidFill>
                            <a:srgbClr val="1F2937"/>
                          </a:solidFill>
                          <a:latin typeface="Calibri"/>
                        </a:rPr>
                        <a:t>OE3 Interfaz</a:t>
                      </a:r>
                    </a:p>
                  </a:txBody>
                  <a:tcPr marL="73152" marR="73152" marT="27432" marB="27432" anchor="ctr">
                    <a:solidFill>
                      <a:srgbClr val="FFFFFF"/>
                    </a:solidFill>
                  </a:tcPr>
                </a:tc>
                <a:tc>
                  <a:txBody>
                    <a:bodyPr/>
                    <a:lstStyle/>
                    <a:p>
                      <a:pPr algn="ctr"/>
                      <a:r>
                        <a:rPr lang="es-ES" sz="1800" b="0" i="0">
                          <a:solidFill>
                            <a:srgbClr val="1F2937"/>
                          </a:solidFill>
                          <a:latin typeface="Calibri"/>
                        </a:rPr>
                        <a:t>Cumplido</a:t>
                      </a:r>
                    </a:p>
                  </a:txBody>
                  <a:tcPr marL="73152" marR="73152" marT="27432" marB="27432" anchor="ctr">
                    <a:solidFill>
                      <a:srgbClr val="FFFFFF"/>
                    </a:solidFill>
                  </a:tcPr>
                </a:tc>
                <a:tc>
                  <a:txBody>
                    <a:bodyPr/>
                    <a:lstStyle/>
                    <a:p>
                      <a:pPr algn="ctr"/>
                      <a:r>
                        <a:rPr lang="es-ES" sz="1800" b="0" i="0">
                          <a:solidFill>
                            <a:srgbClr val="1F2937"/>
                          </a:solidFill>
                          <a:latin typeface="Calibri"/>
                        </a:rPr>
                        <a:t>Tres fases sobre un lienzo único (Tabla 3.6)</a:t>
                      </a:r>
                    </a:p>
                  </a:txBody>
                  <a:tcPr marL="73152" marR="73152" marT="27432" marB="27432" anchor="ctr">
                    <a:solidFill>
                      <a:srgbClr val="FFFFFF"/>
                    </a:solidFill>
                  </a:tcPr>
                </a:tc>
                <a:extLst>
                  <a:ext uri="{0D108BD9-81ED-4DB2-BD59-A6C34878D82A}">
                    <a16:rowId xmlns:a16="http://schemas.microsoft.com/office/drawing/2014/main" val="10003"/>
                  </a:ext>
                </a:extLst>
              </a:tr>
              <a:tr h="566928">
                <a:tc>
                  <a:txBody>
                    <a:bodyPr/>
                    <a:lstStyle/>
                    <a:p>
                      <a:pPr algn="l"/>
                      <a:r>
                        <a:rPr lang="es-ES" sz="1800" b="1" i="0">
                          <a:solidFill>
                            <a:srgbClr val="1F2937"/>
                          </a:solidFill>
                          <a:latin typeface="Calibri"/>
                        </a:rPr>
                        <a:t>OE4 Módulos</a:t>
                      </a:r>
                    </a:p>
                  </a:txBody>
                  <a:tcPr marL="73152" marR="73152" marT="27432" marB="27432" anchor="ctr">
                    <a:solidFill>
                      <a:srgbClr val="F6F8FC"/>
                    </a:solidFill>
                  </a:tcPr>
                </a:tc>
                <a:tc>
                  <a:txBody>
                    <a:bodyPr/>
                    <a:lstStyle/>
                    <a:p>
                      <a:pPr algn="ctr"/>
                      <a:r>
                        <a:rPr lang="es-ES" sz="1800" b="0" i="0">
                          <a:solidFill>
                            <a:srgbClr val="1F2937"/>
                          </a:solidFill>
                          <a:latin typeface="Calibri"/>
                        </a:rPr>
                        <a:t>Cumplido</a:t>
                      </a:r>
                    </a:p>
                  </a:txBody>
                  <a:tcPr marL="73152" marR="73152" marT="27432" marB="27432" anchor="ctr">
                    <a:solidFill>
                      <a:srgbClr val="F6F8FC"/>
                    </a:solidFill>
                  </a:tcPr>
                </a:tc>
                <a:tc>
                  <a:txBody>
                    <a:bodyPr/>
                    <a:lstStyle/>
                    <a:p>
                      <a:pPr algn="ctr"/>
                      <a:r>
                        <a:rPr lang="es-ES" sz="1800" b="0" i="0">
                          <a:solidFill>
                            <a:srgbClr val="1F2937"/>
                          </a:solidFill>
                          <a:latin typeface="Calibri"/>
                        </a:rPr>
                        <a:t>M1 a M7 hasta el ensamblaje; solución y tensiones en post-proceso y memoria</a:t>
                      </a:r>
                    </a:p>
                  </a:txBody>
                  <a:tcPr marL="73152" marR="73152" marT="27432" marB="27432" anchor="ctr">
                    <a:solidFill>
                      <a:srgbClr val="F6F8FC"/>
                    </a:solidFill>
                  </a:tcPr>
                </a:tc>
                <a:extLst>
                  <a:ext uri="{0D108BD9-81ED-4DB2-BD59-A6C34878D82A}">
                    <a16:rowId xmlns:a16="http://schemas.microsoft.com/office/drawing/2014/main" val="10004"/>
                  </a:ext>
                </a:extLst>
              </a:tr>
              <a:tr h="420624">
                <a:tc>
                  <a:txBody>
                    <a:bodyPr/>
                    <a:lstStyle/>
                    <a:p>
                      <a:pPr algn="l"/>
                      <a:r>
                        <a:rPr lang="es-ES" sz="1800" b="1" i="0">
                          <a:solidFill>
                            <a:srgbClr val="1F2937"/>
                          </a:solidFill>
                          <a:latin typeface="Calibri"/>
                        </a:rPr>
                        <a:t>OE5 V&amp;V</a:t>
                      </a:r>
                    </a:p>
                  </a:txBody>
                  <a:tcPr marL="73152" marR="73152" marT="27432" marB="27432" anchor="ctr">
                    <a:solidFill>
                      <a:srgbClr val="FFFFFF"/>
                    </a:solidFill>
                  </a:tcPr>
                </a:tc>
                <a:tc>
                  <a:txBody>
                    <a:bodyPr/>
                    <a:lstStyle/>
                    <a:p>
                      <a:pPr algn="ctr"/>
                      <a:r>
                        <a:rPr lang="es-ES" sz="1800" b="0" i="0">
                          <a:solidFill>
                            <a:srgbClr val="1F2937"/>
                          </a:solidFill>
                          <a:latin typeface="Calibri"/>
                        </a:rPr>
                        <a:t>Cumplido</a:t>
                      </a:r>
                    </a:p>
                  </a:txBody>
                  <a:tcPr marL="73152" marR="73152" marT="27432" marB="27432" anchor="ctr">
                    <a:solidFill>
                      <a:srgbClr val="FFFFFF"/>
                    </a:solidFill>
                  </a:tcPr>
                </a:tc>
                <a:tc>
                  <a:txBody>
                    <a:bodyPr/>
                    <a:lstStyle/>
                    <a:p>
                      <a:pPr algn="ctr"/>
                      <a:r>
                        <a:rPr lang="es-ES" sz="1800" b="0" i="0">
                          <a:solidFill>
                            <a:srgbClr val="1F2937"/>
                          </a:solidFill>
                          <a:latin typeface="Calibri"/>
                        </a:rPr>
                        <a:t>0,04 % σₓ; 0,26 % flecha; Cook −0,044 % frente a −0,594 %</a:t>
                      </a:r>
                    </a:p>
                  </a:txBody>
                  <a:tcPr marL="73152" marR="73152" marT="27432" marB="27432" anchor="ctr">
                    <a:solidFill>
                      <a:srgbClr val="FFFFFF"/>
                    </a:solidFill>
                  </a:tcPr>
                </a:tc>
                <a:extLst>
                  <a:ext uri="{0D108BD9-81ED-4DB2-BD59-A6C34878D82A}">
                    <a16:rowId xmlns:a16="http://schemas.microsoft.com/office/drawing/2014/main" val="10005"/>
                  </a:ext>
                </a:extLst>
              </a:tr>
              <a:tr h="566928">
                <a:tc>
                  <a:txBody>
                    <a:bodyPr/>
                    <a:lstStyle/>
                    <a:p>
                      <a:pPr algn="l"/>
                      <a:r>
                        <a:rPr lang="es-ES" sz="1800" b="1" i="0">
                          <a:solidFill>
                            <a:srgbClr val="1F2937"/>
                          </a:solidFill>
                          <a:latin typeface="Calibri"/>
                        </a:rPr>
                        <a:t>OE6 Memoria e I/O</a:t>
                      </a:r>
                    </a:p>
                  </a:txBody>
                  <a:tcPr marL="73152" marR="73152" marT="27432" marB="27432" anchor="ctr">
                    <a:solidFill>
                      <a:srgbClr val="F6F8FC"/>
                    </a:solidFill>
                  </a:tcPr>
                </a:tc>
                <a:tc>
                  <a:txBody>
                    <a:bodyPr/>
                    <a:lstStyle/>
                    <a:p>
                      <a:pPr algn="ctr"/>
                      <a:r>
                        <a:rPr lang="es-ES" sz="1800" b="0" i="0">
                          <a:solidFill>
                            <a:srgbClr val="1F2937"/>
                          </a:solidFill>
                          <a:latin typeface="Calibri"/>
                        </a:rPr>
                        <a:t>Cumplido</a:t>
                      </a:r>
                    </a:p>
                  </a:txBody>
                  <a:tcPr marL="73152" marR="73152" marT="27432" marB="27432" anchor="ctr">
                    <a:solidFill>
                      <a:srgbClr val="F6F8FC"/>
                    </a:solidFill>
                  </a:tcPr>
                </a:tc>
                <a:tc>
                  <a:txBody>
                    <a:bodyPr/>
                    <a:lstStyle/>
                    <a:p>
                      <a:pPr algn="ctr"/>
                      <a:r>
                        <a:rPr lang="es-ES" sz="1800" b="0" i="0">
                          <a:solidFill>
                            <a:srgbClr val="1F2937"/>
                          </a:solidFill>
                          <a:latin typeface="Calibri"/>
                        </a:rPr>
                        <a:t>Memoria en PDF con las nueve etapas; DXF y CSV con ida y vuelta</a:t>
                      </a:r>
                    </a:p>
                  </a:txBody>
                  <a:tcPr marL="73152" marR="73152" marT="27432" marB="27432" anchor="ctr">
                    <a:solidFill>
                      <a:srgbClr val="F6F8FC"/>
                    </a:solidFill>
                  </a:tcPr>
                </a:tc>
                <a:extLst>
                  <a:ext uri="{0D108BD9-81ED-4DB2-BD59-A6C34878D82A}">
                    <a16:rowId xmlns:a16="http://schemas.microsoft.com/office/drawing/2014/main" val="10006"/>
                  </a:ext>
                </a:extLst>
              </a:tr>
            </a:tbl>
          </a:graphicData>
        </a:graphic>
      </p:graphicFrame>
      <p:sp>
        <p:nvSpPr>
          <p:cNvPr id="13" name="Rectangle 12"/>
          <p:cNvSpPr/>
          <p:nvPr/>
        </p:nvSpPr>
        <p:spPr>
          <a:xfrm>
            <a:off x="566928" y="2153412"/>
            <a:ext cx="11057839" cy="41148"/>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Rectangle 13"/>
          <p:cNvSpPr/>
          <p:nvPr/>
        </p:nvSpPr>
        <p:spPr>
          <a:xfrm>
            <a:off x="566928" y="5449824"/>
            <a:ext cx="11057839" cy="841248"/>
          </a:xfrm>
          <a:prstGeom prst="rect">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Rectangle 14"/>
          <p:cNvSpPr/>
          <p:nvPr/>
        </p:nvSpPr>
        <p:spPr>
          <a:xfrm>
            <a:off x="566928" y="5449824"/>
            <a:ext cx="77724" cy="841248"/>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795528" y="5449824"/>
            <a:ext cx="10737799" cy="841248"/>
          </a:xfrm>
          <a:prstGeom prst="rect">
            <a:avLst/>
          </a:prstGeom>
          <a:noFill/>
        </p:spPr>
        <p:txBody>
          <a:bodyPr wrap="square" lIns="45720" tIns="27432" rIns="45720" bIns="27432" anchor="ctr">
            <a:noAutofit/>
          </a:bodyPr>
          <a:lstStyle/>
          <a:p>
            <a:pPr algn="l">
              <a:lnSpc>
                <a:spcPct val="100000"/>
              </a:lnSpc>
            </a:pPr>
            <a:r>
              <a:rPr lang="es-ES" sz="2000" b="1" i="0">
                <a:solidFill>
                  <a:srgbClr val="1B2A4A"/>
                </a:solidFill>
                <a:latin typeface="Calibri"/>
              </a:rPr>
              <a:t>Seis objetivos cumplidos en los términos en que fueron enunciados y, con ello, el objetivo general</a:t>
            </a:r>
          </a:p>
        </p:txBody>
      </p:sp>
      <p:sp>
        <p:nvSpPr>
          <p:cNvPr id="17" name="Rectangle 16"/>
          <p:cNvSpPr/>
          <p:nvPr/>
        </p:nvSpPr>
        <p:spPr>
          <a:xfrm>
            <a:off x="566928" y="6364224"/>
            <a:ext cx="11057839" cy="7315"/>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566928" y="6437376"/>
            <a:ext cx="5029200" cy="292608"/>
          </a:xfrm>
          <a:prstGeom prst="rect">
            <a:avLst/>
          </a:prstGeom>
          <a:noFill/>
        </p:spPr>
        <p:txBody>
          <a:bodyPr wrap="square" lIns="45720" tIns="27432" rIns="45720" bIns="27432" anchor="ctr">
            <a:noAutofit/>
          </a:bodyPr>
          <a:lstStyle/>
          <a:p>
            <a:pPr algn="l">
              <a:lnSpc>
                <a:spcPct val="105000"/>
              </a:lnSpc>
            </a:pPr>
            <a:r>
              <a:rPr lang="es-ES" sz="1200" b="0" i="0">
                <a:solidFill>
                  <a:srgbClr val="5B6575"/>
                </a:solidFill>
                <a:latin typeface="Calibri"/>
              </a:rPr>
              <a:t>EduFEM · Defensa de tesis · Ingeniería Civil · UATF</a:t>
            </a:r>
          </a:p>
        </p:txBody>
      </p:sp>
      <p:sp>
        <p:nvSpPr>
          <p:cNvPr id="19" name="TextBox 18"/>
          <p:cNvSpPr txBox="1"/>
          <p:nvPr/>
        </p:nvSpPr>
        <p:spPr>
          <a:xfrm>
            <a:off x="4023360" y="6437376"/>
            <a:ext cx="5394960" cy="292608"/>
          </a:xfrm>
          <a:prstGeom prst="rect">
            <a:avLst/>
          </a:prstGeom>
          <a:noFill/>
        </p:spPr>
        <p:txBody>
          <a:bodyPr wrap="square" lIns="45720" tIns="27432" rIns="45720" bIns="27432" anchor="ctr">
            <a:noAutofit/>
          </a:bodyPr>
          <a:lstStyle/>
          <a:p>
            <a:pPr algn="ctr">
              <a:lnSpc>
                <a:spcPct val="105000"/>
              </a:lnSpc>
            </a:pPr>
            <a:r>
              <a:rPr lang="es-ES" sz="1200" b="0" i="0">
                <a:solidFill>
                  <a:srgbClr val="5B6575"/>
                </a:solidFill>
                <a:latin typeface="Calibri"/>
              </a:rPr>
              <a:t>Tesis: Conclusiones, conclusiones específicas</a:t>
            </a:r>
          </a:p>
        </p:txBody>
      </p:sp>
      <p:sp>
        <p:nvSpPr>
          <p:cNvPr id="20" name="TextBox 19"/>
          <p:cNvSpPr txBox="1"/>
          <p:nvPr/>
        </p:nvSpPr>
        <p:spPr>
          <a:xfrm>
            <a:off x="10527487" y="6437376"/>
            <a:ext cx="1097280" cy="292608"/>
          </a:xfrm>
          <a:prstGeom prst="rect">
            <a:avLst/>
          </a:prstGeom>
          <a:noFill/>
        </p:spPr>
        <p:txBody>
          <a:bodyPr wrap="none" lIns="45720" tIns="18288" rIns="45720" bIns="18288">
            <a:spAutoFit/>
          </a:bodyPr>
          <a:lstStyle/>
          <a:p>
            <a:pPr algn="r"/>
            <a:fld id="{B6F15528-21DE-4FAA-801E-634DDDAF4B2B}" type="slidenum">
              <a:rPr lang="es-ES" sz="1200" dirty="0">
                <a:solidFill>
                  <a:srgbClr val="5B6575"/>
                </a:solidFill>
                <a:latin typeface="Calibri"/>
              </a:rPr>
              <a:t>35</a:t>
            </a:fld>
            <a:endParaRPr lang="es-ES" sz="1200" dirty="0">
              <a:solidFill>
                <a:srgbClr val="5B6575"/>
              </a:solidFill>
              <a:latin typeface="Calibri"/>
            </a:endParaRPr>
          </a:p>
        </p:txBody>
      </p:sp>
      <p:pic>
        <p:nvPicPr>
          <p:cNvPr id="21" name="s35">
            <a:hlinkClick r:id="" action="ppaction://media"/>
            <a:extLst>
              <a:ext uri="{FF2B5EF4-FFF2-40B4-BE49-F238E27FC236}">
                <a16:creationId xmlns:a16="http://schemas.microsoft.com/office/drawing/2014/main" id="{DB220935-0D02-7F4B-DEF8-0C8F87F339F3}"/>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254000" y="254000"/>
            <a:ext cx="508000" cy="508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63584"/>
    </mc:Choice>
    <mc:Fallback>
      <p:transition spd="slow" advTm="63584"/>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21"/>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21"/>
                </p:tgtEl>
              </p:cMediaNode>
            </p:audio>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566928" y="361188"/>
            <a:ext cx="50292" cy="173736"/>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TextBox 2"/>
          <p:cNvSpPr txBox="1"/>
          <p:nvPr/>
        </p:nvSpPr>
        <p:spPr>
          <a:xfrm>
            <a:off x="704088" y="310896"/>
            <a:ext cx="6766560" cy="274320"/>
          </a:xfrm>
          <a:prstGeom prst="rect">
            <a:avLst/>
          </a:prstGeom>
          <a:noFill/>
        </p:spPr>
        <p:txBody>
          <a:bodyPr wrap="square" lIns="45720" tIns="27432" rIns="45720" bIns="27432" anchor="ctr">
            <a:noAutofit/>
          </a:bodyPr>
          <a:lstStyle/>
          <a:p>
            <a:pPr algn="l">
              <a:lnSpc>
                <a:spcPct val="105000"/>
              </a:lnSpc>
            </a:pPr>
            <a:r>
              <a:rPr lang="es-ES" sz="1200" b="1" i="0" spc="80">
                <a:solidFill>
                  <a:srgbClr val="F28C28"/>
                </a:solidFill>
                <a:latin typeface="Calibri"/>
              </a:rPr>
              <a:t>06   CONCLUSIONES Y RECOMENDACIONES</a:t>
            </a:r>
          </a:p>
        </p:txBody>
      </p:sp>
      <p:sp>
        <p:nvSpPr>
          <p:cNvPr id="4" name="Oval 3"/>
          <p:cNvSpPr/>
          <p:nvPr/>
        </p:nvSpPr>
        <p:spPr>
          <a:xfrm>
            <a:off x="10413187" y="388620"/>
            <a:ext cx="114300" cy="1143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Oval 4"/>
          <p:cNvSpPr/>
          <p:nvPr/>
        </p:nvSpPr>
        <p:spPr>
          <a:xfrm>
            <a:off x="10632643" y="388620"/>
            <a:ext cx="114300" cy="1143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Oval 5"/>
          <p:cNvSpPr/>
          <p:nvPr/>
        </p:nvSpPr>
        <p:spPr>
          <a:xfrm>
            <a:off x="10852099" y="388620"/>
            <a:ext cx="114300" cy="1143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Oval 6"/>
          <p:cNvSpPr/>
          <p:nvPr/>
        </p:nvSpPr>
        <p:spPr>
          <a:xfrm>
            <a:off x="11071555" y="388620"/>
            <a:ext cx="114300" cy="1143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Oval 7"/>
          <p:cNvSpPr/>
          <p:nvPr/>
        </p:nvSpPr>
        <p:spPr>
          <a:xfrm>
            <a:off x="11291011" y="388620"/>
            <a:ext cx="114300" cy="1143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Oval 8"/>
          <p:cNvSpPr/>
          <p:nvPr/>
        </p:nvSpPr>
        <p:spPr>
          <a:xfrm>
            <a:off x="11478463" y="356616"/>
            <a:ext cx="178308" cy="178308"/>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548640" y="585216"/>
            <a:ext cx="11057839" cy="749808"/>
          </a:xfrm>
          <a:prstGeom prst="rect">
            <a:avLst/>
          </a:prstGeom>
          <a:noFill/>
        </p:spPr>
        <p:txBody>
          <a:bodyPr wrap="square" lIns="45720" tIns="27432" rIns="45720" bIns="27432" anchor="ctr">
            <a:noAutofit/>
          </a:bodyPr>
          <a:lstStyle/>
          <a:p>
            <a:pPr algn="l">
              <a:lnSpc>
                <a:spcPct val="105000"/>
              </a:lnSpc>
            </a:pPr>
            <a:r>
              <a:rPr lang="es-ES" sz="3200" b="1" i="0">
                <a:solidFill>
                  <a:srgbClr val="1B2A4A"/>
                </a:solidFill>
                <a:latin typeface="Calibri"/>
              </a:rPr>
              <a:t>Hipótesis confirmada, preguntas respondidas</a:t>
            </a:r>
          </a:p>
        </p:txBody>
      </p:sp>
      <p:sp>
        <p:nvSpPr>
          <p:cNvPr id="11" name="Rectangle 10"/>
          <p:cNvSpPr/>
          <p:nvPr/>
        </p:nvSpPr>
        <p:spPr>
          <a:xfrm>
            <a:off x="566928" y="1371600"/>
            <a:ext cx="1051560" cy="50292"/>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Rounded Rectangle 11"/>
          <p:cNvSpPr/>
          <p:nvPr/>
        </p:nvSpPr>
        <p:spPr>
          <a:xfrm>
            <a:off x="566928" y="1572768"/>
            <a:ext cx="5346039" cy="3767328"/>
          </a:xfrm>
          <a:prstGeom prst="roundRect">
            <a:avLst>
              <a:gd name="adj" fmla="val 5000"/>
            </a:avLst>
          </a:prstGeom>
          <a:solidFill>
            <a:srgbClr val="F6F8FC"/>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Rounded Rectangle 12"/>
          <p:cNvSpPr/>
          <p:nvPr/>
        </p:nvSpPr>
        <p:spPr>
          <a:xfrm>
            <a:off x="566928" y="1572768"/>
            <a:ext cx="5346039" cy="621792"/>
          </a:xfrm>
          <a:prstGeom prst="roundRect">
            <a:avLst>
              <a:gd name="adj" fmla="val 12000"/>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Rectangle 13"/>
          <p:cNvSpPr/>
          <p:nvPr/>
        </p:nvSpPr>
        <p:spPr>
          <a:xfrm>
            <a:off x="566928" y="1920240"/>
            <a:ext cx="5346039" cy="27432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566928" y="1572768"/>
            <a:ext cx="5346039" cy="621792"/>
          </a:xfrm>
          <a:prstGeom prst="rect">
            <a:avLst/>
          </a:prstGeom>
          <a:noFill/>
        </p:spPr>
        <p:txBody>
          <a:bodyPr wrap="square" lIns="45720" tIns="27432" rIns="45720" bIns="27432" anchor="ctr">
            <a:noAutofit/>
          </a:bodyPr>
          <a:lstStyle/>
          <a:p>
            <a:pPr algn="ctr">
              <a:lnSpc>
                <a:spcPct val="100000"/>
              </a:lnSpc>
            </a:pPr>
            <a:r>
              <a:rPr lang="es-ES" sz="2000" b="1" i="0">
                <a:solidFill>
                  <a:srgbClr val="FFFFFF"/>
                </a:solidFill>
                <a:latin typeface="Calibri"/>
              </a:rPr>
              <a:t>Confirmada cláusula por cláusula</a:t>
            </a:r>
          </a:p>
        </p:txBody>
      </p:sp>
      <p:sp>
        <p:nvSpPr>
          <p:cNvPr id="16" name="TextBox 15"/>
          <p:cNvSpPr txBox="1"/>
          <p:nvPr/>
        </p:nvSpPr>
        <p:spPr>
          <a:xfrm>
            <a:off x="768096" y="2395728"/>
            <a:ext cx="4943703" cy="2816352"/>
          </a:xfrm>
          <a:prstGeom prst="rect">
            <a:avLst/>
          </a:prstGeom>
          <a:noFill/>
        </p:spPr>
        <p:txBody>
          <a:bodyPr wrap="square" lIns="45720" tIns="27432" rIns="45720" bIns="27432" anchor="t">
            <a:noAutofit/>
          </a:bodyPr>
          <a:lstStyle/>
          <a:p>
            <a:pPr marL="347472" indent="-347472">
              <a:lnSpc>
                <a:spcPct val="112000"/>
              </a:lnSpc>
              <a:spcAft>
                <a:spcPts val="900"/>
              </a:spcAft>
              <a:buClr>
                <a:srgbClr val="1B2A4A"/>
              </a:buClr>
              <a:buSzPct val="100000"/>
              <a:buFont typeface="Arial"/>
              <a:buChar char="•"/>
            </a:pPr>
            <a:r>
              <a:rPr lang="es-ES" sz="1900" b="0" i="0">
                <a:solidFill>
                  <a:srgbClr val="1F2937"/>
                </a:solidFill>
                <a:latin typeface="Calibri"/>
              </a:rPr>
              <a:t>(a) 0,04 % y 0,26 % frente al analítico; 0,21 % y 0,56 % frente a SAP2000</a:t>
            </a:r>
          </a:p>
          <a:p>
            <a:pPr marL="347472" indent="-347472">
              <a:lnSpc>
                <a:spcPct val="112000"/>
              </a:lnSpc>
              <a:spcAft>
                <a:spcPts val="900"/>
              </a:spcAft>
              <a:buClr>
                <a:srgbClr val="1B2A4A"/>
              </a:buClr>
              <a:buSzPct val="100000"/>
              <a:buFont typeface="Arial"/>
              <a:buChar char="•"/>
            </a:pPr>
            <a:r>
              <a:rPr lang="es-ES" sz="1900" b="0" i="0">
                <a:solidFill>
                  <a:srgbClr val="1F2937"/>
                </a:solidFill>
                <a:latin typeface="Calibri"/>
              </a:rPr>
              <a:t>(b) el Q4 bloquea y el Q9 converge, a igual número de GDL</a:t>
            </a:r>
          </a:p>
          <a:p>
            <a:pPr marL="347472" indent="-347472">
              <a:lnSpc>
                <a:spcPct val="112000"/>
              </a:lnSpc>
              <a:spcAft>
                <a:spcPts val="900"/>
              </a:spcAft>
              <a:buClr>
                <a:srgbClr val="1B2A4A"/>
              </a:buClr>
              <a:buSzPct val="100000"/>
              <a:buFont typeface="Arial"/>
              <a:buChar char="•"/>
            </a:pPr>
            <a:r>
              <a:rPr lang="es-ES" sz="1900" b="0" i="0">
                <a:solidFill>
                  <a:srgbClr val="1F2937"/>
                </a:solidFill>
                <a:latin typeface="Calibri"/>
              </a:rPr>
              <a:t>(c) 7/7 con módulo, 9/9 en la memoria y tres fases sobre un lienzo</a:t>
            </a:r>
          </a:p>
          <a:p>
            <a:pPr marL="347472" indent="-347472">
              <a:lnSpc>
                <a:spcPct val="112000"/>
              </a:lnSpc>
              <a:spcAft>
                <a:spcPts val="900"/>
              </a:spcAft>
              <a:buClr>
                <a:srgbClr val="1B2A4A"/>
              </a:buClr>
              <a:buSzPct val="100000"/>
              <a:buFont typeface="Arial"/>
              <a:buChar char="•"/>
            </a:pPr>
            <a:r>
              <a:rPr lang="es-ES" sz="1900" b="0" i="0">
                <a:solidFill>
                  <a:srgbClr val="1F2937"/>
                </a:solidFill>
                <a:latin typeface="Calibri"/>
              </a:rPr>
              <a:t>El supuesto pedagógico queda como recomendación</a:t>
            </a:r>
          </a:p>
        </p:txBody>
      </p:sp>
      <p:sp>
        <p:nvSpPr>
          <p:cNvPr id="17" name="Rounded Rectangle 16"/>
          <p:cNvSpPr/>
          <p:nvPr/>
        </p:nvSpPr>
        <p:spPr>
          <a:xfrm>
            <a:off x="6278727" y="1572768"/>
            <a:ext cx="5346039" cy="3767328"/>
          </a:xfrm>
          <a:prstGeom prst="roundRect">
            <a:avLst>
              <a:gd name="adj" fmla="val 5000"/>
            </a:avLst>
          </a:prstGeom>
          <a:solidFill>
            <a:srgbClr val="F6F8FC"/>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Rounded Rectangle 17"/>
          <p:cNvSpPr/>
          <p:nvPr/>
        </p:nvSpPr>
        <p:spPr>
          <a:xfrm>
            <a:off x="6278727" y="1572768"/>
            <a:ext cx="5346039" cy="621792"/>
          </a:xfrm>
          <a:prstGeom prst="roundRect">
            <a:avLst>
              <a:gd name="adj" fmla="val 12000"/>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Rectangle 18"/>
          <p:cNvSpPr/>
          <p:nvPr/>
        </p:nvSpPr>
        <p:spPr>
          <a:xfrm>
            <a:off x="6278727" y="1920240"/>
            <a:ext cx="5346039" cy="27432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6278727" y="1572768"/>
            <a:ext cx="5346039" cy="621792"/>
          </a:xfrm>
          <a:prstGeom prst="rect">
            <a:avLst/>
          </a:prstGeom>
          <a:noFill/>
        </p:spPr>
        <p:txBody>
          <a:bodyPr wrap="square" lIns="45720" tIns="27432" rIns="45720" bIns="27432" anchor="ctr">
            <a:noAutofit/>
          </a:bodyPr>
          <a:lstStyle/>
          <a:p>
            <a:pPr algn="ctr">
              <a:lnSpc>
                <a:spcPct val="100000"/>
              </a:lnSpc>
            </a:pPr>
            <a:r>
              <a:rPr lang="es-ES" sz="2300" b="1" i="0">
                <a:solidFill>
                  <a:srgbClr val="FFFFFF"/>
                </a:solidFill>
                <a:latin typeface="Calibri"/>
              </a:rPr>
              <a:t>Preguntas de investigación</a:t>
            </a:r>
          </a:p>
        </p:txBody>
      </p:sp>
      <p:sp>
        <p:nvSpPr>
          <p:cNvPr id="21" name="TextBox 20"/>
          <p:cNvSpPr txBox="1"/>
          <p:nvPr/>
        </p:nvSpPr>
        <p:spPr>
          <a:xfrm>
            <a:off x="6479895" y="2395728"/>
            <a:ext cx="4943703" cy="2816352"/>
          </a:xfrm>
          <a:prstGeom prst="rect">
            <a:avLst/>
          </a:prstGeom>
          <a:noFill/>
        </p:spPr>
        <p:txBody>
          <a:bodyPr wrap="square" lIns="45720" tIns="27432" rIns="45720" bIns="27432" anchor="t">
            <a:noAutofit/>
          </a:bodyPr>
          <a:lstStyle/>
          <a:p>
            <a:pPr marL="347472" indent="-347472">
              <a:lnSpc>
                <a:spcPct val="112000"/>
              </a:lnSpc>
              <a:spcAft>
                <a:spcPts val="900"/>
              </a:spcAft>
              <a:buClr>
                <a:srgbClr val="F28C28"/>
              </a:buClr>
              <a:buSzPct val="100000"/>
              <a:buFont typeface="Arial"/>
              <a:buChar char="•"/>
            </a:pPr>
            <a:r>
              <a:rPr lang="es-ES" sz="2200" b="1" i="0">
                <a:solidFill>
                  <a:srgbClr val="1B2A4A"/>
                </a:solidFill>
                <a:latin typeface="Calibri"/>
              </a:rPr>
              <a:t>PI-1 sí:</a:t>
            </a:r>
            <a:r>
              <a:rPr lang="es-ES" sz="2200" b="0" i="0">
                <a:solidFill>
                  <a:srgbClr val="1F2937"/>
                </a:solidFill>
                <a:latin typeface="Calibri"/>
              </a:rPr>
              <a:t> 0,04 % en σₓ, 0,26 % en flecha, hasta 0,56 % frente a SAP2000</a:t>
            </a:r>
          </a:p>
          <a:p>
            <a:pPr marL="347472" indent="-347472">
              <a:lnSpc>
                <a:spcPct val="112000"/>
              </a:lnSpc>
              <a:spcAft>
                <a:spcPts val="900"/>
              </a:spcAft>
              <a:buClr>
                <a:srgbClr val="F28C28"/>
              </a:buClr>
              <a:buSzPct val="100000"/>
              <a:buFont typeface="Arial"/>
              <a:buChar char="•"/>
            </a:pPr>
            <a:r>
              <a:rPr lang="es-ES" sz="2200" b="1" i="0">
                <a:solidFill>
                  <a:srgbClr val="1B2A4A"/>
                </a:solidFill>
                <a:latin typeface="Calibri"/>
              </a:rPr>
              <a:t>PI-2 sí:</a:t>
            </a:r>
            <a:r>
              <a:rPr lang="es-ES" sz="2200" b="0" i="0">
                <a:solidFill>
                  <a:srgbClr val="1F2937"/>
                </a:solidFill>
                <a:latin typeface="Calibri"/>
              </a:rPr>
              <a:t> lienzo único, módulos M0 a M7 y memoria de cálculo</a:t>
            </a:r>
          </a:p>
          <a:p>
            <a:pPr marL="347472" indent="-347472">
              <a:lnSpc>
                <a:spcPct val="112000"/>
              </a:lnSpc>
              <a:spcAft>
                <a:spcPts val="900"/>
              </a:spcAft>
              <a:buClr>
                <a:srgbClr val="F28C28"/>
              </a:buClr>
              <a:buSzPct val="100000"/>
              <a:buFont typeface="Arial"/>
              <a:buChar char="•"/>
            </a:pPr>
            <a:r>
              <a:rPr lang="es-ES" sz="2200" b="1" i="0">
                <a:solidFill>
                  <a:srgbClr val="1B2A4A"/>
                </a:solidFill>
                <a:latin typeface="Calibri"/>
              </a:rPr>
              <a:t>PI-3 sí:</a:t>
            </a:r>
            <a:r>
              <a:rPr lang="es-ES" sz="2200" b="0" i="0">
                <a:solidFill>
                  <a:srgbClr val="1F2937"/>
                </a:solidFill>
                <a:latin typeface="Calibri"/>
              </a:rPr>
              <a:t> Cook, Q4 −0,594 % frente a Q9 −0,044 %</a:t>
            </a:r>
          </a:p>
        </p:txBody>
      </p:sp>
      <p:sp>
        <p:nvSpPr>
          <p:cNvPr id="22" name="Rectangle 21"/>
          <p:cNvSpPr/>
          <p:nvPr/>
        </p:nvSpPr>
        <p:spPr>
          <a:xfrm>
            <a:off x="566928" y="5449824"/>
            <a:ext cx="11057839" cy="841248"/>
          </a:xfrm>
          <a:prstGeom prst="rect">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Rectangle 22"/>
          <p:cNvSpPr/>
          <p:nvPr/>
        </p:nvSpPr>
        <p:spPr>
          <a:xfrm>
            <a:off x="566928" y="5449824"/>
            <a:ext cx="77724" cy="841248"/>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TextBox 23"/>
          <p:cNvSpPr txBox="1"/>
          <p:nvPr/>
        </p:nvSpPr>
        <p:spPr>
          <a:xfrm>
            <a:off x="795528" y="5449824"/>
            <a:ext cx="10737799" cy="841248"/>
          </a:xfrm>
          <a:prstGeom prst="rect">
            <a:avLst/>
          </a:prstGeom>
          <a:noFill/>
        </p:spPr>
        <p:txBody>
          <a:bodyPr wrap="square" lIns="45720" tIns="27432" rIns="45720" bIns="27432" anchor="ctr">
            <a:noAutofit/>
          </a:bodyPr>
          <a:lstStyle/>
          <a:p>
            <a:pPr algn="l">
              <a:lnSpc>
                <a:spcPct val="100000"/>
              </a:lnSpc>
            </a:pPr>
            <a:r>
              <a:rPr lang="es-ES" sz="2000" b="1" i="0">
                <a:solidFill>
                  <a:srgbClr val="1B2A4A"/>
                </a:solidFill>
                <a:latin typeface="Calibri"/>
              </a:rPr>
              <a:t>Problema resuelto: el canal es observable (módulos y memoria) y contrastable (V&amp;V con criterios a priori)</a:t>
            </a:r>
          </a:p>
        </p:txBody>
      </p:sp>
      <p:sp>
        <p:nvSpPr>
          <p:cNvPr id="25" name="Rectangle 24"/>
          <p:cNvSpPr/>
          <p:nvPr/>
        </p:nvSpPr>
        <p:spPr>
          <a:xfrm>
            <a:off x="566928" y="6364224"/>
            <a:ext cx="11057839" cy="7315"/>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TextBox 25"/>
          <p:cNvSpPr txBox="1"/>
          <p:nvPr/>
        </p:nvSpPr>
        <p:spPr>
          <a:xfrm>
            <a:off x="566928" y="6437376"/>
            <a:ext cx="5029200" cy="292608"/>
          </a:xfrm>
          <a:prstGeom prst="rect">
            <a:avLst/>
          </a:prstGeom>
          <a:noFill/>
        </p:spPr>
        <p:txBody>
          <a:bodyPr wrap="square" lIns="45720" tIns="27432" rIns="45720" bIns="27432" anchor="ctr">
            <a:noAutofit/>
          </a:bodyPr>
          <a:lstStyle/>
          <a:p>
            <a:pPr algn="l">
              <a:lnSpc>
                <a:spcPct val="105000"/>
              </a:lnSpc>
            </a:pPr>
            <a:r>
              <a:rPr lang="es-ES" sz="1200" b="0" i="0">
                <a:solidFill>
                  <a:srgbClr val="5B6575"/>
                </a:solidFill>
                <a:latin typeface="Calibri"/>
              </a:rPr>
              <a:t>EduFEM · Defensa de tesis · Ingeniería Civil · UATF</a:t>
            </a:r>
          </a:p>
        </p:txBody>
      </p:sp>
      <p:sp>
        <p:nvSpPr>
          <p:cNvPr id="27" name="TextBox 26"/>
          <p:cNvSpPr txBox="1"/>
          <p:nvPr/>
        </p:nvSpPr>
        <p:spPr>
          <a:xfrm>
            <a:off x="4023360" y="6437376"/>
            <a:ext cx="5394960" cy="292608"/>
          </a:xfrm>
          <a:prstGeom prst="rect">
            <a:avLst/>
          </a:prstGeom>
          <a:noFill/>
        </p:spPr>
        <p:txBody>
          <a:bodyPr wrap="square" lIns="45720" tIns="27432" rIns="45720" bIns="27432" anchor="ctr">
            <a:noAutofit/>
          </a:bodyPr>
          <a:lstStyle/>
          <a:p>
            <a:pPr algn="ctr">
              <a:lnSpc>
                <a:spcPct val="105000"/>
              </a:lnSpc>
            </a:pPr>
            <a:r>
              <a:rPr lang="es-ES" sz="1200" b="0" i="0">
                <a:solidFill>
                  <a:srgbClr val="5B6575"/>
                </a:solidFill>
                <a:latin typeface="Calibri"/>
              </a:rPr>
              <a:t>Tesis: §3.8 y Conclusiones</a:t>
            </a:r>
          </a:p>
        </p:txBody>
      </p:sp>
      <p:sp>
        <p:nvSpPr>
          <p:cNvPr id="28" name="TextBox 27"/>
          <p:cNvSpPr txBox="1"/>
          <p:nvPr/>
        </p:nvSpPr>
        <p:spPr>
          <a:xfrm>
            <a:off x="10527487" y="6437376"/>
            <a:ext cx="1097280" cy="292608"/>
          </a:xfrm>
          <a:prstGeom prst="rect">
            <a:avLst/>
          </a:prstGeom>
          <a:noFill/>
        </p:spPr>
        <p:txBody>
          <a:bodyPr wrap="none" lIns="45720" tIns="18288" rIns="45720" bIns="18288">
            <a:spAutoFit/>
          </a:bodyPr>
          <a:lstStyle/>
          <a:p>
            <a:pPr algn="r"/>
            <a:fld id="{B6F15528-21DE-4FAA-801E-634DDDAF4B2B}" type="slidenum">
              <a:rPr lang="es-ES" sz="1200" dirty="0">
                <a:solidFill>
                  <a:srgbClr val="5B6575"/>
                </a:solidFill>
                <a:latin typeface="Calibri"/>
              </a:rPr>
              <a:t>36</a:t>
            </a:fld>
            <a:endParaRPr lang="es-ES" sz="1200" dirty="0">
              <a:solidFill>
                <a:srgbClr val="5B6575"/>
              </a:solidFill>
              <a:latin typeface="Calibri"/>
            </a:endParaRPr>
          </a:p>
        </p:txBody>
      </p:sp>
      <p:pic>
        <p:nvPicPr>
          <p:cNvPr id="29" name="s36">
            <a:hlinkClick r:id="" action="ppaction://media"/>
            <a:extLst>
              <a:ext uri="{FF2B5EF4-FFF2-40B4-BE49-F238E27FC236}">
                <a16:creationId xmlns:a16="http://schemas.microsoft.com/office/drawing/2014/main" id="{1C38EA88-96FD-FB05-90E7-B235F718C4FE}"/>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254000" y="254000"/>
            <a:ext cx="508000" cy="508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62384"/>
    </mc:Choice>
    <mc:Fallback>
      <p:transition spd="slow" advTm="62384"/>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29"/>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29"/>
                </p:tgtEl>
              </p:cMediaNode>
            </p:audio>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566928" y="361188"/>
            <a:ext cx="50292" cy="173736"/>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TextBox 2"/>
          <p:cNvSpPr txBox="1"/>
          <p:nvPr/>
        </p:nvSpPr>
        <p:spPr>
          <a:xfrm>
            <a:off x="704088" y="310896"/>
            <a:ext cx="6766560" cy="274320"/>
          </a:xfrm>
          <a:prstGeom prst="rect">
            <a:avLst/>
          </a:prstGeom>
          <a:noFill/>
        </p:spPr>
        <p:txBody>
          <a:bodyPr wrap="square" lIns="45720" tIns="27432" rIns="45720" bIns="27432" anchor="ctr">
            <a:noAutofit/>
          </a:bodyPr>
          <a:lstStyle/>
          <a:p>
            <a:pPr algn="l">
              <a:lnSpc>
                <a:spcPct val="105000"/>
              </a:lnSpc>
            </a:pPr>
            <a:r>
              <a:rPr lang="es-ES" sz="1200" b="1" i="0" spc="80">
                <a:solidFill>
                  <a:srgbClr val="F28C28"/>
                </a:solidFill>
                <a:latin typeface="Calibri"/>
              </a:rPr>
              <a:t>06   CONCLUSIONES Y RECOMENDACIONES</a:t>
            </a:r>
          </a:p>
        </p:txBody>
      </p:sp>
      <p:sp>
        <p:nvSpPr>
          <p:cNvPr id="4" name="Oval 3"/>
          <p:cNvSpPr/>
          <p:nvPr/>
        </p:nvSpPr>
        <p:spPr>
          <a:xfrm>
            <a:off x="10413187" y="388620"/>
            <a:ext cx="114300" cy="1143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Oval 4"/>
          <p:cNvSpPr/>
          <p:nvPr/>
        </p:nvSpPr>
        <p:spPr>
          <a:xfrm>
            <a:off x="10632643" y="388620"/>
            <a:ext cx="114300" cy="1143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Oval 5"/>
          <p:cNvSpPr/>
          <p:nvPr/>
        </p:nvSpPr>
        <p:spPr>
          <a:xfrm>
            <a:off x="10852099" y="388620"/>
            <a:ext cx="114300" cy="1143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Oval 6"/>
          <p:cNvSpPr/>
          <p:nvPr/>
        </p:nvSpPr>
        <p:spPr>
          <a:xfrm>
            <a:off x="11071555" y="388620"/>
            <a:ext cx="114300" cy="1143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Oval 7"/>
          <p:cNvSpPr/>
          <p:nvPr/>
        </p:nvSpPr>
        <p:spPr>
          <a:xfrm>
            <a:off x="11291011" y="388620"/>
            <a:ext cx="114300" cy="1143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Oval 8"/>
          <p:cNvSpPr/>
          <p:nvPr/>
        </p:nvSpPr>
        <p:spPr>
          <a:xfrm>
            <a:off x="11478463" y="356616"/>
            <a:ext cx="178308" cy="178308"/>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548640" y="585216"/>
            <a:ext cx="11057839" cy="749808"/>
          </a:xfrm>
          <a:prstGeom prst="rect">
            <a:avLst/>
          </a:prstGeom>
          <a:noFill/>
        </p:spPr>
        <p:txBody>
          <a:bodyPr wrap="square" lIns="45720" tIns="27432" rIns="45720" bIns="27432" anchor="ctr">
            <a:noAutofit/>
          </a:bodyPr>
          <a:lstStyle/>
          <a:p>
            <a:pPr algn="l">
              <a:lnSpc>
                <a:spcPct val="105000"/>
              </a:lnSpc>
            </a:pPr>
            <a:r>
              <a:rPr lang="es-ES" sz="3200" b="1" i="0">
                <a:solidFill>
                  <a:srgbClr val="1B2A4A"/>
                </a:solidFill>
                <a:latin typeface="Calibri"/>
              </a:rPr>
              <a:t>Limitaciones asumidas</a:t>
            </a:r>
          </a:p>
        </p:txBody>
      </p:sp>
      <p:sp>
        <p:nvSpPr>
          <p:cNvPr id="11" name="Rectangle 10"/>
          <p:cNvSpPr/>
          <p:nvPr/>
        </p:nvSpPr>
        <p:spPr>
          <a:xfrm>
            <a:off x="566928" y="1371600"/>
            <a:ext cx="1051560" cy="50292"/>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658368" y="1664208"/>
            <a:ext cx="10874959" cy="3675888"/>
          </a:xfrm>
          <a:prstGeom prst="rect">
            <a:avLst/>
          </a:prstGeom>
          <a:noFill/>
        </p:spPr>
        <p:txBody>
          <a:bodyPr wrap="square" lIns="45720" tIns="27432" rIns="45720" bIns="27432" anchor="ctr">
            <a:noAutofit/>
          </a:bodyPr>
          <a:lstStyle/>
          <a:p>
            <a:pPr marL="347472" indent="-347472">
              <a:lnSpc>
                <a:spcPct val="112000"/>
              </a:lnSpc>
              <a:spcAft>
                <a:spcPts val="1000"/>
              </a:spcAft>
              <a:buClr>
                <a:srgbClr val="F28C28"/>
              </a:buClr>
              <a:buSzPct val="100000"/>
              <a:buFont typeface="Arial"/>
              <a:buChar char="•"/>
            </a:pPr>
            <a:r>
              <a:rPr lang="es-ES" sz="2300" b="0" i="0">
                <a:solidFill>
                  <a:srgbClr val="1F2937"/>
                </a:solidFill>
                <a:latin typeface="Calibri"/>
              </a:rPr>
              <a:t>Solo elasticidad lineal estática 2D: sin no linealidad, dinámica, 3D, placas ni cáscaras</a:t>
            </a:r>
          </a:p>
          <a:p>
            <a:pPr marL="347472" indent="-347472">
              <a:lnSpc>
                <a:spcPct val="112000"/>
              </a:lnSpc>
              <a:spcAft>
                <a:spcPts val="1000"/>
              </a:spcAft>
              <a:buClr>
                <a:srgbClr val="F28C28"/>
              </a:buClr>
              <a:buSzPct val="100000"/>
              <a:buFont typeface="Arial"/>
              <a:buChar char="•"/>
            </a:pPr>
            <a:r>
              <a:rPr lang="es-ES" sz="2300" b="0" i="0">
                <a:solidFill>
                  <a:srgbClr val="1F2937"/>
                </a:solidFill>
                <a:latin typeface="Calibri"/>
              </a:rPr>
              <a:t>Solo Q4 y Q9, sin triángulos ni mallado automático</a:t>
            </a:r>
          </a:p>
          <a:p>
            <a:pPr marL="347472" indent="-347472">
              <a:lnSpc>
                <a:spcPct val="112000"/>
              </a:lnSpc>
              <a:spcAft>
                <a:spcPts val="1000"/>
              </a:spcAft>
              <a:buClr>
                <a:srgbClr val="F28C28"/>
              </a:buClr>
              <a:buSzPct val="100000"/>
              <a:buFont typeface="Arial"/>
              <a:buChar char="•"/>
            </a:pPr>
            <a:r>
              <a:rPr lang="es-ES" sz="2300" b="0" i="0">
                <a:solidFill>
                  <a:srgbClr val="1F2937"/>
                </a:solidFill>
                <a:latin typeface="Calibri"/>
              </a:rPr>
              <a:t>Los módulos llegan hasta el ensamblaje: solución y tensiones se exponen en post-proceso y memoria</a:t>
            </a:r>
          </a:p>
          <a:p>
            <a:pPr marL="347472" indent="-347472">
              <a:lnSpc>
                <a:spcPct val="112000"/>
              </a:lnSpc>
              <a:spcAft>
                <a:spcPts val="1000"/>
              </a:spcAft>
              <a:buClr>
                <a:srgbClr val="F28C28"/>
              </a:buClr>
              <a:buSzPct val="100000"/>
              <a:buFont typeface="Arial"/>
              <a:buChar char="•"/>
            </a:pPr>
            <a:r>
              <a:rPr lang="es-ES" sz="2300" b="0" i="0">
                <a:solidFill>
                  <a:srgbClr val="1F2937"/>
                </a:solidFill>
                <a:latin typeface="Calibri"/>
              </a:rPr>
              <a:t>Bloqueo del Q4 ilustrado, no mitigado; en deformación plana, ν → 0,5 se señala pero no se resuelve</a:t>
            </a:r>
          </a:p>
          <a:p>
            <a:pPr marL="347472" indent="-347472">
              <a:lnSpc>
                <a:spcPct val="112000"/>
              </a:lnSpc>
              <a:spcAft>
                <a:spcPts val="1000"/>
              </a:spcAft>
              <a:buClr>
                <a:srgbClr val="F28C28"/>
              </a:buClr>
              <a:buSzPct val="100000"/>
              <a:buFont typeface="Arial"/>
              <a:buChar char="•"/>
            </a:pPr>
            <a:r>
              <a:rPr lang="es-ES" sz="2300" b="0" i="0">
                <a:solidFill>
                  <a:srgbClr val="1F2937"/>
                </a:solidFill>
                <a:latin typeface="Calibri"/>
              </a:rPr>
              <a:t>Sin validación empírica con estudiantes; la carga superficial variable no tiene contraste externo</a:t>
            </a:r>
          </a:p>
        </p:txBody>
      </p:sp>
      <p:sp>
        <p:nvSpPr>
          <p:cNvPr id="13" name="Rectangle 12"/>
          <p:cNvSpPr/>
          <p:nvPr/>
        </p:nvSpPr>
        <p:spPr>
          <a:xfrm>
            <a:off x="566928" y="5449824"/>
            <a:ext cx="11057839" cy="841248"/>
          </a:xfrm>
          <a:prstGeom prst="rect">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Rectangle 13"/>
          <p:cNvSpPr/>
          <p:nvPr/>
        </p:nvSpPr>
        <p:spPr>
          <a:xfrm>
            <a:off x="566928" y="5449824"/>
            <a:ext cx="77724" cy="841248"/>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795528" y="5449824"/>
            <a:ext cx="10737799" cy="841248"/>
          </a:xfrm>
          <a:prstGeom prst="rect">
            <a:avLst/>
          </a:prstGeom>
          <a:noFill/>
        </p:spPr>
        <p:txBody>
          <a:bodyPr wrap="square" lIns="45720" tIns="27432" rIns="45720" bIns="27432" anchor="ctr">
            <a:noAutofit/>
          </a:bodyPr>
          <a:lstStyle/>
          <a:p>
            <a:pPr algn="l">
              <a:lnSpc>
                <a:spcPct val="100000"/>
              </a:lnSpc>
            </a:pPr>
            <a:r>
              <a:rPr lang="es-ES" sz="2200" b="1" i="0">
                <a:solidFill>
                  <a:srgbClr val="1B2A4A"/>
                </a:solidFill>
                <a:latin typeface="Calibri"/>
              </a:rPr>
              <a:t>Las validaciones son analíticas y código a código, no frente a mediciones físicas</a:t>
            </a:r>
          </a:p>
        </p:txBody>
      </p:sp>
      <p:sp>
        <p:nvSpPr>
          <p:cNvPr id="16" name="Rectangle 15"/>
          <p:cNvSpPr/>
          <p:nvPr/>
        </p:nvSpPr>
        <p:spPr>
          <a:xfrm>
            <a:off x="566928" y="6364224"/>
            <a:ext cx="11057839" cy="7315"/>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566928" y="6437376"/>
            <a:ext cx="5029200" cy="292608"/>
          </a:xfrm>
          <a:prstGeom prst="rect">
            <a:avLst/>
          </a:prstGeom>
          <a:noFill/>
        </p:spPr>
        <p:txBody>
          <a:bodyPr wrap="square" lIns="45720" tIns="27432" rIns="45720" bIns="27432" anchor="ctr">
            <a:noAutofit/>
          </a:bodyPr>
          <a:lstStyle/>
          <a:p>
            <a:pPr algn="l">
              <a:lnSpc>
                <a:spcPct val="105000"/>
              </a:lnSpc>
            </a:pPr>
            <a:r>
              <a:rPr lang="es-ES" sz="1200" b="0" i="0">
                <a:solidFill>
                  <a:srgbClr val="5B6575"/>
                </a:solidFill>
                <a:latin typeface="Calibri"/>
              </a:rPr>
              <a:t>EduFEM · Defensa de tesis · Ingeniería Civil · UATF</a:t>
            </a:r>
          </a:p>
        </p:txBody>
      </p:sp>
      <p:sp>
        <p:nvSpPr>
          <p:cNvPr id="18" name="TextBox 17"/>
          <p:cNvSpPr txBox="1"/>
          <p:nvPr/>
        </p:nvSpPr>
        <p:spPr>
          <a:xfrm>
            <a:off x="4023360" y="6437376"/>
            <a:ext cx="5394960" cy="292608"/>
          </a:xfrm>
          <a:prstGeom prst="rect">
            <a:avLst/>
          </a:prstGeom>
          <a:noFill/>
        </p:spPr>
        <p:txBody>
          <a:bodyPr wrap="square" lIns="45720" tIns="27432" rIns="45720" bIns="27432" anchor="ctr">
            <a:noAutofit/>
          </a:bodyPr>
          <a:lstStyle/>
          <a:p>
            <a:pPr algn="ctr">
              <a:lnSpc>
                <a:spcPct val="105000"/>
              </a:lnSpc>
            </a:pPr>
            <a:r>
              <a:rPr lang="es-ES" sz="1200" b="0" i="0">
                <a:solidFill>
                  <a:srgbClr val="5B6575"/>
                </a:solidFill>
                <a:latin typeface="Calibri"/>
              </a:rPr>
              <a:t>Tesis: Conclusiones, limitaciones</a:t>
            </a:r>
          </a:p>
        </p:txBody>
      </p:sp>
      <p:sp>
        <p:nvSpPr>
          <p:cNvPr id="19" name="TextBox 18"/>
          <p:cNvSpPr txBox="1"/>
          <p:nvPr/>
        </p:nvSpPr>
        <p:spPr>
          <a:xfrm>
            <a:off x="10527487" y="6437376"/>
            <a:ext cx="1097280" cy="292608"/>
          </a:xfrm>
          <a:prstGeom prst="rect">
            <a:avLst/>
          </a:prstGeom>
          <a:noFill/>
        </p:spPr>
        <p:txBody>
          <a:bodyPr wrap="none" lIns="45720" tIns="18288" rIns="45720" bIns="18288">
            <a:spAutoFit/>
          </a:bodyPr>
          <a:lstStyle/>
          <a:p>
            <a:pPr algn="r"/>
            <a:fld id="{B6F15528-21DE-4FAA-801E-634DDDAF4B2B}" type="slidenum">
              <a:rPr lang="es-ES" sz="1200" dirty="0">
                <a:solidFill>
                  <a:srgbClr val="5B6575"/>
                </a:solidFill>
                <a:latin typeface="Calibri"/>
              </a:rPr>
              <a:t>37</a:t>
            </a:fld>
            <a:endParaRPr lang="es-ES" sz="1200" dirty="0">
              <a:solidFill>
                <a:srgbClr val="5B6575"/>
              </a:solidFill>
              <a:latin typeface="Calibri"/>
            </a:endParaRPr>
          </a:p>
        </p:txBody>
      </p:sp>
      <p:pic>
        <p:nvPicPr>
          <p:cNvPr id="20" name="s37">
            <a:hlinkClick r:id="" action="ppaction://media"/>
            <a:extLst>
              <a:ext uri="{FF2B5EF4-FFF2-40B4-BE49-F238E27FC236}">
                <a16:creationId xmlns:a16="http://schemas.microsoft.com/office/drawing/2014/main" id="{915A54EA-35BA-FFCC-0EC5-30F29AD2C9AF}"/>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254000" y="254000"/>
            <a:ext cx="508000" cy="508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66848"/>
    </mc:Choice>
    <mc:Fallback>
      <p:transition spd="slow" advTm="66848"/>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20"/>
                </p:tgtEl>
              </p:cMediaNode>
            </p:audio>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566928" y="361188"/>
            <a:ext cx="50292" cy="173736"/>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TextBox 2"/>
          <p:cNvSpPr txBox="1"/>
          <p:nvPr/>
        </p:nvSpPr>
        <p:spPr>
          <a:xfrm>
            <a:off x="704088" y="310896"/>
            <a:ext cx="6766560" cy="274320"/>
          </a:xfrm>
          <a:prstGeom prst="rect">
            <a:avLst/>
          </a:prstGeom>
          <a:noFill/>
        </p:spPr>
        <p:txBody>
          <a:bodyPr wrap="square" lIns="45720" tIns="27432" rIns="45720" bIns="27432" anchor="ctr">
            <a:noAutofit/>
          </a:bodyPr>
          <a:lstStyle/>
          <a:p>
            <a:pPr algn="l">
              <a:lnSpc>
                <a:spcPct val="105000"/>
              </a:lnSpc>
            </a:pPr>
            <a:r>
              <a:rPr lang="es-ES" sz="1200" b="1" i="0" spc="80">
                <a:solidFill>
                  <a:srgbClr val="F28C28"/>
                </a:solidFill>
                <a:latin typeface="Calibri"/>
              </a:rPr>
              <a:t>06   CONCLUSIONES Y RECOMENDACIONES</a:t>
            </a:r>
          </a:p>
        </p:txBody>
      </p:sp>
      <p:sp>
        <p:nvSpPr>
          <p:cNvPr id="4" name="Oval 3"/>
          <p:cNvSpPr/>
          <p:nvPr/>
        </p:nvSpPr>
        <p:spPr>
          <a:xfrm>
            <a:off x="10413187" y="388620"/>
            <a:ext cx="114300" cy="1143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Oval 4"/>
          <p:cNvSpPr/>
          <p:nvPr/>
        </p:nvSpPr>
        <p:spPr>
          <a:xfrm>
            <a:off x="10632643" y="388620"/>
            <a:ext cx="114300" cy="1143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Oval 5"/>
          <p:cNvSpPr/>
          <p:nvPr/>
        </p:nvSpPr>
        <p:spPr>
          <a:xfrm>
            <a:off x="10852099" y="388620"/>
            <a:ext cx="114300" cy="1143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Oval 6"/>
          <p:cNvSpPr/>
          <p:nvPr/>
        </p:nvSpPr>
        <p:spPr>
          <a:xfrm>
            <a:off x="11071555" y="388620"/>
            <a:ext cx="114300" cy="1143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Oval 7"/>
          <p:cNvSpPr/>
          <p:nvPr/>
        </p:nvSpPr>
        <p:spPr>
          <a:xfrm>
            <a:off x="11291011" y="388620"/>
            <a:ext cx="114300" cy="1143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Oval 8"/>
          <p:cNvSpPr/>
          <p:nvPr/>
        </p:nvSpPr>
        <p:spPr>
          <a:xfrm>
            <a:off x="11478463" y="356616"/>
            <a:ext cx="178308" cy="178308"/>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548640" y="585216"/>
            <a:ext cx="11057839" cy="749808"/>
          </a:xfrm>
          <a:prstGeom prst="rect">
            <a:avLst/>
          </a:prstGeom>
          <a:noFill/>
        </p:spPr>
        <p:txBody>
          <a:bodyPr wrap="square" lIns="45720" tIns="27432" rIns="45720" bIns="27432" anchor="ctr">
            <a:noAutofit/>
          </a:bodyPr>
          <a:lstStyle/>
          <a:p>
            <a:pPr algn="l">
              <a:lnSpc>
                <a:spcPct val="105000"/>
              </a:lnSpc>
            </a:pPr>
            <a:r>
              <a:rPr lang="es-ES" sz="3200" b="1" i="0">
                <a:solidFill>
                  <a:srgbClr val="1B2A4A"/>
                </a:solidFill>
                <a:latin typeface="Calibri"/>
              </a:rPr>
              <a:t>Tres líneas de continuación, una por capítulo</a:t>
            </a:r>
          </a:p>
        </p:txBody>
      </p:sp>
      <p:sp>
        <p:nvSpPr>
          <p:cNvPr id="11" name="Rectangle 10"/>
          <p:cNvSpPr/>
          <p:nvPr/>
        </p:nvSpPr>
        <p:spPr>
          <a:xfrm>
            <a:off x="566928" y="1371600"/>
            <a:ext cx="1051560" cy="50292"/>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Rounded Rectangle 11"/>
          <p:cNvSpPr/>
          <p:nvPr/>
        </p:nvSpPr>
        <p:spPr>
          <a:xfrm>
            <a:off x="566928" y="1572768"/>
            <a:ext cx="3490874" cy="3767328"/>
          </a:xfrm>
          <a:prstGeom prst="roundRect">
            <a:avLst>
              <a:gd name="adj" fmla="val 5000"/>
            </a:avLst>
          </a:prstGeom>
          <a:solidFill>
            <a:srgbClr val="F6F8FC"/>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Rounded Rectangle 12"/>
          <p:cNvSpPr/>
          <p:nvPr/>
        </p:nvSpPr>
        <p:spPr>
          <a:xfrm>
            <a:off x="566928" y="1572768"/>
            <a:ext cx="3490874" cy="621792"/>
          </a:xfrm>
          <a:prstGeom prst="roundRect">
            <a:avLst>
              <a:gd name="adj" fmla="val 12000"/>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Rectangle 13"/>
          <p:cNvSpPr/>
          <p:nvPr/>
        </p:nvSpPr>
        <p:spPr>
          <a:xfrm>
            <a:off x="566928" y="1920240"/>
            <a:ext cx="3490874" cy="27432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566928" y="1572768"/>
            <a:ext cx="3490874" cy="621792"/>
          </a:xfrm>
          <a:prstGeom prst="rect">
            <a:avLst/>
          </a:prstGeom>
          <a:noFill/>
        </p:spPr>
        <p:txBody>
          <a:bodyPr wrap="square" lIns="45720" tIns="27432" rIns="45720" bIns="27432" anchor="ctr">
            <a:noAutofit/>
          </a:bodyPr>
          <a:lstStyle/>
          <a:p>
            <a:pPr algn="ctr">
              <a:lnSpc>
                <a:spcPct val="100000"/>
              </a:lnSpc>
            </a:pPr>
            <a:r>
              <a:rPr lang="es-ES" sz="2300" b="1" i="0">
                <a:solidFill>
                  <a:srgbClr val="FFFFFF"/>
                </a:solidFill>
                <a:latin typeface="Calibri"/>
              </a:rPr>
              <a:t>Sobre la formulación</a:t>
            </a:r>
          </a:p>
        </p:txBody>
      </p:sp>
      <p:sp>
        <p:nvSpPr>
          <p:cNvPr id="16" name="TextBox 15"/>
          <p:cNvSpPr txBox="1"/>
          <p:nvPr/>
        </p:nvSpPr>
        <p:spPr>
          <a:xfrm>
            <a:off x="768096" y="2395728"/>
            <a:ext cx="3088538" cy="2816352"/>
          </a:xfrm>
          <a:prstGeom prst="rect">
            <a:avLst/>
          </a:prstGeom>
          <a:noFill/>
        </p:spPr>
        <p:txBody>
          <a:bodyPr wrap="square" lIns="45720" tIns="27432" rIns="45720" bIns="27432" anchor="t">
            <a:noAutofit/>
          </a:bodyPr>
          <a:lstStyle/>
          <a:p>
            <a:pPr marL="347472" indent="-347472">
              <a:lnSpc>
                <a:spcPct val="112000"/>
              </a:lnSpc>
              <a:spcAft>
                <a:spcPts val="900"/>
              </a:spcAft>
              <a:buClr>
                <a:srgbClr val="1B2A4A"/>
              </a:buClr>
              <a:buSzPct val="100000"/>
              <a:buFont typeface="Arial"/>
              <a:buChar char="•"/>
            </a:pPr>
            <a:r>
              <a:rPr lang="es-ES" sz="1900" b="0" i="0">
                <a:solidFill>
                  <a:srgbClr val="1F2937"/>
                </a:solidFill>
                <a:latin typeface="Calibri"/>
              </a:rPr>
              <a:t>Bloqueo: integración reducida selectiva o B-bar</a:t>
            </a:r>
          </a:p>
          <a:p>
            <a:pPr marL="347472" indent="-347472">
              <a:lnSpc>
                <a:spcPct val="112000"/>
              </a:lnSpc>
              <a:spcAft>
                <a:spcPts val="900"/>
              </a:spcAft>
              <a:buClr>
                <a:srgbClr val="1B2A4A"/>
              </a:buClr>
              <a:buSzPct val="100000"/>
              <a:buFont typeface="Arial"/>
              <a:buChar char="•"/>
            </a:pPr>
            <a:r>
              <a:rPr lang="es-ES" sz="1900" b="0" i="0">
                <a:solidFill>
                  <a:srgbClr val="1F2937"/>
                </a:solidFill>
                <a:latin typeface="Calibri"/>
              </a:rPr>
              <a:t>Un módulo que contraste bloqueado y corregido</a:t>
            </a:r>
          </a:p>
          <a:p>
            <a:pPr marL="347472" indent="-347472">
              <a:lnSpc>
                <a:spcPct val="112000"/>
              </a:lnSpc>
              <a:spcAft>
                <a:spcPts val="900"/>
              </a:spcAft>
              <a:buClr>
                <a:srgbClr val="1B2A4A"/>
              </a:buClr>
              <a:buSzPct val="100000"/>
              <a:buFont typeface="Arial"/>
              <a:buChar char="•"/>
            </a:pPr>
            <a:r>
              <a:rPr lang="es-ES" sz="1900" b="0" i="0">
                <a:solidFill>
                  <a:srgbClr val="1F2937"/>
                </a:solidFill>
                <a:latin typeface="Calibri"/>
              </a:rPr>
              <a:t>Más elementos: triángulos y cuadriláteros de transición</a:t>
            </a:r>
          </a:p>
        </p:txBody>
      </p:sp>
      <p:sp>
        <p:nvSpPr>
          <p:cNvPr id="17" name="Rounded Rectangle 16"/>
          <p:cNvSpPr/>
          <p:nvPr/>
        </p:nvSpPr>
        <p:spPr>
          <a:xfrm>
            <a:off x="4350410" y="1572768"/>
            <a:ext cx="3490874" cy="3767328"/>
          </a:xfrm>
          <a:prstGeom prst="roundRect">
            <a:avLst>
              <a:gd name="adj" fmla="val 5000"/>
            </a:avLst>
          </a:prstGeom>
          <a:solidFill>
            <a:srgbClr val="F6F8FC"/>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Rounded Rectangle 17"/>
          <p:cNvSpPr/>
          <p:nvPr/>
        </p:nvSpPr>
        <p:spPr>
          <a:xfrm>
            <a:off x="4350410" y="1572768"/>
            <a:ext cx="3490874" cy="621792"/>
          </a:xfrm>
          <a:prstGeom prst="roundRect">
            <a:avLst>
              <a:gd name="adj" fmla="val 12000"/>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Rectangle 18"/>
          <p:cNvSpPr/>
          <p:nvPr/>
        </p:nvSpPr>
        <p:spPr>
          <a:xfrm>
            <a:off x="4350410" y="1920240"/>
            <a:ext cx="3490874" cy="27432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4350410" y="1572768"/>
            <a:ext cx="3490874" cy="621792"/>
          </a:xfrm>
          <a:prstGeom prst="rect">
            <a:avLst/>
          </a:prstGeom>
          <a:noFill/>
        </p:spPr>
        <p:txBody>
          <a:bodyPr wrap="square" lIns="45720" tIns="27432" rIns="45720" bIns="27432" anchor="ctr">
            <a:noAutofit/>
          </a:bodyPr>
          <a:lstStyle/>
          <a:p>
            <a:pPr algn="ctr">
              <a:lnSpc>
                <a:spcPct val="100000"/>
              </a:lnSpc>
            </a:pPr>
            <a:r>
              <a:rPr lang="es-ES" sz="2300" b="1" i="0">
                <a:solidFill>
                  <a:srgbClr val="FFFFFF"/>
                </a:solidFill>
                <a:latin typeface="Calibri"/>
              </a:rPr>
              <a:t>Sobre el software</a:t>
            </a:r>
          </a:p>
        </p:txBody>
      </p:sp>
      <p:sp>
        <p:nvSpPr>
          <p:cNvPr id="21" name="TextBox 20"/>
          <p:cNvSpPr txBox="1"/>
          <p:nvPr/>
        </p:nvSpPr>
        <p:spPr>
          <a:xfrm>
            <a:off x="4551578" y="2395728"/>
            <a:ext cx="3088538" cy="2816352"/>
          </a:xfrm>
          <a:prstGeom prst="rect">
            <a:avLst/>
          </a:prstGeom>
          <a:noFill/>
        </p:spPr>
        <p:txBody>
          <a:bodyPr wrap="square" lIns="45720" tIns="27432" rIns="45720" bIns="27432" anchor="t">
            <a:noAutofit/>
          </a:bodyPr>
          <a:lstStyle/>
          <a:p>
            <a:pPr marL="347472" indent="-347472">
              <a:lnSpc>
                <a:spcPct val="112000"/>
              </a:lnSpc>
              <a:spcAft>
                <a:spcPts val="900"/>
              </a:spcAft>
              <a:buClr>
                <a:srgbClr val="F28C28"/>
              </a:buClr>
              <a:buSzPct val="100000"/>
              <a:buFont typeface="Arial"/>
              <a:buChar char="•"/>
            </a:pPr>
            <a:r>
              <a:rPr lang="es-ES" sz="1800" b="0" i="0">
                <a:solidFill>
                  <a:srgbClr val="1F2937"/>
                </a:solidFill>
                <a:latin typeface="Calibri"/>
              </a:rPr>
              <a:t>Cholesky: K_ff es simétrica y definida positiva</a:t>
            </a:r>
          </a:p>
          <a:p>
            <a:pPr marL="347472" indent="-347472">
              <a:lnSpc>
                <a:spcPct val="112000"/>
              </a:lnSpc>
              <a:spcAft>
                <a:spcPts val="900"/>
              </a:spcAft>
              <a:buClr>
                <a:srgbClr val="F28C28"/>
              </a:buClr>
              <a:buSzPct val="100000"/>
              <a:buFont typeface="Arial"/>
              <a:buChar char="•"/>
            </a:pPr>
            <a:r>
              <a:rPr lang="es-ES" sz="1800" b="0" i="0">
                <a:solidFill>
                  <a:srgbClr val="1F2937"/>
                </a:solidFill>
                <a:latin typeface="Calibri"/>
              </a:rPr>
              <a:t>Iterativo precondicionado para mallas masivas</a:t>
            </a:r>
          </a:p>
          <a:p>
            <a:pPr marL="347472" indent="-347472">
              <a:lnSpc>
                <a:spcPct val="112000"/>
              </a:lnSpc>
              <a:spcAft>
                <a:spcPts val="900"/>
              </a:spcAft>
              <a:buClr>
                <a:srgbClr val="F28C28"/>
              </a:buClr>
              <a:buSzPct val="100000"/>
              <a:buFont typeface="Arial"/>
              <a:buChar char="•"/>
            </a:pPr>
            <a:r>
              <a:rPr lang="es-ES" sz="1800" b="0" i="0">
                <a:solidFill>
                  <a:srgbClr val="1F2937"/>
                </a:solidFill>
                <a:latin typeface="Calibri"/>
              </a:rPr>
              <a:t>Tres dimensiones: H8, H20 y tetraedros</a:t>
            </a:r>
          </a:p>
          <a:p>
            <a:pPr marL="347472" indent="-347472">
              <a:lnSpc>
                <a:spcPct val="112000"/>
              </a:lnSpc>
              <a:spcAft>
                <a:spcPts val="900"/>
              </a:spcAft>
              <a:buClr>
                <a:srgbClr val="F28C28"/>
              </a:buClr>
              <a:buSzPct val="100000"/>
              <a:buFont typeface="Arial"/>
              <a:buChar char="•"/>
            </a:pPr>
            <a:r>
              <a:rPr lang="es-ES" sz="1800" b="0" i="0">
                <a:solidFill>
                  <a:srgbClr val="1F2937"/>
                </a:solidFill>
                <a:latin typeface="Calibri"/>
              </a:rPr>
              <a:t>Mallado automático, con M0 como control</a:t>
            </a:r>
          </a:p>
        </p:txBody>
      </p:sp>
      <p:sp>
        <p:nvSpPr>
          <p:cNvPr id="22" name="Rounded Rectangle 21"/>
          <p:cNvSpPr/>
          <p:nvPr/>
        </p:nvSpPr>
        <p:spPr>
          <a:xfrm>
            <a:off x="8133892" y="1572768"/>
            <a:ext cx="3490874" cy="3767328"/>
          </a:xfrm>
          <a:prstGeom prst="roundRect">
            <a:avLst>
              <a:gd name="adj" fmla="val 5000"/>
            </a:avLst>
          </a:prstGeom>
          <a:solidFill>
            <a:srgbClr val="F6F8FC"/>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Rounded Rectangle 22"/>
          <p:cNvSpPr/>
          <p:nvPr/>
        </p:nvSpPr>
        <p:spPr>
          <a:xfrm>
            <a:off x="8133892" y="1572768"/>
            <a:ext cx="3490874" cy="621792"/>
          </a:xfrm>
          <a:prstGeom prst="roundRect">
            <a:avLst>
              <a:gd name="adj" fmla="val 12000"/>
            </a:avLst>
          </a:prstGeom>
          <a:solidFill>
            <a:srgbClr val="3E5A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Rectangle 23"/>
          <p:cNvSpPr/>
          <p:nvPr/>
        </p:nvSpPr>
        <p:spPr>
          <a:xfrm>
            <a:off x="8133892" y="1920240"/>
            <a:ext cx="3490874" cy="274320"/>
          </a:xfrm>
          <a:prstGeom prst="rect">
            <a:avLst/>
          </a:prstGeom>
          <a:solidFill>
            <a:srgbClr val="3E5A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TextBox 24"/>
          <p:cNvSpPr txBox="1"/>
          <p:nvPr/>
        </p:nvSpPr>
        <p:spPr>
          <a:xfrm>
            <a:off x="8133892" y="1572768"/>
            <a:ext cx="3490874" cy="621792"/>
          </a:xfrm>
          <a:prstGeom prst="rect">
            <a:avLst/>
          </a:prstGeom>
          <a:noFill/>
        </p:spPr>
        <p:txBody>
          <a:bodyPr wrap="square" lIns="45720" tIns="27432" rIns="45720" bIns="27432" anchor="ctr">
            <a:noAutofit/>
          </a:bodyPr>
          <a:lstStyle/>
          <a:p>
            <a:pPr algn="ctr">
              <a:lnSpc>
                <a:spcPct val="100000"/>
              </a:lnSpc>
            </a:pPr>
            <a:r>
              <a:rPr lang="es-ES" sz="2300" b="1" i="0">
                <a:solidFill>
                  <a:srgbClr val="FFFFFF"/>
                </a:solidFill>
                <a:latin typeface="Calibri"/>
              </a:rPr>
              <a:t>Sobre la evidencia</a:t>
            </a:r>
          </a:p>
        </p:txBody>
      </p:sp>
      <p:sp>
        <p:nvSpPr>
          <p:cNvPr id="26" name="TextBox 25"/>
          <p:cNvSpPr txBox="1"/>
          <p:nvPr/>
        </p:nvSpPr>
        <p:spPr>
          <a:xfrm>
            <a:off x="8335060" y="2395728"/>
            <a:ext cx="3088538" cy="2816352"/>
          </a:xfrm>
          <a:prstGeom prst="rect">
            <a:avLst/>
          </a:prstGeom>
          <a:noFill/>
        </p:spPr>
        <p:txBody>
          <a:bodyPr wrap="square" lIns="45720" tIns="27432" rIns="45720" bIns="27432" anchor="t">
            <a:noAutofit/>
          </a:bodyPr>
          <a:lstStyle/>
          <a:p>
            <a:pPr marL="347472" indent="-347472">
              <a:lnSpc>
                <a:spcPct val="112000"/>
              </a:lnSpc>
              <a:spcAft>
                <a:spcPts val="900"/>
              </a:spcAft>
              <a:buClr>
                <a:srgbClr val="3E5A86"/>
              </a:buClr>
              <a:buSzPct val="100000"/>
              <a:buFont typeface="Arial"/>
              <a:buChar char="•"/>
            </a:pPr>
            <a:r>
              <a:rPr lang="es-ES" sz="1900" b="0" i="0">
                <a:solidFill>
                  <a:srgbClr val="1F2937"/>
                </a:solidFill>
                <a:latin typeface="Calibri"/>
              </a:rPr>
              <a:t>Un caso con carga superficial variable</a:t>
            </a:r>
          </a:p>
          <a:p>
            <a:pPr marL="347472" indent="-347472">
              <a:lnSpc>
                <a:spcPct val="112000"/>
              </a:lnSpc>
              <a:spcAft>
                <a:spcPts val="900"/>
              </a:spcAft>
              <a:buClr>
                <a:srgbClr val="3E5A86"/>
              </a:buClr>
              <a:buSzPct val="100000"/>
              <a:buFont typeface="Arial"/>
              <a:buChar char="•"/>
            </a:pPr>
            <a:r>
              <a:rPr lang="es-ES" sz="1900" b="0" i="0">
                <a:solidFill>
                  <a:srgbClr val="1F2937"/>
                </a:solidFill>
                <a:latin typeface="Calibri"/>
              </a:rPr>
              <a:t>Un caso civil en deformación plana: presa, muro o túnel</a:t>
            </a:r>
          </a:p>
          <a:p>
            <a:pPr marL="347472" indent="-347472">
              <a:lnSpc>
                <a:spcPct val="112000"/>
              </a:lnSpc>
              <a:spcAft>
                <a:spcPts val="900"/>
              </a:spcAft>
              <a:buClr>
                <a:srgbClr val="3E5A86"/>
              </a:buClr>
              <a:buSzPct val="100000"/>
              <a:buFont typeface="Arial"/>
              <a:buChar char="•"/>
            </a:pPr>
            <a:r>
              <a:rPr lang="es-ES" sz="1900" b="0" i="0">
                <a:solidFill>
                  <a:srgbClr val="1F2937"/>
                </a:solidFill>
                <a:latin typeface="Calibri"/>
              </a:rPr>
              <a:t>Validación pedagógica con estudiantes</a:t>
            </a:r>
          </a:p>
        </p:txBody>
      </p:sp>
      <p:sp>
        <p:nvSpPr>
          <p:cNvPr id="27" name="Rectangle 26"/>
          <p:cNvSpPr/>
          <p:nvPr/>
        </p:nvSpPr>
        <p:spPr>
          <a:xfrm>
            <a:off x="566928" y="5449824"/>
            <a:ext cx="11057839" cy="841248"/>
          </a:xfrm>
          <a:prstGeom prst="rect">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Rectangle 27"/>
          <p:cNvSpPr/>
          <p:nvPr/>
        </p:nvSpPr>
        <p:spPr>
          <a:xfrm>
            <a:off x="566928" y="5449824"/>
            <a:ext cx="77724" cy="841248"/>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TextBox 28"/>
          <p:cNvSpPr txBox="1"/>
          <p:nvPr/>
        </p:nvSpPr>
        <p:spPr>
          <a:xfrm>
            <a:off x="795528" y="5449824"/>
            <a:ext cx="10737799" cy="841248"/>
          </a:xfrm>
          <a:prstGeom prst="rect">
            <a:avLst/>
          </a:prstGeom>
          <a:noFill/>
        </p:spPr>
        <p:txBody>
          <a:bodyPr wrap="square" lIns="45720" tIns="27432" rIns="45720" bIns="27432" anchor="ctr">
            <a:noAutofit/>
          </a:bodyPr>
          <a:lstStyle/>
          <a:p>
            <a:pPr algn="l">
              <a:lnSpc>
                <a:spcPct val="100000"/>
              </a:lnSpc>
            </a:pPr>
            <a:r>
              <a:rPr lang="es-ES" sz="2000" b="1" i="0">
                <a:solidFill>
                  <a:srgbClr val="1B2A4A"/>
                </a:solidFill>
                <a:latin typeface="Calibri"/>
              </a:rPr>
              <a:t>La línea más importante: dar sustento empírico a la utilidad didáctica que hoy se justifica por diseño</a:t>
            </a:r>
          </a:p>
        </p:txBody>
      </p:sp>
      <p:sp>
        <p:nvSpPr>
          <p:cNvPr id="30" name="Rectangle 29"/>
          <p:cNvSpPr/>
          <p:nvPr/>
        </p:nvSpPr>
        <p:spPr>
          <a:xfrm>
            <a:off x="566928" y="6364224"/>
            <a:ext cx="11057839" cy="7315"/>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TextBox 30"/>
          <p:cNvSpPr txBox="1"/>
          <p:nvPr/>
        </p:nvSpPr>
        <p:spPr>
          <a:xfrm>
            <a:off x="566928" y="6437376"/>
            <a:ext cx="5029200" cy="292608"/>
          </a:xfrm>
          <a:prstGeom prst="rect">
            <a:avLst/>
          </a:prstGeom>
          <a:noFill/>
        </p:spPr>
        <p:txBody>
          <a:bodyPr wrap="square" lIns="45720" tIns="27432" rIns="45720" bIns="27432" anchor="ctr">
            <a:noAutofit/>
          </a:bodyPr>
          <a:lstStyle/>
          <a:p>
            <a:pPr algn="l">
              <a:lnSpc>
                <a:spcPct val="105000"/>
              </a:lnSpc>
            </a:pPr>
            <a:r>
              <a:rPr lang="es-ES" sz="1200" b="0" i="0">
                <a:solidFill>
                  <a:srgbClr val="5B6575"/>
                </a:solidFill>
                <a:latin typeface="Calibri"/>
              </a:rPr>
              <a:t>EduFEM · Defensa de tesis · Ingeniería Civil · UATF</a:t>
            </a:r>
          </a:p>
        </p:txBody>
      </p:sp>
      <p:sp>
        <p:nvSpPr>
          <p:cNvPr id="32" name="TextBox 31"/>
          <p:cNvSpPr txBox="1"/>
          <p:nvPr/>
        </p:nvSpPr>
        <p:spPr>
          <a:xfrm>
            <a:off x="4023360" y="6437376"/>
            <a:ext cx="5394960" cy="292608"/>
          </a:xfrm>
          <a:prstGeom prst="rect">
            <a:avLst/>
          </a:prstGeom>
          <a:noFill/>
        </p:spPr>
        <p:txBody>
          <a:bodyPr wrap="square" lIns="45720" tIns="27432" rIns="45720" bIns="27432" anchor="ctr">
            <a:noAutofit/>
          </a:bodyPr>
          <a:lstStyle/>
          <a:p>
            <a:pPr algn="ctr">
              <a:lnSpc>
                <a:spcPct val="105000"/>
              </a:lnSpc>
            </a:pPr>
            <a:r>
              <a:rPr lang="es-ES" sz="1200" b="0" i="0">
                <a:solidFill>
                  <a:srgbClr val="5B6575"/>
                </a:solidFill>
                <a:latin typeface="Calibri"/>
              </a:rPr>
              <a:t>Tesis: Conclusiones, recomendaciones y trabajo futuro</a:t>
            </a:r>
          </a:p>
        </p:txBody>
      </p:sp>
      <p:sp>
        <p:nvSpPr>
          <p:cNvPr id="33" name="TextBox 32"/>
          <p:cNvSpPr txBox="1"/>
          <p:nvPr/>
        </p:nvSpPr>
        <p:spPr>
          <a:xfrm>
            <a:off x="10527487" y="6437376"/>
            <a:ext cx="1097280" cy="292608"/>
          </a:xfrm>
          <a:prstGeom prst="rect">
            <a:avLst/>
          </a:prstGeom>
          <a:noFill/>
        </p:spPr>
        <p:txBody>
          <a:bodyPr wrap="none" lIns="45720" tIns="18288" rIns="45720" bIns="18288">
            <a:spAutoFit/>
          </a:bodyPr>
          <a:lstStyle/>
          <a:p>
            <a:pPr algn="r"/>
            <a:fld id="{B6F15528-21DE-4FAA-801E-634DDDAF4B2B}" type="slidenum">
              <a:rPr lang="es-ES" sz="1200" dirty="0">
                <a:solidFill>
                  <a:srgbClr val="5B6575"/>
                </a:solidFill>
                <a:latin typeface="Calibri"/>
              </a:rPr>
              <a:t>38</a:t>
            </a:fld>
            <a:endParaRPr lang="es-ES" sz="1200" dirty="0">
              <a:solidFill>
                <a:srgbClr val="5B6575"/>
              </a:solidFill>
              <a:latin typeface="Calibri"/>
            </a:endParaRPr>
          </a:p>
        </p:txBody>
      </p:sp>
      <p:pic>
        <p:nvPicPr>
          <p:cNvPr id="34" name="s38">
            <a:hlinkClick r:id="" action="ppaction://media"/>
            <a:extLst>
              <a:ext uri="{FF2B5EF4-FFF2-40B4-BE49-F238E27FC236}">
                <a16:creationId xmlns:a16="http://schemas.microsoft.com/office/drawing/2014/main" id="{2BFED7C1-097C-364B-68BF-D94935374C6E}"/>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254000" y="254000"/>
            <a:ext cx="508000" cy="508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64400"/>
    </mc:Choice>
    <mc:Fallback>
      <p:transition spd="slow" advTm="644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34"/>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34"/>
                </p:tgtEl>
              </p:cMediaNode>
            </p:audio>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0E182E"/>
        </a:solidFill>
        <a:effectLst/>
      </p:bgPr>
    </p:bg>
    <p:spTree>
      <p:nvGrpSpPr>
        <p:cNvPr id="1" name=""/>
        <p:cNvGrpSpPr/>
        <p:nvPr/>
      </p:nvGrpSpPr>
      <p:grpSpPr>
        <a:xfrm>
          <a:off x="0" y="0"/>
          <a:ext cx="0" cy="0"/>
          <a:chOff x="0" y="0"/>
          <a:chExt cx="0" cy="0"/>
        </a:xfrm>
      </p:grpSpPr>
      <p:sp>
        <p:nvSpPr>
          <p:cNvPr id="2" name="TextBox 1"/>
          <p:cNvSpPr txBox="1"/>
          <p:nvPr/>
        </p:nvSpPr>
        <p:spPr>
          <a:xfrm>
            <a:off x="731520" y="1234440"/>
            <a:ext cx="7315200" cy="1097280"/>
          </a:xfrm>
          <a:prstGeom prst="rect">
            <a:avLst/>
          </a:prstGeom>
          <a:noFill/>
        </p:spPr>
        <p:txBody>
          <a:bodyPr wrap="square" lIns="45720" tIns="27432" rIns="45720" bIns="27432" anchor="ctr">
            <a:noAutofit/>
          </a:bodyPr>
          <a:lstStyle/>
          <a:p>
            <a:pPr algn="l">
              <a:lnSpc>
                <a:spcPct val="105000"/>
              </a:lnSpc>
            </a:pPr>
            <a:r>
              <a:rPr lang="es-ES" sz="5400" b="1" i="0">
                <a:solidFill>
                  <a:srgbClr val="FFFFFF"/>
                </a:solidFill>
                <a:latin typeface="Calibri"/>
              </a:rPr>
              <a:t>Gracias</a:t>
            </a:r>
          </a:p>
        </p:txBody>
      </p:sp>
      <p:sp>
        <p:nvSpPr>
          <p:cNvPr id="3" name="Rectangle 2"/>
          <p:cNvSpPr/>
          <p:nvPr/>
        </p:nvSpPr>
        <p:spPr>
          <a:xfrm>
            <a:off x="777240" y="2377440"/>
            <a:ext cx="1188720" cy="64008"/>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731520" y="2633472"/>
            <a:ext cx="7315200" cy="1097280"/>
          </a:xfrm>
          <a:prstGeom prst="rect">
            <a:avLst/>
          </a:prstGeom>
          <a:noFill/>
        </p:spPr>
        <p:txBody>
          <a:bodyPr wrap="square" lIns="45720" tIns="27432" rIns="45720" bIns="27432" anchor="t">
            <a:noAutofit/>
          </a:bodyPr>
          <a:lstStyle/>
          <a:p>
            <a:pPr algn="l">
              <a:lnSpc>
                <a:spcPct val="115000"/>
              </a:lnSpc>
            </a:pPr>
            <a:r>
              <a:rPr lang="es-ES" sz="2100" b="0" i="0">
                <a:solidFill>
                  <a:srgbClr val="C7D2E8"/>
                </a:solidFill>
                <a:latin typeface="Calibri"/>
              </a:rPr>
              <a:t>La caja negra se puede abrir, y abierta calcula igual de bien. EduFEM es software libre, en español, y está disponible para cualquier estudiante sin licencias.</a:t>
            </a:r>
          </a:p>
        </p:txBody>
      </p:sp>
      <p:sp>
        <p:nvSpPr>
          <p:cNvPr id="5" name="Rounded Rectangle 4"/>
          <p:cNvSpPr/>
          <p:nvPr/>
        </p:nvSpPr>
        <p:spPr>
          <a:xfrm>
            <a:off x="731520" y="4023360"/>
            <a:ext cx="2304288" cy="566928"/>
          </a:xfrm>
          <a:prstGeom prst="roundRect">
            <a:avLst>
              <a:gd name="adj" fmla="val 28000"/>
            </a:avLst>
          </a:prstGeom>
          <a:noFill/>
          <a:ln w="9525">
            <a:solidFill>
              <a:srgbClr val="2C3E63"/>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noAutofit/>
          </a:bodyPr>
          <a:lstStyle/>
          <a:p>
            <a:pPr algn="ctr">
              <a:lnSpc>
                <a:spcPct val="100000"/>
              </a:lnSpc>
            </a:pPr>
            <a:r>
              <a:rPr lang="es-ES" sz="1400" b="1" i="0">
                <a:solidFill>
                  <a:srgbClr val="C7D2E8"/>
                </a:solidFill>
                <a:latin typeface="Calibri"/>
              </a:rPr>
              <a:t>Motor verificado y validado</a:t>
            </a:r>
          </a:p>
        </p:txBody>
      </p:sp>
      <p:sp>
        <p:nvSpPr>
          <p:cNvPr id="6" name="Rounded Rectangle 5"/>
          <p:cNvSpPr/>
          <p:nvPr/>
        </p:nvSpPr>
        <p:spPr>
          <a:xfrm>
            <a:off x="3236976" y="4023360"/>
            <a:ext cx="2304288" cy="566928"/>
          </a:xfrm>
          <a:prstGeom prst="roundRect">
            <a:avLst>
              <a:gd name="adj" fmla="val 28000"/>
            </a:avLst>
          </a:prstGeom>
          <a:noFill/>
          <a:ln w="9525">
            <a:solidFill>
              <a:srgbClr val="2C3E63"/>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noAutofit/>
          </a:bodyPr>
          <a:lstStyle/>
          <a:p>
            <a:pPr algn="ctr">
              <a:lnSpc>
                <a:spcPct val="100000"/>
              </a:lnSpc>
            </a:pPr>
            <a:r>
              <a:rPr lang="es-ES" sz="1400" b="1" i="0">
                <a:solidFill>
                  <a:srgbClr val="C7D2E8"/>
                </a:solidFill>
                <a:latin typeface="Calibri"/>
              </a:rPr>
              <a:t>Canal de cálculo observable</a:t>
            </a:r>
          </a:p>
        </p:txBody>
      </p:sp>
      <p:sp>
        <p:nvSpPr>
          <p:cNvPr id="7" name="Rounded Rectangle 6"/>
          <p:cNvSpPr/>
          <p:nvPr/>
        </p:nvSpPr>
        <p:spPr>
          <a:xfrm>
            <a:off x="5742432" y="4023360"/>
            <a:ext cx="2304288" cy="566928"/>
          </a:xfrm>
          <a:prstGeom prst="roundRect">
            <a:avLst>
              <a:gd name="adj" fmla="val 28000"/>
            </a:avLst>
          </a:prstGeom>
          <a:noFill/>
          <a:ln w="9525">
            <a:solidFill>
              <a:srgbClr val="2C3E63"/>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noAutofit/>
          </a:bodyPr>
          <a:lstStyle/>
          <a:p>
            <a:pPr algn="ctr">
              <a:lnSpc>
                <a:spcPct val="100000"/>
              </a:lnSpc>
            </a:pPr>
            <a:r>
              <a:rPr lang="es-ES" sz="1400" b="1" i="0">
                <a:solidFill>
                  <a:srgbClr val="C7D2E8"/>
                </a:solidFill>
                <a:latin typeface="Calibri"/>
              </a:rPr>
              <a:t>Libre, en español, sin licencias</a:t>
            </a:r>
          </a:p>
        </p:txBody>
      </p:sp>
      <p:sp>
        <p:nvSpPr>
          <p:cNvPr id="8" name="TextBox 7"/>
          <p:cNvSpPr txBox="1"/>
          <p:nvPr/>
        </p:nvSpPr>
        <p:spPr>
          <a:xfrm>
            <a:off x="731520" y="5230368"/>
            <a:ext cx="7315200" cy="457200"/>
          </a:xfrm>
          <a:prstGeom prst="rect">
            <a:avLst/>
          </a:prstGeom>
          <a:noFill/>
        </p:spPr>
        <p:txBody>
          <a:bodyPr wrap="square" lIns="45720" tIns="27432" rIns="45720" bIns="27432" anchor="t">
            <a:noAutofit/>
          </a:bodyPr>
          <a:lstStyle/>
          <a:p>
            <a:pPr algn="l">
              <a:lnSpc>
                <a:spcPct val="105000"/>
              </a:lnSpc>
            </a:pPr>
            <a:r>
              <a:rPr lang="es-ES" sz="2400" b="1" i="0">
                <a:solidFill>
                  <a:srgbClr val="FFFFFF"/>
                </a:solidFill>
                <a:latin typeface="Calibri"/>
              </a:rPr>
              <a:t>Hedy Yhassmany Oyola Sucullani</a:t>
            </a:r>
          </a:p>
        </p:txBody>
      </p:sp>
      <p:sp>
        <p:nvSpPr>
          <p:cNvPr id="9" name="TextBox 8"/>
          <p:cNvSpPr txBox="1"/>
          <p:nvPr/>
        </p:nvSpPr>
        <p:spPr>
          <a:xfrm>
            <a:off x="731520" y="5687568"/>
            <a:ext cx="7315200" cy="411480"/>
          </a:xfrm>
          <a:prstGeom prst="rect">
            <a:avLst/>
          </a:prstGeom>
          <a:noFill/>
        </p:spPr>
        <p:txBody>
          <a:bodyPr wrap="square" lIns="45720" tIns="27432" rIns="45720" bIns="27432" anchor="t">
            <a:noAutofit/>
          </a:bodyPr>
          <a:lstStyle/>
          <a:p>
            <a:pPr algn="l">
              <a:lnSpc>
                <a:spcPct val="105000"/>
              </a:lnSpc>
            </a:pPr>
            <a:r>
              <a:rPr lang="es-ES" sz="1900" b="0" i="0">
                <a:solidFill>
                  <a:srgbClr val="F28C28"/>
                </a:solidFill>
                <a:latin typeface="Calibri"/>
              </a:rPr>
              <a:t>github.com/Sucullani/SoftwareED</a:t>
            </a:r>
          </a:p>
        </p:txBody>
      </p:sp>
      <p:pic>
        <p:nvPicPr>
          <p:cNvPr id="10" name="Picture 9" descr="logo_universidad.png"/>
          <p:cNvPicPr>
            <a:picLocks noChangeAspect="1"/>
          </p:cNvPicPr>
          <p:nvPr/>
        </p:nvPicPr>
        <p:blipFill>
          <a:blip r:embed="rId5"/>
          <a:stretch>
            <a:fillRect/>
          </a:stretch>
        </p:blipFill>
        <p:spPr>
          <a:xfrm>
            <a:off x="8883327" y="1051560"/>
            <a:ext cx="2075824" cy="2377440"/>
          </a:xfrm>
          <a:prstGeom prst="rect">
            <a:avLst/>
          </a:prstGeom>
        </p:spPr>
      </p:pic>
      <p:pic>
        <p:nvPicPr>
          <p:cNvPr id="11" name="Picture 10" descr="fig_logo_edufem.png"/>
          <p:cNvPicPr>
            <a:picLocks noChangeAspect="1"/>
          </p:cNvPicPr>
          <p:nvPr/>
        </p:nvPicPr>
        <p:blipFill>
          <a:blip r:embed="rId6"/>
          <a:stretch>
            <a:fillRect/>
          </a:stretch>
        </p:blipFill>
        <p:spPr>
          <a:xfrm>
            <a:off x="8915400" y="3794760"/>
            <a:ext cx="2011680" cy="2011680"/>
          </a:xfrm>
          <a:prstGeom prst="rect">
            <a:avLst/>
          </a:prstGeom>
        </p:spPr>
      </p:pic>
      <p:pic>
        <p:nvPicPr>
          <p:cNvPr id="12" name="s39">
            <a:hlinkClick r:id="" action="ppaction://media"/>
            <a:extLst>
              <a:ext uri="{FF2B5EF4-FFF2-40B4-BE49-F238E27FC236}">
                <a16:creationId xmlns:a16="http://schemas.microsoft.com/office/drawing/2014/main" id="{FED22AC9-3DC5-CC5C-C0B1-43B81C04AE5B}"/>
              </a:ext>
            </a:extLst>
          </p:cNvPr>
          <p:cNvPicPr>
            <a:picLocks noChangeAspect="1"/>
          </p:cNvPicPr>
          <p:nvPr>
            <a:audioFile r:link="rId2"/>
            <p:extLst>
              <p:ext uri="{DAA4B4D4-6D71-4841-9C94-3DE7FCFB9230}">
                <p14:media xmlns:p14="http://schemas.microsoft.com/office/powerpoint/2010/main" r:embed="rId1"/>
              </p:ext>
            </p:extLst>
          </p:nvPr>
        </p:nvPicPr>
        <p:blipFill>
          <a:blip r:embed="rId7"/>
          <a:stretch>
            <a:fillRect/>
          </a:stretch>
        </p:blipFill>
        <p:spPr>
          <a:xfrm>
            <a:off x="254000" y="254000"/>
            <a:ext cx="508000" cy="508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17384"/>
    </mc:Choice>
    <mc:Fallback>
      <p:transition spd="slow" advTm="17384"/>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12"/>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12"/>
                </p:tgtEl>
              </p:cMediaNode>
            </p:audio>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8466</Words>
  <Application>Microsoft Office PowerPoint</Application>
  <PresentationFormat>Panorámica</PresentationFormat>
  <Paragraphs>689</Paragraphs>
  <Slides>39</Slides>
  <Notes>39</Notes>
  <HiddenSlides>0</HiddenSlides>
  <MMClips>39</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39</vt:i4>
      </vt:variant>
    </vt:vector>
  </HeadingPairs>
  <TitlesOfParts>
    <vt:vector size="43" baseType="lpstr">
      <vt:lpstr>Arial</vt:lpstr>
      <vt:lpstr>Calibri</vt:lpstr>
      <vt:lpstr>Cambria Math</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User</cp:lastModifiedBy>
  <cp:revision>2</cp:revision>
  <dcterms:created xsi:type="dcterms:W3CDTF">2013-01-27T09:14:16Z</dcterms:created>
  <dcterms:modified xsi:type="dcterms:W3CDTF">2026-09-16T09:55:41Z</dcterms:modified>
  <cp:category/>
</cp:coreProperties>
</file>