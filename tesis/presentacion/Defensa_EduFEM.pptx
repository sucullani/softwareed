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Empiezo por la fundamentación: la situación problemática, el problema científico con sus variables, el objeto de estudio y el campo de acción, los objetivos, la hipótesis de diseño y la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enseñanza del MEF sufre una brecha doble. Los textos presentan la formulación matricial con rigor pero de manera abstracta, como una cadena algebraica desconectada de la geometría; el desarrollo manual no escala más allá de uno o dos elementos. El software comercial hace lo contrario: recibe geometría, material y cargas y devuelve tensiones ocultando todo lo intermedio. La consecuencia es que el estudiante aprende a operar sin comprender, y no puede diagnosticar un resultado anómalo ni reconocer el bloqueo por cortante o los modos espurios.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científico pregunta cómo debe construirse un software educativo para que el canal de cálculo completo del MEF en elasticidad plana resulte observable y contrastable por el estudiante. La variable causa es la forma en que la herramienta expone ese canal: transparencia, interactividad y verificabilidad numérica. La variable efecto es la observabilidad y contrastabilidad del procedimiento intermedio. El objeto de estudio es el análisis de medios continuos en elasticidad lineal plana por el MEF, del mapeo isoparamétrico a la recuperación de tensiones con Q4 y Q9; el campo de acción es su enseñanza mediante el software y la memoria de cálculo. Se delimita a la Carrera de Ingeniería Civil de la UATF, al aula y al equipo personal del estudiante sin licencias, y a la gestión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es desarrollar EduFEM, un software educativo de escritorio para el MEF en elasticidad lineal plana con elementos Q4 y Q9, que integre la formulación matemática, la construcción y visualización interactiva del modelo y la verificación numérica. Se concreta en seis objetivos específicos: el primero se cumple en el marco teórico; el segundo, tercero, cuarto y sexto en el diseño e implementación; y el quinto en resultados. Volveré a esta tabla al final para mostrar el cumplimiento de cada uno.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 plantea una hipótesis estadística sino una hipótesis de diseño: en la investigación tecnológica la hipótesis es la solución tentativa a un problema concreto y su criterio de veracidad es la efectividad en la práctica. Se verifica por diseño, comprobando que la herramienta reúne los cuatro atributos. La acompañan tres preguntas de investigación que responderé en el análisis y en las conclusiones. Por su finalidad la investigación es propositiva; por su naturaleza, aplicada de tipo tecnológico; por el abordaje, cuantitativa; por su nivel, descriptiva y comparativa.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académica y ligado a la plataforma de su época. La tabla de la tesis compara además requisitos de ejecución, fenómenos numéricos observables y verificación publicada. EduFEM cubre el vacío: libre y abierto, con instalador autocontenido, expone cada matriz sobre el elemento seleccionado y genera una memoria de cálculo trazable, capacidad que no se documenta en los antecedentes revisados.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tensiones se evalúan en los puntos de Gauss, se extrapolan a los nodos con la inversa de la matriz de funciones de forma, que en Q4 tiene forma cerrada con los coeficientes que ven, y se promedian entre los elementos que comparten cada nodo. El método de soluciones manufacturadas elige la solución a priori, deduce la carga de volumen y mide el error con las normas L² y H¹, que deben decrecer con las tasas teóricas. Este trabajo hace verificación de código, verificación de solución y comparación código a código; la validación frente a mediciones físicas queda fuera del alcance.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de investigación es un modelo de simulación numérica: no hay unidades experimentales ni tratamientos aleatorizados. La variable independiente es la definición del modelo y las decisiones de discretización, tipo de elemento y densidad de malla; la dependiente es la respuesta estructural y su exactitud frente a referencias, medida con normas L² y H¹, tasas de convergencia y errores relativos. Las controladas son el tipo de análisis y el orden de cuadratura, fijos en 2×2 para Q4 y 3×3 para Q9. La confiabilidad descansa en el determinismo del motor y en la convergencia bajo refinamiento.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de consistencia traza cada objetivo específico con su pregunta de investigación, su indicador, su instrumento y la evidencia en el documento. El primer objetivo es transversal porque fundamenta las tres preguntas. El sexto es instrumental: la memoria y la interoperabilidad apoyan la transparencia de PI-2 pero no derivan de una pregunta propia.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instrumentos son los guiones vv_mms, vv_timoshenko y vv_cook del repositorio. Cada caso pasa por el validador de salud, se resuelve con las mismas funciones que consumen los módulos educativos y la memoria, y sus normas se integran con un punto de Gauss más por dirección para no subestimar el error. Los casos no son una muestra estadística sino una selección intencional por valor probatorio, coherente con la práctica de verificación de códigos: cada uno aporta una referencia de naturaleza distinta y se corre con Q4 y con Q9.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criterios de aceptación están fijados de antemano en los propios guiones, que terminan con error si alguno falla, de modo que la verificación no se ajusta a posteriori. Así se contrasta la hipótesis de diseño: sus afirmaciones cuantitativas, la precisión verificable de PI-1 y la evidencia del bloqueo de PI-3, se contrastan numéricamente con estos criterios; la organización de la interfaz de PI-2 se documenta en el diseño.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dieciocho chequeos: nueve errores críticos que bloquean, ocho advertencias y uno de información. La calidad de malla usa dos métricas de la biblioteca Verdict, el Jacobiano escalado y la relación de aspecto; EduFEM eleva el corte del Jacobiano escalado de 0,30 a 0,50 por prudencia pedagógica. La importación DXF es idempotente y fuerza la orientación antihoraria.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sexto objetivo se cumple con la memoria de cálculo automática: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objetivo el formato .edufem, los CSV en ZIP y la importación DXF.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viga simplemente apoyada, de hormigón, se contrasta con la solución de Timoshenko y Goodier y con un modelo de cáscara en SAP2000. La tensión normal difiere menos del 0,05 % del analítico y del 0,21 % de SAP2000, con el máximo en el punto B. La flecha difiere 0,26 % de la referencia con corrección de cortante; si usara Euler-Bernoulli el error aparente sería 1,85 %, lo que muestra que el modelo plano captura el cortante en una viga con relación luz-peralte del orden de 11,7. En la tensión cortante el error llega al 2,9 % y frente a SAP2000 los desplazamientos difieren hasta 0,56 %.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tercera pregunta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Vuelvo a la tabla de objetivos. Cada uno tiene su conclusión y su evidencia: el marco teórico es la misma formulación que implementa el motor y sustituye la memoria; el motor está libre de errores de orden; la interfaz integra las tres fases sobre un lienzo; los módulos operan sobre el modelo del alumno y no sobre un ejemplo prefabricado; la batería de V&amp;V acota el error; y la memoria documenta el procedimiento. EduFEM cumple el objetivo general: articula formulación, modelado interactivo y verificación numérica.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hipótesis de diseño se confirma atributo por atributo, verificada por diseño y no por medición del aprendizaje. PI-1 y PI-3 se responden con cifras; PI-2 por la organización documentada del software. Con ello queda respondido el problema científico: el canal completo es observable, mediante los módulos y la memoria, y contrastable, mediante la batería de verificación y validación con criterios fijados a priori, que es el efecto que el problema pedía.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límites explícitos. El alcance se ciñe a la elasticidad lineal plana con dos elementos y sin mallador automático. El solucionador directo pierde eficiencia en mallas masivas. El bloqueo del Q4 se usa como recurso didáctico pero no se corrige. Y las conclusiones sobre utilidad didáctica son cualitativas, basadas en el diseño y en la literatura, porque no se realizó una validación empírica con estudiantes.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recomendaciones, cada una anclada a una limitación. Primero, factorización de Cholesky sobre la matriz reducida, simétrica y definida positiva, con aproximadamente la mitad del trabajo de una LU, y un solucionador iterativo precondicionado para problemas masivos, preservando la versión legible del ensamblaje. Segundo, integración reducida selectiva o B-bar, con un módulo que contraste el comportamiento bloqueado y el corregido. Tercero, triángulos, cuadriláteros de transición y extensión a tres dimensiones. Cuarto, un caso civil en deformación plana con solución publicada y otro con carga superficial variable y peso propio. Y la más importante: un estudio antes-después con estudiantes de cursos de MEF que dé sustento cuantitativo a lo que hoy se justifica por diseño.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292608"/>
            <a:ext cx="12191695"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685800"/>
            <a:ext cx="7315200" cy="457200"/>
          </a:xfrm>
          <a:prstGeom prst="rect">
            <a:avLst/>
          </a:prstGeom>
          <a:noFill/>
        </p:spPr>
        <p:txBody>
          <a:bodyPr wrap="square" anchor="t" lIns="45720" tIns="27432" rIns="45720" bIns="27432">
            <a:noAutofit/>
          </a:bodyPr>
          <a:lstStyle/>
          <a:p>
            <a:pPr algn="l">
              <a:lnSpc>
                <a:spcPct val="105000"/>
              </a:lnSpc>
            </a:pPr>
            <a:r>
              <a:rPr sz="2000" b="1" i="0" lang="es-ES">
                <a:solidFill>
                  <a:srgbClr val="1B2A4A"/>
                </a:solidFill>
                <a:latin typeface="Calibri"/>
              </a:rPr>
              <a:t>UNIVERSIDAD AUTÓNOMA «TOMÁS FRÍAS»</a:t>
            </a:r>
          </a:p>
        </p:txBody>
      </p:sp>
      <p:sp>
        <p:nvSpPr>
          <p:cNvPr id="5" name="TextBox 4"/>
          <p:cNvSpPr txBox="1"/>
          <p:nvPr/>
        </p:nvSpPr>
        <p:spPr>
          <a:xfrm>
            <a:off x="731520" y="1097280"/>
            <a:ext cx="7315200" cy="365760"/>
          </a:xfrm>
          <a:prstGeom prst="rect">
            <a:avLst/>
          </a:prstGeom>
          <a:noFill/>
        </p:spPr>
        <p:txBody>
          <a:bodyPr wrap="square" anchor="t" lIns="45720" tIns="27432" rIns="45720" bIns="27432">
            <a:noAutofit/>
          </a:bodyPr>
          <a:lstStyle/>
          <a:p>
            <a:pPr algn="l">
              <a:lnSpc>
                <a:spcPct val="105000"/>
              </a:lnSpc>
            </a:pPr>
            <a:r>
              <a:rPr sz="1600" b="1" i="0" lang="es-ES">
                <a:solidFill>
                  <a:srgbClr val="5B6575"/>
                </a:solidFill>
                <a:latin typeface="Calibri"/>
              </a:rPr>
              <a:t>FACULTAD DE INGENIERÍA</a:t>
            </a:r>
          </a:p>
        </p:txBody>
      </p:sp>
      <p:sp>
        <p:nvSpPr>
          <p:cNvPr id="6" name="TextBox 5"/>
          <p:cNvSpPr txBox="1"/>
          <p:nvPr/>
        </p:nvSpPr>
        <p:spPr>
          <a:xfrm>
            <a:off x="731520" y="1417320"/>
            <a:ext cx="7315200" cy="365760"/>
          </a:xfrm>
          <a:prstGeom prst="rect">
            <a:avLst/>
          </a:prstGeom>
          <a:noFill/>
        </p:spPr>
        <p:txBody>
          <a:bodyPr wrap="square" anchor="t" lIns="45720" tIns="27432" rIns="45720" bIns="27432">
            <a:noAutofit/>
          </a:bodyPr>
          <a:lstStyle/>
          <a:p>
            <a:pPr algn="l">
              <a:lnSpc>
                <a:spcPct val="105000"/>
              </a:lnSpc>
            </a:pPr>
            <a:r>
              <a:rPr sz="1600" b="1" i="0" lang="es-ES">
                <a:solidFill>
                  <a:srgbClr val="5B6575"/>
                </a:solidFill>
                <a:latin typeface="Calibri"/>
              </a:rPr>
              <a:t>CARRERA DE INGENIERÍA CIVIL</a:t>
            </a:r>
          </a:p>
        </p:txBody>
      </p:sp>
      <p:sp>
        <p:nvSpPr>
          <p:cNvPr id="7" name="Rectangle 6"/>
          <p:cNvSpPr/>
          <p:nvPr/>
        </p:nvSpPr>
        <p:spPr>
          <a:xfrm>
            <a:off x="777240" y="1965960"/>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148840"/>
            <a:ext cx="7589520" cy="1920240"/>
          </a:xfrm>
          <a:prstGeom prst="rect">
            <a:avLst/>
          </a:prstGeom>
          <a:noFill/>
        </p:spPr>
        <p:txBody>
          <a:bodyPr wrap="square" anchor="t" lIns="45720" tIns="27432" rIns="45720" bIns="27432">
            <a:noAutofit/>
          </a:bodyPr>
          <a:lstStyle/>
          <a:p>
            <a:pPr algn="l">
              <a:lnSpc>
                <a:spcPct val="108000"/>
              </a:lnSpc>
            </a:pPr>
            <a:r>
              <a:rPr sz="2800" b="1" i="0" lang="es-ES">
                <a:solidFill>
                  <a:srgbClr val="1B2A4A"/>
                </a:solidFill>
                <a:latin typeface="Calibri"/>
              </a:rPr>
              <a:t>DESARROLLO DE SOFTWARE EDUCATIVO DE ELEMENTOS FINITOS PARA EL ANÁLISIS ESTRUCTURAL EMPLEANDO EL LENGUAJE DE PROGRAMACIÓN PYTHON</a:t>
            </a:r>
          </a:p>
        </p:txBody>
      </p:sp>
      <p:sp>
        <p:nvSpPr>
          <p:cNvPr id="9" name="TextBox 8"/>
          <p:cNvSpPr txBox="1"/>
          <p:nvPr/>
        </p:nvSpPr>
        <p:spPr>
          <a:xfrm>
            <a:off x="731520" y="4160520"/>
            <a:ext cx="7589520" cy="411480"/>
          </a:xfrm>
          <a:prstGeom prst="rect">
            <a:avLst/>
          </a:prstGeom>
          <a:noFill/>
        </p:spPr>
        <p:txBody>
          <a:bodyPr wrap="square" anchor="t" lIns="45720" tIns="27432" rIns="45720" bIns="27432">
            <a:noAutofit/>
          </a:bodyPr>
          <a:lstStyle/>
          <a:p>
            <a:pPr algn="l">
              <a:lnSpc>
                <a:spcPct val="105000"/>
              </a:lnSpc>
            </a:pPr>
            <a:r>
              <a:rPr sz="1800" b="0" i="0" lang="es-ES">
                <a:solidFill>
                  <a:srgbClr val="1F2937"/>
                </a:solidFill>
                <a:latin typeface="Calibri"/>
              </a:rPr>
              <a:t>Tesis para optar al Título de Licenciatura en Ingeniería Civil</a:t>
            </a:r>
          </a:p>
        </p:txBody>
      </p:sp>
      <p:sp>
        <p:nvSpPr>
          <p:cNvPr id="10" name="TextBox 9"/>
          <p:cNvSpPr txBox="1"/>
          <p:nvPr/>
        </p:nvSpPr>
        <p:spPr>
          <a:xfrm>
            <a:off x="731520" y="4800600"/>
            <a:ext cx="7589520" cy="411480"/>
          </a:xfrm>
          <a:prstGeom prst="rect">
            <a:avLst/>
          </a:prstGeom>
          <a:noFill/>
        </p:spPr>
        <p:txBody>
          <a:bodyPr wrap="square" anchor="t" lIns="45720" tIns="27432" rIns="45720" bIns="27432">
            <a:noAutofit/>
          </a:bodyPr>
          <a:lstStyle/>
          <a:p>
            <a:pPr algn="l">
              <a:lnSpc>
                <a:spcPct val="105000"/>
              </a:lnSpc>
            </a:pPr>
            <a:r>
              <a:rPr sz="2200" b="1" i="0" lang="es-ES">
                <a:solidFill>
                  <a:srgbClr val="1B2A4A"/>
                </a:solidFill>
                <a:latin typeface="Calibri"/>
              </a:rPr>
              <a:t>Autor:  Hedy Yhassmany Oyola Sucullani</a:t>
            </a:r>
          </a:p>
        </p:txBody>
      </p:sp>
      <p:sp>
        <p:nvSpPr>
          <p:cNvPr id="11" name="TextBox 10"/>
          <p:cNvSpPr txBox="1"/>
          <p:nvPr/>
        </p:nvSpPr>
        <p:spPr>
          <a:xfrm>
            <a:off x="731520" y="5257800"/>
            <a:ext cx="7589520" cy="411480"/>
          </a:xfrm>
          <a:prstGeom prst="rect">
            <a:avLst/>
          </a:prstGeom>
          <a:noFill/>
        </p:spPr>
        <p:txBody>
          <a:bodyPr wrap="square" anchor="t" lIns="45720" tIns="27432" rIns="45720" bIns="27432">
            <a:noAutofit/>
          </a:bodyPr>
          <a:lstStyle/>
          <a:p>
            <a:pPr algn="l">
              <a:lnSpc>
                <a:spcPct val="105000"/>
              </a:lnSpc>
            </a:pPr>
            <a:r>
              <a:rPr sz="1800" b="0" i="0" lang="es-ES">
                <a:solidFill>
                  <a:srgbClr val="1F2937"/>
                </a:solidFill>
                <a:latin typeface="Calibri"/>
              </a:rPr>
              <a:t/>
            </a:r>
          </a:p>
        </p:txBody>
      </p:sp>
      <p:sp>
        <p:nvSpPr>
          <p:cNvPr id="12" name="TextBox 11"/>
          <p:cNvSpPr txBox="1"/>
          <p:nvPr/>
        </p:nvSpPr>
        <p:spPr>
          <a:xfrm>
            <a:off x="731520" y="5897880"/>
            <a:ext cx="7589520" cy="411480"/>
          </a:xfrm>
          <a:prstGeom prst="rect">
            <a:avLst/>
          </a:prstGeom>
          <a:noFill/>
        </p:spPr>
        <p:txBody>
          <a:bodyPr wrap="square" anchor="t" lIns="45720" tIns="27432" rIns="45720" bIns="27432">
            <a:noAutofit/>
          </a:bodyPr>
          <a:lstStyle/>
          <a:p>
            <a:pPr algn="l">
              <a:lnSpc>
                <a:spcPct val="105000"/>
              </a:lnSpc>
            </a:pPr>
            <a:r>
              <a:rPr sz="1800" b="0" i="0" lang="es-ES">
                <a:solidFill>
                  <a:srgbClr val="5B6575"/>
                </a:solidFill>
                <a:latin typeface="Calibri"/>
              </a:rPr>
              <a:t>Potosí – Bolivia   ·   Junio de 2026</a:t>
            </a:r>
          </a:p>
        </p:txBody>
      </p:sp>
      <p:pic>
        <p:nvPicPr>
          <p:cNvPr id="13" name="Picture 12" descr="logo_universidad.png"/>
          <p:cNvPicPr>
            <a:picLocks noChangeAspect="1"/>
          </p:cNvPicPr>
          <p:nvPr/>
        </p:nvPicPr>
        <p:blipFill>
          <a:blip r:embed="rId2"/>
          <a:stretch>
            <a:fillRect/>
          </a:stretch>
        </p:blipFill>
        <p:spPr>
          <a:xfrm>
            <a:off x="8906528" y="822960"/>
            <a:ext cx="2395182" cy="2743200"/>
          </a:xfrm>
          <a:prstGeom prst="rect">
            <a:avLst/>
          </a:prstGeom>
        </p:spPr>
      </p:pic>
      <p:pic>
        <p:nvPicPr>
          <p:cNvPr id="14" name="Picture 13" descr="fig_logo_edufem.png"/>
          <p:cNvPicPr>
            <a:picLocks noChangeAspect="1"/>
          </p:cNvPicPr>
          <p:nvPr/>
        </p:nvPicPr>
        <p:blipFill>
          <a:blip r:embed="rId3"/>
          <a:stretch>
            <a:fillRect/>
          </a:stretch>
        </p:blipFill>
        <p:spPr>
          <a:xfrm>
            <a:off x="9052560" y="3794760"/>
            <a:ext cx="2103120" cy="2103120"/>
          </a:xfrm>
          <a:prstGeom prst="rect">
            <a:avLst/>
          </a:prstGeom>
        </p:spPr>
      </p:pic>
      <p:sp>
        <p:nvSpPr>
          <p:cNvPr id="15" name="TextBox 14"/>
          <p:cNvSpPr txBox="1"/>
          <p:nvPr/>
        </p:nvSpPr>
        <p:spPr>
          <a:xfrm>
            <a:off x="8503920" y="5852160"/>
            <a:ext cx="3200400" cy="457200"/>
          </a:xfrm>
          <a:prstGeom prst="rect">
            <a:avLst/>
          </a:prstGeom>
          <a:noFill/>
        </p:spPr>
        <p:txBody>
          <a:bodyPr wrap="square" anchor="t" lIns="45720" tIns="27432" rIns="45720" bIns="27432">
            <a:noAutofit/>
          </a:bodyPr>
          <a:lstStyle/>
          <a:p>
            <a:pPr algn="ctr">
              <a:lnSpc>
                <a:spcPct val="105000"/>
              </a:lnSpc>
            </a:pPr>
            <a:r>
              <a:rPr sz="2200" b="1" i="0" lang="es-ES">
                <a:solidFill>
                  <a:srgbClr val="1B2A4A"/>
                </a:solidFill>
                <a:latin typeface="Calibri"/>
              </a:rPr>
              <a:t>EduFEM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01</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Introducción</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La caja negra: de dónde nace el problema, qué se estudia, qué se propone y cómo se contrasta</a:t>
            </a:r>
          </a:p>
        </p:txBody>
      </p:sp>
      <p:sp>
        <p:nvSpPr>
          <p:cNvPr id="6" name="Rounded Rectangle 5"/>
          <p:cNvSpPr/>
          <p:nvPr/>
        </p:nvSpPr>
        <p:spPr>
          <a:xfrm>
            <a:off x="548640"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La brecha: rigor abstracto o caja negra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1  ·  Introducción</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Textos clásicos</a:t>
            </a:r>
          </a:p>
        </p:txBody>
      </p:sp>
      <p:sp>
        <p:nvSpPr>
          <p:cNvPr id="9" name="TextBox 8"/>
          <p:cNvSpPr txBox="1"/>
          <p:nvPr/>
        </p:nvSpPr>
        <p:spPr>
          <a:xfrm>
            <a:off x="777240"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A mano no escala más allá de uno o dos elementos</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78727"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Software profesional</a:t>
            </a:r>
          </a:p>
        </p:txBody>
      </p:sp>
      <p:sp>
        <p:nvSpPr>
          <p:cNvPr id="14" name="TextBox 13"/>
          <p:cNvSpPr txBox="1"/>
          <p:nvPr/>
        </p:nvSpPr>
        <p:spPr>
          <a:xfrm>
            <a:off x="6507327"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Entradas → resultados:</a:t>
            </a:r>
            <a:r>
              <a:rPr sz="2200" b="0" i="0" lang="es-ES">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Costoso, sin propósito didáctico, localización al español limitada</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No deja diagnosticar bloqueo por cortante ni modos espurios (hourglass)</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Brecha doble: dificultad genuina del método e insuficiencia de herramientas que expongan el proceso</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planteamiento del problema</a:t>
            </a:r>
          </a:p>
        </p:txBody>
      </p:sp>
      <p:sp>
        <p:nvSpPr>
          <p:cNvPr id="21" name="TextBox 2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Del problema al objetivo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1  ·  Introducción</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Situación problemática</a:t>
            </a:r>
          </a:p>
        </p:txBody>
      </p:sp>
      <p:sp>
        <p:nvSpPr>
          <p:cNvPr id="7" name="TextBox 6"/>
          <p:cNvSpPr txBox="1"/>
          <p:nvPr/>
        </p:nvSpPr>
        <p:spPr>
          <a:xfrm>
            <a:off x="548640"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brecha doble: texto y caja negra</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888223"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Problema científico</a:t>
            </a:r>
          </a:p>
        </p:txBody>
      </p:sp>
      <p:sp>
        <p:nvSpPr>
          <p:cNvPr id="11" name="TextBox 10"/>
          <p:cNvSpPr txBox="1"/>
          <p:nvPr/>
        </p:nvSpPr>
        <p:spPr>
          <a:xfrm>
            <a:off x="2888223"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cómo exponer el canal completo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27807"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Objeto de estudio</a:t>
            </a:r>
          </a:p>
        </p:txBody>
      </p:sp>
      <p:sp>
        <p:nvSpPr>
          <p:cNvPr id="15" name="TextBox 14"/>
          <p:cNvSpPr txBox="1"/>
          <p:nvPr/>
        </p:nvSpPr>
        <p:spPr>
          <a:xfrm>
            <a:off x="5227807"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canal del MEF plano, Q4 y Q9</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67391"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Campo de acción</a:t>
            </a:r>
          </a:p>
        </p:txBody>
      </p:sp>
      <p:sp>
        <p:nvSpPr>
          <p:cNvPr id="19" name="TextBox 18"/>
          <p:cNvSpPr txBox="1"/>
          <p:nvPr/>
        </p:nvSpPr>
        <p:spPr>
          <a:xfrm>
            <a:off x="7567391"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su enseñanza: software y memoria</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906975"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Objetivo general</a:t>
            </a:r>
          </a:p>
        </p:txBody>
      </p:sp>
      <p:sp>
        <p:nvSpPr>
          <p:cNvPr id="23" name="TextBox 22"/>
          <p:cNvSpPr txBox="1"/>
          <p:nvPr/>
        </p:nvSpPr>
        <p:spPr>
          <a:xfrm>
            <a:off x="9906975"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desarrollar EduFEM</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Variable causa: cómo se expone el canal · Variable efecto: observabilidad y contrastabilidad del procedimiento</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problema científico, objeto y campo</a:t>
            </a:r>
          </a:p>
        </p:txBody>
      </p:sp>
      <p:sp>
        <p:nvSpPr>
          <p:cNvPr id="30" name="TextBox 29"/>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Un objetivo general, seis específicos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1  ·  Introducción</a:t>
            </a:r>
          </a:p>
        </p:txBody>
      </p:sp>
      <p:sp>
        <p:nvSpPr>
          <p:cNvPr id="5" name="TextBox 4"/>
          <p:cNvSpPr txBox="1"/>
          <p:nvPr/>
        </p:nvSpPr>
        <p:spPr>
          <a:xfrm>
            <a:off x="548640" y="1481328"/>
            <a:ext cx="11094415" cy="411480"/>
          </a:xfrm>
          <a:prstGeom prst="rect">
            <a:avLst/>
          </a:prstGeom>
          <a:noFill/>
        </p:spPr>
        <p:txBody>
          <a:bodyPr wrap="square" anchor="t" lIns="45720" tIns="27432" rIns="45720" bIns="27432">
            <a:noAutofit/>
          </a:bodyPr>
          <a:lstStyle/>
          <a:p>
            <a:pPr algn="l">
              <a:lnSpc>
                <a:spcPct val="105000"/>
              </a:lnSpc>
            </a:pPr>
            <a:r>
              <a:rPr sz="1800" b="0" i="1" lang="es-ES">
                <a:solidFill>
                  <a:srgbClr val="5B6575"/>
                </a:solidFill>
                <a:latin typeface="Calibri"/>
              </a:rPr>
              <a:t>Desarrollar EduFEM integrando formulación matemática, modelado interactivo y verificación numérica</a:t>
            </a:r>
          </a:p>
        </p:txBody>
      </p:sp>
      <p:graphicFrame>
        <p:nvGraphicFramePr>
          <p:cNvPr id="6" name="Table 5"/>
          <p:cNvGraphicFramePr>
            <a:graphicFrameLocks noGrp="1"/>
          </p:cNvGraphicFramePr>
          <p:nvPr/>
        </p:nvGraphicFramePr>
        <p:xfrm>
          <a:off x="548640" y="1938528"/>
          <a:ext cx="11094413" cy="3712464"/>
        </p:xfrm>
        <a:graphic>
          <a:graphicData uri="http://schemas.openxmlformats.org/drawingml/2006/table">
            <a:tbl>
              <a:tblPr firstRow="0" bandRow="0">
                <a:tableStyleId>{5C22544A-7EE6-4342-B048-85BDC9FD1C3A}</a:tableStyleId>
              </a:tblPr>
              <a:tblGrid>
                <a:gridCol w="973218"/>
                <a:gridCol w="7820924"/>
                <a:gridCol w="2300271"/>
              </a:tblGrid>
              <a:tr h="530352">
                <a:tc>
                  <a:txBody>
                    <a:bodyPr wrap="square"/>
                    <a:lstStyle/>
                    <a:p>
                      <a:pPr algn="l"/>
                      <a:r>
                        <a:rPr sz="20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Qué se hace</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Dónde se cumple</a:t>
                      </a:r>
                    </a:p>
                  </a:txBody>
                  <a:tcPr marL="73152" marR="73152" marT="27432" marB="27432" anchor="ctr">
                    <a:solidFill>
                      <a:srgbClr val="1B2A4A"/>
                    </a:solidFill>
                  </a:tcPr>
                </a:tc>
              </a:tr>
              <a:tr h="530352">
                <a:tc>
                  <a:txBody>
                    <a:bodyPr wrap="square"/>
                    <a:lstStyle/>
                    <a:p>
                      <a:pPr algn="l"/>
                      <a:r>
                        <a:rPr sz="2000" b="1" i="0" lang="es-ES">
                          <a:solidFill>
                            <a:srgbClr val="1F2937"/>
                          </a:solidFill>
                          <a:latin typeface="Calibri"/>
                        </a:rPr>
                        <a:t>OE1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Fundamentar el MEF plano con Q4 y Q9</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Cap. 1</a:t>
                      </a:r>
                    </a:p>
                  </a:txBody>
                  <a:tcPr marL="73152" marR="73152" marT="27432" marB="27432" anchor="ctr">
                    <a:solidFill>
                      <a:srgbClr val="FFFFFF"/>
                    </a:solidFill>
                  </a:tcPr>
                </a:tc>
              </a:tr>
              <a:tr h="530352">
                <a:tc>
                  <a:txBody>
                    <a:bodyPr wrap="square"/>
                    <a:lstStyle/>
                    <a:p>
                      <a:pPr algn="l"/>
                      <a:r>
                        <a:rPr sz="2000" b="1" i="0" lang="es-ES">
                          <a:solidFill>
                            <a:srgbClr val="1F2937"/>
                          </a:solidFill>
                          <a:latin typeface="Calibri"/>
                        </a:rPr>
                        <a:t>OE2</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Motor MEF 2D verificado numéricamente</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Cap. 2 · Cap. 3</a:t>
                      </a:r>
                    </a:p>
                  </a:txBody>
                  <a:tcPr marL="73152" marR="73152" marT="27432" marB="27432" anchor="ctr">
                    <a:solidFill>
                      <a:srgbClr val="F3F4F6"/>
                    </a:solidFill>
                  </a:tcPr>
                </a:tc>
              </a:tr>
              <a:tr h="530352">
                <a:tc>
                  <a:txBody>
                    <a:bodyPr wrap="square"/>
                    <a:lstStyle/>
                    <a:p>
                      <a:pPr algn="l"/>
                      <a:r>
                        <a:rPr sz="2000" b="1" i="0" lang="es-ES">
                          <a:solidFill>
                            <a:srgbClr val="1F2937"/>
                          </a:solidFill>
                          <a:latin typeface="Calibri"/>
                        </a:rPr>
                        <a:t>OE3</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Interfaz pre / proceso / post con lienzo único</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Cap. 2</a:t>
                      </a:r>
                    </a:p>
                  </a:txBody>
                  <a:tcPr marL="73152" marR="73152" marT="27432" marB="27432" anchor="ctr">
                    <a:solidFill>
                      <a:srgbClr val="FFFFFF"/>
                    </a:solidFill>
                  </a:tcPr>
                </a:tc>
              </a:tr>
              <a:tr h="530352">
                <a:tc>
                  <a:txBody>
                    <a:bodyPr wrap="square"/>
                    <a:lstStyle/>
                    <a:p>
                      <a:pPr algn="l"/>
                      <a:r>
                        <a:rPr sz="2000" b="1" i="0" lang="es-ES">
                          <a:solidFill>
                            <a:srgbClr val="1F2937"/>
                          </a:solidFill>
                          <a:latin typeface="Calibri"/>
                        </a:rPr>
                        <a:t>OE4</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Módulos educativos paso a paso sobre el modelo real</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Cap. 2 · Cap. 3</a:t>
                      </a:r>
                    </a:p>
                  </a:txBody>
                  <a:tcPr marL="73152" marR="73152" marT="27432" marB="27432" anchor="ctr">
                    <a:solidFill>
                      <a:srgbClr val="F3F4F6"/>
                    </a:solidFill>
                  </a:tcPr>
                </a:tc>
              </a:tr>
              <a:tr h="530352">
                <a:tc>
                  <a:txBody>
                    <a:bodyPr wrap="square"/>
                    <a:lstStyle/>
                    <a:p>
                      <a:pPr algn="l"/>
                      <a:r>
                        <a:rPr sz="2000" b="1" i="0" lang="es-ES">
                          <a:solidFill>
                            <a:srgbClr val="1F2937"/>
                          </a:solidFill>
                          <a:latin typeface="Calibri"/>
                        </a:rPr>
                        <a:t>OE5</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V&amp;V: MMS, Timoshenko, Cook y SAP2000</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Cap. 3</a:t>
                      </a:r>
                    </a:p>
                  </a:txBody>
                  <a:tcPr marL="73152" marR="73152" marT="27432" marB="27432" anchor="ctr">
                    <a:solidFill>
                      <a:srgbClr val="FFFFFF"/>
                    </a:solidFill>
                  </a:tcPr>
                </a:tc>
              </a:tr>
              <a:tr h="530352">
                <a:tc>
                  <a:txBody>
                    <a:bodyPr wrap="square"/>
                    <a:lstStyle/>
                    <a:p>
                      <a:pPr algn="l"/>
                      <a:r>
                        <a:rPr sz="2000" b="1" i="0" lang="es-ES">
                          <a:solidFill>
                            <a:srgbClr val="1F2937"/>
                          </a:solidFill>
                          <a:latin typeface="Calibri"/>
                        </a:rPr>
                        <a:t>OE6</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Memoria de cálculo PDF e interoperabilidad DXF/CSV</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Cap. 2</a:t>
                      </a:r>
                    </a:p>
                  </a:txBody>
                  <a:tcPr marL="73152" marR="73152" marT="27432" marB="27432" anchor="ctr">
                    <a:solidFill>
                      <a:srgbClr val="F3F4F6"/>
                    </a:solidFill>
                  </a:tcPr>
                </a:tc>
              </a:tr>
            </a:tbl>
          </a:graphicData>
        </a:graphic>
      </p:graphicFrame>
      <p:sp>
        <p:nvSpPr>
          <p:cNvPr id="7" name="Rectangle 6"/>
          <p:cNvSpPr/>
          <p:nvPr/>
        </p:nvSpPr>
        <p:spPr>
          <a:xfrm>
            <a:off x="548640" y="5742432"/>
            <a:ext cx="11094415" cy="530352"/>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5742432"/>
            <a:ext cx="82296"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5742432"/>
            <a:ext cx="10774375" cy="530352"/>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Esta tabla vuelve en las conclusiones con la columna «cumplimiento»</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objetivos</a:t>
            </a:r>
          </a:p>
        </p:txBody>
      </p:sp>
      <p:sp>
        <p:nvSpPr>
          <p:cNvPr id="13" name="TextBox 12"/>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de diseño y preguntas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1  ·  Introducción</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Hipótesis de diseño</a:t>
            </a:r>
          </a:p>
        </p:txBody>
      </p:sp>
      <p:sp>
        <p:nvSpPr>
          <p:cNvPr id="9" name="TextBox 8"/>
          <p:cNvSpPr txBox="1"/>
          <p:nvPr/>
        </p:nvSpPr>
        <p:spPr>
          <a:xfrm>
            <a:off x="777240"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Factible:</a:t>
            </a:r>
            <a:r>
              <a:rPr sz="2200" b="0" i="0" lang="es-ES">
                <a:solidFill>
                  <a:srgbClr val="1F2937"/>
                </a:solidFill>
                <a:latin typeface="Calibri"/>
              </a:rPr>
              <a:t> un software que expone el canal completo del MEF plano</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Transparente:</a:t>
            </a:r>
            <a:r>
              <a:rPr sz="2200" b="0" i="0" lang="es-ES">
                <a:solidFill>
                  <a:srgbClr val="1F2937"/>
                </a:solidFill>
                <a:latin typeface="Calibri"/>
              </a:rPr>
              <a:t> cada matriz y cada paso, observables</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Interactivo y verificable frente a referencias conocidas</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Coherente con pre-proceso, proceso y post-proceso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78727"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Preguntas de investigación</a:t>
            </a:r>
          </a:p>
        </p:txBody>
      </p:sp>
      <p:sp>
        <p:nvSpPr>
          <p:cNvPr id="14" name="TextBox 13"/>
          <p:cNvSpPr txBox="1"/>
          <p:nvPr/>
        </p:nvSpPr>
        <p:spPr>
          <a:xfrm>
            <a:off x="6507327"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PI-1:</a:t>
            </a:r>
            <a:r>
              <a:rPr sz="2200" b="0" i="0" lang="es-ES">
                <a:solidFill>
                  <a:srgbClr val="1F2937"/>
                </a:solidFill>
                <a:latin typeface="Calibri"/>
              </a:rPr>
              <a:t> ¿precisión verificable frente a soluciones analíticas y SAP2000?</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PI-2:</a:t>
            </a:r>
            <a:r>
              <a:rPr sz="2200" b="0" i="0" lang="es-ES">
                <a:solidFill>
                  <a:srgbClr val="1F2937"/>
                </a:solidFill>
                <a:latin typeface="Calibri"/>
              </a:rPr>
              <a:t> ¿qué organización de interfaz y módulos expone la cadena de cálculo?</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PI-3:</a:t>
            </a:r>
            <a:r>
              <a:rPr sz="2200" b="0" i="0" lang="es-ES">
                <a:solidFill>
                  <a:srgbClr val="1F2937"/>
                </a:solidFill>
                <a:latin typeface="Calibri"/>
              </a:rPr>
              <a:t> ¿evidencia el bloqueo por cortante del Q4 frente al Q9?</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Investigación propositiva, aplicada de tipo tecnológico, cuantitativa, descriptiva y comparativa</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hipótesis, preguntas y metodología</a:t>
            </a:r>
          </a:p>
        </p:txBody>
      </p:sp>
      <p:sp>
        <p:nvSpPr>
          <p:cNvPr id="21" name="TextBox 2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02</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Base teórica</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Abrir la caja: el estado del arte y el canal de cálculo del MEF isoparamétrico</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Estado del arte: el vacío que se cubre</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2  ·  Base teórica</a:t>
            </a:r>
          </a:p>
        </p:txBody>
      </p:sp>
      <p:graphicFrame>
        <p:nvGraphicFramePr>
          <p:cNvPr id="5" name="Table 4"/>
          <p:cNvGraphicFramePr>
            <a:graphicFrameLocks noGrp="1"/>
          </p:cNvGraphicFramePr>
          <p:nvPr/>
        </p:nvGraphicFramePr>
        <p:xfrm>
          <a:off x="548640" y="1692946"/>
          <a:ext cx="11094414" cy="3435528"/>
        </p:xfrm>
        <a:graphic>
          <a:graphicData uri="http://schemas.openxmlformats.org/drawingml/2006/table">
            <a:tbl>
              <a:tblPr firstRow="0" bandRow="0">
                <a:tableStyleId>{5C22544A-7EE6-4342-B048-85BDC9FD1C3A}</a:tableStyleId>
              </a:tblPr>
              <a:tblGrid>
                <a:gridCol w="2793660"/>
                <a:gridCol w="1073776"/>
                <a:gridCol w="1317313"/>
                <a:gridCol w="2363866"/>
                <a:gridCol w="1611727"/>
                <a:gridCol w="1934072"/>
              </a:tblGrid>
              <a:tr h="566928">
                <a:tc>
                  <a:txBody>
                    <a:bodyPr wrap="square"/>
                    <a:lstStyle/>
                    <a:p>
                      <a:pPr algn="l"/>
                      <a:r>
                        <a:rPr sz="1800" b="1" i="0" lang="es-ES">
                          <a:solidFill>
                            <a:srgbClr val="FFFFFF"/>
                          </a:solidFill>
                          <a:latin typeface="Calibri"/>
                        </a:rPr>
                        <a:t>Recurso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Idioma</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Licencia</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Paso a paso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Canal completo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Memoria automática</a:t>
                      </a:r>
                    </a:p>
                  </a:txBody>
                  <a:tcPr marL="73152" marR="73152" marT="27432" marB="27432" anchor="ctr">
                    <a:solidFill>
                      <a:srgbClr val="1B2A4A"/>
                    </a:solidFill>
                  </a:tcPr>
                </a:tc>
              </a:tr>
              <a:tr h="433686">
                <a:tc>
                  <a:txBody>
                    <a:bodyPr wrap="square"/>
                    <a:lstStyle/>
                    <a:p>
                      <a:pPr algn="l"/>
                      <a:r>
                        <a:rPr sz="1800" b="1" i="0" lang="es-ES">
                          <a:solidFill>
                            <a:srgbClr val="1F2937"/>
                          </a:solidFill>
                          <a:latin typeface="Calibri"/>
                        </a:rPr>
                        <a:t>EduFEM</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Español</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Libre</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Alta: M0–M7</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Sí</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Sí (PDF)</a:t>
                      </a:r>
                    </a:p>
                  </a:txBody>
                  <a:tcPr marL="73152" marR="73152" marT="27432" marB="27432" anchor="ctr">
                    <a:solidFill>
                      <a:srgbClr val="FFFFFF"/>
                    </a:solidFill>
                  </a:tcPr>
                </a:tc>
              </a:tr>
              <a:tr h="433686">
                <a:tc>
                  <a:txBody>
                    <a:bodyPr wrap="square"/>
                    <a:lstStyle/>
                    <a:p>
                      <a:pPr algn="l"/>
                      <a:r>
                        <a:rPr sz="1800" b="1" i="0" lang="es-ES">
                          <a:solidFill>
                            <a:srgbClr val="1F2937"/>
                          </a:solidFill>
                          <a:latin typeface="Calibri"/>
                        </a:rPr>
                        <a:t>ED-Elas2D (UPC, 1998)</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Español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Académica</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Media</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Sí</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No consta</a:t>
                      </a:r>
                    </a:p>
                  </a:txBody>
                  <a:tcPr marL="73152" marR="73152" marT="27432" marB="27432" anchor="ctr">
                    <a:solidFill>
                      <a:srgbClr val="F3F4F6"/>
                    </a:solidFill>
                  </a:tcPr>
                </a:tc>
              </a:tr>
              <a:tr h="566928">
                <a:tc>
                  <a:txBody>
                    <a:bodyPr wrap="square"/>
                    <a:lstStyle/>
                    <a:p>
                      <a:pPr algn="l"/>
                      <a:r>
                        <a:rPr sz="1800" b="1" i="0" lang="es-ES">
                          <a:solidFill>
                            <a:srgbClr val="1F2937"/>
                          </a:solidFill>
                          <a:latin typeface="Calibri"/>
                        </a:rPr>
                        <a:t>Reticulados (Bishay, 2020)</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No declarada</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Media-alta</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Parcial: barras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No consta</a:t>
                      </a:r>
                    </a:p>
                  </a:txBody>
                  <a:tcPr marL="73152" marR="73152" marT="27432" marB="27432" anchor="ctr">
                    <a:solidFill>
                      <a:srgbClr val="FFFFFF"/>
                    </a:solidFill>
                  </a:tcPr>
                </a:tc>
              </a:tr>
              <a:tr h="566928">
                <a:tc>
                  <a:txBody>
                    <a:bodyPr wrap="square"/>
                    <a:lstStyle/>
                    <a:p>
                      <a:pPr algn="l"/>
                      <a:r>
                        <a:rPr sz="1800" b="1" i="0" lang="es-ES">
                          <a:solidFill>
                            <a:srgbClr val="1F2937"/>
                          </a:solidFill>
                          <a:latin typeface="Calibri"/>
                        </a:rPr>
                        <a:t>VisualFEA (Lee, 2015)</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Inglés</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Comercial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Media-alta, un eslabón</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Parcial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En pantalla</a:t>
                      </a:r>
                    </a:p>
                  </a:txBody>
                  <a:tcPr marL="73152" marR="73152" marT="27432" marB="27432" anchor="ctr">
                    <a:solidFill>
                      <a:srgbClr val="F3F4F6"/>
                    </a:solidFill>
                  </a:tcPr>
                </a:tc>
              </a:tr>
              <a:tr h="433686">
                <a:tc>
                  <a:txBody>
                    <a:bodyPr wrap="square"/>
                    <a:lstStyle/>
                    <a:p>
                      <a:pPr algn="l"/>
                      <a:r>
                        <a:rPr sz="1800" b="1" i="0" lang="es-ES">
                          <a:solidFill>
                            <a:srgbClr val="1F2937"/>
                          </a:solidFill>
                          <a:latin typeface="Calibri"/>
                        </a:rPr>
                        <a:t>CALFEM, FEniCS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Libre</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En el código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Parcial</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No</a:t>
                      </a:r>
                    </a:p>
                  </a:txBody>
                  <a:tcPr marL="73152" marR="73152" marT="27432" marB="27432" anchor="ctr">
                    <a:solidFill>
                      <a:srgbClr val="FFFFFF"/>
                    </a:solidFill>
                  </a:tcPr>
                </a:tc>
              </a:tr>
              <a:tr h="433686">
                <a:tc>
                  <a:txBody>
                    <a:bodyPr wrap="square"/>
                    <a:lstStyle/>
                    <a:p>
                      <a:pPr algn="l"/>
                      <a:r>
                        <a:rPr sz="1800" b="1" i="0" lang="es-ES">
                          <a:solidFill>
                            <a:srgbClr val="1F2937"/>
                          </a:solidFill>
                          <a:latin typeface="Calibri"/>
                        </a:rPr>
                        <a:t>SAP2000, ANSYS, Abaqus</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Inglés</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Comercial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Baja: caja negra</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No</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Solo informes</a:t>
                      </a:r>
                    </a:p>
                  </a:txBody>
                  <a:tcPr marL="73152" marR="73152" marT="27432" marB="27432" anchor="ctr">
                    <a:solidFill>
                      <a:srgbClr val="F3F4F6"/>
                    </a:solidFill>
                  </a:tcPr>
                </a:tc>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Ninguno reúne a la vez español, licencia libre, continuo plano, paso a paso interactivo, canal completo y memoria automática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antecedentes, tabla comparativa</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 la forma fuerte a K u = F</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2  ·  Base teórica</a:t>
            </a:r>
          </a:p>
        </p:txBody>
      </p:sp>
      <p:sp>
        <p:nvSpPr>
          <p:cNvPr id="5" name="Rounded Rectangle 4"/>
          <p:cNvSpPr/>
          <p:nvPr/>
        </p:nvSpPr>
        <p:spPr>
          <a:xfrm>
            <a:off x="548640" y="1591056"/>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591056"/>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591056"/>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Equilibrio (forma fuerte)</a:t>
            </a:r>
          </a:p>
        </p:txBody>
      </p:sp>
      <p:sp>
        <p:nvSpPr>
          <p:cNvPr id="8" name="TextBox 7"/>
          <p:cNvSpPr txBox="1"/>
          <p:nvPr/>
        </p:nvSpPr>
        <p:spPr>
          <a:xfrm>
            <a:off x="3931920" y="1591056"/>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∇·σ + b = 0   en Ω</a:t>
            </a:r>
          </a:p>
        </p:txBody>
      </p:sp>
      <p:sp>
        <p:nvSpPr>
          <p:cNvPr id="9" name="Rounded Rectangle 8"/>
          <p:cNvSpPr/>
          <p:nvPr/>
        </p:nvSpPr>
        <p:spPr>
          <a:xfrm>
            <a:off x="548640" y="2555748"/>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555748"/>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555748"/>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Trabajos virtuales</a:t>
            </a:r>
          </a:p>
        </p:txBody>
      </p:sp>
      <p:sp>
        <p:nvSpPr>
          <p:cNvPr id="12" name="TextBox 11"/>
          <p:cNvSpPr txBox="1"/>
          <p:nvPr/>
        </p:nvSpPr>
        <p:spPr>
          <a:xfrm>
            <a:off x="3931920" y="2555748"/>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∫Ω δεᵀ σ dΩ = ∫Ω δuᵀ b dΩ + ∫Γₜ δuᵀ t dΓ</a:t>
            </a:r>
          </a:p>
        </p:txBody>
      </p:sp>
      <p:sp>
        <p:nvSpPr>
          <p:cNvPr id="13" name="Rounded Rectangle 12"/>
          <p:cNvSpPr/>
          <p:nvPr/>
        </p:nvSpPr>
        <p:spPr>
          <a:xfrm>
            <a:off x="548640" y="3520440"/>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3520440"/>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3520440"/>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Discretización</a:t>
            </a:r>
          </a:p>
        </p:txBody>
      </p:sp>
      <p:sp>
        <p:nvSpPr>
          <p:cNvPr id="16" name="TextBox 15"/>
          <p:cNvSpPr txBox="1"/>
          <p:nvPr/>
        </p:nvSpPr>
        <p:spPr>
          <a:xfrm>
            <a:off x="3931920" y="3520440"/>
            <a:ext cx="7528255" cy="745236"/>
          </a:xfrm>
          <a:prstGeom prst="rect">
            <a:avLst/>
          </a:prstGeom>
          <a:noFill/>
        </p:spPr>
        <p:txBody>
          <a:bodyPr wrap="square" anchor="ctr" lIns="45720" tIns="27432" rIns="45720" bIns="27432">
            <a:noAutofit/>
          </a:bodyPr>
          <a:lstStyle/>
          <a:p>
            <a:pPr algn="l">
              <a:lnSpc>
                <a:spcPct val="105000"/>
              </a:lnSpc>
            </a:pPr>
            <a:r>
              <a:rPr sz="2600" b="0" i="0" lang="es-ES">
                <a:solidFill>
                  <a:srgbClr val="1B2A4A"/>
                </a:solidFill>
                <a:latin typeface="Cambria Math"/>
              </a:rPr>
              <a:t>u ≈ N uₑ ,   ε = B uₑ ,   σ = D ε   ⇒   K u = F</a:t>
            </a:r>
          </a:p>
        </p:txBody>
      </p:sp>
      <p:sp>
        <p:nvSpPr>
          <p:cNvPr id="17" name="Rounded Rectangle 16"/>
          <p:cNvSpPr/>
          <p:nvPr/>
        </p:nvSpPr>
        <p:spPr>
          <a:xfrm>
            <a:off x="548640" y="4485132"/>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4485132"/>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4485132"/>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Constitutiva (tensión plana)</a:t>
            </a:r>
          </a:p>
        </p:txBody>
      </p:sp>
      <p:sp>
        <p:nvSpPr>
          <p:cNvPr id="20" name="TextBox 19"/>
          <p:cNvSpPr txBox="1"/>
          <p:nvPr/>
        </p:nvSpPr>
        <p:spPr>
          <a:xfrm>
            <a:off x="3931920" y="4485132"/>
            <a:ext cx="7528255" cy="745236"/>
          </a:xfrm>
          <a:prstGeom prst="rect">
            <a:avLst/>
          </a:prstGeom>
          <a:noFill/>
        </p:spPr>
        <p:txBody>
          <a:bodyPr wrap="square" anchor="ctr" lIns="45720" tIns="27432" rIns="45720" bIns="27432">
            <a:noAutofit/>
          </a:bodyPr>
          <a:lstStyle/>
          <a:p>
            <a:pPr algn="l">
              <a:lnSpc>
                <a:spcPct val="105000"/>
              </a:lnSpc>
            </a:pPr>
            <a:r>
              <a:rPr sz="2600" b="0" i="0" lang="es-ES">
                <a:solidFill>
                  <a:srgbClr val="1B2A4A"/>
                </a:solidFill>
                <a:latin typeface="Cambria Math"/>
              </a:rPr>
              <a:t>D = E/(1−ν²) · [ 1  ν  0 ;  ν  1  0 ;  0  0  (1−ν)/2 ]</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En deformación plana el factor (1−2ν) tiende a cero cuando ν → 0,5: bloqueo volumétrico</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formulación variacional y matriz constitutiva</a:t>
            </a:r>
          </a:p>
        </p:txBody>
      </p:sp>
      <p:sp>
        <p:nvSpPr>
          <p:cNvPr id="27" name="TextBox 26"/>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canal isoparamétrico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2  ·  Base teórica</a:t>
            </a:r>
          </a:p>
        </p:txBody>
      </p:sp>
      <p:sp>
        <p:nvSpPr>
          <p:cNvPr id="5" name="TextBox 4"/>
          <p:cNvSpPr txBox="1"/>
          <p:nvPr/>
        </p:nvSpPr>
        <p:spPr>
          <a:xfrm>
            <a:off x="594360" y="1527048"/>
            <a:ext cx="5257800" cy="4700016"/>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kₑ = Σ wₚ Bᵀ D B t |det J|:</a:t>
            </a:r>
            <a:r>
              <a:rPr sz="2400" b="0" i="0" lang="es-ES">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 u = F disperso (CSR, LU); σ:</a:t>
            </a:r>
            <a:r>
              <a:rPr sz="2400" b="0" i="0" lang="es-ES">
                <a:solidFill>
                  <a:srgbClr val="1F2937"/>
                </a:solidFill>
                <a:latin typeface="Calibri"/>
              </a:rPr>
              <a:t> Gauss → nodos → promedio</a:t>
            </a:r>
          </a:p>
        </p:txBody>
      </p:sp>
      <p:pic>
        <p:nvPicPr>
          <p:cNvPr id="6" name="Picture 5" descr="fig_isoparametricos.png"/>
          <p:cNvPicPr>
            <a:picLocks noChangeAspect="1"/>
          </p:cNvPicPr>
          <p:nvPr/>
        </p:nvPicPr>
        <p:blipFill>
          <a:blip r:embed="rId2"/>
          <a:stretch>
            <a:fillRect/>
          </a:stretch>
        </p:blipFill>
        <p:spPr>
          <a:xfrm>
            <a:off x="6217920" y="2789917"/>
            <a:ext cx="5425135" cy="1625637"/>
          </a:xfrm>
          <a:prstGeom prst="rect">
            <a:avLst/>
          </a:prstGeom>
          <a:ln w="9525">
            <a:solidFill>
              <a:srgbClr val="D1D5DB"/>
            </a:solidFill>
          </a:ln>
        </p:spPr>
      </p:pic>
      <p:sp>
        <p:nvSpPr>
          <p:cNvPr id="7" name="TextBox 6"/>
          <p:cNvSpPr txBox="1"/>
          <p:nvPr/>
        </p:nvSpPr>
        <p:spPr>
          <a:xfrm>
            <a:off x="6217920" y="4461274"/>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Q4 y Q9 en el cuadrado natural y mapeo de N₁ a un elemento distorsionado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Cap. 1, mapeo isoparamétrico, Jacobiano, B, cuadratura y ensamblaje</a:t>
            </a:r>
          </a:p>
        </p:txBody>
      </p:sp>
      <p:sp>
        <p:nvSpPr>
          <p:cNvPr id="11" name="TextBox 1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Dos patologías que el alumno debe ver</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2  ·  Base teórica</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81328"/>
            <a:ext cx="5364327" cy="603504"/>
          </a:xfrm>
          <a:prstGeom prst="rect">
            <a:avLst/>
          </a:prstGeom>
          <a:noFill/>
        </p:spPr>
        <p:txBody>
          <a:bodyPr wrap="square" anchor="ctr" lIns="45720" tIns="27432" rIns="45720" bIns="27432">
            <a:noAutofit/>
          </a:bodyPr>
          <a:lstStyle/>
          <a:p>
            <a:pPr algn="ctr">
              <a:lnSpc>
                <a:spcPct val="105000"/>
              </a:lnSpc>
            </a:pPr>
            <a:r>
              <a:rPr sz="2000" b="1" i="0" lang="es-ES">
                <a:solidFill>
                  <a:srgbClr val="FFFFFF"/>
                </a:solidFill>
                <a:latin typeface="Calibri"/>
              </a:rPr>
              <a:t>Bloqueo por cortante (shear-locking)</a:t>
            </a:r>
          </a:p>
        </p:txBody>
      </p:sp>
      <p:sp>
        <p:nvSpPr>
          <p:cNvPr id="9" name="TextBox 8"/>
          <p:cNvSpPr txBox="1"/>
          <p:nvPr/>
        </p:nvSpPr>
        <p:spPr>
          <a:xfrm>
            <a:off x="777240"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Q4 en flexión:</a:t>
            </a:r>
            <a:r>
              <a:rPr sz="2200" b="0" i="0" lang="es-ES">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Corte espurio:</a:t>
            </a:r>
            <a:r>
              <a:rPr sz="2200" b="0" i="0" lang="es-ES">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Cook N = 8:</a:t>
            </a:r>
            <a:r>
              <a:rPr sz="2200" b="0" i="0" lang="es-ES">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Q9:</a:t>
            </a:r>
            <a:r>
              <a:rPr sz="2200" b="0" i="0" lang="es-ES">
                <a:solidFill>
                  <a:srgbClr val="1F2937"/>
                </a:solidFill>
                <a:latin typeface="Calibri"/>
              </a:rPr>
              <a:t> prácticamente libre del bloqueo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78727"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Modos espurios (hourglass)</a:t>
            </a:r>
          </a:p>
        </p:txBody>
      </p:sp>
      <p:sp>
        <p:nvSpPr>
          <p:cNvPr id="14" name="TextBox 13"/>
          <p:cNvSpPr txBox="1"/>
          <p:nvPr/>
        </p:nvSpPr>
        <p:spPr>
          <a:xfrm>
            <a:off x="6507327"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Rango deficiente:</a:t>
            </a:r>
            <a:r>
              <a:rPr sz="2200" b="0" i="0" lang="es-ES">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EduFEM:</a:t>
            </a:r>
            <a:r>
              <a:rPr sz="2200" b="0" i="0" lang="es-ES">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Sin SRI ni B-bar:</a:t>
            </a:r>
            <a:r>
              <a:rPr sz="2200" b="0" i="0" lang="es-ES">
                <a:solidFill>
                  <a:srgbClr val="1F2937"/>
                </a:solidFill>
                <a:latin typeface="Calibri"/>
              </a:rPr>
              <a:t> el Q4 queda como recurso didáctico</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Regla de m puntos: exacta hasta grado 2m−1; subintegrar crea modos espurios, sobreintegrar encarece</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bloqueo y modos espurios; Cap. 3, tabla de Cook</a:t>
            </a:r>
          </a:p>
        </p:txBody>
      </p:sp>
      <p:sp>
        <p:nvSpPr>
          <p:cNvPr id="21" name="TextBox 2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Recuperación de tensiones y verificación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2  ·  Base teórica</a:t>
            </a:r>
          </a:p>
        </p:txBody>
      </p:sp>
      <p:sp>
        <p:nvSpPr>
          <p:cNvPr id="5" name="Rounded Rectangle 4"/>
          <p:cNvSpPr/>
          <p:nvPr/>
        </p:nvSpPr>
        <p:spPr>
          <a:xfrm>
            <a:off x="548640" y="1591056"/>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591056"/>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591056"/>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Tensiones en puntos de Gauss</a:t>
            </a:r>
          </a:p>
        </p:txBody>
      </p:sp>
      <p:sp>
        <p:nvSpPr>
          <p:cNvPr id="8" name="TextBox 7"/>
          <p:cNvSpPr txBox="1"/>
          <p:nvPr/>
        </p:nvSpPr>
        <p:spPr>
          <a:xfrm>
            <a:off x="3931920" y="1591056"/>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σₚ = D Bₚ uₑ   (puntos de Barlow en Q4)</a:t>
            </a:r>
          </a:p>
        </p:txBody>
      </p:sp>
      <p:sp>
        <p:nvSpPr>
          <p:cNvPr id="9" name="Rounded Rectangle 8"/>
          <p:cNvSpPr/>
          <p:nvPr/>
        </p:nvSpPr>
        <p:spPr>
          <a:xfrm>
            <a:off x="548640" y="2555748"/>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555748"/>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555748"/>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Extrapolación a nodos</a:t>
            </a:r>
          </a:p>
          <a:p>
            <a:pPr algn="l">
              <a:lnSpc>
                <a:spcPct val="105000"/>
              </a:lnSpc>
            </a:pPr>
            <a:r>
              <a:rPr sz="1900" b="1" i="0" lang="es-ES">
                <a:solidFill>
                  <a:srgbClr val="5B6575"/>
                </a:solidFill>
                <a:latin typeface="Calibri"/>
              </a:rPr>
              <a:t>(a ≈ 1,866 · b = −½ · c ≈ 0,134)</a:t>
            </a:r>
          </a:p>
        </p:txBody>
      </p:sp>
      <p:sp>
        <p:nvSpPr>
          <p:cNvPr id="12" name="TextBox 11"/>
          <p:cNvSpPr txBox="1"/>
          <p:nvPr/>
        </p:nvSpPr>
        <p:spPr>
          <a:xfrm>
            <a:off x="3931920" y="2555748"/>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σnodal = E σGauss ,   E = M⁻¹</a:t>
            </a:r>
          </a:p>
        </p:txBody>
      </p:sp>
      <p:sp>
        <p:nvSpPr>
          <p:cNvPr id="13" name="Rounded Rectangle 12"/>
          <p:cNvSpPr/>
          <p:nvPr/>
        </p:nvSpPr>
        <p:spPr>
          <a:xfrm>
            <a:off x="548640" y="3520440"/>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3520440"/>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3520440"/>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Promediado nodal</a:t>
            </a:r>
          </a:p>
        </p:txBody>
      </p:sp>
      <p:sp>
        <p:nvSpPr>
          <p:cNvPr id="16" name="TextBox 15"/>
          <p:cNvSpPr txBox="1"/>
          <p:nvPr/>
        </p:nvSpPr>
        <p:spPr>
          <a:xfrm>
            <a:off x="3931920" y="3520440"/>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⟨σ⟩nodo = (1/nₑ) Σₑ σ⁽ᵉ⁾</a:t>
            </a:r>
          </a:p>
        </p:txBody>
      </p:sp>
      <p:sp>
        <p:nvSpPr>
          <p:cNvPr id="17" name="Rounded Rectangle 16"/>
          <p:cNvSpPr/>
          <p:nvPr/>
        </p:nvSpPr>
        <p:spPr>
          <a:xfrm>
            <a:off x="548640" y="4485132"/>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4485132"/>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4485132"/>
            <a:ext cx="3108960" cy="745236"/>
          </a:xfrm>
          <a:prstGeom prst="rect">
            <a:avLst/>
          </a:prstGeom>
          <a:noFill/>
        </p:spPr>
        <p:txBody>
          <a:bodyPr wrap="square" anchor="ctr" lIns="45720" tIns="27432" rIns="45720" bIns="27432">
            <a:noAutofit/>
          </a:bodyPr>
          <a:lstStyle/>
          <a:p>
            <a:pPr algn="l">
              <a:lnSpc>
                <a:spcPct val="105000"/>
              </a:lnSpc>
            </a:pPr>
            <a:r>
              <a:rPr sz="1900" b="1" i="0" lang="es-ES">
                <a:solidFill>
                  <a:srgbClr val="5B6575"/>
                </a:solidFill>
                <a:latin typeface="Calibri"/>
              </a:rPr>
              <a:t>Tasas teóricas (MMS)</a:t>
            </a:r>
          </a:p>
        </p:txBody>
      </p:sp>
      <p:sp>
        <p:nvSpPr>
          <p:cNvPr id="20" name="TextBox 19"/>
          <p:cNvSpPr txBox="1"/>
          <p:nvPr/>
        </p:nvSpPr>
        <p:spPr>
          <a:xfrm>
            <a:off x="3931920" y="4485132"/>
            <a:ext cx="7528255" cy="745236"/>
          </a:xfrm>
          <a:prstGeom prst="rect">
            <a:avLst/>
          </a:prstGeom>
          <a:noFill/>
        </p:spPr>
        <p:txBody>
          <a:bodyPr wrap="square" anchor="ctr" lIns="45720" tIns="27432" rIns="45720" bIns="27432">
            <a:noAutofit/>
          </a:bodyPr>
          <a:lstStyle/>
          <a:p>
            <a:pPr algn="l">
              <a:lnSpc>
                <a:spcPct val="105000"/>
              </a:lnSpc>
            </a:pPr>
            <a:r>
              <a:rPr sz="3000" b="0" i="0" lang="es-ES">
                <a:solidFill>
                  <a:srgbClr val="1B2A4A"/>
                </a:solidFill>
                <a:latin typeface="Cambria Math"/>
              </a:rPr>
              <a:t>‖e‖₂ = O(hᵖ⁺¹) ,  |e|₁ = O(hᵖ) ,  b = −∇·σ(uₘ)</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Verificar es resolver bien las ecuaciones; validar es que las ecuaciones representen la realidad</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recuperación de tensiones, calidad de malla y V&amp;V</a:t>
            </a:r>
          </a:p>
        </p:txBody>
      </p:sp>
      <p:sp>
        <p:nvSpPr>
          <p:cNvPr id="27" name="TextBox 26"/>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03</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Diseño y desarrollo del modelo</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Construir la caja abierta: diseño metodológico, diseño e implementación de EduFEM y demostración en vivo</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Variables del modelo de simulación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graphicFrame>
        <p:nvGraphicFramePr>
          <p:cNvPr id="5" name="Table 4"/>
          <p:cNvGraphicFramePr>
            <a:graphicFrameLocks noGrp="1"/>
          </p:cNvGraphicFramePr>
          <p:nvPr/>
        </p:nvGraphicFramePr>
        <p:xfrm>
          <a:off x="548640" y="1786128"/>
          <a:ext cx="11094414" cy="3249168"/>
        </p:xfrm>
        <a:graphic>
          <a:graphicData uri="http://schemas.openxmlformats.org/drawingml/2006/table">
            <a:tbl>
              <a:tblPr firstRow="0" bandRow="0">
                <a:tableStyleId>{5C22544A-7EE6-4342-B048-85BDC9FD1C3A}</a:tableStyleId>
              </a:tblPr>
              <a:tblGrid>
                <a:gridCol w="2533370"/>
                <a:gridCol w="3319588"/>
                <a:gridCol w="3494304"/>
                <a:gridCol w="1747152"/>
              </a:tblGrid>
              <a:tr h="414528">
                <a:tc>
                  <a:txBody>
                    <a:bodyPr wrap="square"/>
                    <a:lstStyle/>
                    <a:p>
                      <a:pPr algn="l"/>
                      <a:r>
                        <a:rPr sz="1800" b="1" i="0" lang="es-ES">
                          <a:solidFill>
                            <a:srgbClr val="FFFFFF"/>
                          </a:solidFill>
                          <a:latin typeface="Calibri"/>
                        </a:rPr>
                        <a:t>Variable</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Dimensión</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Instrumento</a:t>
                      </a:r>
                    </a:p>
                  </a:txBody>
                  <a:tcPr marL="73152" marR="73152" marT="27432" marB="27432" anchor="ctr">
                    <a:solidFill>
                      <a:srgbClr val="1B2A4A"/>
                    </a:solidFill>
                  </a:tcPr>
                </a:tc>
              </a:tr>
              <a:tr h="566928">
                <a:tc>
                  <a:txBody>
                    <a:bodyPr wrap="square"/>
                    <a:lstStyle/>
                    <a:p>
                      <a:pPr algn="l"/>
                      <a:r>
                        <a:rPr sz="1800" b="1" i="0" lang="es-ES">
                          <a:solidFill>
                            <a:srgbClr val="1F2937"/>
                          </a:solidFill>
                          <a:latin typeface="Calibri"/>
                        </a:rPr>
                        <a:t>Independiente: modelo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Geometría, material, acciones, apoyos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Dominio; E, ν, t; cargas y restricciones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Guion del caso</a:t>
                      </a:r>
                    </a:p>
                  </a:txBody>
                  <a:tcPr marL="73152" marR="73152" marT="27432" marB="27432" anchor="ctr">
                    <a:solidFill>
                      <a:srgbClr val="FFFFFF"/>
                    </a:solidFill>
                  </a:tcPr>
                </a:tc>
              </a:tr>
              <a:tr h="566928">
                <a:tc>
                  <a:txBody>
                    <a:bodyPr wrap="square"/>
                    <a:lstStyle/>
                    <a:p>
                      <a:pPr algn="l"/>
                      <a:r>
                        <a:rPr sz="1800" b="1" i="0" lang="es-ES">
                          <a:solidFill>
                            <a:srgbClr val="1F2937"/>
                          </a:solidFill>
                          <a:latin typeface="Calibri"/>
                        </a:rPr>
                        <a:t>Independiente: discretización</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Tipo de elemento; densidad</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Q4 o Q9; h o N×N; GDL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Guion del caso</a:t>
                      </a:r>
                    </a:p>
                  </a:txBody>
                  <a:tcPr marL="73152" marR="73152" marT="27432" marB="27432" anchor="ctr">
                    <a:solidFill>
                      <a:srgbClr val="F3F4F6"/>
                    </a:solidFill>
                  </a:tcPr>
                </a:tc>
              </a:tr>
              <a:tr h="566928">
                <a:tc>
                  <a:txBody>
                    <a:bodyPr wrap="square"/>
                    <a:lstStyle/>
                    <a:p>
                      <a:pPr algn="l"/>
                      <a:r>
                        <a:rPr sz="1800" b="1" i="0" lang="es-ES">
                          <a:solidFill>
                            <a:srgbClr val="1F2937"/>
                          </a:solidFill>
                          <a:latin typeface="Calibri"/>
                        </a:rPr>
                        <a:t>Dependiente: respuesta</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Tensiones, desplazamientos, reacciones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σₓ, σᵧ, τₓᵧ, σVM; u, v</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Solucionador MEF</a:t>
                      </a:r>
                    </a:p>
                  </a:txBody>
                  <a:tcPr marL="73152" marR="73152" marT="27432" marB="27432" anchor="ctr">
                    <a:solidFill>
                      <a:srgbClr val="FFFFFF"/>
                    </a:solidFill>
                  </a:tcPr>
                </a:tc>
              </a:tr>
              <a:tr h="566928">
                <a:tc>
                  <a:txBody>
                    <a:bodyPr wrap="square"/>
                    <a:lstStyle/>
                    <a:p>
                      <a:pPr algn="l"/>
                      <a:r>
                        <a:rPr sz="1800" b="1" i="0" lang="es-ES">
                          <a:solidFill>
                            <a:srgbClr val="1F2937"/>
                          </a:solidFill>
                          <a:latin typeface="Calibri"/>
                        </a:rPr>
                        <a:t>Dependiente: exactitud</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Convergencia; error</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Orden p; normas L², H¹; error %</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Guiones de V&amp;V</a:t>
                      </a:r>
                    </a:p>
                  </a:txBody>
                  <a:tcPr marL="73152" marR="73152" marT="27432" marB="27432" anchor="ctr">
                    <a:solidFill>
                      <a:srgbClr val="F3F4F6"/>
                    </a:solidFill>
                  </a:tcPr>
                </a:tc>
              </a:tr>
              <a:tr h="566928">
                <a:tc>
                  <a:txBody>
                    <a:bodyPr wrap="square"/>
                    <a:lstStyle/>
                    <a:p>
                      <a:pPr algn="l"/>
                      <a:r>
                        <a:rPr sz="1800" b="1" i="0" lang="es-ES">
                          <a:solidFill>
                            <a:srgbClr val="1F2937"/>
                          </a:solidFill>
                          <a:latin typeface="Calibri"/>
                        </a:rPr>
                        <a:t>Controladas</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Análisis; integración</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Tensión o deformación plana; 2×2, 3×3</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Constantes del guion</a:t>
                      </a:r>
                    </a:p>
                  </a:txBody>
                  <a:tcPr marL="73152" marR="73152" marT="27432" marB="27432" anchor="ctr">
                    <a:solidFill>
                      <a:srgbClr val="FFFFFF"/>
                    </a:solidFill>
                  </a:tcPr>
                </a:tc>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Sin unidades experimentales ni aleatorización: motor determinista, reproducibilidad y convergencia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 tabla de variables</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Matriz de consistencia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graphicFrame>
        <p:nvGraphicFramePr>
          <p:cNvPr id="5" name="Table 4"/>
          <p:cNvGraphicFramePr>
            <a:graphicFrameLocks noGrp="1"/>
          </p:cNvGraphicFramePr>
          <p:nvPr/>
        </p:nvGraphicFramePr>
        <p:xfrm>
          <a:off x="548640" y="1591056"/>
          <a:ext cx="11094412" cy="3639312"/>
        </p:xfrm>
        <a:graphic>
          <a:graphicData uri="http://schemas.openxmlformats.org/drawingml/2006/table">
            <a:tbl>
              <a:tblPr firstRow="0" bandRow="0">
                <a:tableStyleId>{5C22544A-7EE6-4342-B048-85BDC9FD1C3A}</a:tableStyleId>
              </a:tblPr>
              <a:tblGrid>
                <a:gridCol w="2218883"/>
                <a:gridCol w="1435747"/>
                <a:gridCol w="2610450"/>
                <a:gridCol w="2871495"/>
                <a:gridCol w="1957837"/>
              </a:tblGrid>
              <a:tr h="512064">
                <a:tc>
                  <a:txBody>
                    <a:bodyPr wrap="square"/>
                    <a:lstStyle/>
                    <a:p>
                      <a:pPr algn="l"/>
                      <a:r>
                        <a:rPr sz="1800" b="1" i="0" lang="es-ES">
                          <a:solidFill>
                            <a:srgbClr val="FFFFFF"/>
                          </a:solidFill>
                          <a:latin typeface="Calibri"/>
                        </a:rPr>
                        <a:t>Objetivo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PI</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Instrumento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Evidencia</a:t>
                      </a:r>
                    </a:p>
                  </a:txBody>
                  <a:tcPr marL="73152" marR="73152" marT="27432" marB="27432" anchor="ctr">
                    <a:solidFill>
                      <a:srgbClr val="1B2A4A"/>
                    </a:solidFill>
                  </a:tcPr>
                </a:tc>
              </a:tr>
              <a:tr h="566928">
                <a:tc>
                  <a:txBody>
                    <a:bodyPr wrap="square"/>
                    <a:lstStyle/>
                    <a:p>
                      <a:pPr algn="l"/>
                      <a:r>
                        <a:rPr sz="1800" b="1" i="0" lang="es-ES">
                          <a:solidFill>
                            <a:srgbClr val="1F2937"/>
                          </a:solidFill>
                          <a:latin typeface="Calibri"/>
                        </a:rPr>
                        <a:t>OE1 Fundamentar</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PI-1 a PI-3</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Canal cubierto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Revisión bibliográfica</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Cap. 1</a:t>
                      </a:r>
                    </a:p>
                  </a:txBody>
                  <a:tcPr marL="73152" marR="73152" marT="27432" marB="27432" anchor="ctr">
                    <a:solidFill>
                      <a:srgbClr val="FFFFFF"/>
                    </a:solidFill>
                  </a:tcPr>
                </a:tc>
              </a:tr>
              <a:tr h="512064">
                <a:tc>
                  <a:txBody>
                    <a:bodyPr wrap="square"/>
                    <a:lstStyle/>
                    <a:p>
                      <a:pPr algn="l"/>
                      <a:r>
                        <a:rPr sz="1800" b="1" i="0" lang="es-ES">
                          <a:solidFill>
                            <a:srgbClr val="1F2937"/>
                          </a:solidFill>
                          <a:latin typeface="Calibri"/>
                        </a:rPr>
                        <a:t>OE2 Motor Q4/Q9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PI-1</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Normas L², H¹</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NumPy/SciPy; regresión</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Cap. 2 · MMS</a:t>
                      </a:r>
                    </a:p>
                  </a:txBody>
                  <a:tcPr marL="73152" marR="73152" marT="27432" marB="27432" anchor="ctr">
                    <a:solidFill>
                      <a:srgbClr val="F3F4F6"/>
                    </a:solidFill>
                  </a:tcPr>
                </a:tc>
              </a:tr>
              <a:tr h="512064">
                <a:tc>
                  <a:txBody>
                    <a:bodyPr wrap="square"/>
                    <a:lstStyle/>
                    <a:p>
                      <a:pPr algn="l"/>
                      <a:r>
                        <a:rPr sz="1800" b="1" i="0" lang="es-ES">
                          <a:solidFill>
                            <a:srgbClr val="1F2937"/>
                          </a:solidFill>
                          <a:latin typeface="Calibri"/>
                        </a:rPr>
                        <a:t>OE3 Interfaz</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PI-2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Flujo pre/proc/post</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Lienzo único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Cap. 2</a:t>
                      </a:r>
                    </a:p>
                  </a:txBody>
                  <a:tcPr marL="73152" marR="73152" marT="27432" marB="27432" anchor="ctr">
                    <a:solidFill>
                      <a:srgbClr val="FFFFFF"/>
                    </a:solidFill>
                  </a:tcPr>
                </a:tc>
              </a:tr>
              <a:tr h="512064">
                <a:tc>
                  <a:txBody>
                    <a:bodyPr wrap="square"/>
                    <a:lstStyle/>
                    <a:p>
                      <a:pPr algn="l"/>
                      <a:r>
                        <a:rPr sz="1800" b="1" i="0" lang="es-ES">
                          <a:solidFill>
                            <a:srgbClr val="1F2937"/>
                          </a:solidFill>
                          <a:latin typeface="Calibri"/>
                        </a:rPr>
                        <a:t>OE4 Módulos</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PI-2</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Cobertura del canal</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Capas sobre la malla</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Cap. 2 · Cap. 3</a:t>
                      </a:r>
                    </a:p>
                  </a:txBody>
                  <a:tcPr marL="73152" marR="73152" marT="27432" marB="27432" anchor="ctr">
                    <a:solidFill>
                      <a:srgbClr val="F3F4F6"/>
                    </a:solidFill>
                  </a:tcPr>
                </a:tc>
              </a:tr>
              <a:tr h="512064">
                <a:tc>
                  <a:txBody>
                    <a:bodyPr wrap="square"/>
                    <a:lstStyle/>
                    <a:p>
                      <a:pPr algn="l"/>
                      <a:r>
                        <a:rPr sz="1800" b="1" i="0" lang="es-ES">
                          <a:solidFill>
                            <a:srgbClr val="1F2937"/>
                          </a:solidFill>
                          <a:latin typeface="Calibri"/>
                        </a:rPr>
                        <a:t>OE5 V&amp;V</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PI-1, PI-3</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Error, tasa, bloqueo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MMS, Timoshenko, Cook</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Cap. 3</a:t>
                      </a:r>
                    </a:p>
                  </a:txBody>
                  <a:tcPr marL="73152" marR="73152" marT="27432" marB="27432" anchor="ctr">
                    <a:solidFill>
                      <a:srgbClr val="FFFFFF"/>
                    </a:solidFill>
                  </a:tcPr>
                </a:tc>
              </a:tr>
              <a:tr h="512064">
                <a:tc>
                  <a:txBody>
                    <a:bodyPr wrap="square"/>
                    <a:lstStyle/>
                    <a:p>
                      <a:pPr algn="l"/>
                      <a:r>
                        <a:rPr sz="1800" b="1" i="0" lang="es-ES">
                          <a:solidFill>
                            <a:srgbClr val="1F2937"/>
                          </a:solidFill>
                          <a:latin typeface="Calibri"/>
                        </a:rPr>
                        <a:t>OE6 Memoria e I/O</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Trazabilidad</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PDF; DXF y CSV</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Cap. 2</a:t>
                      </a:r>
                    </a:p>
                  </a:txBody>
                  <a:tcPr marL="73152" marR="73152" marT="27432" marB="27432" anchor="ctr">
                    <a:solidFill>
                      <a:srgbClr val="F3F4F6"/>
                    </a:solidFill>
                  </a:tcPr>
                </a:tc>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OE1 es transversal (PI-1 a PI-3); OE6 es instrumental y no tiene pregunta asociada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 matriz de consistencia</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Procedimiento de verificación y validación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Guion del caso</a:t>
            </a:r>
          </a:p>
        </p:txBody>
      </p:sp>
      <p:sp>
        <p:nvSpPr>
          <p:cNvPr id="7" name="TextBox 6"/>
          <p:cNvSpPr txBox="1"/>
          <p:nvPr/>
        </p:nvSpPr>
        <p:spPr>
          <a:xfrm>
            <a:off x="548640"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malla, material, cargas, apoyos</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888223"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Validador de salud</a:t>
            </a:r>
          </a:p>
        </p:txBody>
      </p:sp>
      <p:sp>
        <p:nvSpPr>
          <p:cNvPr id="11" name="TextBox 10"/>
          <p:cNvSpPr txBox="1"/>
          <p:nvPr/>
        </p:nvSpPr>
        <p:spPr>
          <a:xfrm>
            <a:off x="2888223"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det J &gt; 0, sin cuerpo rígido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27807" y="2793492"/>
            <a:ext cx="1736079"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Mismo motor</a:t>
            </a:r>
          </a:p>
        </p:txBody>
      </p:sp>
      <p:sp>
        <p:nvSpPr>
          <p:cNvPr id="15" name="TextBox 14"/>
          <p:cNvSpPr txBox="1"/>
          <p:nvPr/>
        </p:nvSpPr>
        <p:spPr>
          <a:xfrm>
            <a:off x="5227807"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el que usan módulos y memoria</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67391"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Normas L², H¹, σ*</a:t>
            </a:r>
          </a:p>
        </p:txBody>
      </p:sp>
      <p:sp>
        <p:nvSpPr>
          <p:cNvPr id="19" name="TextBox 18"/>
          <p:cNvSpPr txBox="1"/>
          <p:nvPr/>
        </p:nvSpPr>
        <p:spPr>
          <a:xfrm>
            <a:off x="7567391"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un punto de Gauss más</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906975"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CSV + criterios</a:t>
            </a:r>
          </a:p>
        </p:txBody>
      </p:sp>
      <p:sp>
        <p:nvSpPr>
          <p:cNvPr id="23" name="TextBox 22"/>
          <p:cNvSpPr txBox="1"/>
          <p:nvPr/>
        </p:nvSpPr>
        <p:spPr>
          <a:xfrm>
            <a:off x="9906975"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el guion falla si no cumple</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Casos por valor probatorio: MMS (solución exacta), Timoshenko (analítica y SAP2000), Cook (referencia histórica)</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 casos de estudio, procedimiento e instrumentos</a:t>
            </a:r>
          </a:p>
        </p:txBody>
      </p:sp>
      <p:sp>
        <p:nvSpPr>
          <p:cNvPr id="30" name="TextBox 29"/>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Criterios de aceptación fijados a priori</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Rounded Rectangle 4"/>
          <p:cNvSpPr/>
          <p:nvPr/>
        </p:nvSpPr>
        <p:spPr>
          <a:xfrm>
            <a:off x="548640"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 0,5</a:t>
            </a:r>
          </a:p>
        </p:txBody>
      </p:sp>
      <p:sp>
        <p:nvSpPr>
          <p:cNvPr id="8" name="TextBox 7"/>
          <p:cNvSpPr txBox="1"/>
          <p:nvPr/>
        </p:nvSpPr>
        <p:spPr>
          <a:xfrm>
            <a:off x="731520"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tasas MMS frente a las teóricas, cuatro configuraciones</a:t>
            </a:r>
          </a:p>
        </p:txBody>
      </p:sp>
      <p:sp>
        <p:nvSpPr>
          <p:cNvPr id="9" name="Rounded Rectangle 8"/>
          <p:cNvSpPr/>
          <p:nvPr/>
        </p:nvSpPr>
        <p:spPr>
          <a:xfrm>
            <a:off x="3390823"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19423"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73703"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3 %</a:t>
            </a:r>
          </a:p>
        </p:txBody>
      </p:sp>
      <p:sp>
        <p:nvSpPr>
          <p:cNvPr id="12" name="TextBox 11"/>
          <p:cNvSpPr txBox="1"/>
          <p:nvPr/>
        </p:nvSpPr>
        <p:spPr>
          <a:xfrm>
            <a:off x="3573703"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flecha de Timoshenko frente a la analítica</a:t>
            </a:r>
          </a:p>
        </p:txBody>
      </p:sp>
      <p:sp>
        <p:nvSpPr>
          <p:cNvPr id="13" name="Rounded Rectangle 12"/>
          <p:cNvSpPr/>
          <p:nvPr/>
        </p:nvSpPr>
        <p:spPr>
          <a:xfrm>
            <a:off x="6233007"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461607"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5887"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1,5 %</a:t>
            </a:r>
          </a:p>
        </p:txBody>
      </p:sp>
      <p:sp>
        <p:nvSpPr>
          <p:cNvPr id="16" name="TextBox 15"/>
          <p:cNvSpPr txBox="1"/>
          <p:nvPr/>
        </p:nvSpPr>
        <p:spPr>
          <a:xfrm>
            <a:off x="6415887"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Cook: Q9 con N = 8 frente a 23,96</a:t>
            </a:r>
          </a:p>
        </p:txBody>
      </p:sp>
      <p:sp>
        <p:nvSpPr>
          <p:cNvPr id="17" name="Rounded Rectangle 16"/>
          <p:cNvSpPr/>
          <p:nvPr/>
        </p:nvSpPr>
        <p:spPr>
          <a:xfrm>
            <a:off x="9075191"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03791"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58071" y="2313432"/>
            <a:ext cx="2202103" cy="1005840"/>
          </a:xfrm>
          <a:prstGeom prst="rect">
            <a:avLst/>
          </a:prstGeom>
          <a:noFill/>
        </p:spPr>
        <p:txBody>
          <a:bodyPr wrap="square" anchor="ctr" lIns="45720" tIns="27432" rIns="45720" bIns="27432">
            <a:noAutofit/>
          </a:bodyPr>
          <a:lstStyle/>
          <a:p>
            <a:pPr algn="l">
              <a:lnSpc>
                <a:spcPct val="105000"/>
              </a:lnSpc>
            </a:pPr>
            <a:r>
              <a:rPr sz="2800" b="1" i="0" lang="es-ES">
                <a:solidFill>
                  <a:srgbClr val="1B2A4A"/>
                </a:solidFill>
                <a:latin typeface="Calibri"/>
              </a:rPr>
              <a:t>u(Q4) &lt; u(Q9)</a:t>
            </a:r>
          </a:p>
        </p:txBody>
      </p:sp>
      <p:sp>
        <p:nvSpPr>
          <p:cNvPr id="20" name="TextBox 19"/>
          <p:cNvSpPr txBox="1"/>
          <p:nvPr/>
        </p:nvSpPr>
        <p:spPr>
          <a:xfrm>
            <a:off x="9258071"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a igual malla: firma del bloqueo por cortante</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Los guiones los evalúan automáticamente y terminan con error si alguno falla: la hipótesis se contrasta por diseño</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 criterios de aceptación y contraste de la hipótesis</a:t>
            </a:r>
          </a:p>
        </p:txBody>
      </p:sp>
      <p:sp>
        <p:nvSpPr>
          <p:cNvPr id="27" name="TextBox 26"/>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Arquitectura: seis capas, un modelo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TextBox 4"/>
          <p:cNvSpPr txBox="1"/>
          <p:nvPr/>
        </p:nvSpPr>
        <p:spPr>
          <a:xfrm>
            <a:off x="594360" y="1527048"/>
            <a:ext cx="5257800" cy="4700016"/>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Python libre:</a:t>
            </a:r>
            <a:r>
              <a:rPr sz="2400" b="0" i="0" lang="es-ES">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fem/ es puro:</a:t>
            </a:r>
            <a:r>
              <a:rPr sz="2400" b="0" i="0" lang="es-ES">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GDL por índice ordinal:</a:t>
            </a:r>
            <a:r>
              <a:rPr sz="2400" b="0" i="0" lang="es-ES">
                <a:solidFill>
                  <a:srgbClr val="1F2937"/>
                </a:solidFill>
                <a:latin typeface="Calibri"/>
              </a:rPr>
              <a:t> K se dimensiona 2N, no 2·máx(id de nodo)</a:t>
            </a:r>
          </a:p>
        </p:txBody>
      </p:sp>
      <p:pic>
        <p:nvPicPr>
          <p:cNvPr id="6" name="Picture 5" descr="fig_arquitectura.png"/>
          <p:cNvPicPr>
            <a:picLocks noChangeAspect="1"/>
          </p:cNvPicPr>
          <p:nvPr/>
        </p:nvPicPr>
        <p:blipFill>
          <a:blip r:embed="rId2"/>
          <a:stretch>
            <a:fillRect/>
          </a:stretch>
        </p:blipFill>
        <p:spPr>
          <a:xfrm>
            <a:off x="6217920" y="1761448"/>
            <a:ext cx="5425135" cy="3682575"/>
          </a:xfrm>
          <a:prstGeom prst="rect">
            <a:avLst/>
          </a:prstGeom>
          <a:ln w="9525">
            <a:solidFill>
              <a:srgbClr val="D1D5DB"/>
            </a:solidFill>
          </a:ln>
        </p:spPr>
      </p:pic>
      <p:sp>
        <p:nvSpPr>
          <p:cNvPr id="7" name="TextBox 6"/>
          <p:cNvSpPr txBox="1"/>
          <p:nvPr/>
        </p:nvSpPr>
        <p:spPr>
          <a:xfrm>
            <a:off x="6217920" y="5489743"/>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Arquitectura por capas centrada en el modelo de proyecto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requisitos, stack y arquitectura</a:t>
            </a:r>
          </a:p>
        </p:txBody>
      </p:sp>
      <p:sp>
        <p:nvSpPr>
          <p:cNvPr id="11" name="TextBox 1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Pre-proceso: un lienzo, cinco tablas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TextBox 4"/>
          <p:cNvSpPr txBox="1"/>
          <p:nvPr/>
        </p:nvSpPr>
        <p:spPr>
          <a:xfrm>
            <a:off x="594360" y="1527048"/>
            <a:ext cx="5257800" cy="4700016"/>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Modo dibujo tipo CAD:</a:t>
            </a:r>
            <a:r>
              <a:rPr sz="2200" b="0" i="0" lang="es-ES">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Validador de salud:</a:t>
            </a:r>
            <a:r>
              <a:rPr sz="2200" b="0" i="0" lang="es-ES">
                <a:solidFill>
                  <a:srgbClr val="1F2937"/>
                </a:solidFill>
                <a:latin typeface="Calibri"/>
              </a:rPr>
              <a:t> 18 chequeos (9 críticos, 8 advertencias, 1 informativo)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Calidad de malla (M0):</a:t>
            </a:r>
            <a:r>
              <a:rPr sz="2200" b="0" i="0" lang="es-ES">
                <a:solidFill>
                  <a:srgbClr val="1F2937"/>
                </a:solidFill>
                <a:latin typeface="Calibri"/>
              </a:rPr>
              <a:t> q_SJ ≥ 0,50, más exigente que el 0,30 de Verdict</a:t>
            </a:r>
          </a:p>
        </p:txBody>
      </p:sp>
      <p:pic>
        <p:nvPicPr>
          <p:cNvPr id="6" name="Picture 5" descr="fig_lienzo_lod.png"/>
          <p:cNvPicPr>
            <a:picLocks noChangeAspect="1"/>
          </p:cNvPicPr>
          <p:nvPr/>
        </p:nvPicPr>
        <p:blipFill>
          <a:blip r:embed="rId2"/>
          <a:stretch>
            <a:fillRect/>
          </a:stretch>
        </p:blipFill>
        <p:spPr>
          <a:xfrm>
            <a:off x="6217920" y="1601761"/>
            <a:ext cx="5425135" cy="4001949"/>
          </a:xfrm>
          <a:prstGeom prst="rect">
            <a:avLst/>
          </a:prstGeom>
          <a:ln w="9525">
            <a:solidFill>
              <a:srgbClr val="D1D5DB"/>
            </a:solidFill>
          </a:ln>
        </p:spPr>
      </p:pic>
      <p:sp>
        <p:nvSpPr>
          <p:cNvPr id="7" name="TextBox 6"/>
          <p:cNvSpPr txBox="1"/>
          <p:nvPr/>
        </p:nvSpPr>
        <p:spPr>
          <a:xfrm>
            <a:off x="6217920" y="5649430"/>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Modo de dibujo sobre el lienzo compartido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pre-proceso; Cap. 1 calidad de malla; Anexo B</a:t>
            </a:r>
          </a:p>
        </p:txBody>
      </p:sp>
      <p:sp>
        <p:nvSpPr>
          <p:cNvPr id="11" name="TextBox 1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Ocho módulos recorren el canal del MEF</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Rounded Rectangle 4"/>
          <p:cNvSpPr/>
          <p:nvPr/>
        </p:nvSpPr>
        <p:spPr>
          <a:xfrm>
            <a:off x="548640"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85623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M0 Calidad</a:t>
            </a:r>
          </a:p>
        </p:txBody>
      </p:sp>
      <p:sp>
        <p:nvSpPr>
          <p:cNvPr id="7" name="TextBox 6"/>
          <p:cNvSpPr txBox="1"/>
          <p:nvPr/>
        </p:nvSpPr>
        <p:spPr>
          <a:xfrm>
            <a:off x="548640" y="261518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de malla</a:t>
            </a:r>
          </a:p>
        </p:txBody>
      </p:sp>
      <p:sp>
        <p:nvSpPr>
          <p:cNvPr id="8" name="Right Arrow 7"/>
          <p:cNvSpPr/>
          <p:nvPr/>
        </p:nvSpPr>
        <p:spPr>
          <a:xfrm>
            <a:off x="297934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311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73119" y="185623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M1 Mapeo</a:t>
            </a:r>
          </a:p>
        </p:txBody>
      </p:sp>
      <p:sp>
        <p:nvSpPr>
          <p:cNvPr id="11" name="TextBox 10"/>
          <p:cNvSpPr txBox="1"/>
          <p:nvPr/>
        </p:nvSpPr>
        <p:spPr>
          <a:xfrm>
            <a:off x="3473119" y="261518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isoparamétrico</a:t>
            </a:r>
          </a:p>
        </p:txBody>
      </p:sp>
      <p:sp>
        <p:nvSpPr>
          <p:cNvPr id="12" name="Right Arrow 11"/>
          <p:cNvSpPr/>
          <p:nvPr/>
        </p:nvSpPr>
        <p:spPr>
          <a:xfrm>
            <a:off x="590382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9759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97599" y="185623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M2 Jacobiano</a:t>
            </a:r>
          </a:p>
        </p:txBody>
      </p:sp>
      <p:sp>
        <p:nvSpPr>
          <p:cNvPr id="15" name="TextBox 14"/>
          <p:cNvSpPr txBox="1"/>
          <p:nvPr/>
        </p:nvSpPr>
        <p:spPr>
          <a:xfrm>
            <a:off x="6397599" y="261518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distorsión y det J</a:t>
            </a:r>
          </a:p>
        </p:txBody>
      </p:sp>
      <p:sp>
        <p:nvSpPr>
          <p:cNvPr id="16" name="Right Arrow 15"/>
          <p:cNvSpPr/>
          <p:nvPr/>
        </p:nvSpPr>
        <p:spPr>
          <a:xfrm>
            <a:off x="882830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207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2079" y="185623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M3 Matriz B</a:t>
            </a:r>
          </a:p>
        </p:txBody>
      </p:sp>
      <p:sp>
        <p:nvSpPr>
          <p:cNvPr id="19" name="TextBox 18"/>
          <p:cNvSpPr txBox="1"/>
          <p:nvPr/>
        </p:nvSpPr>
        <p:spPr>
          <a:xfrm>
            <a:off x="9322079" y="261518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ε = B u</a:t>
            </a:r>
          </a:p>
        </p:txBody>
      </p:sp>
      <p:sp>
        <p:nvSpPr>
          <p:cNvPr id="20" name="Rounded Rectangle 19"/>
          <p:cNvSpPr/>
          <p:nvPr/>
        </p:nvSpPr>
        <p:spPr>
          <a:xfrm>
            <a:off x="548640"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373075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M4 Matriz D</a:t>
            </a:r>
          </a:p>
        </p:txBody>
      </p:sp>
      <p:sp>
        <p:nvSpPr>
          <p:cNvPr id="22" name="TextBox 21"/>
          <p:cNvSpPr txBox="1"/>
          <p:nvPr/>
        </p:nvSpPr>
        <p:spPr>
          <a:xfrm>
            <a:off x="548640" y="448970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material</a:t>
            </a:r>
          </a:p>
        </p:txBody>
      </p:sp>
      <p:sp>
        <p:nvSpPr>
          <p:cNvPr id="23" name="Right Arrow 22"/>
          <p:cNvSpPr/>
          <p:nvPr/>
        </p:nvSpPr>
        <p:spPr>
          <a:xfrm>
            <a:off x="297934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7311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73119" y="373075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M5 Rigidez kₑ</a:t>
            </a:r>
          </a:p>
        </p:txBody>
      </p:sp>
      <p:sp>
        <p:nvSpPr>
          <p:cNvPr id="26" name="TextBox 25"/>
          <p:cNvSpPr txBox="1"/>
          <p:nvPr/>
        </p:nvSpPr>
        <p:spPr>
          <a:xfrm>
            <a:off x="3473119" y="448970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cuadratura de Gauss</a:t>
            </a:r>
          </a:p>
        </p:txBody>
      </p:sp>
      <p:sp>
        <p:nvSpPr>
          <p:cNvPr id="27" name="Right Arrow 26"/>
          <p:cNvSpPr/>
          <p:nvPr/>
        </p:nvSpPr>
        <p:spPr>
          <a:xfrm>
            <a:off x="590382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9759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97599" y="373075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M6 Fuerzas</a:t>
            </a:r>
          </a:p>
        </p:txBody>
      </p:sp>
      <p:sp>
        <p:nvSpPr>
          <p:cNvPr id="30" name="TextBox 29"/>
          <p:cNvSpPr txBox="1"/>
          <p:nvPr/>
        </p:nvSpPr>
        <p:spPr>
          <a:xfrm>
            <a:off x="6397599" y="448970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equivalentes</a:t>
            </a:r>
          </a:p>
        </p:txBody>
      </p:sp>
      <p:sp>
        <p:nvSpPr>
          <p:cNvPr id="31" name="Right Arrow 30"/>
          <p:cNvSpPr/>
          <p:nvPr/>
        </p:nvSpPr>
        <p:spPr>
          <a:xfrm>
            <a:off x="882830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32207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2079" y="3730752"/>
            <a:ext cx="2320975"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M7 Ensamblaje</a:t>
            </a:r>
          </a:p>
        </p:txBody>
      </p:sp>
      <p:sp>
        <p:nvSpPr>
          <p:cNvPr id="34" name="TextBox 33"/>
          <p:cNvSpPr txBox="1"/>
          <p:nvPr/>
        </p:nvSpPr>
        <p:spPr>
          <a:xfrm>
            <a:off x="9322079" y="4489704"/>
            <a:ext cx="2320975"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K y F globales</a:t>
            </a:r>
          </a:p>
        </p:txBody>
      </p:sp>
      <p:sp>
        <p:nvSpPr>
          <p:cNvPr id="35" name="Rectangle 3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Capas sobre la malla real, una sola activa a la vez, conmutador Fórmula ↔ Valores</a:t>
            </a:r>
          </a:p>
        </p:txBody>
      </p:sp>
      <p:sp>
        <p:nvSpPr>
          <p:cNvPr id="38" name="Rectangle 3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0" name="TextBox 3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módulos educativos, tabla de módulos</a:t>
            </a:r>
          </a:p>
        </p:txBody>
      </p:sp>
      <p:sp>
        <p:nvSpPr>
          <p:cNvPr id="41" name="TextBox 4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M5: de la integral a la suma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pic>
        <p:nvPicPr>
          <p:cNvPr id="5" name="Picture 4" descr="fig_modulo_m5.png"/>
          <p:cNvPicPr>
            <a:picLocks noChangeAspect="1"/>
          </p:cNvPicPr>
          <p:nvPr/>
        </p:nvPicPr>
        <p:blipFill>
          <a:blip r:embed="rId2"/>
          <a:stretch>
            <a:fillRect/>
          </a:stretch>
        </p:blipFill>
        <p:spPr>
          <a:xfrm>
            <a:off x="2496891" y="1481328"/>
            <a:ext cx="7197912" cy="3355848"/>
          </a:xfrm>
          <a:prstGeom prst="rect">
            <a:avLst/>
          </a:prstGeom>
          <a:ln w="9525">
            <a:solidFill>
              <a:srgbClr val="D1D5DB"/>
            </a:solidFill>
          </a:ln>
        </p:spPr>
      </p:pic>
      <p:sp>
        <p:nvSpPr>
          <p:cNvPr id="6" name="TextBox 5"/>
          <p:cNvSpPr txBox="1"/>
          <p:nvPr/>
        </p:nvSpPr>
        <p:spPr>
          <a:xfrm>
            <a:off x="548640" y="4873752"/>
            <a:ext cx="11094415"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kₑ ≈ Σ wₚ Bᵀ D B t |det J|: los puntos de Gauss se iluminan sobre el elemento seleccionado</a:t>
            </a:r>
          </a:p>
        </p:txBody>
      </p:sp>
      <p:sp>
        <p:nvSpPr>
          <p:cNvPr id="7" name="Rectangle 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El alumno agrega o quita puntos de Gauss y ve crecer kₑ con cada contribución</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catálogo de módulos educativos</a:t>
            </a:r>
          </a:p>
        </p:txBody>
      </p:sp>
      <p:sp>
        <p:nvSpPr>
          <p:cNvPr id="13" name="TextBox 12"/>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Post-proceso sobre el mismo lienzo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pic>
        <p:nvPicPr>
          <p:cNvPr id="5" name="Picture 4" descr="fig_postproceso.png"/>
          <p:cNvPicPr>
            <a:picLocks noChangeAspect="1"/>
          </p:cNvPicPr>
          <p:nvPr/>
        </p:nvPicPr>
        <p:blipFill>
          <a:blip r:embed="rId2"/>
          <a:stretch>
            <a:fillRect/>
          </a:stretch>
        </p:blipFill>
        <p:spPr>
          <a:xfrm>
            <a:off x="2546196" y="1481328"/>
            <a:ext cx="7099301" cy="3355848"/>
          </a:xfrm>
          <a:prstGeom prst="rect">
            <a:avLst/>
          </a:prstGeom>
          <a:ln w="9525">
            <a:solidFill>
              <a:srgbClr val="D1D5DB"/>
            </a:solidFill>
          </a:ln>
        </p:spPr>
      </p:pic>
      <p:sp>
        <p:nvSpPr>
          <p:cNvPr id="6" name="TextBox 5"/>
          <p:cNvSpPr txBox="1"/>
          <p:nvPr/>
        </p:nvSpPr>
        <p:spPr>
          <a:xfrm>
            <a:off x="548640" y="4873752"/>
            <a:ext cx="11094415"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Contorno de von Mises con interpolación de Gouraud, reacciones en los apoyos y sonda con círculo de Mohr</a:t>
            </a:r>
          </a:p>
        </p:txBody>
      </p:sp>
      <p:sp>
        <p:nvSpPr>
          <p:cNvPr id="7" name="Rectangle 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Contorno, deformada, isolíneas, sonda puntual y vista 3D del campo, con la paleta jet de la práctica profesional</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post-proceso</a:t>
            </a:r>
          </a:p>
        </p:txBody>
      </p:sp>
      <p:sp>
        <p:nvSpPr>
          <p:cNvPr id="13" name="TextBox 12"/>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2800" b="1" i="0" lang="es-ES">
                <a:solidFill>
                  <a:srgbClr val="1B2A4A"/>
                </a:solidFill>
                <a:latin typeface="Calibri"/>
              </a:rPr>
              <a:t>Memoria de cálculo: el ejemplo canónico paso a paso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sp>
        <p:nvSpPr>
          <p:cNvPr id="5" name="Rounded Rectangle 4"/>
          <p:cNvSpPr/>
          <p:nvPr/>
        </p:nvSpPr>
        <p:spPr>
          <a:xfrm>
            <a:off x="548640"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85623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Matriz D</a:t>
            </a:r>
          </a:p>
        </p:txBody>
      </p:sp>
      <p:sp>
        <p:nvSpPr>
          <p:cNvPr id="7" name="TextBox 6"/>
          <p:cNvSpPr txBox="1"/>
          <p:nvPr/>
        </p:nvSpPr>
        <p:spPr>
          <a:xfrm>
            <a:off x="548640" y="261518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factor E/(1−ν²) = 234375</a:t>
            </a:r>
          </a:p>
        </p:txBody>
      </p:sp>
      <p:sp>
        <p:nvSpPr>
          <p:cNvPr id="8" name="Right Arrow 7"/>
          <p:cNvSpPr/>
          <p:nvPr/>
        </p:nvSpPr>
        <p:spPr>
          <a:xfrm>
            <a:off x="3954170"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47946"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47946" y="185623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kₑ del elemento 3</a:t>
            </a:r>
          </a:p>
        </p:txBody>
      </p:sp>
      <p:sp>
        <p:nvSpPr>
          <p:cNvPr id="11" name="TextBox 10"/>
          <p:cNvSpPr txBox="1"/>
          <p:nvPr/>
        </p:nvSpPr>
        <p:spPr>
          <a:xfrm>
            <a:off x="4447946" y="261518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det J = 4,7604 en el PG 1</a:t>
            </a:r>
          </a:p>
        </p:txBody>
      </p:sp>
      <p:sp>
        <p:nvSpPr>
          <p:cNvPr id="12" name="Right Arrow 11"/>
          <p:cNvSpPr/>
          <p:nvPr/>
        </p:nvSpPr>
        <p:spPr>
          <a:xfrm>
            <a:off x="7853476"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47252"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47252" y="185623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Ensamblaje</a:t>
            </a:r>
          </a:p>
        </p:txBody>
      </p:sp>
      <p:sp>
        <p:nvSpPr>
          <p:cNvPr id="15" name="TextBox 14"/>
          <p:cNvSpPr txBox="1"/>
          <p:nvPr/>
        </p:nvSpPr>
        <p:spPr>
          <a:xfrm>
            <a:off x="8347252" y="261518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K de 18×18; F₇ᵧ = −1000</a:t>
            </a:r>
          </a:p>
        </p:txBody>
      </p:sp>
      <p:sp>
        <p:nvSpPr>
          <p:cNvPr id="16" name="Rounded Rectangle 15"/>
          <p:cNvSpPr/>
          <p:nvPr/>
        </p:nvSpPr>
        <p:spPr>
          <a:xfrm>
            <a:off x="548640"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373075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Partición</a:t>
            </a:r>
          </a:p>
        </p:txBody>
      </p:sp>
      <p:sp>
        <p:nvSpPr>
          <p:cNvPr id="18" name="TextBox 17"/>
          <p:cNvSpPr txBox="1"/>
          <p:nvPr/>
        </p:nvSpPr>
        <p:spPr>
          <a:xfrm>
            <a:off x="548640" y="448970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6 GDL restringidos, 12 libres</a:t>
            </a:r>
          </a:p>
        </p:txBody>
      </p:sp>
      <p:sp>
        <p:nvSpPr>
          <p:cNvPr id="19" name="Right Arrow 18"/>
          <p:cNvSpPr/>
          <p:nvPr/>
        </p:nvSpPr>
        <p:spPr>
          <a:xfrm>
            <a:off x="3954170"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47946"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47946" y="373075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Reacciones</a:t>
            </a:r>
          </a:p>
        </p:txBody>
      </p:sp>
      <p:sp>
        <p:nvSpPr>
          <p:cNvPr id="22" name="TextBox 21"/>
          <p:cNvSpPr txBox="1"/>
          <p:nvPr/>
        </p:nvSpPr>
        <p:spPr>
          <a:xfrm>
            <a:off x="4447946" y="448970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ΣRₓ = 0,00 · ΣRᵧ = 1000,00</a:t>
            </a:r>
          </a:p>
        </p:txBody>
      </p:sp>
      <p:sp>
        <p:nvSpPr>
          <p:cNvPr id="23" name="Right Arrow 22"/>
          <p:cNvSpPr/>
          <p:nvPr/>
        </p:nvSpPr>
        <p:spPr>
          <a:xfrm>
            <a:off x="7853476"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47252"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47252" y="3730752"/>
            <a:ext cx="3295802"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Tensiones</a:t>
            </a:r>
          </a:p>
        </p:txBody>
      </p:sp>
      <p:sp>
        <p:nvSpPr>
          <p:cNvPr id="26" name="TextBox 25"/>
          <p:cNvSpPr txBox="1"/>
          <p:nvPr/>
        </p:nvSpPr>
        <p:spPr>
          <a:xfrm>
            <a:off x="8347252" y="4489704"/>
            <a:ext cx="3295802"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σVM máx = 864,70 en el nodo 7</a:t>
            </a:r>
          </a:p>
        </p:txBody>
      </p:sp>
      <p:sp>
        <p:nvSpPr>
          <p:cNvPr id="27" name="Rectangle 2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PDF en dos estilos (educativo y directo) con TeX Live embebido; formatos .edufem, CSV/ZIP y DXF</a:t>
            </a:r>
          </a:p>
        </p:txBody>
      </p:sp>
      <p:sp>
        <p:nvSpPr>
          <p:cNvPr id="30" name="Rectangle 2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2" name="TextBox 31"/>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memoria e interoperabilidad; Anexo G</a:t>
            </a:r>
          </a:p>
        </p:txBody>
      </p:sp>
      <p:sp>
        <p:nvSpPr>
          <p:cNvPr id="33" name="TextBox 32"/>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Demostración en vivo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3  ·  Diseño y desarrollo del modelo</a:t>
            </a:r>
          </a:p>
        </p:txBody>
      </p:sp>
      <p:pic>
        <p:nvPicPr>
          <p:cNvPr id="5" name="Picture 4" descr="fig_app_completa.png"/>
          <p:cNvPicPr>
            <a:picLocks noChangeAspect="1"/>
          </p:cNvPicPr>
          <p:nvPr/>
        </p:nvPicPr>
        <p:blipFill>
          <a:blip r:embed="rId2"/>
          <a:stretch>
            <a:fillRect/>
          </a:stretch>
        </p:blipFill>
        <p:spPr>
          <a:xfrm>
            <a:off x="548640" y="2065827"/>
            <a:ext cx="7223760" cy="3622456"/>
          </a:xfrm>
          <a:prstGeom prst="rect">
            <a:avLst/>
          </a:prstGeom>
          <a:ln w="9525">
            <a:solidFill>
              <a:srgbClr val="D1D5DB"/>
            </a:solidFill>
          </a:ln>
        </p:spPr>
      </p:pic>
      <p:sp>
        <p:nvSpPr>
          <p:cNvPr id="6" name="TextBox 5"/>
          <p:cNvSpPr txBox="1"/>
          <p:nvPr/>
        </p:nvSpPr>
        <p:spPr>
          <a:xfrm>
            <a:off x="8138160" y="1481328"/>
            <a:ext cx="3504895" cy="457200"/>
          </a:xfrm>
          <a:prstGeom prst="rect">
            <a:avLst/>
          </a:prstGeom>
          <a:noFill/>
        </p:spPr>
        <p:txBody>
          <a:bodyPr wrap="square" anchor="t" lIns="45720" tIns="27432" rIns="45720" bIns="27432">
            <a:noAutofit/>
          </a:bodyPr>
          <a:lstStyle/>
          <a:p>
            <a:pPr algn="l">
              <a:lnSpc>
                <a:spcPct val="105000"/>
              </a:lnSpc>
            </a:pPr>
            <a:r>
              <a:rPr sz="2000" b="1" i="0" lang="es-ES">
                <a:solidFill>
                  <a:srgbClr val="F28C28"/>
                </a:solidFill>
                <a:latin typeface="Calibri"/>
              </a:rPr>
              <a:t>Qué vamos a ver</a:t>
            </a:r>
          </a:p>
        </p:txBody>
      </p:sp>
      <p:sp>
        <p:nvSpPr>
          <p:cNvPr id="7" name="Oval 6"/>
          <p:cNvSpPr/>
          <p:nvPr/>
        </p:nvSpPr>
        <p:spPr>
          <a:xfrm>
            <a:off x="8138160" y="210312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800" b="1" i="0" lang="es-ES">
                <a:solidFill>
                  <a:srgbClr val="FFFFFF"/>
                </a:solidFill>
                <a:latin typeface="Calibri"/>
              </a:rPr>
              <a:t>1</a:t>
            </a:r>
          </a:p>
        </p:txBody>
      </p:sp>
      <p:sp>
        <p:nvSpPr>
          <p:cNvPr id="8" name="TextBox 7"/>
          <p:cNvSpPr txBox="1"/>
          <p:nvPr/>
        </p:nvSpPr>
        <p:spPr>
          <a:xfrm>
            <a:off x="8732520" y="2048256"/>
            <a:ext cx="2910535"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Cargar el ejemplo canónico (Ctrl+E): 9 nodos, 4 elementos Q4, carga en el nodo 7</a:t>
            </a:r>
          </a:p>
        </p:txBody>
      </p:sp>
      <p:sp>
        <p:nvSpPr>
          <p:cNvPr id="9" name="Oval 8"/>
          <p:cNvSpPr/>
          <p:nvPr/>
        </p:nvSpPr>
        <p:spPr>
          <a:xfrm>
            <a:off x="8138160" y="354584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800" b="1" i="0" lang="es-ES">
                <a:solidFill>
                  <a:srgbClr val="FFFFFF"/>
                </a:solidFill>
                <a:latin typeface="Calibri"/>
              </a:rPr>
              <a:t>2</a:t>
            </a:r>
          </a:p>
        </p:txBody>
      </p:sp>
      <p:sp>
        <p:nvSpPr>
          <p:cNvPr id="10" name="TextBox 9"/>
          <p:cNvSpPr txBox="1"/>
          <p:nvPr/>
        </p:nvSpPr>
        <p:spPr>
          <a:xfrm>
            <a:off x="8732520" y="3490976"/>
            <a:ext cx="2910535" cy="11506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Abrir M5 (Ctrl+5) sobre un elemento: puntos de Gauss y kₑ</a:t>
            </a:r>
          </a:p>
        </p:txBody>
      </p:sp>
      <p:sp>
        <p:nvSpPr>
          <p:cNvPr id="11" name="Oval 10"/>
          <p:cNvSpPr/>
          <p:nvPr/>
        </p:nvSpPr>
        <p:spPr>
          <a:xfrm>
            <a:off x="8138160" y="4696459"/>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800" b="1" i="0" lang="es-ES">
                <a:solidFill>
                  <a:srgbClr val="FFFFFF"/>
                </a:solidFill>
                <a:latin typeface="Calibri"/>
              </a:rPr>
              <a:t>3</a:t>
            </a:r>
          </a:p>
        </p:txBody>
      </p:sp>
      <p:sp>
        <p:nvSpPr>
          <p:cNvPr id="12" name="TextBox 11"/>
          <p:cNvSpPr txBox="1"/>
          <p:nvPr/>
        </p:nvSpPr>
        <p:spPr>
          <a:xfrm>
            <a:off x="8732520" y="4641595"/>
            <a:ext cx="2910535"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Resolver (F5): contorno de von Mises, sonda con círculo de Mohr y memoria PDF</a:t>
            </a:r>
          </a:p>
        </p:txBody>
      </p:sp>
      <p:sp>
        <p:nvSpPr>
          <p:cNvPr id="13" name="Rectangle 12"/>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5" name="TextBox 14"/>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manual de uso</a:t>
            </a:r>
          </a:p>
        </p:txBody>
      </p:sp>
      <p:sp>
        <p:nvSpPr>
          <p:cNvPr id="16" name="TextBox 15"/>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04</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Presentación de resultados</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Probar que la caja abierta calcula bien: MMS, consistencia interna, viga de Timoshenko y membrana de Cook</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MMS: las tasas teóricas se cumplen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4  ·  Presentación de resultados</a:t>
            </a:r>
          </a:p>
        </p:txBody>
      </p:sp>
      <p:sp>
        <p:nvSpPr>
          <p:cNvPr id="5" name="TextBox 4"/>
          <p:cNvSpPr txBox="1"/>
          <p:nvPr/>
        </p:nvSpPr>
        <p:spPr>
          <a:xfrm>
            <a:off x="594360" y="1527048"/>
            <a:ext cx="5257800" cy="376732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Q4:</a:t>
            </a:r>
            <a:r>
              <a:rPr sz="2200" b="0" i="0" lang="es-ES">
                <a:solidFill>
                  <a:srgbClr val="1F2937"/>
                </a:solidFill>
                <a:latin typeface="Calibri"/>
              </a:rPr>
              <a:t> O(h²·⁰⁰) en L², O(h¹·⁰⁰) en H¹, O(h¹·⁵⁴) en σ*</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Q9:</a:t>
            </a:r>
            <a:r>
              <a:rPr sz="2200" b="0" i="0" lang="es-ES">
                <a:solidFill>
                  <a:srgbClr val="1F2937"/>
                </a:solidFill>
                <a:latin typeface="Calibri"/>
              </a:rPr>
              <a:t> O(h³·⁰⁰) en L², O(h²·⁰⁰) en H¹, O(h²·⁰⁰) en σ*</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Mallas de 2×2 a 32×32:</a:t>
            </a:r>
            <a:r>
              <a:rPr sz="2200" b="0" i="0" lang="es-ES">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Cuatro configuraciones (dos estados planos, malla regular y distorsionada): tasas iguales, diferencias &lt; 0,01</a:t>
            </a:r>
          </a:p>
        </p:txBody>
      </p:sp>
      <p:pic>
        <p:nvPicPr>
          <p:cNvPr id="6" name="Picture 5" descr="mms_convergence_l2.png"/>
          <p:cNvPicPr>
            <a:picLocks noChangeAspect="1"/>
          </p:cNvPicPr>
          <p:nvPr/>
        </p:nvPicPr>
        <p:blipFill>
          <a:blip r:embed="rId2"/>
          <a:stretch>
            <a:fillRect/>
          </a:stretch>
        </p:blipFill>
        <p:spPr>
          <a:xfrm>
            <a:off x="6613398" y="1481328"/>
            <a:ext cx="4634179"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Error L² del desplazamiento frente a h: la pendiente es la tasa</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La tasa del Q4 sube de 1,82 a 2,00 al refinar: la firma del régimen asintótico</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§3.2, tabla MMS y figura de convergencia</a:t>
            </a:r>
          </a:p>
        </p:txBody>
      </p:sp>
      <p:sp>
        <p:nvSpPr>
          <p:cNvPr id="14" name="TextBox 13"/>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modelo no deriva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4  ·  Presentación de resultados</a:t>
            </a:r>
          </a:p>
        </p:txBody>
      </p:sp>
      <p:sp>
        <p:nvSpPr>
          <p:cNvPr id="5" name="Rounded Rectangle 4"/>
          <p:cNvSpPr/>
          <p:nvPr/>
        </p:nvSpPr>
        <p:spPr>
          <a:xfrm>
            <a:off x="548640"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&lt; 10⁻⁹</a:t>
            </a:r>
          </a:p>
        </p:txBody>
      </p:sp>
      <p:sp>
        <p:nvSpPr>
          <p:cNvPr id="8" name="TextBox 7"/>
          <p:cNvSpPr txBox="1"/>
          <p:nvPr/>
        </p:nvSpPr>
        <p:spPr>
          <a:xfrm>
            <a:off x="731520"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ciclo Q4 → Q9 → Q4, diferencia en u</a:t>
            </a:r>
          </a:p>
        </p:txBody>
      </p:sp>
      <p:sp>
        <p:nvSpPr>
          <p:cNvPr id="9" name="Rounded Rectangle 8"/>
          <p:cNvSpPr/>
          <p:nvPr/>
        </p:nvSpPr>
        <p:spPr>
          <a:xfrm>
            <a:off x="3390823"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19423"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73703"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&lt; 10⁻⁹</a:t>
            </a:r>
          </a:p>
        </p:txBody>
      </p:sp>
      <p:sp>
        <p:nvSpPr>
          <p:cNvPr id="12" name="TextBox 11"/>
          <p:cNvSpPr txBox="1"/>
          <p:nvPr/>
        </p:nvSpPr>
        <p:spPr>
          <a:xfrm>
            <a:off x="3573703"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ids {1, 5, 50, 99} frente a {1, 2, 3, 4}</a:t>
            </a:r>
          </a:p>
        </p:txBody>
      </p:sp>
      <p:sp>
        <p:nvSpPr>
          <p:cNvPr id="13" name="Rounded Rectangle 12"/>
          <p:cNvSpPr/>
          <p:nvPr/>
        </p:nvSpPr>
        <p:spPr>
          <a:xfrm>
            <a:off x="6233007"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461607"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5887" y="2313432"/>
            <a:ext cx="2202103" cy="1005840"/>
          </a:xfrm>
          <a:prstGeom prst="rect">
            <a:avLst/>
          </a:prstGeom>
          <a:noFill/>
        </p:spPr>
        <p:txBody>
          <a:bodyPr wrap="square" anchor="ctr" lIns="45720" tIns="27432" rIns="45720" bIns="27432">
            <a:noAutofit/>
          </a:bodyPr>
          <a:lstStyle/>
          <a:p>
            <a:pPr algn="l">
              <a:lnSpc>
                <a:spcPct val="105000"/>
              </a:lnSpc>
            </a:pPr>
            <a:r>
              <a:rPr sz="4400" b="1" i="0" lang="es-ES">
                <a:solidFill>
                  <a:srgbClr val="1B2A4A"/>
                </a:solidFill>
                <a:latin typeface="Calibri"/>
              </a:rPr>
              <a:t>&lt; 10⁻¹²</a:t>
            </a:r>
          </a:p>
        </p:txBody>
      </p:sp>
      <p:sp>
        <p:nvSpPr>
          <p:cNvPr id="16" name="TextBox 15"/>
          <p:cNvSpPr txBox="1"/>
          <p:nvPr/>
        </p:nvSpPr>
        <p:spPr>
          <a:xfrm>
            <a:off x="6415887"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máx |Δu| tras ida y vuelta CSV/ZIP</a:t>
            </a:r>
          </a:p>
        </p:txBody>
      </p:sp>
      <p:sp>
        <p:nvSpPr>
          <p:cNvPr id="17" name="Rounded Rectangle 16"/>
          <p:cNvSpPr/>
          <p:nvPr/>
        </p:nvSpPr>
        <p:spPr>
          <a:xfrm>
            <a:off x="9075191"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03791"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58071" y="2313432"/>
            <a:ext cx="2202103" cy="1005840"/>
          </a:xfrm>
          <a:prstGeom prst="rect">
            <a:avLst/>
          </a:prstGeom>
          <a:noFill/>
        </p:spPr>
        <p:txBody>
          <a:bodyPr wrap="square" anchor="ctr" lIns="45720" tIns="27432" rIns="45720" bIns="27432">
            <a:noAutofit/>
          </a:bodyPr>
          <a:lstStyle/>
          <a:p>
            <a:pPr algn="l">
              <a:lnSpc>
                <a:spcPct val="105000"/>
              </a:lnSpc>
            </a:pPr>
            <a:r>
              <a:rPr sz="3600" b="1" i="0" lang="es-ES">
                <a:solidFill>
                  <a:srgbClr val="1B2A4A"/>
                </a:solidFill>
                <a:latin typeface="Calibri"/>
              </a:rPr>
              <a:t>6 · 12 · 0</a:t>
            </a:r>
          </a:p>
        </p:txBody>
      </p:sp>
      <p:sp>
        <p:nvSpPr>
          <p:cNvPr id="20" name="TextBox 19"/>
          <p:cNvSpPr txBox="1"/>
          <p:nvPr/>
        </p:nvSpPr>
        <p:spPr>
          <a:xfrm>
            <a:off x="9258071" y="3364992"/>
            <a:ext cx="2202103" cy="1417319"/>
          </a:xfrm>
          <a:prstGeom prst="rect">
            <a:avLst/>
          </a:prstGeom>
          <a:noFill/>
        </p:spPr>
        <p:txBody>
          <a:bodyPr wrap="square" anchor="t" lIns="45720" tIns="27432" rIns="45720" bIns="27432">
            <a:noAutofit/>
          </a:bodyPr>
          <a:lstStyle/>
          <a:p>
            <a:pPr algn="l">
              <a:lnSpc>
                <a:spcPct val="110000"/>
              </a:lnSpc>
            </a:pPr>
            <a:r>
              <a:rPr sz="1800" b="0" i="0" lang="es-ES">
                <a:solidFill>
                  <a:srgbClr val="5B6575"/>
                </a:solidFill>
                <a:latin typeface="Calibri"/>
              </a:rPr>
              <a:t>DXF: elementos, nodos, nuevos al reimportar</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Consistencia interna: expandir, reducir, renumerar e intercambiar formatos no cambia la solución</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§3.3, consistencia interna</a:t>
            </a:r>
          </a:p>
        </p:txBody>
      </p:sp>
      <p:sp>
        <p:nvSpPr>
          <p:cNvPr id="27" name="TextBox 26"/>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Viga de Timoshenko: analítico y SAP2000</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4  ·  Presentación de resultados</a:t>
            </a:r>
          </a:p>
        </p:txBody>
      </p:sp>
      <p:sp>
        <p:nvSpPr>
          <p:cNvPr id="5" name="TextBox 4"/>
          <p:cNvSpPr txBox="1"/>
          <p:nvPr/>
        </p:nvSpPr>
        <p:spPr>
          <a:xfrm>
            <a:off x="594360" y="1527048"/>
            <a:ext cx="5257800" cy="376732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Viga de hormigón:</a:t>
            </a:r>
            <a:r>
              <a:rPr sz="2400" b="0" i="0" lang="es-ES">
                <a:solidFill>
                  <a:srgbClr val="1F2937"/>
                </a:solidFill>
                <a:latin typeface="Calibri"/>
              </a:rPr>
              <a:t> L = 14 m, H = 1,20 m, q = 5000 kgf/m; malla Q9 56×8, 3842 GDL</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σₓ:</a:t>
            </a:r>
            <a:r>
              <a:rPr sz="2400" b="0" i="0" lang="es-ES">
                <a:solidFill>
                  <a:srgbClr val="1F2937"/>
                </a:solidFill>
                <a:latin typeface="Calibri"/>
              </a:rPr>
              <a:t> 0,0414 % frente al analítico; 0,2066 % frente a SAP2000</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Flecha:</a:t>
            </a:r>
            <a:r>
              <a:rPr sz="2400" b="0" i="0" lang="es-ES">
                <a:solidFill>
                  <a:srgbClr val="1F2937"/>
                </a:solidFill>
                <a:latin typeface="Calibri"/>
              </a:rPr>
              <a:t> 2,03460 frente a 2,02926 cm (0,2633 %); con Euler-Bernoulli sería 1,85 %</a:t>
            </a:r>
          </a:p>
        </p:txBody>
      </p:sp>
      <p:pic>
        <p:nvPicPr>
          <p:cNvPr id="6" name="Picture 5" descr="fig_timoshenko_contorno.png"/>
          <p:cNvPicPr>
            <a:picLocks noChangeAspect="1"/>
          </p:cNvPicPr>
          <p:nvPr/>
        </p:nvPicPr>
        <p:blipFill>
          <a:blip r:embed="rId2"/>
          <a:stretch>
            <a:fillRect/>
          </a:stretch>
        </p:blipFill>
        <p:spPr>
          <a:xfrm>
            <a:off x="6686844" y="1481328"/>
            <a:ext cx="4487285"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Campo σₓ sobre la deformada: tracción abajo, compresión arriba</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Cortante: hasta 2,9 % frente al analítico; frente a SAP2000, desplazamientos hasta 0,56 %</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§3.4, tablas de tensión y de flecha</a:t>
            </a:r>
          </a:p>
        </p:txBody>
      </p:sp>
      <p:sp>
        <p:nvSpPr>
          <p:cNvPr id="14" name="TextBox 13"/>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Membrana de Cook: referencia 23,96</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4  ·  Presentación de resultados</a:t>
            </a:r>
          </a:p>
        </p:txBody>
      </p:sp>
      <p:graphicFrame>
        <p:nvGraphicFramePr>
          <p:cNvPr id="5" name="Table 4"/>
          <p:cNvGraphicFramePr>
            <a:graphicFrameLocks noGrp="1"/>
          </p:cNvGraphicFramePr>
          <p:nvPr/>
        </p:nvGraphicFramePr>
        <p:xfrm>
          <a:off x="548640" y="1481328"/>
          <a:ext cx="11094412" cy="3858768"/>
        </p:xfrm>
        <a:graphic>
          <a:graphicData uri="http://schemas.openxmlformats.org/drawingml/2006/table">
            <a:tbl>
              <a:tblPr firstRow="0" bandRow="0">
                <a:tableStyleId>{5C22544A-7EE6-4342-B048-85BDC9FD1C3A}</a:tableStyleId>
              </a:tblPr>
              <a:tblGrid>
                <a:gridCol w="2275777"/>
                <a:gridCol w="1137888"/>
                <a:gridCol w="1137888"/>
                <a:gridCol w="3982610"/>
                <a:gridCol w="2560249"/>
              </a:tblGrid>
              <a:tr h="482346">
                <a:tc>
                  <a:txBody>
                    <a:bodyPr wrap="square"/>
                    <a:lstStyle/>
                    <a:p>
                      <a:pPr algn="l"/>
                      <a:r>
                        <a:rPr sz="1800" b="1" i="0" lang="es-ES">
                          <a:solidFill>
                            <a:srgbClr val="FFFFFF"/>
                          </a:solidFill>
                          <a:latin typeface="Calibri"/>
                        </a:rPr>
                        <a:t>Elemento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N</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uy en (48, 52)</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Error (%)</a:t>
                      </a:r>
                    </a:p>
                  </a:txBody>
                  <a:tcPr marL="73152" marR="73152" marT="27432" marB="27432" anchor="ctr">
                    <a:solidFill>
                      <a:srgbClr val="1B2A4A"/>
                    </a:solidFill>
                  </a:tcPr>
                </a:tc>
              </a:tr>
              <a:tr h="482346">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11,845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−50,563</a:t>
                      </a:r>
                    </a:p>
                  </a:txBody>
                  <a:tcPr marL="73152" marR="73152" marT="27432" marB="27432" anchor="ctr">
                    <a:solidFill>
                      <a:srgbClr val="FFFFFF"/>
                    </a:solidFill>
                  </a:tcPr>
                </a:tc>
              </a:tr>
              <a:tr h="482346">
                <a:tc>
                  <a:txBody>
                    <a:bodyPr wrap="square"/>
                    <a:lstStyle/>
                    <a:p>
                      <a:pPr algn="l"/>
                      <a:r>
                        <a:rPr sz="1800" b="1" i="0" lang="es-ES">
                          <a:solidFill>
                            <a:srgbClr val="1F2937"/>
                          </a:solidFill>
                          <a:latin typeface="Calibri"/>
                        </a:rPr>
                        <a:t>Q4</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8</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162</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22,079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−7,850</a:t>
                      </a:r>
                    </a:p>
                  </a:txBody>
                  <a:tcPr marL="73152" marR="73152" marT="27432" marB="27432" anchor="ctr">
                    <a:solidFill>
                      <a:srgbClr val="F3F4F6"/>
                    </a:solidFill>
                  </a:tcPr>
                </a:tc>
              </a:tr>
              <a:tr h="482346">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23,818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−0,594</a:t>
                      </a:r>
                    </a:p>
                  </a:txBody>
                  <a:tcPr marL="73152" marR="73152" marT="27432" marB="27432" anchor="ctr">
                    <a:solidFill>
                      <a:srgbClr val="FFFFFF"/>
                    </a:solidFill>
                  </a:tcPr>
                </a:tc>
              </a:tr>
              <a:tr h="482346">
                <a:tc>
                  <a:txBody>
                    <a:bodyPr wrap="square"/>
                    <a:lstStyle/>
                    <a:p>
                      <a:pPr algn="l"/>
                      <a:r>
                        <a:rPr sz="1800" b="1" i="0" lang="es-ES">
                          <a:solidFill>
                            <a:srgbClr val="1F2937"/>
                          </a:solidFill>
                          <a:latin typeface="Calibri"/>
                        </a:rPr>
                        <a:t>Q9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50</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23,289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−2,802</a:t>
                      </a:r>
                    </a:p>
                  </a:txBody>
                  <a:tcPr marL="73152" marR="73152" marT="27432" marB="27432" anchor="ctr">
                    <a:solidFill>
                      <a:srgbClr val="F3F4F6"/>
                    </a:solidFill>
                  </a:tcPr>
                </a:tc>
              </a:tr>
              <a:tr h="482346">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23,925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−0,144</a:t>
                      </a:r>
                    </a:p>
                  </a:txBody>
                  <a:tcPr marL="73152" marR="73152" marT="27432" marB="27432" anchor="ctr">
                    <a:solidFill>
                      <a:srgbClr val="FFFFFF"/>
                    </a:solidFill>
                  </a:tcPr>
                </a:tc>
              </a:tr>
              <a:tr h="482346">
                <a:tc>
                  <a:txBody>
                    <a:bodyPr wrap="square"/>
                    <a:lstStyle/>
                    <a:p>
                      <a:pPr algn="l"/>
                      <a:r>
                        <a:rPr sz="1800" b="1" i="0" lang="es-ES">
                          <a:solidFill>
                            <a:srgbClr val="1F2937"/>
                          </a:solidFill>
                          <a:latin typeface="Calibri"/>
                        </a:rPr>
                        <a:t>Q9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16</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23,949</a:t>
                      </a:r>
                    </a:p>
                  </a:txBody>
                  <a:tcPr marL="73152" marR="73152" marT="27432" marB="27432" anchor="ctr">
                    <a:solidFill>
                      <a:srgbClr val="F3F4F6"/>
                    </a:solidFill>
                  </a:tcPr>
                </a:tc>
                <a:tc>
                  <a:txBody>
                    <a:bodyPr wrap="square"/>
                    <a:lstStyle/>
                    <a:p>
                      <a:pPr algn="ctr"/>
                      <a:r>
                        <a:rPr sz="1800" b="0" i="0" lang="es-ES">
                          <a:solidFill>
                            <a:srgbClr val="1F2937"/>
                          </a:solidFill>
                          <a:latin typeface="Calibri"/>
                        </a:rPr>
                        <a:t>−0,044</a:t>
                      </a:r>
                    </a:p>
                  </a:txBody>
                  <a:tcPr marL="73152" marR="73152" marT="27432" marB="27432" anchor="ctr">
                    <a:solidFill>
                      <a:srgbClr val="F3F4F6"/>
                    </a:solidFill>
                  </a:tcPr>
                </a:tc>
              </a:tr>
              <a:tr h="482346">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8450</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23,961</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+0,003</a:t>
                      </a:r>
                    </a:p>
                  </a:txBody>
                  <a:tcPr marL="73152" marR="73152" marT="27432" marB="27432" anchor="ctr">
                    <a:solidFill>
                      <a:srgbClr val="FFFFFF"/>
                    </a:solidFill>
                  </a:tcPr>
                </a:tc>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Trapecio empotrado con corte unitario en el extremo; E = 1, ν = 1/3, tensión plana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tabla de Cook</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05</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Análisis de resultados</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Qué aprende el alumno: Q4 frente a Q9, escalabilidad y alcance de la evidencia</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Mismos GDL: Q9 trece veces más preciso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5  ·  Análisis de resultados</a:t>
            </a:r>
          </a:p>
        </p:txBody>
      </p:sp>
      <p:sp>
        <p:nvSpPr>
          <p:cNvPr id="5" name="TextBox 4"/>
          <p:cNvSpPr txBox="1"/>
          <p:nvPr/>
        </p:nvSpPr>
        <p:spPr>
          <a:xfrm>
            <a:off x="594360" y="1527048"/>
            <a:ext cx="5257800" cy="376732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Con 2178 GDL:</a:t>
            </a:r>
            <a:r>
              <a:rPr sz="2200" b="0" i="0" lang="es-ES">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Q4:</a:t>
            </a:r>
            <a:r>
              <a:rPr sz="2200" b="0" i="0" lang="es-ES">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Q9:</a:t>
            </a:r>
            <a:r>
              <a:rPr sz="2200" b="0" i="0" lang="es-ES">
                <a:solidFill>
                  <a:srgbClr val="1F2937"/>
                </a:solidFill>
                <a:latin typeface="Calibri"/>
              </a:rPr>
              <a:t> con 578 GDL ya está a −0,144 %</a:t>
            </a:r>
          </a:p>
        </p:txBody>
      </p:sp>
      <p:pic>
        <p:nvPicPr>
          <p:cNvPr id="6" name="Picture 5" descr="cook_convergence.png"/>
          <p:cNvPicPr>
            <a:picLocks noChangeAspect="1"/>
          </p:cNvPicPr>
          <p:nvPr/>
        </p:nvPicPr>
        <p:blipFill>
          <a:blip r:embed="rId2"/>
          <a:stretch>
            <a:fillRect/>
          </a:stretch>
        </p:blipFill>
        <p:spPr>
          <a:xfrm>
            <a:off x="6613398" y="1481328"/>
            <a:ext cx="4634179"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uy en (48, 52) frente al número de GDL; referencia 23,96</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Responde PI-3: el alumno reproduce el bloqueo cargando el ejemplo de Cook en Q4 y en Q9</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y §3.7, síntesis Q4 frente a Q9</a:t>
            </a:r>
          </a:p>
        </p:txBody>
      </p:sp>
      <p:sp>
        <p:nvSpPr>
          <p:cNvPr id="14" name="TextBox 13"/>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33 282 GDL en menos de un segundo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5  ·  Análisis de resultados</a:t>
            </a:r>
          </a:p>
        </p:txBody>
      </p:sp>
      <p:graphicFrame>
        <p:nvGraphicFramePr>
          <p:cNvPr id="5" name="Table 4"/>
          <p:cNvGraphicFramePr>
            <a:graphicFrameLocks noGrp="1"/>
          </p:cNvGraphicFramePr>
          <p:nvPr/>
        </p:nvGraphicFramePr>
        <p:xfrm>
          <a:off x="548640" y="1709928"/>
          <a:ext cx="11094412" cy="3401568"/>
        </p:xfrm>
        <a:graphic>
          <a:graphicData uri="http://schemas.openxmlformats.org/drawingml/2006/table">
            <a:tbl>
              <a:tblPr firstRow="0" bandRow="0">
                <a:tableStyleId>{5C22544A-7EE6-4342-B048-85BDC9FD1C3A}</a:tableStyleId>
              </a:tblPr>
              <a:tblGrid>
                <a:gridCol w="995864"/>
                <a:gridCol w="2834680"/>
                <a:gridCol w="2480345"/>
                <a:gridCol w="2126010"/>
                <a:gridCol w="2657513"/>
              </a:tblGrid>
              <a:tr h="566928">
                <a:tc>
                  <a:txBody>
                    <a:bodyPr wrap="square"/>
                    <a:lstStyle/>
                    <a:p>
                      <a:pPr algn="l"/>
                      <a:r>
                        <a:rPr sz="20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ensamblaje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solución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densa (MB)</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dispersa (MB)</a:t>
                      </a:r>
                    </a:p>
                  </a:txBody>
                  <a:tcPr marL="73152" marR="73152" marT="27432" marB="27432" anchor="ctr">
                    <a:solidFill>
                      <a:srgbClr val="1B2A4A"/>
                    </a:solidFill>
                  </a:tcPr>
                </a:tc>
              </a:tr>
              <a:tr h="566928">
                <a:tc>
                  <a:txBody>
                    <a:bodyPr wrap="square"/>
                    <a:lstStyle/>
                    <a:p>
                      <a:pPr algn="l"/>
                      <a:r>
                        <a:rPr sz="2000" b="1" i="0" lang="es-ES">
                          <a:solidFill>
                            <a:srgbClr val="1F2937"/>
                          </a:solidFill>
                          <a:latin typeface="Calibri"/>
                        </a:rPr>
                        <a:t>578</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0,004</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0,21</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2178</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0,013</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0,026</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38</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0,81</a:t>
                      </a:r>
                    </a:p>
                  </a:txBody>
                  <a:tcPr marL="73152" marR="73152" marT="27432" marB="27432" anchor="ctr">
                    <a:solidFill>
                      <a:srgbClr val="F3F4F6"/>
                    </a:solidFill>
                  </a:tcPr>
                </a:tc>
              </a:tr>
              <a:tr h="566928">
                <a:tc>
                  <a:txBody>
                    <a:bodyPr wrap="square"/>
                    <a:lstStyle/>
                    <a:p>
                      <a:pPr algn="l"/>
                      <a:r>
                        <a:rPr sz="2000" b="1" i="0" lang="es-ES">
                          <a:solidFill>
                            <a:srgbClr val="1F2937"/>
                          </a:solidFill>
                          <a:latin typeface="Calibri"/>
                        </a:rPr>
                        <a:t>8450</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0,049</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0,127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571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3,20</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18818</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0,111</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0,329</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2833</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7,19</a:t>
                      </a:r>
                    </a:p>
                  </a:txBody>
                  <a:tcPr marL="73152" marR="73152" marT="27432" marB="27432" anchor="ctr">
                    <a:solidFill>
                      <a:srgbClr val="F3F4F6"/>
                    </a:solidFill>
                  </a:tcPr>
                </a:tc>
              </a:tr>
              <a:tr h="566928">
                <a:tc>
                  <a:txBody>
                    <a:bodyPr wrap="square"/>
                    <a:lstStyle/>
                    <a:p>
                      <a:pPr algn="l"/>
                      <a:r>
                        <a:rPr sz="2000" b="1" i="0" lang="es-ES">
                          <a:solidFill>
                            <a:srgbClr val="1F2937"/>
                          </a:solidFill>
                          <a:latin typeface="Calibri"/>
                        </a:rPr>
                        <a:t>33282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0,191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0,721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8862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12,77</a:t>
                      </a:r>
                    </a:p>
                  </a:txBody>
                  <a:tcPr marL="73152" marR="73152" marT="27432" marB="27432" anchor="ctr">
                    <a:solidFill>
                      <a:srgbClr val="FFFFFF"/>
                    </a:solidFill>
                  </a:tcPr>
                </a:tc>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Equipo de 2012, NumPy puro; mínimo grado sobre Aᵀ+A gana 1,7×, 2,0× y 2,9× frente a COLAMD</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§3.7, tabla de tiempos, interpretación y limitaciones observadas</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06</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383280" y="1417320"/>
            <a:ext cx="822960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Conclusiones y recomendaciones</a:t>
            </a:r>
          </a:p>
        </p:txBody>
      </p:sp>
      <p:sp>
        <p:nvSpPr>
          <p:cNvPr id="5" name="TextBox 4"/>
          <p:cNvSpPr txBox="1"/>
          <p:nvPr/>
        </p:nvSpPr>
        <p:spPr>
          <a:xfrm>
            <a:off x="3383280" y="2606040"/>
            <a:ext cx="8229600" cy="128016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Qué queda: cumplimiento de los objetivos, hipótesis, limitaciones y líneas de continuación</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6. Conclusiones y recomendaciones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Seis objetivos, seis conclusiones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6  ·  Conclusiones y recomendaciones</a:t>
            </a:r>
          </a:p>
        </p:txBody>
      </p:sp>
      <p:graphicFrame>
        <p:nvGraphicFramePr>
          <p:cNvPr id="5" name="Table 4"/>
          <p:cNvGraphicFramePr>
            <a:graphicFrameLocks noGrp="1"/>
          </p:cNvGraphicFramePr>
          <p:nvPr/>
        </p:nvGraphicFramePr>
        <p:xfrm>
          <a:off x="548640" y="1626325"/>
          <a:ext cx="11094413" cy="3879666"/>
        </p:xfrm>
        <a:graphic>
          <a:graphicData uri="http://schemas.openxmlformats.org/drawingml/2006/table">
            <a:tbl>
              <a:tblPr firstRow="0" bandRow="0">
                <a:tableStyleId>{5C22544A-7EE6-4342-B048-85BDC9FD1C3A}</a:tableStyleId>
              </a:tblPr>
              <a:tblGrid>
                <a:gridCol w="2307472"/>
                <a:gridCol w="1864524"/>
                <a:gridCol w="6922417"/>
              </a:tblGrid>
              <a:tr h="552123">
                <a:tc>
                  <a:txBody>
                    <a:bodyPr wrap="square"/>
                    <a:lstStyle/>
                    <a:p>
                      <a:pPr algn="l"/>
                      <a:r>
                        <a:rPr sz="20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Cumplimiento</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Evidencia</a:t>
                      </a:r>
                    </a:p>
                  </a:txBody>
                  <a:tcPr marL="73152" marR="73152" marT="27432" marB="27432" anchor="ctr">
                    <a:solidFill>
                      <a:srgbClr val="1B2A4A"/>
                    </a:solidFill>
                  </a:tcPr>
                </a:tc>
              </a:tr>
              <a:tr h="552123">
                <a:tc>
                  <a:txBody>
                    <a:bodyPr wrap="square"/>
                    <a:lstStyle/>
                    <a:p>
                      <a:pPr algn="l"/>
                      <a:r>
                        <a:rPr sz="2000" b="1" i="0" lang="es-ES">
                          <a:solidFill>
                            <a:srgbClr val="1F2937"/>
                          </a:solidFill>
                          <a:latin typeface="Calibri"/>
                        </a:rPr>
                        <a:t>OE1 Fundamentar</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Una sola formulación en teoría, código y memoria</a:t>
                      </a:r>
                    </a:p>
                  </a:txBody>
                  <a:tcPr marL="73152" marR="73152" marT="27432" marB="27432" anchor="ctr">
                    <a:solidFill>
                      <a:srgbClr val="FFFFFF"/>
                    </a:solidFill>
                  </a:tcPr>
                </a:tc>
              </a:tr>
              <a:tr h="552123">
                <a:tc>
                  <a:txBody>
                    <a:bodyPr wrap="square"/>
                    <a:lstStyle/>
                    <a:p>
                      <a:pPr algn="l"/>
                      <a:r>
                        <a:rPr sz="2000" b="1" i="0" lang="es-ES">
                          <a:solidFill>
                            <a:srgbClr val="1F2937"/>
                          </a:solidFill>
                          <a:latin typeface="Calibri"/>
                        </a:rPr>
                        <a:t>OE2 Motor</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MMS: Q4 O(h²)/O(h¹); Q9 O(h³)/O(h²)</a:t>
                      </a:r>
                    </a:p>
                  </a:txBody>
                  <a:tcPr marL="73152" marR="73152" marT="27432" marB="27432" anchor="ctr">
                    <a:solidFill>
                      <a:srgbClr val="F3F4F6"/>
                    </a:solidFill>
                  </a:tcPr>
                </a:tc>
              </a:tr>
              <a:tr h="552123">
                <a:tc>
                  <a:txBody>
                    <a:bodyPr wrap="square"/>
                    <a:lstStyle/>
                    <a:p>
                      <a:pPr algn="l"/>
                      <a:r>
                        <a:rPr sz="2000" b="1" i="0" lang="es-ES">
                          <a:solidFill>
                            <a:srgbClr val="1F2937"/>
                          </a:solidFill>
                          <a:latin typeface="Calibri"/>
                        </a:rPr>
                        <a:t>OE3 Interfaz</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Tres fases, lienzo único, deshacer, validador</a:t>
                      </a:r>
                    </a:p>
                  </a:txBody>
                  <a:tcPr marL="73152" marR="73152" marT="27432" marB="27432" anchor="ctr">
                    <a:solidFill>
                      <a:srgbClr val="FFFFFF"/>
                    </a:solidFill>
                  </a:tcPr>
                </a:tc>
              </a:tr>
              <a:tr h="552123">
                <a:tc>
                  <a:txBody>
                    <a:bodyPr wrap="square"/>
                    <a:lstStyle/>
                    <a:p>
                      <a:pPr algn="l"/>
                      <a:r>
                        <a:rPr sz="2000" b="1" i="0" lang="es-ES">
                          <a:solidFill>
                            <a:srgbClr val="1F2937"/>
                          </a:solidFill>
                          <a:latin typeface="Calibri"/>
                        </a:rPr>
                        <a:t>OE4 Módulos</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M0 a M7 sobre el elemento seleccionado</a:t>
                      </a:r>
                    </a:p>
                  </a:txBody>
                  <a:tcPr marL="73152" marR="73152" marT="27432" marB="27432" anchor="ctr">
                    <a:solidFill>
                      <a:srgbClr val="F3F4F6"/>
                    </a:solidFill>
                  </a:tcPr>
                </a:tc>
              </a:tr>
              <a:tr h="552123">
                <a:tc>
                  <a:txBody>
                    <a:bodyPr wrap="square"/>
                    <a:lstStyle/>
                    <a:p>
                      <a:pPr algn="l"/>
                      <a:r>
                        <a:rPr sz="2000" b="1" i="0" lang="es-ES">
                          <a:solidFill>
                            <a:srgbClr val="1F2937"/>
                          </a:solidFill>
                          <a:latin typeface="Calibri"/>
                        </a:rPr>
                        <a:t>OE5 V&amp;V</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0,04 % σₓ; 0,26 % flecha; Cook −0,044 % vs −0,594 %</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OE6 Memoria e I/O</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Cumplido</a:t>
                      </a:r>
                    </a:p>
                  </a:txBody>
                  <a:tcPr marL="73152" marR="73152" marT="27432" marB="27432" anchor="ctr">
                    <a:solidFill>
                      <a:srgbClr val="F3F4F6"/>
                    </a:solidFill>
                  </a:tcPr>
                </a:tc>
                <a:tc>
                  <a:txBody>
                    <a:bodyPr wrap="square"/>
                    <a:lstStyle/>
                    <a:p>
                      <a:pPr algn="ctr"/>
                      <a:r>
                        <a:rPr sz="2000" b="0" i="0" lang="es-ES">
                          <a:solidFill>
                            <a:srgbClr val="1F2937"/>
                          </a:solidFill>
                          <a:latin typeface="Calibri"/>
                        </a:rPr>
                        <a:t>PDF en dos estilos; DXF y CSV con ida y vuelta</a:t>
                      </a:r>
                    </a:p>
                  </a:txBody>
                  <a:tcPr marL="73152" marR="73152" marT="27432" marB="27432" anchor="ctr">
                    <a:solidFill>
                      <a:srgbClr val="F3F4F6"/>
                    </a:solidFill>
                  </a:tcPr>
                </a:tc>
              </a:tr>
            </a:tbl>
          </a:graphicData>
        </a:graphic>
      </p:graphicFrame>
      <p:sp>
        <p:nvSpPr>
          <p:cNvPr id="6" name="Rectangle 5"/>
          <p:cNvSpPr/>
          <p:nvPr/>
        </p:nvSpPr>
        <p:spPr>
          <a:xfrm>
            <a:off x="548640" y="5742432"/>
            <a:ext cx="11094415" cy="530352"/>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742432"/>
            <a:ext cx="82296"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742432"/>
            <a:ext cx="10774375" cy="530352"/>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Seis objetivos específicos cumplidos y, con ello, el objetivo general</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conclusiones específicas</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confirmada, preguntas respondidas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6  ·  Conclusiones y recomendaciones</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81328"/>
            <a:ext cx="5364327" cy="603504"/>
          </a:xfrm>
          <a:prstGeom prst="rect">
            <a:avLst/>
          </a:prstGeom>
          <a:noFill/>
        </p:spPr>
        <p:txBody>
          <a:bodyPr wrap="square" anchor="ctr" lIns="45720" tIns="27432" rIns="45720" bIns="27432">
            <a:noAutofit/>
          </a:bodyPr>
          <a:lstStyle/>
          <a:p>
            <a:pPr algn="ctr">
              <a:lnSpc>
                <a:spcPct val="105000"/>
              </a:lnSpc>
            </a:pPr>
            <a:r>
              <a:rPr sz="2000" b="1" i="0" lang="es-ES">
                <a:solidFill>
                  <a:srgbClr val="FFFFFF"/>
                </a:solidFill>
                <a:latin typeface="Calibri"/>
              </a:rPr>
              <a:t>Hipótesis: confirmada por diseño</a:t>
            </a:r>
          </a:p>
        </p:txBody>
      </p:sp>
      <p:sp>
        <p:nvSpPr>
          <p:cNvPr id="9" name="TextBox 8"/>
          <p:cNvSpPr txBox="1"/>
          <p:nvPr/>
        </p:nvSpPr>
        <p:spPr>
          <a:xfrm>
            <a:off x="777240"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Transparente:</a:t>
            </a:r>
            <a:r>
              <a:rPr sz="2200" b="0" i="0" lang="es-ES">
                <a:solidFill>
                  <a:srgbClr val="1F2937"/>
                </a:solidFill>
                <a:latin typeface="Calibri"/>
              </a:rPr>
              <a:t> cada matriz visible en M1 a M7 y en la memoria</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Interactiva:</a:t>
            </a:r>
            <a:r>
              <a:rPr sz="2200" b="0" i="0" lang="es-ES">
                <a:solidFill>
                  <a:srgbClr val="1F2937"/>
                </a:solidFill>
                <a:latin typeface="Calibri"/>
              </a:rPr>
              <a:t> sobre el elemento que el alumno selecciona</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Verificable:</a:t>
            </a:r>
            <a:r>
              <a:rPr sz="2200" b="0" i="0" lang="es-ES">
                <a:solidFill>
                  <a:srgbClr val="1F2937"/>
                </a:solidFill>
                <a:latin typeface="Calibri"/>
              </a:rPr>
              <a:t> MMS, Timoshenko, Cook y SAP2000</a:t>
            </a:r>
          </a:p>
          <a:p>
            <a:pPr marL="347472" indent="-347472">
              <a:lnSpc>
                <a:spcPct val="112000"/>
              </a:lnSpc>
              <a:spcAft>
                <a:spcPts val="900"/>
              </a:spcAft>
              <a:buClr>
                <a:srgbClr val="1B2A4A"/>
              </a:buClr>
              <a:buSzPct val="100000"/>
              <a:buFont typeface="Arial"/>
              <a:buChar char="•"/>
            </a:pPr>
            <a:r>
              <a:rPr sz="2200" b="1" i="0" lang="es-ES">
                <a:solidFill>
                  <a:srgbClr val="1B2A4A"/>
                </a:solidFill>
                <a:latin typeface="Calibri"/>
              </a:rPr>
              <a:t>Coherente:</a:t>
            </a:r>
            <a:r>
              <a:rPr sz="2200" b="0" i="0" lang="es-ES">
                <a:solidFill>
                  <a:srgbClr val="1F2937"/>
                </a:solidFill>
                <a:latin typeface="Calibri"/>
              </a:rPr>
              <a:t> pre-proceso, proceso y post-proceso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78727" y="1481328"/>
            <a:ext cx="5364327" cy="603504"/>
          </a:xfrm>
          <a:prstGeom prst="rect">
            <a:avLst/>
          </a:prstGeom>
          <a:noFill/>
        </p:spPr>
        <p:txBody>
          <a:bodyPr wrap="square" anchor="ctr" lIns="45720" tIns="27432" rIns="45720" bIns="27432">
            <a:noAutofit/>
          </a:bodyPr>
          <a:lstStyle/>
          <a:p>
            <a:pPr algn="ctr">
              <a:lnSpc>
                <a:spcPct val="105000"/>
              </a:lnSpc>
            </a:pPr>
            <a:r>
              <a:rPr sz="2400" b="1" i="0" lang="es-ES">
                <a:solidFill>
                  <a:srgbClr val="FFFFFF"/>
                </a:solidFill>
                <a:latin typeface="Calibri"/>
              </a:rPr>
              <a:t>Preguntas de investigación</a:t>
            </a:r>
          </a:p>
        </p:txBody>
      </p:sp>
      <p:sp>
        <p:nvSpPr>
          <p:cNvPr id="14" name="TextBox 13"/>
          <p:cNvSpPr txBox="1"/>
          <p:nvPr/>
        </p:nvSpPr>
        <p:spPr>
          <a:xfrm>
            <a:off x="6507327" y="2194560"/>
            <a:ext cx="4907127" cy="3035808"/>
          </a:xfrm>
          <a:prstGeom prst="rect">
            <a:avLst/>
          </a:prstGeom>
          <a:noFill/>
        </p:spPr>
        <p:txBody>
          <a:bodyPr wrap="square" anchor="ctr"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PI-1 sí:</a:t>
            </a:r>
            <a:r>
              <a:rPr sz="2200" b="0" i="0" lang="es-ES">
                <a:solidFill>
                  <a:srgbClr val="1F2937"/>
                </a:solidFill>
                <a:latin typeface="Calibri"/>
              </a:rPr>
              <a:t> 0,04 % σₓ, 0,26 % flecha, hasta 0,56 % vs SAP2000</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PI-2 sí, por diseño:</a:t>
            </a:r>
            <a:r>
              <a:rPr sz="2200" b="0" i="0" lang="es-ES">
                <a:solidFill>
                  <a:srgbClr val="1F2937"/>
                </a:solidFill>
                <a:latin typeface="Calibri"/>
              </a:rPr>
              <a:t> lienzo único y módulos M0 a M7</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PI-3 sí:</a:t>
            </a:r>
            <a:r>
              <a:rPr sz="2200" b="0" i="0" lang="es-ES">
                <a:solidFill>
                  <a:srgbClr val="1F2937"/>
                </a:solidFill>
                <a:latin typeface="Calibri"/>
              </a:rPr>
              <a:t> Cook, Q4 −0,594 % frente a Q9 −0,044 %</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Problema resuelto: el canal es observable (módulos y memoria) y contrastable (V&amp;V con criterios a priori)</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§3.8, validación de la hipótesis</a:t>
            </a:r>
          </a:p>
        </p:txBody>
      </p:sp>
      <p:sp>
        <p:nvSpPr>
          <p:cNvPr id="21" name="TextBox 20"/>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Limitaciones asumidas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6  ·  Conclusiones y recomendaciones</a:t>
            </a:r>
          </a:p>
        </p:txBody>
      </p:sp>
      <p:sp>
        <p:nvSpPr>
          <p:cNvPr id="5" name="TextBox 4"/>
          <p:cNvSpPr txBox="1"/>
          <p:nvPr/>
        </p:nvSpPr>
        <p:spPr>
          <a:xfrm>
            <a:off x="640080" y="1572768"/>
            <a:ext cx="10911535" cy="3767328"/>
          </a:xfrm>
          <a:prstGeom prst="rect">
            <a:avLst/>
          </a:prstGeom>
          <a:noFill/>
        </p:spPr>
        <p:txBody>
          <a:bodyPr wrap="square" anchor="ctr" lIns="45720" rIns="45720" tIns="27432" bIns="27432">
            <a:noAutofit/>
          </a:bodyPr>
          <a:lstStyle/>
          <a:p>
            <a:pPr marL="347472" indent="-347472">
              <a:lnSpc>
                <a:spcPct val="112000"/>
              </a:lnSpc>
              <a:spcAft>
                <a:spcPts val="1000"/>
              </a:spcAft>
              <a:buClr>
                <a:srgbClr val="F28C28"/>
              </a:buClr>
              <a:buSzPct val="100000"/>
              <a:buFont typeface="Arial"/>
              <a:buChar char="•"/>
            </a:pPr>
            <a:r>
              <a:rPr sz="2400" b="0" i="0" lang="es-ES">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sz="2400" b="0" i="0" lang="es-ES">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sz="2400" b="1" i="0" lang="es-ES">
                <a:solidFill>
                  <a:srgbClr val="1B2A4A"/>
                </a:solidFill>
                <a:latin typeface="Calibri"/>
              </a:rPr>
              <a:t>Solucionador directo:</a:t>
            </a:r>
            <a:r>
              <a:rPr sz="2400" b="0" i="0" lang="es-ES">
                <a:solidFill>
                  <a:srgbClr val="1F2937"/>
                </a:solidFill>
                <a:latin typeface="Calibri"/>
              </a:rPr>
              <a:t> eficiente hasta decenas de miles de GDL, no en mallas masivas</a:t>
            </a:r>
          </a:p>
          <a:p>
            <a:pPr marL="347472" indent="-347472">
              <a:lnSpc>
                <a:spcPct val="112000"/>
              </a:lnSpc>
              <a:spcAft>
                <a:spcPts val="1000"/>
              </a:spcAft>
              <a:buClr>
                <a:srgbClr val="F28C28"/>
              </a:buClr>
              <a:buSzPct val="100000"/>
              <a:buFont typeface="Arial"/>
              <a:buChar char="•"/>
            </a:pPr>
            <a:r>
              <a:rPr sz="2400" b="0" i="0" lang="es-ES">
                <a:solidFill>
                  <a:srgbClr val="1F2937"/>
                </a:solidFill>
                <a:latin typeface="Calibri"/>
              </a:rPr>
              <a:t>Bloqueo por cortante del Q4 ilustrado, no mitigado</a:t>
            </a:r>
          </a:p>
          <a:p>
            <a:pPr marL="347472" indent="-347472">
              <a:lnSpc>
                <a:spcPct val="112000"/>
              </a:lnSpc>
              <a:spcAft>
                <a:spcPts val="1000"/>
              </a:spcAft>
              <a:buClr>
                <a:srgbClr val="F28C28"/>
              </a:buClr>
              <a:buSzPct val="100000"/>
              <a:buFont typeface="Arial"/>
              <a:buChar char="•"/>
            </a:pPr>
            <a:r>
              <a:rPr sz="2400" b="0" i="0" lang="es-ES">
                <a:solidFill>
                  <a:srgbClr val="1F2937"/>
                </a:solidFill>
                <a:latin typeface="Calibri"/>
              </a:rPr>
              <a:t>Sin validación empírica con estudiantes: utilidad didáctica sostenida por diseño</a:t>
            </a:r>
          </a:p>
        </p:txBody>
      </p:sp>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Las validaciones son analíticas y código a código, no frente a mediciones físicas</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limitaciones</a:t>
            </a:r>
          </a:p>
        </p:txBody>
      </p:sp>
      <p:sp>
        <p:nvSpPr>
          <p:cNvPr id="12" name="TextBox 11"/>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168335" cy="868680"/>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Cinco líneas de continuación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lnSpc>
                <a:spcPct val="100000"/>
              </a:lnSpc>
            </a:pPr>
            <a:r>
              <a:rPr sz="1300" b="1" i="0" lang="es-ES">
                <a:solidFill>
                  <a:srgbClr val="1B2A4A"/>
                </a:solidFill>
                <a:latin typeface="Calibri"/>
              </a:rPr>
              <a:t>6  ·  Conclusiones y recomendaciones</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Solucionador</a:t>
            </a:r>
          </a:p>
        </p:txBody>
      </p:sp>
      <p:sp>
        <p:nvSpPr>
          <p:cNvPr id="7" name="TextBox 6"/>
          <p:cNvSpPr txBox="1"/>
          <p:nvPr/>
        </p:nvSpPr>
        <p:spPr>
          <a:xfrm>
            <a:off x="548640"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Cholesky; iterativo precondicionado</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888223" y="2793492"/>
            <a:ext cx="1736079" cy="731520"/>
          </a:xfrm>
          <a:prstGeom prst="rect">
            <a:avLst/>
          </a:prstGeom>
          <a:noFill/>
        </p:spPr>
        <p:txBody>
          <a:bodyPr wrap="square" anchor="t" lIns="73152" tIns="18288" rIns="73152" bIns="18288">
            <a:noAutofit/>
          </a:bodyPr>
          <a:lstStyle/>
          <a:p>
            <a:pPr algn="ctr">
              <a:lnSpc>
                <a:spcPct val="100000"/>
              </a:lnSpc>
            </a:pPr>
            <a:r>
              <a:rPr sz="2000" b="1" i="0" lang="es-ES">
                <a:solidFill>
                  <a:srgbClr val="FFFFFF"/>
                </a:solidFill>
                <a:latin typeface="Calibri"/>
              </a:rPr>
              <a:t>Bloqueo</a:t>
            </a:r>
          </a:p>
        </p:txBody>
      </p:sp>
      <p:sp>
        <p:nvSpPr>
          <p:cNvPr id="11" name="TextBox 10"/>
          <p:cNvSpPr txBox="1"/>
          <p:nvPr/>
        </p:nvSpPr>
        <p:spPr>
          <a:xfrm>
            <a:off x="2888223"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SRI o B-bar: bloqueado vs corregido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27807"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Elementos y 3D</a:t>
            </a:r>
          </a:p>
        </p:txBody>
      </p:sp>
      <p:sp>
        <p:nvSpPr>
          <p:cNvPr id="15" name="TextBox 14"/>
          <p:cNvSpPr txBox="1"/>
          <p:nvPr/>
        </p:nvSpPr>
        <p:spPr>
          <a:xfrm>
            <a:off x="5227807"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triángulos; H8, H20, tetraedros</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67391"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Casos civiles</a:t>
            </a:r>
          </a:p>
        </p:txBody>
      </p:sp>
      <p:sp>
        <p:nvSpPr>
          <p:cNvPr id="19" name="TextBox 18"/>
          <p:cNvSpPr txBox="1"/>
          <p:nvPr/>
        </p:nvSpPr>
        <p:spPr>
          <a:xfrm>
            <a:off x="7567391" y="3552444"/>
            <a:ext cx="1736079" cy="502920"/>
          </a:xfrm>
          <a:prstGeom prst="rect">
            <a:avLst/>
          </a:prstGeom>
          <a:noFill/>
        </p:spPr>
        <p:txBody>
          <a:bodyPr wrap="square" anchor="b" lIns="73152" tIns="18288" rIns="73152" bIns="54864">
            <a:noAutofit/>
          </a:bodyPr>
          <a:lstStyle/>
          <a:p>
            <a:pPr algn="ctr">
              <a:lnSpc>
                <a:spcPct val="100000"/>
              </a:lnSpc>
            </a:pPr>
            <a:r>
              <a:rPr sz="1100" b="0" i="0" lang="es-ES">
                <a:solidFill>
                  <a:srgbClr val="C7D2E8"/>
                </a:solidFill>
                <a:latin typeface="Calibri"/>
              </a:rPr>
              <a:t>presa, muro, túnel en deformación plana</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906975" y="2793492"/>
            <a:ext cx="1736079" cy="731520"/>
          </a:xfrm>
          <a:prstGeom prst="rect">
            <a:avLst/>
          </a:prstGeom>
          <a:noFill/>
        </p:spPr>
        <p:txBody>
          <a:bodyPr wrap="square" anchor="t" lIns="73152" tIns="18288" rIns="73152" bIns="18288">
            <a:noAutofit/>
          </a:bodyPr>
          <a:lstStyle/>
          <a:p>
            <a:pPr algn="ctr">
              <a:lnSpc>
                <a:spcPct val="100000"/>
              </a:lnSpc>
            </a:pPr>
            <a:r>
              <a:rPr sz="1700" b="1" i="0" lang="es-ES">
                <a:solidFill>
                  <a:srgbClr val="FFFFFF"/>
                </a:solidFill>
                <a:latin typeface="Calibri"/>
              </a:rPr>
              <a:t>Estudio con estudiantes</a:t>
            </a:r>
          </a:p>
        </p:txBody>
      </p:sp>
      <p:sp>
        <p:nvSpPr>
          <p:cNvPr id="23" name="TextBox 22"/>
          <p:cNvSpPr txBox="1"/>
          <p:nvPr/>
        </p:nvSpPr>
        <p:spPr>
          <a:xfrm>
            <a:off x="9906975" y="3552444"/>
            <a:ext cx="1736079" cy="502920"/>
          </a:xfrm>
          <a:prstGeom prst="rect">
            <a:avLst/>
          </a:prstGeom>
          <a:noFill/>
        </p:spPr>
        <p:txBody>
          <a:bodyPr wrap="square" anchor="b" lIns="73152" tIns="18288" rIns="73152" bIns="54864">
            <a:noAutofit/>
          </a:bodyPr>
          <a:lstStyle/>
          <a:p>
            <a:pPr algn="ctr">
              <a:lnSpc>
                <a:spcPct val="100000"/>
              </a:lnSpc>
            </a:pPr>
            <a:r>
              <a:rPr sz="1300" b="0" i="0" lang="es-ES">
                <a:solidFill>
                  <a:srgbClr val="C7D2E8"/>
                </a:solidFill>
                <a:latin typeface="Calibri"/>
              </a:rPr>
              <a:t>antes-después y percepción</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431536"/>
            <a:ext cx="10774375"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 línea más importante: sustento empírico a la utilidad didáctica que hoy se justifica por diseño</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6419088"/>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recomendaciones y trabajo futuro</a:t>
            </a:r>
          </a:p>
        </p:txBody>
      </p:sp>
      <p:sp>
        <p:nvSpPr>
          <p:cNvPr id="30" name="TextBox 29"/>
          <p:cNvSpPr txBox="1"/>
          <p:nvPr/>
        </p:nvSpPr>
        <p:spPr>
          <a:xfrm>
            <a:off x="10545775" y="6419088"/>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B33"/>
        </a:solidFill>
        <a:effectLst/>
      </p:bgPr>
    </p:bg>
    <p:spTree>
      <p:nvGrpSpPr>
        <p:cNvPr id="1" name=""/>
        <p:cNvGrpSpPr/>
        <p:nvPr/>
      </p:nvGrpSpPr>
      <p:grpSpPr/>
      <p:sp>
        <p:nvSpPr>
          <p:cNvPr id="2" name="TextBox 1"/>
          <p:cNvSpPr txBox="1"/>
          <p:nvPr/>
        </p:nvSpPr>
        <p:spPr>
          <a:xfrm>
            <a:off x="731520" y="1371600"/>
            <a:ext cx="7315200" cy="1097280"/>
          </a:xfrm>
          <a:prstGeom prst="rect">
            <a:avLst/>
          </a:prstGeom>
          <a:noFill/>
        </p:spPr>
        <p:txBody>
          <a:bodyPr wrap="square" anchor="ctr" lIns="45720" tIns="27432" rIns="45720" bIns="27432">
            <a:noAutofit/>
          </a:bodyPr>
          <a:lstStyle/>
          <a:p>
            <a:pPr algn="l">
              <a:lnSpc>
                <a:spcPct val="105000"/>
              </a:lnSpc>
            </a:pPr>
            <a:r>
              <a:rPr sz="5400" b="1" i="0" lang="es-ES">
                <a:solidFill>
                  <a:srgbClr val="FFFFFF"/>
                </a:solidFill>
                <a:latin typeface="Calibri"/>
              </a:rPr>
              <a:t>Gracias</a:t>
            </a:r>
          </a:p>
        </p:txBody>
      </p:sp>
      <p:sp>
        <p:nvSpPr>
          <p:cNvPr id="3" name="Rectangle 2"/>
          <p:cNvSpPr/>
          <p:nvPr/>
        </p:nvSpPr>
        <p:spPr>
          <a:xfrm>
            <a:off x="777240" y="251460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2743200"/>
            <a:ext cx="7498079" cy="1097280"/>
          </a:xfrm>
          <a:prstGeom prst="rect">
            <a:avLst/>
          </a:prstGeom>
          <a:noFill/>
        </p:spPr>
        <p:txBody>
          <a:bodyPr wrap="square" anchor="t" lIns="45720" tIns="27432" rIns="45720" bIns="27432">
            <a:noAutofit/>
          </a:bodyPr>
          <a:lstStyle/>
          <a:p>
            <a:pPr algn="l">
              <a:lnSpc>
                <a:spcPct val="115000"/>
              </a:lnSpc>
            </a:pPr>
            <a:r>
              <a:rPr sz="2200" b="0" i="0" lang="es-ES">
                <a:solidFill>
                  <a:srgbClr val="C7D2E8"/>
                </a:solidFill>
                <a:latin typeface="Calibri"/>
              </a:rPr>
              <a:t>La caja negra se puede abrir, y abierta calcula igual de bien. EduFEM es software libre, en español, y está disponible para cualquier estudiante sin licencias.</a:t>
            </a:r>
          </a:p>
        </p:txBody>
      </p:sp>
      <p:sp>
        <p:nvSpPr>
          <p:cNvPr id="5" name="TextBox 4"/>
          <p:cNvSpPr txBox="1"/>
          <p:nvPr/>
        </p:nvSpPr>
        <p:spPr>
          <a:xfrm>
            <a:off x="731520" y="5257800"/>
            <a:ext cx="7498079" cy="457200"/>
          </a:xfrm>
          <a:prstGeom prst="rect">
            <a:avLst/>
          </a:prstGeom>
          <a:noFill/>
        </p:spPr>
        <p:txBody>
          <a:bodyPr wrap="square" anchor="t" lIns="45720" tIns="27432" rIns="45720" bIns="27432">
            <a:noAutofit/>
          </a:bodyPr>
          <a:lstStyle/>
          <a:p>
            <a:pPr algn="l">
              <a:lnSpc>
                <a:spcPct val="105000"/>
              </a:lnSpc>
            </a:pPr>
            <a:r>
              <a:rPr sz="2400" b="1" i="0" lang="es-ES">
                <a:solidFill>
                  <a:srgbClr val="FFFFFF"/>
                </a:solidFill>
                <a:latin typeface="Calibri"/>
              </a:rPr>
              <a:t>Hedy Yhassmany Oyola Sucullani</a:t>
            </a:r>
          </a:p>
        </p:txBody>
      </p:sp>
      <p:sp>
        <p:nvSpPr>
          <p:cNvPr id="6" name="TextBox 5"/>
          <p:cNvSpPr txBox="1"/>
          <p:nvPr/>
        </p:nvSpPr>
        <p:spPr>
          <a:xfrm>
            <a:off x="731520" y="5715000"/>
            <a:ext cx="7498079" cy="411480"/>
          </a:xfrm>
          <a:prstGeom prst="rect">
            <a:avLst/>
          </a:prstGeom>
          <a:noFill/>
        </p:spPr>
        <p:txBody>
          <a:bodyPr wrap="square" anchor="t" lIns="45720" tIns="27432" rIns="45720" bIns="27432">
            <a:noAutofit/>
          </a:bodyPr>
          <a:lstStyle/>
          <a:p>
            <a:pPr algn="l">
              <a:lnSpc>
                <a:spcPct val="105000"/>
              </a:lnSpc>
            </a:pPr>
            <a:r>
              <a:rPr sz="2000" b="0" i="0" lang="es-ES">
                <a:solidFill>
                  <a:srgbClr val="F28C28"/>
                </a:solidFill>
                <a:latin typeface="Calibri"/>
              </a:rPr>
              <a:t>github.com/Sucullani/SoftwareED</a:t>
            </a:r>
          </a:p>
        </p:txBody>
      </p:sp>
      <p:pic>
        <p:nvPicPr>
          <p:cNvPr id="7" name="Picture 6" descr="logo_universidad.png"/>
          <p:cNvPicPr>
            <a:picLocks noChangeAspect="1"/>
          </p:cNvPicPr>
          <p:nvPr/>
        </p:nvPicPr>
        <p:blipFill>
          <a:blip r:embed="rId2"/>
          <a:stretch>
            <a:fillRect/>
          </a:stretch>
        </p:blipFill>
        <p:spPr>
          <a:xfrm>
            <a:off x="8929047" y="1280160"/>
            <a:ext cx="2075824" cy="2377440"/>
          </a:xfrm>
          <a:prstGeom prst="rect">
            <a:avLst/>
          </a:prstGeom>
        </p:spPr>
      </p:pic>
      <p:pic>
        <p:nvPicPr>
          <p:cNvPr id="8" name="Picture 7" descr="fig_logo_edufem.png"/>
          <p:cNvPicPr>
            <a:picLocks noChangeAspect="1"/>
          </p:cNvPicPr>
          <p:nvPr/>
        </p:nvPicPr>
        <p:blipFill>
          <a:blip r:embed="rId3"/>
          <a:stretch>
            <a:fillRect/>
          </a:stretch>
        </p:blipFill>
        <p:spPr>
          <a:xfrm>
            <a:off x="8915400" y="3840480"/>
            <a:ext cx="2103120" cy="2103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