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señores miembros del tribunal. Mi nombre es Hedy Yhassmany Oyola Sucullani y presento la tesis «Desarrollo de software educativo de elementos finitos para el análisis estructural empleando el lenguaje de programación Python». Su producto es EduFEM: un software libre y en español que expone, etapa por etapa, el procedimiento de cálculo del método de los elementos finitos. Lo que ven a la derecha no es una ilustración: es la membrana de Cook resuelta por el motor de EduFEM.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Comienzo por la introducción: la situación problemática, el problema científico, el objeto y el campo, los objetivos, la hipótesis y el método.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software comercial de análisis recibe la geometría, el material, las cargas y los apoyos, y devuelve un resultado: un contorno de tensiones. Lo que ocurre en medio queda oculto.</a:t>
            </a:r>
          </a:p>
          <a:p/>
          <a:p>
            <a:r>
              <a:t>[Clic 1] Mirando el programa no es posible saber de dónde sale una tensión nodal, ni si las tensiones de los nodos cierran con las calculadas en los puntos de Gauss.</a:t>
            </a:r>
          </a:p>
          <a:p/>
          <a:p>
            <a:r>
              <a:t>[Clic 2] El antecedente educativo más directo de este trabajo, ED-Elas2D, ya lo describía en 1998: con los programas comerciales el estudiante queda limitado a introducir datos e interpretar resultados. Y un consenso de 67 expertos reclama egresados que sepan verificar y validar sus análisis, no solo ejecutarlos.</a:t>
            </a:r>
          </a:p>
          <a:p/>
          <a:p>
            <a:r>
              <a:t>[Clic 3] En la práctica profesional, un cálculo estructural se entrega con su memoria de cálculo para que otro pueda seguirlo y comprobarlo. Este trabajo abre la caja: nueve etapas del procedimiento, a la vista, sobre el modelo del usuario.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De esa situación nace el problema científico: ¿de qué manera el uso del software de análisis estructural como caja negra podrá incidir en la baja trazabilidad y verificabilidad del análisis por el método de los elementos finitos en elasticidad plana, en la Carrera de Ingeniería Civil de la Universidad Autónoma Tomás Frías, en la gestión 2026?</a:t>
            </a:r>
          </a:p>
          <a:p/>
          <a:p>
            <a:r>
              <a:t>[Clic 1] La causa es la forma en que el software expone el procedimiento de cálculo. El efecto es la trazabilidad y la verificabilidad del análisis.</a:t>
            </a:r>
          </a:p>
          <a:p/>
          <a:p>
            <a:r>
              <a:t>[Clic 2] Trazabilidad significa que cada resultado puede seguirse hacia atrás, etapa por etapa, hasta los datos del modelo. Verificabilidad significa que cada magnitud puede comprobarse contra un patrón independiente, dentro de una tolerancia fijada de antemano. Son propiedades del medio de cálculo: se observan en el software, no en personas.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objeto de estudio es el análisis de medios continuos en elasticidad lineal plana por el método de los elementos finitos: el procedimiento que va del mapeo isoparamétrico a la recuperación de tensiones. El campo de acción son los medios de cálculo con que ese análisis se enseña en la Carrera.</a:t>
            </a:r>
          </a:p>
          <a:p/>
          <a:p>
            <a:r>
              <a:t>[Clic 1] El problema se delimita en cuatro planos: disciplinar, la elasticidad plana con Q4 y Q9; institucional, la Carrera de Ingeniería Civil; espacial, el aula y la computadora personal, sin licencias; y temporal, la gestión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objetivo general es desarrollar EduFEM, un software educativo que expone el procedimiento de cálculo de la elasticidad plana con elementos Q4 y Q9, diseñado en Python y verificado y validado frente a soluciones analíticas, casos clásicos y un software comercial, para que el análisis resulte trazable y verificable paso a paso.</a:t>
            </a:r>
          </a:p>
          <a:p/>
          <a:p>
            <a:r>
              <a:t>[Clic 1] Este es el enunciado completo que figura en la tesis.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Cinco objetivos específicos lo concretan, en escalera. El primero: diagnosticar qué atributos de trazabilidad y verificabilidad no ofrecen los recursos disponibles, para fijar los requisitos.</a:t>
            </a:r>
          </a:p>
          <a:p/>
          <a:p>
            <a:r>
              <a:t>[Clic 1] El segundo: fundamentar el método en elasticidad plana y los principios que orientan la exposición del procedimiento.</a:t>
            </a:r>
          </a:p>
          <a:p/>
          <a:p>
            <a:r>
              <a:t>[Clic 2] El tercero: desarrollar el motor, la interfaz en tres fases sobre un solo lienzo, los módulos educativos y la memoria de cálculo.</a:t>
            </a:r>
          </a:p>
          <a:p/>
          <a:p>
            <a:r>
              <a:t>[Clic 3] El cuarto: verificar y validar el motor con soluciones manufacturadas, la viga de Timoshenko y la membrana de Cook.</a:t>
            </a:r>
          </a:p>
          <a:p/>
          <a:p>
            <a:r>
              <a:t>[Clic 4] Y el quinto: validar la propuesta, contrastando la cobertura y la verificación contra criterios fijados de antemano.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hipótesis sostiene que el desarrollo de EduFEM permitirá mejorar la forma en que el software expone el procedimiento, de caja negra a procedimiento a la vista, elevando la trazabilidad y la verificabilidad del análisis. EduFEM es la variable interviniente.</a:t>
            </a:r>
          </a:p>
          <a:p/>
          <a:p>
            <a:r>
              <a:t>[Clic 1] Se comprueba con dos cláusulas, una por dimensión, y de cada una se desprende una pregunta de investigación. La cláusula de trazabilidad pide cada etapa expuesta sobre el modelo del usuario. La de verificabilidad pide que el motor coincida con referencias externas dentro de tolerancias fijadas.</a:t>
            </a:r>
          </a:p>
          <a:p/>
          <a:p>
            <a:r>
              <a:t>[Clic 2] La hipótesis es refutable: la refutaría una etapa sin exposición, un contenido sin instrumento, una tasa fuera de margen o un error por encima del umbral.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Por su finalidad, el trabajo es propositivo; por su naturaleza, una investigación tecnológica; su enfoque es cuantitativo y su nivel, descriptivo y comparativo.</a:t>
            </a:r>
          </a:p>
          <a:p/>
          <a:p>
            <a:r>
              <a:t>[Clic 1] El método es el de la ciencia del diseño, con sus seis actividades: identificar el problema, definir los objetivos de la solución, diseñar y desarrollar, demostrar, evaluar y comunicar. Cada una tiene su lugar en la tesis y su objetivo específico.</a:t>
            </a:r>
          </a:p>
          <a:p/>
          <a:p>
            <a:r>
              <a:t>[Clic 2] En la ciencia del diseño, el conocimiento se obtiene construyendo el producto y evaluándolo con rigor. Aquí la evaluación es una validación de laboratorio: escenarios controlados, sin sujetos.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a la base teórica: el estado del arte, los principios de la exposición y los fundamentos que el motor implementa.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Comparé los recursos para la enseñanza del método en ocho atributos: idioma, licencia, continuo plano, cálculo paso a paso sobre el modelo, procedimiento completo, memoria de cálculo, fenómenos numéricos y verificación publicada. ED-Elas2D cubre el continuo y el procedimiento; VisualFEA, los fenómenos numéricos; las bibliotecas, la licencia libre. El software comercial es una caja negra.</a:t>
            </a:r>
          </a:p>
          <a:p/>
          <a:p>
            <a:r>
              <a:t>[Clic 1] Ninguno de los recursos revisados reúne los ocho. Esa es la brecha que EduFEM se propone cubrir.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diagnóstico fija cinco requisitos: el procedimiento completo a la vista, una memoria reproducible a mano, una exactitud verificada y publicada, la cobertura del contenido que exigen los expertos, y un software libre y en español.</a:t>
            </a:r>
          </a:p>
          <a:p/>
          <a:p>
            <a:r>
              <a:t>[Clic 1] Es la misma lista que el capítulo de resultados contrasta, uno por uno.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Cuatro principios, agrupados por el autor y apoyados cada uno en la literatura sobre la enseñanza del método, orientan cómo se expone el cálculo: la visibilidad del procedimiento, la interactividad con vínculo al modelo, la construcción paso a paso y la conexión entre el fundamento y la operación.</a:t>
            </a:r>
          </a:p>
          <a:p/>
          <a:p>
            <a:r>
              <a:t>[Clic 1] Cada uno se concreta en una decisión de diseño: módulos sobre el elemento seleccionado, capas sobre la malla real, un módulo por etapa y la verificación como parte de lo expuesto.</a:t>
            </a:r>
          </a:p>
          <a:p/>
          <a:p>
            <a:r>
              <a:t>[Clic 2] Y cada decisión deja una evidencia comprobable en el software. Estos principios describen propiedades del software, no efectos sobre quien lo usa.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punto de partida es familiar para un ingeniero civil: en un pórtico, cada barra aporta una rigidez conocida en forma cerrada, y esas rigideces se ensamblan en una matriz global.</a:t>
            </a:r>
          </a:p>
          <a:p/>
          <a:p>
            <a:r>
              <a:t>[Clic 1] El método de los elementos finitos hace lo mismo con un sólido continuo. La diferencia está en el origen de la rigidez: un trozo de chapa no tiene solución cerrada, y su rigidez se obtiene integrando sobre el área del elemento.</a:t>
            </a:r>
          </a:p>
          <a:p/>
          <a:p>
            <a:r>
              <a:t>[Clic 2] Desde el equilibrio, pasando por la forma débil de los trabajos virtuales, se llega al mismo sistema de siempre: K por u igual a 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elasticidad plana admite dos idealizaciones, que EduFEM muestra con esta animación. En tensión plana, para cuerpos delgados, la tensión normal al plano es nula.</a:t>
            </a:r>
          </a:p>
          <a:p/>
          <a:p>
            <a:r>
              <a:t>[Clic 1] En deformación plana, para cuerpos largos como presas, muros o túneles, lo nulo es la deformación longitudinal, y cambia la matriz constitutiva.</a:t>
            </a:r>
          </a:p>
          <a:p/>
          <a:p>
            <a:r>
              <a:t>[Clic 2] Cuando el coeficiente de Poisson se acerca a 0,5, el factor uno menos dos nu tiende a cero: es el bloqueo volumétrico, que el módulo M4 advierte.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procedimiento de cálculo tiene nueve etapas: el mapeo isoparamétrico, el Jacobiano, la matriz B, la matriz constitutiva, la rigidez por cuadratura de Gauss, las fuerzas nodales equivalentes, el ensamblaje, las restricciones con la solución, y la recuperación de tensiones.</a:t>
            </a:r>
          </a:p>
          <a:p/>
          <a:p>
            <a:r>
              <a:t>[Clic 1] Cada etapa tiene dónde exponerse: las siete primeras, en un módulo educativo propio; las dos últimas, en el post-proceso. Y las nueve, en la memoria de cálculo.</a:t>
            </a:r>
          </a:p>
          <a:p/>
          <a:p>
            <a:r>
              <a:t>[Clic 2] Recorro las nueve etapas con su ecuación y con la captura del módulo que la expone en EduFEM: del mapeo isoparamétrico, pasando por el Jacobiano, la matriz B, la constitutiva, la rigidez, las fuerzas equivalentes y el ensamblaje, hasta la solución y la recuperación de tensiones, que se leen en el post-proceso.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Los elementos isoparamétricos se definen sobre un cuadrado de referencia, en coordenadas naturales xi y eta. Las mismas funciones de forma describen la geometría y el desplazamiento, y llevan cada punto del cuadrado al elemento real: aquí, el elemento E3 del ejemplo canónico.</a:t>
            </a:r>
          </a:p>
          <a:p/>
          <a:p>
            <a:r>
              <a:t>[Clic 1] Cada función de forma vale uno en su propio nodo y cero en los demás. La superficie muestra una a una las cuatro funciones bilineales del Q4.</a:t>
            </a:r>
          </a:p>
          <a:p/>
          <a:p>
            <a:r>
              <a:t>[Clic 2] Y todas suman uno en cualquier punto: por construcción, el elemento reproduce sin error un movimiento de cuerpo rígido.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Jacobiano es el puente entre los dos espacios: registra cuánto se estira y se gira el elemento, y su determinante es el factor local de cambio de área.</a:t>
            </a:r>
          </a:p>
          <a:p/>
          <a:p>
            <a:r>
              <a:t>[Clic 1] Con los valores reales del motor, en el primer punto de Gauss del elemento E3, el determinante del Jacobiano vale 4,7604. Es la misma cifra que imprime la memoria de cálculo.</a:t>
            </a:r>
          </a:p>
          <a:p/>
          <a:p>
            <a:r>
              <a:t>[Clic 2] Con la inversa del Jacobiano se obtienen las derivadas físicas de las funciones de forma, y con ellas la matriz B, de tres por ocho, que convierte desplazamientos en deformaciones.</a:t>
            </a:r>
          </a:p>
          <a:p/>
          <a:p>
            <a:r>
              <a:t>[Clic 3] Si distorsiono el elemento, el determinante cae; cuando se vuelve negativo, el mapeo deja de ser válido y el motor rechaza el elemento antes de ensamblar.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rigidez del elemento es una integral cuyo integrando no es polinómico: no tiene primitiva practicable, y por eso se aproxima con la cuadratura de Gauss.</a:t>
            </a:r>
          </a:p>
          <a:p/>
          <a:p>
            <a:r>
              <a:t>[Sigue al entrar] La matriz de rigidez del elemento E3 se construye sumando cuatro aportes, uno por cada punto de Gauss, ponderados por el determinante del Jacobiano. La suma final es la misma matriz del Anexo G.</a:t>
            </a:r>
          </a:p>
          <a:p/>
          <a:p>
            <a:r>
              <a:t>[Clic 1] El orden de integración no es arbitrario. Con un solo punto de Gauss, la matriz queda con cinco modos de energía nula: tres de cuerpo rígido y dos modos espurios, de reloj de arena, que deforman el elemento sin costo alguno.</a:t>
            </a:r>
          </a:p>
          <a:p/>
          <a:p>
            <a:r>
              <a:t>[Clic 2] Con la integración completa, dos por dos para el Q4 y tres por tres para el Q9, solo quedan los tres modos de cuerpo rígido. Es la que emplea EduFEM.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Esta animación, que EduFEM muestra al elegir el tipo de elemento, contrasta los dos elementos en flexión pura. El Q4 bilineal mantiene sus bordes rectos, y para acomodar la flexión desarrolla deformaciones de corte espurias.</a:t>
            </a:r>
          </a:p>
          <a:p/>
          <a:p>
            <a:r>
              <a:t>[Clic 1] El resultado es una rigidez excesiva, una flecha subestimada y una convergencia lenta. El Q9 bicuadrático, en cambio, reproduce la curvatura.</a:t>
            </a:r>
          </a:p>
          <a:p/>
          <a:p>
            <a:r>
              <a:t>[Clic 2] EduFEM no corrige este bloqueo: lo deja a la vista, y la membrana de Cook lo cuantifica en los resultados.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Las tensiones se evalúan primero en los puntos de Gauss, multiplicando la matriz constitutiva por B y por los desplazamientos del elemento.</a:t>
            </a:r>
          </a:p>
          <a:p/>
          <a:p>
            <a:r>
              <a:t>[Clic 1] Luego se extrapolan a los nodos con una matriz E, inversa de la matriz de interpolación. Cada nodo recibe el peso 1,866 del punto de Gauss más próximo, 0,134 del opuesto y menos 0,5 de los otros dos.</a:t>
            </a:r>
          </a:p>
          <a:p/>
          <a:p>
            <a:r>
              <a:t>[Clic 2] Un nodo compartido recibe valores distintos desde cada elemento, y se promedian. Aquí, el nodo 5 recibe cuatro valores; su promedio es menos 65.</a:t>
            </a:r>
          </a:p>
          <a:p/>
          <a:p>
            <a:r>
              <a:t>[Clic 3] El salto entre los valores sin promediar indica el error de discretización: por eso el post-proceso muestra el campo crudo y el suavizado.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Verificar y validar son dos preguntas distintas. La verificación pregunta si las ecuaciones se resuelven bien. La validación, en esta tesis, contrasta con referencias externas de exactitud conocida: una solución analítica y un modelo comercial, no ensayos físicos.</a:t>
            </a:r>
          </a:p>
          <a:p/>
          <a:p>
            <a:r>
              <a:t>[Clic 1] La verificación más exigente es la de soluciones manufacturadas: al reducir a la mitad el tamaño de los elementos, el error del Q4 debe dividirse por cuatro. Y así ocurre con los errores reales del motor.</a:t>
            </a:r>
          </a:p>
          <a:p/>
          <a:p>
            <a:r>
              <a:t>[Clic 2] Con el Q9 el error debe dividirse por ocho, y también se divide por ocho.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tercer bloque es el diseño y desarrollo del modelo: primero el modelo de investigación, después el software que lo materializa.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modelo de investigación es un modelo de simulación numérica. Los factores son el tipo de elemento y la densidad de malla; el objeto, un motor determinista; la respuesta, la exactitud.</a:t>
            </a:r>
          </a:p>
          <a:p/>
          <a:p>
            <a:r>
              <a:t>[Clic 1] Esa respuesta se explica por los mecanismos del método: el orden de interpolación y el bloqueo por cortante. Es un experimento de causa y efecto, sin sujetos.</a:t>
            </a:r>
          </a:p>
          <a:p/>
          <a:p>
            <a:r>
              <a:t>[Clic 2] La evaluación emplea cuatro de las cinco familias de métodos de la ciencia del diseño: analítica, experimental, de pruebas y descriptiva. La observacional no corresponde, porque las métricas de esta hipótesis son la cobertura y la exactitud.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variable independiente, la forma de exponer el procedimiento, tiene dos niveles: caja negra, o procedimiento a la vista.</a:t>
            </a:r>
          </a:p>
          <a:p/>
          <a:p>
            <a:r>
              <a:t>[Clic 1] La trazabilidad se mide contando: etapas con módulo, de siete; etapas en la memoria, de nueve; fases sobre el lienzo, de tres; e ítems de contenido con instrumento, de dieciocho.</a:t>
            </a:r>
          </a:p>
          <a:p/>
          <a:p>
            <a:r>
              <a:t>[Clic 2] La verificabilidad se mide con errores: tasas de convergencia, errores frente a la solución analítica, diferencias frente a SAP2000, el residuo de equilibrio y la firma del bloqueo por cortante.</a:t>
            </a:r>
          </a:p>
          <a:p/>
          <a:p>
            <a:r>
              <a:t>[Clic 3] La variable interviniente es EduFEM, en su versión 1.0.0, la misma que distribuye el instalador.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matriz de consistencia enlaza cada objetivo con su pregunta, su variable, su método y su evidencia. En la presentación en vivo, cada fila lleva a la lámina donde está esa evidencia.</a:t>
            </a:r>
          </a:p>
          <a:p/>
          <a:p>
            <a:r>
              <a:t>[Clic 1] Hay una sola formulación del problema: la plantea la Introducción, la retoma el diseño metodológico y la responde el contraste de la hipótesis.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muestra es dirigida, por valor probatorio: tres casos de estudio que ejercitan términos distintos del modelo. Las soluciones manufacturadas, en cuatro configuraciones; la viga de Timoshenko, con una malla Q9 de 3842 grados de libertad; y la membrana de Cook, el caso que bloquea al Q4. A ellos se suma el ejemplo canónico, que no mide exactitud: demuestra que la memoria puede rehacerse a mano.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Los criterios de aceptación se fijaron antes de medir. Para la trazabilidad son de exhaustividad: siete de siete, nueve de nueve, tres de tres, dieciocho de dieciocho. Cada uno declara qué lo refutaría.</a:t>
            </a:r>
          </a:p>
          <a:p/>
          <a:p>
            <a:r>
              <a:t>[Clic 1] Para la verificabilidad son numéricos: la tasa teórica más o menos 0,5; errores menores al 1 %, al 3 % y al 1,5 %; y un residuo de equilibrio menor que 10⁻⁸.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software se organiza en seis capas en torno a un solo modelo de proyecto, compartido por referencia. El motor, en la capa fem, no importa ninguna biblioteca de interfaz y corre sin pantalla.</a:t>
            </a:r>
          </a:p>
          <a:p/>
          <a:p>
            <a:r>
              <a:t>[Clic 1] Todas las tecnologías empleadas son libres, y todas, salvo manim, con la que se generan los videos antes de empaquetar, viajan dentro del instalador, incluido el compilador de la memoria.</a:t>
            </a:r>
          </a:p>
          <a:p/>
          <a:p>
            <a:r>
              <a:t>[Clic 2] La decisión clave: los módulos, la memoria y los guiones de verificación llaman a las mismas funciones del motor. Lo expuesto es, por construcción, lo que se calculó.</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motor separa la identidad del nodo, el número que el usuario ve, de su índice en el sistema. Así, el nodo 99 puede ocupar los grados de libertad 6 y 7, y la matriz se dimensiona con el número real de nodos.</a:t>
            </a:r>
          </a:p>
          <a:p/>
          <a:p>
            <a:r>
              <a:t>[Clic 1] La matriz de rigidez es dispersa, casi toda ceros: en la membrana de Cook con 578 grados de libertad, guardarla entera ocuparía 3 megabytes, y guardar solo lo no nulo, 0,21.</a:t>
            </a:r>
          </a:p>
          <a:p/>
          <a:p>
            <a:r>
              <a:t>[Clic 2] El sistema se resuelve con una factorización LU dispersa, con reordenamiento de mínimo grado. Y junto al motor rápido se conserva la versión legible, elemento por elemento, que sirve de patrón para las pruebas de regresión.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pre-proceso combina una entrada tabular y una entrada gráfica sobre el mismo proyecto.</a:t>
            </a:r>
          </a:p>
          <a:p/>
          <a:p>
            <a:r>
              <a:t>[Clic 1] Cinco tablas para nodos, elementos, cargas, restricciones y cargas superficiales; y un lienzo con dibujo tipo CAD, con anclaje a los nodos y orientación antihoraria forzada.</a:t>
            </a:r>
          </a:p>
          <a:p/>
          <a:p>
            <a:r>
              <a:t>[Clic 2] El comprobador de salud revisa el modelo antes de resolver, y la selección se sincroniza entre la tabla y el lienzo, con deshacer y rehacer sobre el modelo completo.</a:t>
            </a:r>
          </a:p>
          <a:p/>
          <a:p>
            <a:r>
              <a:t>[Clic 3] La geometría también puede importarse desde un DXF, y reimportarla no duplica nada.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Ocho módulos educativos recorren el procedimiento: M0, la calidad de malla; M1 a M5, del mapeo isoparamétrico a la rigidez por Gauss; M6, las fuerzas equivalentes; y M7, el ensamblaje. Cada uno opera sobre el elemento que el usuario selecciona en el lienzo, no sobre un ejemplo prefabricado.</a:t>
            </a:r>
          </a:p>
          <a:p/>
          <a:p>
            <a:r>
              <a:t>[Clic 1] Y cada módulo usa las mismas funciones del motor: lo que se muestra es lo que se calcula.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Veamos el ensamblaje con los datos reales del ejemplo canónico: nueve nodos, cuatro elementos Q4 y dieciocho grados de libertad. Cada nodo de índice i ocupa las posiciones 2i y 2i más 1.</a:t>
            </a:r>
          </a:p>
          <a:p/>
          <a:p>
            <a:r>
              <a:t>[Clic 1] Cada elemento suma su matriz de rigidez en las filas y columnas de sus ocho grados de libertad. El nodo 5 lo comparten los cuatro elementos, y su término diagonal acumula cuatro aportes.</a:t>
            </a:r>
          </a:p>
          <a:p/>
          <a:p>
            <a:r>
              <a:t>[Clic 2] Los apoyos en los nodos 1, 3 y 6 retiran seis grados de libertad: quedan doce incógnitas, y la carga P de 1000 entra en el grado vertical del nodo 7.</a:t>
            </a:r>
          </a:p>
          <a:p/>
          <a:p>
            <a:r>
              <a:t>[Clic 3] Al resolver, aparecen los desplazamientos y las reacciones. Las reacciones verticales suman 1000,00: exactamente la carga aplicada.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post-proceso presenta la respuesta sobre el mismo lienzo: el contorno de von Mises sobre la deformada, con su escala y el valor en cada nodo.</a:t>
            </a:r>
          </a:p>
          <a:p/>
          <a:p>
            <a:r>
              <a:t>[Clic 1] La sonda del nodo 7 da sus componentes, sus tensiones principales y von Mises, 864,70, junto con su círculo de Mohr, que gira hasta los ejes principales.</a:t>
            </a:r>
          </a:p>
          <a:p/>
          <a:p>
            <a:r>
              <a:t>[Clic 2] Las reacciones se muestran en los apoyos, y su suma equilibra la carga.</a:t>
            </a:r>
          </a:p>
          <a:p/>
          <a:p>
            <a:r>
              <a:t>[Sigue con el clic 2] Y el campo puede verse crudo, con los valores propios de cada elemento, o suavizado por el promedio nodal: la diferencia entre ambos es una medida del error de discretización.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memoria de cálculo reconstruye el procedimiento en papel, en nueve capítulos, con las mismas funciones del motor. Estas son hojas del Anexo G, que condensa esa memoria para el ejemplo canónico.</a:t>
            </a:r>
          </a:p>
          <a:p/>
          <a:p>
            <a:r>
              <a:t>[Clic 1] Cada valor se remite a la ecuación de la que sale: en esta hoja, el Jacobiano de E3 remite a las ecuaciones 1.9 a 1.11 y da el mismo 4,7604 que vimos antes.</a:t>
            </a:r>
          </a:p>
          <a:p/>
          <a:p>
            <a:r>
              <a:t>[Clic 2] Y cierra con las comprobaciones: las reacciones suman 1000,00 y el máximo de von Mises es 864,70 en el nodo 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Ahora, la variable dependiente en acción. Tomo un resultado del post-proceso, la tensión de von Mises del nodo 7, 864,70, y pregunto: ¿de dónde sale?</a:t>
            </a:r>
          </a:p>
          <a:p/>
          <a:p>
            <a:r>
              <a:t>[Clic 1] Etapa 9. El nodo 7 pertenece solo al elemento E3, y su tensión es la extrapolada desde los cuatro puntos de Gauss del elemento. Con los pesos de la matriz E, sigma ye da menos 845,06; con las tres componentes, von Mises da 864,70.</a:t>
            </a:r>
          </a:p>
          <a:p/>
          <a:p>
            <a:r>
              <a:t>[Clic 2] Etapas 3 y 4. En el punto de Gauss más cercano, la tensión es la matriz constitutiva por la deformación, y la deformación es B por los desplazamientos del elemento.</a:t>
            </a:r>
          </a:p>
          <a:p/>
          <a:p>
            <a:r>
              <a:t>[Clic 3] Etapa 8. Esos ocho desplazamientos forman parte del vector u, que resuelve el sistema reducido una vez impuestos los apoyos.</a:t>
            </a:r>
          </a:p>
          <a:p/>
          <a:p>
            <a:r>
              <a:t>[Clic 4] Etapa 6. El vector de cargas tiene un solo término no nulo: la carga de 1000 en el grado vertical del nodo 7.</a:t>
            </a:r>
          </a:p>
          <a:p/>
          <a:p>
            <a:r>
              <a:t>[Clic 5] Etapa 7. La matriz global se ensambla sumando las cuatro matrices elementales; el nodo 5 acumula cuatro aportes.</a:t>
            </a:r>
          </a:p>
          <a:p/>
          <a:p>
            <a:r>
              <a:t>[Clic 6] Etapa 5. Cada matriz elemental es la suma de cuatro aportes, uno por punto de Gauss, ponderados por el determinante del Jacobiano.</a:t>
            </a:r>
          </a:p>
          <a:p/>
          <a:p>
            <a:r>
              <a:t>[Clic 7] Etapa 3. La matriz B reúne las derivadas físicas de las funciones de forma en el punto de Gauss.</a:t>
            </a:r>
          </a:p>
          <a:p/>
          <a:p>
            <a:r>
              <a:t>[Clic 8] Etapas 1 y 2. Y todo parte de las coordenadas de los nodos del elemento y del Jacobiano, cuyo determinante es positivo.</a:t>
            </a:r>
          </a:p>
          <a:p/>
          <a:p>
            <a:r>
              <a:t>[Clic 9] Así se llega a los datos del modelo: el módulo de elasticidad, el coeficiente de Poisson, el espesor, la carga y los apoyos. Del resultado a los datos, sin una sola caja negra: esa es la trazabilidad que mide la hipótesis.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este punto hago la demostración en vivo con EduFEM: cargo el ejemplo canónico, lo resuelvo, abro los módulos sobre el elemento E3, consulto la sonda del nodo 7 y genero la memoria de cálculo. Si el equipo de la sala no tiene EduFEM, estos laboratorios usan la salida real del motor.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a la presentación de resultados: la verificación, la consistencia interna, las dos validaciones externas y la cobertura.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Con soluciones manufacturadas resolví mallas de 2 a 32 elementos por lado. En escala doble logarítmica, la pendiente de cada recta es la tasa de convergencia. En norma L dos, el Q4 alcanza 2,00 y el Q9, 3,00: exactamente lo que predice la teoría.</a:t>
            </a:r>
          </a:p>
          <a:p/>
          <a:p>
            <a:r>
              <a:t>[Clic 1] En seminorma H uno, la medida más exigente, el Q4 alcanza 1,00 y el Q9, 2,00.</a:t>
            </a:r>
          </a:p>
          <a:p/>
          <a:p>
            <a:r>
              <a:t>[Clic 2] La tensión recuperada converge con 1,54 en el Q4 y 2,00 en el Q9. Se reporta, pero no es criterio de la hipótesis.</a:t>
            </a:r>
          </a:p>
          <a:p/>
          <a:p>
            <a:r>
              <a:t>[Clic 3] Las cuatro configuraciones, cuadrado y distorsionado, en tensión y en deformación plana, dan las mismas tasas del desplazamiento, con diferencias menores que 0,01. El criterio, la tasa teórica más o menos 0,5, se cumple.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modelo de datos tampoco deriva. Convertir una malla de Q4 a Q9 agrega cinco nodos por elemento, y volver a Q4 los quita: los desplazamientos difieren en menos de 10⁻⁹.</a:t>
            </a:r>
          </a:p>
          <a:p/>
          <a:p>
            <a:r>
              <a:t>[Clic 1] Resolver con identificadores no contiguos, como 1, 5, 50 y 99, da el mismo resultado que con 1, 2, 3 y 4.</a:t>
            </a:r>
          </a:p>
          <a:p/>
          <a:p>
            <a:r>
              <a:t>[Clic 2] El paquete CSV devuelve sin pérdida las entidades del modelo ensayado, nodos, elementos, material, cargas y restricciones, y los mismos desplazamientos, con diferencias menores que 10⁻¹², aunque no reemplaza al formato nativo. Y reimportar el DXF no crea ni un nodo ni un elemento nuevos. El criterio se cumple.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validación externa usa una viga de hormigón simplemente apoyada, de 14 metros de luz y 1,20 de peralte, con 5000 kilogramos fuerza por metro, resuelta con una malla Q9 de 3842 grados de libertad.</a:t>
            </a:r>
          </a:p>
          <a:p/>
          <a:p>
            <a:r>
              <a:t>[Clic 1] La tensión normal en los tres puntos de control difiere de la solución analítica de Timoshenko y Goodier en 0,04 % como máximo, y de SAP2000 en 0,21 %. En el centro del vano, la tensión de los nodos sigue la distribución analítica en todo el peralte.</a:t>
            </a:r>
          </a:p>
          <a:p/>
          <a:p>
            <a:r>
              <a:t>[Clic 2] La flecha central difiere en 0,26 % de la solución con corrección de cortante. Con Euler-Bernoulli, el error aparente sería de 1,85 %: la referencia debe acompañar al modelo.</a:t>
            </a:r>
          </a:p>
          <a:p/>
          <a:p>
            <a:r>
              <a:t>[Clic 3] Las reacciones equilibran la carga con un residuo relativo de 1,7 por 10⁻¹³. Los tres criterios se cumplen.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membrana de Cook combina flexión, cortante y distorsión. Con el Q4, la flecha crece lentamente al refinar la malla, siempre por debajo de la referencia: es la firma del bloqueo por cortante.</a:t>
            </a:r>
          </a:p>
          <a:p/>
          <a:p>
            <a:r>
              <a:t>[Clic 1] Con el Q9, en cambio, la respuesta converge desde la malla más gruesa.</a:t>
            </a:r>
          </a:p>
          <a:p/>
          <a:p>
            <a:r>
              <a:t>[Clic 2] A igualdad de grados de libertad, con 578, el error del Q9 es de 0,144 %, y el del Q4, de 2,210 %: más de diez veces mayor.</a:t>
            </a:r>
          </a:p>
          <a:p/>
          <a:p>
            <a:r>
              <a:t>[Clic 3] Y hay un contraste externo directo: Štembera y Füssl publican, para su elemento de cuatro nodos, los mismos cinco valores que calcula EduFEM, hasta la última cifra. Los dos criterios se cumplen.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Paso a la trazabilidad. Siete de las siete primeras etapas tienen módulo educativo; las nueve tienen desarrollo en la memoria; las tres fases operan sobre un mismo lienzo; y la solución y las tensiones se exponen en modo crudo y suavizado.</a:t>
            </a:r>
          </a:p>
          <a:p/>
          <a:p>
            <a:r>
              <a:t>[Clic 1] Así se ve: pre-proceso, proceso y post-proceso, sobre el mismo lienzo y el mismo modelo.</a:t>
            </a:r>
          </a:p>
          <a:p/>
          <a:p>
            <a:r>
              <a:t>[Clic 2] Los cuatro criterios se cumplen.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Para la cobertura de contenido tomé los 49 ítems de un consenso publicado de 67 expertos: quince conceptos y treinta y cuatro destrezas.</a:t>
            </a:r>
          </a:p>
          <a:p/>
          <a:p>
            <a:r>
              <a:t>[Clic 1] Dieciocho pertenecen al procedimiento de cálculo y a su verificación en elasticidad plana. Los demás quedan fuera por alcance disciplinar, por ser anteriores al procedimiento, o, en un caso, por ser un desarrollo teórico que el software no expone.</a:t>
            </a:r>
          </a:p>
          <a:p/>
          <a:p>
            <a:r>
              <a:t>[Clic 2] Cotejé ítem por ítem, con una regla de marcado escrita: los dieciocho tienen un instrumento identificable en EduFEM. Dieciocho de dieciocho.</a:t>
            </a:r>
          </a:p>
          <a:p/>
          <a:p>
            <a:r>
              <a:t>[Clic 3] Conviene decir qué prueba esto: cobertura, no suficiencia ni efecto sobre quien lo usa. Es un cotejo del autor, y dos de los ítems los ejecuta el usuario sobre su propio modelo.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al análisis de resultados: qué dicen, qué no dicen, una lección sobre el límite de la propia batería, y el contraste de la hipótesis.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Los resultados permiten contrastar los dos órdenes de interpolación. En la membrana de Cook, el error del Q9 cae mucho más rápido que el del Q4.</a:t>
            </a:r>
          </a:p>
          <a:p/>
          <a:p>
            <a:r>
              <a:t>[Clic 1] Con 578 grados de libertad, el error del Q9 es más de diez veces menor, entre doce y quince veces según la referencia que se adopte.</a:t>
            </a:r>
          </a:p>
          <a:p/>
          <a:p>
            <a:r>
              <a:t>[Clic 2] Con 2178 grados de libertad, el error del Q9 ya cae dentro de la incertidumbre de la propia referencia, y la razón deja de ser significativa. La tabla resume la comparación en las tres baterías.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propio desarrollo dejó una lección. La matriz de extrapolación del Q4 estaba escrita para otra numeración de los puntos de Gauss.</a:t>
            </a:r>
          </a:p>
          <a:p/>
          <a:p>
            <a:r>
              <a:t>[Clic 1] Los estudios de convergencia no lo detectaron: esa matriz actúa después de resolver, y los desplazamientos no cambian.</a:t>
            </a:r>
          </a:p>
          <a:p/>
          <a:p>
            <a:r>
              <a:t>[Clic 2] Lo delató la memoria de cálculo: al leerla paso a paso, las tensiones nodales no cerraban con las de los puntos de Gauss. Con la matriz mal escrita, los puntos 3 y 4 salen intercambiados.</a:t>
            </a:r>
          </a:p>
          <a:p/>
          <a:p>
            <a:r>
              <a:t>[Clic 3] Se corrigió construyendo la matriz con los puntos del propio motor, y se agregó una prueba que exige reproducir campos polinómicos exactos. La trazabilidad hizo visible un defecto de exactitud: la hipótesis no es circular.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motor escala: con 8450 grados de libertad ensambla y resuelve en unas dos décimas de segundo, y con más de 33 000, en alrededor de un segundo, en un equipo de 2012.</a:t>
            </a:r>
          </a:p>
          <a:p/>
          <a:p>
            <a:r>
              <a:t>[Clic 1] La matriz densa de 33 282 grados de libertad ocuparía cerca de 8,9 gigabytes; su versión dispersa, menos de 13 megabytes.</a:t>
            </a:r>
          </a:p>
          <a:p/>
          <a:p>
            <a:r>
              <a:t>[Clic 2] El reordenamiento de mínimo grado acelera la solución entre 1,7 y 2,9 veces.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Los resultados respaldan la exactitud del núcleo numérico. Las componentes secundarias de tensión tienen errores relativos mayores porque son entre seis y treinta y cinco veces más pequeñas.</a:t>
            </a:r>
          </a:p>
          <a:p/>
          <a:p>
            <a:r>
              <a:t>[Clic 1] Frente a otras herramientas, EduFEM no compite en tipologías ni en escalabilidad: su valor está en la exposición del cálculo. Y SAP2000 no es el patrón: en la tensión cortante queda más cerca de la analítica que EduFEM.</a:t>
            </a:r>
          </a:p>
          <a:p/>
          <a:p>
            <a:r>
              <a:t>[Clic 2] Las limitaciones se declaran: el bloqueo del Q4 se muestra y no se corrige, y la deformación plana no tiene contraste externo.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contraste de la hipótesis reúne los quince criterios fijados de antemano, cada uno con su umbral.</a:t>
            </a:r>
          </a:p>
          <a:p/>
          <a:p>
            <a:r>
              <a:t>[Clic 1] Cláusula a, trazabilidad: los seis criterios se cumplen.</a:t>
            </a:r>
          </a:p>
          <a:p/>
          <a:p>
            <a:r>
              <a:t>[Clic 2] Cláusula b, verificabilidad: los nueve criterios se cumplen. Quince de quince: la hipótesis queda comprobada en sus dos cláusulas, dentro del alcance declarado.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Finalmente, las conclusiones y recomendaciones.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Cada objetivo tiene su conclusión. El diagnóstico mostró que ninguno de los recursos revisados reúne los ocho atributos, y fijó cinco requisitos.</a:t>
            </a:r>
          </a:p>
          <a:p/>
          <a:p>
            <a:r>
              <a:t>[Clic 1] La fundamentación estableció una base común para el motor, los módulos y la memoria, y cuatro principios de exposición.</a:t>
            </a:r>
          </a:p>
          <a:p/>
          <a:p>
            <a:r>
              <a:t>[Clic 2] El desarrollo cubre las nueve etapas, con tres fases sobre un lienzo, ocho módulos y una memoria en PDF.</a:t>
            </a:r>
          </a:p>
          <a:p/>
          <a:p>
            <a:r>
              <a:t>[Clic 3] La verificación y la validación dieron las tasas teóricas, errores de 0,04 % en la tensión y de 0,26 % en la flecha, y la firma del bloqueo del Q4.</a:t>
            </a:r>
          </a:p>
          <a:p/>
          <a:p>
            <a:r>
              <a:t>[Clic 4] Y la validación de la propuesta cumplió los quince criterios fijados de antemano.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desarrollo de EduFEM llevó el procedimiento de la caja negra a la vista, y el análisis resultó trazable y verificable: seis de seis y nueve de nueve.</a:t>
            </a:r>
          </a:p>
          <a:p/>
          <a:p>
            <a:r>
              <a:t>[Clic 1] La respuesta al problema es de orden técnico: la incidencia está en el medio de cálculo. Un software que solo muestra datos y resultados deja un análisis que no puede seguirse; uno que expone el procedimiento permite seguirlo y comprobarlo.</a:t>
            </a:r>
          </a:p>
          <a:p/>
          <a:p>
            <a:r>
              <a:t>[Clic 2] Lo medido son propiedades del software y de sus resultados. Queda fuera de lo medido qué ocurre cuando la herramienta se pone en manos de un curso.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trabajo deja tres aportes. El primero es el software: libre, en español y verificado.</a:t>
            </a:r>
          </a:p>
          <a:p/>
          <a:p>
            <a:r>
              <a:t>[Clic 1] El segundo, conocimiento de diseño: módulos sobre el elemento que el usuario elige, una memoria generada con las mismas funciones del motor, y una versión legible que sirve de patrón.</a:t>
            </a:r>
          </a:p>
          <a:p/>
          <a:p>
            <a:r>
              <a:t>[Clic 2] El tercero, conocimiento de evaluación: una batería reproducible, la lección sobre el límite de las tasas y una tabla de cobertura construida sobre un consenso publicado.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limitaciones se declaran: la evaluación la hizo el autor, sin revisión independiente; la cobertura es un cotejo sobre un consenso de otro contexto; el software ofrece el recorrido pero no lo impone; los módulos llegan hasta el ensamblaje; el bloqueo se muestra sin corregirse; y la deformación plana no tiene contraste externo.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Recomiendo tres líneas de continuación. Sobre la formulación: técnicas contra el bloqueo y más tipos de elemento.</a:t>
            </a:r>
          </a:p>
          <a:p/>
          <a:p>
            <a:r>
              <a:t>[Clic 1] Sobre el software: mallado automático, solucionadores para problemas grandes, una guía de prácticas para la cátedra y la extensión a tres dimensiones.</a:t>
            </a:r>
          </a:p>
          <a:p/>
          <a:p>
            <a:r>
              <a:t>[Clic 2] Y sobre la evidencia: un caso con carga linealmente variable, un caso civil en deformación plana y una revisión independiente. Una investigación distinta, de carácter educativo, podrá estudiar el uso de la herramienta en el aula.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análisis por el método de los elementos finitos que puede seguirse del resultado a sus datos y comprobarse contra referencias externas: eso es lo que este trabajo construyó y midió. Muchas gracias, señores miembros del tribunal. Quedo atento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 Target="slide64.xml"/><Relationship Id="rId6" Type="http://schemas.openxmlformats.org/officeDocument/2006/relationships/slide" Target="slide36.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23.xml"/><Relationship Id="rId6" Type="http://schemas.openxmlformats.org/officeDocument/2006/relationships/slide" Target="slide38.xml"/><Relationship Id="rId7" Type="http://schemas.openxmlformats.org/officeDocument/2006/relationships/slide" Target="slide45.xml"/><Relationship Id="rId8" Type="http://schemas.openxmlformats.org/officeDocument/2006/relationships/slide" Target="slide5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23.xml"/><Relationship Id="rId8" Type="http://schemas.openxmlformats.org/officeDocument/2006/relationships/slide" Target="slide38.xml"/><Relationship Id="rId9" Type="http://schemas.openxmlformats.org/officeDocument/2006/relationships/slide" Target="slide45.xml"/><Relationship Id="rId10" Type="http://schemas.openxmlformats.org/officeDocument/2006/relationships/slide" Target="slide5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23.xml"/><Relationship Id="rId6" Type="http://schemas.openxmlformats.org/officeDocument/2006/relationships/slide" Target="slide38.xml"/><Relationship Id="rId7" Type="http://schemas.openxmlformats.org/officeDocument/2006/relationships/slide" Target="slide45.xml"/><Relationship Id="rId8" Type="http://schemas.openxmlformats.org/officeDocument/2006/relationships/slide" Target="slide5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23.xml"/><Relationship Id="rId6" Type="http://schemas.openxmlformats.org/officeDocument/2006/relationships/slide" Target="slide38.xml"/><Relationship Id="rId7" Type="http://schemas.openxmlformats.org/officeDocument/2006/relationships/slide" Target="slide45.xml"/><Relationship Id="rId8" Type="http://schemas.openxmlformats.org/officeDocument/2006/relationships/slide" Target="slide5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slide" Target="slide2.xml"/><Relationship Id="rId10" Type="http://schemas.openxmlformats.org/officeDocument/2006/relationships/slide" Target="slide10.xml"/><Relationship Id="rId11" Type="http://schemas.openxmlformats.org/officeDocument/2006/relationships/slide" Target="slide23.xml"/><Relationship Id="rId12" Type="http://schemas.openxmlformats.org/officeDocument/2006/relationships/slide" Target="slide38.xml"/><Relationship Id="rId13" Type="http://schemas.openxmlformats.org/officeDocument/2006/relationships/slide" Target="slide45.xml"/><Relationship Id="rId14" Type="http://schemas.openxmlformats.org/officeDocument/2006/relationships/slide" Target="slide51.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slide" Target="slide2.xml"/><Relationship Id="rId8" Type="http://schemas.openxmlformats.org/officeDocument/2006/relationships/slide" Target="slide10.xml"/><Relationship Id="rId9" Type="http://schemas.openxmlformats.org/officeDocument/2006/relationships/slide" Target="slide23.xml"/><Relationship Id="rId10" Type="http://schemas.openxmlformats.org/officeDocument/2006/relationships/slide" Target="slide38.xml"/><Relationship Id="rId11" Type="http://schemas.openxmlformats.org/officeDocument/2006/relationships/slide" Target="slide45.xml"/><Relationship Id="rId12" Type="http://schemas.openxmlformats.org/officeDocument/2006/relationships/slide" Target="slide51.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23.xml"/><Relationship Id="rId7" Type="http://schemas.openxmlformats.org/officeDocument/2006/relationships/slide" Target="slide38.xml"/><Relationship Id="rId8" Type="http://schemas.openxmlformats.org/officeDocument/2006/relationships/slide" Target="slide45.xml"/><Relationship Id="rId9" Type="http://schemas.openxmlformats.org/officeDocument/2006/relationships/slide" Target="slide5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slide" Target="slide2.xml"/><Relationship Id="rId9" Type="http://schemas.openxmlformats.org/officeDocument/2006/relationships/slide" Target="slide10.xml"/><Relationship Id="rId10" Type="http://schemas.openxmlformats.org/officeDocument/2006/relationships/slide" Target="slide23.xml"/><Relationship Id="rId11" Type="http://schemas.openxmlformats.org/officeDocument/2006/relationships/slide" Target="slide38.xml"/><Relationship Id="rId12" Type="http://schemas.openxmlformats.org/officeDocument/2006/relationships/slide" Target="slide45.xml"/><Relationship Id="rId13" Type="http://schemas.openxmlformats.org/officeDocument/2006/relationships/slide" Target="slide51.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6.png"/><Relationship Id="rId12" Type="http://schemas.openxmlformats.org/officeDocument/2006/relationships/image" Target="../media/image37.png"/><Relationship Id="rId13" Type="http://schemas.openxmlformats.org/officeDocument/2006/relationships/image" Target="../media/image38.png"/><Relationship Id="rId14" Type="http://schemas.openxmlformats.org/officeDocument/2006/relationships/slide" Target="slide2.xml"/><Relationship Id="rId15" Type="http://schemas.openxmlformats.org/officeDocument/2006/relationships/slide" Target="slide10.xml"/><Relationship Id="rId16" Type="http://schemas.openxmlformats.org/officeDocument/2006/relationships/slide" Target="slide23.xml"/><Relationship Id="rId17" Type="http://schemas.openxmlformats.org/officeDocument/2006/relationships/slide" Target="slide38.xml"/><Relationship Id="rId18" Type="http://schemas.openxmlformats.org/officeDocument/2006/relationships/slide" Target="slide45.xml"/><Relationship Id="rId19" Type="http://schemas.openxmlformats.org/officeDocument/2006/relationships/slide" Target="slide51.xml"/><Relationship Id="rId2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 Id="rId9" Type="http://schemas.openxmlformats.org/officeDocument/2006/relationships/slide" Target="slide2.xml"/><Relationship Id="rId10" Type="http://schemas.openxmlformats.org/officeDocument/2006/relationships/slide" Target="slide10.xml"/><Relationship Id="rId11" Type="http://schemas.openxmlformats.org/officeDocument/2006/relationships/slide" Target="slide23.xml"/><Relationship Id="rId12" Type="http://schemas.openxmlformats.org/officeDocument/2006/relationships/slide" Target="slide38.xml"/><Relationship Id="rId13" Type="http://schemas.openxmlformats.org/officeDocument/2006/relationships/slide" Target="slide45.xml"/><Relationship Id="rId14" Type="http://schemas.openxmlformats.org/officeDocument/2006/relationships/slide" Target="slide51.xml"/><Relationship Id="rId1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46.png"/><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23.xml"/><Relationship Id="rId8" Type="http://schemas.openxmlformats.org/officeDocument/2006/relationships/slide" Target="slide38.xml"/><Relationship Id="rId9" Type="http://schemas.openxmlformats.org/officeDocument/2006/relationships/slide" Target="slide45.xml"/><Relationship Id="rId10" Type="http://schemas.openxmlformats.org/officeDocument/2006/relationships/slide" Target="slide51.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slide" Target="slide2.xml"/><Relationship Id="rId10" Type="http://schemas.openxmlformats.org/officeDocument/2006/relationships/slide" Target="slide10.xml"/><Relationship Id="rId11" Type="http://schemas.openxmlformats.org/officeDocument/2006/relationships/slide" Target="slide23.xml"/><Relationship Id="rId12" Type="http://schemas.openxmlformats.org/officeDocument/2006/relationships/slide" Target="slide38.xml"/><Relationship Id="rId13" Type="http://schemas.openxmlformats.org/officeDocument/2006/relationships/slide" Target="slide45.xml"/><Relationship Id="rId14" Type="http://schemas.openxmlformats.org/officeDocument/2006/relationships/slide" Target="slide51.xml"/><Relationship Id="rId1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23.xml"/><Relationship Id="rId7" Type="http://schemas.openxmlformats.org/officeDocument/2006/relationships/slide" Target="slide38.xml"/><Relationship Id="rId8" Type="http://schemas.openxmlformats.org/officeDocument/2006/relationships/slide" Target="slide45.xml"/><Relationship Id="rId9" Type="http://schemas.openxmlformats.org/officeDocument/2006/relationships/slide" Target="slide5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23.xml"/><Relationship Id="rId6" Type="http://schemas.openxmlformats.org/officeDocument/2006/relationships/slide" Target="slide38.xml"/><Relationship Id="rId7" Type="http://schemas.openxmlformats.org/officeDocument/2006/relationships/slide" Target="slide45.xml"/><Relationship Id="rId8" Type="http://schemas.openxmlformats.org/officeDocument/2006/relationships/slide" Target="slide5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slide" Target="slide11.xml"/><Relationship Id="rId9" Type="http://schemas.openxmlformats.org/officeDocument/2006/relationships/slide" Target="slide16.xml"/><Relationship Id="rId10" Type="http://schemas.openxmlformats.org/officeDocument/2006/relationships/slide" Target="slide29.xml"/><Relationship Id="rId11" Type="http://schemas.openxmlformats.org/officeDocument/2006/relationships/slide" Target="slide39.xml"/><Relationship Id="rId12" Type="http://schemas.openxmlformats.org/officeDocument/2006/relationships/slide" Target="slide50.xml"/><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23.xml"/><Relationship Id="rId9" Type="http://schemas.openxmlformats.org/officeDocument/2006/relationships/slide" Target="slide38.xml"/><Relationship Id="rId10" Type="http://schemas.openxmlformats.org/officeDocument/2006/relationships/slide" Target="slide45.xml"/><Relationship Id="rId11" Type="http://schemas.openxmlformats.org/officeDocument/2006/relationships/slide" Target="slide5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23.xml"/><Relationship Id="rId7" Type="http://schemas.openxmlformats.org/officeDocument/2006/relationships/slide" Target="slide38.xml"/><Relationship Id="rId8" Type="http://schemas.openxmlformats.org/officeDocument/2006/relationships/slide" Target="slide45.xml"/><Relationship Id="rId9" Type="http://schemas.openxmlformats.org/officeDocument/2006/relationships/slide" Target="slide5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23.xml"/><Relationship Id="rId7" Type="http://schemas.openxmlformats.org/officeDocument/2006/relationships/slide" Target="slide38.xml"/><Relationship Id="rId8" Type="http://schemas.openxmlformats.org/officeDocument/2006/relationships/slide" Target="slide45.xml"/><Relationship Id="rId9" Type="http://schemas.openxmlformats.org/officeDocument/2006/relationships/slide" Target="slide51.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23.xml"/><Relationship Id="rId6" Type="http://schemas.openxmlformats.org/officeDocument/2006/relationships/slide" Target="slide38.xml"/><Relationship Id="rId7" Type="http://schemas.openxmlformats.org/officeDocument/2006/relationships/slide" Target="slide45.xml"/><Relationship Id="rId8" Type="http://schemas.openxmlformats.org/officeDocument/2006/relationships/slide" Target="slide5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png"/><Relationship Id="rId10" Type="http://schemas.openxmlformats.org/officeDocument/2006/relationships/slide" Target="slide2.xml"/><Relationship Id="rId11" Type="http://schemas.openxmlformats.org/officeDocument/2006/relationships/slide" Target="slide10.xml"/><Relationship Id="rId12" Type="http://schemas.openxmlformats.org/officeDocument/2006/relationships/slide" Target="slide23.xml"/><Relationship Id="rId13" Type="http://schemas.openxmlformats.org/officeDocument/2006/relationships/slide" Target="slide38.xml"/><Relationship Id="rId14" Type="http://schemas.openxmlformats.org/officeDocument/2006/relationships/slide" Target="slide45.xml"/><Relationship Id="rId15" Type="http://schemas.openxmlformats.org/officeDocument/2006/relationships/slide" Target="slide51.xml"/><Relationship Id="rId1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7.png"/><Relationship Id="rId7" Type="http://schemas.openxmlformats.org/officeDocument/2006/relationships/image" Target="../media/image78.png"/><Relationship Id="rId8" Type="http://schemas.openxmlformats.org/officeDocument/2006/relationships/slide" Target="slide2.xml"/><Relationship Id="rId9" Type="http://schemas.openxmlformats.org/officeDocument/2006/relationships/slide" Target="slide10.xml"/><Relationship Id="rId10" Type="http://schemas.openxmlformats.org/officeDocument/2006/relationships/slide" Target="slide23.xml"/><Relationship Id="rId11" Type="http://schemas.openxmlformats.org/officeDocument/2006/relationships/slide" Target="slide38.xml"/><Relationship Id="rId12" Type="http://schemas.openxmlformats.org/officeDocument/2006/relationships/slide" Target="slide45.xml"/><Relationship Id="rId13" Type="http://schemas.openxmlformats.org/officeDocument/2006/relationships/slide" Target="slide51.xml"/><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slide" Target="slide2.xml"/><Relationship Id="rId9" Type="http://schemas.openxmlformats.org/officeDocument/2006/relationships/slide" Target="slide10.xml"/><Relationship Id="rId10" Type="http://schemas.openxmlformats.org/officeDocument/2006/relationships/slide" Target="slide23.xml"/><Relationship Id="rId11" Type="http://schemas.openxmlformats.org/officeDocument/2006/relationships/slide" Target="slide38.xml"/><Relationship Id="rId12" Type="http://schemas.openxmlformats.org/officeDocument/2006/relationships/slide" Target="slide45.xml"/><Relationship Id="rId13" Type="http://schemas.openxmlformats.org/officeDocument/2006/relationships/slide" Target="slide51.xml"/><Relationship Id="rId1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 Id="rId9" Type="http://schemas.openxmlformats.org/officeDocument/2006/relationships/image" Target="../media/image92.png"/><Relationship Id="rId10" Type="http://schemas.openxmlformats.org/officeDocument/2006/relationships/image" Target="../media/image93.png"/><Relationship Id="rId11" Type="http://schemas.openxmlformats.org/officeDocument/2006/relationships/image" Target="../media/image94.png"/><Relationship Id="rId12" Type="http://schemas.openxmlformats.org/officeDocument/2006/relationships/image" Target="../media/image95.png"/><Relationship Id="rId13" Type="http://schemas.openxmlformats.org/officeDocument/2006/relationships/image" Target="../media/image96.png"/><Relationship Id="rId14" Type="http://schemas.openxmlformats.org/officeDocument/2006/relationships/image" Target="../media/image97.png"/><Relationship Id="rId15" Type="http://schemas.openxmlformats.org/officeDocument/2006/relationships/image" Target="../media/image98.png"/><Relationship Id="rId16" Type="http://schemas.openxmlformats.org/officeDocument/2006/relationships/image" Target="../media/image99.png"/><Relationship Id="rId17" Type="http://schemas.openxmlformats.org/officeDocument/2006/relationships/image" Target="../media/image100.png"/><Relationship Id="rId18" Type="http://schemas.openxmlformats.org/officeDocument/2006/relationships/image" Target="../media/image101.png"/><Relationship Id="rId19" Type="http://schemas.openxmlformats.org/officeDocument/2006/relationships/image" Target="../media/image102.png"/><Relationship Id="rId20" Type="http://schemas.openxmlformats.org/officeDocument/2006/relationships/image" Target="../media/image103.png"/><Relationship Id="rId21" Type="http://schemas.openxmlformats.org/officeDocument/2006/relationships/image" Target="../media/image104.png"/><Relationship Id="rId22" Type="http://schemas.openxmlformats.org/officeDocument/2006/relationships/image" Target="../media/image105.png"/><Relationship Id="rId23" Type="http://schemas.openxmlformats.org/officeDocument/2006/relationships/image" Target="../media/image106.png"/><Relationship Id="rId24" Type="http://schemas.openxmlformats.org/officeDocument/2006/relationships/image" Target="../media/image107.png"/><Relationship Id="rId25" Type="http://schemas.openxmlformats.org/officeDocument/2006/relationships/image" Target="../media/image108.png"/><Relationship Id="rId26" Type="http://schemas.openxmlformats.org/officeDocument/2006/relationships/slide" Target="slide2.xml"/><Relationship Id="rId27" Type="http://schemas.openxmlformats.org/officeDocument/2006/relationships/slide" Target="slide10.xml"/><Relationship Id="rId28" Type="http://schemas.openxmlformats.org/officeDocument/2006/relationships/slide" Target="slide23.xml"/><Relationship Id="rId29" Type="http://schemas.openxmlformats.org/officeDocument/2006/relationships/slide" Target="slide38.xml"/><Relationship Id="rId30" Type="http://schemas.openxmlformats.org/officeDocument/2006/relationships/slide" Target="slide45.xml"/><Relationship Id="rId31" Type="http://schemas.openxmlformats.org/officeDocument/2006/relationships/slide" Target="slide51.xml"/><Relationship Id="rId3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110.png"/><Relationship Id="rId4" Type="http://schemas.openxmlformats.org/officeDocument/2006/relationships/image" Target="../media/image111.png"/><Relationship Id="rId5" Type="http://schemas.openxmlformats.org/officeDocument/2006/relationships/image" Target="../media/image112.png"/><Relationship Id="rId6" Type="http://schemas.openxmlformats.org/officeDocument/2006/relationships/image" Target="../media/image113.png"/><Relationship Id="rId7" Type="http://schemas.openxmlformats.org/officeDocument/2006/relationships/image" Target="../media/image114.png"/><Relationship Id="rId8" Type="http://schemas.openxmlformats.org/officeDocument/2006/relationships/image" Target="../media/image115.png"/><Relationship Id="rId9" Type="http://schemas.openxmlformats.org/officeDocument/2006/relationships/image" Target="../media/image116.png"/><Relationship Id="rId10" Type="http://schemas.openxmlformats.org/officeDocument/2006/relationships/image" Target="../media/image117.png"/><Relationship Id="rId11" Type="http://schemas.openxmlformats.org/officeDocument/2006/relationships/image" Target="../media/image118.png"/><Relationship Id="rId12" Type="http://schemas.openxmlformats.org/officeDocument/2006/relationships/image" Target="../media/image119.png"/><Relationship Id="rId13" Type="http://schemas.openxmlformats.org/officeDocument/2006/relationships/image" Target="../media/image120.png"/><Relationship Id="rId14" Type="http://schemas.openxmlformats.org/officeDocument/2006/relationships/image" Target="../media/image121.png"/><Relationship Id="rId15" Type="http://schemas.openxmlformats.org/officeDocument/2006/relationships/image" Target="../media/image122.png"/><Relationship Id="rId16" Type="http://schemas.openxmlformats.org/officeDocument/2006/relationships/image" Target="../media/image123.png"/><Relationship Id="rId17" Type="http://schemas.openxmlformats.org/officeDocument/2006/relationships/image" Target="../media/image124.png"/><Relationship Id="rId18" Type="http://schemas.openxmlformats.org/officeDocument/2006/relationships/image" Target="../media/image125.png"/><Relationship Id="rId19" Type="http://schemas.openxmlformats.org/officeDocument/2006/relationships/image" Target="../media/image126.png"/><Relationship Id="rId20" Type="http://schemas.openxmlformats.org/officeDocument/2006/relationships/image" Target="../media/image127.png"/><Relationship Id="rId21" Type="http://schemas.openxmlformats.org/officeDocument/2006/relationships/image" Target="../media/image128.png"/><Relationship Id="rId22" Type="http://schemas.openxmlformats.org/officeDocument/2006/relationships/image" Target="../media/image129.png"/><Relationship Id="rId23" Type="http://schemas.openxmlformats.org/officeDocument/2006/relationships/image" Target="../media/image130.png"/><Relationship Id="rId24" Type="http://schemas.openxmlformats.org/officeDocument/2006/relationships/image" Target="../media/image131.png"/><Relationship Id="rId25" Type="http://schemas.openxmlformats.org/officeDocument/2006/relationships/image" Target="../media/image132.png"/><Relationship Id="rId26" Type="http://schemas.openxmlformats.org/officeDocument/2006/relationships/image" Target="../media/image133.png"/><Relationship Id="rId27" Type="http://schemas.openxmlformats.org/officeDocument/2006/relationships/slide" Target="slide2.xml"/><Relationship Id="rId28" Type="http://schemas.openxmlformats.org/officeDocument/2006/relationships/slide" Target="slide10.xml"/><Relationship Id="rId29" Type="http://schemas.openxmlformats.org/officeDocument/2006/relationships/slide" Target="slide23.xml"/><Relationship Id="rId30" Type="http://schemas.openxmlformats.org/officeDocument/2006/relationships/slide" Target="slide38.xml"/><Relationship Id="rId31" Type="http://schemas.openxmlformats.org/officeDocument/2006/relationships/slide" Target="slide45.xml"/><Relationship Id="rId32" Type="http://schemas.openxmlformats.org/officeDocument/2006/relationships/slide" Target="slide51.xml"/><Relationship Id="rId3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slide" Target="slide36.xml"/><Relationship Id="rId9" Type="http://schemas.openxmlformats.org/officeDocument/2006/relationships/slide" Target="slide33.xml"/><Relationship Id="rId10" Type="http://schemas.openxmlformats.org/officeDocument/2006/relationships/slide" Target="slide34.xml"/><Relationship Id="rId11" Type="http://schemas.openxmlformats.org/officeDocument/2006/relationships/slide" Target="slide42.xml"/><Relationship Id="rId12" Type="http://schemas.openxmlformats.org/officeDocument/2006/relationships/slide" Target="slide18.xml"/><Relationship Id="rId1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23.xml"/><Relationship Id="rId6" Type="http://schemas.openxmlformats.org/officeDocument/2006/relationships/slide" Target="slide38.xml"/><Relationship Id="rId7" Type="http://schemas.openxmlformats.org/officeDocument/2006/relationships/slide" Target="slide45.xml"/><Relationship Id="rId8" Type="http://schemas.openxmlformats.org/officeDocument/2006/relationships/slide" Target="slide5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 Id="rId3" Type="http://schemas.openxmlformats.org/officeDocument/2006/relationships/image" Target="../media/image135.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8.png"/><Relationship Id="rId7" Type="http://schemas.openxmlformats.org/officeDocument/2006/relationships/slide" Target="slide2.xml"/><Relationship Id="rId8" Type="http://schemas.openxmlformats.org/officeDocument/2006/relationships/slide" Target="slide10.xml"/><Relationship Id="rId9" Type="http://schemas.openxmlformats.org/officeDocument/2006/relationships/slide" Target="slide23.xml"/><Relationship Id="rId10" Type="http://schemas.openxmlformats.org/officeDocument/2006/relationships/slide" Target="slide38.xml"/><Relationship Id="rId11" Type="http://schemas.openxmlformats.org/officeDocument/2006/relationships/slide" Target="slide45.xml"/><Relationship Id="rId12" Type="http://schemas.openxmlformats.org/officeDocument/2006/relationships/slide" Target="slide51.xml"/><Relationship Id="rId1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image" Target="../media/image140.png"/><Relationship Id="rId4" Type="http://schemas.openxmlformats.org/officeDocument/2006/relationships/image" Target="../media/image141.png"/><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23.xml"/><Relationship Id="rId8" Type="http://schemas.openxmlformats.org/officeDocument/2006/relationships/slide" Target="slide38.xml"/><Relationship Id="rId9" Type="http://schemas.openxmlformats.org/officeDocument/2006/relationships/slide" Target="slide45.xml"/><Relationship Id="rId10" Type="http://schemas.openxmlformats.org/officeDocument/2006/relationships/slide" Target="slide51.xml"/><Relationship Id="rId11"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23.xml"/><Relationship Id="rId7" Type="http://schemas.openxmlformats.org/officeDocument/2006/relationships/slide" Target="slide38.xml"/><Relationship Id="rId8" Type="http://schemas.openxmlformats.org/officeDocument/2006/relationships/slide" Target="slide45.xml"/><Relationship Id="rId9" Type="http://schemas.openxmlformats.org/officeDocument/2006/relationships/slide" Target="slide51.xml"/><Relationship Id="rId1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image" Target="../media/image145.png"/><Relationship Id="rId4" Type="http://schemas.openxmlformats.org/officeDocument/2006/relationships/image" Target="../media/image146.png"/><Relationship Id="rId5" Type="http://schemas.openxmlformats.org/officeDocument/2006/relationships/image" Target="../media/image147.png"/><Relationship Id="rId6" Type="http://schemas.openxmlformats.org/officeDocument/2006/relationships/image" Target="../media/image148.png"/><Relationship Id="rId7" Type="http://schemas.openxmlformats.org/officeDocument/2006/relationships/image" Target="../media/image149.png"/><Relationship Id="rId8" Type="http://schemas.openxmlformats.org/officeDocument/2006/relationships/image" Target="../media/image150.png"/><Relationship Id="rId9" Type="http://schemas.openxmlformats.org/officeDocument/2006/relationships/image" Target="../media/image151.png"/><Relationship Id="rId10" Type="http://schemas.openxmlformats.org/officeDocument/2006/relationships/slide" Target="slide2.xml"/><Relationship Id="rId11" Type="http://schemas.openxmlformats.org/officeDocument/2006/relationships/slide" Target="slide10.xml"/><Relationship Id="rId12" Type="http://schemas.openxmlformats.org/officeDocument/2006/relationships/slide" Target="slide23.xml"/><Relationship Id="rId13" Type="http://schemas.openxmlformats.org/officeDocument/2006/relationships/slide" Target="slide38.xml"/><Relationship Id="rId14" Type="http://schemas.openxmlformats.org/officeDocument/2006/relationships/slide" Target="slide45.xml"/><Relationship Id="rId15" Type="http://schemas.openxmlformats.org/officeDocument/2006/relationships/slide" Target="slide51.xml"/><Relationship Id="rId1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23.xml"/><Relationship Id="rId6" Type="http://schemas.openxmlformats.org/officeDocument/2006/relationships/slide" Target="slide38.xml"/><Relationship Id="rId7" Type="http://schemas.openxmlformats.org/officeDocument/2006/relationships/slide" Target="slide45.xml"/><Relationship Id="rId8" Type="http://schemas.openxmlformats.org/officeDocument/2006/relationships/slide" Target="slide5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23.xml"/><Relationship Id="rId6" Type="http://schemas.openxmlformats.org/officeDocument/2006/relationships/slide" Target="slide38.xml"/><Relationship Id="rId7" Type="http://schemas.openxmlformats.org/officeDocument/2006/relationships/slide" Target="slide45.xml"/><Relationship Id="rId8" Type="http://schemas.openxmlformats.org/officeDocument/2006/relationships/slide" Target="slide51.xml"/><Relationship Id="rId9"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 Id="rId3" Type="http://schemas.openxmlformats.org/officeDocument/2006/relationships/image" Target="../media/image154.png"/><Relationship Id="rId4" Type="http://schemas.openxmlformats.org/officeDocument/2006/relationships/image" Target="../media/image155.png"/><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23.xml"/><Relationship Id="rId8" Type="http://schemas.openxmlformats.org/officeDocument/2006/relationships/slide" Target="slide38.xml"/><Relationship Id="rId9" Type="http://schemas.openxmlformats.org/officeDocument/2006/relationships/slide" Target="slide45.xml"/><Relationship Id="rId10" Type="http://schemas.openxmlformats.org/officeDocument/2006/relationships/slide" Target="slide51.xml"/><Relationship Id="rId11"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image" Target="../media/image157.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23.xml"/><Relationship Id="rId7" Type="http://schemas.openxmlformats.org/officeDocument/2006/relationships/slide" Target="slide38.xml"/><Relationship Id="rId8" Type="http://schemas.openxmlformats.org/officeDocument/2006/relationships/slide" Target="slide45.xml"/><Relationship Id="rId9" Type="http://schemas.openxmlformats.org/officeDocument/2006/relationships/slide" Target="slide51.xml"/><Relationship Id="rId10"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 Id="rId3" Type="http://schemas.openxmlformats.org/officeDocument/2006/relationships/image" Target="../media/image159.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23.xml"/><Relationship Id="rId7" Type="http://schemas.openxmlformats.org/officeDocument/2006/relationships/slide" Target="slide38.xml"/><Relationship Id="rId8" Type="http://schemas.openxmlformats.org/officeDocument/2006/relationships/slide" Target="slide45.xml"/><Relationship Id="rId9" Type="http://schemas.openxmlformats.org/officeDocument/2006/relationships/slide" Target="slide51.xml"/><Relationship Id="rId10"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slide" Target="slide43.xml"/><Relationship Id="rId9" Type="http://schemas.openxmlformats.org/officeDocument/2006/relationships/slide" Target="slide35.xml"/><Relationship Id="rId10" Type="http://schemas.openxmlformats.org/officeDocument/2006/relationships/slide" Target="slide34.xml"/><Relationship Id="rId11" Type="http://schemas.openxmlformats.org/officeDocument/2006/relationships/slide" Target="slide44.xml"/><Relationship Id="rId12" Type="http://schemas.openxmlformats.org/officeDocument/2006/relationships/slide" Target="slide40.xml"/><Relationship Id="rId13" Type="http://schemas.openxmlformats.org/officeDocument/2006/relationships/slide" Target="slide39.xml"/><Relationship Id="rId14" Type="http://schemas.openxmlformats.org/officeDocument/2006/relationships/slide" Target="slide41.xml"/><Relationship Id="rId15" Type="http://schemas.openxmlformats.org/officeDocument/2006/relationships/slide" Target="slide42.xml"/><Relationship Id="rId1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23.xml"/><Relationship Id="rId6" Type="http://schemas.openxmlformats.org/officeDocument/2006/relationships/slide" Target="slide38.xml"/><Relationship Id="rId7" Type="http://schemas.openxmlformats.org/officeDocument/2006/relationships/slide" Target="slide45.xml"/><Relationship Id="rId8" Type="http://schemas.openxmlformats.org/officeDocument/2006/relationships/slide" Target="slide51.xm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23.xml"/><Relationship Id="rId6" Type="http://schemas.openxmlformats.org/officeDocument/2006/relationships/slide" Target="slide38.xml"/><Relationship Id="rId7" Type="http://schemas.openxmlformats.org/officeDocument/2006/relationships/slide" Target="slide45.xml"/><Relationship Id="rId8" Type="http://schemas.openxmlformats.org/officeDocument/2006/relationships/slide" Target="slide51.xml"/><Relationship Id="rId9"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38.xml"/><Relationship Id="rId6" Type="http://schemas.openxmlformats.org/officeDocument/2006/relationships/slide" Target="slide45.xml"/><Relationship Id="rId7" Type="http://schemas.openxmlformats.org/officeDocument/2006/relationships/slide" Target="slide51.xml"/><Relationship Id="rId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slide" Target="slide64.xml"/><Relationship Id="rId5" Type="http://schemas.openxmlformats.org/officeDocument/2006/relationships/slide" Target="slide36.xml"/><Relationship Id="rId6" Type="http://schemas.openxmlformats.org/officeDocument/2006/relationships/slide" Target="slide50.xml"/><Relationship Id="rId7" Type="http://schemas.openxmlformats.org/officeDocument/2006/relationships/slide" Target="slide58.xml"/><Relationship Id="rId8"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 Id="rId4" Type="http://schemas.openxmlformats.org/officeDocument/2006/relationships/image" Target="../media/image165.png"/><Relationship Id="rId5" Type="http://schemas.openxmlformats.org/officeDocument/2006/relationships/image" Target="../media/image166.png"/><Relationship Id="rId6" Type="http://schemas.openxmlformats.org/officeDocument/2006/relationships/image" Target="../media/image167.png"/><Relationship Id="rId7" Type="http://schemas.openxmlformats.org/officeDocument/2006/relationships/image" Target="../media/image168.png"/><Relationship Id="rId8" Type="http://schemas.openxmlformats.org/officeDocument/2006/relationships/image" Target="../media/image169.png"/><Relationship Id="rId9" Type="http://schemas.openxmlformats.org/officeDocument/2006/relationships/image" Target="../media/image17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5.xml"/><Relationship Id="rId17" Type="http://schemas.openxmlformats.org/officeDocument/2006/relationships/slide" Target="slide16.xml"/><Relationship Id="rId18" Type="http://schemas.openxmlformats.org/officeDocument/2006/relationships/slide" Target="slide17.xml"/><Relationship Id="rId19" Type="http://schemas.openxmlformats.org/officeDocument/2006/relationships/slide" Target="slide18.xml"/><Relationship Id="rId20" Type="http://schemas.openxmlformats.org/officeDocument/2006/relationships/slide" Target="slide19.xml"/><Relationship Id="rId21" Type="http://schemas.openxmlformats.org/officeDocument/2006/relationships/slide" Target="slide20.xml"/><Relationship Id="rId22" Type="http://schemas.openxmlformats.org/officeDocument/2006/relationships/slide" Target="slide21.xml"/><Relationship Id="rId23" Type="http://schemas.openxmlformats.org/officeDocument/2006/relationships/slide" Target="slide22.xml"/><Relationship Id="rId24" Type="http://schemas.openxmlformats.org/officeDocument/2006/relationships/slide" Target="slide23.xml"/><Relationship Id="rId25" Type="http://schemas.openxmlformats.org/officeDocument/2006/relationships/slide" Target="slide24.xml"/><Relationship Id="rId26" Type="http://schemas.openxmlformats.org/officeDocument/2006/relationships/slide" Target="slide25.xml"/><Relationship Id="rId27" Type="http://schemas.openxmlformats.org/officeDocument/2006/relationships/slide" Target="slide26.xml"/><Relationship Id="rId28" Type="http://schemas.openxmlformats.org/officeDocument/2006/relationships/slide" Target="slide27.xml"/><Relationship Id="rId29" Type="http://schemas.openxmlformats.org/officeDocument/2006/relationships/slide" Target="slide28.xml"/><Relationship Id="rId30" Type="http://schemas.openxmlformats.org/officeDocument/2006/relationships/slide" Target="slide29.xml"/><Relationship Id="rId31" Type="http://schemas.openxmlformats.org/officeDocument/2006/relationships/slide" Target="slide30.xml"/><Relationship Id="rId32" Type="http://schemas.openxmlformats.org/officeDocument/2006/relationships/slide" Target="slide31.xml"/><Relationship Id="rId33" Type="http://schemas.openxmlformats.org/officeDocument/2006/relationships/slide" Target="slide32.xml"/><Relationship Id="rId34" Type="http://schemas.openxmlformats.org/officeDocument/2006/relationships/slide" Target="slide33.xml"/><Relationship Id="rId35" Type="http://schemas.openxmlformats.org/officeDocument/2006/relationships/slide" Target="slide34.xml"/><Relationship Id="rId36" Type="http://schemas.openxmlformats.org/officeDocument/2006/relationships/slide" Target="slide35.xml"/><Relationship Id="rId37" Type="http://schemas.openxmlformats.org/officeDocument/2006/relationships/slide" Target="slide36.xml"/><Relationship Id="rId38" Type="http://schemas.openxmlformats.org/officeDocument/2006/relationships/slide" Target="slide37.xml"/><Relationship Id="rId39" Type="http://schemas.openxmlformats.org/officeDocument/2006/relationships/slide" Target="slide38.xml"/><Relationship Id="rId40" Type="http://schemas.openxmlformats.org/officeDocument/2006/relationships/slide" Target="slide39.xml"/><Relationship Id="rId41" Type="http://schemas.openxmlformats.org/officeDocument/2006/relationships/slide" Target="slide40.xml"/><Relationship Id="rId42" Type="http://schemas.openxmlformats.org/officeDocument/2006/relationships/slide" Target="slide41.xml"/><Relationship Id="rId43" Type="http://schemas.openxmlformats.org/officeDocument/2006/relationships/slide" Target="slide42.xml"/><Relationship Id="rId44" Type="http://schemas.openxmlformats.org/officeDocument/2006/relationships/slide" Target="slide43.xml"/><Relationship Id="rId45" Type="http://schemas.openxmlformats.org/officeDocument/2006/relationships/slide" Target="slide44.xml"/><Relationship Id="rId46" Type="http://schemas.openxmlformats.org/officeDocument/2006/relationships/slide" Target="slide45.xml"/><Relationship Id="rId47" Type="http://schemas.openxmlformats.org/officeDocument/2006/relationships/slide" Target="slide46.xml"/><Relationship Id="rId48" Type="http://schemas.openxmlformats.org/officeDocument/2006/relationships/slide" Target="slide47.xml"/><Relationship Id="rId49" Type="http://schemas.openxmlformats.org/officeDocument/2006/relationships/slide" Target="slide48.xml"/><Relationship Id="rId50" Type="http://schemas.openxmlformats.org/officeDocument/2006/relationships/slide" Target="slide49.xml"/><Relationship Id="rId51" Type="http://schemas.openxmlformats.org/officeDocument/2006/relationships/slide" Target="slide50.xml"/><Relationship Id="rId52" Type="http://schemas.openxmlformats.org/officeDocument/2006/relationships/slide" Target="slide51.xml"/><Relationship Id="rId53" Type="http://schemas.openxmlformats.org/officeDocument/2006/relationships/slide" Target="slide52.xml"/><Relationship Id="rId54" Type="http://schemas.openxmlformats.org/officeDocument/2006/relationships/slide" Target="slide53.xml"/><Relationship Id="rId55" Type="http://schemas.openxmlformats.org/officeDocument/2006/relationships/slide" Target="slide54.xml"/><Relationship Id="rId56" Type="http://schemas.openxmlformats.org/officeDocument/2006/relationships/slide" Target="slide55.xml"/><Relationship Id="rId57" Type="http://schemas.openxmlformats.org/officeDocument/2006/relationships/slide" Target="slide56.xml"/><Relationship Id="rId58" Type="http://schemas.openxmlformats.org/officeDocument/2006/relationships/slide" Target="slide57.xml"/><Relationship Id="rId59" Type="http://schemas.openxmlformats.org/officeDocument/2006/relationships/slide" Target="slide58.xml"/><Relationship Id="rId60" Type="http://schemas.openxmlformats.org/officeDocument/2006/relationships/slide" Target="slide59.xml"/><Relationship Id="rId61" Type="http://schemas.openxmlformats.org/officeDocument/2006/relationships/slide" Target="slide60.xml"/><Relationship Id="rId62" Type="http://schemas.openxmlformats.org/officeDocument/2006/relationships/slide" Target="slide61.xml"/><Relationship Id="rId63" Type="http://schemas.openxmlformats.org/officeDocument/2006/relationships/slide" Target="slide62.xml"/><Relationship Id="rId64" Type="http://schemas.openxmlformats.org/officeDocument/2006/relationships/slide" Target="slide6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_universidad.png"/>
          <p:cNvPicPr>
            <a:picLocks noChangeAspect="1"/>
          </p:cNvPicPr>
          <p:nvPr/>
        </p:nvPicPr>
        <p:blipFill>
          <a:blip r:embed="rId2"/>
          <a:srcRect/>
          <a:stretch>
            <a:fillRect/>
          </a:stretch>
        </p:blipFill>
        <p:spPr>
          <a:xfrm>
            <a:off x="698500" y="584200"/>
            <a:ext cx="711200" cy="814515"/>
          </a:xfrm>
          <a:prstGeom prst="rect">
            <a:avLst/>
          </a:prstGeom>
        </p:spPr>
      </p:pic>
      <p:sp>
        <p:nvSpPr>
          <p:cNvPr id="3" name="TextBox 2"/>
          <p:cNvSpPr txBox="1"/>
          <p:nvPr/>
        </p:nvSpPr>
        <p:spPr>
          <a:xfrm>
            <a:off x="1587500" y="749046"/>
            <a:ext cx="3486848" cy="263525"/>
          </a:xfrm>
          <a:prstGeom prst="rect">
            <a:avLst/>
          </a:prstGeom>
          <a:noFill/>
        </p:spPr>
        <p:txBody>
          <a:bodyPr wrap="square" lIns="0" rIns="0" tIns="0" bIns="0" anchor="t"/>
          <a:lstStyle/>
          <a:p>
            <a:pPr algn="l">
              <a:lnSpc>
                <a:spcPts val="2075"/>
              </a:lnSpc>
              <a:spcBef>
                <a:spcPts val="0"/>
              </a:spcBef>
              <a:spcAft>
                <a:spcPts val="0"/>
              </a:spcAft>
            </a:pPr>
            <a:r>
              <a:rPr sz="1700" b="1" i="0">
                <a:solidFill>
                  <a:srgbClr val="1B2A4A"/>
                </a:solidFill>
                <a:latin typeface="Calibri"/>
              </a:rPr>
              <a:t>Universidad Autónoma «Tomás Frías»</a:t>
            </a:r>
          </a:p>
        </p:txBody>
      </p:sp>
      <p:sp>
        <p:nvSpPr>
          <p:cNvPr id="4" name="TextBox 3"/>
          <p:cNvSpPr txBox="1"/>
          <p:nvPr/>
        </p:nvSpPr>
        <p:spPr>
          <a:xfrm>
            <a:off x="1587500" y="1048831"/>
            <a:ext cx="3486848" cy="193802"/>
          </a:xfrm>
          <a:prstGeom prst="rect">
            <a:avLst/>
          </a:prstGeom>
          <a:noFill/>
        </p:spPr>
        <p:txBody>
          <a:bodyPr wrap="square" lIns="0" rIns="0" tIns="0" bIns="0" anchor="t"/>
          <a:lstStyle/>
          <a:p>
            <a:pPr algn="l">
              <a:lnSpc>
                <a:spcPts val="1526"/>
              </a:lnSpc>
              <a:spcBef>
                <a:spcPts val="0"/>
              </a:spcBef>
              <a:spcAft>
                <a:spcPts val="0"/>
              </a:spcAft>
            </a:pPr>
            <a:r>
              <a:rPr sz="1250" b="0" i="0">
                <a:solidFill>
                  <a:srgbClr val="5B6575"/>
                </a:solidFill>
                <a:latin typeface="Calibri"/>
              </a:rPr>
              <a:t>Facultad de Ingeniería · Carrera de Ingeniería Civil</a:t>
            </a:r>
          </a:p>
        </p:txBody>
      </p:sp>
      <p:sp>
        <p:nvSpPr>
          <p:cNvPr id="5" name="Rectangle 4"/>
          <p:cNvSpPr/>
          <p:nvPr/>
        </p:nvSpPr>
        <p:spPr>
          <a:xfrm>
            <a:off x="698500" y="1805114"/>
            <a:ext cx="4142296"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8500" y="2109914"/>
            <a:ext cx="4142296"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8500" y="1809533"/>
            <a:ext cx="4225100"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Tesis de grado · Licenciatura en Ingeniería Civil</a:t>
            </a:r>
          </a:p>
        </p:txBody>
      </p:sp>
      <p:sp>
        <p:nvSpPr>
          <p:cNvPr id="8" name="TextBox 7"/>
          <p:cNvSpPr txBox="1"/>
          <p:nvPr/>
        </p:nvSpPr>
        <p:spPr>
          <a:xfrm>
            <a:off x="698500" y="2378390"/>
            <a:ext cx="6347460" cy="1649984"/>
          </a:xfrm>
          <a:prstGeom prst="rect">
            <a:avLst/>
          </a:prstGeom>
          <a:noFill/>
        </p:spPr>
        <p:txBody>
          <a:bodyPr wrap="square" lIns="0" rIns="0" tIns="0" bIns="0" anchor="t"/>
          <a:lstStyle/>
          <a:p>
            <a:pPr algn="l">
              <a:lnSpc>
                <a:spcPts val="3248"/>
              </a:lnSpc>
              <a:spcBef>
                <a:spcPts val="0"/>
              </a:spcBef>
              <a:spcAft>
                <a:spcPts val="0"/>
              </a:spcAft>
            </a:pPr>
            <a:r>
              <a:rPr sz="2900" b="1" i="0">
                <a:solidFill>
                  <a:srgbClr val="1B2A4A"/>
                </a:solidFill>
                <a:latin typeface="Calibri"/>
              </a:rPr>
              <a:t>Desarrollo de software educativo de</a:t>
            </a:r>
            <a:br/>
            <a:r>
              <a:rPr sz="2900" b="1" i="0">
                <a:solidFill>
                  <a:srgbClr val="1B2A4A"/>
                </a:solidFill>
                <a:latin typeface="Calibri"/>
              </a:rPr>
              <a:t>elementos finitos para el análisis</a:t>
            </a:r>
            <a:br/>
            <a:r>
              <a:rPr sz="2900" b="1" i="0">
                <a:solidFill>
                  <a:srgbClr val="1B2A4A"/>
                </a:solidFill>
                <a:latin typeface="Calibri"/>
              </a:rPr>
              <a:t>estructural empleando el lenguaje de</a:t>
            </a:r>
            <a:br/>
            <a:r>
              <a:rPr sz="2900" b="1" i="0">
                <a:solidFill>
                  <a:srgbClr val="1B2A4A"/>
                </a:solidFill>
                <a:latin typeface="Calibri"/>
              </a:rPr>
              <a:t>programación</a:t>
            </a:r>
            <a:r>
              <a:rPr sz="2900" b="1" i="0">
                <a:solidFill>
                  <a:srgbClr val="E8741A"/>
                </a:solidFill>
                <a:latin typeface="Calibri"/>
              </a:rPr>
              <a:t> Python</a:t>
            </a:r>
          </a:p>
        </p:txBody>
      </p:sp>
      <p:sp>
        <p:nvSpPr>
          <p:cNvPr id="9" name="Rectangle 8"/>
          <p:cNvSpPr/>
          <p:nvPr/>
        </p:nvSpPr>
        <p:spPr>
          <a:xfrm>
            <a:off x="698500" y="4267708"/>
            <a:ext cx="6223000" cy="7048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8500" y="4267708"/>
            <a:ext cx="6223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4686912"/>
            <a:ext cx="6347460" cy="294576"/>
          </a:xfrm>
          <a:prstGeom prst="rect">
            <a:avLst/>
          </a:prstGeom>
          <a:noFill/>
        </p:spPr>
        <p:txBody>
          <a:bodyPr wrap="square" lIns="0" rIns="0" tIns="0" bIns="0" anchor="t"/>
          <a:lstStyle/>
          <a:p>
            <a:pPr algn="l">
              <a:lnSpc>
                <a:spcPts val="2320"/>
              </a:lnSpc>
              <a:spcBef>
                <a:spcPts val="0"/>
              </a:spcBef>
              <a:spcAft>
                <a:spcPts val="0"/>
              </a:spcAft>
            </a:pPr>
            <a:r>
              <a:rPr sz="1900" b="1" i="0">
                <a:solidFill>
                  <a:srgbClr val="1B2A4A"/>
                </a:solidFill>
                <a:latin typeface="Calibri"/>
              </a:rPr>
              <a:t>Hedy Yhassmany Oyola Sucullani</a:t>
            </a:r>
          </a:p>
        </p:txBody>
      </p:sp>
      <p:sp>
        <p:nvSpPr>
          <p:cNvPr id="12" name="TextBox 11"/>
          <p:cNvSpPr txBox="1"/>
          <p:nvPr/>
        </p:nvSpPr>
        <p:spPr>
          <a:xfrm>
            <a:off x="698500" y="4469980"/>
            <a:ext cx="6347460" cy="162750"/>
          </a:xfrm>
          <a:prstGeom prst="rect">
            <a:avLst/>
          </a:prstGeom>
          <a:noFill/>
        </p:spPr>
        <p:txBody>
          <a:bodyPr wrap="square" lIns="0" rIns="0" tIns="0" bIns="0" anchor="t"/>
          <a:lstStyle/>
          <a:p>
            <a:pPr algn="l">
              <a:lnSpc>
                <a:spcPts val="1282"/>
              </a:lnSpc>
              <a:spcBef>
                <a:spcPts val="0"/>
              </a:spcBef>
              <a:spcAft>
                <a:spcPts val="0"/>
              </a:spcAft>
            </a:pPr>
            <a:r>
              <a:rPr sz="1050" b="1" i="0" cap="all" spc="126">
                <a:solidFill>
                  <a:srgbClr val="5B6575"/>
                </a:solidFill>
                <a:latin typeface="Calibri"/>
              </a:rPr>
              <a:t>Postulante</a:t>
            </a:r>
          </a:p>
        </p:txBody>
      </p:sp>
      <p:sp>
        <p:nvSpPr>
          <p:cNvPr id="13" name="TextBox 12"/>
          <p:cNvSpPr txBox="1"/>
          <p:nvPr/>
        </p:nvSpPr>
        <p:spPr>
          <a:xfrm>
            <a:off x="698500" y="5057056"/>
            <a:ext cx="6347460" cy="217043"/>
          </a:xfrm>
          <a:prstGeom prst="rect">
            <a:avLst/>
          </a:prstGeom>
          <a:noFill/>
        </p:spPr>
        <p:txBody>
          <a:bodyPr wrap="square" lIns="0" rIns="0" tIns="0" bIns="0" anchor="t"/>
          <a:lstStyle/>
          <a:p>
            <a:pPr algn="l">
              <a:lnSpc>
                <a:spcPts val="1709"/>
              </a:lnSpc>
              <a:spcBef>
                <a:spcPts val="0"/>
              </a:spcBef>
              <a:spcAft>
                <a:spcPts val="0"/>
              </a:spcAft>
            </a:pPr>
            <a:r>
              <a:rPr sz="1400" b="0" i="0">
                <a:solidFill>
                  <a:srgbClr val="5B6575"/>
                </a:solidFill>
                <a:latin typeface="Calibri"/>
              </a:rPr>
              <a:t>Potosí – Bolivia · Septiembre de 2026</a:t>
            </a:r>
          </a:p>
        </p:txBody>
      </p:sp>
      <p:sp>
        <p:nvSpPr>
          <p:cNvPr id="14" name="Rounded Rectangle 13"/>
          <p:cNvSpPr/>
          <p:nvPr/>
        </p:nvSpPr>
        <p:spPr>
          <a:xfrm>
            <a:off x="698500" y="5992812"/>
            <a:ext cx="1229550" cy="357188"/>
          </a:xfrm>
          <a:prstGeom prst="roundRect">
            <a:avLst>
              <a:gd name="adj" fmla="val 1422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4550" y="6105557"/>
            <a:ext cx="93745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Comenzar</a:t>
            </a:r>
          </a:p>
        </p:txBody>
      </p:sp>
      <p:sp>
        <p:nvSpPr>
          <p:cNvPr id="16" name="TextBox 15"/>
          <p:cNvSpPr txBox="1"/>
          <p:nvPr/>
        </p:nvSpPr>
        <p:spPr>
          <a:xfrm>
            <a:off x="1580261" y="6101469"/>
            <a:ext cx="201740" cy="166688"/>
          </a:xfrm>
          <a:prstGeom prst="rect">
            <a:avLst/>
          </a:prstGeom>
          <a:noFill/>
        </p:spPr>
        <p:txBody>
          <a:bodyPr wrap="square" lIns="0" rIns="0" tIns="0" bIns="0" anchor="t"/>
          <a:lstStyle/>
          <a:p>
            <a:pPr algn="ctr">
              <a:lnSpc>
                <a:spcPts val="1312"/>
              </a:lnSpc>
              <a:spcBef>
                <a:spcPts val="0"/>
              </a:spcBef>
              <a:spcAft>
                <a:spcPts val="0"/>
              </a:spcAft>
            </a:pPr>
            <a:r>
              <a:rPr sz="1312" b="1" i="0">
                <a:solidFill>
                  <a:srgbClr val="FFFFFF"/>
                </a:solidFill>
                <a:latin typeface="Calibri"/>
              </a:rPr>
              <a:t>→</a:t>
            </a:r>
          </a:p>
        </p:txBody>
      </p:sp>
      <p:sp>
        <p:nvSpPr>
          <p:cNvPr id="17" name="Rounded Rectangle 16"/>
          <p:cNvSpPr/>
          <p:nvPr/>
        </p:nvSpPr>
        <p:spPr>
          <a:xfrm>
            <a:off x="2020126" y="5999988"/>
            <a:ext cx="913130" cy="342900"/>
          </a:xfrm>
          <a:prstGeom prst="roundRect">
            <a:avLst>
              <a:gd name="adj" fmla="val 13888"/>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3000" y="6105557"/>
            <a:ext cx="62738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Índice</a:t>
            </a:r>
          </a:p>
        </p:txBody>
      </p:sp>
      <p:sp>
        <p:nvSpPr>
          <p:cNvPr id="19" name="Rounded Rectangle 18"/>
          <p:cNvSpPr/>
          <p:nvPr/>
        </p:nvSpPr>
        <p:spPr>
          <a:xfrm>
            <a:off x="3028442" y="5999988"/>
            <a:ext cx="1958086" cy="342900"/>
          </a:xfrm>
          <a:prstGeom prst="roundRect">
            <a:avLst>
              <a:gd name="adj" fmla="val 13888"/>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71317" y="6105557"/>
            <a:ext cx="1672336"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Trazabilidad en acción</a:t>
            </a:r>
          </a:p>
        </p:txBody>
      </p:sp>
      <p:sp>
        <p:nvSpPr>
          <p:cNvPr id="21" name="Rectangle 20"/>
          <p:cNvSpPr/>
          <p:nvPr/>
        </p:nvSpPr>
        <p:spPr>
          <a:xfrm>
            <a:off x="7366000" y="0"/>
            <a:ext cx="4826000"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66000" y="0"/>
            <a:ext cx="50800" cy="68580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97800" y="357251"/>
            <a:ext cx="3738436" cy="165100"/>
          </a:xfrm>
          <a:prstGeom prst="rect">
            <a:avLst/>
          </a:prstGeom>
          <a:noFill/>
        </p:spPr>
        <p:txBody>
          <a:bodyPr wrap="square" lIns="0" rIns="0" tIns="0" bIns="0" anchor="t"/>
          <a:lstStyle/>
          <a:p>
            <a:pPr algn="l">
              <a:lnSpc>
                <a:spcPts val="1300"/>
              </a:lnSpc>
              <a:spcBef>
                <a:spcPts val="0"/>
              </a:spcBef>
              <a:spcAft>
                <a:spcPts val="0"/>
              </a:spcAft>
            </a:pPr>
            <a:r>
              <a:rPr sz="1000" b="1" i="0" cap="all" spc="120">
                <a:solidFill>
                  <a:srgbClr val="9AA8C4"/>
                </a:solidFill>
                <a:latin typeface="Calibri"/>
              </a:rPr>
              <a:t>Membrana de Cook · von Mises · datos del motor</a:t>
            </a:r>
          </a:p>
        </p:txBody>
      </p:sp>
      <p:pic>
        <p:nvPicPr>
          <p:cNvPr id="24" name="Picture 23" descr="fig_logo_edufem.png"/>
          <p:cNvPicPr>
            <a:picLocks noChangeAspect="1"/>
          </p:cNvPicPr>
          <p:nvPr/>
        </p:nvPicPr>
        <p:blipFill>
          <a:blip r:embed="rId3"/>
          <a:srcRect/>
          <a:stretch>
            <a:fillRect/>
          </a:stretch>
        </p:blipFill>
        <p:spPr>
          <a:xfrm>
            <a:off x="7797800" y="5819775"/>
            <a:ext cx="609600" cy="609600"/>
          </a:xfrm>
          <a:prstGeom prst="roundRect">
            <a:avLst>
              <a:gd name="adj" fmla="val 22916"/>
            </a:avLst>
          </a:prstGeom>
        </p:spPr>
      </p:pic>
      <p:sp>
        <p:nvSpPr>
          <p:cNvPr id="25" name="TextBox 24"/>
          <p:cNvSpPr txBox="1"/>
          <p:nvPr/>
        </p:nvSpPr>
        <p:spPr>
          <a:xfrm>
            <a:off x="8559800" y="5809983"/>
            <a:ext cx="2277682" cy="449580"/>
          </a:xfrm>
          <a:prstGeom prst="rect">
            <a:avLst/>
          </a:prstGeom>
          <a:noFill/>
        </p:spPr>
        <p:txBody>
          <a:bodyPr wrap="square" lIns="0" rIns="0" tIns="0" bIns="0" anchor="t"/>
          <a:lstStyle/>
          <a:p>
            <a:pPr algn="l">
              <a:lnSpc>
                <a:spcPts val="3540"/>
              </a:lnSpc>
              <a:spcBef>
                <a:spcPts val="0"/>
              </a:spcBef>
              <a:spcAft>
                <a:spcPts val="0"/>
              </a:spcAft>
            </a:pPr>
            <a:r>
              <a:rPr sz="2900" b="1" i="0">
                <a:solidFill>
                  <a:srgbClr val="EEF3FC"/>
                </a:solidFill>
                <a:latin typeface="Calibri"/>
              </a:rPr>
              <a:t>Edu</a:t>
            </a:r>
            <a:r>
              <a:rPr sz="2900" b="1" i="0">
                <a:solidFill>
                  <a:srgbClr val="E8741A"/>
                </a:solidFill>
                <a:latin typeface="Calibri"/>
              </a:rPr>
              <a:t>FEM</a:t>
            </a:r>
          </a:p>
        </p:txBody>
      </p:sp>
      <p:sp>
        <p:nvSpPr>
          <p:cNvPr id="26" name="TextBox 25"/>
          <p:cNvSpPr txBox="1"/>
          <p:nvPr/>
        </p:nvSpPr>
        <p:spPr>
          <a:xfrm>
            <a:off x="8559800" y="6278218"/>
            <a:ext cx="2277682"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C7D2E8"/>
                </a:solidFill>
                <a:latin typeface="Calibri"/>
              </a:rPr>
              <a:t>El procedimiento de cálculo, a la vista</a:t>
            </a:r>
          </a:p>
        </p:txBody>
      </p:sp>
      <p:pic>
        <p:nvPicPr>
          <p:cNvPr id="27" name="Picture 26" descr="a0e5716837bfb438.png"/>
          <p:cNvPicPr>
            <a:picLocks noChangeAspect="1"/>
          </p:cNvPicPr>
          <p:nvPr/>
        </p:nvPicPr>
        <p:blipFill>
          <a:blip r:embed="rId4"/>
          <a:stretch>
            <a:fillRect/>
          </a:stretch>
        </p:blipFill>
        <p:spPr>
          <a:xfrm>
            <a:off x="7416800" y="762000"/>
            <a:ext cx="4775200" cy="4572000"/>
          </a:xfrm>
          <a:prstGeom prst="rect">
            <a:avLst/>
          </a:prstGeom>
        </p:spPr>
      </p:pic>
      <p:sp>
        <p:nvSpPr>
          <p:cNvPr id="28" name="Enlace a __siguiente">
            <a:hlinkClick r:id="" action="ppaction://hlinkshowjump?jump=nextslide"/>
          </p:cNvPr>
          <p:cNvSpPr/>
          <p:nvPr/>
        </p:nvSpPr>
        <p:spPr>
          <a:xfrm>
            <a:off x="698500" y="5992812"/>
            <a:ext cx="1229550" cy="35718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nlace a __indice">
            <a:hlinkClick action="ppaction://hlinksldjump" r:id="rId5"/>
          </p:cNvPr>
          <p:cNvSpPr/>
          <p:nvPr/>
        </p:nvSpPr>
        <p:spPr>
          <a:xfrm>
            <a:off x="2016950" y="5996813"/>
            <a:ext cx="91948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nlace a trazabilidad">
            <a:hlinkClick action="ppaction://hlinksldjump" r:id="rId6"/>
          </p:cNvPr>
          <p:cNvSpPr/>
          <p:nvPr/>
        </p:nvSpPr>
        <p:spPr>
          <a:xfrm>
            <a:off x="3025267" y="5996813"/>
            <a:ext cx="1964436"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23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23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56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67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67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0" nodeType="withEffect">
                                  <p:stCondLst>
                                    <p:cond delay="67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par>
                                <p:cTn id="48" presetID="10" presetClass="entr" presetSubtype="0" fill="hold" grpId="0" nodeType="withEffect">
                                  <p:stCondLst>
                                    <p:cond delay="67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par>
                                <p:cTn id="51" presetID="10" presetClass="entr" presetSubtype="0" fill="hold" grpId="0" nodeType="withEffect">
                                  <p:stCondLst>
                                    <p:cond delay="67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50"/>
                                        <p:tgtEl>
                                          <p:spTgt spid="18"/>
                                        </p:tgtEl>
                                      </p:cBhvr>
                                    </p:animEffect>
                                  </p:childTnLst>
                                </p:cTn>
                              </p:par>
                              <p:par>
                                <p:cTn id="54" presetID="10" presetClass="entr" presetSubtype="0" fill="hold" grpId="0" nodeType="withEffect">
                                  <p:stCondLst>
                                    <p:cond delay="67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450"/>
                                        <p:tgtEl>
                                          <p:spTgt spid="19"/>
                                        </p:tgtEl>
                                      </p:cBhvr>
                                    </p:animEffect>
                                  </p:childTnLst>
                                </p:cTn>
                              </p:par>
                              <p:par>
                                <p:cTn id="57" presetID="10" presetClass="entr" presetSubtype="0" fill="hold" grpId="0" nodeType="withEffect">
                                  <p:stCondLst>
                                    <p:cond delay="67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Picture 1"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52500" y="2117280"/>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01</a:t>
            </a:r>
          </a:p>
        </p:txBody>
      </p:sp>
      <p:sp>
        <p:nvSpPr>
          <p:cNvPr id="4" name="Rectangle 3"/>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Introducción</a:t>
            </a:r>
          </a:p>
        </p:txBody>
      </p:sp>
      <p:sp>
        <p:nvSpPr>
          <p:cNvPr id="7" name="Rectangle 6"/>
          <p:cNvSpPr/>
          <p:nvPr/>
        </p:nvSpPr>
        <p:spPr>
          <a:xfrm>
            <a:off x="3111500" y="2567876"/>
            <a:ext cx="8128000" cy="8685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11500" y="2567876"/>
            <a:ext cx="38100" cy="868553"/>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5200" y="2731668"/>
            <a:ext cx="7888986" cy="62738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La situación problemática, el problema científico, el objeto y el campo, los</a:t>
            </a:r>
            <a:br/>
            <a:r>
              <a:rPr sz="1900" b="0" i="0">
                <a:solidFill>
                  <a:srgbClr val="C7D2E8"/>
                </a:solidFill>
                <a:latin typeface="Calibri"/>
              </a:rPr>
              <a:t>objetivos, la hipótesis y el método.</a:t>
            </a:r>
          </a:p>
        </p:txBody>
      </p:sp>
      <p:sp>
        <p:nvSpPr>
          <p:cNvPr id="10" name="Rounded Rectangle 9"/>
          <p:cNvSpPr/>
          <p:nvPr/>
        </p:nvSpPr>
        <p:spPr>
          <a:xfrm>
            <a:off x="952500" y="5671947"/>
            <a:ext cx="1619250" cy="576453"/>
          </a:xfrm>
          <a:prstGeom prst="roundRect">
            <a:avLst>
              <a:gd name="adj" fmla="val 11015"/>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96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01</a:t>
            </a:r>
            <a:br/>
            <a:r>
              <a:rPr sz="1100" b="1" i="0">
                <a:solidFill>
                  <a:srgbClr val="FFFFFF"/>
                </a:solidFill>
                <a:latin typeface="Calibri"/>
              </a:rPr>
              <a:t>Introducción</a:t>
            </a:r>
          </a:p>
        </p:txBody>
      </p:sp>
      <p:sp>
        <p:nvSpPr>
          <p:cNvPr id="12" name="Rounded Rectangle 11"/>
          <p:cNvSpPr/>
          <p:nvPr/>
        </p:nvSpPr>
        <p:spPr>
          <a:xfrm>
            <a:off x="268922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02</a:t>
            </a:r>
            <a:br/>
            <a:r>
              <a:rPr sz="1100" b="0" i="0">
                <a:solidFill>
                  <a:srgbClr val="C7D2E8"/>
                </a:solidFill>
                <a:latin typeface="Calibri"/>
              </a:rPr>
              <a:t>Base teórica</a:t>
            </a:r>
          </a:p>
        </p:txBody>
      </p:sp>
      <p:sp>
        <p:nvSpPr>
          <p:cNvPr id="14" name="Rounded Rectangle 13"/>
          <p:cNvSpPr/>
          <p:nvPr/>
        </p:nvSpPr>
        <p:spPr>
          <a:xfrm>
            <a:off x="442277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67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03</a:t>
            </a:r>
            <a:br/>
            <a:r>
              <a:rPr sz="1100" b="0" i="0">
                <a:solidFill>
                  <a:srgbClr val="C7D2E8"/>
                </a:solidFill>
                <a:latin typeface="Calibri"/>
              </a:rPr>
              <a:t>Diseño y desarrollo</a:t>
            </a:r>
          </a:p>
        </p:txBody>
      </p:sp>
      <p:sp>
        <p:nvSpPr>
          <p:cNvPr id="16" name="Rounded Rectangle 15"/>
          <p:cNvSpPr/>
          <p:nvPr/>
        </p:nvSpPr>
        <p:spPr>
          <a:xfrm>
            <a:off x="615632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03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04</a:t>
            </a:r>
            <a:br/>
            <a:r>
              <a:rPr sz="1100" b="0" i="0">
                <a:solidFill>
                  <a:srgbClr val="C7D2E8"/>
                </a:solidFill>
                <a:latin typeface="Calibri"/>
              </a:rPr>
              <a:t>Resultados</a:t>
            </a:r>
          </a:p>
        </p:txBody>
      </p:sp>
      <p:sp>
        <p:nvSpPr>
          <p:cNvPr id="18" name="Rounded Rectangle 17"/>
          <p:cNvSpPr/>
          <p:nvPr/>
        </p:nvSpPr>
        <p:spPr>
          <a:xfrm>
            <a:off x="788987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438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05</a:t>
            </a:r>
            <a:br/>
            <a:r>
              <a:rPr sz="1100" b="0" i="0">
                <a:solidFill>
                  <a:srgbClr val="C7D2E8"/>
                </a:solidFill>
                <a:latin typeface="Calibri"/>
              </a:rPr>
              <a:t>Análisis</a:t>
            </a:r>
          </a:p>
        </p:txBody>
      </p:sp>
      <p:sp>
        <p:nvSpPr>
          <p:cNvPr id="20" name="Rounded Rectangle 19"/>
          <p:cNvSpPr/>
          <p:nvPr/>
        </p:nvSpPr>
        <p:spPr>
          <a:xfrm>
            <a:off x="962342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774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06</a:t>
            </a:r>
            <a:br/>
            <a:r>
              <a:rPr sz="1100" b="0" i="0">
                <a:solidFill>
                  <a:srgbClr val="C7D2E8"/>
                </a:solidFill>
                <a:latin typeface="Calibri"/>
              </a:rPr>
              <a:t>Conclusiones</a:t>
            </a:r>
          </a:p>
        </p:txBody>
      </p:sp>
      <p:sp>
        <p:nvSpPr>
          <p:cNvPr id="22" name="Enlace a sep-intro">
            <a:hlinkClick action="ppaction://hlinksldjump" r:id="rId3"/>
          </p:cNvPr>
          <p:cNvSpPr/>
          <p:nvPr/>
        </p:nvSpPr>
        <p:spPr>
          <a:xfrm>
            <a:off x="9525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nlace a sep-teoria">
            <a:hlinkClick action="ppaction://hlinksldjump" r:id="rId4"/>
          </p:cNvPr>
          <p:cNvSpPr/>
          <p:nvPr/>
        </p:nvSpPr>
        <p:spPr>
          <a:xfrm>
            <a:off x="26860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nlace a sep-diseno">
            <a:hlinkClick action="ppaction://hlinksldjump" r:id="rId5"/>
          </p:cNvPr>
          <p:cNvSpPr/>
          <p:nvPr/>
        </p:nvSpPr>
        <p:spPr>
          <a:xfrm>
            <a:off x="44196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nlace a sep-resultados">
            <a:hlinkClick action="ppaction://hlinksldjump" r:id="rId6"/>
          </p:cNvPr>
          <p:cNvSpPr/>
          <p:nvPr/>
        </p:nvSpPr>
        <p:spPr>
          <a:xfrm>
            <a:off x="61531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nlace a sep-analisis">
            <a:hlinkClick action="ppaction://hlinksldjump" r:id="rId7"/>
          </p:cNvPr>
          <p:cNvSpPr/>
          <p:nvPr/>
        </p:nvSpPr>
        <p:spPr>
          <a:xfrm>
            <a:off x="78867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nlace a sep-conclusiones">
            <a:hlinkClick action="ppaction://hlinksldjump" r:id="rId8"/>
          </p:cNvPr>
          <p:cNvSpPr/>
          <p:nvPr/>
        </p:nvSpPr>
        <p:spPr>
          <a:xfrm>
            <a:off x="96202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2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2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5" presetID="10" presetClass="entr" presetSubtype="0" fill="hold" grpId="0" nodeType="withEffect">
                                  <p:stCondLst>
                                    <p:cond delay="34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34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4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4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45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4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45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45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45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01</a:t>
            </a:r>
          </a:p>
        </p:txBody>
      </p:sp>
      <p:sp>
        <p:nvSpPr>
          <p:cNvPr id="4" name="TextBox 3"/>
          <p:cNvSpPr txBox="1"/>
          <p:nvPr/>
        </p:nvSpPr>
        <p:spPr>
          <a:xfrm>
            <a:off x="898398"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Resultados sin procedimiento:</a:t>
            </a:r>
            <a:r>
              <a:rPr sz="3000" b="1" i="0">
                <a:solidFill>
                  <a:srgbClr val="3E5A86"/>
                </a:solidFill>
                <a:latin typeface="Calibri"/>
              </a:rPr>
              <a:t> la caja negra</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140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4572d94b34ff9ba.png"/>
          <p:cNvPicPr>
            <a:picLocks noChangeAspect="1"/>
          </p:cNvPicPr>
          <p:nvPr/>
        </p:nvPicPr>
        <p:blipFill>
          <a:blip r:embed="rId2"/>
          <a:stretch>
            <a:fillRect/>
          </a:stretch>
        </p:blipFill>
        <p:spPr>
          <a:xfrm>
            <a:off x="635000" y="1473200"/>
            <a:ext cx="10922000" cy="3175000"/>
          </a:xfrm>
          <a:prstGeom prst="rect">
            <a:avLst/>
          </a:prstGeom>
        </p:spPr>
      </p:pic>
      <p:pic>
        <p:nvPicPr>
          <p:cNvPr id="14" name="Picture 13" descr="a3f655db5170e24b.png"/>
          <p:cNvPicPr>
            <a:picLocks noChangeAspect="1"/>
          </p:cNvPicPr>
          <p:nvPr/>
        </p:nvPicPr>
        <p:blipFill>
          <a:blip r:embed="rId3"/>
          <a:stretch>
            <a:fillRect/>
          </a:stretch>
        </p:blipFill>
        <p:spPr>
          <a:xfrm>
            <a:off x="635000" y="1473200"/>
            <a:ext cx="10922000" cy="3175000"/>
          </a:xfrm>
          <a:prstGeom prst="rect">
            <a:avLst/>
          </a:prstGeom>
        </p:spPr>
      </p:pic>
      <p:sp>
        <p:nvSpPr>
          <p:cNvPr id="15" name="Rounded Rectangle 14"/>
          <p:cNvSpPr/>
          <p:nvPr/>
        </p:nvSpPr>
        <p:spPr>
          <a:xfrm>
            <a:off x="6797675" y="2047875"/>
            <a:ext cx="2406650" cy="2025650"/>
          </a:xfrm>
          <a:prstGeom prst="roundRect">
            <a:avLst>
              <a:gd name="adj" fmla="val 5485"/>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22b94d24a7b11d24.png"/>
          <p:cNvPicPr>
            <a:picLocks noChangeAspect="1"/>
          </p:cNvPicPr>
          <p:nvPr/>
        </p:nvPicPr>
        <p:blipFill>
          <a:blip r:embed="rId4"/>
          <a:stretch>
            <a:fillRect/>
          </a:stretch>
        </p:blipFill>
        <p:spPr>
          <a:xfrm>
            <a:off x="6800850" y="2051050"/>
            <a:ext cx="2413000" cy="2032000"/>
          </a:xfrm>
          <a:prstGeom prst="rect">
            <a:avLst/>
          </a:prstGeom>
        </p:spPr>
      </p:pic>
      <p:sp>
        <p:nvSpPr>
          <p:cNvPr id="17" name="TextBox 16"/>
          <p:cNvSpPr txBox="1"/>
          <p:nvPr/>
        </p:nvSpPr>
        <p:spPr>
          <a:xfrm>
            <a:off x="6769100" y="4170512"/>
            <a:ext cx="24638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5B6575"/>
                </a:solidFill>
                <a:latin typeface="Calibri"/>
              </a:rPr>
              <a:t>Resultado: contorno de tensiones</a:t>
            </a:r>
          </a:p>
        </p:txBody>
      </p:sp>
      <p:sp>
        <p:nvSpPr>
          <p:cNvPr id="18" name="Rounded Rectangle 17"/>
          <p:cNvSpPr/>
          <p:nvPr/>
        </p:nvSpPr>
        <p:spPr>
          <a:xfrm>
            <a:off x="9401175" y="1920875"/>
            <a:ext cx="2152650" cy="711200"/>
          </a:xfrm>
          <a:prstGeom prst="roundRect">
            <a:avLst>
              <a:gd name="adj" fmla="val 13839"/>
            </a:avLst>
          </a:prstGeom>
          <a:solidFill>
            <a:srgbClr val="F6F8FC"/>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56750" y="2041525"/>
            <a:ext cx="1892300" cy="476250"/>
          </a:xfrm>
          <a:prstGeom prst="rect">
            <a:avLst/>
          </a:prstGeom>
          <a:noFill/>
        </p:spPr>
        <p:txBody>
          <a:bodyPr wrap="square" lIns="0" rIns="0" tIns="0" bIns="0" anchor="t"/>
          <a:lstStyle/>
          <a:p>
            <a:pPr algn="l">
              <a:lnSpc>
                <a:spcPts val="1875"/>
              </a:lnSpc>
              <a:spcBef>
                <a:spcPts val="0"/>
              </a:spcBef>
              <a:spcAft>
                <a:spcPts val="0"/>
              </a:spcAft>
            </a:pPr>
            <a:r>
              <a:rPr sz="1500" b="1" i="0">
                <a:solidFill>
                  <a:srgbClr val="1F2937"/>
                </a:solidFill>
                <a:latin typeface="Calibri"/>
              </a:rPr>
              <a:t>¿De dónde sale</a:t>
            </a:r>
            <a:r>
              <a:rPr sz="1500" b="1" i="0">
                <a:solidFill>
                  <a:srgbClr val="E8741A"/>
                </a:solidFill>
                <a:latin typeface="Calibri"/>
              </a:rPr>
              <a:t> esta</a:t>
            </a:r>
            <a:br/>
            <a:r>
              <a:rPr sz="1500" b="1" i="0">
                <a:solidFill>
                  <a:srgbClr val="E8741A"/>
                </a:solidFill>
                <a:latin typeface="Calibri"/>
              </a:rPr>
              <a:t>tensión nodal</a:t>
            </a:r>
            <a:r>
              <a:rPr sz="1500" b="1" i="0">
                <a:solidFill>
                  <a:srgbClr val="1F2937"/>
                </a:solidFill>
                <a:latin typeface="Calibri"/>
              </a:rPr>
              <a:t>?</a:t>
            </a:r>
          </a:p>
        </p:txBody>
      </p:sp>
      <p:sp>
        <p:nvSpPr>
          <p:cNvPr id="20" name="Rounded Rectangle 19"/>
          <p:cNvSpPr/>
          <p:nvPr/>
        </p:nvSpPr>
        <p:spPr>
          <a:xfrm>
            <a:off x="9401175" y="2987675"/>
            <a:ext cx="2152650" cy="949325"/>
          </a:xfrm>
          <a:prstGeom prst="roundRect">
            <a:avLst>
              <a:gd name="adj" fmla="val 10367"/>
            </a:avLst>
          </a:prstGeom>
          <a:solidFill>
            <a:srgbClr val="F6F8FC"/>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56750" y="3108325"/>
            <a:ext cx="1892300" cy="714375"/>
          </a:xfrm>
          <a:prstGeom prst="rect">
            <a:avLst/>
          </a:prstGeom>
          <a:noFill/>
        </p:spPr>
        <p:txBody>
          <a:bodyPr wrap="square" lIns="0" rIns="0" tIns="0" bIns="0" anchor="t"/>
          <a:lstStyle/>
          <a:p>
            <a:pPr algn="l">
              <a:lnSpc>
                <a:spcPts val="1875"/>
              </a:lnSpc>
              <a:spcBef>
                <a:spcPts val="0"/>
              </a:spcBef>
              <a:spcAft>
                <a:spcPts val="0"/>
              </a:spcAft>
            </a:pPr>
            <a:r>
              <a:rPr sz="1500" b="1" i="0">
                <a:solidFill>
                  <a:srgbClr val="1F2937"/>
                </a:solidFill>
                <a:latin typeface="Calibri"/>
              </a:rPr>
              <a:t>¿Cierran las tensiones</a:t>
            </a:r>
            <a:br/>
            <a:r>
              <a:rPr sz="1500" b="1" i="0">
                <a:solidFill>
                  <a:srgbClr val="1F2937"/>
                </a:solidFill>
                <a:latin typeface="Calibri"/>
              </a:rPr>
              <a:t>de los nodos con las de</a:t>
            </a:r>
            <a:br/>
            <a:r>
              <a:rPr sz="1500" b="1" i="0">
                <a:solidFill>
                  <a:srgbClr val="1F2937"/>
                </a:solidFill>
                <a:latin typeface="Calibri"/>
              </a:rPr>
              <a:t>los</a:t>
            </a:r>
            <a:r>
              <a:rPr sz="1500" b="1" i="0">
                <a:solidFill>
                  <a:srgbClr val="E8741A"/>
                </a:solidFill>
                <a:latin typeface="Calibri"/>
              </a:rPr>
              <a:t> puntos de Gauss</a:t>
            </a:r>
            <a:r>
              <a:rPr sz="1500" b="1" i="0">
                <a:solidFill>
                  <a:srgbClr val="1F2937"/>
                </a:solidFill>
                <a:latin typeface="Calibri"/>
              </a:rPr>
              <a:t>?</a:t>
            </a:r>
          </a:p>
        </p:txBody>
      </p:sp>
      <p:sp>
        <p:nvSpPr>
          <p:cNvPr id="22" name="Rounded Rectangle 21"/>
          <p:cNvSpPr/>
          <p:nvPr/>
        </p:nvSpPr>
        <p:spPr>
          <a:xfrm>
            <a:off x="635000" y="4805744"/>
            <a:ext cx="5365750" cy="1214056"/>
          </a:xfrm>
          <a:prstGeom prst="roundRect">
            <a:avLst>
              <a:gd name="adj" fmla="val 73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5000" y="4805744"/>
            <a:ext cx="38100" cy="121405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8200" y="4930381"/>
            <a:ext cx="5097399" cy="720090"/>
          </a:xfrm>
          <a:prstGeom prst="rect">
            <a:avLst/>
          </a:prstGeom>
          <a:noFill/>
        </p:spPr>
        <p:txBody>
          <a:bodyPr wrap="square" lIns="0" rIns="0" tIns="0" bIns="0" anchor="t"/>
          <a:lstStyle/>
          <a:p>
            <a:pPr algn="l">
              <a:lnSpc>
                <a:spcPts val="1890"/>
              </a:lnSpc>
              <a:spcBef>
                <a:spcPts val="0"/>
              </a:spcBef>
              <a:spcAft>
                <a:spcPts val="0"/>
              </a:spcAft>
            </a:pPr>
            <a:r>
              <a:rPr sz="1400" b="1" i="0">
                <a:solidFill>
                  <a:srgbClr val="1F2937"/>
                </a:solidFill>
                <a:latin typeface="Calibri"/>
              </a:rPr>
              <a:t>ED-Elas2D, 1998 [6, p. 246]:</a:t>
            </a:r>
            <a:r>
              <a:rPr sz="1400" b="0" i="0">
                <a:solidFill>
                  <a:srgbClr val="3F4A5A"/>
                </a:solidFill>
                <a:latin typeface="Calibri"/>
              </a:rPr>
              <a:t> con los programas comerciales, el</a:t>
            </a:r>
            <a:br/>
            <a:r>
              <a:rPr sz="1400" b="0" i="0">
                <a:solidFill>
                  <a:srgbClr val="3F4A5A"/>
                </a:solidFill>
                <a:latin typeface="Calibri"/>
              </a:rPr>
              <a:t>estudiante queda limitado a introducir los datos del problema e</a:t>
            </a:r>
            <a:br/>
            <a:r>
              <a:rPr sz="1400" b="0" i="0">
                <a:solidFill>
                  <a:srgbClr val="3F4A5A"/>
                </a:solidFill>
                <a:latin typeface="Calibri"/>
              </a:rPr>
              <a:t>interpretar los resultados, sin acceso a los detalles del análisis.</a:t>
            </a:r>
          </a:p>
        </p:txBody>
      </p:sp>
      <p:sp>
        <p:nvSpPr>
          <p:cNvPr id="25" name="Rounded Rectangle 24"/>
          <p:cNvSpPr/>
          <p:nvPr/>
        </p:nvSpPr>
        <p:spPr>
          <a:xfrm>
            <a:off x="6191250" y="4805744"/>
            <a:ext cx="5365750" cy="1214056"/>
          </a:xfrm>
          <a:prstGeom prst="roundRect">
            <a:avLst>
              <a:gd name="adj" fmla="val 73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1250" y="4805744"/>
            <a:ext cx="38100" cy="121405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4450" y="4930381"/>
            <a:ext cx="5097399" cy="960120"/>
          </a:xfrm>
          <a:prstGeom prst="rect">
            <a:avLst/>
          </a:prstGeom>
          <a:noFill/>
        </p:spPr>
        <p:txBody>
          <a:bodyPr wrap="square" lIns="0" rIns="0" tIns="0" bIns="0" anchor="t"/>
          <a:lstStyle/>
          <a:p>
            <a:pPr algn="l">
              <a:lnSpc>
                <a:spcPts val="1890"/>
              </a:lnSpc>
              <a:spcBef>
                <a:spcPts val="0"/>
              </a:spcBef>
              <a:spcAft>
                <a:spcPts val="0"/>
              </a:spcAft>
            </a:pPr>
            <a:r>
              <a:rPr sz="1400" b="1" i="0">
                <a:solidFill>
                  <a:srgbClr val="1F2937"/>
                </a:solidFill>
                <a:latin typeface="Calibri"/>
              </a:rPr>
              <a:t>Consenso de 67 expertos [3, pp. 1159, 1168]:</a:t>
            </a:r>
            <a:r>
              <a:rPr sz="1400" b="0" i="0">
                <a:solidFill>
                  <a:srgbClr val="3F4A5A"/>
                </a:solidFill>
                <a:latin typeface="Calibri"/>
              </a:rPr>
              <a:t> la formación tiende a</a:t>
            </a:r>
            <a:br/>
            <a:r>
              <a:rPr sz="1400" b="0" i="0">
                <a:solidFill>
                  <a:srgbClr val="3F4A5A"/>
                </a:solidFill>
                <a:latin typeface="Calibri"/>
              </a:rPr>
              <a:t>privilegiar las destrezas de operación sobre los conceptos</a:t>
            </a:r>
            <a:br/>
            <a:r>
              <a:rPr sz="1400" b="0" i="0">
                <a:solidFill>
                  <a:srgbClr val="3F4A5A"/>
                </a:solidFill>
                <a:latin typeface="Calibri"/>
              </a:rPr>
              <a:t>fundamentales, y reclama egresados que sepan planificar, verificar y</a:t>
            </a:r>
            <a:br/>
            <a:r>
              <a:rPr sz="1400" b="0" i="0">
                <a:solidFill>
                  <a:srgbClr val="3F4A5A"/>
                </a:solidFill>
                <a:latin typeface="Calibri"/>
              </a:rPr>
              <a:t>validar sus análisis, no solo ejecutarlos.</a:t>
            </a:r>
          </a:p>
        </p:txBody>
      </p:sp>
      <p:sp>
        <p:nvSpPr>
          <p:cNvPr id="28" name="Rectangle 27"/>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5150" y="6535420"/>
            <a:ext cx="5037963"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1" name="TextBox 30"/>
          <p:cNvSpPr txBox="1"/>
          <p:nvPr/>
        </p:nvSpPr>
        <p:spPr>
          <a:xfrm>
            <a:off x="5478970" y="6535420"/>
            <a:ext cx="123399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Situación problemática</a:t>
            </a:r>
          </a:p>
        </p:txBody>
      </p:sp>
      <p:sp>
        <p:nvSpPr>
          <p:cNvPr id="32" name="TextBox 31"/>
          <p:cNvSpPr txBox="1"/>
          <p:nvPr/>
        </p:nvSpPr>
        <p:spPr>
          <a:xfrm>
            <a:off x="6588760" y="6535420"/>
            <a:ext cx="503809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a:t>
            </a:r>
          </a:p>
        </p:txBody>
      </p:sp>
      <p:sp>
        <p:nvSpPr>
          <p:cNvPr id="33" name="Enlace a sep-intro">
            <a:hlinkClick action="ppaction://hlinksldjump" r:id="rId5"/>
          </p:cNvPr>
          <p:cNvSpPr/>
          <p:nvPr/>
        </p:nvSpPr>
        <p:spPr>
          <a:xfrm>
            <a:off x="10598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nlace a sep-teoria">
            <a:hlinkClick action="ppaction://hlinksldjump" r:id="rId6"/>
          </p:cNvPr>
          <p:cNvSpPr/>
          <p:nvPr/>
        </p:nvSpPr>
        <p:spPr>
          <a:xfrm>
            <a:off x="108140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nlace a sep-diseno">
            <a:hlinkClick action="ppaction://hlinksldjump" r:id="rId7"/>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nlace a sep-resultados">
            <a:hlinkClick action="ppaction://hlinksldjump" r:id="rId8"/>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nlace a sep-analisis">
            <a:hlinkClick action="ppaction://hlinksldjump" r:id="rId9"/>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nlace a sep-conclusiones">
            <a:hlinkClick action="ppaction://hlinksldjump" r:id="rId10"/>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par>
                    <p:cTn id="43" fill="hold">
                      <p:stCondLst>
                        <p:cond delay="indefinite"/>
                      </p:stCondLst>
                      <p:childTnLst>
                        <p:par>
                          <p:cTn id="44" fill="hold">
                            <p:stCondLst>
                              <p:cond delay="0"/>
                            </p:stCondLst>
                            <p:childTnLst>
                              <p:par>
                                <p:cTn id="33" presetID="10" presetClass="exit" presetSubtype="0" fill="hold" grpId="0" nodeType="clickEffect">
                                  <p:stCondLst>
                                    <p:cond delay="0"/>
                                  </p:stCondLst>
                                  <p:childTnLst>
                                    <p:animEffect transition="out" filter="fade">
                                      <p:cBhvr>
                                        <p:cTn id="34" dur="200"/>
                                        <p:tgtEl>
                                          <p:spTgt spid="14"/>
                                        </p:tgtEl>
                                      </p:cBhvr>
                                    </p:animEffect>
                                    <p:set>
                                      <p:cBhvr>
                                        <p:cTn id="35" dur="1" fill="hold">
                                          <p:stCondLst>
                                            <p:cond delay="199"/>
                                          </p:stCondLst>
                                        </p:cTn>
                                        <p:tgtEl>
                                          <p:spTgt spid="14"/>
                                        </p:tgtEl>
                                        <p:attrNameLst>
                                          <p:attrName>style.visibility</p:attrName>
                                        </p:attrNameLst>
                                      </p:cBhvr>
                                      <p:to>
                                        <p:strVal val="hidden"/>
                                      </p:to>
                                    </p:set>
                                  </p:childTnLst>
                                </p:cTn>
                              </p:par>
                              <p:par>
                                <p:cTn id="36" presetID="10" presetClass="entr" presetSubtype="0" fill="hold" grpId="0" nodeType="withEffect">
                                  <p:stCondLst>
                                    <p:cond delay="2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01</a:t>
            </a:r>
          </a:p>
        </p:txBody>
      </p:sp>
      <p:sp>
        <p:nvSpPr>
          <p:cNvPr id="4" name="TextBox 3"/>
          <p:cNvSpPr txBox="1"/>
          <p:nvPr/>
        </p:nvSpPr>
        <p:spPr>
          <a:xfrm>
            <a:off x="898398"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Problema científico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140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11055350" cy="1893506"/>
          </a:xfrm>
          <a:prstGeom prst="roundRect">
            <a:avLst>
              <a:gd name="adj" fmla="val 385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95028" y="1476946"/>
            <a:ext cx="6968109" cy="349250"/>
          </a:xfrm>
          <a:prstGeom prst="roundRect">
            <a:avLst>
              <a:gd name="adj" fmla="val 1454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320417" y="1859852"/>
            <a:ext cx="5350574" cy="349250"/>
          </a:xfrm>
          <a:prstGeom prst="roundRect">
            <a:avLst>
              <a:gd name="adj" fmla="val 14545"/>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1461091"/>
            <a:ext cx="10661142" cy="1531620"/>
          </a:xfrm>
          <a:prstGeom prst="rect">
            <a:avLst/>
          </a:prstGeom>
          <a:noFill/>
        </p:spPr>
        <p:txBody>
          <a:bodyPr wrap="square" lIns="0" rIns="0" tIns="0" bIns="0" anchor="t"/>
          <a:lstStyle/>
          <a:p>
            <a:pPr algn="l">
              <a:lnSpc>
                <a:spcPts val="3015"/>
              </a:lnSpc>
              <a:spcBef>
                <a:spcPts val="0"/>
              </a:spcBef>
              <a:spcAft>
                <a:spcPts val="0"/>
              </a:spcAft>
            </a:pPr>
            <a:r>
              <a:rPr sz="2250" b="0" i="0">
                <a:solidFill>
                  <a:srgbClr val="1F2937"/>
                </a:solidFill>
                <a:latin typeface="Calibri"/>
              </a:rPr>
              <a:t>¿De qué manera</a:t>
            </a:r>
            <a:r>
              <a:rPr sz="2250" b="1" i="0">
                <a:solidFill>
                  <a:srgbClr val="C9620F"/>
                </a:solidFill>
                <a:latin typeface="Calibri"/>
              </a:rPr>
              <a:t> el uso del software de análisis estructural como caja negra</a:t>
            </a:r>
            <a:r>
              <a:rPr sz="2250" b="0" i="0">
                <a:solidFill>
                  <a:srgbClr val="1F2937"/>
                </a:solidFill>
                <a:latin typeface="Calibri"/>
              </a:rPr>
              <a:t> podrá</a:t>
            </a:r>
            <a:br/>
            <a:r>
              <a:rPr sz="2250" b="0" i="0">
                <a:solidFill>
                  <a:srgbClr val="1F2937"/>
                </a:solidFill>
                <a:latin typeface="Calibri"/>
              </a:rPr>
              <a:t>incidir en la</a:t>
            </a:r>
            <a:r>
              <a:rPr sz="2250" b="1" i="0">
                <a:solidFill>
                  <a:srgbClr val="1F77B4"/>
                </a:solidFill>
                <a:latin typeface="Calibri"/>
              </a:rPr>
              <a:t> baja trazabilidad y verificabilidad del análisis</a:t>
            </a:r>
            <a:r>
              <a:rPr sz="2250" b="0" i="0">
                <a:solidFill>
                  <a:srgbClr val="1F2937"/>
                </a:solidFill>
                <a:latin typeface="Calibri"/>
              </a:rPr>
              <a:t> por el Método de los</a:t>
            </a:r>
            <a:br/>
            <a:r>
              <a:rPr sz="2250" b="0" i="0">
                <a:solidFill>
                  <a:srgbClr val="1F2937"/>
                </a:solidFill>
                <a:latin typeface="Calibri"/>
              </a:rPr>
              <a:t>Elementos Finitos en elasticidad plana, en la Carrera de Ingeniería Civil de la Universidad</a:t>
            </a:r>
            <a:br/>
            <a:r>
              <a:rPr sz="2250" b="0" i="0">
                <a:solidFill>
                  <a:srgbClr val="1F2937"/>
                </a:solidFill>
                <a:latin typeface="Calibri"/>
              </a:rPr>
              <a:t>Autónoma Tomás Frías, en la gestión 2026?</a:t>
            </a:r>
          </a:p>
        </p:txBody>
      </p:sp>
      <p:sp>
        <p:nvSpPr>
          <p:cNvPr id="17" name="TextBox 16"/>
          <p:cNvSpPr txBox="1"/>
          <p:nvPr/>
        </p:nvSpPr>
        <p:spPr>
          <a:xfrm>
            <a:off x="914400" y="1461091"/>
            <a:ext cx="10661142" cy="1531620"/>
          </a:xfrm>
          <a:prstGeom prst="rect">
            <a:avLst/>
          </a:prstGeom>
          <a:noFill/>
        </p:spPr>
        <p:txBody>
          <a:bodyPr wrap="square" lIns="0" rIns="0" tIns="0" bIns="0" anchor="t"/>
          <a:lstStyle/>
          <a:p>
            <a:pPr algn="l">
              <a:lnSpc>
                <a:spcPts val="3015"/>
              </a:lnSpc>
              <a:spcBef>
                <a:spcPts val="0"/>
              </a:spcBef>
              <a:spcAft>
                <a:spcPts val="0"/>
              </a:spcAft>
            </a:pPr>
            <a:r>
              <a:rPr sz="2250" b="0" i="0">
                <a:solidFill>
                  <a:srgbClr val="1F2937"/>
                </a:solidFill>
                <a:latin typeface="Calibri"/>
              </a:rPr>
              <a:t>¿De qué manera el uso del software de análisis estructural como caja negra podrá incidir</a:t>
            </a:r>
            <a:br/>
            <a:r>
              <a:rPr sz="2250" b="0" i="0">
                <a:solidFill>
                  <a:srgbClr val="1F2937"/>
                </a:solidFill>
                <a:latin typeface="Calibri"/>
              </a:rPr>
              <a:t>en la baja trazabilidad y verificabilidad del análisis por el Método de los Elementos Finitos</a:t>
            </a:r>
            <a:br/>
            <a:r>
              <a:rPr sz="2250" b="0" i="0">
                <a:solidFill>
                  <a:srgbClr val="1F2937"/>
                </a:solidFill>
                <a:latin typeface="Calibri"/>
              </a:rPr>
              <a:t>en elasticidad plana, en la Carrera de Ingeniería Civil de la Universidad Autónoma Tomás</a:t>
            </a:r>
            <a:br/>
            <a:r>
              <a:rPr sz="2250" b="0" i="0">
                <a:solidFill>
                  <a:srgbClr val="1F2937"/>
                </a:solidFill>
                <a:latin typeface="Calibri"/>
              </a:rPr>
              <a:t>Frías, en la gestión 2026?</a:t>
            </a:r>
          </a:p>
        </p:txBody>
      </p:sp>
      <p:sp>
        <p:nvSpPr>
          <p:cNvPr id="18" name="TextBox 17"/>
          <p:cNvSpPr txBox="1"/>
          <p:nvPr/>
        </p:nvSpPr>
        <p:spPr>
          <a:xfrm>
            <a:off x="685800" y="1349985"/>
            <a:ext cx="315722" cy="765810"/>
          </a:xfrm>
          <a:prstGeom prst="rect">
            <a:avLst/>
          </a:prstGeom>
          <a:noFill/>
        </p:spPr>
        <p:txBody>
          <a:bodyPr wrap="square" lIns="0" rIns="0" tIns="0" bIns="0" anchor="t"/>
          <a:lstStyle/>
          <a:p>
            <a:pPr algn="l">
              <a:lnSpc>
                <a:spcPts val="6030"/>
              </a:lnSpc>
              <a:spcBef>
                <a:spcPts val="0"/>
              </a:spcBef>
              <a:spcAft>
                <a:spcPts val="0"/>
              </a:spcAft>
            </a:pPr>
            <a:r>
              <a:rPr sz="4500" b="1" i="0">
                <a:solidFill>
                  <a:srgbClr val="E8741A">
                    <a:alpha val="35000"/>
                  </a:srgbClr>
                </a:solidFill>
                <a:latin typeface="Calibri"/>
              </a:rPr>
              <a:t>¿</a:t>
            </a:r>
          </a:p>
        </p:txBody>
      </p:sp>
      <p:sp>
        <p:nvSpPr>
          <p:cNvPr id="19" name="Rounded Rectangle 18"/>
          <p:cNvSpPr/>
          <p:nvPr/>
        </p:nvSpPr>
        <p:spPr>
          <a:xfrm>
            <a:off x="565150" y="3345053"/>
            <a:ext cx="5416550" cy="891857"/>
          </a:xfrm>
          <a:prstGeom prst="roundRect">
            <a:avLst>
              <a:gd name="adj" fmla="val 11391"/>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0250" y="3646046"/>
            <a:ext cx="5188077" cy="495808"/>
          </a:xfrm>
          <a:prstGeom prst="rect">
            <a:avLst/>
          </a:prstGeom>
          <a:noFill/>
        </p:spPr>
        <p:txBody>
          <a:bodyPr wrap="square" lIns="0" rIns="0" tIns="0" bIns="0" anchor="t"/>
          <a:lstStyle/>
          <a:p>
            <a:pPr algn="l">
              <a:lnSpc>
                <a:spcPts val="1952"/>
              </a:lnSpc>
              <a:spcBef>
                <a:spcPts val="0"/>
              </a:spcBef>
              <a:spcAft>
                <a:spcPts val="0"/>
              </a:spcAft>
            </a:pPr>
            <a:r>
              <a:rPr sz="1600" b="1" i="0">
                <a:solidFill>
                  <a:srgbClr val="C9620F"/>
                </a:solidFill>
                <a:latin typeface="Calibri"/>
              </a:rPr>
              <a:t>La forma en que el software expone el procedimiento de</a:t>
            </a:r>
            <a:br/>
            <a:r>
              <a:rPr sz="1600" b="1" i="0">
                <a:solidFill>
                  <a:srgbClr val="C9620F"/>
                </a:solidFill>
                <a:latin typeface="Calibri"/>
              </a:rPr>
              <a:t>cálculo</a:t>
            </a:r>
          </a:p>
        </p:txBody>
      </p:sp>
      <p:sp>
        <p:nvSpPr>
          <p:cNvPr id="21" name="TextBox 20"/>
          <p:cNvSpPr txBox="1"/>
          <p:nvPr/>
        </p:nvSpPr>
        <p:spPr>
          <a:xfrm>
            <a:off x="730250" y="3449472"/>
            <a:ext cx="5188077" cy="154940"/>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C9620F">
                    <a:alpha val="85000"/>
                  </a:srgbClr>
                </a:solidFill>
                <a:latin typeface="Calibri"/>
              </a:rPr>
              <a:t>Causa · variable independiente</a:t>
            </a:r>
          </a:p>
        </p:txBody>
      </p:sp>
      <p:sp>
        <p:nvSpPr>
          <p:cNvPr id="22" name="Rounded Rectangle 21"/>
          <p:cNvSpPr/>
          <p:nvPr/>
        </p:nvSpPr>
        <p:spPr>
          <a:xfrm>
            <a:off x="6210300" y="3345053"/>
            <a:ext cx="5416550" cy="891857"/>
          </a:xfrm>
          <a:prstGeom prst="roundRect">
            <a:avLst>
              <a:gd name="adj" fmla="val 11391"/>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5400" y="3646046"/>
            <a:ext cx="5188077" cy="247904"/>
          </a:xfrm>
          <a:prstGeom prst="rect">
            <a:avLst/>
          </a:prstGeom>
          <a:noFill/>
        </p:spPr>
        <p:txBody>
          <a:bodyPr wrap="square" lIns="0" rIns="0" tIns="0" bIns="0" anchor="t"/>
          <a:lstStyle/>
          <a:p>
            <a:pPr algn="l">
              <a:lnSpc>
                <a:spcPts val="1952"/>
              </a:lnSpc>
              <a:spcBef>
                <a:spcPts val="0"/>
              </a:spcBef>
              <a:spcAft>
                <a:spcPts val="0"/>
              </a:spcAft>
            </a:pPr>
            <a:r>
              <a:rPr sz="1600" b="1" i="0">
                <a:solidFill>
                  <a:srgbClr val="1F77B4"/>
                </a:solidFill>
                <a:latin typeface="Calibri"/>
              </a:rPr>
              <a:t>La trazabilidad y la verificabilidad del análisis</a:t>
            </a:r>
          </a:p>
        </p:txBody>
      </p:sp>
      <p:sp>
        <p:nvSpPr>
          <p:cNvPr id="24" name="TextBox 23"/>
          <p:cNvSpPr txBox="1"/>
          <p:nvPr/>
        </p:nvSpPr>
        <p:spPr>
          <a:xfrm>
            <a:off x="6375400" y="3449472"/>
            <a:ext cx="5188077" cy="154940"/>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1F77B4">
                    <a:alpha val="85000"/>
                  </a:srgbClr>
                </a:solidFill>
                <a:latin typeface="Calibri"/>
              </a:rPr>
              <a:t>Efecto · variable dependiente</a:t>
            </a:r>
          </a:p>
        </p:txBody>
      </p:sp>
      <p:sp>
        <p:nvSpPr>
          <p:cNvPr id="25" name="Rounded Rectangle 24"/>
          <p:cNvSpPr/>
          <p:nvPr/>
        </p:nvSpPr>
        <p:spPr>
          <a:xfrm>
            <a:off x="568325" y="4405186"/>
            <a:ext cx="5410200" cy="1259967"/>
          </a:xfrm>
          <a:prstGeom prst="roundRect">
            <a:avLst>
              <a:gd name="adj" fmla="val 579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9300" y="4548060"/>
            <a:ext cx="533400" cy="533400"/>
          </a:xfrm>
          <a:prstGeom prst="roundRect">
            <a:avLst>
              <a:gd name="adj" fmla="val 23809"/>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 y="4669089"/>
            <a:ext cx="584200" cy="341058"/>
          </a:xfrm>
          <a:prstGeom prst="rect">
            <a:avLst/>
          </a:prstGeom>
          <a:noFill/>
        </p:spPr>
        <p:txBody>
          <a:bodyPr wrap="square" lIns="0" rIns="0" tIns="0" bIns="0" anchor="t"/>
          <a:lstStyle/>
          <a:p>
            <a:pPr algn="ctr">
              <a:lnSpc>
                <a:spcPts val="2686"/>
              </a:lnSpc>
              <a:spcBef>
                <a:spcPts val="0"/>
              </a:spcBef>
              <a:spcAft>
                <a:spcPts val="0"/>
              </a:spcAft>
            </a:pPr>
            <a:r>
              <a:rPr sz="2200" b="0" i="0">
                <a:solidFill>
                  <a:srgbClr val="E8741A"/>
                </a:solidFill>
                <a:latin typeface="Calibri"/>
              </a:rPr>
              <a:t>↩</a:t>
            </a:r>
          </a:p>
        </p:txBody>
      </p:sp>
      <p:sp>
        <p:nvSpPr>
          <p:cNvPr id="28" name="TextBox 27"/>
          <p:cNvSpPr txBox="1"/>
          <p:nvPr/>
        </p:nvSpPr>
        <p:spPr>
          <a:xfrm>
            <a:off x="1422400" y="4559844"/>
            <a:ext cx="4462653" cy="270256"/>
          </a:xfrm>
          <a:prstGeom prst="rect">
            <a:avLst/>
          </a:prstGeom>
          <a:noFill/>
        </p:spPr>
        <p:txBody>
          <a:bodyPr wrap="square" lIns="0" rIns="0" tIns="0" bIns="0" anchor="t"/>
          <a:lstStyle/>
          <a:p>
            <a:pPr algn="l">
              <a:lnSpc>
                <a:spcPts val="2128"/>
              </a:lnSpc>
              <a:spcBef>
                <a:spcPts val="0"/>
              </a:spcBef>
              <a:spcAft>
                <a:spcPts val="0"/>
              </a:spcAft>
            </a:pPr>
            <a:r>
              <a:rPr sz="1900" b="1" i="0">
                <a:solidFill>
                  <a:srgbClr val="1B2A4A"/>
                </a:solidFill>
                <a:latin typeface="Calibri"/>
              </a:rPr>
              <a:t>Trazabilidad</a:t>
            </a:r>
          </a:p>
        </p:txBody>
      </p:sp>
      <p:sp>
        <p:nvSpPr>
          <p:cNvPr id="29" name="TextBox 28"/>
          <p:cNvSpPr txBox="1"/>
          <p:nvPr/>
        </p:nvSpPr>
        <p:spPr>
          <a:xfrm>
            <a:off x="1422400" y="4843027"/>
            <a:ext cx="4462653" cy="678942"/>
          </a:xfrm>
          <a:prstGeom prst="rect">
            <a:avLst/>
          </a:prstGeom>
          <a:noFill/>
        </p:spPr>
        <p:txBody>
          <a:bodyPr wrap="square" lIns="0" rIns="0" tIns="0" bIns="0" anchor="t"/>
          <a:lstStyle/>
          <a:p>
            <a:pPr algn="l">
              <a:lnSpc>
                <a:spcPts val="1782"/>
              </a:lnSpc>
              <a:spcBef>
                <a:spcPts val="0"/>
              </a:spcBef>
              <a:spcAft>
                <a:spcPts val="0"/>
              </a:spcAft>
            </a:pPr>
            <a:r>
              <a:rPr sz="1350" b="0" i="0">
                <a:solidFill>
                  <a:srgbClr val="3F4A5A"/>
                </a:solidFill>
                <a:latin typeface="Calibri"/>
              </a:rPr>
              <a:t>Cada resultado puede seguirse hacia atrás, etapa por etapa,</a:t>
            </a:r>
            <a:br/>
            <a:r>
              <a:rPr sz="1350" b="0" i="0">
                <a:solidFill>
                  <a:srgbClr val="3F4A5A"/>
                </a:solidFill>
                <a:latin typeface="Calibri"/>
              </a:rPr>
              <a:t>hasta los datos del modelo, con todas las magnitudes</a:t>
            </a:r>
            <a:br/>
            <a:r>
              <a:rPr sz="1350" b="0" i="0">
                <a:solidFill>
                  <a:srgbClr val="3F4A5A"/>
                </a:solidFill>
                <a:latin typeface="Calibri"/>
              </a:rPr>
              <a:t>intermedias a la vista.</a:t>
            </a:r>
          </a:p>
        </p:txBody>
      </p:sp>
      <p:sp>
        <p:nvSpPr>
          <p:cNvPr id="30" name="Rounded Rectangle 29"/>
          <p:cNvSpPr/>
          <p:nvPr/>
        </p:nvSpPr>
        <p:spPr>
          <a:xfrm>
            <a:off x="6213475" y="4405186"/>
            <a:ext cx="5410200" cy="1259967"/>
          </a:xfrm>
          <a:prstGeom prst="roundRect">
            <a:avLst>
              <a:gd name="adj" fmla="val 579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394450" y="4548060"/>
            <a:ext cx="533400" cy="533400"/>
          </a:xfrm>
          <a:prstGeom prst="roundRect">
            <a:avLst>
              <a:gd name="adj" fmla="val 23809"/>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69050" y="4669089"/>
            <a:ext cx="584200" cy="341058"/>
          </a:xfrm>
          <a:prstGeom prst="rect">
            <a:avLst/>
          </a:prstGeom>
          <a:noFill/>
        </p:spPr>
        <p:txBody>
          <a:bodyPr wrap="square" lIns="0" rIns="0" tIns="0" bIns="0" anchor="t"/>
          <a:lstStyle/>
          <a:p>
            <a:pPr algn="ctr">
              <a:lnSpc>
                <a:spcPts val="2686"/>
              </a:lnSpc>
              <a:spcBef>
                <a:spcPts val="0"/>
              </a:spcBef>
              <a:spcAft>
                <a:spcPts val="0"/>
              </a:spcAft>
            </a:pPr>
            <a:r>
              <a:rPr sz="2200" b="0" i="0">
                <a:solidFill>
                  <a:srgbClr val="1F77B4"/>
                </a:solidFill>
                <a:latin typeface="Calibri"/>
              </a:rPr>
              <a:t>✓</a:t>
            </a:r>
          </a:p>
        </p:txBody>
      </p:sp>
      <p:sp>
        <p:nvSpPr>
          <p:cNvPr id="33" name="TextBox 32"/>
          <p:cNvSpPr txBox="1"/>
          <p:nvPr/>
        </p:nvSpPr>
        <p:spPr>
          <a:xfrm>
            <a:off x="7067550" y="4559844"/>
            <a:ext cx="4462653" cy="270256"/>
          </a:xfrm>
          <a:prstGeom prst="rect">
            <a:avLst/>
          </a:prstGeom>
          <a:noFill/>
        </p:spPr>
        <p:txBody>
          <a:bodyPr wrap="square" lIns="0" rIns="0" tIns="0" bIns="0" anchor="t"/>
          <a:lstStyle/>
          <a:p>
            <a:pPr algn="l">
              <a:lnSpc>
                <a:spcPts val="2128"/>
              </a:lnSpc>
              <a:spcBef>
                <a:spcPts val="0"/>
              </a:spcBef>
              <a:spcAft>
                <a:spcPts val="0"/>
              </a:spcAft>
            </a:pPr>
            <a:r>
              <a:rPr sz="1900" b="1" i="0">
                <a:solidFill>
                  <a:srgbClr val="1B2A4A"/>
                </a:solidFill>
                <a:latin typeface="Calibri"/>
              </a:rPr>
              <a:t>Verificabilidad</a:t>
            </a:r>
          </a:p>
        </p:txBody>
      </p:sp>
      <p:sp>
        <p:nvSpPr>
          <p:cNvPr id="34" name="TextBox 33"/>
          <p:cNvSpPr txBox="1"/>
          <p:nvPr/>
        </p:nvSpPr>
        <p:spPr>
          <a:xfrm>
            <a:off x="7067550" y="4843027"/>
            <a:ext cx="4462653" cy="678942"/>
          </a:xfrm>
          <a:prstGeom prst="rect">
            <a:avLst/>
          </a:prstGeom>
          <a:noFill/>
        </p:spPr>
        <p:txBody>
          <a:bodyPr wrap="square" lIns="0" rIns="0" tIns="0" bIns="0" anchor="t"/>
          <a:lstStyle/>
          <a:p>
            <a:pPr algn="l">
              <a:lnSpc>
                <a:spcPts val="1782"/>
              </a:lnSpc>
              <a:spcBef>
                <a:spcPts val="0"/>
              </a:spcBef>
              <a:spcAft>
                <a:spcPts val="0"/>
              </a:spcAft>
            </a:pPr>
            <a:r>
              <a:rPr sz="1350" b="0" i="0">
                <a:solidFill>
                  <a:srgbClr val="3F4A5A"/>
                </a:solidFill>
                <a:latin typeface="Calibri"/>
              </a:rPr>
              <a:t>Cada magnitud puede comprobarse contra un patrón</a:t>
            </a:r>
            <a:br/>
            <a:r>
              <a:rPr sz="1350" b="0" i="0">
                <a:solidFill>
                  <a:srgbClr val="3F4A5A"/>
                </a:solidFill>
                <a:latin typeface="Calibri"/>
              </a:rPr>
              <a:t>independiente —cálculo manual, solución analítica u otro</a:t>
            </a:r>
            <a:br/>
            <a:r>
              <a:rPr sz="1350" b="0" i="0">
                <a:solidFill>
                  <a:srgbClr val="3F4A5A"/>
                </a:solidFill>
                <a:latin typeface="Calibri"/>
              </a:rPr>
              <a:t>programa— dentro de una tolerancia fijada de antemano.</a:t>
            </a:r>
          </a:p>
        </p:txBody>
      </p:sp>
      <p:sp>
        <p:nvSpPr>
          <p:cNvPr id="35" name="Rectangle 34"/>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5150" y="6535420"/>
            <a:ext cx="5134420"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8" name="TextBox 37"/>
          <p:cNvSpPr txBox="1"/>
          <p:nvPr/>
        </p:nvSpPr>
        <p:spPr>
          <a:xfrm>
            <a:off x="5573522" y="6535420"/>
            <a:ext cx="104489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Problema científico</a:t>
            </a:r>
          </a:p>
        </p:txBody>
      </p:sp>
      <p:sp>
        <p:nvSpPr>
          <p:cNvPr id="39" name="TextBox 38"/>
          <p:cNvSpPr txBox="1"/>
          <p:nvPr/>
        </p:nvSpPr>
        <p:spPr>
          <a:xfrm>
            <a:off x="6492304" y="6535420"/>
            <a:ext cx="513454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a:t>
            </a:r>
          </a:p>
        </p:txBody>
      </p:sp>
      <p:sp>
        <p:nvSpPr>
          <p:cNvPr id="40" name="Enlace a sep-intro">
            <a:hlinkClick action="ppaction://hlinksldjump" r:id="rId2"/>
          </p:cNvPr>
          <p:cNvSpPr/>
          <p:nvPr/>
        </p:nvSpPr>
        <p:spPr>
          <a:xfrm>
            <a:off x="10598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nlace a sep-teoria">
            <a:hlinkClick action="ppaction://hlinksldjump" r:id="rId3"/>
          </p:cNvPr>
          <p:cNvSpPr/>
          <p:nvPr/>
        </p:nvSpPr>
        <p:spPr>
          <a:xfrm>
            <a:off x="108140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nlace a sep-diseno">
            <a:hlinkClick action="ppaction://hlinksldjump" r:id="rId4"/>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10" presetClass="exit" presetSubtype="0" fill="hold" grpId="0" nodeType="clickEffect">
                                  <p:stCondLst>
                                    <p:cond delay="0"/>
                                  </p:stCondLst>
                                  <p:childTnLst>
                                    <p:animEffect transition="out" filter="fade">
                                      <p:cBhvr>
                                        <p:cTn id="4" dur="200"/>
                                        <p:tgtEl>
                                          <p:spTgt spid="17"/>
                                        </p:tgtEl>
                                      </p:cBhvr>
                                    </p:animEffect>
                                    <p:set>
                                      <p:cBhvr>
                                        <p:cTn id="5" dur="1" fill="hold">
                                          <p:stCondLst>
                                            <p:cond delay="199"/>
                                          </p:stCondLst>
                                        </p:cTn>
                                        <p:tgtEl>
                                          <p:spTgt spid="17"/>
                                        </p:tgtEl>
                                        <p:attrNameLst>
                                          <p:attrName>style.visibility</p:attrName>
                                        </p:attrNameLst>
                                      </p:cBhvr>
                                      <p:to>
                                        <p:strVal val="hidden"/>
                                      </p:to>
                                    </p:set>
                                  </p:childTnLst>
                                </p:cTn>
                              </p:par>
                              <p:par>
                                <p:cTn id="6" presetID="10" presetClass="entr" presetSubtype="0" fill="hold" grpId="0" nodeType="withEffect">
                                  <p:stCondLst>
                                    <p:cond delay="20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20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par>
                                <p:cTn id="18" presetID="10" presetClass="entr" presetSubtype="0" fill="hold" grpId="0" nodeType="withEffect">
                                  <p:stCondLst>
                                    <p:cond delay="20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400"/>
                                        <p:tgtEl>
                                          <p:spTgt spid="20"/>
                                        </p:tgtEl>
                                      </p:cBhvr>
                                    </p:animEffect>
                                  </p:childTnLst>
                                </p:cTn>
                              </p:par>
                              <p:par>
                                <p:cTn id="21" presetID="10" presetClass="entr" presetSubtype="0" fill="hold" grpId="0" nodeType="withEffect">
                                  <p:stCondLst>
                                    <p:cond delay="20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grpId="0" nodeType="withEffect">
                                  <p:stCondLst>
                                    <p:cond delay="20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par>
                                <p:cTn id="27" presetID="10" presetClass="entr" presetSubtype="0" fill="hold" grpId="0" nodeType="withEffect">
                                  <p:stCondLst>
                                    <p:cond delay="20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400"/>
                                        <p:tgtEl>
                                          <p:spTgt spid="23"/>
                                        </p:tgtEl>
                                      </p:cBhvr>
                                    </p:animEffect>
                                  </p:childTnLst>
                                </p:cTn>
                              </p:par>
                              <p:par>
                                <p:cTn id="30" presetID="10" presetClass="entr" presetSubtype="0" fill="hold" grpId="0" nodeType="withEffect">
                                  <p:stCondLst>
                                    <p:cond delay="20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par>
                    <p:cTn id="65" fill="hold">
                      <p:stCondLst>
                        <p:cond delay="indefinite"/>
                      </p:stCondLst>
                      <p:childTnLst>
                        <p:par>
                          <p:cTn id="6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0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00"/>
                                        <p:tgtEl>
                                          <p:spTgt spid="2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400"/>
                                        <p:tgtEl>
                                          <p:spTgt spid="2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400"/>
                                        <p:tgtEl>
                                          <p:spTgt spid="2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400"/>
                                        <p:tgtEl>
                                          <p:spTgt spid="2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4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400"/>
                                        <p:tgtEl>
                                          <p:spTgt spid="3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400"/>
                                        <p:tgtEl>
                                          <p:spTgt spid="3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400"/>
                                        <p:tgtEl>
                                          <p:spTgt spid="3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01</a:t>
            </a:r>
          </a:p>
        </p:txBody>
      </p:sp>
      <p:sp>
        <p:nvSpPr>
          <p:cNvPr id="4" name="TextBox 3"/>
          <p:cNvSpPr txBox="1"/>
          <p:nvPr/>
        </p:nvSpPr>
        <p:spPr>
          <a:xfrm>
            <a:off x="898398"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Objeto de estudio y campo de acción</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140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5410200" cy="2205546"/>
          </a:xfrm>
          <a:prstGeom prst="roundRect">
            <a:avLst>
              <a:gd name="adj" fmla="val 3310"/>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 Same Side Corner Rectangle 13"/>
          <p:cNvSpPr/>
          <p:nvPr/>
        </p:nvSpPr>
        <p:spPr>
          <a:xfrm>
            <a:off x="571500" y="1286446"/>
            <a:ext cx="5403850" cy="38100"/>
          </a:xfrm>
          <a:prstGeom prst="round2SameRect">
            <a:avLst>
              <a:gd name="adj1" fmla="val 50000"/>
              <a:gd name="adj2" fmla="val 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1483615"/>
            <a:ext cx="5071491"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Objeto de estudio [8, p. 8]</a:t>
            </a:r>
          </a:p>
        </p:txBody>
      </p:sp>
      <p:sp>
        <p:nvSpPr>
          <p:cNvPr id="16" name="TextBox 15"/>
          <p:cNvSpPr txBox="1"/>
          <p:nvPr/>
        </p:nvSpPr>
        <p:spPr>
          <a:xfrm>
            <a:off x="787400" y="1761587"/>
            <a:ext cx="5071491" cy="654304"/>
          </a:xfrm>
          <a:prstGeom prst="rect">
            <a:avLst/>
          </a:prstGeom>
          <a:noFill/>
        </p:spPr>
        <p:txBody>
          <a:bodyPr wrap="square" lIns="0" rIns="0" tIns="0" bIns="0" anchor="t"/>
          <a:lstStyle/>
          <a:p>
            <a:pPr algn="l">
              <a:lnSpc>
                <a:spcPts val="2576"/>
              </a:lnSpc>
              <a:spcBef>
                <a:spcPts val="0"/>
              </a:spcBef>
              <a:spcAft>
                <a:spcPts val="0"/>
              </a:spcAft>
            </a:pPr>
            <a:r>
              <a:rPr sz="2300" b="1" i="0">
                <a:solidFill>
                  <a:srgbClr val="1B2A4A"/>
                </a:solidFill>
                <a:latin typeface="Calibri"/>
              </a:rPr>
              <a:t>El análisis de medios continuos en</a:t>
            </a:r>
            <a:br/>
            <a:r>
              <a:rPr sz="2300" b="1" i="0">
                <a:solidFill>
                  <a:srgbClr val="1B2A4A"/>
                </a:solidFill>
                <a:latin typeface="Calibri"/>
              </a:rPr>
              <a:t>elasticidad lineal plana por el MEF</a:t>
            </a:r>
          </a:p>
        </p:txBody>
      </p:sp>
      <p:sp>
        <p:nvSpPr>
          <p:cNvPr id="17" name="TextBox 16"/>
          <p:cNvSpPr txBox="1"/>
          <p:nvPr/>
        </p:nvSpPr>
        <p:spPr>
          <a:xfrm>
            <a:off x="787400" y="2476804"/>
            <a:ext cx="5071491" cy="814959"/>
          </a:xfrm>
          <a:prstGeom prst="rect">
            <a:avLst/>
          </a:prstGeom>
          <a:noFill/>
        </p:spPr>
        <p:txBody>
          <a:bodyPr wrap="square" lIns="0" rIns="0" tIns="0" bIns="0" anchor="t"/>
          <a:lstStyle/>
          <a:p>
            <a:pPr algn="l">
              <a:lnSpc>
                <a:spcPts val="2139"/>
              </a:lnSpc>
              <a:spcBef>
                <a:spcPts val="0"/>
              </a:spcBef>
              <a:spcAft>
                <a:spcPts val="0"/>
              </a:spcAft>
            </a:pPr>
            <a:r>
              <a:rPr sz="1550" b="0" i="0">
                <a:solidFill>
                  <a:srgbClr val="3F4A5A"/>
                </a:solidFill>
                <a:latin typeface="Calibri"/>
              </a:rPr>
              <a:t>El procedimiento de cálculo que va del mapeo isoparamétrico</a:t>
            </a:r>
            <a:br/>
            <a:r>
              <a:rPr sz="1550" b="0" i="0">
                <a:solidFill>
                  <a:srgbClr val="3F4A5A"/>
                </a:solidFill>
                <a:latin typeface="Calibri"/>
              </a:rPr>
              <a:t>a la recuperación de tensiones, con elementos cuadriláteros</a:t>
            </a:r>
            <a:br/>
            <a:r>
              <a:rPr sz="1550" b="0" i="0">
                <a:solidFill>
                  <a:srgbClr val="3F4A5A"/>
                </a:solidFill>
                <a:latin typeface="Calibri"/>
              </a:rPr>
              <a:t>Q4 y Q9.</a:t>
            </a:r>
          </a:p>
        </p:txBody>
      </p:sp>
      <p:sp>
        <p:nvSpPr>
          <p:cNvPr id="18" name="Rounded Rectangle 17"/>
          <p:cNvSpPr/>
          <p:nvPr/>
        </p:nvSpPr>
        <p:spPr>
          <a:xfrm>
            <a:off x="6213475" y="1283272"/>
            <a:ext cx="5410200" cy="2205546"/>
          </a:xfrm>
          <a:prstGeom prst="roundRect">
            <a:avLst>
              <a:gd name="adj" fmla="val 3310"/>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6216650" y="1286446"/>
            <a:ext cx="5403850" cy="38100"/>
          </a:xfrm>
          <a:prstGeom prst="round2SameRect">
            <a:avLst>
              <a:gd name="adj1" fmla="val 50000"/>
              <a:gd name="adj2" fmla="val 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2550" y="1483615"/>
            <a:ext cx="5071491"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Campo de acción [8, p. 13]</a:t>
            </a:r>
          </a:p>
        </p:txBody>
      </p:sp>
      <p:sp>
        <p:nvSpPr>
          <p:cNvPr id="21" name="TextBox 20"/>
          <p:cNvSpPr txBox="1"/>
          <p:nvPr/>
        </p:nvSpPr>
        <p:spPr>
          <a:xfrm>
            <a:off x="6432550" y="1761587"/>
            <a:ext cx="5071491" cy="654304"/>
          </a:xfrm>
          <a:prstGeom prst="rect">
            <a:avLst/>
          </a:prstGeom>
          <a:noFill/>
        </p:spPr>
        <p:txBody>
          <a:bodyPr wrap="square" lIns="0" rIns="0" tIns="0" bIns="0" anchor="t"/>
          <a:lstStyle/>
          <a:p>
            <a:pPr algn="l">
              <a:lnSpc>
                <a:spcPts val="2576"/>
              </a:lnSpc>
              <a:spcBef>
                <a:spcPts val="0"/>
              </a:spcBef>
              <a:spcAft>
                <a:spcPts val="0"/>
              </a:spcAft>
            </a:pPr>
            <a:r>
              <a:rPr sz="2300" b="1" i="0">
                <a:solidFill>
                  <a:srgbClr val="1B2A4A"/>
                </a:solidFill>
                <a:latin typeface="Calibri"/>
              </a:rPr>
              <a:t>Los medios de cálculo con que ese</a:t>
            </a:r>
            <a:br/>
            <a:r>
              <a:rPr sz="2300" b="1" i="0">
                <a:solidFill>
                  <a:srgbClr val="1B2A4A"/>
                </a:solidFill>
                <a:latin typeface="Calibri"/>
              </a:rPr>
              <a:t>análisis se enseña en la Carrera</a:t>
            </a:r>
          </a:p>
        </p:txBody>
      </p:sp>
      <p:sp>
        <p:nvSpPr>
          <p:cNvPr id="22" name="TextBox 21"/>
          <p:cNvSpPr txBox="1"/>
          <p:nvPr/>
        </p:nvSpPr>
        <p:spPr>
          <a:xfrm>
            <a:off x="6432550" y="2476804"/>
            <a:ext cx="5071491" cy="814959"/>
          </a:xfrm>
          <a:prstGeom prst="rect">
            <a:avLst/>
          </a:prstGeom>
          <a:noFill/>
        </p:spPr>
        <p:txBody>
          <a:bodyPr wrap="square" lIns="0" rIns="0" tIns="0" bIns="0" anchor="t"/>
          <a:lstStyle/>
          <a:p>
            <a:pPr algn="l">
              <a:lnSpc>
                <a:spcPts val="2139"/>
              </a:lnSpc>
              <a:spcBef>
                <a:spcPts val="0"/>
              </a:spcBef>
              <a:spcAft>
                <a:spcPts val="0"/>
              </a:spcAft>
            </a:pPr>
            <a:r>
              <a:rPr sz="1550" b="0" i="0">
                <a:solidFill>
                  <a:srgbClr val="3F4A5A"/>
                </a:solidFill>
                <a:latin typeface="Calibri"/>
              </a:rPr>
              <a:t>El software educativo que expone el procedimiento y la</a:t>
            </a:r>
            <a:br/>
            <a:r>
              <a:rPr sz="1550" b="0" i="0">
                <a:solidFill>
                  <a:srgbClr val="3F4A5A"/>
                </a:solidFill>
                <a:latin typeface="Calibri"/>
              </a:rPr>
              <a:t>memoria de cálculo que lo documenta sobre el modelo del</a:t>
            </a:r>
            <a:br/>
            <a:r>
              <a:rPr sz="1550" b="0" i="0">
                <a:solidFill>
                  <a:srgbClr val="3F4A5A"/>
                </a:solidFill>
                <a:latin typeface="Calibri"/>
              </a:rPr>
              <a:t>usuario.</a:t>
            </a:r>
          </a:p>
        </p:txBody>
      </p:sp>
      <p:sp>
        <p:nvSpPr>
          <p:cNvPr id="23" name="TextBox 22"/>
          <p:cNvSpPr txBox="1"/>
          <p:nvPr/>
        </p:nvSpPr>
        <p:spPr>
          <a:xfrm>
            <a:off x="565150" y="3717436"/>
            <a:ext cx="11282934" cy="197168"/>
          </a:xfrm>
          <a:prstGeom prst="rect">
            <a:avLst/>
          </a:prstGeom>
          <a:noFill/>
        </p:spPr>
        <p:txBody>
          <a:bodyPr wrap="square" lIns="0" rIns="0" tIns="0" bIns="0" anchor="t"/>
          <a:lstStyle/>
          <a:p>
            <a:pPr algn="l">
              <a:lnSpc>
                <a:spcPts val="1552"/>
              </a:lnSpc>
              <a:spcBef>
                <a:spcPts val="0"/>
              </a:spcBef>
              <a:spcAft>
                <a:spcPts val="0"/>
              </a:spcAft>
            </a:pPr>
            <a:r>
              <a:rPr sz="1150" b="1" i="0" cap="all" spc="138">
                <a:solidFill>
                  <a:srgbClr val="5B6575"/>
                </a:solidFill>
                <a:latin typeface="Calibri"/>
              </a:rPr>
              <a:t>Delimitación en cuatro planos</a:t>
            </a:r>
          </a:p>
        </p:txBody>
      </p:sp>
      <p:sp>
        <p:nvSpPr>
          <p:cNvPr id="24" name="Rounded Rectangle 23"/>
          <p:cNvSpPr/>
          <p:nvPr/>
        </p:nvSpPr>
        <p:spPr>
          <a:xfrm>
            <a:off x="568325" y="4009834"/>
            <a:ext cx="2635250" cy="1448880"/>
          </a:xfrm>
          <a:prstGeom prst="roundRect">
            <a:avLst>
              <a:gd name="adj" fmla="val 50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7400" y="4210115"/>
            <a:ext cx="22479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Disciplinar</a:t>
            </a:r>
          </a:p>
        </p:txBody>
      </p:sp>
      <p:sp>
        <p:nvSpPr>
          <p:cNvPr id="26" name="TextBox 25"/>
          <p:cNvSpPr txBox="1"/>
          <p:nvPr/>
        </p:nvSpPr>
        <p:spPr>
          <a:xfrm>
            <a:off x="787400" y="4474108"/>
            <a:ext cx="2247900" cy="525780"/>
          </a:xfrm>
          <a:prstGeom prst="rect">
            <a:avLst/>
          </a:prstGeom>
          <a:noFill/>
        </p:spPr>
        <p:txBody>
          <a:bodyPr wrap="square" lIns="0" rIns="0" tIns="0" bIns="0" anchor="t"/>
          <a:lstStyle/>
          <a:p>
            <a:pPr algn="l">
              <a:lnSpc>
                <a:spcPts val="2070"/>
              </a:lnSpc>
              <a:spcBef>
                <a:spcPts val="0"/>
              </a:spcBef>
              <a:spcAft>
                <a:spcPts val="0"/>
              </a:spcAft>
            </a:pPr>
            <a:r>
              <a:rPr sz="1500" b="0" i="0">
                <a:solidFill>
                  <a:srgbClr val="1F2937"/>
                </a:solidFill>
                <a:latin typeface="Calibri"/>
              </a:rPr>
              <a:t>Elasticidad lineal plana con</a:t>
            </a:r>
            <a:br/>
            <a:r>
              <a:rPr sz="1500" b="0" i="0">
                <a:solidFill>
                  <a:srgbClr val="1F2937"/>
                </a:solidFill>
                <a:latin typeface="Calibri"/>
              </a:rPr>
              <a:t>Q4 y Q9</a:t>
            </a:r>
          </a:p>
        </p:txBody>
      </p:sp>
      <p:sp>
        <p:nvSpPr>
          <p:cNvPr id="27" name="Rounded Rectangle 26"/>
          <p:cNvSpPr/>
          <p:nvPr/>
        </p:nvSpPr>
        <p:spPr>
          <a:xfrm>
            <a:off x="3375025" y="4009834"/>
            <a:ext cx="2635250" cy="1448880"/>
          </a:xfrm>
          <a:prstGeom prst="roundRect">
            <a:avLst>
              <a:gd name="adj" fmla="val 50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4100" y="4210115"/>
            <a:ext cx="22479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Institucional</a:t>
            </a:r>
          </a:p>
        </p:txBody>
      </p:sp>
      <p:sp>
        <p:nvSpPr>
          <p:cNvPr id="29" name="TextBox 28"/>
          <p:cNvSpPr txBox="1"/>
          <p:nvPr/>
        </p:nvSpPr>
        <p:spPr>
          <a:xfrm>
            <a:off x="3594100" y="4474108"/>
            <a:ext cx="2247900" cy="525780"/>
          </a:xfrm>
          <a:prstGeom prst="rect">
            <a:avLst/>
          </a:prstGeom>
          <a:noFill/>
        </p:spPr>
        <p:txBody>
          <a:bodyPr wrap="square" lIns="0" rIns="0" tIns="0" bIns="0" anchor="t"/>
          <a:lstStyle/>
          <a:p>
            <a:pPr algn="l">
              <a:lnSpc>
                <a:spcPts val="2070"/>
              </a:lnSpc>
              <a:spcBef>
                <a:spcPts val="0"/>
              </a:spcBef>
              <a:spcAft>
                <a:spcPts val="0"/>
              </a:spcAft>
            </a:pPr>
            <a:r>
              <a:rPr sz="1500" b="0" i="0">
                <a:solidFill>
                  <a:srgbClr val="1F2937"/>
                </a:solidFill>
                <a:latin typeface="Calibri"/>
              </a:rPr>
              <a:t>Carrera de Ingeniería Civil,</a:t>
            </a:r>
            <a:br/>
            <a:r>
              <a:rPr sz="1500" b="0" i="0">
                <a:solidFill>
                  <a:srgbClr val="1F2937"/>
                </a:solidFill>
                <a:latin typeface="Calibri"/>
              </a:rPr>
              <a:t>UATF</a:t>
            </a:r>
          </a:p>
        </p:txBody>
      </p:sp>
      <p:sp>
        <p:nvSpPr>
          <p:cNvPr id="30" name="Rounded Rectangle 29"/>
          <p:cNvSpPr/>
          <p:nvPr/>
        </p:nvSpPr>
        <p:spPr>
          <a:xfrm>
            <a:off x="6181725" y="4009834"/>
            <a:ext cx="2635250" cy="1448880"/>
          </a:xfrm>
          <a:prstGeom prst="roundRect">
            <a:avLst>
              <a:gd name="adj" fmla="val 50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4210115"/>
            <a:ext cx="22479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Espacial</a:t>
            </a:r>
          </a:p>
        </p:txBody>
      </p:sp>
      <p:sp>
        <p:nvSpPr>
          <p:cNvPr id="32" name="TextBox 31"/>
          <p:cNvSpPr txBox="1"/>
          <p:nvPr/>
        </p:nvSpPr>
        <p:spPr>
          <a:xfrm>
            <a:off x="6400800" y="4474108"/>
            <a:ext cx="2247900" cy="525780"/>
          </a:xfrm>
          <a:prstGeom prst="rect">
            <a:avLst/>
          </a:prstGeom>
          <a:noFill/>
        </p:spPr>
        <p:txBody>
          <a:bodyPr wrap="square" lIns="0" rIns="0" tIns="0" bIns="0" anchor="t"/>
          <a:lstStyle/>
          <a:p>
            <a:pPr algn="l">
              <a:lnSpc>
                <a:spcPts val="2070"/>
              </a:lnSpc>
              <a:spcBef>
                <a:spcPts val="0"/>
              </a:spcBef>
              <a:spcAft>
                <a:spcPts val="0"/>
              </a:spcAft>
            </a:pPr>
            <a:r>
              <a:rPr sz="1500" b="0" i="0">
                <a:solidFill>
                  <a:srgbClr val="1F2937"/>
                </a:solidFill>
                <a:latin typeface="Calibri"/>
              </a:rPr>
              <a:t>El aula y la computadora</a:t>
            </a:r>
            <a:br/>
            <a:r>
              <a:rPr sz="1500" b="0" i="0">
                <a:solidFill>
                  <a:srgbClr val="1F2937"/>
                </a:solidFill>
                <a:latin typeface="Calibri"/>
              </a:rPr>
              <a:t>personal, sin licencias</a:t>
            </a:r>
          </a:p>
        </p:txBody>
      </p:sp>
      <p:sp>
        <p:nvSpPr>
          <p:cNvPr id="33" name="Rounded Rectangle 32"/>
          <p:cNvSpPr/>
          <p:nvPr/>
        </p:nvSpPr>
        <p:spPr>
          <a:xfrm>
            <a:off x="8988425" y="4009834"/>
            <a:ext cx="2635250" cy="1448880"/>
          </a:xfrm>
          <a:prstGeom prst="roundRect">
            <a:avLst>
              <a:gd name="adj" fmla="val 50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07500" y="4210115"/>
            <a:ext cx="22479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Temporal</a:t>
            </a:r>
          </a:p>
        </p:txBody>
      </p:sp>
      <p:sp>
        <p:nvSpPr>
          <p:cNvPr id="35" name="TextBox 34"/>
          <p:cNvSpPr txBox="1"/>
          <p:nvPr/>
        </p:nvSpPr>
        <p:spPr>
          <a:xfrm>
            <a:off x="9207500" y="4474108"/>
            <a:ext cx="2247900" cy="788670"/>
          </a:xfrm>
          <a:prstGeom prst="rect">
            <a:avLst/>
          </a:prstGeom>
          <a:noFill/>
        </p:spPr>
        <p:txBody>
          <a:bodyPr wrap="square" lIns="0" rIns="0" tIns="0" bIns="0" anchor="t"/>
          <a:lstStyle/>
          <a:p>
            <a:pPr algn="l">
              <a:lnSpc>
                <a:spcPts val="2070"/>
              </a:lnSpc>
              <a:spcBef>
                <a:spcPts val="0"/>
              </a:spcBef>
              <a:spcAft>
                <a:spcPts val="0"/>
              </a:spcAft>
            </a:pPr>
            <a:r>
              <a:rPr sz="1500" b="0" i="0">
                <a:solidFill>
                  <a:srgbClr val="1F2937"/>
                </a:solidFill>
                <a:latin typeface="Calibri"/>
              </a:rPr>
              <a:t>Desarrollo, verificación y</a:t>
            </a:r>
            <a:br/>
            <a:r>
              <a:rPr sz="1500" b="0" i="0">
                <a:solidFill>
                  <a:srgbClr val="1F2937"/>
                </a:solidFill>
                <a:latin typeface="Calibri"/>
              </a:rPr>
              <a:t>validación en la gestión</a:t>
            </a:r>
            <a:br/>
            <a:r>
              <a:rPr sz="1500" b="0" i="0">
                <a:solidFill>
                  <a:srgbClr val="1F2937"/>
                </a:solidFill>
                <a:latin typeface="Calibri"/>
              </a:rPr>
              <a:t>2026</a:t>
            </a:r>
          </a:p>
        </p:txBody>
      </p:sp>
      <p:sp>
        <p:nvSpPr>
          <p:cNvPr id="36" name="Rectangle 35"/>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5150" y="6535420"/>
            <a:ext cx="522554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9" name="TextBox 38"/>
          <p:cNvSpPr txBox="1"/>
          <p:nvPr/>
        </p:nvSpPr>
        <p:spPr>
          <a:xfrm>
            <a:off x="5662803" y="6535420"/>
            <a:ext cx="86639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Objeto y campo</a:t>
            </a:r>
          </a:p>
        </p:txBody>
      </p:sp>
      <p:sp>
        <p:nvSpPr>
          <p:cNvPr id="40" name="TextBox 39"/>
          <p:cNvSpPr txBox="1"/>
          <p:nvPr/>
        </p:nvSpPr>
        <p:spPr>
          <a:xfrm>
            <a:off x="6401308" y="6535420"/>
            <a:ext cx="522554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5</a:t>
            </a:r>
          </a:p>
        </p:txBody>
      </p:sp>
      <p:sp>
        <p:nvSpPr>
          <p:cNvPr id="41" name="Enlace a sep-intro">
            <a:hlinkClick action="ppaction://hlinksldjump" r:id="rId2"/>
          </p:cNvPr>
          <p:cNvSpPr/>
          <p:nvPr/>
        </p:nvSpPr>
        <p:spPr>
          <a:xfrm>
            <a:off x="10598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nlace a sep-teoria">
            <a:hlinkClick action="ppaction://hlinksldjump" r:id="rId3"/>
          </p:cNvPr>
          <p:cNvSpPr/>
          <p:nvPr/>
        </p:nvSpPr>
        <p:spPr>
          <a:xfrm>
            <a:off x="108140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nlace a sep-diseno">
            <a:hlinkClick action="ppaction://hlinksldjump" r:id="rId4"/>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2" fill="hold">
                      <p:stCondLst>
                        <p:cond delay="indefinite"/>
                        <p:cond evt="onBegin" delay="0">
                          <p:tn val="2"/>
                        </p:cond>
                      </p:stCondLst>
                      <p:childTnLst>
                        <p:par>
                          <p:cTn id="73"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23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23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23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23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23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childTnLst>
                          </p:cTn>
                        </p:par>
                      </p:childTnLst>
                    </p:cTn>
                  </p:par>
                  <p:par>
                    <p:cTn id="74" fill="hold">
                      <p:stCondLst>
                        <p:cond delay="indefinite"/>
                      </p:stCondLst>
                      <p:childTnLst>
                        <p:par>
                          <p:cTn id="75"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01</a:t>
            </a:r>
          </a:p>
        </p:txBody>
      </p:sp>
      <p:sp>
        <p:nvSpPr>
          <p:cNvPr id="4" name="TextBox 3"/>
          <p:cNvSpPr txBox="1"/>
          <p:nvPr/>
        </p:nvSpPr>
        <p:spPr>
          <a:xfrm>
            <a:off x="898398"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Objetivo general</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140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2654300" cy="1873250"/>
          </a:xfrm>
          <a:prstGeom prst="roundRect">
            <a:avLst>
              <a:gd name="adj" fmla="val 389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600" y="14582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Qué</a:t>
            </a:r>
          </a:p>
        </p:txBody>
      </p:sp>
      <p:sp>
        <p:nvSpPr>
          <p:cNvPr id="15" name="TextBox 14"/>
          <p:cNvSpPr txBox="1"/>
          <p:nvPr/>
        </p:nvSpPr>
        <p:spPr>
          <a:xfrm>
            <a:off x="736600" y="1727073"/>
            <a:ext cx="2368550" cy="990600"/>
          </a:xfrm>
          <a:prstGeom prst="rect">
            <a:avLst/>
          </a:prstGeom>
          <a:noFill/>
        </p:spPr>
        <p:txBody>
          <a:bodyPr wrap="square" lIns="0" rIns="0" tIns="0" bIns="0" anchor="t"/>
          <a:lstStyle/>
          <a:p>
            <a:pPr algn="l">
              <a:lnSpc>
                <a:spcPts val="1950"/>
              </a:lnSpc>
              <a:spcBef>
                <a:spcPts val="0"/>
              </a:spcBef>
              <a:spcAft>
                <a:spcPts val="0"/>
              </a:spcAft>
            </a:pPr>
            <a:r>
              <a:rPr sz="1500" b="1" i="0">
                <a:solidFill>
                  <a:srgbClr val="3F4A5A"/>
                </a:solidFill>
                <a:latin typeface="Calibri"/>
              </a:rPr>
              <a:t>Desarrollar EduFEM</a:t>
            </a:r>
            <a:r>
              <a:rPr sz="1500" b="0" i="0">
                <a:solidFill>
                  <a:srgbClr val="3F4A5A"/>
                </a:solidFill>
                <a:latin typeface="Calibri"/>
              </a:rPr>
              <a:t>, un</a:t>
            </a:r>
            <a:br/>
            <a:r>
              <a:rPr sz="1500" b="0" i="0">
                <a:solidFill>
                  <a:srgbClr val="3F4A5A"/>
                </a:solidFill>
                <a:latin typeface="Calibri"/>
              </a:rPr>
              <a:t>software educativo de</a:t>
            </a:r>
            <a:br/>
            <a:r>
              <a:rPr sz="1500" b="0" i="0">
                <a:solidFill>
                  <a:srgbClr val="3F4A5A"/>
                </a:solidFill>
                <a:latin typeface="Calibri"/>
              </a:rPr>
              <a:t>elementos finitos que</a:t>
            </a:r>
            <a:r>
              <a:rPr sz="1500" b="1" i="0">
                <a:solidFill>
                  <a:srgbClr val="3F4A5A"/>
                </a:solidFill>
                <a:latin typeface="Calibri"/>
              </a:rPr>
              <a:t> expone</a:t>
            </a:r>
            <a:br/>
            <a:r>
              <a:rPr sz="1500" b="1" i="0">
                <a:solidFill>
                  <a:srgbClr val="3F4A5A"/>
                </a:solidFill>
                <a:latin typeface="Calibri"/>
              </a:rPr>
              <a:t>el procedimiento de cálculo</a:t>
            </a:r>
          </a:p>
        </p:txBody>
      </p:sp>
      <p:sp>
        <p:nvSpPr>
          <p:cNvPr id="16" name="Rounded Rectangle 15"/>
          <p:cNvSpPr/>
          <p:nvPr/>
        </p:nvSpPr>
        <p:spPr>
          <a:xfrm>
            <a:off x="3368675" y="1283272"/>
            <a:ext cx="2654300" cy="1873250"/>
          </a:xfrm>
          <a:prstGeom prst="roundRect">
            <a:avLst>
              <a:gd name="adj" fmla="val 389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6950" y="14582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Dominio</a:t>
            </a:r>
          </a:p>
        </p:txBody>
      </p:sp>
      <p:sp>
        <p:nvSpPr>
          <p:cNvPr id="18" name="TextBox 17"/>
          <p:cNvSpPr txBox="1"/>
          <p:nvPr/>
        </p:nvSpPr>
        <p:spPr>
          <a:xfrm>
            <a:off x="3536950" y="1727073"/>
            <a:ext cx="2368550" cy="1238250"/>
          </a:xfrm>
          <a:prstGeom prst="rect">
            <a:avLst/>
          </a:prstGeom>
          <a:noFill/>
        </p:spPr>
        <p:txBody>
          <a:bodyPr wrap="square" lIns="0" rIns="0" tIns="0" bIns="0" anchor="t"/>
          <a:lstStyle/>
          <a:p>
            <a:pPr algn="l">
              <a:lnSpc>
                <a:spcPts val="1950"/>
              </a:lnSpc>
              <a:spcBef>
                <a:spcPts val="0"/>
              </a:spcBef>
              <a:spcAft>
                <a:spcPts val="0"/>
              </a:spcAft>
            </a:pPr>
            <a:r>
              <a:rPr sz="1500" b="0" i="0">
                <a:solidFill>
                  <a:srgbClr val="3F4A5A"/>
                </a:solidFill>
                <a:latin typeface="Calibri"/>
              </a:rPr>
              <a:t>Elasticidad lineal</a:t>
            </a:r>
            <a:br/>
            <a:r>
              <a:rPr sz="1500" b="0" i="0">
                <a:solidFill>
                  <a:srgbClr val="3F4A5A"/>
                </a:solidFill>
                <a:latin typeface="Calibri"/>
              </a:rPr>
              <a:t>bidimensional —tensión y</a:t>
            </a:r>
            <a:br/>
            <a:r>
              <a:rPr sz="1500" b="0" i="0">
                <a:solidFill>
                  <a:srgbClr val="3F4A5A"/>
                </a:solidFill>
                <a:latin typeface="Calibri"/>
              </a:rPr>
              <a:t>deformación plana— con</a:t>
            </a:r>
            <a:br/>
            <a:r>
              <a:rPr sz="1500" b="0" i="0">
                <a:solidFill>
                  <a:srgbClr val="3F4A5A"/>
                </a:solidFill>
                <a:latin typeface="Calibri"/>
              </a:rPr>
              <a:t>elementos isoparamétricos</a:t>
            </a:r>
            <a:br/>
            <a:r>
              <a:rPr sz="1500" b="1" i="0">
                <a:solidFill>
                  <a:srgbClr val="3F4A5A"/>
                </a:solidFill>
                <a:latin typeface="Calibri"/>
              </a:rPr>
              <a:t>Q4 y Q9</a:t>
            </a:r>
          </a:p>
        </p:txBody>
      </p:sp>
      <p:sp>
        <p:nvSpPr>
          <p:cNvPr id="19" name="Rounded Rectangle 18"/>
          <p:cNvSpPr/>
          <p:nvPr/>
        </p:nvSpPr>
        <p:spPr>
          <a:xfrm>
            <a:off x="6169025" y="1283272"/>
            <a:ext cx="2654300" cy="1873250"/>
          </a:xfrm>
          <a:prstGeom prst="roundRect">
            <a:avLst>
              <a:gd name="adj" fmla="val 389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7300" y="14582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Cómo</a:t>
            </a:r>
          </a:p>
        </p:txBody>
      </p:sp>
      <p:sp>
        <p:nvSpPr>
          <p:cNvPr id="21" name="TextBox 20"/>
          <p:cNvSpPr txBox="1"/>
          <p:nvPr/>
        </p:nvSpPr>
        <p:spPr>
          <a:xfrm>
            <a:off x="6337300" y="1727073"/>
            <a:ext cx="2368550" cy="1238250"/>
          </a:xfrm>
          <a:prstGeom prst="rect">
            <a:avLst/>
          </a:prstGeom>
          <a:noFill/>
        </p:spPr>
        <p:txBody>
          <a:bodyPr wrap="square" lIns="0" rIns="0" tIns="0" bIns="0" anchor="t"/>
          <a:lstStyle/>
          <a:p>
            <a:pPr algn="l">
              <a:lnSpc>
                <a:spcPts val="1950"/>
              </a:lnSpc>
              <a:spcBef>
                <a:spcPts val="0"/>
              </a:spcBef>
              <a:spcAft>
                <a:spcPts val="0"/>
              </a:spcAft>
            </a:pPr>
            <a:r>
              <a:rPr sz="1500" b="0" i="0">
                <a:solidFill>
                  <a:srgbClr val="3F4A5A"/>
                </a:solidFill>
                <a:latin typeface="Calibri"/>
              </a:rPr>
              <a:t>Diseño e implementación en</a:t>
            </a:r>
            <a:br/>
            <a:r>
              <a:rPr sz="1500" b="1" i="0">
                <a:solidFill>
                  <a:srgbClr val="3F4A5A"/>
                </a:solidFill>
                <a:latin typeface="Calibri"/>
              </a:rPr>
              <a:t>Python</a:t>
            </a:r>
            <a:r>
              <a:rPr sz="1500" b="0" i="0">
                <a:solidFill>
                  <a:srgbClr val="3F4A5A"/>
                </a:solidFill>
                <a:latin typeface="Calibri"/>
              </a:rPr>
              <a:t>; verificación y</a:t>
            </a:r>
            <a:br/>
            <a:r>
              <a:rPr sz="1500" b="0" i="0">
                <a:solidFill>
                  <a:srgbClr val="3F4A5A"/>
                </a:solidFill>
                <a:latin typeface="Calibri"/>
              </a:rPr>
              <a:t>validación frente a soluciones</a:t>
            </a:r>
            <a:br/>
            <a:r>
              <a:rPr sz="1500" b="0" i="0">
                <a:solidFill>
                  <a:srgbClr val="3F4A5A"/>
                </a:solidFill>
                <a:latin typeface="Calibri"/>
              </a:rPr>
              <a:t>analíticas, casos clásicos y un</a:t>
            </a:r>
            <a:br/>
            <a:r>
              <a:rPr sz="1500" b="0" i="0">
                <a:solidFill>
                  <a:srgbClr val="3F4A5A"/>
                </a:solidFill>
                <a:latin typeface="Calibri"/>
              </a:rPr>
              <a:t>software comercial</a:t>
            </a:r>
          </a:p>
        </p:txBody>
      </p:sp>
      <p:sp>
        <p:nvSpPr>
          <p:cNvPr id="22" name="Rounded Rectangle 21"/>
          <p:cNvSpPr/>
          <p:nvPr/>
        </p:nvSpPr>
        <p:spPr>
          <a:xfrm>
            <a:off x="8969375" y="1283272"/>
            <a:ext cx="2654300" cy="1873250"/>
          </a:xfrm>
          <a:prstGeom prst="roundRect">
            <a:avLst>
              <a:gd name="adj" fmla="val 3898"/>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 Same Side Corner Rectangle 22"/>
          <p:cNvSpPr/>
          <p:nvPr/>
        </p:nvSpPr>
        <p:spPr>
          <a:xfrm>
            <a:off x="8972550" y="1286446"/>
            <a:ext cx="2647950" cy="38100"/>
          </a:xfrm>
          <a:prstGeom prst="round2SameRect">
            <a:avLst>
              <a:gd name="adj1" fmla="val 50000"/>
              <a:gd name="adj2" fmla="val 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7650" y="14582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Para qué</a:t>
            </a:r>
          </a:p>
        </p:txBody>
      </p:sp>
      <p:sp>
        <p:nvSpPr>
          <p:cNvPr id="25" name="TextBox 24"/>
          <p:cNvSpPr txBox="1"/>
          <p:nvPr/>
        </p:nvSpPr>
        <p:spPr>
          <a:xfrm>
            <a:off x="9137650" y="1727073"/>
            <a:ext cx="2368550" cy="1238250"/>
          </a:xfrm>
          <a:prstGeom prst="rect">
            <a:avLst/>
          </a:prstGeom>
          <a:noFill/>
        </p:spPr>
        <p:txBody>
          <a:bodyPr wrap="square" lIns="0" rIns="0" tIns="0" bIns="0" anchor="t"/>
          <a:lstStyle/>
          <a:p>
            <a:pPr algn="l">
              <a:lnSpc>
                <a:spcPts val="1950"/>
              </a:lnSpc>
              <a:spcBef>
                <a:spcPts val="0"/>
              </a:spcBef>
              <a:spcAft>
                <a:spcPts val="0"/>
              </a:spcAft>
            </a:pPr>
            <a:r>
              <a:rPr sz="1500" b="0" i="0">
                <a:solidFill>
                  <a:srgbClr val="3F4A5A"/>
                </a:solidFill>
                <a:latin typeface="Calibri"/>
              </a:rPr>
              <a:t>Que el análisis por el MEF</a:t>
            </a:r>
            <a:br/>
            <a:r>
              <a:rPr sz="1500" b="0" i="0">
                <a:solidFill>
                  <a:srgbClr val="3F4A5A"/>
                </a:solidFill>
                <a:latin typeface="Calibri"/>
              </a:rPr>
              <a:t>resulte</a:t>
            </a:r>
            <a:r>
              <a:rPr sz="1500" b="1" i="0">
                <a:solidFill>
                  <a:srgbClr val="3F4A5A"/>
                </a:solidFill>
                <a:latin typeface="Calibri"/>
              </a:rPr>
              <a:t> trazable y verificable</a:t>
            </a:r>
            <a:br/>
            <a:r>
              <a:rPr sz="1500" b="1" i="0">
                <a:solidFill>
                  <a:srgbClr val="3F4A5A"/>
                </a:solidFill>
                <a:latin typeface="Calibri"/>
              </a:rPr>
              <a:t>paso a paso</a:t>
            </a:r>
            <a:r>
              <a:rPr sz="1500" b="0" i="0">
                <a:solidFill>
                  <a:srgbClr val="3F4A5A"/>
                </a:solidFill>
                <a:latin typeface="Calibri"/>
              </a:rPr>
              <a:t> en la enseñanza</a:t>
            </a:r>
            <a:br/>
            <a:r>
              <a:rPr sz="1500" b="0" i="0">
                <a:solidFill>
                  <a:srgbClr val="3F4A5A"/>
                </a:solidFill>
                <a:latin typeface="Calibri"/>
              </a:rPr>
              <a:t>de la Carrera de Ingeniería</a:t>
            </a:r>
            <a:br/>
            <a:r>
              <a:rPr sz="1500" b="0" i="0">
                <a:solidFill>
                  <a:srgbClr val="3F4A5A"/>
                </a:solidFill>
                <a:latin typeface="Calibri"/>
              </a:rPr>
              <a:t>Civil de la UATF</a:t>
            </a:r>
          </a:p>
        </p:txBody>
      </p:sp>
      <p:sp>
        <p:nvSpPr>
          <p:cNvPr id="26" name="Rounded Rectangle 25"/>
          <p:cNvSpPr/>
          <p:nvPr/>
        </p:nvSpPr>
        <p:spPr>
          <a:xfrm>
            <a:off x="568325" y="3378772"/>
            <a:ext cx="11055350" cy="1826514"/>
          </a:xfrm>
          <a:prstGeom prst="roundRect">
            <a:avLst>
              <a:gd name="adj" fmla="val 399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7400" y="3553715"/>
            <a:ext cx="108295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Enunciado de la tesis</a:t>
            </a:r>
          </a:p>
        </p:txBody>
      </p:sp>
      <p:sp>
        <p:nvSpPr>
          <p:cNvPr id="28" name="TextBox 27"/>
          <p:cNvSpPr txBox="1"/>
          <p:nvPr/>
        </p:nvSpPr>
        <p:spPr>
          <a:xfrm>
            <a:off x="787400" y="3813133"/>
            <a:ext cx="10829544" cy="1217295"/>
          </a:xfrm>
          <a:prstGeom prst="rect">
            <a:avLst/>
          </a:prstGeom>
          <a:noFill/>
        </p:spPr>
        <p:txBody>
          <a:bodyPr wrap="square" lIns="0" rIns="0" tIns="0" bIns="0" anchor="t"/>
          <a:lstStyle/>
          <a:p>
            <a:pPr algn="l">
              <a:lnSpc>
                <a:spcPts val="1917"/>
              </a:lnSpc>
              <a:spcBef>
                <a:spcPts val="0"/>
              </a:spcBef>
              <a:spcAft>
                <a:spcPts val="0"/>
              </a:spcAft>
            </a:pPr>
            <a:r>
              <a:rPr sz="1350" b="0" i="0">
                <a:solidFill>
                  <a:srgbClr val="3F4A5A"/>
                </a:solidFill>
                <a:latin typeface="Calibri"/>
              </a:rPr>
              <a:t>Desarrollar EduFEM, un software educativo de elementos finitos que expone el procedimiento de cálculo de problemas bidimensionales de elasticidad</a:t>
            </a:r>
            <a:br/>
            <a:r>
              <a:rPr sz="1350" b="0" i="0">
                <a:solidFill>
                  <a:srgbClr val="3F4A5A"/>
                </a:solidFill>
                <a:latin typeface="Calibri"/>
              </a:rPr>
              <a:t>lineal (tensión y deformación plana) con elementos cuadriláteros isoparamétricos Q4 y Q9, mediante su diseño e implementación en el lenguaje de</a:t>
            </a:r>
            <a:br/>
            <a:r>
              <a:rPr sz="1350" b="0" i="0">
                <a:solidFill>
                  <a:srgbClr val="3F4A5A"/>
                </a:solidFill>
                <a:latin typeface="Calibri"/>
              </a:rPr>
              <a:t>programación Python y su verificación y validación frente a soluciones analíticas, casos clásicos de la literatura y un software comercial, para que el</a:t>
            </a:r>
            <a:br/>
            <a:r>
              <a:rPr sz="1350" b="0" i="0">
                <a:solidFill>
                  <a:srgbClr val="3F4A5A"/>
                </a:solidFill>
                <a:latin typeface="Calibri"/>
              </a:rPr>
              <a:t>análisis por el Método de los Elementos Finitos resulte trazable y verificable paso a paso en la enseñanza de la Carrera de Ingeniería Civil de la</a:t>
            </a:r>
            <a:br/>
            <a:r>
              <a:rPr sz="1350" b="0" i="0">
                <a:solidFill>
                  <a:srgbClr val="3F4A5A"/>
                </a:solidFill>
                <a:latin typeface="Calibri"/>
              </a:rPr>
              <a:t>Universidad Autónoma Tomás Frías.</a:t>
            </a:r>
          </a:p>
        </p:txBody>
      </p:sp>
      <p:sp>
        <p:nvSpPr>
          <p:cNvPr id="29" name="Rectangle 28"/>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5150" y="6535420"/>
            <a:ext cx="539292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2" name="TextBox 31"/>
          <p:cNvSpPr txBox="1"/>
          <p:nvPr/>
        </p:nvSpPr>
        <p:spPr>
          <a:xfrm>
            <a:off x="5826950" y="6535420"/>
            <a:ext cx="538162"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Objetivos</a:t>
            </a:r>
          </a:p>
        </p:txBody>
      </p:sp>
      <p:sp>
        <p:nvSpPr>
          <p:cNvPr id="33" name="TextBox 32"/>
          <p:cNvSpPr txBox="1"/>
          <p:nvPr/>
        </p:nvSpPr>
        <p:spPr>
          <a:xfrm>
            <a:off x="6233922" y="6535420"/>
            <a:ext cx="539292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6</a:t>
            </a:r>
          </a:p>
        </p:txBody>
      </p:sp>
      <p:sp>
        <p:nvSpPr>
          <p:cNvPr id="34" name="Enlace a sep-intro">
            <a:hlinkClick action="ppaction://hlinksldjump" r:id="rId2"/>
          </p:cNvPr>
          <p:cNvSpPr/>
          <p:nvPr/>
        </p:nvSpPr>
        <p:spPr>
          <a:xfrm>
            <a:off x="10598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nlace a sep-teoria">
            <a:hlinkClick action="ppaction://hlinksldjump" r:id="rId3"/>
          </p:cNvPr>
          <p:cNvSpPr/>
          <p:nvPr/>
        </p:nvSpPr>
        <p:spPr>
          <a:xfrm>
            <a:off x="108140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nlace a sep-diseno">
            <a:hlinkClick action="ppaction://hlinksldjump" r:id="rId4"/>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52"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23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23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34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34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par>
                                <p:cTn id="39" presetID="10" presetClass="entr" presetSubtype="0" fill="hold" grpId="0" nodeType="withEffect">
                                  <p:stCondLst>
                                    <p:cond delay="45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50"/>
                                        <p:tgtEl>
                                          <p:spTgt spid="25"/>
                                        </p:tgtEl>
                                      </p:cBhvr>
                                    </p:animEffect>
                                  </p:childTnLst>
                                </p:cTn>
                              </p:par>
                            </p:childTnLst>
                          </p:cTn>
                        </p:par>
                      </p:childTnLst>
                    </p:cTn>
                  </p:par>
                  <p:par>
                    <p:cTn id="53" fill="hold">
                      <p:stCondLst>
                        <p:cond delay="indefinite"/>
                      </p:stCondLst>
                      <p:childTnLst>
                        <p:par>
                          <p:cTn id="54"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01</a:t>
            </a:r>
          </a:p>
        </p:txBody>
      </p:sp>
      <p:sp>
        <p:nvSpPr>
          <p:cNvPr id="4" name="TextBox 3"/>
          <p:cNvSpPr txBox="1"/>
          <p:nvPr/>
        </p:nvSpPr>
        <p:spPr>
          <a:xfrm>
            <a:off x="898398"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Cinco objetivos específicos, en escalera</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140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5121275"/>
            <a:ext cx="4057650" cy="869950"/>
          </a:xfrm>
          <a:prstGeom prst="roundRect">
            <a:avLst>
              <a:gd name="adj" fmla="val 8394"/>
            </a:avLst>
          </a:prstGeom>
          <a:solidFill>
            <a:srgbClr val="FFFFFF"/>
          </a:solidFill>
          <a:ln w="6350">
            <a:solidFill>
              <a:srgbClr val="DCE3EE"/>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38150" y="4946650"/>
            <a:ext cx="431800" cy="431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6250" y="4984750"/>
            <a:ext cx="355600" cy="3556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850" y="5085588"/>
            <a:ext cx="4064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1</a:t>
            </a:r>
          </a:p>
        </p:txBody>
      </p:sp>
      <p:sp>
        <p:nvSpPr>
          <p:cNvPr id="17" name="TextBox 16"/>
          <p:cNvSpPr txBox="1"/>
          <p:nvPr/>
        </p:nvSpPr>
        <p:spPr>
          <a:xfrm>
            <a:off x="869950" y="5241417"/>
            <a:ext cx="3743706" cy="266700"/>
          </a:xfrm>
          <a:prstGeom prst="rect">
            <a:avLst/>
          </a:prstGeom>
          <a:noFill/>
        </p:spPr>
        <p:txBody>
          <a:bodyPr wrap="square" lIns="0" rIns="0" tIns="0" bIns="0" anchor="t"/>
          <a:lstStyle/>
          <a:p>
            <a:pPr algn="l">
              <a:lnSpc>
                <a:spcPts val="2100"/>
              </a:lnSpc>
              <a:spcBef>
                <a:spcPts val="0"/>
              </a:spcBef>
              <a:spcAft>
                <a:spcPts val="0"/>
              </a:spcAft>
            </a:pPr>
            <a:r>
              <a:rPr sz="2000" b="1" i="0">
                <a:solidFill>
                  <a:srgbClr val="1B2A4A"/>
                </a:solidFill>
                <a:latin typeface="Calibri"/>
              </a:rPr>
              <a:t>Diagnosticar</a:t>
            </a:r>
          </a:p>
        </p:txBody>
      </p:sp>
      <p:sp>
        <p:nvSpPr>
          <p:cNvPr id="18" name="TextBox 17"/>
          <p:cNvSpPr txBox="1"/>
          <p:nvPr/>
        </p:nvSpPr>
        <p:spPr>
          <a:xfrm>
            <a:off x="869950" y="5542354"/>
            <a:ext cx="3743706" cy="357632"/>
          </a:xfrm>
          <a:prstGeom prst="rect">
            <a:avLst/>
          </a:prstGeom>
          <a:noFill/>
        </p:spPr>
        <p:txBody>
          <a:bodyPr wrap="square" lIns="0" rIns="0" tIns="0" bIns="0" anchor="t"/>
          <a:lstStyle/>
          <a:p>
            <a:pPr algn="l">
              <a:lnSpc>
                <a:spcPts val="1408"/>
              </a:lnSpc>
              <a:spcBef>
                <a:spcPts val="0"/>
              </a:spcBef>
              <a:spcAft>
                <a:spcPts val="0"/>
              </a:spcAft>
            </a:pPr>
            <a:r>
              <a:rPr sz="1100" b="0" i="0">
                <a:solidFill>
                  <a:srgbClr val="3F4A5A"/>
                </a:solidFill>
                <a:latin typeface="Calibri"/>
              </a:rPr>
              <a:t>los atributos de trazabilidad y verificabilidad que los recursos no</a:t>
            </a:r>
            <a:br/>
            <a:r>
              <a:rPr sz="1100" b="0" i="0">
                <a:solidFill>
                  <a:srgbClr val="3F4A5A"/>
                </a:solidFill>
                <a:latin typeface="Calibri"/>
              </a:rPr>
              <a:t>ofrecen → requisitos</a:t>
            </a:r>
          </a:p>
        </p:txBody>
      </p:sp>
      <p:sp>
        <p:nvSpPr>
          <p:cNvPr id="19" name="Rounded Rectangle 18"/>
          <p:cNvSpPr/>
          <p:nvPr/>
        </p:nvSpPr>
        <p:spPr>
          <a:xfrm>
            <a:off x="4187254" y="5026025"/>
            <a:ext cx="400622" cy="2159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66628" y="5083905"/>
            <a:ext cx="292672" cy="120650"/>
          </a:xfrm>
          <a:prstGeom prst="rect">
            <a:avLst/>
          </a:prstGeom>
          <a:noFill/>
        </p:spPr>
        <p:txBody>
          <a:bodyPr wrap="square" lIns="0" rIns="0" tIns="0" bIns="0" anchor="t"/>
          <a:lstStyle/>
          <a:p>
            <a:pPr algn="l">
              <a:lnSpc>
                <a:spcPts val="950"/>
              </a:lnSpc>
              <a:spcBef>
                <a:spcPts val="0"/>
              </a:spcBef>
              <a:spcAft>
                <a:spcPts val="0"/>
              </a:spcAft>
            </a:pPr>
            <a:r>
              <a:rPr sz="950" b="1" i="0">
                <a:solidFill>
                  <a:srgbClr val="1F77B4"/>
                </a:solidFill>
                <a:latin typeface="Calibri"/>
              </a:rPr>
              <a:t>§ 1.1</a:t>
            </a:r>
          </a:p>
        </p:txBody>
      </p:sp>
      <p:sp>
        <p:nvSpPr>
          <p:cNvPr id="21" name="Rounded Rectangle 20"/>
          <p:cNvSpPr/>
          <p:nvPr/>
        </p:nvSpPr>
        <p:spPr>
          <a:xfrm>
            <a:off x="2352675" y="4194175"/>
            <a:ext cx="4057650" cy="869950"/>
          </a:xfrm>
          <a:prstGeom prst="roundRect">
            <a:avLst>
              <a:gd name="adj" fmla="val 8394"/>
            </a:avLst>
          </a:prstGeom>
          <a:solidFill>
            <a:srgbClr val="FFFFFF"/>
          </a:solidFill>
          <a:ln w="6350">
            <a:solidFill>
              <a:srgbClr val="DCE3EE"/>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152650" y="4019550"/>
            <a:ext cx="431800" cy="431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190750" y="4057650"/>
            <a:ext cx="355600" cy="3556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5350" y="4158488"/>
            <a:ext cx="4064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2</a:t>
            </a:r>
          </a:p>
        </p:txBody>
      </p:sp>
      <p:sp>
        <p:nvSpPr>
          <p:cNvPr id="25" name="TextBox 24"/>
          <p:cNvSpPr txBox="1"/>
          <p:nvPr/>
        </p:nvSpPr>
        <p:spPr>
          <a:xfrm>
            <a:off x="2584450" y="4314317"/>
            <a:ext cx="3743706" cy="266700"/>
          </a:xfrm>
          <a:prstGeom prst="rect">
            <a:avLst/>
          </a:prstGeom>
          <a:noFill/>
        </p:spPr>
        <p:txBody>
          <a:bodyPr wrap="square" lIns="0" rIns="0" tIns="0" bIns="0" anchor="t"/>
          <a:lstStyle/>
          <a:p>
            <a:pPr algn="l">
              <a:lnSpc>
                <a:spcPts val="2100"/>
              </a:lnSpc>
              <a:spcBef>
                <a:spcPts val="0"/>
              </a:spcBef>
              <a:spcAft>
                <a:spcPts val="0"/>
              </a:spcAft>
            </a:pPr>
            <a:r>
              <a:rPr sz="2000" b="1" i="0">
                <a:solidFill>
                  <a:srgbClr val="1B2A4A"/>
                </a:solidFill>
                <a:latin typeface="Calibri"/>
              </a:rPr>
              <a:t>Fundamentar</a:t>
            </a:r>
          </a:p>
        </p:txBody>
      </p:sp>
      <p:sp>
        <p:nvSpPr>
          <p:cNvPr id="26" name="TextBox 25"/>
          <p:cNvSpPr txBox="1"/>
          <p:nvPr/>
        </p:nvSpPr>
        <p:spPr>
          <a:xfrm>
            <a:off x="2584450" y="4615254"/>
            <a:ext cx="3743706" cy="357632"/>
          </a:xfrm>
          <a:prstGeom prst="rect">
            <a:avLst/>
          </a:prstGeom>
          <a:noFill/>
        </p:spPr>
        <p:txBody>
          <a:bodyPr wrap="square" lIns="0" rIns="0" tIns="0" bIns="0" anchor="t"/>
          <a:lstStyle/>
          <a:p>
            <a:pPr algn="l">
              <a:lnSpc>
                <a:spcPts val="1408"/>
              </a:lnSpc>
              <a:spcBef>
                <a:spcPts val="0"/>
              </a:spcBef>
              <a:spcAft>
                <a:spcPts val="0"/>
              </a:spcAft>
            </a:pPr>
            <a:r>
              <a:rPr sz="1100" b="0" i="0">
                <a:solidFill>
                  <a:srgbClr val="3F4A5A"/>
                </a:solidFill>
                <a:latin typeface="Calibri"/>
              </a:rPr>
              <a:t>el MEF en elasticidad plana con Q4 y Q9, y los principios que</a:t>
            </a:r>
            <a:br/>
            <a:r>
              <a:rPr sz="1100" b="0" i="0">
                <a:solidFill>
                  <a:srgbClr val="3F4A5A"/>
                </a:solidFill>
                <a:latin typeface="Calibri"/>
              </a:rPr>
              <a:t>orientan la exposición</a:t>
            </a:r>
          </a:p>
        </p:txBody>
      </p:sp>
      <p:sp>
        <p:nvSpPr>
          <p:cNvPr id="27" name="Rounded Rectangle 26"/>
          <p:cNvSpPr/>
          <p:nvPr/>
        </p:nvSpPr>
        <p:spPr>
          <a:xfrm>
            <a:off x="5834761" y="4098925"/>
            <a:ext cx="467614" cy="2159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14136" y="4156805"/>
            <a:ext cx="359664" cy="120650"/>
          </a:xfrm>
          <a:prstGeom prst="rect">
            <a:avLst/>
          </a:prstGeom>
          <a:noFill/>
        </p:spPr>
        <p:txBody>
          <a:bodyPr wrap="square" lIns="0" rIns="0" tIns="0" bIns="0" anchor="t"/>
          <a:lstStyle/>
          <a:p>
            <a:pPr algn="l">
              <a:lnSpc>
                <a:spcPts val="950"/>
              </a:lnSpc>
              <a:spcBef>
                <a:spcPts val="0"/>
              </a:spcBef>
              <a:spcAft>
                <a:spcPts val="0"/>
              </a:spcAft>
            </a:pPr>
            <a:r>
              <a:rPr sz="950" b="1" i="0">
                <a:solidFill>
                  <a:srgbClr val="1F77B4"/>
                </a:solidFill>
                <a:latin typeface="Calibri"/>
              </a:rPr>
              <a:t>Cap. 1</a:t>
            </a:r>
          </a:p>
        </p:txBody>
      </p:sp>
      <p:sp>
        <p:nvSpPr>
          <p:cNvPr id="29" name="Rounded Rectangle 28"/>
          <p:cNvSpPr/>
          <p:nvPr/>
        </p:nvSpPr>
        <p:spPr>
          <a:xfrm>
            <a:off x="4067175" y="3267075"/>
            <a:ext cx="4057650" cy="869950"/>
          </a:xfrm>
          <a:prstGeom prst="roundRect">
            <a:avLst>
              <a:gd name="adj" fmla="val 8394"/>
            </a:avLst>
          </a:prstGeom>
          <a:solidFill>
            <a:srgbClr val="FFFFFF"/>
          </a:solidFill>
          <a:ln w="6350">
            <a:solidFill>
              <a:srgbClr val="DCE3EE"/>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867150" y="3092450"/>
            <a:ext cx="431800" cy="431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905250" y="3130550"/>
            <a:ext cx="355600" cy="3556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79850" y="3231388"/>
            <a:ext cx="4064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3</a:t>
            </a:r>
          </a:p>
        </p:txBody>
      </p:sp>
      <p:sp>
        <p:nvSpPr>
          <p:cNvPr id="33" name="TextBox 32"/>
          <p:cNvSpPr txBox="1"/>
          <p:nvPr/>
        </p:nvSpPr>
        <p:spPr>
          <a:xfrm>
            <a:off x="4298950" y="3387217"/>
            <a:ext cx="3743706" cy="266700"/>
          </a:xfrm>
          <a:prstGeom prst="rect">
            <a:avLst/>
          </a:prstGeom>
          <a:noFill/>
        </p:spPr>
        <p:txBody>
          <a:bodyPr wrap="square" lIns="0" rIns="0" tIns="0" bIns="0" anchor="t"/>
          <a:lstStyle/>
          <a:p>
            <a:pPr algn="l">
              <a:lnSpc>
                <a:spcPts val="2100"/>
              </a:lnSpc>
              <a:spcBef>
                <a:spcPts val="0"/>
              </a:spcBef>
              <a:spcAft>
                <a:spcPts val="0"/>
              </a:spcAft>
            </a:pPr>
            <a:r>
              <a:rPr sz="2000" b="1" i="0">
                <a:solidFill>
                  <a:srgbClr val="1B2A4A"/>
                </a:solidFill>
                <a:latin typeface="Calibri"/>
              </a:rPr>
              <a:t>Desarrollar</a:t>
            </a:r>
          </a:p>
        </p:txBody>
      </p:sp>
      <p:sp>
        <p:nvSpPr>
          <p:cNvPr id="34" name="TextBox 33"/>
          <p:cNvSpPr txBox="1"/>
          <p:nvPr/>
        </p:nvSpPr>
        <p:spPr>
          <a:xfrm>
            <a:off x="4298950" y="3688154"/>
            <a:ext cx="3743706" cy="357632"/>
          </a:xfrm>
          <a:prstGeom prst="rect">
            <a:avLst/>
          </a:prstGeom>
          <a:noFill/>
        </p:spPr>
        <p:txBody>
          <a:bodyPr wrap="square" lIns="0" rIns="0" tIns="0" bIns="0" anchor="t"/>
          <a:lstStyle/>
          <a:p>
            <a:pPr algn="l">
              <a:lnSpc>
                <a:spcPts val="1408"/>
              </a:lnSpc>
              <a:spcBef>
                <a:spcPts val="0"/>
              </a:spcBef>
              <a:spcAft>
                <a:spcPts val="0"/>
              </a:spcAft>
            </a:pPr>
            <a:r>
              <a:rPr sz="1100" b="0" i="0">
                <a:solidFill>
                  <a:srgbClr val="3F4A5A"/>
                </a:solidFill>
                <a:latin typeface="Calibri"/>
              </a:rPr>
              <a:t>el motor, la interfaz en tres fases sobre un lienzo, los módulos</a:t>
            </a:r>
            <a:br/>
            <a:r>
              <a:rPr sz="1100" b="0" i="0">
                <a:solidFill>
                  <a:srgbClr val="3F4A5A"/>
                </a:solidFill>
                <a:latin typeface="Calibri"/>
              </a:rPr>
              <a:t>educativos y la memoria</a:t>
            </a:r>
          </a:p>
        </p:txBody>
      </p:sp>
      <p:sp>
        <p:nvSpPr>
          <p:cNvPr id="35" name="Rounded Rectangle 34"/>
          <p:cNvSpPr/>
          <p:nvPr/>
        </p:nvSpPr>
        <p:spPr>
          <a:xfrm>
            <a:off x="7616254" y="3171825"/>
            <a:ext cx="400622" cy="2159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5629" y="3229705"/>
            <a:ext cx="292672" cy="120650"/>
          </a:xfrm>
          <a:prstGeom prst="rect">
            <a:avLst/>
          </a:prstGeom>
          <a:noFill/>
        </p:spPr>
        <p:txBody>
          <a:bodyPr wrap="square" lIns="0" rIns="0" tIns="0" bIns="0" anchor="t"/>
          <a:lstStyle/>
          <a:p>
            <a:pPr algn="l">
              <a:lnSpc>
                <a:spcPts val="950"/>
              </a:lnSpc>
              <a:spcBef>
                <a:spcPts val="0"/>
              </a:spcBef>
              <a:spcAft>
                <a:spcPts val="0"/>
              </a:spcAft>
            </a:pPr>
            <a:r>
              <a:rPr sz="950" b="1" i="0">
                <a:solidFill>
                  <a:srgbClr val="1F77B4"/>
                </a:solidFill>
                <a:latin typeface="Calibri"/>
              </a:rPr>
              <a:t>§ 2.2</a:t>
            </a:r>
          </a:p>
        </p:txBody>
      </p:sp>
      <p:sp>
        <p:nvSpPr>
          <p:cNvPr id="37" name="Rounded Rectangle 36"/>
          <p:cNvSpPr/>
          <p:nvPr/>
        </p:nvSpPr>
        <p:spPr>
          <a:xfrm>
            <a:off x="5781675" y="2339975"/>
            <a:ext cx="4057650" cy="869950"/>
          </a:xfrm>
          <a:prstGeom prst="roundRect">
            <a:avLst>
              <a:gd name="adj" fmla="val 8394"/>
            </a:avLst>
          </a:prstGeom>
          <a:solidFill>
            <a:srgbClr val="FFFFFF"/>
          </a:solidFill>
          <a:ln w="6350">
            <a:solidFill>
              <a:srgbClr val="DCE3EE"/>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581650" y="2165350"/>
            <a:ext cx="431800" cy="431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619750" y="2203450"/>
            <a:ext cx="355600" cy="3556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94350" y="2304288"/>
            <a:ext cx="4064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4</a:t>
            </a:r>
          </a:p>
        </p:txBody>
      </p:sp>
      <p:sp>
        <p:nvSpPr>
          <p:cNvPr id="41" name="TextBox 40"/>
          <p:cNvSpPr txBox="1"/>
          <p:nvPr/>
        </p:nvSpPr>
        <p:spPr>
          <a:xfrm>
            <a:off x="6013450" y="2460117"/>
            <a:ext cx="3743706" cy="266700"/>
          </a:xfrm>
          <a:prstGeom prst="rect">
            <a:avLst/>
          </a:prstGeom>
          <a:noFill/>
        </p:spPr>
        <p:txBody>
          <a:bodyPr wrap="square" lIns="0" rIns="0" tIns="0" bIns="0" anchor="t"/>
          <a:lstStyle/>
          <a:p>
            <a:pPr algn="l">
              <a:lnSpc>
                <a:spcPts val="2100"/>
              </a:lnSpc>
              <a:spcBef>
                <a:spcPts val="0"/>
              </a:spcBef>
              <a:spcAft>
                <a:spcPts val="0"/>
              </a:spcAft>
            </a:pPr>
            <a:r>
              <a:rPr sz="2000" b="1" i="0">
                <a:solidFill>
                  <a:srgbClr val="1B2A4A"/>
                </a:solidFill>
                <a:latin typeface="Calibri"/>
              </a:rPr>
              <a:t>Verificar y validar</a:t>
            </a:r>
          </a:p>
        </p:txBody>
      </p:sp>
      <p:sp>
        <p:nvSpPr>
          <p:cNvPr id="42" name="TextBox 41"/>
          <p:cNvSpPr txBox="1"/>
          <p:nvPr/>
        </p:nvSpPr>
        <p:spPr>
          <a:xfrm>
            <a:off x="6013450" y="2761054"/>
            <a:ext cx="3743706" cy="357632"/>
          </a:xfrm>
          <a:prstGeom prst="rect">
            <a:avLst/>
          </a:prstGeom>
          <a:noFill/>
        </p:spPr>
        <p:txBody>
          <a:bodyPr wrap="square" lIns="0" rIns="0" tIns="0" bIns="0" anchor="t"/>
          <a:lstStyle/>
          <a:p>
            <a:pPr algn="l">
              <a:lnSpc>
                <a:spcPts val="1408"/>
              </a:lnSpc>
              <a:spcBef>
                <a:spcPts val="0"/>
              </a:spcBef>
              <a:spcAft>
                <a:spcPts val="0"/>
              </a:spcAft>
            </a:pPr>
            <a:r>
              <a:rPr sz="1100" b="0" i="0">
                <a:solidFill>
                  <a:srgbClr val="3F4A5A"/>
                </a:solidFill>
                <a:latin typeface="Calibri"/>
              </a:rPr>
              <a:t>el motor: soluciones manufacturadas, Timoshenko y Cook,</a:t>
            </a:r>
            <a:br/>
            <a:r>
              <a:rPr sz="1100" b="0" i="0">
                <a:solidFill>
                  <a:srgbClr val="3F4A5A"/>
                </a:solidFill>
                <a:latin typeface="Calibri"/>
              </a:rPr>
              <a:t>frente a soluciones analíticas y SAP2000</a:t>
            </a:r>
          </a:p>
        </p:txBody>
      </p:sp>
      <p:sp>
        <p:nvSpPr>
          <p:cNvPr id="43" name="Rounded Rectangle 42"/>
          <p:cNvSpPr/>
          <p:nvPr/>
        </p:nvSpPr>
        <p:spPr>
          <a:xfrm>
            <a:off x="9116124" y="2244725"/>
            <a:ext cx="615252" cy="2159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95498" y="2302605"/>
            <a:ext cx="507302" cy="120650"/>
          </a:xfrm>
          <a:prstGeom prst="rect">
            <a:avLst/>
          </a:prstGeom>
          <a:noFill/>
        </p:spPr>
        <p:txBody>
          <a:bodyPr wrap="square" lIns="0" rIns="0" tIns="0" bIns="0" anchor="t"/>
          <a:lstStyle/>
          <a:p>
            <a:pPr algn="l">
              <a:lnSpc>
                <a:spcPts val="950"/>
              </a:lnSpc>
              <a:spcBef>
                <a:spcPts val="0"/>
              </a:spcBef>
              <a:spcAft>
                <a:spcPts val="0"/>
              </a:spcAft>
            </a:pPr>
            <a:r>
              <a:rPr sz="950" b="1" i="0">
                <a:solidFill>
                  <a:srgbClr val="1F77B4"/>
                </a:solidFill>
                <a:latin typeface="Calibri"/>
              </a:rPr>
              <a:t>§ 3.2–3.5</a:t>
            </a:r>
          </a:p>
        </p:txBody>
      </p:sp>
      <p:sp>
        <p:nvSpPr>
          <p:cNvPr id="45" name="Rounded Rectangle 44"/>
          <p:cNvSpPr/>
          <p:nvPr/>
        </p:nvSpPr>
        <p:spPr>
          <a:xfrm>
            <a:off x="7496175" y="1412875"/>
            <a:ext cx="4057650" cy="869950"/>
          </a:xfrm>
          <a:prstGeom prst="roundRect">
            <a:avLst>
              <a:gd name="adj" fmla="val 8394"/>
            </a:avLst>
          </a:prstGeom>
          <a:solidFill>
            <a:srgbClr val="FFFFFF"/>
          </a:solidFill>
          <a:ln w="6350">
            <a:solidFill>
              <a:srgbClr val="DCE3EE"/>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296150" y="1238250"/>
            <a:ext cx="431800" cy="431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334250" y="1276350"/>
            <a:ext cx="355600" cy="3556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08850" y="1377188"/>
            <a:ext cx="4064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5</a:t>
            </a:r>
          </a:p>
        </p:txBody>
      </p:sp>
      <p:sp>
        <p:nvSpPr>
          <p:cNvPr id="49" name="TextBox 48"/>
          <p:cNvSpPr txBox="1"/>
          <p:nvPr/>
        </p:nvSpPr>
        <p:spPr>
          <a:xfrm>
            <a:off x="7727950" y="1533017"/>
            <a:ext cx="3743706" cy="266700"/>
          </a:xfrm>
          <a:prstGeom prst="rect">
            <a:avLst/>
          </a:prstGeom>
          <a:noFill/>
        </p:spPr>
        <p:txBody>
          <a:bodyPr wrap="square" lIns="0" rIns="0" tIns="0" bIns="0" anchor="t"/>
          <a:lstStyle/>
          <a:p>
            <a:pPr algn="l">
              <a:lnSpc>
                <a:spcPts val="2100"/>
              </a:lnSpc>
              <a:spcBef>
                <a:spcPts val="0"/>
              </a:spcBef>
              <a:spcAft>
                <a:spcPts val="0"/>
              </a:spcAft>
            </a:pPr>
            <a:r>
              <a:rPr sz="2000" b="1" i="0">
                <a:solidFill>
                  <a:srgbClr val="1B2A4A"/>
                </a:solidFill>
                <a:latin typeface="Calibri"/>
              </a:rPr>
              <a:t>Validar la propuesta</a:t>
            </a:r>
          </a:p>
        </p:txBody>
      </p:sp>
      <p:sp>
        <p:nvSpPr>
          <p:cNvPr id="50" name="TextBox 49"/>
          <p:cNvSpPr txBox="1"/>
          <p:nvPr/>
        </p:nvSpPr>
        <p:spPr>
          <a:xfrm>
            <a:off x="7727950" y="1833954"/>
            <a:ext cx="3743706" cy="357632"/>
          </a:xfrm>
          <a:prstGeom prst="rect">
            <a:avLst/>
          </a:prstGeom>
          <a:noFill/>
        </p:spPr>
        <p:txBody>
          <a:bodyPr wrap="square" lIns="0" rIns="0" tIns="0" bIns="0" anchor="t"/>
          <a:lstStyle/>
          <a:p>
            <a:pPr algn="l">
              <a:lnSpc>
                <a:spcPts val="1408"/>
              </a:lnSpc>
              <a:spcBef>
                <a:spcPts val="0"/>
              </a:spcBef>
              <a:spcAft>
                <a:spcPts val="0"/>
              </a:spcAft>
            </a:pPr>
            <a:r>
              <a:rPr sz="1100" b="0" i="0">
                <a:solidFill>
                  <a:srgbClr val="3F4A5A"/>
                </a:solidFill>
                <a:latin typeface="Calibri"/>
              </a:rPr>
              <a:t>cobertura del procedimiento y del contenido, y verificación,</a:t>
            </a:r>
            <a:br/>
            <a:r>
              <a:rPr sz="1100" b="0" i="0">
                <a:solidFill>
                  <a:srgbClr val="3F4A5A"/>
                </a:solidFill>
                <a:latin typeface="Calibri"/>
              </a:rPr>
              <a:t>contra criterios fijados de antemano</a:t>
            </a:r>
          </a:p>
        </p:txBody>
      </p:sp>
      <p:sp>
        <p:nvSpPr>
          <p:cNvPr id="51" name="Rounded Rectangle 50"/>
          <p:cNvSpPr/>
          <p:nvPr/>
        </p:nvSpPr>
        <p:spPr>
          <a:xfrm>
            <a:off x="10830624" y="1317625"/>
            <a:ext cx="615252" cy="2159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909998" y="1375505"/>
            <a:ext cx="507302" cy="120650"/>
          </a:xfrm>
          <a:prstGeom prst="rect">
            <a:avLst/>
          </a:prstGeom>
          <a:noFill/>
        </p:spPr>
        <p:txBody>
          <a:bodyPr wrap="square" lIns="0" rIns="0" tIns="0" bIns="0" anchor="t"/>
          <a:lstStyle/>
          <a:p>
            <a:pPr algn="l">
              <a:lnSpc>
                <a:spcPts val="950"/>
              </a:lnSpc>
              <a:spcBef>
                <a:spcPts val="0"/>
              </a:spcBef>
              <a:spcAft>
                <a:spcPts val="0"/>
              </a:spcAft>
            </a:pPr>
            <a:r>
              <a:rPr sz="950" b="1" i="0">
                <a:solidFill>
                  <a:srgbClr val="1F77B4"/>
                </a:solidFill>
                <a:latin typeface="Calibri"/>
              </a:rPr>
              <a:t>§ 3.6–3.8</a:t>
            </a:r>
          </a:p>
        </p:txBody>
      </p:sp>
      <p:sp>
        <p:nvSpPr>
          <p:cNvPr id="53" name="Rectangle 52"/>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5150" y="6535420"/>
            <a:ext cx="50915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56" name="TextBox 55"/>
          <p:cNvSpPr txBox="1"/>
          <p:nvPr/>
        </p:nvSpPr>
        <p:spPr>
          <a:xfrm>
            <a:off x="5531422" y="6535420"/>
            <a:ext cx="112903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Objetivos específicos</a:t>
            </a:r>
          </a:p>
        </p:txBody>
      </p:sp>
      <p:sp>
        <p:nvSpPr>
          <p:cNvPr id="57" name="TextBox 56"/>
          <p:cNvSpPr txBox="1"/>
          <p:nvPr/>
        </p:nvSpPr>
        <p:spPr>
          <a:xfrm>
            <a:off x="6535230" y="6535420"/>
            <a:ext cx="509162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7</a:t>
            </a:r>
          </a:p>
        </p:txBody>
      </p:sp>
      <p:sp>
        <p:nvSpPr>
          <p:cNvPr id="58" name="Enlace a sep-intro">
            <a:hlinkClick action="ppaction://hlinksldjump" r:id="rId2"/>
          </p:cNvPr>
          <p:cNvSpPr/>
          <p:nvPr/>
        </p:nvSpPr>
        <p:spPr>
          <a:xfrm>
            <a:off x="10598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Enlace a sep-teoria">
            <a:hlinkClick action="ppaction://hlinksldjump" r:id="rId3"/>
          </p:cNvPr>
          <p:cNvSpPr/>
          <p:nvPr/>
        </p:nvSpPr>
        <p:spPr>
          <a:xfrm>
            <a:off x="108140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Enlace a sep-diseno">
            <a:hlinkClick action="ppaction://hlinksldjump" r:id="rId4"/>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3" fill="hold">
                      <p:stCondLst>
                        <p:cond delay="indefinite"/>
                        <p:cond evt="onBegin" delay="0">
                          <p:tn val="2"/>
                        </p:cond>
                      </p:stCondLst>
                      <p:childTnLst>
                        <p:par>
                          <p:cTn id="124"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12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12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childTnLst>
                          </p:cTn>
                        </p:par>
                      </p:childTnLst>
                    </p:cTn>
                  </p:par>
                  <p:par>
                    <p:cTn id="125" fill="hold">
                      <p:stCondLst>
                        <p:cond delay="indefinite"/>
                      </p:stCondLst>
                      <p:childTnLst>
                        <p:par>
                          <p:cTn id="1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par>
                    <p:cTn id="127" fill="hold">
                      <p:stCondLst>
                        <p:cond delay="indefinite"/>
                      </p:stCondLst>
                      <p:childTnLst>
                        <p:par>
                          <p:cTn id="128"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childTnLst>
                          </p:cTn>
                        </p:par>
                      </p:childTnLst>
                    </p:cTn>
                  </p:par>
                  <p:par>
                    <p:cTn id="129" fill="hold">
                      <p:stCondLst>
                        <p:cond delay="indefinite"/>
                      </p:stCondLst>
                      <p:childTnLst>
                        <p:par>
                          <p:cTn id="130"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00"/>
                                        <p:tgtEl>
                                          <p:spTgt spid="4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00"/>
                                        <p:tgtEl>
                                          <p:spTgt spid="4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400"/>
                                        <p:tgtEl>
                                          <p:spTgt spid="44"/>
                                        </p:tgtEl>
                                      </p:cBhvr>
                                    </p:animEffect>
                                  </p:childTnLst>
                                </p:cTn>
                              </p:par>
                            </p:childTnLst>
                          </p:cTn>
                        </p:par>
                      </p:childTnLst>
                    </p:cTn>
                  </p:par>
                  <p:par>
                    <p:cTn id="131" fill="hold">
                      <p:stCondLst>
                        <p:cond delay="indefinite"/>
                      </p:stCondLst>
                      <p:childTnLst>
                        <p:par>
                          <p:cTn id="132"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400"/>
                                        <p:tgtEl>
                                          <p:spTgt spid="4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400"/>
                                        <p:tgtEl>
                                          <p:spTgt spid="4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400"/>
                                        <p:tgtEl>
                                          <p:spTgt spid="4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400"/>
                                        <p:tgtEl>
                                          <p:spTgt spid="4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400"/>
                                        <p:tgtEl>
                                          <p:spTgt spid="4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0"/>
                                        </p:tgtEl>
                                        <p:attrNameLst>
                                          <p:attrName>style.visibility</p:attrName>
                                        </p:attrNameLst>
                                      </p:cBhvr>
                                      <p:to>
                                        <p:strVal val="visible"/>
                                      </p:to>
                                    </p:set>
                                    <p:animEffect transition="in" filter="fade">
                                      <p:cBhvr>
                                        <p:cTn id="116" dur="400"/>
                                        <p:tgtEl>
                                          <p:spTgt spid="50"/>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1"/>
                                        </p:tgtEl>
                                        <p:attrNameLst>
                                          <p:attrName>style.visibility</p:attrName>
                                        </p:attrNameLst>
                                      </p:cBhvr>
                                      <p:to>
                                        <p:strVal val="visible"/>
                                      </p:to>
                                    </p:set>
                                    <p:animEffect transition="in" filter="fade">
                                      <p:cBhvr>
                                        <p:cTn id="119" dur="400"/>
                                        <p:tgtEl>
                                          <p:spTgt spid="51"/>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2"/>
                                        </p:tgtEl>
                                        <p:attrNameLst>
                                          <p:attrName>style.visibility</p:attrName>
                                        </p:attrNameLst>
                                      </p:cBhvr>
                                      <p:to>
                                        <p:strVal val="visible"/>
                                      </p:to>
                                    </p:set>
                                    <p:animEffect transition="in" filter="fade">
                                      <p:cBhvr>
                                        <p:cTn id="122"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01</a:t>
            </a:r>
          </a:p>
        </p:txBody>
      </p:sp>
      <p:sp>
        <p:nvSpPr>
          <p:cNvPr id="4" name="TextBox 3"/>
          <p:cNvSpPr txBox="1"/>
          <p:nvPr/>
        </p:nvSpPr>
        <p:spPr>
          <a:xfrm>
            <a:off x="898398"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Hipótesis y preguntas de investigación</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140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11055350" cy="1165606"/>
          </a:xfrm>
          <a:prstGeom prst="roundRect">
            <a:avLst>
              <a:gd name="adj" fmla="val 626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7400" y="1427334"/>
            <a:ext cx="10829544" cy="880110"/>
          </a:xfrm>
          <a:prstGeom prst="rect">
            <a:avLst/>
          </a:prstGeom>
          <a:noFill/>
        </p:spPr>
        <p:txBody>
          <a:bodyPr wrap="square" lIns="0" rIns="0" tIns="0" bIns="0" anchor="t"/>
          <a:lstStyle/>
          <a:p>
            <a:pPr algn="l">
              <a:lnSpc>
                <a:spcPts val="2310"/>
              </a:lnSpc>
              <a:spcBef>
                <a:spcPts val="0"/>
              </a:spcBef>
              <a:spcAft>
                <a:spcPts val="0"/>
              </a:spcAft>
            </a:pPr>
            <a:r>
              <a:rPr sz="1750" b="0" i="0">
                <a:solidFill>
                  <a:srgbClr val="1F2937"/>
                </a:solidFill>
                <a:latin typeface="Calibri"/>
              </a:rPr>
              <a:t>El desarrollo de EduFEM permitirá</a:t>
            </a:r>
            <a:r>
              <a:rPr sz="1750" b="1" i="0">
                <a:solidFill>
                  <a:srgbClr val="1F2937"/>
                </a:solidFill>
                <a:latin typeface="Calibri"/>
              </a:rPr>
              <a:t> mejorar la forma en que el software expone el procedimiento de cálculo</a:t>
            </a:r>
            <a:r>
              <a:rPr sz="1750" b="0" i="0">
                <a:solidFill>
                  <a:srgbClr val="1F2937"/>
                </a:solidFill>
                <a:latin typeface="Calibri"/>
              </a:rPr>
              <a:t> —de</a:t>
            </a:r>
            <a:br/>
            <a:r>
              <a:rPr sz="1750" b="0" i="0">
                <a:solidFill>
                  <a:srgbClr val="1F2937"/>
                </a:solidFill>
                <a:latin typeface="Calibri"/>
              </a:rPr>
              <a:t>caja negra a procedimiento a la vista—,</a:t>
            </a:r>
            <a:r>
              <a:rPr sz="1750" b="1" i="0">
                <a:solidFill>
                  <a:srgbClr val="1F2937"/>
                </a:solidFill>
                <a:latin typeface="Calibri"/>
              </a:rPr>
              <a:t> elevando la trazabilidad y la verificabilidad del análisis</a:t>
            </a:r>
            <a:r>
              <a:rPr sz="1750" b="0" i="0">
                <a:solidFill>
                  <a:srgbClr val="1F2937"/>
                </a:solidFill>
                <a:latin typeface="Calibri"/>
              </a:rPr>
              <a:t> por el MEF en</a:t>
            </a:r>
            <a:br/>
            <a:r>
              <a:rPr sz="1750" b="0" i="0">
                <a:solidFill>
                  <a:srgbClr val="1F2937"/>
                </a:solidFill>
                <a:latin typeface="Calibri"/>
              </a:rPr>
              <a:t>elasticidad plana en la Carrera de Ingeniería Civil de la UATF.</a:t>
            </a:r>
          </a:p>
        </p:txBody>
      </p:sp>
      <p:sp>
        <p:nvSpPr>
          <p:cNvPr id="15" name="Rounded Rectangle 14"/>
          <p:cNvSpPr/>
          <p:nvPr/>
        </p:nvSpPr>
        <p:spPr>
          <a:xfrm>
            <a:off x="568325" y="2633091"/>
            <a:ext cx="5410200" cy="1848040"/>
          </a:xfrm>
          <a:prstGeom prst="roundRect">
            <a:avLst>
              <a:gd name="adj" fmla="val 395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9300" y="2788666"/>
            <a:ext cx="482600" cy="482600"/>
          </a:xfrm>
          <a:prstGeom prst="roundRect">
            <a:avLst>
              <a:gd name="adj" fmla="val 2631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900" y="2921381"/>
            <a:ext cx="533400"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a</a:t>
            </a:r>
          </a:p>
        </p:txBody>
      </p:sp>
      <p:sp>
        <p:nvSpPr>
          <p:cNvPr id="18" name="TextBox 17"/>
          <p:cNvSpPr txBox="1"/>
          <p:nvPr/>
        </p:nvSpPr>
        <p:spPr>
          <a:xfrm>
            <a:off x="1371600" y="2800497"/>
            <a:ext cx="4514469"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B2A4A"/>
                </a:solidFill>
                <a:latin typeface="Calibri"/>
              </a:rPr>
              <a:t>Trazabilidad</a:t>
            </a:r>
          </a:p>
        </p:txBody>
      </p:sp>
      <p:sp>
        <p:nvSpPr>
          <p:cNvPr id="19" name="TextBox 18"/>
          <p:cNvSpPr txBox="1"/>
          <p:nvPr/>
        </p:nvSpPr>
        <p:spPr>
          <a:xfrm>
            <a:off x="1371600" y="3071336"/>
            <a:ext cx="4514469" cy="419100"/>
          </a:xfrm>
          <a:prstGeom prst="rect">
            <a:avLst/>
          </a:prstGeom>
          <a:noFill/>
        </p:spPr>
        <p:txBody>
          <a:bodyPr wrap="square" lIns="0" rIns="0" tIns="0" bIns="0" anchor="t"/>
          <a:lstStyle/>
          <a:p>
            <a:pPr algn="l">
              <a:lnSpc>
                <a:spcPts val="1650"/>
              </a:lnSpc>
              <a:spcBef>
                <a:spcPts val="0"/>
              </a:spcBef>
              <a:spcAft>
                <a:spcPts val="0"/>
              </a:spcAft>
            </a:pPr>
            <a:r>
              <a:rPr sz="1250" b="0" i="0">
                <a:solidFill>
                  <a:srgbClr val="3F4A5A"/>
                </a:solidFill>
                <a:latin typeface="Calibri"/>
              </a:rPr>
              <a:t>Cada etapa expuesta sobre el modelo del usuario; tres fases sobre</a:t>
            </a:r>
            <a:br/>
            <a:r>
              <a:rPr sz="1250" b="0" i="0">
                <a:solidFill>
                  <a:srgbClr val="3F4A5A"/>
                </a:solidFill>
                <a:latin typeface="Calibri"/>
              </a:rPr>
              <a:t>un mismo lienzo; el contenido que exigen los expertos, cubierto.</a:t>
            </a:r>
          </a:p>
        </p:txBody>
      </p:sp>
      <p:sp>
        <p:nvSpPr>
          <p:cNvPr id="20" name="Rounded Rectangle 19"/>
          <p:cNvSpPr/>
          <p:nvPr/>
        </p:nvSpPr>
        <p:spPr>
          <a:xfrm>
            <a:off x="749300" y="3578034"/>
            <a:ext cx="5048250" cy="537972"/>
          </a:xfrm>
          <a:prstGeom prst="roundRect">
            <a:avLst>
              <a:gd name="adj" fmla="val 14164"/>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900" y="3654289"/>
            <a:ext cx="4941951" cy="385572"/>
          </a:xfrm>
          <a:prstGeom prst="rect">
            <a:avLst/>
          </a:prstGeom>
          <a:noFill/>
        </p:spPr>
        <p:txBody>
          <a:bodyPr wrap="square" lIns="0" rIns="0" tIns="0" bIns="0" anchor="t"/>
          <a:lstStyle/>
          <a:p>
            <a:pPr algn="l">
              <a:lnSpc>
                <a:spcPts val="1518"/>
              </a:lnSpc>
              <a:spcBef>
                <a:spcPts val="0"/>
              </a:spcBef>
              <a:spcAft>
                <a:spcPts val="0"/>
              </a:spcAft>
            </a:pPr>
            <a:r>
              <a:rPr sz="1150" b="1" i="0">
                <a:solidFill>
                  <a:srgbClr val="1F2937"/>
                </a:solidFill>
                <a:latin typeface="Calibri"/>
              </a:rPr>
              <a:t>PI-1.</a:t>
            </a:r>
            <a:r>
              <a:rPr sz="1150" b="0" i="0">
                <a:solidFill>
                  <a:srgbClr val="3F4A5A"/>
                </a:solidFill>
                <a:latin typeface="Calibri"/>
              </a:rPr>
              <a:t> ¿Qué organización de la interfaz, los módulos y la memoria permite seguir</a:t>
            </a:r>
            <a:br/>
            <a:r>
              <a:rPr sz="1150" b="0" i="0">
                <a:solidFill>
                  <a:srgbClr val="3F4A5A"/>
                </a:solidFill>
                <a:latin typeface="Calibri"/>
              </a:rPr>
              <a:t>cada resultado hasta sus datos y cubre el contenido exigido?</a:t>
            </a:r>
          </a:p>
        </p:txBody>
      </p:sp>
      <p:sp>
        <p:nvSpPr>
          <p:cNvPr id="22" name="Rounded Rectangle 21"/>
          <p:cNvSpPr/>
          <p:nvPr/>
        </p:nvSpPr>
        <p:spPr>
          <a:xfrm>
            <a:off x="6213475" y="2633091"/>
            <a:ext cx="5410200" cy="1848040"/>
          </a:xfrm>
          <a:prstGeom prst="roundRect">
            <a:avLst>
              <a:gd name="adj" fmla="val 395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94450" y="2788666"/>
            <a:ext cx="482600" cy="482600"/>
          </a:xfrm>
          <a:prstGeom prst="roundRect">
            <a:avLst>
              <a:gd name="adj" fmla="val 26315"/>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9050" y="2921381"/>
            <a:ext cx="533400"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1F77B4"/>
                </a:solidFill>
                <a:latin typeface="Calibri"/>
              </a:rPr>
              <a:t>b</a:t>
            </a:r>
          </a:p>
        </p:txBody>
      </p:sp>
      <p:sp>
        <p:nvSpPr>
          <p:cNvPr id="25" name="TextBox 24"/>
          <p:cNvSpPr txBox="1"/>
          <p:nvPr/>
        </p:nvSpPr>
        <p:spPr>
          <a:xfrm>
            <a:off x="7016750" y="2800497"/>
            <a:ext cx="4514469"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B2A4A"/>
                </a:solidFill>
                <a:latin typeface="Calibri"/>
              </a:rPr>
              <a:t>Verificabilidad</a:t>
            </a:r>
          </a:p>
        </p:txBody>
      </p:sp>
      <p:sp>
        <p:nvSpPr>
          <p:cNvPr id="26" name="TextBox 25"/>
          <p:cNvSpPr txBox="1"/>
          <p:nvPr/>
        </p:nvSpPr>
        <p:spPr>
          <a:xfrm>
            <a:off x="7016750" y="3071336"/>
            <a:ext cx="4514469" cy="628650"/>
          </a:xfrm>
          <a:prstGeom prst="rect">
            <a:avLst/>
          </a:prstGeom>
          <a:noFill/>
        </p:spPr>
        <p:txBody>
          <a:bodyPr wrap="square" lIns="0" rIns="0" tIns="0" bIns="0" anchor="t"/>
          <a:lstStyle/>
          <a:p>
            <a:pPr algn="l">
              <a:lnSpc>
                <a:spcPts val="1650"/>
              </a:lnSpc>
              <a:spcBef>
                <a:spcPts val="0"/>
              </a:spcBef>
              <a:spcAft>
                <a:spcPts val="0"/>
              </a:spcAft>
            </a:pPr>
            <a:r>
              <a:rPr sz="1250" b="0" i="0">
                <a:solidFill>
                  <a:srgbClr val="3F4A5A"/>
                </a:solidFill>
                <a:latin typeface="Calibri"/>
              </a:rPr>
              <a:t>El motor coincide, dentro de tolerancias fijadas, con soluciones</a:t>
            </a:r>
            <a:br/>
            <a:r>
              <a:rPr sz="1250" b="0" i="0">
                <a:solidFill>
                  <a:srgbClr val="3F4A5A"/>
                </a:solidFill>
                <a:latin typeface="Calibri"/>
              </a:rPr>
              <a:t>exactas, Timoshenko, SAP2000 y Cook; reproduce el bloqueo por</a:t>
            </a:r>
            <a:br/>
            <a:r>
              <a:rPr sz="1250" b="0" i="0">
                <a:solidFill>
                  <a:srgbClr val="3F4A5A"/>
                </a:solidFill>
                <a:latin typeface="Calibri"/>
              </a:rPr>
              <a:t>cortante; la memoria puede rehacerse a mano.</a:t>
            </a:r>
          </a:p>
        </p:txBody>
      </p:sp>
      <p:sp>
        <p:nvSpPr>
          <p:cNvPr id="27" name="Rounded Rectangle 26"/>
          <p:cNvSpPr/>
          <p:nvPr/>
        </p:nvSpPr>
        <p:spPr>
          <a:xfrm>
            <a:off x="6394450" y="3787584"/>
            <a:ext cx="5048250" cy="537972"/>
          </a:xfrm>
          <a:prstGeom prst="roundRect">
            <a:avLst>
              <a:gd name="adj" fmla="val 14164"/>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6050" y="3863839"/>
            <a:ext cx="4941951" cy="385572"/>
          </a:xfrm>
          <a:prstGeom prst="rect">
            <a:avLst/>
          </a:prstGeom>
          <a:noFill/>
        </p:spPr>
        <p:txBody>
          <a:bodyPr wrap="square" lIns="0" rIns="0" tIns="0" bIns="0" anchor="t"/>
          <a:lstStyle/>
          <a:p>
            <a:pPr algn="l">
              <a:lnSpc>
                <a:spcPts val="1518"/>
              </a:lnSpc>
              <a:spcBef>
                <a:spcPts val="0"/>
              </a:spcBef>
              <a:spcAft>
                <a:spcPts val="0"/>
              </a:spcAft>
            </a:pPr>
            <a:r>
              <a:rPr sz="1150" b="1" i="0">
                <a:solidFill>
                  <a:srgbClr val="1F2937"/>
                </a:solidFill>
                <a:latin typeface="Calibri"/>
              </a:rPr>
              <a:t>PI-2.</a:t>
            </a:r>
            <a:r>
              <a:rPr sz="1150" b="0" i="0">
                <a:solidFill>
                  <a:srgbClr val="3F4A5A"/>
                </a:solidFill>
                <a:latin typeface="Calibri"/>
              </a:rPr>
              <a:t> ¿Reproduce el motor, dentro de tolerancias fijadas de antemano, las</a:t>
            </a:r>
            <a:br/>
            <a:r>
              <a:rPr sz="1150" b="0" i="0">
                <a:solidFill>
                  <a:srgbClr val="3F4A5A"/>
                </a:solidFill>
                <a:latin typeface="Calibri"/>
              </a:rPr>
              <a:t>referencias externas y los fenómenos numéricos que predice la teoría?</a:t>
            </a:r>
          </a:p>
        </p:txBody>
      </p:sp>
      <p:sp>
        <p:nvSpPr>
          <p:cNvPr id="29" name="Rounded Rectangle 28"/>
          <p:cNvSpPr/>
          <p:nvPr/>
        </p:nvSpPr>
        <p:spPr>
          <a:xfrm>
            <a:off x="565150" y="5442331"/>
            <a:ext cx="11061700" cy="755269"/>
          </a:xfrm>
          <a:prstGeom prst="roundRect">
            <a:avLst>
              <a:gd name="adj" fmla="val 6726"/>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5150" y="5442331"/>
            <a:ext cx="50800" cy="755269"/>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6450" y="5667489"/>
            <a:ext cx="288354"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32" name="TextBox 31"/>
          <p:cNvSpPr txBox="1"/>
          <p:nvPr/>
        </p:nvSpPr>
        <p:spPr>
          <a:xfrm>
            <a:off x="1183704" y="5562059"/>
            <a:ext cx="10457752" cy="526796"/>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Es refutable: la refutaría una etapa sin exposición, un contenido sin instrumento, una tasa fuera de margen o un</a:t>
            </a:r>
            <a:br/>
            <a:r>
              <a:rPr sz="1700" b="1" i="0">
                <a:solidFill>
                  <a:srgbClr val="1B2A4A"/>
                </a:solidFill>
                <a:latin typeface="Calibri"/>
              </a:rPr>
              <a:t>error sobre el umbral.</a:t>
            </a:r>
          </a:p>
        </p:txBody>
      </p:sp>
      <p:sp>
        <p:nvSpPr>
          <p:cNvPr id="33" name="Rounded Rectangle 32"/>
          <p:cNvSpPr/>
          <p:nvPr/>
        </p:nvSpPr>
        <p:spPr>
          <a:xfrm>
            <a:off x="571500" y="2712466"/>
            <a:ext cx="4914900" cy="1398080"/>
          </a:xfrm>
          <a:prstGeom prst="roundRect">
            <a:avLst>
              <a:gd name="adj" fmla="val 8629"/>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350" y="2888828"/>
            <a:ext cx="4611624" cy="170561"/>
          </a:xfrm>
          <a:prstGeom prst="rect">
            <a:avLst/>
          </a:prstGeom>
          <a:noFill/>
        </p:spPr>
        <p:txBody>
          <a:bodyPr wrap="square" lIns="0" rIns="0" tIns="0" bIns="0" anchor="t"/>
          <a:lstStyle/>
          <a:p>
            <a:pPr algn="l">
              <a:lnSpc>
                <a:spcPts val="1343"/>
              </a:lnSpc>
              <a:spcBef>
                <a:spcPts val="0"/>
              </a:spcBef>
              <a:spcAft>
                <a:spcPts val="0"/>
              </a:spcAft>
            </a:pPr>
            <a:r>
              <a:rPr sz="1100" b="1" i="0" cap="all" spc="132">
                <a:solidFill>
                  <a:srgbClr val="E8741A"/>
                </a:solidFill>
                <a:latin typeface="Calibri"/>
              </a:rPr>
              <a:t>Variable independiente</a:t>
            </a:r>
          </a:p>
        </p:txBody>
      </p:sp>
      <p:sp>
        <p:nvSpPr>
          <p:cNvPr id="35" name="TextBox 34"/>
          <p:cNvSpPr txBox="1"/>
          <p:nvPr/>
        </p:nvSpPr>
        <p:spPr>
          <a:xfrm>
            <a:off x="768350" y="3112592"/>
            <a:ext cx="4611624" cy="554990"/>
          </a:xfrm>
          <a:prstGeom prst="rect">
            <a:avLst/>
          </a:prstGeom>
          <a:noFill/>
        </p:spPr>
        <p:txBody>
          <a:bodyPr wrap="square" lIns="0" rIns="0" tIns="0" bIns="0" anchor="t"/>
          <a:lstStyle/>
          <a:p>
            <a:pPr algn="l">
              <a:lnSpc>
                <a:spcPts val="2185"/>
              </a:lnSpc>
              <a:spcBef>
                <a:spcPts val="0"/>
              </a:spcBef>
              <a:spcAft>
                <a:spcPts val="0"/>
              </a:spcAft>
            </a:pPr>
            <a:r>
              <a:rPr sz="1900" b="1" i="0">
                <a:solidFill>
                  <a:srgbClr val="1F2937"/>
                </a:solidFill>
                <a:latin typeface="Calibri"/>
              </a:rPr>
              <a:t>Forma en que el software expone el</a:t>
            </a:r>
            <a:br/>
            <a:r>
              <a:rPr sz="1900" b="1" i="0">
                <a:solidFill>
                  <a:srgbClr val="1F2937"/>
                </a:solidFill>
                <a:latin typeface="Calibri"/>
              </a:rPr>
              <a:t>procedimiento</a:t>
            </a:r>
          </a:p>
        </p:txBody>
      </p:sp>
      <p:sp>
        <p:nvSpPr>
          <p:cNvPr id="36" name="TextBox 35"/>
          <p:cNvSpPr txBox="1"/>
          <p:nvPr/>
        </p:nvSpPr>
        <p:spPr>
          <a:xfrm>
            <a:off x="768350" y="3720897"/>
            <a:ext cx="4611624" cy="214630"/>
          </a:xfrm>
          <a:prstGeom prst="rect">
            <a:avLst/>
          </a:prstGeom>
          <a:noFill/>
        </p:spPr>
        <p:txBody>
          <a:bodyPr wrap="square" lIns="0" rIns="0" tIns="0" bIns="0" anchor="t"/>
          <a:lstStyle/>
          <a:p>
            <a:pPr algn="l">
              <a:lnSpc>
                <a:spcPts val="1690"/>
              </a:lnSpc>
              <a:spcBef>
                <a:spcPts val="0"/>
              </a:spcBef>
              <a:spcAft>
                <a:spcPts val="0"/>
              </a:spcAft>
            </a:pPr>
            <a:r>
              <a:rPr sz="1300" b="0" i="0">
                <a:solidFill>
                  <a:srgbClr val="3F4A5A"/>
                </a:solidFill>
                <a:latin typeface="Calibri"/>
              </a:rPr>
              <a:t>Caja negra → procedimiento a la vista</a:t>
            </a:r>
          </a:p>
        </p:txBody>
      </p:sp>
      <p:pic>
        <p:nvPicPr>
          <p:cNvPr id="37" name="Picture 36" descr="b360d0fdf3c26381.png"/>
          <p:cNvPicPr>
            <a:picLocks noChangeAspect="1"/>
          </p:cNvPicPr>
          <p:nvPr/>
        </p:nvPicPr>
        <p:blipFill>
          <a:blip r:embed="rId2"/>
          <a:stretch>
            <a:fillRect/>
          </a:stretch>
        </p:blipFill>
        <p:spPr>
          <a:xfrm>
            <a:off x="5492750" y="2774950"/>
            <a:ext cx="1206500" cy="1276350"/>
          </a:xfrm>
          <a:prstGeom prst="rect">
            <a:avLst/>
          </a:prstGeom>
        </p:spPr>
      </p:pic>
      <p:sp>
        <p:nvSpPr>
          <p:cNvPr id="38" name="Rounded Rectangle 37"/>
          <p:cNvSpPr/>
          <p:nvPr/>
        </p:nvSpPr>
        <p:spPr>
          <a:xfrm>
            <a:off x="6705600" y="2851150"/>
            <a:ext cx="4914900" cy="1120648"/>
          </a:xfrm>
          <a:prstGeom prst="roundRect">
            <a:avLst>
              <a:gd name="adj" fmla="val 10766"/>
            </a:avLst>
          </a:prstGeom>
          <a:solidFill>
            <a:srgbClr val="E8F1FA"/>
          </a:solid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02450" y="3027512"/>
            <a:ext cx="4611624" cy="170561"/>
          </a:xfrm>
          <a:prstGeom prst="rect">
            <a:avLst/>
          </a:prstGeom>
          <a:noFill/>
        </p:spPr>
        <p:txBody>
          <a:bodyPr wrap="square" lIns="0" rIns="0" tIns="0" bIns="0" anchor="t"/>
          <a:lstStyle/>
          <a:p>
            <a:pPr algn="l">
              <a:lnSpc>
                <a:spcPts val="1343"/>
              </a:lnSpc>
              <a:spcBef>
                <a:spcPts val="0"/>
              </a:spcBef>
              <a:spcAft>
                <a:spcPts val="0"/>
              </a:spcAft>
            </a:pPr>
            <a:r>
              <a:rPr sz="1100" b="1" i="0" cap="all" spc="132">
                <a:solidFill>
                  <a:srgbClr val="1F77B4"/>
                </a:solidFill>
                <a:latin typeface="Calibri"/>
              </a:rPr>
              <a:t>Variable dependiente</a:t>
            </a:r>
          </a:p>
        </p:txBody>
      </p:sp>
      <p:sp>
        <p:nvSpPr>
          <p:cNvPr id="40" name="TextBox 39"/>
          <p:cNvSpPr txBox="1"/>
          <p:nvPr/>
        </p:nvSpPr>
        <p:spPr>
          <a:xfrm>
            <a:off x="6902450" y="3251276"/>
            <a:ext cx="4611624" cy="277495"/>
          </a:xfrm>
          <a:prstGeom prst="rect">
            <a:avLst/>
          </a:prstGeom>
          <a:noFill/>
        </p:spPr>
        <p:txBody>
          <a:bodyPr wrap="square" lIns="0" rIns="0" tIns="0" bIns="0" anchor="t"/>
          <a:lstStyle/>
          <a:p>
            <a:pPr algn="l">
              <a:lnSpc>
                <a:spcPts val="2185"/>
              </a:lnSpc>
              <a:spcBef>
                <a:spcPts val="0"/>
              </a:spcBef>
              <a:spcAft>
                <a:spcPts val="0"/>
              </a:spcAft>
            </a:pPr>
            <a:r>
              <a:rPr sz="1900" b="1" i="0">
                <a:solidFill>
                  <a:srgbClr val="1F2937"/>
                </a:solidFill>
                <a:latin typeface="Calibri"/>
              </a:rPr>
              <a:t>Trazabilidad y verificabilidad del análisis</a:t>
            </a:r>
          </a:p>
        </p:txBody>
      </p:sp>
      <p:sp>
        <p:nvSpPr>
          <p:cNvPr id="41" name="TextBox 40"/>
          <p:cNvSpPr txBox="1"/>
          <p:nvPr/>
        </p:nvSpPr>
        <p:spPr>
          <a:xfrm>
            <a:off x="6902450" y="3582213"/>
            <a:ext cx="4611624" cy="214630"/>
          </a:xfrm>
          <a:prstGeom prst="rect">
            <a:avLst/>
          </a:prstGeom>
          <a:noFill/>
        </p:spPr>
        <p:txBody>
          <a:bodyPr wrap="square" lIns="0" rIns="0" tIns="0" bIns="0" anchor="t"/>
          <a:lstStyle/>
          <a:p>
            <a:pPr algn="l">
              <a:lnSpc>
                <a:spcPts val="1690"/>
              </a:lnSpc>
              <a:spcBef>
                <a:spcPts val="0"/>
              </a:spcBef>
              <a:spcAft>
                <a:spcPts val="0"/>
              </a:spcAft>
            </a:pPr>
            <a:r>
              <a:rPr sz="1300" b="0" i="0">
                <a:solidFill>
                  <a:srgbClr val="3F4A5A"/>
                </a:solidFill>
                <a:latin typeface="Calibri"/>
              </a:rPr>
              <a:t>Se miden sobre el software y los casos de estudio</a:t>
            </a:r>
          </a:p>
        </p:txBody>
      </p:sp>
      <p:sp>
        <p:nvSpPr>
          <p:cNvPr id="42" name="Rectangle 41"/>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5150" y="6535420"/>
            <a:ext cx="539927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5" name="TextBox 44"/>
          <p:cNvSpPr txBox="1"/>
          <p:nvPr/>
        </p:nvSpPr>
        <p:spPr>
          <a:xfrm>
            <a:off x="5833174" y="6535420"/>
            <a:ext cx="52565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Hipótesis</a:t>
            </a:r>
          </a:p>
        </p:txBody>
      </p:sp>
      <p:sp>
        <p:nvSpPr>
          <p:cNvPr id="46" name="TextBox 45"/>
          <p:cNvSpPr txBox="1"/>
          <p:nvPr/>
        </p:nvSpPr>
        <p:spPr>
          <a:xfrm>
            <a:off x="6227572" y="6535420"/>
            <a:ext cx="539927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8</a:t>
            </a:r>
          </a:p>
        </p:txBody>
      </p:sp>
      <p:sp>
        <p:nvSpPr>
          <p:cNvPr id="47" name="Rounded Rectangle 46"/>
          <p:cNvSpPr/>
          <p:nvPr/>
        </p:nvSpPr>
        <p:spPr>
          <a:xfrm>
            <a:off x="5589778" y="3175127"/>
            <a:ext cx="1012317" cy="472694"/>
          </a:xfrm>
          <a:prstGeom prst="roundRect">
            <a:avLst>
              <a:gd name="adj" fmla="val 18135"/>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56453" y="3243859"/>
            <a:ext cx="878967" cy="189865"/>
          </a:xfrm>
          <a:prstGeom prst="rect">
            <a:avLst/>
          </a:prstGeom>
          <a:noFill/>
        </p:spPr>
        <p:txBody>
          <a:bodyPr wrap="square" lIns="0" rIns="0" tIns="0" bIns="0" anchor="t"/>
          <a:lstStyle/>
          <a:p>
            <a:pPr algn="ctr">
              <a:lnSpc>
                <a:spcPts val="1495"/>
              </a:lnSpc>
              <a:spcBef>
                <a:spcPts val="0"/>
              </a:spcBef>
              <a:spcAft>
                <a:spcPts val="0"/>
              </a:spcAft>
            </a:pPr>
            <a:r>
              <a:rPr sz="1300" b="1" i="0">
                <a:solidFill>
                  <a:srgbClr val="1F2937"/>
                </a:solidFill>
                <a:latin typeface="Calibri"/>
              </a:rPr>
              <a:t>EduFEM</a:t>
            </a:r>
          </a:p>
        </p:txBody>
      </p:sp>
      <p:sp>
        <p:nvSpPr>
          <p:cNvPr id="49" name="TextBox 48"/>
          <p:cNvSpPr txBox="1"/>
          <p:nvPr/>
        </p:nvSpPr>
        <p:spPr>
          <a:xfrm>
            <a:off x="5656453" y="3460515"/>
            <a:ext cx="878967" cy="124142"/>
          </a:xfrm>
          <a:prstGeom prst="rect">
            <a:avLst/>
          </a:prstGeom>
          <a:noFill/>
        </p:spPr>
        <p:txBody>
          <a:bodyPr wrap="square" lIns="0" rIns="0" tIns="0" bIns="0" anchor="t"/>
          <a:lstStyle/>
          <a:p>
            <a:pPr algn="ctr">
              <a:lnSpc>
                <a:spcPts val="978"/>
              </a:lnSpc>
              <a:spcBef>
                <a:spcPts val="0"/>
              </a:spcBef>
              <a:spcAft>
                <a:spcPts val="0"/>
              </a:spcAft>
            </a:pPr>
            <a:r>
              <a:rPr sz="850" b="1" i="0" cap="all" spc="85">
                <a:solidFill>
                  <a:srgbClr val="5B6575"/>
                </a:solidFill>
                <a:latin typeface="Calibri"/>
              </a:rPr>
              <a:t>interviniente</a:t>
            </a:r>
          </a:p>
        </p:txBody>
      </p:sp>
      <p:sp>
        <p:nvSpPr>
          <p:cNvPr id="50" name="Enlace a sep-intro">
            <a:hlinkClick action="ppaction://hlinksldjump" r:id="rId3"/>
          </p:cNvPr>
          <p:cNvSpPr/>
          <p:nvPr/>
        </p:nvSpPr>
        <p:spPr>
          <a:xfrm>
            <a:off x="10598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nlace a sep-teoria">
            <a:hlinkClick action="ppaction://hlinksldjump" r:id="rId4"/>
          </p:cNvPr>
          <p:cNvSpPr/>
          <p:nvPr/>
        </p:nvSpPr>
        <p:spPr>
          <a:xfrm>
            <a:off x="108140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nlace a sep-diseno">
            <a:hlinkClick action="ppaction://hlinksldjump" r:id="rId5"/>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nlace a sep-resultados">
            <a:hlinkClick action="ppaction://hlinksldjump" r:id="rId6"/>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nlace a sep-analisis">
            <a:hlinkClick action="ppaction://hlinksldjump" r:id="rId7"/>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nlace a sep-conclusiones">
            <a:hlinkClick action="ppaction://hlinksldjump" r:id="rId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9" fill="hold">
                      <p:stCondLst>
                        <p:cond delay="indefinite"/>
                        <p:cond evt="onBegin" delay="0">
                          <p:tn val="2"/>
                        </p:cond>
                      </p:stCondLst>
                      <p:childTnLst>
                        <p:par>
                          <p:cTn id="130"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33"/>
                                        </p:tgtEl>
                                        <p:attrNameLst>
                                          <p:attrName>style.visibility</p:attrName>
                                        </p:attrNameLst>
                                      </p:cBhvr>
                                      <p:to>
                                        <p:strVal val="visible"/>
                                      </p:to>
                                    </p:set>
                                    <p:animEffect transition="in" filter="fade">
                                      <p:cBhvr>
                                        <p:cTn id="5" dur="450"/>
                                        <p:tgtEl>
                                          <p:spTgt spid="3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34"/>
                                        </p:tgtEl>
                                        <p:attrNameLst>
                                          <p:attrName>style.visibility</p:attrName>
                                        </p:attrNameLst>
                                      </p:cBhvr>
                                      <p:to>
                                        <p:strVal val="visible"/>
                                      </p:to>
                                    </p:set>
                                    <p:animEffect transition="in" filter="fade">
                                      <p:cBhvr>
                                        <p:cTn id="8" dur="450"/>
                                        <p:tgtEl>
                                          <p:spTgt spid="3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450"/>
                                        <p:tgtEl>
                                          <p:spTgt spid="3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36"/>
                                        </p:tgtEl>
                                        <p:attrNameLst>
                                          <p:attrName>style.visibility</p:attrName>
                                        </p:attrNameLst>
                                      </p:cBhvr>
                                      <p:to>
                                        <p:strVal val="visible"/>
                                      </p:to>
                                    </p:set>
                                    <p:animEffect transition="in" filter="fade">
                                      <p:cBhvr>
                                        <p:cTn id="14" dur="450"/>
                                        <p:tgtEl>
                                          <p:spTgt spid="3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450"/>
                                        <p:tgtEl>
                                          <p:spTgt spid="3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450"/>
                                        <p:tgtEl>
                                          <p:spTgt spid="38"/>
                                        </p:tgtEl>
                                      </p:cBhvr>
                                    </p:animEffect>
                                  </p:childTnLst>
                                </p:cTn>
                              </p:par>
                              <p:par>
                                <p:cTn id="21" presetID="10" presetClass="entr" presetSubtype="0" fill="hold" grpId="0" nodeType="withEffect">
                                  <p:stCondLst>
                                    <p:cond delay="12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450"/>
                                        <p:tgtEl>
                                          <p:spTgt spid="39"/>
                                        </p:tgtEl>
                                      </p:cBhvr>
                                    </p:animEffect>
                                  </p:childTnLst>
                                </p:cTn>
                              </p:par>
                              <p:par>
                                <p:cTn id="24" presetID="10" presetClass="entr" presetSubtype="0" fill="hold" grpId="0" nodeType="withEffect">
                                  <p:stCondLst>
                                    <p:cond delay="12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450"/>
                                        <p:tgtEl>
                                          <p:spTgt spid="40"/>
                                        </p:tgtEl>
                                      </p:cBhvr>
                                    </p:animEffect>
                                  </p:childTnLst>
                                </p:cTn>
                              </p:par>
                              <p:par>
                                <p:cTn id="27" presetID="10" presetClass="entr" presetSubtype="0" fill="hold" grpId="0" nodeType="withEffect">
                                  <p:stCondLst>
                                    <p:cond delay="12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450"/>
                                        <p:tgtEl>
                                          <p:spTgt spid="41"/>
                                        </p:tgtEl>
                                      </p:cBhvr>
                                    </p:animEffect>
                                  </p:childTnLst>
                                </p:cTn>
                              </p:par>
                              <p:par>
                                <p:cTn id="30" presetID="10" presetClass="entr" presetSubtype="0" fill="hold" grpId="0" nodeType="withEffect">
                                  <p:stCondLst>
                                    <p:cond delay="12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450"/>
                                        <p:tgtEl>
                                          <p:spTgt spid="47"/>
                                        </p:tgtEl>
                                      </p:cBhvr>
                                    </p:animEffect>
                                  </p:childTnLst>
                                </p:cTn>
                              </p:par>
                              <p:par>
                                <p:cTn id="33" presetID="10" presetClass="entr" presetSubtype="0" fill="hold" grpId="0" nodeType="withEffect">
                                  <p:stCondLst>
                                    <p:cond delay="12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450"/>
                                        <p:tgtEl>
                                          <p:spTgt spid="48"/>
                                        </p:tgtEl>
                                      </p:cBhvr>
                                    </p:animEffect>
                                  </p:childTnLst>
                                </p:cTn>
                              </p:par>
                              <p:par>
                                <p:cTn id="36" presetID="10" presetClass="entr" presetSubtype="0" fill="hold" grpId="0" nodeType="withEffect">
                                  <p:stCondLst>
                                    <p:cond delay="120"/>
                                  </p:stCondLst>
                                  <p:childTnLst>
                                    <p:set>
                                      <p:cBhvr>
                                        <p:cTn id="37" dur="1" fill="hold">
                                          <p:stCondLst>
                                            <p:cond delay="0"/>
                                          </p:stCondLst>
                                        </p:cTn>
                                        <p:tgtEl>
                                          <p:spTgt spid="49"/>
                                        </p:tgtEl>
                                        <p:attrNameLst>
                                          <p:attrName>style.visibility</p:attrName>
                                        </p:attrNameLst>
                                      </p:cBhvr>
                                      <p:to>
                                        <p:strVal val="visible"/>
                                      </p:to>
                                    </p:set>
                                    <p:animEffect transition="in" filter="fade">
                                      <p:cBhvr>
                                        <p:cTn id="38" dur="450"/>
                                        <p:tgtEl>
                                          <p:spTgt spid="49"/>
                                        </p:tgtEl>
                                      </p:cBhvr>
                                    </p:animEffect>
                                  </p:childTnLst>
                                </p:cTn>
                              </p:par>
                            </p:childTnLst>
                          </p:cTn>
                        </p:par>
                      </p:childTnLst>
                    </p:cTn>
                  </p:par>
                  <p:par>
                    <p:cTn id="131" fill="hold">
                      <p:stCondLst>
                        <p:cond delay="indefinite"/>
                      </p:stCondLst>
                      <p:childTnLst>
                        <p:par>
                          <p:cTn id="132" fill="hold">
                            <p:stCondLst>
                              <p:cond delay="0"/>
                            </p:stCondLst>
                            <p:childTnLst>
                              <p:par>
                                <p:cTn id="39" presetID="10" presetClass="exit" presetSubtype="0" fill="hold" grpId="1" nodeType="clickEffect">
                                  <p:stCondLst>
                                    <p:cond delay="0"/>
                                  </p:stCondLst>
                                  <p:childTnLst>
                                    <p:animEffect transition="out" filter="fade">
                                      <p:cBhvr>
                                        <p:cTn id="40" dur="200"/>
                                        <p:tgtEl>
                                          <p:spTgt spid="33"/>
                                        </p:tgtEl>
                                      </p:cBhvr>
                                    </p:animEffect>
                                    <p:set>
                                      <p:cBhvr>
                                        <p:cTn id="41" dur="1" fill="hold">
                                          <p:stCondLst>
                                            <p:cond delay="199"/>
                                          </p:stCondLst>
                                        </p:cTn>
                                        <p:tgtEl>
                                          <p:spTgt spid="33"/>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200"/>
                                        <p:tgtEl>
                                          <p:spTgt spid="34"/>
                                        </p:tgtEl>
                                      </p:cBhvr>
                                    </p:animEffect>
                                    <p:set>
                                      <p:cBhvr>
                                        <p:cTn id="44" dur="1" fill="hold">
                                          <p:stCondLst>
                                            <p:cond delay="199"/>
                                          </p:stCondLst>
                                        </p:cTn>
                                        <p:tgtEl>
                                          <p:spTgt spid="34"/>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200"/>
                                        <p:tgtEl>
                                          <p:spTgt spid="35"/>
                                        </p:tgtEl>
                                      </p:cBhvr>
                                    </p:animEffect>
                                    <p:set>
                                      <p:cBhvr>
                                        <p:cTn id="47" dur="1" fill="hold">
                                          <p:stCondLst>
                                            <p:cond delay="199"/>
                                          </p:stCondLst>
                                        </p:cTn>
                                        <p:tgtEl>
                                          <p:spTgt spid="35"/>
                                        </p:tgtEl>
                                        <p:attrNameLst>
                                          <p:attrName>style.visibility</p:attrName>
                                        </p:attrNameLst>
                                      </p:cBhvr>
                                      <p:to>
                                        <p:strVal val="hidden"/>
                                      </p:to>
                                    </p:set>
                                  </p:childTnLst>
                                </p:cTn>
                              </p:par>
                              <p:par>
                                <p:cTn id="48" presetID="10" presetClass="exit" presetSubtype="0" fill="hold" grpId="1" nodeType="withEffect">
                                  <p:stCondLst>
                                    <p:cond delay="0"/>
                                  </p:stCondLst>
                                  <p:childTnLst>
                                    <p:animEffect transition="out" filter="fade">
                                      <p:cBhvr>
                                        <p:cTn id="49" dur="200"/>
                                        <p:tgtEl>
                                          <p:spTgt spid="36"/>
                                        </p:tgtEl>
                                      </p:cBhvr>
                                    </p:animEffect>
                                    <p:set>
                                      <p:cBhvr>
                                        <p:cTn id="50" dur="1" fill="hold">
                                          <p:stCondLst>
                                            <p:cond delay="199"/>
                                          </p:stCondLst>
                                        </p:cTn>
                                        <p:tgtEl>
                                          <p:spTgt spid="36"/>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200"/>
                                        <p:tgtEl>
                                          <p:spTgt spid="37"/>
                                        </p:tgtEl>
                                      </p:cBhvr>
                                    </p:animEffect>
                                    <p:set>
                                      <p:cBhvr>
                                        <p:cTn id="53" dur="1" fill="hold">
                                          <p:stCondLst>
                                            <p:cond delay="199"/>
                                          </p:stCondLst>
                                        </p:cTn>
                                        <p:tgtEl>
                                          <p:spTgt spid="37"/>
                                        </p:tgtEl>
                                        <p:attrNameLst>
                                          <p:attrName>style.visibility</p:attrName>
                                        </p:attrNameLst>
                                      </p:cBhvr>
                                      <p:to>
                                        <p:strVal val="hidden"/>
                                      </p:to>
                                    </p:set>
                                  </p:childTnLst>
                                </p:cTn>
                              </p:par>
                              <p:par>
                                <p:cTn id="54" presetID="10" presetClass="exit" presetSubtype="0" fill="hold" grpId="1" nodeType="withEffect">
                                  <p:stCondLst>
                                    <p:cond delay="0"/>
                                  </p:stCondLst>
                                  <p:childTnLst>
                                    <p:animEffect transition="out" filter="fade">
                                      <p:cBhvr>
                                        <p:cTn id="55" dur="200"/>
                                        <p:tgtEl>
                                          <p:spTgt spid="38"/>
                                        </p:tgtEl>
                                      </p:cBhvr>
                                    </p:animEffect>
                                    <p:set>
                                      <p:cBhvr>
                                        <p:cTn id="56" dur="1" fill="hold">
                                          <p:stCondLst>
                                            <p:cond delay="199"/>
                                          </p:stCondLst>
                                        </p:cTn>
                                        <p:tgtEl>
                                          <p:spTgt spid="38"/>
                                        </p:tgtEl>
                                        <p:attrNameLst>
                                          <p:attrName>style.visibility</p:attrName>
                                        </p:attrNameLst>
                                      </p:cBhvr>
                                      <p:to>
                                        <p:strVal val="hidden"/>
                                      </p:to>
                                    </p:set>
                                  </p:childTnLst>
                                </p:cTn>
                              </p:par>
                              <p:par>
                                <p:cTn id="57" presetID="10" presetClass="exit" presetSubtype="0" fill="hold" grpId="1" nodeType="withEffect">
                                  <p:stCondLst>
                                    <p:cond delay="0"/>
                                  </p:stCondLst>
                                  <p:childTnLst>
                                    <p:animEffect transition="out" filter="fade">
                                      <p:cBhvr>
                                        <p:cTn id="58" dur="200"/>
                                        <p:tgtEl>
                                          <p:spTgt spid="39"/>
                                        </p:tgtEl>
                                      </p:cBhvr>
                                    </p:animEffect>
                                    <p:set>
                                      <p:cBhvr>
                                        <p:cTn id="59" dur="1" fill="hold">
                                          <p:stCondLst>
                                            <p:cond delay="199"/>
                                          </p:stCondLst>
                                        </p:cTn>
                                        <p:tgtEl>
                                          <p:spTgt spid="39"/>
                                        </p:tgtEl>
                                        <p:attrNameLst>
                                          <p:attrName>style.visibility</p:attrName>
                                        </p:attrNameLst>
                                      </p:cBhvr>
                                      <p:to>
                                        <p:strVal val="hidden"/>
                                      </p:to>
                                    </p:set>
                                  </p:childTnLst>
                                </p:cTn>
                              </p:par>
                              <p:par>
                                <p:cTn id="60" presetID="10" presetClass="exit" presetSubtype="0" fill="hold" grpId="1" nodeType="withEffect">
                                  <p:stCondLst>
                                    <p:cond delay="0"/>
                                  </p:stCondLst>
                                  <p:childTnLst>
                                    <p:animEffect transition="out" filter="fade">
                                      <p:cBhvr>
                                        <p:cTn id="61" dur="200"/>
                                        <p:tgtEl>
                                          <p:spTgt spid="40"/>
                                        </p:tgtEl>
                                      </p:cBhvr>
                                    </p:animEffect>
                                    <p:set>
                                      <p:cBhvr>
                                        <p:cTn id="62" dur="1" fill="hold">
                                          <p:stCondLst>
                                            <p:cond delay="199"/>
                                          </p:stCondLst>
                                        </p:cTn>
                                        <p:tgtEl>
                                          <p:spTgt spid="40"/>
                                        </p:tgtEl>
                                        <p:attrNameLst>
                                          <p:attrName>style.visibility</p:attrName>
                                        </p:attrNameLst>
                                      </p:cBhvr>
                                      <p:to>
                                        <p:strVal val="hidden"/>
                                      </p:to>
                                    </p:set>
                                  </p:childTnLst>
                                </p:cTn>
                              </p:par>
                              <p:par>
                                <p:cTn id="63" presetID="10" presetClass="exit" presetSubtype="0" fill="hold" grpId="1" nodeType="withEffect">
                                  <p:stCondLst>
                                    <p:cond delay="0"/>
                                  </p:stCondLst>
                                  <p:childTnLst>
                                    <p:animEffect transition="out" filter="fade">
                                      <p:cBhvr>
                                        <p:cTn id="64" dur="200"/>
                                        <p:tgtEl>
                                          <p:spTgt spid="41"/>
                                        </p:tgtEl>
                                      </p:cBhvr>
                                    </p:animEffect>
                                    <p:set>
                                      <p:cBhvr>
                                        <p:cTn id="65" dur="1" fill="hold">
                                          <p:stCondLst>
                                            <p:cond delay="199"/>
                                          </p:stCondLst>
                                        </p:cTn>
                                        <p:tgtEl>
                                          <p:spTgt spid="41"/>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200"/>
                                        <p:tgtEl>
                                          <p:spTgt spid="47"/>
                                        </p:tgtEl>
                                      </p:cBhvr>
                                    </p:animEffect>
                                    <p:set>
                                      <p:cBhvr>
                                        <p:cTn id="68" dur="1" fill="hold">
                                          <p:stCondLst>
                                            <p:cond delay="199"/>
                                          </p:stCondLst>
                                        </p:cTn>
                                        <p:tgtEl>
                                          <p:spTgt spid="47"/>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200"/>
                                        <p:tgtEl>
                                          <p:spTgt spid="48"/>
                                        </p:tgtEl>
                                      </p:cBhvr>
                                    </p:animEffect>
                                    <p:set>
                                      <p:cBhvr>
                                        <p:cTn id="71" dur="1" fill="hold">
                                          <p:stCondLst>
                                            <p:cond delay="199"/>
                                          </p:stCondLst>
                                        </p:cTn>
                                        <p:tgtEl>
                                          <p:spTgt spid="48"/>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200"/>
                                        <p:tgtEl>
                                          <p:spTgt spid="49"/>
                                        </p:tgtEl>
                                      </p:cBhvr>
                                    </p:animEffect>
                                    <p:set>
                                      <p:cBhvr>
                                        <p:cTn id="74" dur="1" fill="hold">
                                          <p:stCondLst>
                                            <p:cond delay="199"/>
                                          </p:stCondLst>
                                        </p:cTn>
                                        <p:tgtEl>
                                          <p:spTgt spid="49"/>
                                        </p:tgtEl>
                                        <p:attrNameLst>
                                          <p:attrName>style.visibility</p:attrName>
                                        </p:attrNameLst>
                                      </p:cBhvr>
                                      <p:to>
                                        <p:strVal val="hidden"/>
                                      </p:to>
                                    </p:set>
                                  </p:childTnLst>
                                </p:cTn>
                              </p:par>
                              <p:par>
                                <p:cTn id="75" presetID="10" presetClass="entr" presetSubtype="0" fill="hold" grpId="0" nodeType="withEffect">
                                  <p:stCondLst>
                                    <p:cond delay="20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400"/>
                                        <p:tgtEl>
                                          <p:spTgt spid="15"/>
                                        </p:tgtEl>
                                      </p:cBhvr>
                                    </p:animEffect>
                                  </p:childTnLst>
                                </p:cTn>
                              </p:par>
                              <p:par>
                                <p:cTn id="78" presetID="10" presetClass="entr" presetSubtype="0" fill="hold" grpId="0" nodeType="withEffect">
                                  <p:stCondLst>
                                    <p:cond delay="200"/>
                                  </p:stCondLst>
                                  <p:childTnLst>
                                    <p:set>
                                      <p:cBhvr>
                                        <p:cTn id="79" dur="1" fill="hold">
                                          <p:stCondLst>
                                            <p:cond delay="0"/>
                                          </p:stCondLst>
                                        </p:cTn>
                                        <p:tgtEl>
                                          <p:spTgt spid="16"/>
                                        </p:tgtEl>
                                        <p:attrNameLst>
                                          <p:attrName>style.visibility</p:attrName>
                                        </p:attrNameLst>
                                      </p:cBhvr>
                                      <p:to>
                                        <p:strVal val="visible"/>
                                      </p:to>
                                    </p:set>
                                    <p:animEffect transition="in" filter="fade">
                                      <p:cBhvr>
                                        <p:cTn id="80" dur="400"/>
                                        <p:tgtEl>
                                          <p:spTgt spid="16"/>
                                        </p:tgtEl>
                                      </p:cBhvr>
                                    </p:animEffect>
                                  </p:childTnLst>
                                </p:cTn>
                              </p:par>
                              <p:par>
                                <p:cTn id="81" presetID="10" presetClass="entr" presetSubtype="0" fill="hold" grpId="0" nodeType="withEffect">
                                  <p:stCondLst>
                                    <p:cond delay="20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400"/>
                                        <p:tgtEl>
                                          <p:spTgt spid="17"/>
                                        </p:tgtEl>
                                      </p:cBhvr>
                                    </p:animEffect>
                                  </p:childTnLst>
                                </p:cTn>
                              </p:par>
                              <p:par>
                                <p:cTn id="84" presetID="10" presetClass="entr" presetSubtype="0" fill="hold" grpId="0" nodeType="withEffect">
                                  <p:stCondLst>
                                    <p:cond delay="20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400"/>
                                        <p:tgtEl>
                                          <p:spTgt spid="18"/>
                                        </p:tgtEl>
                                      </p:cBhvr>
                                    </p:animEffect>
                                  </p:childTnLst>
                                </p:cTn>
                              </p:par>
                              <p:par>
                                <p:cTn id="87" presetID="10" presetClass="entr" presetSubtype="0" fill="hold" grpId="0" nodeType="withEffect">
                                  <p:stCondLst>
                                    <p:cond delay="200"/>
                                  </p:stCondLst>
                                  <p:childTnLst>
                                    <p:set>
                                      <p:cBhvr>
                                        <p:cTn id="88" dur="1" fill="hold">
                                          <p:stCondLst>
                                            <p:cond delay="0"/>
                                          </p:stCondLst>
                                        </p:cTn>
                                        <p:tgtEl>
                                          <p:spTgt spid="19"/>
                                        </p:tgtEl>
                                        <p:attrNameLst>
                                          <p:attrName>style.visibility</p:attrName>
                                        </p:attrNameLst>
                                      </p:cBhvr>
                                      <p:to>
                                        <p:strVal val="visible"/>
                                      </p:to>
                                    </p:set>
                                    <p:animEffect transition="in" filter="fade">
                                      <p:cBhvr>
                                        <p:cTn id="89" dur="400"/>
                                        <p:tgtEl>
                                          <p:spTgt spid="19"/>
                                        </p:tgtEl>
                                      </p:cBhvr>
                                    </p:animEffect>
                                  </p:childTnLst>
                                </p:cTn>
                              </p:par>
                              <p:par>
                                <p:cTn id="90" presetID="10" presetClass="entr" presetSubtype="0" fill="hold" grpId="0" nodeType="withEffect">
                                  <p:stCondLst>
                                    <p:cond delay="20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400"/>
                                        <p:tgtEl>
                                          <p:spTgt spid="20"/>
                                        </p:tgtEl>
                                      </p:cBhvr>
                                    </p:animEffect>
                                  </p:childTnLst>
                                </p:cTn>
                              </p:par>
                              <p:par>
                                <p:cTn id="93" presetID="10" presetClass="entr" presetSubtype="0" fill="hold" grpId="0" nodeType="withEffect">
                                  <p:stCondLst>
                                    <p:cond delay="20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400"/>
                                        <p:tgtEl>
                                          <p:spTgt spid="21"/>
                                        </p:tgtEl>
                                      </p:cBhvr>
                                    </p:animEffect>
                                  </p:childTnLst>
                                </p:cTn>
                              </p:par>
                              <p:par>
                                <p:cTn id="96" presetID="10" presetClass="entr" presetSubtype="0" fill="hold" grpId="0" nodeType="withEffect">
                                  <p:stCondLst>
                                    <p:cond delay="20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400"/>
                                        <p:tgtEl>
                                          <p:spTgt spid="22"/>
                                        </p:tgtEl>
                                      </p:cBhvr>
                                    </p:animEffect>
                                  </p:childTnLst>
                                </p:cTn>
                              </p:par>
                              <p:par>
                                <p:cTn id="99" presetID="10" presetClass="entr" presetSubtype="0" fill="hold" grpId="0" nodeType="withEffect">
                                  <p:stCondLst>
                                    <p:cond delay="20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400"/>
                                        <p:tgtEl>
                                          <p:spTgt spid="23"/>
                                        </p:tgtEl>
                                      </p:cBhvr>
                                    </p:animEffect>
                                  </p:childTnLst>
                                </p:cTn>
                              </p:par>
                              <p:par>
                                <p:cTn id="102" presetID="10" presetClass="entr" presetSubtype="0" fill="hold" grpId="0" nodeType="withEffect">
                                  <p:stCondLst>
                                    <p:cond delay="20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400"/>
                                        <p:tgtEl>
                                          <p:spTgt spid="24"/>
                                        </p:tgtEl>
                                      </p:cBhvr>
                                    </p:animEffect>
                                  </p:childTnLst>
                                </p:cTn>
                              </p:par>
                              <p:par>
                                <p:cTn id="105" presetID="10" presetClass="entr" presetSubtype="0" fill="hold" grpId="0" nodeType="withEffect">
                                  <p:stCondLst>
                                    <p:cond delay="20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400"/>
                                        <p:tgtEl>
                                          <p:spTgt spid="25"/>
                                        </p:tgtEl>
                                      </p:cBhvr>
                                    </p:animEffect>
                                  </p:childTnLst>
                                </p:cTn>
                              </p:par>
                              <p:par>
                                <p:cTn id="108" presetID="10" presetClass="entr" presetSubtype="0" fill="hold" grpId="0" nodeType="withEffect">
                                  <p:stCondLst>
                                    <p:cond delay="20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400"/>
                                        <p:tgtEl>
                                          <p:spTgt spid="26"/>
                                        </p:tgtEl>
                                      </p:cBhvr>
                                    </p:animEffect>
                                  </p:childTnLst>
                                </p:cTn>
                              </p:par>
                              <p:par>
                                <p:cTn id="111" presetID="10" presetClass="entr" presetSubtype="0" fill="hold" grpId="0" nodeType="withEffect">
                                  <p:stCondLst>
                                    <p:cond delay="200"/>
                                  </p:stCondLst>
                                  <p:childTnLst>
                                    <p:set>
                                      <p:cBhvr>
                                        <p:cTn id="112" dur="1" fill="hold">
                                          <p:stCondLst>
                                            <p:cond delay="0"/>
                                          </p:stCondLst>
                                        </p:cTn>
                                        <p:tgtEl>
                                          <p:spTgt spid="27"/>
                                        </p:tgtEl>
                                        <p:attrNameLst>
                                          <p:attrName>style.visibility</p:attrName>
                                        </p:attrNameLst>
                                      </p:cBhvr>
                                      <p:to>
                                        <p:strVal val="visible"/>
                                      </p:to>
                                    </p:set>
                                    <p:animEffect transition="in" filter="fade">
                                      <p:cBhvr>
                                        <p:cTn id="113" dur="400"/>
                                        <p:tgtEl>
                                          <p:spTgt spid="27"/>
                                        </p:tgtEl>
                                      </p:cBhvr>
                                    </p:animEffect>
                                  </p:childTnLst>
                                </p:cTn>
                              </p:par>
                              <p:par>
                                <p:cTn id="114" presetID="10" presetClass="entr" presetSubtype="0" fill="hold" grpId="0" nodeType="withEffect">
                                  <p:stCondLst>
                                    <p:cond delay="20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400"/>
                                        <p:tgtEl>
                                          <p:spTgt spid="28"/>
                                        </p:tgtEl>
                                      </p:cBhvr>
                                    </p:animEffect>
                                  </p:childTnLst>
                                </p:cTn>
                              </p:par>
                            </p:childTnLst>
                          </p:cTn>
                        </p:par>
                      </p:childTnLst>
                    </p:cTn>
                  </p:par>
                  <p:par>
                    <p:cTn id="133" fill="hold">
                      <p:stCondLst>
                        <p:cond delay="indefinite"/>
                      </p:stCondLst>
                      <p:childTnLst>
                        <p:par>
                          <p:cTn id="134"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400"/>
                                        <p:tgtEl>
                                          <p:spTgt spid="29"/>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0"/>
                                        </p:tgtEl>
                                        <p:attrNameLst>
                                          <p:attrName>style.visibility</p:attrName>
                                        </p:attrNameLst>
                                      </p:cBhvr>
                                      <p:to>
                                        <p:strVal val="visible"/>
                                      </p:to>
                                    </p:set>
                                    <p:animEffect transition="in" filter="fade">
                                      <p:cBhvr>
                                        <p:cTn id="122" dur="400"/>
                                        <p:tgtEl>
                                          <p:spTgt spid="30"/>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31"/>
                                        </p:tgtEl>
                                        <p:attrNameLst>
                                          <p:attrName>style.visibility</p:attrName>
                                        </p:attrNameLst>
                                      </p:cBhvr>
                                      <p:to>
                                        <p:strVal val="visible"/>
                                      </p:to>
                                    </p:set>
                                    <p:animEffect transition="in" filter="fade">
                                      <p:cBhvr>
                                        <p:cTn id="125" dur="400"/>
                                        <p:tgtEl>
                                          <p:spTgt spid="31"/>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32"/>
                                        </p:tgtEl>
                                        <p:attrNameLst>
                                          <p:attrName>style.visibility</p:attrName>
                                        </p:attrNameLst>
                                      </p:cBhvr>
                                      <p:to>
                                        <p:strVal val="visible"/>
                                      </p:to>
                                    </p:set>
                                    <p:animEffect transition="in" filter="fade">
                                      <p:cBhvr>
                                        <p:cTn id="128"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3" grpId="1" animBg="1"/>
      <p:bldP spid="34" grpId="0" animBg="1"/>
      <p:bldP spid="34" grpId="1" animBg="1"/>
      <p:bldP spid="35" grpId="0" animBg="1"/>
      <p:bldP spid="35" grpId="1" animBg="1"/>
      <p:bldP spid="36" grpId="0" animBg="1"/>
      <p:bldP spid="36" grpId="1" animBg="1"/>
      <p:bldP spid="38" grpId="0" animBg="1"/>
      <p:bldP spid="38" grpId="1" animBg="1"/>
      <p:bldP spid="39" grpId="0" animBg="1"/>
      <p:bldP spid="39" grpId="1" animBg="1"/>
      <p:bldP spid="40" grpId="0" animBg="1"/>
      <p:bldP spid="40" grpId="1" animBg="1"/>
      <p:bldP spid="41" grpId="0" animBg="1"/>
      <p:bldP spid="41" grpId="1" animBg="1"/>
      <p:bldP spid="47" grpId="0" animBg="1"/>
      <p:bldP spid="47" grpId="1" animBg="1"/>
      <p:bldP spid="48" grpId="0" animBg="1"/>
      <p:bldP spid="48" grpId="1" animBg="1"/>
      <p:bldP spid="49" grpId="0" animBg="1"/>
      <p:bldP spid="49" grpId="1"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01</a:t>
            </a:r>
          </a:p>
        </p:txBody>
      </p:sp>
      <p:sp>
        <p:nvSpPr>
          <p:cNvPr id="4" name="TextBox 3"/>
          <p:cNvSpPr txBox="1"/>
          <p:nvPr/>
        </p:nvSpPr>
        <p:spPr>
          <a:xfrm>
            <a:off x="898398"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Investigación tecnológica: ciencia del diseño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140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Finalidad</a:t>
            </a:r>
          </a:p>
        </p:txBody>
      </p:sp>
      <p:sp>
        <p:nvSpPr>
          <p:cNvPr id="15" name="TextBox 14"/>
          <p:cNvSpPr txBox="1"/>
          <p:nvPr/>
        </p:nvSpPr>
        <p:spPr>
          <a:xfrm>
            <a:off x="723900" y="1667853"/>
            <a:ext cx="2403475" cy="26289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Propositiva</a:t>
            </a:r>
          </a:p>
        </p:txBody>
      </p:sp>
      <p:sp>
        <p:nvSpPr>
          <p:cNvPr id="16" name="Rounded Rectangle 15"/>
          <p:cNvSpPr/>
          <p:nvPr/>
        </p:nvSpPr>
        <p:spPr>
          <a:xfrm>
            <a:off x="3365500"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1075"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Naturaleza [7, p. 91]</a:t>
            </a:r>
          </a:p>
        </p:txBody>
      </p:sp>
      <p:sp>
        <p:nvSpPr>
          <p:cNvPr id="18" name="TextBox 17"/>
          <p:cNvSpPr txBox="1"/>
          <p:nvPr/>
        </p:nvSpPr>
        <p:spPr>
          <a:xfrm>
            <a:off x="3521075" y="1667853"/>
            <a:ext cx="2403475" cy="52578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Investigación</a:t>
            </a:r>
            <a:br/>
            <a:r>
              <a:rPr sz="1800" b="1" i="0">
                <a:solidFill>
                  <a:srgbClr val="1F2937"/>
                </a:solidFill>
                <a:latin typeface="Calibri"/>
              </a:rPr>
              <a:t>tecnológica</a:t>
            </a:r>
          </a:p>
        </p:txBody>
      </p:sp>
      <p:sp>
        <p:nvSpPr>
          <p:cNvPr id="19" name="Rounded Rectangle 18"/>
          <p:cNvSpPr/>
          <p:nvPr/>
        </p:nvSpPr>
        <p:spPr>
          <a:xfrm>
            <a:off x="6162675"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8250"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Enfoque [24, p. 6]</a:t>
            </a:r>
          </a:p>
        </p:txBody>
      </p:sp>
      <p:sp>
        <p:nvSpPr>
          <p:cNvPr id="21" name="TextBox 20"/>
          <p:cNvSpPr txBox="1"/>
          <p:nvPr/>
        </p:nvSpPr>
        <p:spPr>
          <a:xfrm>
            <a:off x="6318250" y="1667853"/>
            <a:ext cx="2403475" cy="26289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Cuantitativo</a:t>
            </a:r>
          </a:p>
        </p:txBody>
      </p:sp>
      <p:sp>
        <p:nvSpPr>
          <p:cNvPr id="22" name="Rounded Rectangle 21"/>
          <p:cNvSpPr/>
          <p:nvPr/>
        </p:nvSpPr>
        <p:spPr>
          <a:xfrm>
            <a:off x="8959850"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15425"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Nivel</a:t>
            </a:r>
          </a:p>
        </p:txBody>
      </p:sp>
      <p:sp>
        <p:nvSpPr>
          <p:cNvPr id="24" name="TextBox 23"/>
          <p:cNvSpPr txBox="1"/>
          <p:nvPr/>
        </p:nvSpPr>
        <p:spPr>
          <a:xfrm>
            <a:off x="9115425" y="1667853"/>
            <a:ext cx="2403475" cy="52578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Descriptivo y</a:t>
            </a:r>
            <a:br/>
            <a:r>
              <a:rPr sz="1800" b="1" i="0">
                <a:solidFill>
                  <a:srgbClr val="1F2937"/>
                </a:solidFill>
                <a:latin typeface="Calibri"/>
              </a:rPr>
              <a:t>comparativo</a:t>
            </a:r>
          </a:p>
        </p:txBody>
      </p:sp>
      <p:sp>
        <p:nvSpPr>
          <p:cNvPr id="25" name="TextBox 24"/>
          <p:cNvSpPr txBox="1"/>
          <p:nvPr/>
        </p:nvSpPr>
        <p:spPr>
          <a:xfrm>
            <a:off x="565150" y="2583644"/>
            <a:ext cx="11282934" cy="197168"/>
          </a:xfrm>
          <a:prstGeom prst="rect">
            <a:avLst/>
          </a:prstGeom>
          <a:noFill/>
        </p:spPr>
        <p:txBody>
          <a:bodyPr wrap="square" lIns="0" rIns="0" tIns="0" bIns="0" anchor="t"/>
          <a:lstStyle/>
          <a:p>
            <a:pPr algn="l">
              <a:lnSpc>
                <a:spcPts val="1552"/>
              </a:lnSpc>
              <a:spcBef>
                <a:spcPts val="0"/>
              </a:spcBef>
              <a:spcAft>
                <a:spcPts val="0"/>
              </a:spcAft>
            </a:pPr>
            <a:r>
              <a:rPr sz="1150" b="1" i="0" cap="all" spc="138">
                <a:solidFill>
                  <a:srgbClr val="5B6575"/>
                </a:solidFill>
                <a:latin typeface="Calibri"/>
              </a:rPr>
              <a:t>Las seis actividades del método [12, pp. 52–56] en esta tesis</a:t>
            </a:r>
          </a:p>
        </p:txBody>
      </p:sp>
      <p:sp>
        <p:nvSpPr>
          <p:cNvPr id="26" name="Rounded Rectangle 25"/>
          <p:cNvSpPr/>
          <p:nvPr/>
        </p:nvSpPr>
        <p:spPr>
          <a:xfrm>
            <a:off x="568325" y="2888742"/>
            <a:ext cx="1752600" cy="1604074"/>
          </a:xfrm>
          <a:prstGeom prst="roundRect">
            <a:avLst>
              <a:gd name="adj" fmla="val 692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042666"/>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1</a:t>
            </a:r>
          </a:p>
        </p:txBody>
      </p:sp>
      <p:sp>
        <p:nvSpPr>
          <p:cNvPr id="28" name="TextBox 27"/>
          <p:cNvSpPr txBox="1"/>
          <p:nvPr/>
        </p:nvSpPr>
        <p:spPr>
          <a:xfrm>
            <a:off x="685800" y="3366253"/>
            <a:ext cx="1568450" cy="404622"/>
          </a:xfrm>
          <a:prstGeom prst="rect">
            <a:avLst/>
          </a:prstGeom>
          <a:noFill/>
        </p:spPr>
        <p:txBody>
          <a:bodyPr wrap="square" lIns="0" rIns="0" tIns="0" bIns="0" anchor="t"/>
          <a:lstStyle/>
          <a:p>
            <a:pPr algn="l">
              <a:lnSpc>
                <a:spcPts val="1593"/>
              </a:lnSpc>
              <a:spcBef>
                <a:spcPts val="0"/>
              </a:spcBef>
              <a:spcAft>
                <a:spcPts val="0"/>
              </a:spcAft>
            </a:pPr>
            <a:r>
              <a:rPr sz="1350" b="1" i="0">
                <a:solidFill>
                  <a:srgbClr val="1F2937"/>
                </a:solidFill>
                <a:latin typeface="Calibri"/>
              </a:rPr>
              <a:t>Identificar el</a:t>
            </a:r>
            <a:br/>
            <a:r>
              <a:rPr sz="1350" b="1" i="0">
                <a:solidFill>
                  <a:srgbClr val="1F2937"/>
                </a:solidFill>
                <a:latin typeface="Calibri"/>
              </a:rPr>
              <a:t>problema</a:t>
            </a:r>
          </a:p>
        </p:txBody>
      </p:sp>
      <p:sp>
        <p:nvSpPr>
          <p:cNvPr id="29" name="TextBox 28"/>
          <p:cNvSpPr txBox="1"/>
          <p:nvPr/>
        </p:nvSpPr>
        <p:spPr>
          <a:xfrm>
            <a:off x="685800" y="3827545"/>
            <a:ext cx="1568450" cy="520065"/>
          </a:xfrm>
          <a:prstGeom prst="rect">
            <a:avLst/>
          </a:prstGeom>
          <a:noFill/>
        </p:spPr>
        <p:txBody>
          <a:bodyPr wrap="square" lIns="0" rIns="0" tIns="0" bIns="0" anchor="t"/>
          <a:lstStyle/>
          <a:p>
            <a:pPr algn="l">
              <a:lnSpc>
                <a:spcPts val="1365"/>
              </a:lnSpc>
              <a:spcBef>
                <a:spcPts val="0"/>
              </a:spcBef>
              <a:spcAft>
                <a:spcPts val="0"/>
              </a:spcAft>
            </a:pPr>
            <a:r>
              <a:rPr sz="1050" b="0" i="0">
                <a:solidFill>
                  <a:srgbClr val="3F4A5A"/>
                </a:solidFill>
                <a:latin typeface="Calibri"/>
              </a:rPr>
              <a:t>Caja negra: el análisis no</a:t>
            </a:r>
            <a:br/>
            <a:r>
              <a:rPr sz="1050" b="0" i="0">
                <a:solidFill>
                  <a:srgbClr val="3F4A5A"/>
                </a:solidFill>
                <a:latin typeface="Calibri"/>
              </a:rPr>
              <a:t>puede seguirse ni</a:t>
            </a:r>
            <a:br/>
            <a:r>
              <a:rPr sz="1050" b="0" i="0">
                <a:solidFill>
                  <a:srgbClr val="3F4A5A"/>
                </a:solidFill>
                <a:latin typeface="Calibri"/>
              </a:rPr>
              <a:t>comprobarse</a:t>
            </a:r>
          </a:p>
        </p:txBody>
      </p:sp>
      <p:sp>
        <p:nvSpPr>
          <p:cNvPr id="30" name="Rounded Rectangle 29"/>
          <p:cNvSpPr/>
          <p:nvPr/>
        </p:nvSpPr>
        <p:spPr>
          <a:xfrm>
            <a:off x="2428875" y="2888742"/>
            <a:ext cx="1752600" cy="1604074"/>
          </a:xfrm>
          <a:prstGeom prst="roundRect">
            <a:avLst>
              <a:gd name="adj" fmla="val 692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760788" y="2993517"/>
            <a:ext cx="328612" cy="19685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24288" y="3041872"/>
            <a:ext cx="252412" cy="120650"/>
          </a:xfrm>
          <a:prstGeom prst="rect">
            <a:avLst/>
          </a:prstGeom>
          <a:noFill/>
        </p:spPr>
        <p:txBody>
          <a:bodyPr wrap="square" lIns="0" rIns="0" tIns="0" bIns="0" anchor="t"/>
          <a:lstStyle/>
          <a:p>
            <a:pPr algn="l">
              <a:lnSpc>
                <a:spcPts val="950"/>
              </a:lnSpc>
              <a:spcBef>
                <a:spcPts val="0"/>
              </a:spcBef>
              <a:spcAft>
                <a:spcPts val="0"/>
              </a:spcAft>
            </a:pPr>
            <a:r>
              <a:rPr sz="950" b="1" i="0">
                <a:solidFill>
                  <a:srgbClr val="1F77B4"/>
                </a:solidFill>
                <a:latin typeface="Calibri"/>
              </a:rPr>
              <a:t>OE1</a:t>
            </a:r>
          </a:p>
        </p:txBody>
      </p:sp>
      <p:sp>
        <p:nvSpPr>
          <p:cNvPr id="33" name="TextBox 32"/>
          <p:cNvSpPr txBox="1"/>
          <p:nvPr/>
        </p:nvSpPr>
        <p:spPr>
          <a:xfrm>
            <a:off x="2546350" y="3042666"/>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2</a:t>
            </a:r>
          </a:p>
        </p:txBody>
      </p:sp>
      <p:sp>
        <p:nvSpPr>
          <p:cNvPr id="34" name="TextBox 33"/>
          <p:cNvSpPr txBox="1"/>
          <p:nvPr/>
        </p:nvSpPr>
        <p:spPr>
          <a:xfrm>
            <a:off x="2546350" y="3366253"/>
            <a:ext cx="1568450" cy="202311"/>
          </a:xfrm>
          <a:prstGeom prst="rect">
            <a:avLst/>
          </a:prstGeom>
          <a:noFill/>
        </p:spPr>
        <p:txBody>
          <a:bodyPr wrap="square" lIns="0" rIns="0" tIns="0" bIns="0" anchor="t"/>
          <a:lstStyle/>
          <a:p>
            <a:pPr algn="l">
              <a:lnSpc>
                <a:spcPts val="1593"/>
              </a:lnSpc>
              <a:spcBef>
                <a:spcPts val="0"/>
              </a:spcBef>
              <a:spcAft>
                <a:spcPts val="0"/>
              </a:spcAft>
            </a:pPr>
            <a:r>
              <a:rPr sz="1350" b="1" i="0">
                <a:solidFill>
                  <a:srgbClr val="1F2937"/>
                </a:solidFill>
                <a:latin typeface="Calibri"/>
              </a:rPr>
              <a:t>Definir los objetivos</a:t>
            </a:r>
          </a:p>
        </p:txBody>
      </p:sp>
      <p:sp>
        <p:nvSpPr>
          <p:cNvPr id="35" name="TextBox 34"/>
          <p:cNvSpPr txBox="1"/>
          <p:nvPr/>
        </p:nvSpPr>
        <p:spPr>
          <a:xfrm>
            <a:off x="2546350" y="3625234"/>
            <a:ext cx="1568450" cy="346710"/>
          </a:xfrm>
          <a:prstGeom prst="rect">
            <a:avLst/>
          </a:prstGeom>
          <a:noFill/>
        </p:spPr>
        <p:txBody>
          <a:bodyPr wrap="square" lIns="0" rIns="0" tIns="0" bIns="0" anchor="t"/>
          <a:lstStyle/>
          <a:p>
            <a:pPr algn="l">
              <a:lnSpc>
                <a:spcPts val="1365"/>
              </a:lnSpc>
              <a:spcBef>
                <a:spcPts val="0"/>
              </a:spcBef>
              <a:spcAft>
                <a:spcPts val="0"/>
              </a:spcAft>
            </a:pPr>
            <a:r>
              <a:rPr sz="1050" b="0" i="0">
                <a:solidFill>
                  <a:srgbClr val="3F4A5A"/>
                </a:solidFill>
                <a:latin typeface="Calibri"/>
              </a:rPr>
              <a:t>Cinco requisitos de la</a:t>
            </a:r>
            <a:br/>
            <a:r>
              <a:rPr sz="1050" b="0" i="0">
                <a:solidFill>
                  <a:srgbClr val="3F4A5A"/>
                </a:solidFill>
                <a:latin typeface="Calibri"/>
              </a:rPr>
              <a:t>herramienta</a:t>
            </a:r>
          </a:p>
        </p:txBody>
      </p:sp>
      <p:sp>
        <p:nvSpPr>
          <p:cNvPr id="36" name="Rounded Rectangle 35"/>
          <p:cNvSpPr/>
          <p:nvPr/>
        </p:nvSpPr>
        <p:spPr>
          <a:xfrm>
            <a:off x="4289425" y="2888742"/>
            <a:ext cx="1752600" cy="1604074"/>
          </a:xfrm>
          <a:prstGeom prst="roundRect">
            <a:avLst>
              <a:gd name="adj" fmla="val 692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621338" y="2993517"/>
            <a:ext cx="328612" cy="19685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84838" y="3041872"/>
            <a:ext cx="252412" cy="120650"/>
          </a:xfrm>
          <a:prstGeom prst="rect">
            <a:avLst/>
          </a:prstGeom>
          <a:noFill/>
        </p:spPr>
        <p:txBody>
          <a:bodyPr wrap="square" lIns="0" rIns="0" tIns="0" bIns="0" anchor="t"/>
          <a:lstStyle/>
          <a:p>
            <a:pPr algn="l">
              <a:lnSpc>
                <a:spcPts val="950"/>
              </a:lnSpc>
              <a:spcBef>
                <a:spcPts val="0"/>
              </a:spcBef>
              <a:spcAft>
                <a:spcPts val="0"/>
              </a:spcAft>
            </a:pPr>
            <a:r>
              <a:rPr sz="950" b="1" i="0">
                <a:solidFill>
                  <a:srgbClr val="1F77B4"/>
                </a:solidFill>
                <a:latin typeface="Calibri"/>
              </a:rPr>
              <a:t>OE3</a:t>
            </a:r>
          </a:p>
        </p:txBody>
      </p:sp>
      <p:sp>
        <p:nvSpPr>
          <p:cNvPr id="39" name="TextBox 38"/>
          <p:cNvSpPr txBox="1"/>
          <p:nvPr/>
        </p:nvSpPr>
        <p:spPr>
          <a:xfrm>
            <a:off x="4406900" y="3042666"/>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3</a:t>
            </a:r>
          </a:p>
        </p:txBody>
      </p:sp>
      <p:sp>
        <p:nvSpPr>
          <p:cNvPr id="40" name="TextBox 39"/>
          <p:cNvSpPr txBox="1"/>
          <p:nvPr/>
        </p:nvSpPr>
        <p:spPr>
          <a:xfrm>
            <a:off x="4406900" y="3366253"/>
            <a:ext cx="1568450" cy="202311"/>
          </a:xfrm>
          <a:prstGeom prst="rect">
            <a:avLst/>
          </a:prstGeom>
          <a:noFill/>
        </p:spPr>
        <p:txBody>
          <a:bodyPr wrap="square" lIns="0" rIns="0" tIns="0" bIns="0" anchor="t"/>
          <a:lstStyle/>
          <a:p>
            <a:pPr algn="l">
              <a:lnSpc>
                <a:spcPts val="1593"/>
              </a:lnSpc>
              <a:spcBef>
                <a:spcPts val="0"/>
              </a:spcBef>
              <a:spcAft>
                <a:spcPts val="0"/>
              </a:spcAft>
            </a:pPr>
            <a:r>
              <a:rPr sz="1350" b="1" i="0">
                <a:solidFill>
                  <a:srgbClr val="1F2937"/>
                </a:solidFill>
                <a:latin typeface="Calibri"/>
              </a:rPr>
              <a:t>Diseñar y desarrollar</a:t>
            </a:r>
          </a:p>
        </p:txBody>
      </p:sp>
      <p:sp>
        <p:nvSpPr>
          <p:cNvPr id="41" name="TextBox 40"/>
          <p:cNvSpPr txBox="1"/>
          <p:nvPr/>
        </p:nvSpPr>
        <p:spPr>
          <a:xfrm>
            <a:off x="4406900" y="3625234"/>
            <a:ext cx="1568450" cy="346710"/>
          </a:xfrm>
          <a:prstGeom prst="rect">
            <a:avLst/>
          </a:prstGeom>
          <a:noFill/>
        </p:spPr>
        <p:txBody>
          <a:bodyPr wrap="square" lIns="0" rIns="0" tIns="0" bIns="0" anchor="t"/>
          <a:lstStyle/>
          <a:p>
            <a:pPr algn="l">
              <a:lnSpc>
                <a:spcPts val="1365"/>
              </a:lnSpc>
              <a:spcBef>
                <a:spcPts val="0"/>
              </a:spcBef>
              <a:spcAft>
                <a:spcPts val="0"/>
              </a:spcAft>
            </a:pPr>
            <a:r>
              <a:rPr sz="1050" b="0" i="0">
                <a:solidFill>
                  <a:srgbClr val="3F4A5A"/>
                </a:solidFill>
                <a:latin typeface="Calibri"/>
              </a:rPr>
              <a:t>Motor, interfaz, módulos y</a:t>
            </a:r>
            <a:br/>
            <a:r>
              <a:rPr sz="1050" b="0" i="0">
                <a:solidFill>
                  <a:srgbClr val="3F4A5A"/>
                </a:solidFill>
                <a:latin typeface="Calibri"/>
              </a:rPr>
              <a:t>memoria (base: OE2)</a:t>
            </a:r>
          </a:p>
        </p:txBody>
      </p:sp>
      <p:sp>
        <p:nvSpPr>
          <p:cNvPr id="42" name="Rounded Rectangle 41"/>
          <p:cNvSpPr/>
          <p:nvPr/>
        </p:nvSpPr>
        <p:spPr>
          <a:xfrm>
            <a:off x="6149975" y="2888742"/>
            <a:ext cx="1752600" cy="1604074"/>
          </a:xfrm>
          <a:prstGeom prst="roundRect">
            <a:avLst>
              <a:gd name="adj" fmla="val 692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481888" y="2993517"/>
            <a:ext cx="328612" cy="19685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45388" y="3041872"/>
            <a:ext cx="252412" cy="120650"/>
          </a:xfrm>
          <a:prstGeom prst="rect">
            <a:avLst/>
          </a:prstGeom>
          <a:noFill/>
        </p:spPr>
        <p:txBody>
          <a:bodyPr wrap="square" lIns="0" rIns="0" tIns="0" bIns="0" anchor="t"/>
          <a:lstStyle/>
          <a:p>
            <a:pPr algn="l">
              <a:lnSpc>
                <a:spcPts val="950"/>
              </a:lnSpc>
              <a:spcBef>
                <a:spcPts val="0"/>
              </a:spcBef>
              <a:spcAft>
                <a:spcPts val="0"/>
              </a:spcAft>
            </a:pPr>
            <a:r>
              <a:rPr sz="950" b="1" i="0">
                <a:solidFill>
                  <a:srgbClr val="1F77B4"/>
                </a:solidFill>
                <a:latin typeface="Calibri"/>
              </a:rPr>
              <a:t>OE4</a:t>
            </a:r>
          </a:p>
        </p:txBody>
      </p:sp>
      <p:sp>
        <p:nvSpPr>
          <p:cNvPr id="45" name="TextBox 44"/>
          <p:cNvSpPr txBox="1"/>
          <p:nvPr/>
        </p:nvSpPr>
        <p:spPr>
          <a:xfrm>
            <a:off x="6267450" y="3042666"/>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4</a:t>
            </a:r>
          </a:p>
        </p:txBody>
      </p:sp>
      <p:sp>
        <p:nvSpPr>
          <p:cNvPr id="46" name="TextBox 45"/>
          <p:cNvSpPr txBox="1"/>
          <p:nvPr/>
        </p:nvSpPr>
        <p:spPr>
          <a:xfrm>
            <a:off x="6267450" y="3366253"/>
            <a:ext cx="1568450" cy="202311"/>
          </a:xfrm>
          <a:prstGeom prst="rect">
            <a:avLst/>
          </a:prstGeom>
          <a:noFill/>
        </p:spPr>
        <p:txBody>
          <a:bodyPr wrap="square" lIns="0" rIns="0" tIns="0" bIns="0" anchor="t"/>
          <a:lstStyle/>
          <a:p>
            <a:pPr algn="l">
              <a:lnSpc>
                <a:spcPts val="1593"/>
              </a:lnSpc>
              <a:spcBef>
                <a:spcPts val="0"/>
              </a:spcBef>
              <a:spcAft>
                <a:spcPts val="0"/>
              </a:spcAft>
            </a:pPr>
            <a:r>
              <a:rPr sz="1350" b="1" i="0">
                <a:solidFill>
                  <a:srgbClr val="1F2937"/>
                </a:solidFill>
                <a:latin typeface="Calibri"/>
              </a:rPr>
              <a:t>Demostrar</a:t>
            </a:r>
          </a:p>
        </p:txBody>
      </p:sp>
      <p:sp>
        <p:nvSpPr>
          <p:cNvPr id="47" name="TextBox 46"/>
          <p:cNvSpPr txBox="1"/>
          <p:nvPr/>
        </p:nvSpPr>
        <p:spPr>
          <a:xfrm>
            <a:off x="6267450" y="3625234"/>
            <a:ext cx="1568450" cy="346710"/>
          </a:xfrm>
          <a:prstGeom prst="rect">
            <a:avLst/>
          </a:prstGeom>
          <a:noFill/>
        </p:spPr>
        <p:txBody>
          <a:bodyPr wrap="square" lIns="0" rIns="0" tIns="0" bIns="0" anchor="t"/>
          <a:lstStyle/>
          <a:p>
            <a:pPr algn="l">
              <a:lnSpc>
                <a:spcPts val="1365"/>
              </a:lnSpc>
              <a:spcBef>
                <a:spcPts val="0"/>
              </a:spcBef>
              <a:spcAft>
                <a:spcPts val="0"/>
              </a:spcAft>
            </a:pPr>
            <a:r>
              <a:rPr sz="1050" b="0" i="0">
                <a:solidFill>
                  <a:srgbClr val="3F4A5A"/>
                </a:solidFill>
                <a:latin typeface="Calibri"/>
              </a:rPr>
              <a:t>Ejemplo canónico y tres</a:t>
            </a:r>
            <a:br/>
            <a:r>
              <a:rPr sz="1050" b="0" i="0">
                <a:solidFill>
                  <a:srgbClr val="3F4A5A"/>
                </a:solidFill>
                <a:latin typeface="Calibri"/>
              </a:rPr>
              <a:t>casos de estudio</a:t>
            </a:r>
          </a:p>
        </p:txBody>
      </p:sp>
      <p:sp>
        <p:nvSpPr>
          <p:cNvPr id="48" name="Rounded Rectangle 47"/>
          <p:cNvSpPr/>
          <p:nvPr/>
        </p:nvSpPr>
        <p:spPr>
          <a:xfrm>
            <a:off x="8010525" y="2888742"/>
            <a:ext cx="1752600" cy="1604074"/>
          </a:xfrm>
          <a:prstGeom prst="roundRect">
            <a:avLst>
              <a:gd name="adj" fmla="val 692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44330" y="2993517"/>
            <a:ext cx="426720" cy="19685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07830" y="3041872"/>
            <a:ext cx="350520" cy="120650"/>
          </a:xfrm>
          <a:prstGeom prst="rect">
            <a:avLst/>
          </a:prstGeom>
          <a:noFill/>
        </p:spPr>
        <p:txBody>
          <a:bodyPr wrap="square" lIns="0" rIns="0" tIns="0" bIns="0" anchor="t"/>
          <a:lstStyle/>
          <a:p>
            <a:pPr algn="l">
              <a:lnSpc>
                <a:spcPts val="950"/>
              </a:lnSpc>
              <a:spcBef>
                <a:spcPts val="0"/>
              </a:spcBef>
              <a:spcAft>
                <a:spcPts val="0"/>
              </a:spcAft>
            </a:pPr>
            <a:r>
              <a:rPr sz="950" b="1" i="0">
                <a:solidFill>
                  <a:srgbClr val="1F77B4"/>
                </a:solidFill>
                <a:latin typeface="Calibri"/>
              </a:rPr>
              <a:t>OE4-5</a:t>
            </a:r>
          </a:p>
        </p:txBody>
      </p:sp>
      <p:sp>
        <p:nvSpPr>
          <p:cNvPr id="51" name="TextBox 50"/>
          <p:cNvSpPr txBox="1"/>
          <p:nvPr/>
        </p:nvSpPr>
        <p:spPr>
          <a:xfrm>
            <a:off x="8128000" y="3042666"/>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5</a:t>
            </a:r>
          </a:p>
        </p:txBody>
      </p:sp>
      <p:sp>
        <p:nvSpPr>
          <p:cNvPr id="52" name="TextBox 51"/>
          <p:cNvSpPr txBox="1"/>
          <p:nvPr/>
        </p:nvSpPr>
        <p:spPr>
          <a:xfrm>
            <a:off x="8128000" y="3366253"/>
            <a:ext cx="1568450" cy="202311"/>
          </a:xfrm>
          <a:prstGeom prst="rect">
            <a:avLst/>
          </a:prstGeom>
          <a:noFill/>
        </p:spPr>
        <p:txBody>
          <a:bodyPr wrap="square" lIns="0" rIns="0" tIns="0" bIns="0" anchor="t"/>
          <a:lstStyle/>
          <a:p>
            <a:pPr algn="l">
              <a:lnSpc>
                <a:spcPts val="1593"/>
              </a:lnSpc>
              <a:spcBef>
                <a:spcPts val="0"/>
              </a:spcBef>
              <a:spcAft>
                <a:spcPts val="0"/>
              </a:spcAft>
            </a:pPr>
            <a:r>
              <a:rPr sz="1350" b="1" i="0">
                <a:solidFill>
                  <a:srgbClr val="1F2937"/>
                </a:solidFill>
                <a:latin typeface="Calibri"/>
              </a:rPr>
              <a:t>Evaluar</a:t>
            </a:r>
          </a:p>
        </p:txBody>
      </p:sp>
      <p:sp>
        <p:nvSpPr>
          <p:cNvPr id="53" name="TextBox 52"/>
          <p:cNvSpPr txBox="1"/>
          <p:nvPr/>
        </p:nvSpPr>
        <p:spPr>
          <a:xfrm>
            <a:off x="8128000" y="3625234"/>
            <a:ext cx="1568450" cy="346710"/>
          </a:xfrm>
          <a:prstGeom prst="rect">
            <a:avLst/>
          </a:prstGeom>
          <a:noFill/>
        </p:spPr>
        <p:txBody>
          <a:bodyPr wrap="square" lIns="0" rIns="0" tIns="0" bIns="0" anchor="t"/>
          <a:lstStyle/>
          <a:p>
            <a:pPr algn="l">
              <a:lnSpc>
                <a:spcPts val="1365"/>
              </a:lnSpc>
              <a:spcBef>
                <a:spcPts val="0"/>
              </a:spcBef>
              <a:spcAft>
                <a:spcPts val="0"/>
              </a:spcAft>
            </a:pPr>
            <a:r>
              <a:rPr sz="1050" b="0" i="0">
                <a:solidFill>
                  <a:srgbClr val="3F4A5A"/>
                </a:solidFill>
                <a:latin typeface="Calibri"/>
              </a:rPr>
              <a:t>Criterios fijados de</a:t>
            </a:r>
            <a:br/>
            <a:r>
              <a:rPr sz="1050" b="0" i="0">
                <a:solidFill>
                  <a:srgbClr val="3F4A5A"/>
                </a:solidFill>
                <a:latin typeface="Calibri"/>
              </a:rPr>
              <a:t>antemano y veredicto</a:t>
            </a:r>
          </a:p>
        </p:txBody>
      </p:sp>
      <p:sp>
        <p:nvSpPr>
          <p:cNvPr id="54" name="Rounded Rectangle 53"/>
          <p:cNvSpPr/>
          <p:nvPr/>
        </p:nvSpPr>
        <p:spPr>
          <a:xfrm>
            <a:off x="9871075" y="2888742"/>
            <a:ext cx="1752600" cy="1604074"/>
          </a:xfrm>
          <a:prstGeom prst="roundRect">
            <a:avLst>
              <a:gd name="adj" fmla="val 692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88550" y="3042666"/>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6</a:t>
            </a:r>
          </a:p>
        </p:txBody>
      </p:sp>
      <p:sp>
        <p:nvSpPr>
          <p:cNvPr id="56" name="TextBox 55"/>
          <p:cNvSpPr txBox="1"/>
          <p:nvPr/>
        </p:nvSpPr>
        <p:spPr>
          <a:xfrm>
            <a:off x="9988550" y="3366253"/>
            <a:ext cx="1568450" cy="202311"/>
          </a:xfrm>
          <a:prstGeom prst="rect">
            <a:avLst/>
          </a:prstGeom>
          <a:noFill/>
        </p:spPr>
        <p:txBody>
          <a:bodyPr wrap="square" lIns="0" rIns="0" tIns="0" bIns="0" anchor="t"/>
          <a:lstStyle/>
          <a:p>
            <a:pPr algn="l">
              <a:lnSpc>
                <a:spcPts val="1593"/>
              </a:lnSpc>
              <a:spcBef>
                <a:spcPts val="0"/>
              </a:spcBef>
              <a:spcAft>
                <a:spcPts val="0"/>
              </a:spcAft>
            </a:pPr>
            <a:r>
              <a:rPr sz="1350" b="1" i="0">
                <a:solidFill>
                  <a:srgbClr val="1F2937"/>
                </a:solidFill>
                <a:latin typeface="Calibri"/>
              </a:rPr>
              <a:t>Comunicar</a:t>
            </a:r>
          </a:p>
        </p:txBody>
      </p:sp>
      <p:sp>
        <p:nvSpPr>
          <p:cNvPr id="57" name="TextBox 56"/>
          <p:cNvSpPr txBox="1"/>
          <p:nvPr/>
        </p:nvSpPr>
        <p:spPr>
          <a:xfrm>
            <a:off x="9988550" y="3625234"/>
            <a:ext cx="1568450" cy="346710"/>
          </a:xfrm>
          <a:prstGeom prst="rect">
            <a:avLst/>
          </a:prstGeom>
          <a:noFill/>
        </p:spPr>
        <p:txBody>
          <a:bodyPr wrap="square" lIns="0" rIns="0" tIns="0" bIns="0" anchor="t"/>
          <a:lstStyle/>
          <a:p>
            <a:pPr algn="l">
              <a:lnSpc>
                <a:spcPts val="1365"/>
              </a:lnSpc>
              <a:spcBef>
                <a:spcPts val="0"/>
              </a:spcBef>
              <a:spcAft>
                <a:spcPts val="0"/>
              </a:spcAft>
            </a:pPr>
            <a:r>
              <a:rPr sz="1050" b="0" i="0">
                <a:solidFill>
                  <a:srgbClr val="3F4A5A"/>
                </a:solidFill>
                <a:latin typeface="Calibri"/>
              </a:rPr>
              <a:t>Este documento, el</a:t>
            </a:r>
            <a:br/>
            <a:r>
              <a:rPr sz="1050" b="0" i="0">
                <a:solidFill>
                  <a:srgbClr val="3F4A5A"/>
                </a:solidFill>
                <a:latin typeface="Calibri"/>
              </a:rPr>
              <a:t>repositorio y el instalador</a:t>
            </a:r>
          </a:p>
        </p:txBody>
      </p:sp>
      <p:sp>
        <p:nvSpPr>
          <p:cNvPr id="58" name="Rounded Rectangle 57"/>
          <p:cNvSpPr/>
          <p:nvPr/>
        </p:nvSpPr>
        <p:spPr>
          <a:xfrm>
            <a:off x="565150" y="5442331"/>
            <a:ext cx="11061700" cy="755269"/>
          </a:xfrm>
          <a:prstGeom prst="roundRect">
            <a:avLst>
              <a:gd name="adj" fmla="val 6726"/>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65150" y="5442331"/>
            <a:ext cx="50800" cy="755269"/>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6450" y="5667489"/>
            <a:ext cx="264922"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61" name="TextBox 60"/>
          <p:cNvSpPr txBox="1"/>
          <p:nvPr/>
        </p:nvSpPr>
        <p:spPr>
          <a:xfrm>
            <a:off x="1160272" y="5562059"/>
            <a:ext cx="10481628" cy="526796"/>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El conocimiento se obtiene construyendo el producto y evaluándolo con rigor [11, p. 75]: una validación de</a:t>
            </a:r>
            <a:br/>
            <a:r>
              <a:rPr sz="1700" b="1" i="0">
                <a:solidFill>
                  <a:srgbClr val="1B2A4A"/>
                </a:solidFill>
                <a:latin typeface="Calibri"/>
              </a:rPr>
              <a:t>laboratorio [25, pp. 30–31].</a:t>
            </a:r>
          </a:p>
        </p:txBody>
      </p:sp>
      <p:sp>
        <p:nvSpPr>
          <p:cNvPr id="62" name="Rectangle 61"/>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5150" y="6535420"/>
            <a:ext cx="530536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65" name="TextBox 64"/>
          <p:cNvSpPr txBox="1"/>
          <p:nvPr/>
        </p:nvSpPr>
        <p:spPr>
          <a:xfrm>
            <a:off x="5741098" y="6535420"/>
            <a:ext cx="70980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Metodología</a:t>
            </a:r>
          </a:p>
        </p:txBody>
      </p:sp>
      <p:sp>
        <p:nvSpPr>
          <p:cNvPr id="66" name="TextBox 65"/>
          <p:cNvSpPr txBox="1"/>
          <p:nvPr/>
        </p:nvSpPr>
        <p:spPr>
          <a:xfrm>
            <a:off x="6321488" y="6535420"/>
            <a:ext cx="530536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9</a:t>
            </a:r>
          </a:p>
        </p:txBody>
      </p:sp>
      <p:sp>
        <p:nvSpPr>
          <p:cNvPr id="67" name="TextBox 66"/>
          <p:cNvSpPr txBox="1"/>
          <p:nvPr/>
        </p:nvSpPr>
        <p:spPr>
          <a:xfrm>
            <a:off x="2338514" y="3578098"/>
            <a:ext cx="125222" cy="215900"/>
          </a:xfrm>
          <a:prstGeom prst="rect">
            <a:avLst/>
          </a:prstGeom>
          <a:noFill/>
        </p:spPr>
        <p:txBody>
          <a:bodyPr wrap="square" lIns="0" rIns="0" tIns="0" bIns="0" anchor="t"/>
          <a:lstStyle/>
          <a:p>
            <a:pPr algn="l">
              <a:lnSpc>
                <a:spcPts val="1700"/>
              </a:lnSpc>
              <a:spcBef>
                <a:spcPts val="0"/>
              </a:spcBef>
              <a:spcAft>
                <a:spcPts val="0"/>
              </a:spcAft>
            </a:pPr>
            <a:r>
              <a:rPr sz="1700" b="1" i="0">
                <a:solidFill>
                  <a:srgbClr val="5B6575"/>
                </a:solidFill>
                <a:latin typeface="Calibri"/>
              </a:rPr>
              <a:t>›</a:t>
            </a:r>
          </a:p>
        </p:txBody>
      </p:sp>
      <p:sp>
        <p:nvSpPr>
          <p:cNvPr id="68" name="TextBox 67"/>
          <p:cNvSpPr txBox="1"/>
          <p:nvPr/>
        </p:nvSpPr>
        <p:spPr>
          <a:xfrm>
            <a:off x="4199064" y="3578098"/>
            <a:ext cx="125222" cy="215900"/>
          </a:xfrm>
          <a:prstGeom prst="rect">
            <a:avLst/>
          </a:prstGeom>
          <a:noFill/>
        </p:spPr>
        <p:txBody>
          <a:bodyPr wrap="square" lIns="0" rIns="0" tIns="0" bIns="0" anchor="t"/>
          <a:lstStyle/>
          <a:p>
            <a:pPr algn="l">
              <a:lnSpc>
                <a:spcPts val="1700"/>
              </a:lnSpc>
              <a:spcBef>
                <a:spcPts val="0"/>
              </a:spcBef>
              <a:spcAft>
                <a:spcPts val="0"/>
              </a:spcAft>
            </a:pPr>
            <a:r>
              <a:rPr sz="1700" b="1" i="0">
                <a:solidFill>
                  <a:srgbClr val="5B6575"/>
                </a:solidFill>
                <a:latin typeface="Calibri"/>
              </a:rPr>
              <a:t>›</a:t>
            </a:r>
          </a:p>
        </p:txBody>
      </p:sp>
      <p:sp>
        <p:nvSpPr>
          <p:cNvPr id="69" name="TextBox 68"/>
          <p:cNvSpPr txBox="1"/>
          <p:nvPr/>
        </p:nvSpPr>
        <p:spPr>
          <a:xfrm>
            <a:off x="6059614" y="3578098"/>
            <a:ext cx="125222" cy="215900"/>
          </a:xfrm>
          <a:prstGeom prst="rect">
            <a:avLst/>
          </a:prstGeom>
          <a:noFill/>
        </p:spPr>
        <p:txBody>
          <a:bodyPr wrap="square" lIns="0" rIns="0" tIns="0" bIns="0" anchor="t"/>
          <a:lstStyle/>
          <a:p>
            <a:pPr algn="l">
              <a:lnSpc>
                <a:spcPts val="1700"/>
              </a:lnSpc>
              <a:spcBef>
                <a:spcPts val="0"/>
              </a:spcBef>
              <a:spcAft>
                <a:spcPts val="0"/>
              </a:spcAft>
            </a:pPr>
            <a:r>
              <a:rPr sz="1700" b="1" i="0">
                <a:solidFill>
                  <a:srgbClr val="5B6575"/>
                </a:solidFill>
                <a:latin typeface="Calibri"/>
              </a:rPr>
              <a:t>›</a:t>
            </a:r>
          </a:p>
        </p:txBody>
      </p:sp>
      <p:sp>
        <p:nvSpPr>
          <p:cNvPr id="70" name="TextBox 69"/>
          <p:cNvSpPr txBox="1"/>
          <p:nvPr/>
        </p:nvSpPr>
        <p:spPr>
          <a:xfrm>
            <a:off x="7920164" y="3578098"/>
            <a:ext cx="125222" cy="215900"/>
          </a:xfrm>
          <a:prstGeom prst="rect">
            <a:avLst/>
          </a:prstGeom>
          <a:noFill/>
        </p:spPr>
        <p:txBody>
          <a:bodyPr wrap="square" lIns="0" rIns="0" tIns="0" bIns="0" anchor="t"/>
          <a:lstStyle/>
          <a:p>
            <a:pPr algn="l">
              <a:lnSpc>
                <a:spcPts val="1700"/>
              </a:lnSpc>
              <a:spcBef>
                <a:spcPts val="0"/>
              </a:spcBef>
              <a:spcAft>
                <a:spcPts val="0"/>
              </a:spcAft>
            </a:pPr>
            <a:r>
              <a:rPr sz="1700" b="1" i="0">
                <a:solidFill>
                  <a:srgbClr val="5B6575"/>
                </a:solidFill>
                <a:latin typeface="Calibri"/>
              </a:rPr>
              <a:t>›</a:t>
            </a:r>
          </a:p>
        </p:txBody>
      </p:sp>
      <p:sp>
        <p:nvSpPr>
          <p:cNvPr id="71" name="TextBox 70"/>
          <p:cNvSpPr txBox="1"/>
          <p:nvPr/>
        </p:nvSpPr>
        <p:spPr>
          <a:xfrm>
            <a:off x="9780714" y="3578098"/>
            <a:ext cx="125222" cy="215900"/>
          </a:xfrm>
          <a:prstGeom prst="rect">
            <a:avLst/>
          </a:prstGeom>
          <a:noFill/>
        </p:spPr>
        <p:txBody>
          <a:bodyPr wrap="square" lIns="0" rIns="0" tIns="0" bIns="0" anchor="t"/>
          <a:lstStyle/>
          <a:p>
            <a:pPr algn="l">
              <a:lnSpc>
                <a:spcPts val="1700"/>
              </a:lnSpc>
              <a:spcBef>
                <a:spcPts val="0"/>
              </a:spcBef>
              <a:spcAft>
                <a:spcPts val="0"/>
              </a:spcAft>
            </a:pPr>
            <a:r>
              <a:rPr sz="1700" b="1" i="0">
                <a:solidFill>
                  <a:srgbClr val="5B6575"/>
                </a:solidFill>
                <a:latin typeface="Calibri"/>
              </a:rPr>
              <a:t>›</a:t>
            </a:r>
          </a:p>
        </p:txBody>
      </p:sp>
      <p:sp>
        <p:nvSpPr>
          <p:cNvPr id="72" name="Enlace a sep-intro">
            <a:hlinkClick action="ppaction://hlinksldjump" r:id="rId2"/>
          </p:cNvPr>
          <p:cNvSpPr/>
          <p:nvPr/>
        </p:nvSpPr>
        <p:spPr>
          <a:xfrm>
            <a:off x="10598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Enlace a sep-teoria">
            <a:hlinkClick action="ppaction://hlinksldjump" r:id="rId3"/>
          </p:cNvPr>
          <p:cNvSpPr/>
          <p:nvPr/>
        </p:nvSpPr>
        <p:spPr>
          <a:xfrm>
            <a:off x="108140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Enlace a sep-diseno">
            <a:hlinkClick action="ppaction://hlinksldjump" r:id="rId4"/>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5" fill="hold">
                      <p:stCondLst>
                        <p:cond delay="indefinite"/>
                        <p:cond evt="onBegin" delay="0">
                          <p:tn val="2"/>
                        </p:cond>
                      </p:stCondLst>
                      <p:childTnLst>
                        <p:par>
                          <p:cTn id="166"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23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23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34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34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childTnLst>
                          </p:cTn>
                        </p:par>
                      </p:childTnLst>
                    </p:cTn>
                  </p:par>
                  <p:par>
                    <p:cTn id="167" fill="hold">
                      <p:stCondLst>
                        <p:cond delay="indefinite"/>
                      </p:stCondLst>
                      <p:childTnLst>
                        <p:par>
                          <p:cTn id="16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00"/>
                                        <p:tgtEl>
                                          <p:spTgt spid="4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00"/>
                                        <p:tgtEl>
                                          <p:spTgt spid="4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400"/>
                                        <p:tgtEl>
                                          <p:spTgt spid="4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400"/>
                                        <p:tgtEl>
                                          <p:spTgt spid="4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400"/>
                                        <p:tgtEl>
                                          <p:spTgt spid="4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400"/>
                                        <p:tgtEl>
                                          <p:spTgt spid="4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400"/>
                                        <p:tgtEl>
                                          <p:spTgt spid="4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400"/>
                                        <p:tgtEl>
                                          <p:spTgt spid="4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0"/>
                                        </p:tgtEl>
                                        <p:attrNameLst>
                                          <p:attrName>style.visibility</p:attrName>
                                        </p:attrNameLst>
                                      </p:cBhvr>
                                      <p:to>
                                        <p:strVal val="visible"/>
                                      </p:to>
                                    </p:set>
                                    <p:animEffect transition="in" filter="fade">
                                      <p:cBhvr>
                                        <p:cTn id="116" dur="400"/>
                                        <p:tgtEl>
                                          <p:spTgt spid="50"/>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1"/>
                                        </p:tgtEl>
                                        <p:attrNameLst>
                                          <p:attrName>style.visibility</p:attrName>
                                        </p:attrNameLst>
                                      </p:cBhvr>
                                      <p:to>
                                        <p:strVal val="visible"/>
                                      </p:to>
                                    </p:set>
                                    <p:animEffect transition="in" filter="fade">
                                      <p:cBhvr>
                                        <p:cTn id="119" dur="400"/>
                                        <p:tgtEl>
                                          <p:spTgt spid="51"/>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2"/>
                                        </p:tgtEl>
                                        <p:attrNameLst>
                                          <p:attrName>style.visibility</p:attrName>
                                        </p:attrNameLst>
                                      </p:cBhvr>
                                      <p:to>
                                        <p:strVal val="visible"/>
                                      </p:to>
                                    </p:set>
                                    <p:animEffect transition="in" filter="fade">
                                      <p:cBhvr>
                                        <p:cTn id="122" dur="400"/>
                                        <p:tgtEl>
                                          <p:spTgt spid="52"/>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3"/>
                                        </p:tgtEl>
                                        <p:attrNameLst>
                                          <p:attrName>style.visibility</p:attrName>
                                        </p:attrNameLst>
                                      </p:cBhvr>
                                      <p:to>
                                        <p:strVal val="visible"/>
                                      </p:to>
                                    </p:set>
                                    <p:animEffect transition="in" filter="fade">
                                      <p:cBhvr>
                                        <p:cTn id="125" dur="400"/>
                                        <p:tgtEl>
                                          <p:spTgt spid="53"/>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4"/>
                                        </p:tgtEl>
                                        <p:attrNameLst>
                                          <p:attrName>style.visibility</p:attrName>
                                        </p:attrNameLst>
                                      </p:cBhvr>
                                      <p:to>
                                        <p:strVal val="visible"/>
                                      </p:to>
                                    </p:set>
                                    <p:animEffect transition="in" filter="fade">
                                      <p:cBhvr>
                                        <p:cTn id="128" dur="400"/>
                                        <p:tgtEl>
                                          <p:spTgt spid="54"/>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5"/>
                                        </p:tgtEl>
                                        <p:attrNameLst>
                                          <p:attrName>style.visibility</p:attrName>
                                        </p:attrNameLst>
                                      </p:cBhvr>
                                      <p:to>
                                        <p:strVal val="visible"/>
                                      </p:to>
                                    </p:set>
                                    <p:animEffect transition="in" filter="fade">
                                      <p:cBhvr>
                                        <p:cTn id="131" dur="400"/>
                                        <p:tgtEl>
                                          <p:spTgt spid="55"/>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6"/>
                                        </p:tgtEl>
                                        <p:attrNameLst>
                                          <p:attrName>style.visibility</p:attrName>
                                        </p:attrNameLst>
                                      </p:cBhvr>
                                      <p:to>
                                        <p:strVal val="visible"/>
                                      </p:to>
                                    </p:set>
                                    <p:animEffect transition="in" filter="fade">
                                      <p:cBhvr>
                                        <p:cTn id="134" dur="400"/>
                                        <p:tgtEl>
                                          <p:spTgt spid="56"/>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7"/>
                                        </p:tgtEl>
                                        <p:attrNameLst>
                                          <p:attrName>style.visibility</p:attrName>
                                        </p:attrNameLst>
                                      </p:cBhvr>
                                      <p:to>
                                        <p:strVal val="visible"/>
                                      </p:to>
                                    </p:set>
                                    <p:animEffect transition="in" filter="fade">
                                      <p:cBhvr>
                                        <p:cTn id="137" dur="400"/>
                                        <p:tgtEl>
                                          <p:spTgt spid="57"/>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67"/>
                                        </p:tgtEl>
                                        <p:attrNameLst>
                                          <p:attrName>style.visibility</p:attrName>
                                        </p:attrNameLst>
                                      </p:cBhvr>
                                      <p:to>
                                        <p:strVal val="visible"/>
                                      </p:to>
                                    </p:set>
                                    <p:animEffect transition="in" filter="fade">
                                      <p:cBhvr>
                                        <p:cTn id="140" dur="400"/>
                                        <p:tgtEl>
                                          <p:spTgt spid="67"/>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68"/>
                                        </p:tgtEl>
                                        <p:attrNameLst>
                                          <p:attrName>style.visibility</p:attrName>
                                        </p:attrNameLst>
                                      </p:cBhvr>
                                      <p:to>
                                        <p:strVal val="visible"/>
                                      </p:to>
                                    </p:set>
                                    <p:animEffect transition="in" filter="fade">
                                      <p:cBhvr>
                                        <p:cTn id="143" dur="400"/>
                                        <p:tgtEl>
                                          <p:spTgt spid="68"/>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69"/>
                                        </p:tgtEl>
                                        <p:attrNameLst>
                                          <p:attrName>style.visibility</p:attrName>
                                        </p:attrNameLst>
                                      </p:cBhvr>
                                      <p:to>
                                        <p:strVal val="visible"/>
                                      </p:to>
                                    </p:set>
                                    <p:animEffect transition="in" filter="fade">
                                      <p:cBhvr>
                                        <p:cTn id="146" dur="400"/>
                                        <p:tgtEl>
                                          <p:spTgt spid="69"/>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70"/>
                                        </p:tgtEl>
                                        <p:attrNameLst>
                                          <p:attrName>style.visibility</p:attrName>
                                        </p:attrNameLst>
                                      </p:cBhvr>
                                      <p:to>
                                        <p:strVal val="visible"/>
                                      </p:to>
                                    </p:set>
                                    <p:animEffect transition="in" filter="fade">
                                      <p:cBhvr>
                                        <p:cTn id="149" dur="400"/>
                                        <p:tgtEl>
                                          <p:spTgt spid="70"/>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71"/>
                                        </p:tgtEl>
                                        <p:attrNameLst>
                                          <p:attrName>style.visibility</p:attrName>
                                        </p:attrNameLst>
                                      </p:cBhvr>
                                      <p:to>
                                        <p:strVal val="visible"/>
                                      </p:to>
                                    </p:set>
                                    <p:animEffect transition="in" filter="fade">
                                      <p:cBhvr>
                                        <p:cTn id="152" dur="400"/>
                                        <p:tgtEl>
                                          <p:spTgt spid="71"/>
                                        </p:tgtEl>
                                      </p:cBhvr>
                                    </p:animEffect>
                                  </p:childTnLst>
                                </p:cTn>
                              </p:par>
                            </p:childTnLst>
                          </p:cTn>
                        </p:par>
                      </p:childTnLst>
                    </p:cTn>
                  </p:par>
                  <p:par>
                    <p:cTn id="169" fill="hold">
                      <p:stCondLst>
                        <p:cond delay="indefinite"/>
                      </p:stCondLst>
                      <p:childTnLst>
                        <p:par>
                          <p:cTn id="170"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58"/>
                                        </p:tgtEl>
                                        <p:attrNameLst>
                                          <p:attrName>style.visibility</p:attrName>
                                        </p:attrNameLst>
                                      </p:cBhvr>
                                      <p:to>
                                        <p:strVal val="visible"/>
                                      </p:to>
                                    </p:set>
                                    <p:animEffect transition="in" filter="fade">
                                      <p:cBhvr>
                                        <p:cTn id="155" dur="400"/>
                                        <p:tgtEl>
                                          <p:spTgt spid="58"/>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9"/>
                                        </p:tgtEl>
                                        <p:attrNameLst>
                                          <p:attrName>style.visibility</p:attrName>
                                        </p:attrNameLst>
                                      </p:cBhvr>
                                      <p:to>
                                        <p:strVal val="visible"/>
                                      </p:to>
                                    </p:set>
                                    <p:animEffect transition="in" filter="fade">
                                      <p:cBhvr>
                                        <p:cTn id="158" dur="400"/>
                                        <p:tgtEl>
                                          <p:spTgt spid="59"/>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60"/>
                                        </p:tgtEl>
                                        <p:attrNameLst>
                                          <p:attrName>style.visibility</p:attrName>
                                        </p:attrNameLst>
                                      </p:cBhvr>
                                      <p:to>
                                        <p:strVal val="visible"/>
                                      </p:to>
                                    </p:set>
                                    <p:animEffect transition="in" filter="fade">
                                      <p:cBhvr>
                                        <p:cTn id="161" dur="400"/>
                                        <p:tgtEl>
                                          <p:spTgt spid="60"/>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61"/>
                                        </p:tgtEl>
                                        <p:attrNameLst>
                                          <p:attrName>style.visibility</p:attrName>
                                        </p:attrNameLst>
                                      </p:cBhvr>
                                      <p:to>
                                        <p:strVal val="visible"/>
                                      </p:to>
                                    </p:set>
                                    <p:animEffect transition="in" filter="fade">
                                      <p:cBhvr>
                                        <p:cTn id="164"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7" grpId="0" animBg="1"/>
      <p:bldP spid="68" grpId="0" animBg="1"/>
      <p:bldP spid="69" grpId="0" animBg="1"/>
      <p:bldP spid="70" grpId="0" animBg="1"/>
      <p:bldP spid="71"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Picture 1"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52500" y="2117280"/>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02</a:t>
            </a:r>
          </a:p>
        </p:txBody>
      </p:sp>
      <p:sp>
        <p:nvSpPr>
          <p:cNvPr id="4" name="Rectangle 3"/>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Base teórica</a:t>
            </a:r>
          </a:p>
        </p:txBody>
      </p:sp>
      <p:sp>
        <p:nvSpPr>
          <p:cNvPr id="7" name="Rectangle 6"/>
          <p:cNvSpPr/>
          <p:nvPr/>
        </p:nvSpPr>
        <p:spPr>
          <a:xfrm>
            <a:off x="3111500" y="2567876"/>
            <a:ext cx="8128000" cy="8685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11500" y="2567876"/>
            <a:ext cx="38100" cy="868553"/>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5200" y="2731668"/>
            <a:ext cx="7888986" cy="62738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El estado del arte y la brecha, los principios que orientan la exposición y los</a:t>
            </a:r>
            <a:br/>
            <a:r>
              <a:rPr sz="1900" b="0" i="0">
                <a:solidFill>
                  <a:srgbClr val="C7D2E8"/>
                </a:solidFill>
                <a:latin typeface="Calibri"/>
              </a:rPr>
              <a:t>fundamentos del MEF que el motor implementa.</a:t>
            </a:r>
          </a:p>
        </p:txBody>
      </p:sp>
      <p:sp>
        <p:nvSpPr>
          <p:cNvPr id="10" name="Rounded Rectangle 9"/>
          <p:cNvSpPr/>
          <p:nvPr/>
        </p:nvSpPr>
        <p:spPr>
          <a:xfrm>
            <a:off x="95567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96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01</a:t>
            </a:r>
            <a:br/>
            <a:r>
              <a:rPr sz="1100" b="0" i="0">
                <a:solidFill>
                  <a:srgbClr val="E6ECF7"/>
                </a:solidFill>
                <a:latin typeface="Calibri"/>
              </a:rPr>
              <a:t>Introducción</a:t>
            </a:r>
          </a:p>
        </p:txBody>
      </p:sp>
      <p:sp>
        <p:nvSpPr>
          <p:cNvPr id="12" name="Rounded Rectangle 11"/>
          <p:cNvSpPr/>
          <p:nvPr/>
        </p:nvSpPr>
        <p:spPr>
          <a:xfrm>
            <a:off x="2686050" y="5671947"/>
            <a:ext cx="1619250" cy="576453"/>
          </a:xfrm>
          <a:prstGeom prst="roundRect">
            <a:avLst>
              <a:gd name="adj" fmla="val 11015"/>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02</a:t>
            </a:r>
            <a:br/>
            <a:r>
              <a:rPr sz="1100" b="1" i="0">
                <a:solidFill>
                  <a:srgbClr val="FFFFFF"/>
                </a:solidFill>
                <a:latin typeface="Calibri"/>
              </a:rPr>
              <a:t>Base teórica</a:t>
            </a:r>
          </a:p>
        </p:txBody>
      </p:sp>
      <p:sp>
        <p:nvSpPr>
          <p:cNvPr id="14" name="Rounded Rectangle 13"/>
          <p:cNvSpPr/>
          <p:nvPr/>
        </p:nvSpPr>
        <p:spPr>
          <a:xfrm>
            <a:off x="442277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67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03</a:t>
            </a:r>
            <a:br/>
            <a:r>
              <a:rPr sz="1100" b="0" i="0">
                <a:solidFill>
                  <a:srgbClr val="C7D2E8"/>
                </a:solidFill>
                <a:latin typeface="Calibri"/>
              </a:rPr>
              <a:t>Diseño y desarrollo</a:t>
            </a:r>
          </a:p>
        </p:txBody>
      </p:sp>
      <p:sp>
        <p:nvSpPr>
          <p:cNvPr id="16" name="Rounded Rectangle 15"/>
          <p:cNvSpPr/>
          <p:nvPr/>
        </p:nvSpPr>
        <p:spPr>
          <a:xfrm>
            <a:off x="615632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03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04</a:t>
            </a:r>
            <a:br/>
            <a:r>
              <a:rPr sz="1100" b="0" i="0">
                <a:solidFill>
                  <a:srgbClr val="C7D2E8"/>
                </a:solidFill>
                <a:latin typeface="Calibri"/>
              </a:rPr>
              <a:t>Resultados</a:t>
            </a:r>
          </a:p>
        </p:txBody>
      </p:sp>
      <p:sp>
        <p:nvSpPr>
          <p:cNvPr id="18" name="Rounded Rectangle 17"/>
          <p:cNvSpPr/>
          <p:nvPr/>
        </p:nvSpPr>
        <p:spPr>
          <a:xfrm>
            <a:off x="788987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438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05</a:t>
            </a:r>
            <a:br/>
            <a:r>
              <a:rPr sz="1100" b="0" i="0">
                <a:solidFill>
                  <a:srgbClr val="C7D2E8"/>
                </a:solidFill>
                <a:latin typeface="Calibri"/>
              </a:rPr>
              <a:t>Análisis</a:t>
            </a:r>
          </a:p>
        </p:txBody>
      </p:sp>
      <p:sp>
        <p:nvSpPr>
          <p:cNvPr id="20" name="Rounded Rectangle 19"/>
          <p:cNvSpPr/>
          <p:nvPr/>
        </p:nvSpPr>
        <p:spPr>
          <a:xfrm>
            <a:off x="962342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774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06</a:t>
            </a:r>
            <a:br/>
            <a:r>
              <a:rPr sz="1100" b="0" i="0">
                <a:solidFill>
                  <a:srgbClr val="C7D2E8"/>
                </a:solidFill>
                <a:latin typeface="Calibri"/>
              </a:rPr>
              <a:t>Conclusiones</a:t>
            </a:r>
          </a:p>
        </p:txBody>
      </p:sp>
      <p:sp>
        <p:nvSpPr>
          <p:cNvPr id="22" name="Enlace a sep-intro">
            <a:hlinkClick action="ppaction://hlinksldjump" r:id="rId3"/>
          </p:cNvPr>
          <p:cNvSpPr/>
          <p:nvPr/>
        </p:nvSpPr>
        <p:spPr>
          <a:xfrm>
            <a:off x="9525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nlace a sep-teoria">
            <a:hlinkClick action="ppaction://hlinksldjump" r:id="rId4"/>
          </p:cNvPr>
          <p:cNvSpPr/>
          <p:nvPr/>
        </p:nvSpPr>
        <p:spPr>
          <a:xfrm>
            <a:off x="26860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nlace a sep-diseno">
            <a:hlinkClick action="ppaction://hlinksldjump" r:id="rId5"/>
          </p:cNvPr>
          <p:cNvSpPr/>
          <p:nvPr/>
        </p:nvSpPr>
        <p:spPr>
          <a:xfrm>
            <a:off x="44196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nlace a sep-resultados">
            <a:hlinkClick action="ppaction://hlinksldjump" r:id="rId6"/>
          </p:cNvPr>
          <p:cNvSpPr/>
          <p:nvPr/>
        </p:nvSpPr>
        <p:spPr>
          <a:xfrm>
            <a:off x="61531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nlace a sep-analisis">
            <a:hlinkClick action="ppaction://hlinksldjump" r:id="rId7"/>
          </p:cNvPr>
          <p:cNvSpPr/>
          <p:nvPr/>
        </p:nvSpPr>
        <p:spPr>
          <a:xfrm>
            <a:off x="78867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nlace a sep-conclusiones">
            <a:hlinkClick action="ppaction://hlinksldjump" r:id="rId8"/>
          </p:cNvPr>
          <p:cNvSpPr/>
          <p:nvPr/>
        </p:nvSpPr>
        <p:spPr>
          <a:xfrm>
            <a:off x="96202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2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2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5" presetID="10" presetClass="entr" presetSubtype="0" fill="hold" grpId="0" nodeType="withEffect">
                                  <p:stCondLst>
                                    <p:cond delay="34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34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4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4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45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4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45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45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45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Ningún recurso revisado reúne los ocho atributos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08250" y="1416799"/>
            <a:ext cx="1435100" cy="160655"/>
          </a:xfrm>
          <a:prstGeom prst="rect">
            <a:avLst/>
          </a:prstGeom>
          <a:noFill/>
        </p:spPr>
        <p:txBody>
          <a:bodyPr wrap="square" lIns="0" rIns="0" tIns="0" bIns="0" anchor="t"/>
          <a:lstStyle/>
          <a:p>
            <a:pPr algn="ctr">
              <a:lnSpc>
                <a:spcPts val="1265"/>
              </a:lnSpc>
              <a:spcBef>
                <a:spcPts val="0"/>
              </a:spcBef>
              <a:spcAft>
                <a:spcPts val="0"/>
              </a:spcAft>
            </a:pPr>
            <a:r>
              <a:rPr sz="1100" b="1" i="0">
                <a:solidFill>
                  <a:srgbClr val="1B2A4A"/>
                </a:solidFill>
                <a:latin typeface="Calibri"/>
              </a:rPr>
              <a:t>ED-Elas2D</a:t>
            </a:r>
          </a:p>
        </p:txBody>
      </p:sp>
      <p:sp>
        <p:nvSpPr>
          <p:cNvPr id="14" name="TextBox 13"/>
          <p:cNvSpPr txBox="1"/>
          <p:nvPr/>
        </p:nvSpPr>
        <p:spPr>
          <a:xfrm>
            <a:off x="2508250" y="1600473"/>
            <a:ext cx="1435100" cy="124142"/>
          </a:xfrm>
          <a:prstGeom prst="rect">
            <a:avLst/>
          </a:prstGeom>
          <a:noFill/>
        </p:spPr>
        <p:txBody>
          <a:bodyPr wrap="square" lIns="0" rIns="0" tIns="0" bIns="0" anchor="t"/>
          <a:lstStyle/>
          <a:p>
            <a:pPr algn="ctr">
              <a:lnSpc>
                <a:spcPts val="978"/>
              </a:lnSpc>
              <a:spcBef>
                <a:spcPts val="0"/>
              </a:spcBef>
              <a:spcAft>
                <a:spcPts val="0"/>
              </a:spcAft>
            </a:pPr>
            <a:r>
              <a:rPr sz="850" b="1" i="0">
                <a:solidFill>
                  <a:srgbClr val="5B6575"/>
                </a:solidFill>
                <a:latin typeface="Calibri"/>
              </a:rPr>
              <a:t>[6] · 1998</a:t>
            </a:r>
          </a:p>
        </p:txBody>
      </p:sp>
      <p:sp>
        <p:nvSpPr>
          <p:cNvPr id="15" name="TextBox 14"/>
          <p:cNvSpPr txBox="1"/>
          <p:nvPr/>
        </p:nvSpPr>
        <p:spPr>
          <a:xfrm>
            <a:off x="4032250" y="1416799"/>
            <a:ext cx="1435100" cy="160655"/>
          </a:xfrm>
          <a:prstGeom prst="rect">
            <a:avLst/>
          </a:prstGeom>
          <a:noFill/>
        </p:spPr>
        <p:txBody>
          <a:bodyPr wrap="square" lIns="0" rIns="0" tIns="0" bIns="0" anchor="t"/>
          <a:lstStyle/>
          <a:p>
            <a:pPr algn="ctr">
              <a:lnSpc>
                <a:spcPts val="1265"/>
              </a:lnSpc>
              <a:spcBef>
                <a:spcPts val="0"/>
              </a:spcBef>
              <a:spcAft>
                <a:spcPts val="0"/>
              </a:spcAft>
            </a:pPr>
            <a:r>
              <a:rPr sz="1100" b="1" i="0">
                <a:solidFill>
                  <a:srgbClr val="1B2A4A"/>
                </a:solidFill>
                <a:latin typeface="Calibri"/>
              </a:rPr>
              <a:t>Analizador de cerchas</a:t>
            </a:r>
          </a:p>
        </p:txBody>
      </p:sp>
      <p:sp>
        <p:nvSpPr>
          <p:cNvPr id="16" name="TextBox 15"/>
          <p:cNvSpPr txBox="1"/>
          <p:nvPr/>
        </p:nvSpPr>
        <p:spPr>
          <a:xfrm>
            <a:off x="4032250" y="1600473"/>
            <a:ext cx="1435100" cy="124142"/>
          </a:xfrm>
          <a:prstGeom prst="rect">
            <a:avLst/>
          </a:prstGeom>
          <a:noFill/>
        </p:spPr>
        <p:txBody>
          <a:bodyPr wrap="square" lIns="0" rIns="0" tIns="0" bIns="0" anchor="t"/>
          <a:lstStyle/>
          <a:p>
            <a:pPr algn="ctr">
              <a:lnSpc>
                <a:spcPts val="978"/>
              </a:lnSpc>
              <a:spcBef>
                <a:spcPts val="0"/>
              </a:spcBef>
              <a:spcAft>
                <a:spcPts val="0"/>
              </a:spcAft>
            </a:pPr>
            <a:r>
              <a:rPr sz="850" b="1" i="0">
                <a:solidFill>
                  <a:srgbClr val="5B6575"/>
                </a:solidFill>
                <a:latin typeface="Calibri"/>
              </a:rPr>
              <a:t>[16]</a:t>
            </a:r>
          </a:p>
        </p:txBody>
      </p:sp>
      <p:sp>
        <p:nvSpPr>
          <p:cNvPr id="17" name="TextBox 16"/>
          <p:cNvSpPr txBox="1"/>
          <p:nvPr/>
        </p:nvSpPr>
        <p:spPr>
          <a:xfrm>
            <a:off x="5556250" y="1416799"/>
            <a:ext cx="1435100" cy="160655"/>
          </a:xfrm>
          <a:prstGeom prst="rect">
            <a:avLst/>
          </a:prstGeom>
          <a:noFill/>
        </p:spPr>
        <p:txBody>
          <a:bodyPr wrap="square" lIns="0" rIns="0" tIns="0" bIns="0" anchor="t"/>
          <a:lstStyle/>
          <a:p>
            <a:pPr algn="ctr">
              <a:lnSpc>
                <a:spcPts val="1265"/>
              </a:lnSpc>
              <a:spcBef>
                <a:spcPts val="0"/>
              </a:spcBef>
              <a:spcAft>
                <a:spcPts val="0"/>
              </a:spcAft>
            </a:pPr>
            <a:r>
              <a:rPr sz="1100" b="1" i="0">
                <a:solidFill>
                  <a:srgbClr val="1B2A4A"/>
                </a:solidFill>
                <a:latin typeface="Calibri"/>
              </a:rPr>
              <a:t>VisualFEA</a:t>
            </a:r>
          </a:p>
        </p:txBody>
      </p:sp>
      <p:sp>
        <p:nvSpPr>
          <p:cNvPr id="18" name="TextBox 17"/>
          <p:cNvSpPr txBox="1"/>
          <p:nvPr/>
        </p:nvSpPr>
        <p:spPr>
          <a:xfrm>
            <a:off x="5556250" y="1600473"/>
            <a:ext cx="1435100" cy="124142"/>
          </a:xfrm>
          <a:prstGeom prst="rect">
            <a:avLst/>
          </a:prstGeom>
          <a:noFill/>
        </p:spPr>
        <p:txBody>
          <a:bodyPr wrap="square" lIns="0" rIns="0" tIns="0" bIns="0" anchor="t"/>
          <a:lstStyle/>
          <a:p>
            <a:pPr algn="ctr">
              <a:lnSpc>
                <a:spcPts val="978"/>
              </a:lnSpc>
              <a:spcBef>
                <a:spcPts val="0"/>
              </a:spcBef>
              <a:spcAft>
                <a:spcPts val="0"/>
              </a:spcAft>
            </a:pPr>
            <a:r>
              <a:rPr sz="850" b="1" i="0">
                <a:solidFill>
                  <a:srgbClr val="5B6575"/>
                </a:solidFill>
                <a:latin typeface="Calibri"/>
              </a:rPr>
              <a:t>simuladores [17, 18]</a:t>
            </a:r>
          </a:p>
        </p:txBody>
      </p:sp>
      <p:sp>
        <p:nvSpPr>
          <p:cNvPr id="19" name="TextBox 18"/>
          <p:cNvSpPr txBox="1"/>
          <p:nvPr/>
        </p:nvSpPr>
        <p:spPr>
          <a:xfrm>
            <a:off x="7080250" y="1416799"/>
            <a:ext cx="1435100" cy="160655"/>
          </a:xfrm>
          <a:prstGeom prst="rect">
            <a:avLst/>
          </a:prstGeom>
          <a:noFill/>
        </p:spPr>
        <p:txBody>
          <a:bodyPr wrap="square" lIns="0" rIns="0" tIns="0" bIns="0" anchor="t"/>
          <a:lstStyle/>
          <a:p>
            <a:pPr algn="ctr">
              <a:lnSpc>
                <a:spcPts val="1265"/>
              </a:lnSpc>
              <a:spcBef>
                <a:spcPts val="0"/>
              </a:spcBef>
              <a:spcAft>
                <a:spcPts val="0"/>
              </a:spcAft>
            </a:pPr>
            <a:r>
              <a:rPr sz="1100" b="1" i="0">
                <a:solidFill>
                  <a:srgbClr val="1B2A4A"/>
                </a:solidFill>
                <a:latin typeface="Calibri"/>
              </a:rPr>
              <a:t>Bibliotecas</a:t>
            </a:r>
          </a:p>
        </p:txBody>
      </p:sp>
      <p:sp>
        <p:nvSpPr>
          <p:cNvPr id="20" name="TextBox 19"/>
          <p:cNvSpPr txBox="1"/>
          <p:nvPr/>
        </p:nvSpPr>
        <p:spPr>
          <a:xfrm>
            <a:off x="7080250" y="1600473"/>
            <a:ext cx="1435100" cy="124142"/>
          </a:xfrm>
          <a:prstGeom prst="rect">
            <a:avLst/>
          </a:prstGeom>
          <a:noFill/>
        </p:spPr>
        <p:txBody>
          <a:bodyPr wrap="square" lIns="0" rIns="0" tIns="0" bIns="0" anchor="t"/>
          <a:lstStyle/>
          <a:p>
            <a:pPr algn="ctr">
              <a:lnSpc>
                <a:spcPts val="978"/>
              </a:lnSpc>
              <a:spcBef>
                <a:spcPts val="0"/>
              </a:spcBef>
              <a:spcAft>
                <a:spcPts val="0"/>
              </a:spcAft>
            </a:pPr>
            <a:r>
              <a:rPr sz="850" b="1" i="0">
                <a:solidFill>
                  <a:srgbClr val="5B6575"/>
                </a:solidFill>
                <a:latin typeface="Calibri"/>
              </a:rPr>
              <a:t>CALFEM, FEniCS</a:t>
            </a:r>
          </a:p>
        </p:txBody>
      </p:sp>
      <p:sp>
        <p:nvSpPr>
          <p:cNvPr id="21" name="TextBox 20"/>
          <p:cNvSpPr txBox="1"/>
          <p:nvPr/>
        </p:nvSpPr>
        <p:spPr>
          <a:xfrm>
            <a:off x="8604250" y="1416799"/>
            <a:ext cx="1435100" cy="160655"/>
          </a:xfrm>
          <a:prstGeom prst="rect">
            <a:avLst/>
          </a:prstGeom>
          <a:noFill/>
        </p:spPr>
        <p:txBody>
          <a:bodyPr wrap="square" lIns="0" rIns="0" tIns="0" bIns="0" anchor="t"/>
          <a:lstStyle/>
          <a:p>
            <a:pPr algn="ctr">
              <a:lnSpc>
                <a:spcPts val="1265"/>
              </a:lnSpc>
              <a:spcBef>
                <a:spcPts val="0"/>
              </a:spcBef>
              <a:spcAft>
                <a:spcPts val="0"/>
              </a:spcAft>
            </a:pPr>
            <a:r>
              <a:rPr sz="1100" b="1" i="0">
                <a:solidFill>
                  <a:srgbClr val="1B2A4A"/>
                </a:solidFill>
                <a:latin typeface="Calibri"/>
              </a:rPr>
              <a:t>Software comercial</a:t>
            </a:r>
          </a:p>
        </p:txBody>
      </p:sp>
      <p:sp>
        <p:nvSpPr>
          <p:cNvPr id="22" name="TextBox 21"/>
          <p:cNvSpPr txBox="1"/>
          <p:nvPr/>
        </p:nvSpPr>
        <p:spPr>
          <a:xfrm>
            <a:off x="8604250" y="1600473"/>
            <a:ext cx="1435100" cy="124142"/>
          </a:xfrm>
          <a:prstGeom prst="rect">
            <a:avLst/>
          </a:prstGeom>
          <a:noFill/>
        </p:spPr>
        <p:txBody>
          <a:bodyPr wrap="square" lIns="0" rIns="0" tIns="0" bIns="0" anchor="t"/>
          <a:lstStyle/>
          <a:p>
            <a:pPr algn="ctr">
              <a:lnSpc>
                <a:spcPts val="978"/>
              </a:lnSpc>
              <a:spcBef>
                <a:spcPts val="0"/>
              </a:spcBef>
              <a:spcAft>
                <a:spcPts val="0"/>
              </a:spcAft>
            </a:pPr>
            <a:r>
              <a:rPr sz="850" b="1" i="0">
                <a:solidFill>
                  <a:srgbClr val="5B6575"/>
                </a:solidFill>
                <a:latin typeface="Calibri"/>
              </a:rPr>
              <a:t>SAP2000 [19], ANSYS</a:t>
            </a:r>
          </a:p>
        </p:txBody>
      </p:sp>
      <p:sp>
        <p:nvSpPr>
          <p:cNvPr id="23" name="TextBox 22"/>
          <p:cNvSpPr txBox="1"/>
          <p:nvPr/>
        </p:nvSpPr>
        <p:spPr>
          <a:xfrm>
            <a:off x="10128250" y="1383754"/>
            <a:ext cx="1435100" cy="189865"/>
          </a:xfrm>
          <a:prstGeom prst="rect">
            <a:avLst/>
          </a:prstGeom>
          <a:noFill/>
        </p:spPr>
        <p:txBody>
          <a:bodyPr wrap="square" lIns="0" rIns="0" tIns="0" bIns="0" anchor="t"/>
          <a:lstStyle/>
          <a:p>
            <a:pPr algn="ctr">
              <a:lnSpc>
                <a:spcPts val="1495"/>
              </a:lnSpc>
              <a:spcBef>
                <a:spcPts val="0"/>
              </a:spcBef>
              <a:spcAft>
                <a:spcPts val="0"/>
              </a:spcAft>
            </a:pPr>
            <a:r>
              <a:rPr sz="1300" b="1" i="0">
                <a:solidFill>
                  <a:srgbClr val="E8741A"/>
                </a:solidFill>
                <a:latin typeface="Calibri"/>
              </a:rPr>
              <a:t>EduFEM</a:t>
            </a:r>
          </a:p>
        </p:txBody>
      </p:sp>
      <p:sp>
        <p:nvSpPr>
          <p:cNvPr id="24" name="TextBox 23"/>
          <p:cNvSpPr txBox="1"/>
          <p:nvPr/>
        </p:nvSpPr>
        <p:spPr>
          <a:xfrm>
            <a:off x="10128250" y="1600473"/>
            <a:ext cx="1435100" cy="124142"/>
          </a:xfrm>
          <a:prstGeom prst="rect">
            <a:avLst/>
          </a:prstGeom>
          <a:noFill/>
        </p:spPr>
        <p:txBody>
          <a:bodyPr wrap="square" lIns="0" rIns="0" tIns="0" bIns="0" anchor="t"/>
          <a:lstStyle/>
          <a:p>
            <a:pPr algn="ctr">
              <a:lnSpc>
                <a:spcPts val="978"/>
              </a:lnSpc>
              <a:spcBef>
                <a:spcPts val="0"/>
              </a:spcBef>
              <a:spcAft>
                <a:spcPts val="0"/>
              </a:spcAft>
            </a:pPr>
            <a:r>
              <a:rPr sz="850" b="1" i="0">
                <a:solidFill>
                  <a:srgbClr val="5B6575"/>
                </a:solidFill>
                <a:latin typeface="Calibri"/>
              </a:rPr>
              <a:t>esta tesis</a:t>
            </a:r>
          </a:p>
        </p:txBody>
      </p:sp>
      <p:sp>
        <p:nvSpPr>
          <p:cNvPr id="25" name="TextBox 24"/>
          <p:cNvSpPr txBox="1"/>
          <p:nvPr/>
        </p:nvSpPr>
        <p:spPr>
          <a:xfrm>
            <a:off x="603250" y="1935564"/>
            <a:ext cx="1828800" cy="179832"/>
          </a:xfrm>
          <a:prstGeom prst="rect">
            <a:avLst/>
          </a:prstGeom>
          <a:noFill/>
        </p:spPr>
        <p:txBody>
          <a:bodyPr wrap="square" lIns="0" rIns="0" tIns="0" bIns="0" anchor="t"/>
          <a:lstStyle/>
          <a:p>
            <a:pPr algn="l">
              <a:lnSpc>
                <a:spcPts val="1416"/>
              </a:lnSpc>
              <a:spcBef>
                <a:spcPts val="0"/>
              </a:spcBef>
              <a:spcAft>
                <a:spcPts val="0"/>
              </a:spcAft>
            </a:pPr>
            <a:r>
              <a:rPr sz="1200" b="1" i="0">
                <a:solidFill>
                  <a:srgbClr val="1F2937"/>
                </a:solidFill>
                <a:latin typeface="Calibri"/>
              </a:rPr>
              <a:t>1 · Interfaz en español</a:t>
            </a:r>
          </a:p>
        </p:txBody>
      </p:sp>
      <p:sp>
        <p:nvSpPr>
          <p:cNvPr id="26" name="Rounded Rectangle 25"/>
          <p:cNvSpPr/>
          <p:nvPr/>
        </p:nvSpPr>
        <p:spPr>
          <a:xfrm>
            <a:off x="2482850" y="1822640"/>
            <a:ext cx="1485900" cy="401256"/>
          </a:xfrm>
          <a:prstGeom prst="roundRect">
            <a:avLst>
              <a:gd name="adj" fmla="val 158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20950" y="1873669"/>
            <a:ext cx="1409700" cy="299720"/>
          </a:xfrm>
          <a:prstGeom prst="rect">
            <a:avLst/>
          </a:prstGeom>
          <a:noFill/>
        </p:spPr>
        <p:txBody>
          <a:bodyPr wrap="square" lIns="0" rIns="0" tIns="0" bIns="0" anchor="t"/>
          <a:lstStyle/>
          <a:p>
            <a:pPr algn="ctr">
              <a:lnSpc>
                <a:spcPts val="1180"/>
              </a:lnSpc>
              <a:spcBef>
                <a:spcPts val="0"/>
              </a:spcBef>
              <a:spcAft>
                <a:spcPts val="0"/>
              </a:spcAft>
            </a:pPr>
            <a:r>
              <a:rPr sz="1000" b="0" i="1">
                <a:solidFill>
                  <a:srgbClr val="5B6575"/>
                </a:solidFill>
                <a:latin typeface="Calibri"/>
              </a:rPr>
              <a:t>No consta (capturas en</a:t>
            </a:r>
            <a:br/>
            <a:r>
              <a:rPr sz="1000" b="0" i="1">
                <a:solidFill>
                  <a:srgbClr val="5B6575"/>
                </a:solidFill>
                <a:latin typeface="Calibri"/>
              </a:rPr>
              <a:t>castellano)</a:t>
            </a:r>
          </a:p>
        </p:txBody>
      </p:sp>
      <p:sp>
        <p:nvSpPr>
          <p:cNvPr id="28" name="Rounded Rectangle 27"/>
          <p:cNvSpPr/>
          <p:nvPr/>
        </p:nvSpPr>
        <p:spPr>
          <a:xfrm>
            <a:off x="4006850" y="1822640"/>
            <a:ext cx="1485900" cy="401256"/>
          </a:xfrm>
          <a:prstGeom prst="roundRect">
            <a:avLst>
              <a:gd name="adj" fmla="val 158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44950" y="1948599"/>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Inglés</a:t>
            </a:r>
          </a:p>
        </p:txBody>
      </p:sp>
      <p:sp>
        <p:nvSpPr>
          <p:cNvPr id="30" name="Rounded Rectangle 29"/>
          <p:cNvSpPr/>
          <p:nvPr/>
        </p:nvSpPr>
        <p:spPr>
          <a:xfrm>
            <a:off x="5530850" y="1822640"/>
            <a:ext cx="1485900" cy="401256"/>
          </a:xfrm>
          <a:prstGeom prst="roundRect">
            <a:avLst>
              <a:gd name="adj" fmla="val 158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68950" y="1948599"/>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Inglés</a:t>
            </a:r>
          </a:p>
        </p:txBody>
      </p:sp>
      <p:sp>
        <p:nvSpPr>
          <p:cNvPr id="32" name="Rounded Rectangle 31"/>
          <p:cNvSpPr/>
          <p:nvPr/>
        </p:nvSpPr>
        <p:spPr>
          <a:xfrm>
            <a:off x="7054850" y="1822640"/>
            <a:ext cx="1485900" cy="401256"/>
          </a:xfrm>
          <a:prstGeom prst="roundRect">
            <a:avLst>
              <a:gd name="adj" fmla="val 158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92950" y="1948599"/>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Inglés</a:t>
            </a:r>
          </a:p>
        </p:txBody>
      </p:sp>
      <p:sp>
        <p:nvSpPr>
          <p:cNvPr id="34" name="Rounded Rectangle 33"/>
          <p:cNvSpPr/>
          <p:nvPr/>
        </p:nvSpPr>
        <p:spPr>
          <a:xfrm>
            <a:off x="8578850" y="1822640"/>
            <a:ext cx="1485900" cy="401256"/>
          </a:xfrm>
          <a:prstGeom prst="roundRect">
            <a:avLst>
              <a:gd name="adj" fmla="val 15825"/>
            </a:avLst>
          </a:prstGeom>
          <a:solidFill>
            <a:srgbClr val="B7791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16950" y="1873669"/>
            <a:ext cx="1409700" cy="29972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B7791F"/>
                </a:solidFill>
                <a:latin typeface="Calibri"/>
              </a:rPr>
              <a:t>Inglés (localización</a:t>
            </a:r>
            <a:br/>
            <a:r>
              <a:rPr sz="1000" b="1" i="0">
                <a:solidFill>
                  <a:srgbClr val="B7791F"/>
                </a:solidFill>
                <a:latin typeface="Calibri"/>
              </a:rPr>
              <a:t>parcial)</a:t>
            </a:r>
          </a:p>
        </p:txBody>
      </p:sp>
      <p:sp>
        <p:nvSpPr>
          <p:cNvPr id="36" name="Rounded Rectangle 35"/>
          <p:cNvSpPr/>
          <p:nvPr/>
        </p:nvSpPr>
        <p:spPr>
          <a:xfrm>
            <a:off x="10102850" y="1822640"/>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109200" y="1828990"/>
            <a:ext cx="1473200" cy="388556"/>
          </a:xfrm>
          <a:prstGeom prst="roundRect">
            <a:avLst>
              <a:gd name="adj" fmla="val 14708"/>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40950" y="1948599"/>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Español</a:t>
            </a:r>
          </a:p>
        </p:txBody>
      </p:sp>
      <p:sp>
        <p:nvSpPr>
          <p:cNvPr id="39" name="TextBox 38"/>
          <p:cNvSpPr txBox="1"/>
          <p:nvPr/>
        </p:nvSpPr>
        <p:spPr>
          <a:xfrm>
            <a:off x="603250" y="2374920"/>
            <a:ext cx="1828800" cy="179832"/>
          </a:xfrm>
          <a:prstGeom prst="rect">
            <a:avLst/>
          </a:prstGeom>
          <a:noFill/>
        </p:spPr>
        <p:txBody>
          <a:bodyPr wrap="square" lIns="0" rIns="0" tIns="0" bIns="0" anchor="t"/>
          <a:lstStyle/>
          <a:p>
            <a:pPr algn="l">
              <a:lnSpc>
                <a:spcPts val="1416"/>
              </a:lnSpc>
              <a:spcBef>
                <a:spcPts val="0"/>
              </a:spcBef>
              <a:spcAft>
                <a:spcPts val="0"/>
              </a:spcAft>
            </a:pPr>
            <a:r>
              <a:rPr sz="1200" b="1" i="0">
                <a:solidFill>
                  <a:srgbClr val="1F2937"/>
                </a:solidFill>
                <a:latin typeface="Calibri"/>
              </a:rPr>
              <a:t>2 · Libre y código abierto</a:t>
            </a:r>
          </a:p>
        </p:txBody>
      </p:sp>
      <p:sp>
        <p:nvSpPr>
          <p:cNvPr id="40" name="Rounded Rectangle 39"/>
          <p:cNvSpPr/>
          <p:nvPr/>
        </p:nvSpPr>
        <p:spPr>
          <a:xfrm>
            <a:off x="2482850" y="2261997"/>
            <a:ext cx="1485900" cy="401256"/>
          </a:xfrm>
          <a:prstGeom prst="roundRect">
            <a:avLst>
              <a:gd name="adj" fmla="val 158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20950" y="2387956"/>
            <a:ext cx="1409700" cy="149860"/>
          </a:xfrm>
          <a:prstGeom prst="rect">
            <a:avLst/>
          </a:prstGeom>
          <a:noFill/>
        </p:spPr>
        <p:txBody>
          <a:bodyPr wrap="square" lIns="0" rIns="0" tIns="0" bIns="0" anchor="t"/>
          <a:lstStyle/>
          <a:p>
            <a:pPr algn="ctr">
              <a:lnSpc>
                <a:spcPts val="1180"/>
              </a:lnSpc>
              <a:spcBef>
                <a:spcPts val="0"/>
              </a:spcBef>
              <a:spcAft>
                <a:spcPts val="0"/>
              </a:spcAft>
            </a:pPr>
            <a:r>
              <a:rPr sz="1000" b="0" i="1">
                <a:solidFill>
                  <a:srgbClr val="5B6575"/>
                </a:solidFill>
                <a:latin typeface="Calibri"/>
              </a:rPr>
              <a:t>No consta</a:t>
            </a:r>
          </a:p>
        </p:txBody>
      </p:sp>
      <p:sp>
        <p:nvSpPr>
          <p:cNvPr id="42" name="Rounded Rectangle 41"/>
          <p:cNvSpPr/>
          <p:nvPr/>
        </p:nvSpPr>
        <p:spPr>
          <a:xfrm>
            <a:off x="4006850" y="2261997"/>
            <a:ext cx="1485900" cy="401256"/>
          </a:xfrm>
          <a:prstGeom prst="roundRect">
            <a:avLst>
              <a:gd name="adj" fmla="val 158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44950" y="2313026"/>
            <a:ext cx="1409700" cy="299720"/>
          </a:xfrm>
          <a:prstGeom prst="rect">
            <a:avLst/>
          </a:prstGeom>
          <a:noFill/>
        </p:spPr>
        <p:txBody>
          <a:bodyPr wrap="square" lIns="0" rIns="0" tIns="0" bIns="0" anchor="t"/>
          <a:lstStyle/>
          <a:p>
            <a:pPr algn="ctr">
              <a:lnSpc>
                <a:spcPts val="1180"/>
              </a:lnSpc>
              <a:spcBef>
                <a:spcPts val="0"/>
              </a:spcBef>
              <a:spcAft>
                <a:spcPts val="0"/>
              </a:spcAft>
            </a:pPr>
            <a:r>
              <a:rPr sz="1000" b="0" i="1">
                <a:solidFill>
                  <a:srgbClr val="5B6575"/>
                </a:solidFill>
                <a:latin typeface="Calibri"/>
              </a:rPr>
              <a:t>No declarada (código</a:t>
            </a:r>
            <a:br/>
            <a:r>
              <a:rPr sz="1000" b="0" i="1">
                <a:solidFill>
                  <a:srgbClr val="5B6575"/>
                </a:solidFill>
                <a:latin typeface="Calibri"/>
              </a:rPr>
              <a:t>MATLAB)</a:t>
            </a:r>
          </a:p>
        </p:txBody>
      </p:sp>
      <p:sp>
        <p:nvSpPr>
          <p:cNvPr id="44" name="Rounded Rectangle 43"/>
          <p:cNvSpPr/>
          <p:nvPr/>
        </p:nvSpPr>
        <p:spPr>
          <a:xfrm>
            <a:off x="5530850" y="2261997"/>
            <a:ext cx="1485900" cy="401256"/>
          </a:xfrm>
          <a:prstGeom prst="roundRect">
            <a:avLst>
              <a:gd name="adj" fmla="val 158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68950" y="2387956"/>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Comercial</a:t>
            </a:r>
          </a:p>
        </p:txBody>
      </p:sp>
      <p:sp>
        <p:nvSpPr>
          <p:cNvPr id="46" name="Rounded Rectangle 45"/>
          <p:cNvSpPr/>
          <p:nvPr/>
        </p:nvSpPr>
        <p:spPr>
          <a:xfrm>
            <a:off x="7054850" y="2261997"/>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92950" y="2387956"/>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Libre</a:t>
            </a:r>
          </a:p>
        </p:txBody>
      </p:sp>
      <p:sp>
        <p:nvSpPr>
          <p:cNvPr id="48" name="Rounded Rectangle 47"/>
          <p:cNvSpPr/>
          <p:nvPr/>
        </p:nvSpPr>
        <p:spPr>
          <a:xfrm>
            <a:off x="8578850" y="2261997"/>
            <a:ext cx="1485900" cy="401256"/>
          </a:xfrm>
          <a:prstGeom prst="roundRect">
            <a:avLst>
              <a:gd name="adj" fmla="val 158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16950" y="2387956"/>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Comercial</a:t>
            </a:r>
          </a:p>
        </p:txBody>
      </p:sp>
      <p:sp>
        <p:nvSpPr>
          <p:cNvPr id="50" name="Rounded Rectangle 49"/>
          <p:cNvSpPr/>
          <p:nvPr/>
        </p:nvSpPr>
        <p:spPr>
          <a:xfrm>
            <a:off x="10102850" y="2261997"/>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0109200" y="2268347"/>
            <a:ext cx="1473200" cy="388556"/>
          </a:xfrm>
          <a:prstGeom prst="roundRect">
            <a:avLst>
              <a:gd name="adj" fmla="val 14708"/>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40950" y="2387956"/>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Libre, código abierto</a:t>
            </a:r>
          </a:p>
        </p:txBody>
      </p:sp>
      <p:sp>
        <p:nvSpPr>
          <p:cNvPr id="53" name="TextBox 52"/>
          <p:cNvSpPr txBox="1"/>
          <p:nvPr/>
        </p:nvSpPr>
        <p:spPr>
          <a:xfrm>
            <a:off x="603250" y="2814213"/>
            <a:ext cx="1828800" cy="179832"/>
          </a:xfrm>
          <a:prstGeom prst="rect">
            <a:avLst/>
          </a:prstGeom>
          <a:noFill/>
        </p:spPr>
        <p:txBody>
          <a:bodyPr wrap="square" lIns="0" rIns="0" tIns="0" bIns="0" anchor="t"/>
          <a:lstStyle/>
          <a:p>
            <a:pPr algn="l">
              <a:lnSpc>
                <a:spcPts val="1416"/>
              </a:lnSpc>
              <a:spcBef>
                <a:spcPts val="0"/>
              </a:spcBef>
              <a:spcAft>
                <a:spcPts val="0"/>
              </a:spcAft>
            </a:pPr>
            <a:r>
              <a:rPr sz="1200" b="1" i="0">
                <a:solidFill>
                  <a:srgbClr val="1F2937"/>
                </a:solidFill>
                <a:latin typeface="Calibri"/>
              </a:rPr>
              <a:t>3 · Continuo elástico plano</a:t>
            </a:r>
          </a:p>
        </p:txBody>
      </p:sp>
      <p:sp>
        <p:nvSpPr>
          <p:cNvPr id="54" name="Rounded Rectangle 53"/>
          <p:cNvSpPr/>
          <p:nvPr/>
        </p:nvSpPr>
        <p:spPr>
          <a:xfrm>
            <a:off x="2482850" y="2701354"/>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20950" y="2752382"/>
            <a:ext cx="1409700" cy="29972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2D · triángulos y</a:t>
            </a:r>
            <a:br/>
            <a:r>
              <a:rPr sz="1000" b="1" i="0">
                <a:solidFill>
                  <a:srgbClr val="2E8B57"/>
                </a:solidFill>
                <a:latin typeface="Calibri"/>
              </a:rPr>
              <a:t>Q4/Q8/Q9</a:t>
            </a:r>
          </a:p>
        </p:txBody>
      </p:sp>
      <p:sp>
        <p:nvSpPr>
          <p:cNvPr id="56" name="Rounded Rectangle 55"/>
          <p:cNvSpPr/>
          <p:nvPr/>
        </p:nvSpPr>
        <p:spPr>
          <a:xfrm>
            <a:off x="4006850" y="2701354"/>
            <a:ext cx="1485900" cy="401256"/>
          </a:xfrm>
          <a:prstGeom prst="roundRect">
            <a:avLst>
              <a:gd name="adj" fmla="val 158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44950" y="2827249"/>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Barras (cercha)</a:t>
            </a:r>
          </a:p>
        </p:txBody>
      </p:sp>
      <p:sp>
        <p:nvSpPr>
          <p:cNvPr id="58" name="Rounded Rectangle 57"/>
          <p:cNvSpPr/>
          <p:nvPr/>
        </p:nvSpPr>
        <p:spPr>
          <a:xfrm>
            <a:off x="5530850" y="2701354"/>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568950" y="2827249"/>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Continuo, placas, sólidos</a:t>
            </a:r>
          </a:p>
        </p:txBody>
      </p:sp>
      <p:sp>
        <p:nvSpPr>
          <p:cNvPr id="60" name="Rounded Rectangle 59"/>
          <p:cNvSpPr/>
          <p:nvPr/>
        </p:nvSpPr>
        <p:spPr>
          <a:xfrm>
            <a:off x="7054850" y="2701354"/>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92950" y="2827249"/>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Diversos</a:t>
            </a:r>
          </a:p>
        </p:txBody>
      </p:sp>
      <p:sp>
        <p:nvSpPr>
          <p:cNvPr id="62" name="Rounded Rectangle 61"/>
          <p:cNvSpPr/>
          <p:nvPr/>
        </p:nvSpPr>
        <p:spPr>
          <a:xfrm>
            <a:off x="8578850" y="2701354"/>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616950" y="2827249"/>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Amplios</a:t>
            </a:r>
          </a:p>
        </p:txBody>
      </p:sp>
      <p:sp>
        <p:nvSpPr>
          <p:cNvPr id="64" name="Rounded Rectangle 63"/>
          <p:cNvSpPr/>
          <p:nvPr/>
        </p:nvSpPr>
        <p:spPr>
          <a:xfrm>
            <a:off x="10102850" y="2701354"/>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10109200" y="2707704"/>
            <a:ext cx="1473200" cy="388556"/>
          </a:xfrm>
          <a:prstGeom prst="roundRect">
            <a:avLst>
              <a:gd name="adj" fmla="val 14708"/>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40950" y="2827249"/>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2D · Q4 y Q9</a:t>
            </a:r>
          </a:p>
        </p:txBody>
      </p:sp>
      <p:sp>
        <p:nvSpPr>
          <p:cNvPr id="67" name="TextBox 66"/>
          <p:cNvSpPr txBox="1"/>
          <p:nvPr/>
        </p:nvSpPr>
        <p:spPr>
          <a:xfrm>
            <a:off x="603250" y="3193626"/>
            <a:ext cx="1828800" cy="359664"/>
          </a:xfrm>
          <a:prstGeom prst="rect">
            <a:avLst/>
          </a:prstGeom>
          <a:noFill/>
        </p:spPr>
        <p:txBody>
          <a:bodyPr wrap="square" lIns="0" rIns="0" tIns="0" bIns="0" anchor="t"/>
          <a:lstStyle/>
          <a:p>
            <a:pPr algn="l">
              <a:lnSpc>
                <a:spcPts val="1416"/>
              </a:lnSpc>
              <a:spcBef>
                <a:spcPts val="0"/>
              </a:spcBef>
              <a:spcAft>
                <a:spcPts val="0"/>
              </a:spcAft>
            </a:pPr>
            <a:r>
              <a:rPr sz="1200" b="1" i="0">
                <a:solidFill>
                  <a:srgbClr val="1F2937"/>
                </a:solidFill>
                <a:latin typeface="Calibri"/>
              </a:rPr>
              <a:t>4 · Paso a paso sobre el</a:t>
            </a:r>
            <a:br/>
            <a:r>
              <a:rPr sz="1200" b="1" i="0">
                <a:solidFill>
                  <a:srgbClr val="1F2937"/>
                </a:solidFill>
                <a:latin typeface="Calibri"/>
              </a:rPr>
              <a:t>modelo</a:t>
            </a:r>
          </a:p>
        </p:txBody>
      </p:sp>
      <p:sp>
        <p:nvSpPr>
          <p:cNvPr id="68" name="Rounded Rectangle 67"/>
          <p:cNvSpPr/>
          <p:nvPr/>
        </p:nvSpPr>
        <p:spPr>
          <a:xfrm>
            <a:off x="2482850" y="3140646"/>
            <a:ext cx="1485900" cy="461200"/>
          </a:xfrm>
          <a:prstGeom prst="roundRect">
            <a:avLst>
              <a:gd name="adj" fmla="val 13768"/>
            </a:avLst>
          </a:prstGeom>
          <a:solidFill>
            <a:srgbClr val="B7791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520950" y="3296577"/>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B7791F"/>
                </a:solidFill>
                <a:latin typeface="Calibri"/>
              </a:rPr>
              <a:t>Media (pre / proc / post)</a:t>
            </a:r>
          </a:p>
        </p:txBody>
      </p:sp>
      <p:sp>
        <p:nvSpPr>
          <p:cNvPr id="70" name="Rounded Rectangle 69"/>
          <p:cNvSpPr/>
          <p:nvPr/>
        </p:nvSpPr>
        <p:spPr>
          <a:xfrm>
            <a:off x="4006850" y="3140646"/>
            <a:ext cx="1485900" cy="461200"/>
          </a:xfrm>
          <a:prstGeom prst="roundRect">
            <a:avLst>
              <a:gd name="adj" fmla="val 13768"/>
            </a:avLst>
          </a:prstGeom>
          <a:solidFill>
            <a:srgbClr val="B7791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044950" y="3296577"/>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B7791F"/>
                </a:solidFill>
                <a:latin typeface="Calibri"/>
              </a:rPr>
              <a:t>Media-alta (código)</a:t>
            </a:r>
          </a:p>
        </p:txBody>
      </p:sp>
      <p:sp>
        <p:nvSpPr>
          <p:cNvPr id="72" name="Rounded Rectangle 71"/>
          <p:cNvSpPr/>
          <p:nvPr/>
        </p:nvSpPr>
        <p:spPr>
          <a:xfrm>
            <a:off x="5530850" y="3140646"/>
            <a:ext cx="1485900" cy="461200"/>
          </a:xfrm>
          <a:prstGeom prst="roundRect">
            <a:avLst>
              <a:gd name="adj" fmla="val 13768"/>
            </a:avLst>
          </a:prstGeom>
          <a:solidFill>
            <a:srgbClr val="B7791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568950" y="3296577"/>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B7791F"/>
                </a:solidFill>
                <a:latin typeface="Calibri"/>
              </a:rPr>
              <a:t>Media-alta, un eslabón</a:t>
            </a:r>
          </a:p>
        </p:txBody>
      </p:sp>
      <p:sp>
        <p:nvSpPr>
          <p:cNvPr id="74" name="Rounded Rectangle 73"/>
          <p:cNvSpPr/>
          <p:nvPr/>
        </p:nvSpPr>
        <p:spPr>
          <a:xfrm>
            <a:off x="7054850" y="3140646"/>
            <a:ext cx="1485900" cy="461200"/>
          </a:xfrm>
          <a:prstGeom prst="roundRect">
            <a:avLst>
              <a:gd name="adj" fmla="val 13768"/>
            </a:avLst>
          </a:prstGeom>
          <a:solidFill>
            <a:srgbClr val="B7791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092950" y="3221647"/>
            <a:ext cx="1409700" cy="29972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B7791F"/>
                </a:solidFill>
                <a:latin typeface="Calibri"/>
              </a:rPr>
              <a:t>En el código, sin guía</a:t>
            </a:r>
            <a:br/>
            <a:r>
              <a:rPr sz="1000" b="1" i="0">
                <a:solidFill>
                  <a:srgbClr val="B7791F"/>
                </a:solidFill>
                <a:latin typeface="Calibri"/>
              </a:rPr>
              <a:t>visual</a:t>
            </a:r>
          </a:p>
        </p:txBody>
      </p:sp>
      <p:sp>
        <p:nvSpPr>
          <p:cNvPr id="76" name="Rounded Rectangle 75"/>
          <p:cNvSpPr/>
          <p:nvPr/>
        </p:nvSpPr>
        <p:spPr>
          <a:xfrm>
            <a:off x="8578850" y="3140646"/>
            <a:ext cx="1485900" cy="461200"/>
          </a:xfrm>
          <a:prstGeom prst="roundRect">
            <a:avLst>
              <a:gd name="adj" fmla="val 13768"/>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616950" y="3296577"/>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Baja (caja negra)</a:t>
            </a:r>
          </a:p>
        </p:txBody>
      </p:sp>
      <p:sp>
        <p:nvSpPr>
          <p:cNvPr id="78" name="Rounded Rectangle 77"/>
          <p:cNvSpPr/>
          <p:nvPr/>
        </p:nvSpPr>
        <p:spPr>
          <a:xfrm>
            <a:off x="10102850" y="3140646"/>
            <a:ext cx="1485900" cy="461200"/>
          </a:xfrm>
          <a:prstGeom prst="roundRect">
            <a:avLst>
              <a:gd name="adj" fmla="val 13768"/>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10109200" y="3146996"/>
            <a:ext cx="1473200" cy="448500"/>
          </a:xfrm>
          <a:prstGeom prst="roundRect">
            <a:avLst>
              <a:gd name="adj" fmla="val 12742"/>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140950" y="3296577"/>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Alta: 8 módulos</a:t>
            </a:r>
          </a:p>
        </p:txBody>
      </p:sp>
      <p:sp>
        <p:nvSpPr>
          <p:cNvPr id="81" name="TextBox 80"/>
          <p:cNvSpPr txBox="1"/>
          <p:nvPr/>
        </p:nvSpPr>
        <p:spPr>
          <a:xfrm>
            <a:off x="603250" y="3692926"/>
            <a:ext cx="1828800" cy="179832"/>
          </a:xfrm>
          <a:prstGeom prst="rect">
            <a:avLst/>
          </a:prstGeom>
          <a:noFill/>
        </p:spPr>
        <p:txBody>
          <a:bodyPr wrap="square" lIns="0" rIns="0" tIns="0" bIns="0" anchor="t"/>
          <a:lstStyle/>
          <a:p>
            <a:pPr algn="l">
              <a:lnSpc>
                <a:spcPts val="1416"/>
              </a:lnSpc>
              <a:spcBef>
                <a:spcPts val="0"/>
              </a:spcBef>
              <a:spcAft>
                <a:spcPts val="0"/>
              </a:spcAft>
            </a:pPr>
            <a:r>
              <a:rPr sz="1200" b="1" i="0">
                <a:solidFill>
                  <a:srgbClr val="1F2937"/>
                </a:solidFill>
                <a:latin typeface="Calibri"/>
              </a:rPr>
              <a:t>5 · Procedimiento completo</a:t>
            </a:r>
          </a:p>
        </p:txBody>
      </p:sp>
      <p:sp>
        <p:nvSpPr>
          <p:cNvPr id="82" name="Rounded Rectangle 81"/>
          <p:cNvSpPr/>
          <p:nvPr/>
        </p:nvSpPr>
        <p:spPr>
          <a:xfrm>
            <a:off x="2482850" y="3639947"/>
            <a:ext cx="1485900" cy="281368"/>
          </a:xfrm>
          <a:prstGeom prst="roundRect">
            <a:avLst>
              <a:gd name="adj" fmla="val 22568"/>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520950" y="3705962"/>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Sí</a:t>
            </a:r>
          </a:p>
        </p:txBody>
      </p:sp>
      <p:sp>
        <p:nvSpPr>
          <p:cNvPr id="84" name="Rounded Rectangle 83"/>
          <p:cNvSpPr/>
          <p:nvPr/>
        </p:nvSpPr>
        <p:spPr>
          <a:xfrm>
            <a:off x="4006850" y="3639947"/>
            <a:ext cx="1485900" cy="281368"/>
          </a:xfrm>
          <a:prstGeom prst="roundRect">
            <a:avLst>
              <a:gd name="adj" fmla="val 22568"/>
            </a:avLst>
          </a:prstGeom>
          <a:solidFill>
            <a:srgbClr val="B7791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44950" y="3705962"/>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B7791F"/>
                </a:solidFill>
                <a:latin typeface="Calibri"/>
              </a:rPr>
              <a:t>Parcial (solo barras)</a:t>
            </a:r>
          </a:p>
        </p:txBody>
      </p:sp>
      <p:sp>
        <p:nvSpPr>
          <p:cNvPr id="86" name="Rounded Rectangle 85"/>
          <p:cNvSpPr/>
          <p:nvPr/>
        </p:nvSpPr>
        <p:spPr>
          <a:xfrm>
            <a:off x="5530850" y="3639947"/>
            <a:ext cx="1485900" cy="281368"/>
          </a:xfrm>
          <a:prstGeom prst="roundRect">
            <a:avLst>
              <a:gd name="adj" fmla="val 22568"/>
            </a:avLst>
          </a:prstGeom>
          <a:solidFill>
            <a:srgbClr val="B7791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568950" y="3705962"/>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B7791F"/>
                </a:solidFill>
                <a:latin typeface="Calibri"/>
              </a:rPr>
              <a:t>Parcial (un eslabón)</a:t>
            </a:r>
          </a:p>
        </p:txBody>
      </p:sp>
      <p:sp>
        <p:nvSpPr>
          <p:cNvPr id="88" name="Rounded Rectangle 87"/>
          <p:cNvSpPr/>
          <p:nvPr/>
        </p:nvSpPr>
        <p:spPr>
          <a:xfrm>
            <a:off x="7054850" y="3639947"/>
            <a:ext cx="1485900" cy="281368"/>
          </a:xfrm>
          <a:prstGeom prst="roundRect">
            <a:avLst>
              <a:gd name="adj" fmla="val 22568"/>
            </a:avLst>
          </a:prstGeom>
          <a:solidFill>
            <a:srgbClr val="B7791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92950" y="3705962"/>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B7791F"/>
                </a:solidFill>
                <a:latin typeface="Calibri"/>
              </a:rPr>
              <a:t>Parcial (programando)</a:t>
            </a:r>
          </a:p>
        </p:txBody>
      </p:sp>
      <p:sp>
        <p:nvSpPr>
          <p:cNvPr id="90" name="Rounded Rectangle 89"/>
          <p:cNvSpPr/>
          <p:nvPr/>
        </p:nvSpPr>
        <p:spPr>
          <a:xfrm>
            <a:off x="8578850" y="3639947"/>
            <a:ext cx="1485900" cy="281368"/>
          </a:xfrm>
          <a:prstGeom prst="roundRect">
            <a:avLst>
              <a:gd name="adj" fmla="val 22568"/>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616950" y="3705962"/>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No (no didáctico)</a:t>
            </a:r>
          </a:p>
        </p:txBody>
      </p:sp>
      <p:sp>
        <p:nvSpPr>
          <p:cNvPr id="92" name="Rounded Rectangle 91"/>
          <p:cNvSpPr/>
          <p:nvPr/>
        </p:nvSpPr>
        <p:spPr>
          <a:xfrm>
            <a:off x="10102850" y="3639947"/>
            <a:ext cx="1485900" cy="281368"/>
          </a:xfrm>
          <a:prstGeom prst="roundRect">
            <a:avLst>
              <a:gd name="adj" fmla="val 22568"/>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10109200" y="3646297"/>
            <a:ext cx="1473200" cy="268668"/>
          </a:xfrm>
          <a:prstGeom prst="roundRect">
            <a:avLst>
              <a:gd name="adj" fmla="val 21271"/>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140950" y="3705962"/>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Sí</a:t>
            </a:r>
          </a:p>
        </p:txBody>
      </p:sp>
      <p:sp>
        <p:nvSpPr>
          <p:cNvPr id="95" name="TextBox 94"/>
          <p:cNvSpPr txBox="1"/>
          <p:nvPr/>
        </p:nvSpPr>
        <p:spPr>
          <a:xfrm>
            <a:off x="603250" y="4072339"/>
            <a:ext cx="1828800" cy="179832"/>
          </a:xfrm>
          <a:prstGeom prst="rect">
            <a:avLst/>
          </a:prstGeom>
          <a:noFill/>
        </p:spPr>
        <p:txBody>
          <a:bodyPr wrap="square" lIns="0" rIns="0" tIns="0" bIns="0" anchor="t"/>
          <a:lstStyle/>
          <a:p>
            <a:pPr algn="l">
              <a:lnSpc>
                <a:spcPts val="1416"/>
              </a:lnSpc>
              <a:spcBef>
                <a:spcPts val="0"/>
              </a:spcBef>
              <a:spcAft>
                <a:spcPts val="0"/>
              </a:spcAft>
            </a:pPr>
            <a:r>
              <a:rPr sz="1200" b="1" i="0">
                <a:solidFill>
                  <a:srgbClr val="1F2937"/>
                </a:solidFill>
                <a:latin typeface="Calibri"/>
              </a:rPr>
              <a:t>6 · Memoria de cálculo</a:t>
            </a:r>
          </a:p>
        </p:txBody>
      </p:sp>
      <p:sp>
        <p:nvSpPr>
          <p:cNvPr id="96" name="Rounded Rectangle 95"/>
          <p:cNvSpPr/>
          <p:nvPr/>
        </p:nvSpPr>
        <p:spPr>
          <a:xfrm>
            <a:off x="2482850" y="3959416"/>
            <a:ext cx="1485900" cy="401256"/>
          </a:xfrm>
          <a:prstGeom prst="roundRect">
            <a:avLst>
              <a:gd name="adj" fmla="val 158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520950" y="4085374"/>
            <a:ext cx="1409700" cy="149860"/>
          </a:xfrm>
          <a:prstGeom prst="rect">
            <a:avLst/>
          </a:prstGeom>
          <a:noFill/>
        </p:spPr>
        <p:txBody>
          <a:bodyPr wrap="square" lIns="0" rIns="0" tIns="0" bIns="0" anchor="t"/>
          <a:lstStyle/>
          <a:p>
            <a:pPr algn="ctr">
              <a:lnSpc>
                <a:spcPts val="1180"/>
              </a:lnSpc>
              <a:spcBef>
                <a:spcPts val="0"/>
              </a:spcBef>
              <a:spcAft>
                <a:spcPts val="0"/>
              </a:spcAft>
            </a:pPr>
            <a:r>
              <a:rPr sz="1000" b="0" i="1">
                <a:solidFill>
                  <a:srgbClr val="5B6575"/>
                </a:solidFill>
                <a:latin typeface="Calibri"/>
              </a:rPr>
              <a:t>No consta</a:t>
            </a:r>
          </a:p>
        </p:txBody>
      </p:sp>
      <p:sp>
        <p:nvSpPr>
          <p:cNvPr id="98" name="Rounded Rectangle 97"/>
          <p:cNvSpPr/>
          <p:nvPr/>
        </p:nvSpPr>
        <p:spPr>
          <a:xfrm>
            <a:off x="4006850" y="3959416"/>
            <a:ext cx="1485900" cy="401256"/>
          </a:xfrm>
          <a:prstGeom prst="roundRect">
            <a:avLst>
              <a:gd name="adj" fmla="val 158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044950" y="4085374"/>
            <a:ext cx="1409700" cy="149860"/>
          </a:xfrm>
          <a:prstGeom prst="rect">
            <a:avLst/>
          </a:prstGeom>
          <a:noFill/>
        </p:spPr>
        <p:txBody>
          <a:bodyPr wrap="square" lIns="0" rIns="0" tIns="0" bIns="0" anchor="t"/>
          <a:lstStyle/>
          <a:p>
            <a:pPr algn="ctr">
              <a:lnSpc>
                <a:spcPts val="1180"/>
              </a:lnSpc>
              <a:spcBef>
                <a:spcPts val="0"/>
              </a:spcBef>
              <a:spcAft>
                <a:spcPts val="0"/>
              </a:spcAft>
            </a:pPr>
            <a:r>
              <a:rPr sz="1000" b="0" i="1">
                <a:solidFill>
                  <a:srgbClr val="5B6575"/>
                </a:solidFill>
                <a:latin typeface="Calibri"/>
              </a:rPr>
              <a:t>No consta</a:t>
            </a:r>
          </a:p>
        </p:txBody>
      </p:sp>
      <p:sp>
        <p:nvSpPr>
          <p:cNvPr id="100" name="Rounded Rectangle 99"/>
          <p:cNvSpPr/>
          <p:nvPr/>
        </p:nvSpPr>
        <p:spPr>
          <a:xfrm>
            <a:off x="5530850" y="3959416"/>
            <a:ext cx="1485900" cy="401256"/>
          </a:xfrm>
          <a:prstGeom prst="roundRect">
            <a:avLst>
              <a:gd name="adj" fmla="val 15825"/>
            </a:avLst>
          </a:prstGeom>
          <a:solidFill>
            <a:srgbClr val="B7791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568950" y="4010444"/>
            <a:ext cx="1409700" cy="29972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B7791F"/>
                </a:solidFill>
                <a:latin typeface="Calibri"/>
              </a:rPr>
              <a:t>Valores en pantalla, no</a:t>
            </a:r>
            <a:br/>
            <a:r>
              <a:rPr sz="1000" b="1" i="0">
                <a:solidFill>
                  <a:srgbClr val="B7791F"/>
                </a:solidFill>
                <a:latin typeface="Calibri"/>
              </a:rPr>
              <a:t>documento</a:t>
            </a:r>
          </a:p>
        </p:txBody>
      </p:sp>
      <p:sp>
        <p:nvSpPr>
          <p:cNvPr id="102" name="Rounded Rectangle 101"/>
          <p:cNvSpPr/>
          <p:nvPr/>
        </p:nvSpPr>
        <p:spPr>
          <a:xfrm>
            <a:off x="7054850" y="3959416"/>
            <a:ext cx="1485900" cy="401256"/>
          </a:xfrm>
          <a:prstGeom prst="roundRect">
            <a:avLst>
              <a:gd name="adj" fmla="val 158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092950" y="4010444"/>
            <a:ext cx="1409700" cy="29972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No (la programa el</a:t>
            </a:r>
            <a:br/>
            <a:r>
              <a:rPr sz="1000" b="1" i="0">
                <a:solidFill>
                  <a:srgbClr val="C0392B"/>
                </a:solidFill>
                <a:latin typeface="Calibri"/>
              </a:rPr>
              <a:t>usuario)</a:t>
            </a:r>
          </a:p>
        </p:txBody>
      </p:sp>
      <p:sp>
        <p:nvSpPr>
          <p:cNvPr id="104" name="Rounded Rectangle 103"/>
          <p:cNvSpPr/>
          <p:nvPr/>
        </p:nvSpPr>
        <p:spPr>
          <a:xfrm>
            <a:off x="8578850" y="3959416"/>
            <a:ext cx="1485900" cy="401256"/>
          </a:xfrm>
          <a:prstGeom prst="roundRect">
            <a:avLst>
              <a:gd name="adj" fmla="val 158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616950" y="4010444"/>
            <a:ext cx="1409700" cy="29972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Informes sin desarrollo</a:t>
            </a:r>
            <a:br/>
            <a:r>
              <a:rPr sz="1000" b="1" i="0">
                <a:solidFill>
                  <a:srgbClr val="C0392B"/>
                </a:solidFill>
                <a:latin typeface="Calibri"/>
              </a:rPr>
              <a:t>matricial</a:t>
            </a:r>
          </a:p>
        </p:txBody>
      </p:sp>
      <p:sp>
        <p:nvSpPr>
          <p:cNvPr id="106" name="Rounded Rectangle 105"/>
          <p:cNvSpPr/>
          <p:nvPr/>
        </p:nvSpPr>
        <p:spPr>
          <a:xfrm>
            <a:off x="10102850" y="3959416"/>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10109200" y="3965766"/>
            <a:ext cx="1473200" cy="388556"/>
          </a:xfrm>
          <a:prstGeom prst="roundRect">
            <a:avLst>
              <a:gd name="adj" fmla="val 14708"/>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140950" y="4010444"/>
            <a:ext cx="1409700" cy="29972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PDF con sustitución</a:t>
            </a:r>
            <a:br/>
            <a:r>
              <a:rPr sz="1000" b="1" i="0">
                <a:solidFill>
                  <a:srgbClr val="2E8B57"/>
                </a:solidFill>
                <a:latin typeface="Calibri"/>
              </a:rPr>
              <a:t>numérica</a:t>
            </a:r>
          </a:p>
        </p:txBody>
      </p:sp>
      <p:sp>
        <p:nvSpPr>
          <p:cNvPr id="109" name="TextBox 108"/>
          <p:cNvSpPr txBox="1"/>
          <p:nvPr/>
        </p:nvSpPr>
        <p:spPr>
          <a:xfrm>
            <a:off x="603250" y="4511695"/>
            <a:ext cx="1828800" cy="179832"/>
          </a:xfrm>
          <a:prstGeom prst="rect">
            <a:avLst/>
          </a:prstGeom>
          <a:noFill/>
        </p:spPr>
        <p:txBody>
          <a:bodyPr wrap="square" lIns="0" rIns="0" tIns="0" bIns="0" anchor="t"/>
          <a:lstStyle/>
          <a:p>
            <a:pPr algn="l">
              <a:lnSpc>
                <a:spcPts val="1416"/>
              </a:lnSpc>
              <a:spcBef>
                <a:spcPts val="0"/>
              </a:spcBef>
              <a:spcAft>
                <a:spcPts val="0"/>
              </a:spcAft>
            </a:pPr>
            <a:r>
              <a:rPr sz="1200" b="1" i="0">
                <a:solidFill>
                  <a:srgbClr val="1F2937"/>
                </a:solidFill>
                <a:latin typeface="Calibri"/>
              </a:rPr>
              <a:t>7 · Fenómenos numéricos</a:t>
            </a:r>
          </a:p>
        </p:txBody>
      </p:sp>
      <p:sp>
        <p:nvSpPr>
          <p:cNvPr id="110" name="Rounded Rectangle 109"/>
          <p:cNvSpPr/>
          <p:nvPr/>
        </p:nvSpPr>
        <p:spPr>
          <a:xfrm>
            <a:off x="2482850" y="4398772"/>
            <a:ext cx="1485900" cy="401256"/>
          </a:xfrm>
          <a:prstGeom prst="roundRect">
            <a:avLst>
              <a:gd name="adj" fmla="val 158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520950" y="4524731"/>
            <a:ext cx="1409700" cy="149860"/>
          </a:xfrm>
          <a:prstGeom prst="rect">
            <a:avLst/>
          </a:prstGeom>
          <a:noFill/>
        </p:spPr>
        <p:txBody>
          <a:bodyPr wrap="square" lIns="0" rIns="0" tIns="0" bIns="0" anchor="t"/>
          <a:lstStyle/>
          <a:p>
            <a:pPr algn="ctr">
              <a:lnSpc>
                <a:spcPts val="1180"/>
              </a:lnSpc>
              <a:spcBef>
                <a:spcPts val="0"/>
              </a:spcBef>
              <a:spcAft>
                <a:spcPts val="0"/>
              </a:spcAft>
            </a:pPr>
            <a:r>
              <a:rPr sz="1000" b="0" i="1">
                <a:solidFill>
                  <a:srgbClr val="5B6575"/>
                </a:solidFill>
                <a:latin typeface="Calibri"/>
              </a:rPr>
              <a:t>No consta</a:t>
            </a:r>
          </a:p>
        </p:txBody>
      </p:sp>
      <p:sp>
        <p:nvSpPr>
          <p:cNvPr id="112" name="Rounded Rectangle 111"/>
          <p:cNvSpPr/>
          <p:nvPr/>
        </p:nvSpPr>
        <p:spPr>
          <a:xfrm>
            <a:off x="4006850" y="4398772"/>
            <a:ext cx="1485900" cy="401256"/>
          </a:xfrm>
          <a:prstGeom prst="roundRect">
            <a:avLst>
              <a:gd name="adj" fmla="val 158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044950" y="4524731"/>
            <a:ext cx="1409700" cy="149860"/>
          </a:xfrm>
          <a:prstGeom prst="rect">
            <a:avLst/>
          </a:prstGeom>
          <a:noFill/>
        </p:spPr>
        <p:txBody>
          <a:bodyPr wrap="square" lIns="0" rIns="0" tIns="0" bIns="0" anchor="t"/>
          <a:lstStyle/>
          <a:p>
            <a:pPr algn="ctr">
              <a:lnSpc>
                <a:spcPts val="1180"/>
              </a:lnSpc>
              <a:spcBef>
                <a:spcPts val="0"/>
              </a:spcBef>
              <a:spcAft>
                <a:spcPts val="0"/>
              </a:spcAft>
            </a:pPr>
            <a:r>
              <a:rPr sz="1000" b="0" i="1">
                <a:solidFill>
                  <a:srgbClr val="5B6575"/>
                </a:solidFill>
                <a:latin typeface="Calibri"/>
              </a:rPr>
              <a:t>No consta</a:t>
            </a:r>
          </a:p>
        </p:txBody>
      </p:sp>
      <p:sp>
        <p:nvSpPr>
          <p:cNvPr id="114" name="Rounded Rectangle 113"/>
          <p:cNvSpPr/>
          <p:nvPr/>
        </p:nvSpPr>
        <p:spPr>
          <a:xfrm>
            <a:off x="5530850" y="4398772"/>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568950" y="4449801"/>
            <a:ext cx="1409700" cy="29972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Modos espurios y</a:t>
            </a:r>
            <a:br/>
            <a:r>
              <a:rPr sz="1000" b="1" i="0">
                <a:solidFill>
                  <a:srgbClr val="2E8B57"/>
                </a:solidFill>
                <a:latin typeface="Calibri"/>
              </a:rPr>
              <a:t>bloqueo</a:t>
            </a:r>
          </a:p>
        </p:txBody>
      </p:sp>
      <p:sp>
        <p:nvSpPr>
          <p:cNvPr id="116" name="Rounded Rectangle 115"/>
          <p:cNvSpPr/>
          <p:nvPr/>
        </p:nvSpPr>
        <p:spPr>
          <a:xfrm>
            <a:off x="7054850" y="4398772"/>
            <a:ext cx="1485900" cy="401256"/>
          </a:xfrm>
          <a:prstGeom prst="roundRect">
            <a:avLst>
              <a:gd name="adj" fmla="val 15825"/>
            </a:avLst>
          </a:prstGeom>
          <a:solidFill>
            <a:srgbClr val="B7791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092950" y="4524731"/>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B7791F"/>
                </a:solidFill>
                <a:latin typeface="Calibri"/>
              </a:rPr>
              <a:t>Programando, sin guía</a:t>
            </a:r>
          </a:p>
        </p:txBody>
      </p:sp>
      <p:sp>
        <p:nvSpPr>
          <p:cNvPr id="118" name="Rounded Rectangle 117"/>
          <p:cNvSpPr/>
          <p:nvPr/>
        </p:nvSpPr>
        <p:spPr>
          <a:xfrm>
            <a:off x="8578850" y="4398772"/>
            <a:ext cx="1485900" cy="401256"/>
          </a:xfrm>
          <a:prstGeom prst="roundRect">
            <a:avLst>
              <a:gd name="adj" fmla="val 158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616950" y="4524731"/>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C0392B"/>
                </a:solidFill>
                <a:latin typeface="Calibri"/>
              </a:rPr>
              <a:t>Sin exposición didáctica</a:t>
            </a:r>
          </a:p>
        </p:txBody>
      </p:sp>
      <p:sp>
        <p:nvSpPr>
          <p:cNvPr id="120" name="Rounded Rectangle 119"/>
          <p:cNvSpPr/>
          <p:nvPr/>
        </p:nvSpPr>
        <p:spPr>
          <a:xfrm>
            <a:off x="10102850" y="4398772"/>
            <a:ext cx="1485900" cy="401256"/>
          </a:xfrm>
          <a:prstGeom prst="roundRect">
            <a:avLst>
              <a:gd name="adj" fmla="val 158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10109200" y="4405122"/>
            <a:ext cx="1473200" cy="388556"/>
          </a:xfrm>
          <a:prstGeom prst="roundRect">
            <a:avLst>
              <a:gd name="adj" fmla="val 14708"/>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0140950" y="4524731"/>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det J, espurios, bloqueo</a:t>
            </a:r>
          </a:p>
        </p:txBody>
      </p:sp>
      <p:sp>
        <p:nvSpPr>
          <p:cNvPr id="123" name="TextBox 122"/>
          <p:cNvSpPr txBox="1"/>
          <p:nvPr/>
        </p:nvSpPr>
        <p:spPr>
          <a:xfrm>
            <a:off x="603250" y="4891108"/>
            <a:ext cx="1828800" cy="359664"/>
          </a:xfrm>
          <a:prstGeom prst="rect">
            <a:avLst/>
          </a:prstGeom>
          <a:noFill/>
        </p:spPr>
        <p:txBody>
          <a:bodyPr wrap="square" lIns="0" rIns="0" tIns="0" bIns="0" anchor="t"/>
          <a:lstStyle/>
          <a:p>
            <a:pPr algn="l">
              <a:lnSpc>
                <a:spcPts val="1416"/>
              </a:lnSpc>
              <a:spcBef>
                <a:spcPts val="0"/>
              </a:spcBef>
              <a:spcAft>
                <a:spcPts val="0"/>
              </a:spcAft>
            </a:pPr>
            <a:r>
              <a:rPr sz="1200" b="1" i="0">
                <a:solidFill>
                  <a:srgbClr val="1F2937"/>
                </a:solidFill>
                <a:latin typeface="Calibri"/>
              </a:rPr>
              <a:t>8 · Verificación y validación</a:t>
            </a:r>
            <a:br/>
            <a:r>
              <a:rPr sz="1200" b="1" i="0">
                <a:solidFill>
                  <a:srgbClr val="1F2937"/>
                </a:solidFill>
                <a:latin typeface="Calibri"/>
              </a:rPr>
              <a:t>publicada</a:t>
            </a:r>
          </a:p>
        </p:txBody>
      </p:sp>
      <p:sp>
        <p:nvSpPr>
          <p:cNvPr id="124" name="Rounded Rectangle 123"/>
          <p:cNvSpPr/>
          <p:nvPr/>
        </p:nvSpPr>
        <p:spPr>
          <a:xfrm>
            <a:off x="2482850" y="4838128"/>
            <a:ext cx="1485900" cy="461200"/>
          </a:xfrm>
          <a:prstGeom prst="roundRect">
            <a:avLst>
              <a:gd name="adj" fmla="val 13768"/>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520950" y="4993996"/>
            <a:ext cx="1409700" cy="149860"/>
          </a:xfrm>
          <a:prstGeom prst="rect">
            <a:avLst/>
          </a:prstGeom>
          <a:noFill/>
        </p:spPr>
        <p:txBody>
          <a:bodyPr wrap="square" lIns="0" rIns="0" tIns="0" bIns="0" anchor="t"/>
          <a:lstStyle/>
          <a:p>
            <a:pPr algn="ctr">
              <a:lnSpc>
                <a:spcPts val="1180"/>
              </a:lnSpc>
              <a:spcBef>
                <a:spcPts val="0"/>
              </a:spcBef>
              <a:spcAft>
                <a:spcPts val="0"/>
              </a:spcAft>
            </a:pPr>
            <a:r>
              <a:rPr sz="1000" b="0" i="1">
                <a:solidFill>
                  <a:srgbClr val="5B6575"/>
                </a:solidFill>
                <a:latin typeface="Calibri"/>
              </a:rPr>
              <a:t>No consta</a:t>
            </a:r>
          </a:p>
        </p:txBody>
      </p:sp>
      <p:sp>
        <p:nvSpPr>
          <p:cNvPr id="126" name="Rounded Rectangle 125"/>
          <p:cNvSpPr/>
          <p:nvPr/>
        </p:nvSpPr>
        <p:spPr>
          <a:xfrm>
            <a:off x="4006850" y="4838128"/>
            <a:ext cx="1485900" cy="461200"/>
          </a:xfrm>
          <a:prstGeom prst="roundRect">
            <a:avLst>
              <a:gd name="adj" fmla="val 13768"/>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044950" y="4993996"/>
            <a:ext cx="1409700" cy="149860"/>
          </a:xfrm>
          <a:prstGeom prst="rect">
            <a:avLst/>
          </a:prstGeom>
          <a:noFill/>
        </p:spPr>
        <p:txBody>
          <a:bodyPr wrap="square" lIns="0" rIns="0" tIns="0" bIns="0" anchor="t"/>
          <a:lstStyle/>
          <a:p>
            <a:pPr algn="ctr">
              <a:lnSpc>
                <a:spcPts val="1180"/>
              </a:lnSpc>
              <a:spcBef>
                <a:spcPts val="0"/>
              </a:spcBef>
              <a:spcAft>
                <a:spcPts val="0"/>
              </a:spcAft>
            </a:pPr>
            <a:r>
              <a:rPr sz="1000" b="0" i="1">
                <a:solidFill>
                  <a:srgbClr val="5B6575"/>
                </a:solidFill>
                <a:latin typeface="Calibri"/>
              </a:rPr>
              <a:t>No consta</a:t>
            </a:r>
          </a:p>
        </p:txBody>
      </p:sp>
      <p:sp>
        <p:nvSpPr>
          <p:cNvPr id="128" name="Rounded Rectangle 127"/>
          <p:cNvSpPr/>
          <p:nvPr/>
        </p:nvSpPr>
        <p:spPr>
          <a:xfrm>
            <a:off x="5530850" y="4838128"/>
            <a:ext cx="1485900" cy="461200"/>
          </a:xfrm>
          <a:prstGeom prst="roundRect">
            <a:avLst>
              <a:gd name="adj" fmla="val 13768"/>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568950" y="4993996"/>
            <a:ext cx="1409700" cy="149860"/>
          </a:xfrm>
          <a:prstGeom prst="rect">
            <a:avLst/>
          </a:prstGeom>
          <a:noFill/>
        </p:spPr>
        <p:txBody>
          <a:bodyPr wrap="square" lIns="0" rIns="0" tIns="0" bIns="0" anchor="t"/>
          <a:lstStyle/>
          <a:p>
            <a:pPr algn="ctr">
              <a:lnSpc>
                <a:spcPts val="1180"/>
              </a:lnSpc>
              <a:spcBef>
                <a:spcPts val="0"/>
              </a:spcBef>
              <a:spcAft>
                <a:spcPts val="0"/>
              </a:spcAft>
            </a:pPr>
            <a:r>
              <a:rPr sz="1000" b="0" i="1">
                <a:solidFill>
                  <a:srgbClr val="5B6575"/>
                </a:solidFill>
                <a:latin typeface="Calibri"/>
              </a:rPr>
              <a:t>No consta</a:t>
            </a:r>
          </a:p>
        </p:txBody>
      </p:sp>
      <p:sp>
        <p:nvSpPr>
          <p:cNvPr id="130" name="Rounded Rectangle 129"/>
          <p:cNvSpPr/>
          <p:nvPr/>
        </p:nvSpPr>
        <p:spPr>
          <a:xfrm>
            <a:off x="7054850" y="4838128"/>
            <a:ext cx="1485900" cy="461200"/>
          </a:xfrm>
          <a:prstGeom prst="roundRect">
            <a:avLst>
              <a:gd name="adj" fmla="val 13768"/>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092950" y="4993996"/>
            <a:ext cx="1409700" cy="149860"/>
          </a:xfrm>
          <a:prstGeom prst="rect">
            <a:avLst/>
          </a:prstGeom>
          <a:noFill/>
        </p:spPr>
        <p:txBody>
          <a:bodyPr wrap="square" lIns="0" rIns="0" tIns="0" bIns="0" anchor="t"/>
          <a:lstStyle/>
          <a:p>
            <a:pPr algn="ctr">
              <a:lnSpc>
                <a:spcPts val="1180"/>
              </a:lnSpc>
              <a:spcBef>
                <a:spcPts val="0"/>
              </a:spcBef>
              <a:spcAft>
                <a:spcPts val="0"/>
              </a:spcAft>
            </a:pPr>
            <a:r>
              <a:rPr sz="1000" b="0" i="0">
                <a:solidFill>
                  <a:srgbClr val="3F4A5A"/>
                </a:solidFill>
                <a:latin typeface="Calibri"/>
              </a:rPr>
              <a:t>—</a:t>
            </a:r>
          </a:p>
        </p:txBody>
      </p:sp>
      <p:sp>
        <p:nvSpPr>
          <p:cNvPr id="132" name="Rounded Rectangle 131"/>
          <p:cNvSpPr/>
          <p:nvPr/>
        </p:nvSpPr>
        <p:spPr>
          <a:xfrm>
            <a:off x="8578850" y="4838128"/>
            <a:ext cx="1485900" cy="461200"/>
          </a:xfrm>
          <a:prstGeom prst="roundRect">
            <a:avLst>
              <a:gd name="adj" fmla="val 13768"/>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616950" y="4993996"/>
            <a:ext cx="1409700" cy="149860"/>
          </a:xfrm>
          <a:prstGeom prst="rect">
            <a:avLst/>
          </a:prstGeom>
          <a:noFill/>
        </p:spPr>
        <p:txBody>
          <a:bodyPr wrap="square" lIns="0" rIns="0" tIns="0" bIns="0" anchor="t"/>
          <a:lstStyle/>
          <a:p>
            <a:pPr algn="ctr">
              <a:lnSpc>
                <a:spcPts val="1180"/>
              </a:lnSpc>
              <a:spcBef>
                <a:spcPts val="0"/>
              </a:spcBef>
              <a:spcAft>
                <a:spcPts val="0"/>
              </a:spcAft>
            </a:pPr>
            <a:r>
              <a:rPr sz="1000" b="0" i="0">
                <a:solidFill>
                  <a:srgbClr val="3F4A5A"/>
                </a:solidFill>
                <a:latin typeface="Calibri"/>
              </a:rPr>
              <a:t>—</a:t>
            </a:r>
          </a:p>
        </p:txBody>
      </p:sp>
      <p:sp>
        <p:nvSpPr>
          <p:cNvPr id="134" name="Rounded Rectangle 133"/>
          <p:cNvSpPr/>
          <p:nvPr/>
        </p:nvSpPr>
        <p:spPr>
          <a:xfrm>
            <a:off x="10102850" y="4838128"/>
            <a:ext cx="1485900" cy="461200"/>
          </a:xfrm>
          <a:prstGeom prst="roundRect">
            <a:avLst>
              <a:gd name="adj" fmla="val 13768"/>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ounded Rectangle 134"/>
          <p:cNvSpPr/>
          <p:nvPr/>
        </p:nvSpPr>
        <p:spPr>
          <a:xfrm>
            <a:off x="10109200" y="4844478"/>
            <a:ext cx="1473200" cy="448500"/>
          </a:xfrm>
          <a:prstGeom prst="roundRect">
            <a:avLst>
              <a:gd name="adj" fmla="val 12742"/>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0140950" y="4993996"/>
            <a:ext cx="1409700" cy="149860"/>
          </a:xfrm>
          <a:prstGeom prst="rect">
            <a:avLst/>
          </a:prstGeom>
          <a:noFill/>
        </p:spPr>
        <p:txBody>
          <a:bodyPr wrap="square" lIns="0" rIns="0" tIns="0" bIns="0" anchor="t"/>
          <a:lstStyle/>
          <a:p>
            <a:pPr algn="ctr">
              <a:lnSpc>
                <a:spcPts val="1180"/>
              </a:lnSpc>
              <a:spcBef>
                <a:spcPts val="0"/>
              </a:spcBef>
              <a:spcAft>
                <a:spcPts val="0"/>
              </a:spcAft>
            </a:pPr>
            <a:r>
              <a:rPr sz="1000" b="1" i="0">
                <a:solidFill>
                  <a:srgbClr val="2E8B57"/>
                </a:solidFill>
                <a:latin typeface="Calibri"/>
              </a:rPr>
              <a:t>MMS, Timoshenko, Cook</a:t>
            </a:r>
          </a:p>
        </p:txBody>
      </p:sp>
      <p:sp>
        <p:nvSpPr>
          <p:cNvPr id="137" name="TextBox 136"/>
          <p:cNvSpPr txBox="1"/>
          <p:nvPr/>
        </p:nvSpPr>
        <p:spPr>
          <a:xfrm>
            <a:off x="565150" y="5398675"/>
            <a:ext cx="11282934"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«No consta»: la publicación no documenta el atributo (no implica que falte). Raya: atributo no evaluado en las categorías de propósito general.</a:t>
            </a:r>
          </a:p>
        </p:txBody>
      </p:sp>
      <p:sp>
        <p:nvSpPr>
          <p:cNvPr id="138" name="Rectangle 137"/>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65150" y="6535420"/>
            <a:ext cx="5077270"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41" name="TextBox 140"/>
          <p:cNvSpPr txBox="1"/>
          <p:nvPr/>
        </p:nvSpPr>
        <p:spPr>
          <a:xfrm>
            <a:off x="5517452" y="6535420"/>
            <a:ext cx="1157097"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1.1 · Tabla 1.1</a:t>
            </a:r>
          </a:p>
        </p:txBody>
      </p:sp>
      <p:sp>
        <p:nvSpPr>
          <p:cNvPr id="142" name="TextBox 141"/>
          <p:cNvSpPr txBox="1"/>
          <p:nvPr/>
        </p:nvSpPr>
        <p:spPr>
          <a:xfrm>
            <a:off x="6549580" y="6535420"/>
            <a:ext cx="507727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11</a:t>
            </a:r>
          </a:p>
        </p:txBody>
      </p:sp>
      <p:sp>
        <p:nvSpPr>
          <p:cNvPr id="143"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Enlace a sep-teoria">
            <a:hlinkClick action="ppaction://hlinksldjump" r:id="rId3"/>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Enlace a sep-diseno">
            <a:hlinkClick action="ppaction://hlinksldjump" r:id="rId4"/>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ounded Rectangle 148">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400"/>
                                        <p:tgtEl>
                                          <p:spTgt spid="3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400"/>
                                        <p:tgtEl>
                                          <p:spTgt spid="3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400"/>
                                        <p:tgtEl>
                                          <p:spTgt spid="3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fade">
                                      <p:cBhvr>
                                        <p:cTn id="20" dur="400"/>
                                        <p:tgtEl>
                                          <p:spTgt spid="5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fade">
                                      <p:cBhvr>
                                        <p:cTn id="23" dur="400"/>
                                        <p:tgtEl>
                                          <p:spTgt spid="5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fade">
                                      <p:cBhvr>
                                        <p:cTn id="26" dur="400"/>
                                        <p:tgtEl>
                                          <p:spTgt spid="5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fade">
                                      <p:cBhvr>
                                        <p:cTn id="29" dur="400"/>
                                        <p:tgtEl>
                                          <p:spTgt spid="6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fade">
                                      <p:cBhvr>
                                        <p:cTn id="32" dur="400"/>
                                        <p:tgtEl>
                                          <p:spTgt spid="6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fade">
                                      <p:cBhvr>
                                        <p:cTn id="35" dur="400"/>
                                        <p:tgtEl>
                                          <p:spTgt spid="6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8"/>
                                        </p:tgtEl>
                                        <p:attrNameLst>
                                          <p:attrName>style.visibility</p:attrName>
                                        </p:attrNameLst>
                                      </p:cBhvr>
                                      <p:to>
                                        <p:strVal val="visible"/>
                                      </p:to>
                                    </p:set>
                                    <p:animEffect transition="in" filter="fade">
                                      <p:cBhvr>
                                        <p:cTn id="38" dur="400"/>
                                        <p:tgtEl>
                                          <p:spTgt spid="7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9"/>
                                        </p:tgtEl>
                                        <p:attrNameLst>
                                          <p:attrName>style.visibility</p:attrName>
                                        </p:attrNameLst>
                                      </p:cBhvr>
                                      <p:to>
                                        <p:strVal val="visible"/>
                                      </p:to>
                                    </p:set>
                                    <p:animEffect transition="in" filter="fade">
                                      <p:cBhvr>
                                        <p:cTn id="41" dur="400"/>
                                        <p:tgtEl>
                                          <p:spTgt spid="7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0"/>
                                        </p:tgtEl>
                                        <p:attrNameLst>
                                          <p:attrName>style.visibility</p:attrName>
                                        </p:attrNameLst>
                                      </p:cBhvr>
                                      <p:to>
                                        <p:strVal val="visible"/>
                                      </p:to>
                                    </p:set>
                                    <p:animEffect transition="in" filter="fade">
                                      <p:cBhvr>
                                        <p:cTn id="44" dur="400"/>
                                        <p:tgtEl>
                                          <p:spTgt spid="8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92"/>
                                        </p:tgtEl>
                                        <p:attrNameLst>
                                          <p:attrName>style.visibility</p:attrName>
                                        </p:attrNameLst>
                                      </p:cBhvr>
                                      <p:to>
                                        <p:strVal val="visible"/>
                                      </p:to>
                                    </p:set>
                                    <p:animEffect transition="in" filter="fade">
                                      <p:cBhvr>
                                        <p:cTn id="47" dur="400"/>
                                        <p:tgtEl>
                                          <p:spTgt spid="9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93"/>
                                        </p:tgtEl>
                                        <p:attrNameLst>
                                          <p:attrName>style.visibility</p:attrName>
                                        </p:attrNameLst>
                                      </p:cBhvr>
                                      <p:to>
                                        <p:strVal val="visible"/>
                                      </p:to>
                                    </p:set>
                                    <p:animEffect transition="in" filter="fade">
                                      <p:cBhvr>
                                        <p:cTn id="50" dur="400"/>
                                        <p:tgtEl>
                                          <p:spTgt spid="9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94"/>
                                        </p:tgtEl>
                                        <p:attrNameLst>
                                          <p:attrName>style.visibility</p:attrName>
                                        </p:attrNameLst>
                                      </p:cBhvr>
                                      <p:to>
                                        <p:strVal val="visible"/>
                                      </p:to>
                                    </p:set>
                                    <p:animEffect transition="in" filter="fade">
                                      <p:cBhvr>
                                        <p:cTn id="53" dur="400"/>
                                        <p:tgtEl>
                                          <p:spTgt spid="9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06"/>
                                        </p:tgtEl>
                                        <p:attrNameLst>
                                          <p:attrName>style.visibility</p:attrName>
                                        </p:attrNameLst>
                                      </p:cBhvr>
                                      <p:to>
                                        <p:strVal val="visible"/>
                                      </p:to>
                                    </p:set>
                                    <p:animEffect transition="in" filter="fade">
                                      <p:cBhvr>
                                        <p:cTn id="56" dur="400"/>
                                        <p:tgtEl>
                                          <p:spTgt spid="10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07"/>
                                        </p:tgtEl>
                                        <p:attrNameLst>
                                          <p:attrName>style.visibility</p:attrName>
                                        </p:attrNameLst>
                                      </p:cBhvr>
                                      <p:to>
                                        <p:strVal val="visible"/>
                                      </p:to>
                                    </p:set>
                                    <p:animEffect transition="in" filter="fade">
                                      <p:cBhvr>
                                        <p:cTn id="59" dur="400"/>
                                        <p:tgtEl>
                                          <p:spTgt spid="10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08"/>
                                        </p:tgtEl>
                                        <p:attrNameLst>
                                          <p:attrName>style.visibility</p:attrName>
                                        </p:attrNameLst>
                                      </p:cBhvr>
                                      <p:to>
                                        <p:strVal val="visible"/>
                                      </p:to>
                                    </p:set>
                                    <p:animEffect transition="in" filter="fade">
                                      <p:cBhvr>
                                        <p:cTn id="62" dur="400"/>
                                        <p:tgtEl>
                                          <p:spTgt spid="10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20"/>
                                        </p:tgtEl>
                                        <p:attrNameLst>
                                          <p:attrName>style.visibility</p:attrName>
                                        </p:attrNameLst>
                                      </p:cBhvr>
                                      <p:to>
                                        <p:strVal val="visible"/>
                                      </p:to>
                                    </p:set>
                                    <p:animEffect transition="in" filter="fade">
                                      <p:cBhvr>
                                        <p:cTn id="65" dur="400"/>
                                        <p:tgtEl>
                                          <p:spTgt spid="12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21"/>
                                        </p:tgtEl>
                                        <p:attrNameLst>
                                          <p:attrName>style.visibility</p:attrName>
                                        </p:attrNameLst>
                                      </p:cBhvr>
                                      <p:to>
                                        <p:strVal val="visible"/>
                                      </p:to>
                                    </p:set>
                                    <p:animEffect transition="in" filter="fade">
                                      <p:cBhvr>
                                        <p:cTn id="68" dur="400"/>
                                        <p:tgtEl>
                                          <p:spTgt spid="12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22"/>
                                        </p:tgtEl>
                                        <p:attrNameLst>
                                          <p:attrName>style.visibility</p:attrName>
                                        </p:attrNameLst>
                                      </p:cBhvr>
                                      <p:to>
                                        <p:strVal val="visible"/>
                                      </p:to>
                                    </p:set>
                                    <p:animEffect transition="in" filter="fade">
                                      <p:cBhvr>
                                        <p:cTn id="71" dur="400"/>
                                        <p:tgtEl>
                                          <p:spTgt spid="1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34"/>
                                        </p:tgtEl>
                                        <p:attrNameLst>
                                          <p:attrName>style.visibility</p:attrName>
                                        </p:attrNameLst>
                                      </p:cBhvr>
                                      <p:to>
                                        <p:strVal val="visible"/>
                                      </p:to>
                                    </p:set>
                                    <p:animEffect transition="in" filter="fade">
                                      <p:cBhvr>
                                        <p:cTn id="74" dur="400"/>
                                        <p:tgtEl>
                                          <p:spTgt spid="1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35"/>
                                        </p:tgtEl>
                                        <p:attrNameLst>
                                          <p:attrName>style.visibility</p:attrName>
                                        </p:attrNameLst>
                                      </p:cBhvr>
                                      <p:to>
                                        <p:strVal val="visible"/>
                                      </p:to>
                                    </p:set>
                                    <p:animEffect transition="in" filter="fade">
                                      <p:cBhvr>
                                        <p:cTn id="77" dur="400"/>
                                        <p:tgtEl>
                                          <p:spTgt spid="1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36"/>
                                        </p:tgtEl>
                                        <p:attrNameLst>
                                          <p:attrName>style.visibility</p:attrName>
                                        </p:attrNameLst>
                                      </p:cBhvr>
                                      <p:to>
                                        <p:strVal val="visible"/>
                                      </p:to>
                                    </p:set>
                                    <p:animEffect transition="in" filter="fade">
                                      <p:cBhvr>
                                        <p:cTn id="80" dur="4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36" grpId="0" animBg="1"/>
      <p:bldP spid="37" grpId="0" animBg="1"/>
      <p:bldP spid="38" grpId="0" animBg="1"/>
      <p:bldP spid="50" grpId="0" animBg="1"/>
      <p:bldP spid="51" grpId="0" animBg="1"/>
      <p:bldP spid="52" grpId="0" animBg="1"/>
      <p:bldP spid="64" grpId="0" animBg="1"/>
      <p:bldP spid="65" grpId="0" animBg="1"/>
      <p:bldP spid="66" grpId="0" animBg="1"/>
      <p:bldP spid="78" grpId="0" animBg="1"/>
      <p:bldP spid="79" grpId="0" animBg="1"/>
      <p:bldP spid="80" grpId="0" animBg="1"/>
      <p:bldP spid="92" grpId="0" animBg="1"/>
      <p:bldP spid="93" grpId="0" animBg="1"/>
      <p:bldP spid="94" grpId="0" animBg="1"/>
      <p:bldP spid="106" grpId="0" animBg="1"/>
      <p:bldP spid="107" grpId="0" animBg="1"/>
      <p:bldP spid="108" grpId="0" animBg="1"/>
      <p:bldP spid="120" grpId="0" animBg="1"/>
      <p:bldP spid="121" grpId="0" animBg="1"/>
      <p:bldP spid="122" grpId="0" animBg="1"/>
      <p:bldP spid="134" grpId="0" animBg="1"/>
      <p:bldP spid="135" grpId="0" animBg="1"/>
      <p:bldP spid="136"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Del diagnóstico a cinco requisitos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11055350" cy="615950"/>
          </a:xfrm>
          <a:prstGeom prst="roundRect">
            <a:avLst>
              <a:gd name="adj" fmla="val 180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6600" y="1388046"/>
            <a:ext cx="406400" cy="4064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1200" y="1503744"/>
            <a:ext cx="4572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1</a:t>
            </a:r>
          </a:p>
        </p:txBody>
      </p:sp>
      <p:sp>
        <p:nvSpPr>
          <p:cNvPr id="16" name="TextBox 15"/>
          <p:cNvSpPr txBox="1"/>
          <p:nvPr/>
        </p:nvSpPr>
        <p:spPr>
          <a:xfrm>
            <a:off x="1384300" y="1450378"/>
            <a:ext cx="7772400" cy="289560"/>
          </a:xfrm>
          <a:prstGeom prst="rect">
            <a:avLst/>
          </a:prstGeom>
          <a:noFill/>
        </p:spPr>
        <p:txBody>
          <a:bodyPr wrap="square" lIns="0" rIns="0" tIns="0" bIns="0" anchor="t"/>
          <a:lstStyle/>
          <a:p>
            <a:pPr algn="l">
              <a:lnSpc>
                <a:spcPts val="2280"/>
              </a:lnSpc>
              <a:spcBef>
                <a:spcPts val="0"/>
              </a:spcBef>
              <a:spcAft>
                <a:spcPts val="0"/>
              </a:spcAft>
            </a:pPr>
            <a:r>
              <a:rPr sz="1900" b="1" i="0">
                <a:solidFill>
                  <a:srgbClr val="1B2A4A"/>
                </a:solidFill>
                <a:latin typeface="Calibri"/>
              </a:rPr>
              <a:t>El procedimiento de cálculo completo, a la vista sobre el modelo del usuario</a:t>
            </a:r>
          </a:p>
        </p:txBody>
      </p:sp>
      <p:sp>
        <p:nvSpPr>
          <p:cNvPr id="17" name="Rounded Rectangle 16"/>
          <p:cNvSpPr/>
          <p:nvPr/>
        </p:nvSpPr>
        <p:spPr>
          <a:xfrm>
            <a:off x="10440860" y="1443926"/>
            <a:ext cx="1014540" cy="294576"/>
          </a:xfrm>
          <a:prstGeom prst="roundRect">
            <a:avLst>
              <a:gd name="adj" fmla="val 50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42460" y="1512278"/>
            <a:ext cx="811340" cy="167640"/>
          </a:xfrm>
          <a:prstGeom prst="rect">
            <a:avLst/>
          </a:prstGeom>
          <a:noFill/>
        </p:spPr>
        <p:txBody>
          <a:bodyPr wrap="square" lIns="0" rIns="0" tIns="0" bIns="0" anchor="t"/>
          <a:lstStyle/>
          <a:p>
            <a:pPr algn="ctr">
              <a:lnSpc>
                <a:spcPts val="1320"/>
              </a:lnSpc>
              <a:spcBef>
                <a:spcPts val="0"/>
              </a:spcBef>
              <a:spcAft>
                <a:spcPts val="0"/>
              </a:spcAft>
            </a:pPr>
            <a:r>
              <a:rPr sz="1200" b="1" i="0">
                <a:solidFill>
                  <a:srgbClr val="E8741A"/>
                </a:solidFill>
                <a:latin typeface="Calibri"/>
              </a:rPr>
              <a:t>Trazabilidad</a:t>
            </a:r>
          </a:p>
        </p:txBody>
      </p:sp>
      <p:sp>
        <p:nvSpPr>
          <p:cNvPr id="19" name="Rounded Rectangle 18"/>
          <p:cNvSpPr/>
          <p:nvPr/>
        </p:nvSpPr>
        <p:spPr>
          <a:xfrm>
            <a:off x="568325" y="2007171"/>
            <a:ext cx="11055350" cy="615950"/>
          </a:xfrm>
          <a:prstGeom prst="roundRect">
            <a:avLst>
              <a:gd name="adj" fmla="val 180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6600" y="2111946"/>
            <a:ext cx="406400" cy="4064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200" y="2227644"/>
            <a:ext cx="4572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2</a:t>
            </a:r>
          </a:p>
        </p:txBody>
      </p:sp>
      <p:sp>
        <p:nvSpPr>
          <p:cNvPr id="22" name="TextBox 21"/>
          <p:cNvSpPr txBox="1"/>
          <p:nvPr/>
        </p:nvSpPr>
        <p:spPr>
          <a:xfrm>
            <a:off x="1384300" y="2174278"/>
            <a:ext cx="7772400" cy="289560"/>
          </a:xfrm>
          <a:prstGeom prst="rect">
            <a:avLst/>
          </a:prstGeom>
          <a:noFill/>
        </p:spPr>
        <p:txBody>
          <a:bodyPr wrap="square" lIns="0" rIns="0" tIns="0" bIns="0" anchor="t"/>
          <a:lstStyle/>
          <a:p>
            <a:pPr algn="l">
              <a:lnSpc>
                <a:spcPts val="2280"/>
              </a:lnSpc>
              <a:spcBef>
                <a:spcPts val="0"/>
              </a:spcBef>
              <a:spcAft>
                <a:spcPts val="0"/>
              </a:spcAft>
            </a:pPr>
            <a:r>
              <a:rPr sz="1900" b="1" i="0">
                <a:solidFill>
                  <a:srgbClr val="1B2A4A"/>
                </a:solidFill>
                <a:latin typeface="Calibri"/>
              </a:rPr>
              <a:t>Una memoria de cálculo reproducible a mano</a:t>
            </a:r>
          </a:p>
        </p:txBody>
      </p:sp>
      <p:sp>
        <p:nvSpPr>
          <p:cNvPr id="23" name="Rounded Rectangle 22"/>
          <p:cNvSpPr/>
          <p:nvPr/>
        </p:nvSpPr>
        <p:spPr>
          <a:xfrm>
            <a:off x="10440860" y="2167826"/>
            <a:ext cx="1014540" cy="294576"/>
          </a:xfrm>
          <a:prstGeom prst="roundRect">
            <a:avLst>
              <a:gd name="adj" fmla="val 50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42460" y="2236178"/>
            <a:ext cx="811340" cy="167640"/>
          </a:xfrm>
          <a:prstGeom prst="rect">
            <a:avLst/>
          </a:prstGeom>
          <a:noFill/>
        </p:spPr>
        <p:txBody>
          <a:bodyPr wrap="square" lIns="0" rIns="0" tIns="0" bIns="0" anchor="t"/>
          <a:lstStyle/>
          <a:p>
            <a:pPr algn="ctr">
              <a:lnSpc>
                <a:spcPts val="1320"/>
              </a:lnSpc>
              <a:spcBef>
                <a:spcPts val="0"/>
              </a:spcBef>
              <a:spcAft>
                <a:spcPts val="0"/>
              </a:spcAft>
            </a:pPr>
            <a:r>
              <a:rPr sz="1200" b="1" i="0">
                <a:solidFill>
                  <a:srgbClr val="E8741A"/>
                </a:solidFill>
                <a:latin typeface="Calibri"/>
              </a:rPr>
              <a:t>Trazabilidad</a:t>
            </a:r>
          </a:p>
        </p:txBody>
      </p:sp>
      <p:sp>
        <p:nvSpPr>
          <p:cNvPr id="25" name="Rounded Rectangle 24"/>
          <p:cNvSpPr/>
          <p:nvPr/>
        </p:nvSpPr>
        <p:spPr>
          <a:xfrm>
            <a:off x="568325" y="2731072"/>
            <a:ext cx="11055350" cy="615950"/>
          </a:xfrm>
          <a:prstGeom prst="roundRect">
            <a:avLst>
              <a:gd name="adj" fmla="val 180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6600" y="2835846"/>
            <a:ext cx="406400" cy="4064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200" y="2951544"/>
            <a:ext cx="4572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3</a:t>
            </a:r>
          </a:p>
        </p:txBody>
      </p:sp>
      <p:sp>
        <p:nvSpPr>
          <p:cNvPr id="28" name="TextBox 27"/>
          <p:cNvSpPr txBox="1"/>
          <p:nvPr/>
        </p:nvSpPr>
        <p:spPr>
          <a:xfrm>
            <a:off x="1384300" y="2898178"/>
            <a:ext cx="7772400" cy="289560"/>
          </a:xfrm>
          <a:prstGeom prst="rect">
            <a:avLst/>
          </a:prstGeom>
          <a:noFill/>
        </p:spPr>
        <p:txBody>
          <a:bodyPr wrap="square" lIns="0" rIns="0" tIns="0" bIns="0" anchor="t"/>
          <a:lstStyle/>
          <a:p>
            <a:pPr algn="l">
              <a:lnSpc>
                <a:spcPts val="2280"/>
              </a:lnSpc>
              <a:spcBef>
                <a:spcPts val="0"/>
              </a:spcBef>
              <a:spcAft>
                <a:spcPts val="0"/>
              </a:spcAft>
            </a:pPr>
            <a:r>
              <a:rPr sz="1900" b="1" i="0">
                <a:solidFill>
                  <a:srgbClr val="1B2A4A"/>
                </a:solidFill>
                <a:latin typeface="Calibri"/>
              </a:rPr>
              <a:t>Exactitud verificada y validada, publicada junto con la herramienta</a:t>
            </a:r>
          </a:p>
        </p:txBody>
      </p:sp>
      <p:sp>
        <p:nvSpPr>
          <p:cNvPr id="29" name="Rounded Rectangle 28"/>
          <p:cNvSpPr/>
          <p:nvPr/>
        </p:nvSpPr>
        <p:spPr>
          <a:xfrm>
            <a:off x="10295318" y="2891726"/>
            <a:ext cx="1160082" cy="294576"/>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96918" y="2960078"/>
            <a:ext cx="956882" cy="167640"/>
          </a:xfrm>
          <a:prstGeom prst="rect">
            <a:avLst/>
          </a:prstGeom>
          <a:noFill/>
        </p:spPr>
        <p:txBody>
          <a:bodyPr wrap="square" lIns="0" rIns="0" tIns="0" bIns="0" anchor="t"/>
          <a:lstStyle/>
          <a:p>
            <a:pPr algn="ctr">
              <a:lnSpc>
                <a:spcPts val="1320"/>
              </a:lnSpc>
              <a:spcBef>
                <a:spcPts val="0"/>
              </a:spcBef>
              <a:spcAft>
                <a:spcPts val="0"/>
              </a:spcAft>
            </a:pPr>
            <a:r>
              <a:rPr sz="1200" b="1" i="0">
                <a:solidFill>
                  <a:srgbClr val="1F77B4"/>
                </a:solidFill>
                <a:latin typeface="Calibri"/>
              </a:rPr>
              <a:t>Verificabilidad</a:t>
            </a:r>
          </a:p>
        </p:txBody>
      </p:sp>
      <p:sp>
        <p:nvSpPr>
          <p:cNvPr id="31" name="Rounded Rectangle 30"/>
          <p:cNvSpPr/>
          <p:nvPr/>
        </p:nvSpPr>
        <p:spPr>
          <a:xfrm>
            <a:off x="568325" y="3454972"/>
            <a:ext cx="11055350" cy="615950"/>
          </a:xfrm>
          <a:prstGeom prst="roundRect">
            <a:avLst>
              <a:gd name="adj" fmla="val 180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36600" y="3559746"/>
            <a:ext cx="406400" cy="4064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1200" y="3675444"/>
            <a:ext cx="4572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4</a:t>
            </a:r>
          </a:p>
        </p:txBody>
      </p:sp>
      <p:sp>
        <p:nvSpPr>
          <p:cNvPr id="34" name="TextBox 33"/>
          <p:cNvSpPr txBox="1"/>
          <p:nvPr/>
        </p:nvSpPr>
        <p:spPr>
          <a:xfrm>
            <a:off x="1384300" y="3622078"/>
            <a:ext cx="7772400" cy="289560"/>
          </a:xfrm>
          <a:prstGeom prst="rect">
            <a:avLst/>
          </a:prstGeom>
          <a:noFill/>
        </p:spPr>
        <p:txBody>
          <a:bodyPr wrap="square" lIns="0" rIns="0" tIns="0" bIns="0" anchor="t"/>
          <a:lstStyle/>
          <a:p>
            <a:pPr algn="l">
              <a:lnSpc>
                <a:spcPts val="2280"/>
              </a:lnSpc>
              <a:spcBef>
                <a:spcPts val="0"/>
              </a:spcBef>
              <a:spcAft>
                <a:spcPts val="0"/>
              </a:spcAft>
            </a:pPr>
            <a:r>
              <a:rPr sz="1900" b="1" i="0">
                <a:solidFill>
                  <a:srgbClr val="1B2A4A"/>
                </a:solidFill>
                <a:latin typeface="Calibri"/>
              </a:rPr>
              <a:t>La cobertura del contenido que los expertos exigen</a:t>
            </a:r>
          </a:p>
        </p:txBody>
      </p:sp>
      <p:sp>
        <p:nvSpPr>
          <p:cNvPr id="35" name="Rounded Rectangle 34"/>
          <p:cNvSpPr/>
          <p:nvPr/>
        </p:nvSpPr>
        <p:spPr>
          <a:xfrm>
            <a:off x="9540176" y="3615626"/>
            <a:ext cx="1915224" cy="294576"/>
          </a:xfrm>
          <a:prstGeom prst="roundRect">
            <a:avLst>
              <a:gd name="adj" fmla="val 50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1776" y="3683978"/>
            <a:ext cx="1712024" cy="167640"/>
          </a:xfrm>
          <a:prstGeom prst="rect">
            <a:avLst/>
          </a:prstGeom>
          <a:noFill/>
        </p:spPr>
        <p:txBody>
          <a:bodyPr wrap="square" lIns="0" rIns="0" tIns="0" bIns="0" anchor="t"/>
          <a:lstStyle/>
          <a:p>
            <a:pPr algn="ctr">
              <a:lnSpc>
                <a:spcPts val="1320"/>
              </a:lnSpc>
              <a:spcBef>
                <a:spcPts val="0"/>
              </a:spcBef>
              <a:spcAft>
                <a:spcPts val="0"/>
              </a:spcAft>
            </a:pPr>
            <a:r>
              <a:rPr sz="1200" b="1" i="0">
                <a:solidFill>
                  <a:srgbClr val="E8741A"/>
                </a:solidFill>
                <a:latin typeface="Calibri"/>
              </a:rPr>
              <a:t>Trazabilidad del contenido</a:t>
            </a:r>
          </a:p>
        </p:txBody>
      </p:sp>
      <p:sp>
        <p:nvSpPr>
          <p:cNvPr id="37" name="Rounded Rectangle 36"/>
          <p:cNvSpPr/>
          <p:nvPr/>
        </p:nvSpPr>
        <p:spPr>
          <a:xfrm>
            <a:off x="568325" y="4178872"/>
            <a:ext cx="11055350" cy="671703"/>
          </a:xfrm>
          <a:prstGeom prst="roundRect">
            <a:avLst>
              <a:gd name="adj" fmla="val 1654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36600" y="4311523"/>
            <a:ext cx="406400" cy="4064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1200" y="4427220"/>
            <a:ext cx="4572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5</a:t>
            </a:r>
          </a:p>
        </p:txBody>
      </p:sp>
      <p:sp>
        <p:nvSpPr>
          <p:cNvPr id="40" name="TextBox 39"/>
          <p:cNvSpPr txBox="1"/>
          <p:nvPr/>
        </p:nvSpPr>
        <p:spPr>
          <a:xfrm>
            <a:off x="1384300" y="4373855"/>
            <a:ext cx="7772400" cy="289560"/>
          </a:xfrm>
          <a:prstGeom prst="rect">
            <a:avLst/>
          </a:prstGeom>
          <a:noFill/>
        </p:spPr>
        <p:txBody>
          <a:bodyPr wrap="square" lIns="0" rIns="0" tIns="0" bIns="0" anchor="t"/>
          <a:lstStyle/>
          <a:p>
            <a:pPr algn="l">
              <a:lnSpc>
                <a:spcPts val="2280"/>
              </a:lnSpc>
              <a:spcBef>
                <a:spcPts val="0"/>
              </a:spcBef>
              <a:spcAft>
                <a:spcPts val="0"/>
              </a:spcAft>
            </a:pPr>
            <a:r>
              <a:rPr sz="1900" b="1" i="0">
                <a:solidFill>
                  <a:srgbClr val="1B2A4A"/>
                </a:solidFill>
                <a:latin typeface="Calibri"/>
              </a:rPr>
              <a:t>Software libre y en español</a:t>
            </a:r>
          </a:p>
        </p:txBody>
      </p:sp>
      <p:sp>
        <p:nvSpPr>
          <p:cNvPr id="41" name="Rounded Rectangle 40"/>
          <p:cNvSpPr/>
          <p:nvPr/>
        </p:nvSpPr>
        <p:spPr>
          <a:xfrm>
            <a:off x="9169400" y="4283646"/>
            <a:ext cx="2286000" cy="462153"/>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71000" y="4351998"/>
            <a:ext cx="2082800" cy="335280"/>
          </a:xfrm>
          <a:prstGeom prst="rect">
            <a:avLst/>
          </a:prstGeom>
          <a:noFill/>
        </p:spPr>
        <p:txBody>
          <a:bodyPr wrap="square" lIns="0" rIns="0" tIns="0" bIns="0" anchor="t"/>
          <a:lstStyle/>
          <a:p>
            <a:pPr algn="ctr">
              <a:lnSpc>
                <a:spcPts val="1320"/>
              </a:lnSpc>
              <a:spcBef>
                <a:spcPts val="0"/>
              </a:spcBef>
              <a:spcAft>
                <a:spcPts val="0"/>
              </a:spcAft>
            </a:pPr>
            <a:r>
              <a:rPr sz="1200" b="1" i="0">
                <a:solidFill>
                  <a:srgbClr val="2E8B57"/>
                </a:solidFill>
                <a:latin typeface="Calibri"/>
              </a:rPr>
              <a:t>Las pone al alcance de la</a:t>
            </a:r>
            <a:br/>
            <a:r>
              <a:rPr sz="1200" b="1" i="0">
                <a:solidFill>
                  <a:srgbClr val="2E8B57"/>
                </a:solidFill>
                <a:latin typeface="Calibri"/>
              </a:rPr>
              <a:t>Carrera</a:t>
            </a:r>
          </a:p>
        </p:txBody>
      </p:sp>
      <p:sp>
        <p:nvSpPr>
          <p:cNvPr id="43" name="Rounded Rectangle 42"/>
          <p:cNvSpPr/>
          <p:nvPr/>
        </p:nvSpPr>
        <p:spPr>
          <a:xfrm>
            <a:off x="565150" y="5659120"/>
            <a:ext cx="110617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5150" y="56591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450" y="5775884"/>
            <a:ext cx="2807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46" name="TextBox 45"/>
          <p:cNvSpPr txBox="1"/>
          <p:nvPr/>
        </p:nvSpPr>
        <p:spPr>
          <a:xfrm>
            <a:off x="1176147" y="5802089"/>
            <a:ext cx="8717724" cy="263398"/>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Es la misma lista que el Capítulo 3 contrasta, uno por uno, contra criterios fijados de antemano.</a:t>
            </a:r>
          </a:p>
        </p:txBody>
      </p:sp>
      <p:sp>
        <p:nvSpPr>
          <p:cNvPr id="47" name="Rectangle 4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5150" y="6535420"/>
            <a:ext cx="512279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50" name="TextBox 49"/>
          <p:cNvSpPr txBox="1"/>
          <p:nvPr/>
        </p:nvSpPr>
        <p:spPr>
          <a:xfrm>
            <a:off x="5562092" y="6535420"/>
            <a:ext cx="1067689"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OE1 · § 1.1 y § 2.2.1</a:t>
            </a:r>
          </a:p>
        </p:txBody>
      </p:sp>
      <p:sp>
        <p:nvSpPr>
          <p:cNvPr id="51" name="TextBox 50"/>
          <p:cNvSpPr txBox="1"/>
          <p:nvPr/>
        </p:nvSpPr>
        <p:spPr>
          <a:xfrm>
            <a:off x="6503924" y="6535420"/>
            <a:ext cx="512292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12</a:t>
            </a:r>
          </a:p>
        </p:txBody>
      </p:sp>
      <p:sp>
        <p:nvSpPr>
          <p:cNvPr id="52"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nlace a sep-teoria">
            <a:hlinkClick action="ppaction://hlinksldjump" r:id="rId3"/>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nlace a sep-diseno">
            <a:hlinkClick action="ppaction://hlinksldjump" r:id="rId4"/>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5" fill="hold">
                      <p:stCondLst>
                        <p:cond delay="indefinite"/>
                        <p:cond evt="onBegin" delay="0">
                          <p:tn val="2"/>
                        </p:cond>
                      </p:stCondLst>
                      <p:childTnLst>
                        <p:par>
                          <p:cTn id="106"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23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23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23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23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23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grpId="0" nodeType="withEffect">
                                  <p:stCondLst>
                                    <p:cond delay="23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par>
                                <p:cTn id="39" presetID="10" presetClass="entr" presetSubtype="0" fill="hold" grpId="0" nodeType="withEffect">
                                  <p:stCondLst>
                                    <p:cond delay="34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50"/>
                                        <p:tgtEl>
                                          <p:spTgt spid="25"/>
                                        </p:tgtEl>
                                      </p:cBhvr>
                                    </p:animEffect>
                                  </p:childTnLst>
                                </p:cTn>
                              </p:par>
                              <p:par>
                                <p:cTn id="42" presetID="10" presetClass="entr" presetSubtype="0" fill="hold" grpId="0" nodeType="withEffect">
                                  <p:stCondLst>
                                    <p:cond delay="34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50"/>
                                        <p:tgtEl>
                                          <p:spTgt spid="26"/>
                                        </p:tgtEl>
                                      </p:cBhvr>
                                    </p:animEffect>
                                  </p:childTnLst>
                                </p:cTn>
                              </p:par>
                              <p:par>
                                <p:cTn id="45" presetID="10" presetClass="entr" presetSubtype="0" fill="hold" grpId="0" nodeType="withEffect">
                                  <p:stCondLst>
                                    <p:cond delay="34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50"/>
                                        <p:tgtEl>
                                          <p:spTgt spid="27"/>
                                        </p:tgtEl>
                                      </p:cBhvr>
                                    </p:animEffect>
                                  </p:childTnLst>
                                </p:cTn>
                              </p:par>
                              <p:par>
                                <p:cTn id="48" presetID="10" presetClass="entr" presetSubtype="0" fill="hold" grpId="0" nodeType="withEffect">
                                  <p:stCondLst>
                                    <p:cond delay="34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50"/>
                                        <p:tgtEl>
                                          <p:spTgt spid="28"/>
                                        </p:tgtEl>
                                      </p:cBhvr>
                                    </p:animEffect>
                                  </p:childTnLst>
                                </p:cTn>
                              </p:par>
                              <p:par>
                                <p:cTn id="51" presetID="10" presetClass="entr" presetSubtype="0" fill="hold" grpId="0" nodeType="withEffect">
                                  <p:stCondLst>
                                    <p:cond delay="34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50"/>
                                        <p:tgtEl>
                                          <p:spTgt spid="29"/>
                                        </p:tgtEl>
                                      </p:cBhvr>
                                    </p:animEffect>
                                  </p:childTnLst>
                                </p:cTn>
                              </p:par>
                              <p:par>
                                <p:cTn id="54" presetID="10" presetClass="entr" presetSubtype="0" fill="hold" grpId="0" nodeType="withEffect">
                                  <p:stCondLst>
                                    <p:cond delay="34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50"/>
                                        <p:tgtEl>
                                          <p:spTgt spid="30"/>
                                        </p:tgtEl>
                                      </p:cBhvr>
                                    </p:animEffect>
                                  </p:childTnLst>
                                </p:cTn>
                              </p:par>
                              <p:par>
                                <p:cTn id="57" presetID="10" presetClass="entr" presetSubtype="0" fill="hold" grpId="0" nodeType="withEffect">
                                  <p:stCondLst>
                                    <p:cond delay="45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50"/>
                                        <p:tgtEl>
                                          <p:spTgt spid="31"/>
                                        </p:tgtEl>
                                      </p:cBhvr>
                                    </p:animEffect>
                                  </p:childTnLst>
                                </p:cTn>
                              </p:par>
                              <p:par>
                                <p:cTn id="60" presetID="10" presetClass="entr" presetSubtype="0" fill="hold" grpId="0" nodeType="withEffect">
                                  <p:stCondLst>
                                    <p:cond delay="45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50"/>
                                        <p:tgtEl>
                                          <p:spTgt spid="32"/>
                                        </p:tgtEl>
                                      </p:cBhvr>
                                    </p:animEffect>
                                  </p:childTnLst>
                                </p:cTn>
                              </p:par>
                              <p:par>
                                <p:cTn id="63" presetID="10" presetClass="entr" presetSubtype="0" fill="hold" grpId="0" nodeType="withEffect">
                                  <p:stCondLst>
                                    <p:cond delay="45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50"/>
                                        <p:tgtEl>
                                          <p:spTgt spid="33"/>
                                        </p:tgtEl>
                                      </p:cBhvr>
                                    </p:animEffect>
                                  </p:childTnLst>
                                </p:cTn>
                              </p:par>
                              <p:par>
                                <p:cTn id="66" presetID="10" presetClass="entr" presetSubtype="0" fill="hold" grpId="0" nodeType="withEffect">
                                  <p:stCondLst>
                                    <p:cond delay="45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50"/>
                                        <p:tgtEl>
                                          <p:spTgt spid="34"/>
                                        </p:tgtEl>
                                      </p:cBhvr>
                                    </p:animEffect>
                                  </p:childTnLst>
                                </p:cTn>
                              </p:par>
                              <p:par>
                                <p:cTn id="69" presetID="10" presetClass="entr" presetSubtype="0" fill="hold" grpId="0" nodeType="withEffect">
                                  <p:stCondLst>
                                    <p:cond delay="45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50"/>
                                        <p:tgtEl>
                                          <p:spTgt spid="35"/>
                                        </p:tgtEl>
                                      </p:cBhvr>
                                    </p:animEffect>
                                  </p:childTnLst>
                                </p:cTn>
                              </p:par>
                              <p:par>
                                <p:cTn id="72" presetID="10" presetClass="entr" presetSubtype="0" fill="hold" grpId="0" nodeType="withEffect">
                                  <p:stCondLst>
                                    <p:cond delay="45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50"/>
                                        <p:tgtEl>
                                          <p:spTgt spid="36"/>
                                        </p:tgtEl>
                                      </p:cBhvr>
                                    </p:animEffect>
                                  </p:childTnLst>
                                </p:cTn>
                              </p:par>
                              <p:par>
                                <p:cTn id="75" presetID="10" presetClass="entr" presetSubtype="0" fill="hold" grpId="0" nodeType="withEffect">
                                  <p:stCondLst>
                                    <p:cond delay="56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50"/>
                                        <p:tgtEl>
                                          <p:spTgt spid="37"/>
                                        </p:tgtEl>
                                      </p:cBhvr>
                                    </p:animEffect>
                                  </p:childTnLst>
                                </p:cTn>
                              </p:par>
                              <p:par>
                                <p:cTn id="78" presetID="10" presetClass="entr" presetSubtype="0" fill="hold" grpId="0" nodeType="withEffect">
                                  <p:stCondLst>
                                    <p:cond delay="56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50"/>
                                        <p:tgtEl>
                                          <p:spTgt spid="38"/>
                                        </p:tgtEl>
                                      </p:cBhvr>
                                    </p:animEffect>
                                  </p:childTnLst>
                                </p:cTn>
                              </p:par>
                              <p:par>
                                <p:cTn id="81" presetID="10" presetClass="entr" presetSubtype="0" fill="hold" grpId="0" nodeType="withEffect">
                                  <p:stCondLst>
                                    <p:cond delay="56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50"/>
                                        <p:tgtEl>
                                          <p:spTgt spid="39"/>
                                        </p:tgtEl>
                                      </p:cBhvr>
                                    </p:animEffect>
                                  </p:childTnLst>
                                </p:cTn>
                              </p:par>
                              <p:par>
                                <p:cTn id="84" presetID="10" presetClass="entr" presetSubtype="0" fill="hold" grpId="0" nodeType="withEffect">
                                  <p:stCondLst>
                                    <p:cond delay="56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50"/>
                                        <p:tgtEl>
                                          <p:spTgt spid="40"/>
                                        </p:tgtEl>
                                      </p:cBhvr>
                                    </p:animEffect>
                                  </p:childTnLst>
                                </p:cTn>
                              </p:par>
                              <p:par>
                                <p:cTn id="87" presetID="10" presetClass="entr" presetSubtype="0" fill="hold" grpId="0" nodeType="withEffect">
                                  <p:stCondLst>
                                    <p:cond delay="56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50"/>
                                        <p:tgtEl>
                                          <p:spTgt spid="41"/>
                                        </p:tgtEl>
                                      </p:cBhvr>
                                    </p:animEffect>
                                  </p:childTnLst>
                                </p:cTn>
                              </p:par>
                              <p:par>
                                <p:cTn id="90" presetID="10" presetClass="entr" presetSubtype="0" fill="hold" grpId="0" nodeType="withEffect">
                                  <p:stCondLst>
                                    <p:cond delay="56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50"/>
                                        <p:tgtEl>
                                          <p:spTgt spid="42"/>
                                        </p:tgtEl>
                                      </p:cBhvr>
                                    </p:animEffect>
                                  </p:childTnLst>
                                </p:cTn>
                              </p:par>
                            </p:childTnLst>
                          </p:cTn>
                        </p:par>
                      </p:childTnLst>
                    </p:cTn>
                  </p:par>
                  <p:par>
                    <p:cTn id="107" fill="hold">
                      <p:stCondLst>
                        <p:cond delay="indefinite"/>
                      </p:stCondLst>
                      <p:childTnLst>
                        <p:par>
                          <p:cTn id="108"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00"/>
                                        <p:tgtEl>
                                          <p:spTgt spid="4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400"/>
                                        <p:tgtEl>
                                          <p:spTgt spid="4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400"/>
                                        <p:tgtEl>
                                          <p:spTgt spid="4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Cuatro principios orientan cómo se expone el cálculo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5150" y="1285582"/>
            <a:ext cx="2463800" cy="162750"/>
          </a:xfrm>
          <a:prstGeom prst="rect">
            <a:avLst/>
          </a:prstGeom>
          <a:noFill/>
        </p:spPr>
        <p:txBody>
          <a:bodyPr wrap="square" lIns="0" rIns="0" tIns="0" bIns="0" anchor="t"/>
          <a:lstStyle/>
          <a:p>
            <a:pPr algn="l">
              <a:lnSpc>
                <a:spcPts val="1282"/>
              </a:lnSpc>
              <a:spcBef>
                <a:spcPts val="0"/>
              </a:spcBef>
              <a:spcAft>
                <a:spcPts val="0"/>
              </a:spcAft>
            </a:pPr>
            <a:r>
              <a:rPr sz="1050" b="1" i="0" cap="all" spc="126">
                <a:solidFill>
                  <a:srgbClr val="5B6575"/>
                </a:solidFill>
                <a:latin typeface="Calibri"/>
              </a:rPr>
              <a:t>Principio (fuente)</a:t>
            </a:r>
          </a:p>
        </p:txBody>
      </p:sp>
      <p:sp>
        <p:nvSpPr>
          <p:cNvPr id="14" name="TextBox 13"/>
          <p:cNvSpPr txBox="1"/>
          <p:nvPr/>
        </p:nvSpPr>
        <p:spPr>
          <a:xfrm>
            <a:off x="3117850" y="1285582"/>
            <a:ext cx="4268343" cy="162750"/>
          </a:xfrm>
          <a:prstGeom prst="rect">
            <a:avLst/>
          </a:prstGeom>
          <a:noFill/>
        </p:spPr>
        <p:txBody>
          <a:bodyPr wrap="square" lIns="0" rIns="0" tIns="0" bIns="0" anchor="t"/>
          <a:lstStyle/>
          <a:p>
            <a:pPr algn="l">
              <a:lnSpc>
                <a:spcPts val="1282"/>
              </a:lnSpc>
              <a:spcBef>
                <a:spcPts val="0"/>
              </a:spcBef>
              <a:spcAft>
                <a:spcPts val="0"/>
              </a:spcAft>
            </a:pPr>
            <a:r>
              <a:rPr sz="1050" b="1" i="0" cap="all" spc="126">
                <a:solidFill>
                  <a:srgbClr val="5B6575"/>
                </a:solidFill>
                <a:latin typeface="Calibri"/>
              </a:rPr>
              <a:t>Decisión de diseño en EduFEM</a:t>
            </a:r>
          </a:p>
        </p:txBody>
      </p:sp>
      <p:sp>
        <p:nvSpPr>
          <p:cNvPr id="15" name="TextBox 14"/>
          <p:cNvSpPr txBox="1"/>
          <p:nvPr/>
        </p:nvSpPr>
        <p:spPr>
          <a:xfrm>
            <a:off x="7442200" y="1285582"/>
            <a:ext cx="4268343" cy="162750"/>
          </a:xfrm>
          <a:prstGeom prst="rect">
            <a:avLst/>
          </a:prstGeom>
          <a:noFill/>
        </p:spPr>
        <p:txBody>
          <a:bodyPr wrap="square" lIns="0" rIns="0" tIns="0" bIns="0" anchor="t"/>
          <a:lstStyle/>
          <a:p>
            <a:pPr algn="l">
              <a:lnSpc>
                <a:spcPts val="1282"/>
              </a:lnSpc>
              <a:spcBef>
                <a:spcPts val="0"/>
              </a:spcBef>
              <a:spcAft>
                <a:spcPts val="0"/>
              </a:spcAft>
            </a:pPr>
            <a:r>
              <a:rPr sz="1050" b="1" i="0" cap="all" spc="126">
                <a:solidFill>
                  <a:srgbClr val="5B6575"/>
                </a:solidFill>
                <a:latin typeface="Calibri"/>
              </a:rPr>
              <a:t>Evidencia comprobable</a:t>
            </a:r>
          </a:p>
        </p:txBody>
      </p:sp>
      <p:sp>
        <p:nvSpPr>
          <p:cNvPr id="16" name="Rounded Rectangle 15"/>
          <p:cNvSpPr/>
          <p:nvPr/>
        </p:nvSpPr>
        <p:spPr>
          <a:xfrm>
            <a:off x="565150" y="1508696"/>
            <a:ext cx="2413000" cy="939800"/>
          </a:xfrm>
          <a:prstGeom prst="roundRect">
            <a:avLst>
              <a:gd name="adj" fmla="val 1081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1200" y="1631823"/>
            <a:ext cx="2171700" cy="495300"/>
          </a:xfrm>
          <a:prstGeom prst="rect">
            <a:avLst/>
          </a:prstGeom>
          <a:noFill/>
        </p:spPr>
        <p:txBody>
          <a:bodyPr wrap="square" lIns="0" rIns="0" tIns="0" bIns="0" anchor="t"/>
          <a:lstStyle/>
          <a:p>
            <a:pPr algn="l">
              <a:lnSpc>
                <a:spcPts val="1950"/>
              </a:lnSpc>
              <a:spcBef>
                <a:spcPts val="0"/>
              </a:spcBef>
              <a:spcAft>
                <a:spcPts val="0"/>
              </a:spcAft>
            </a:pPr>
            <a:r>
              <a:rPr sz="1500" b="1" i="0">
                <a:solidFill>
                  <a:srgbClr val="1B2A4A"/>
                </a:solidFill>
                <a:latin typeface="Calibri"/>
              </a:rPr>
              <a:t>Visibilidad del</a:t>
            </a:r>
            <a:br/>
            <a:r>
              <a:rPr sz="1500" b="1" i="0">
                <a:solidFill>
                  <a:srgbClr val="1B2A4A"/>
                </a:solidFill>
                <a:latin typeface="Calibri"/>
              </a:rPr>
              <a:t>procedimiento</a:t>
            </a:r>
          </a:p>
        </p:txBody>
      </p:sp>
      <p:sp>
        <p:nvSpPr>
          <p:cNvPr id="18" name="TextBox 17"/>
          <p:cNvSpPr txBox="1"/>
          <p:nvPr/>
        </p:nvSpPr>
        <p:spPr>
          <a:xfrm>
            <a:off x="711200" y="2164398"/>
            <a:ext cx="2171700" cy="165100"/>
          </a:xfrm>
          <a:prstGeom prst="rect">
            <a:avLst/>
          </a:prstGeom>
          <a:noFill/>
        </p:spPr>
        <p:txBody>
          <a:bodyPr wrap="square" lIns="0" rIns="0" tIns="0" bIns="0" anchor="t"/>
          <a:lstStyle/>
          <a:p>
            <a:pPr algn="l">
              <a:lnSpc>
                <a:spcPts val="1300"/>
              </a:lnSpc>
              <a:spcBef>
                <a:spcPts val="0"/>
              </a:spcBef>
              <a:spcAft>
                <a:spcPts val="0"/>
              </a:spcAft>
            </a:pPr>
            <a:r>
              <a:rPr sz="1000" b="1" i="0">
                <a:solidFill>
                  <a:srgbClr val="5B6575"/>
                </a:solidFill>
                <a:latin typeface="Calibri"/>
              </a:rPr>
              <a:t>Lee [17, p. 157]</a:t>
            </a:r>
          </a:p>
        </p:txBody>
      </p:sp>
      <p:sp>
        <p:nvSpPr>
          <p:cNvPr id="19" name="Rounded Rectangle 18"/>
          <p:cNvSpPr/>
          <p:nvPr/>
        </p:nvSpPr>
        <p:spPr>
          <a:xfrm>
            <a:off x="3121025" y="1511872"/>
            <a:ext cx="4178300" cy="933450"/>
          </a:xfrm>
          <a:prstGeom prst="roundRect">
            <a:avLst>
              <a:gd name="adj" fmla="val 1054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63900" y="1626648"/>
            <a:ext cx="3970401"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Módulos M1–M7 exponen cada matriz sobre el elemento</a:t>
            </a:r>
            <a:br/>
            <a:r>
              <a:rPr sz="1250" b="0" i="0">
                <a:solidFill>
                  <a:srgbClr val="3F4A5A"/>
                </a:solidFill>
                <a:latin typeface="Calibri"/>
              </a:rPr>
              <a:t>seleccionado; la memoria sustituye las nueve etapas</a:t>
            </a:r>
          </a:p>
        </p:txBody>
      </p:sp>
      <p:sp>
        <p:nvSpPr>
          <p:cNvPr id="21" name="Rounded Rectangle 20"/>
          <p:cNvSpPr/>
          <p:nvPr/>
        </p:nvSpPr>
        <p:spPr>
          <a:xfrm>
            <a:off x="7445375" y="1511872"/>
            <a:ext cx="4178300" cy="933450"/>
          </a:xfrm>
          <a:prstGeom prst="roundRect">
            <a:avLst>
              <a:gd name="adj" fmla="val 1054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8250" y="1626648"/>
            <a:ext cx="3970401"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7 de 7 etapas con módulo y 9 de 9 en la memoria (§ 3.6.1)</a:t>
            </a:r>
          </a:p>
        </p:txBody>
      </p:sp>
      <p:sp>
        <p:nvSpPr>
          <p:cNvPr id="23" name="Rounded Rectangle 22"/>
          <p:cNvSpPr/>
          <p:nvPr/>
        </p:nvSpPr>
        <p:spPr>
          <a:xfrm>
            <a:off x="565150" y="2562796"/>
            <a:ext cx="2413000" cy="939800"/>
          </a:xfrm>
          <a:prstGeom prst="roundRect">
            <a:avLst>
              <a:gd name="adj" fmla="val 1081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1200" y="2685923"/>
            <a:ext cx="2171700" cy="495300"/>
          </a:xfrm>
          <a:prstGeom prst="rect">
            <a:avLst/>
          </a:prstGeom>
          <a:noFill/>
        </p:spPr>
        <p:txBody>
          <a:bodyPr wrap="square" lIns="0" rIns="0" tIns="0" bIns="0" anchor="t"/>
          <a:lstStyle/>
          <a:p>
            <a:pPr algn="l">
              <a:lnSpc>
                <a:spcPts val="1950"/>
              </a:lnSpc>
              <a:spcBef>
                <a:spcPts val="0"/>
              </a:spcBef>
              <a:spcAft>
                <a:spcPts val="0"/>
              </a:spcAft>
            </a:pPr>
            <a:r>
              <a:rPr sz="1500" b="1" i="0">
                <a:solidFill>
                  <a:srgbClr val="1B2A4A"/>
                </a:solidFill>
                <a:latin typeface="Calibri"/>
              </a:rPr>
              <a:t>Interactividad con vínculo</a:t>
            </a:r>
            <a:br/>
            <a:r>
              <a:rPr sz="1500" b="1" i="0">
                <a:solidFill>
                  <a:srgbClr val="1B2A4A"/>
                </a:solidFill>
                <a:latin typeface="Calibri"/>
              </a:rPr>
              <a:t>al modelo</a:t>
            </a:r>
          </a:p>
        </p:txBody>
      </p:sp>
      <p:sp>
        <p:nvSpPr>
          <p:cNvPr id="25" name="TextBox 24"/>
          <p:cNvSpPr txBox="1"/>
          <p:nvPr/>
        </p:nvSpPr>
        <p:spPr>
          <a:xfrm>
            <a:off x="711200" y="3218498"/>
            <a:ext cx="2171700" cy="165100"/>
          </a:xfrm>
          <a:prstGeom prst="rect">
            <a:avLst/>
          </a:prstGeom>
          <a:noFill/>
        </p:spPr>
        <p:txBody>
          <a:bodyPr wrap="square" lIns="0" rIns="0" tIns="0" bIns="0" anchor="t"/>
          <a:lstStyle/>
          <a:p>
            <a:pPr algn="l">
              <a:lnSpc>
                <a:spcPts val="1300"/>
              </a:lnSpc>
              <a:spcBef>
                <a:spcPts val="0"/>
              </a:spcBef>
              <a:spcAft>
                <a:spcPts val="0"/>
              </a:spcAft>
            </a:pPr>
            <a:r>
              <a:rPr sz="1000" b="1" i="0">
                <a:solidFill>
                  <a:srgbClr val="5B6575"/>
                </a:solidFill>
                <a:latin typeface="Calibri"/>
              </a:rPr>
              <a:t>Lee [17, pp. 163, 166]</a:t>
            </a:r>
          </a:p>
        </p:txBody>
      </p:sp>
      <p:sp>
        <p:nvSpPr>
          <p:cNvPr id="26" name="Rounded Rectangle 25"/>
          <p:cNvSpPr/>
          <p:nvPr/>
        </p:nvSpPr>
        <p:spPr>
          <a:xfrm>
            <a:off x="3121025" y="2565972"/>
            <a:ext cx="4178300" cy="933450"/>
          </a:xfrm>
          <a:prstGeom prst="roundRect">
            <a:avLst>
              <a:gd name="adj" fmla="val 1054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63900" y="2680748"/>
            <a:ext cx="3970401"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Capa superpuesta sobre la malla real; conmutador fórmula</a:t>
            </a:r>
            <a:br/>
            <a:r>
              <a:rPr sz="1250" b="0" i="0">
                <a:solidFill>
                  <a:srgbClr val="3F4A5A"/>
                </a:solidFill>
                <a:latin typeface="Calibri"/>
              </a:rPr>
              <a:t>↔ valores; conversión Q4 ↔ Q9</a:t>
            </a:r>
          </a:p>
        </p:txBody>
      </p:sp>
      <p:sp>
        <p:nvSpPr>
          <p:cNvPr id="28" name="Rounded Rectangle 27"/>
          <p:cNvSpPr/>
          <p:nvPr/>
        </p:nvSpPr>
        <p:spPr>
          <a:xfrm>
            <a:off x="7445375" y="2565972"/>
            <a:ext cx="4178300" cy="933450"/>
          </a:xfrm>
          <a:prstGeom prst="roundRect">
            <a:avLst>
              <a:gd name="adj" fmla="val 1054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8250" y="2680748"/>
            <a:ext cx="3970401"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Figuras 2.4 y 3.5; Cook Q4 frente a Q9 (Tabla 3.4)</a:t>
            </a:r>
          </a:p>
        </p:txBody>
      </p:sp>
      <p:sp>
        <p:nvSpPr>
          <p:cNvPr id="30" name="Rounded Rectangle 29"/>
          <p:cNvSpPr/>
          <p:nvPr/>
        </p:nvSpPr>
        <p:spPr>
          <a:xfrm>
            <a:off x="565150" y="3616896"/>
            <a:ext cx="2413000" cy="692150"/>
          </a:xfrm>
          <a:prstGeom prst="roundRect">
            <a:avLst>
              <a:gd name="adj" fmla="val 14678"/>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1200" y="3740023"/>
            <a:ext cx="2171700" cy="247650"/>
          </a:xfrm>
          <a:prstGeom prst="rect">
            <a:avLst/>
          </a:prstGeom>
          <a:noFill/>
        </p:spPr>
        <p:txBody>
          <a:bodyPr wrap="square" lIns="0" rIns="0" tIns="0" bIns="0" anchor="t"/>
          <a:lstStyle/>
          <a:p>
            <a:pPr algn="l">
              <a:lnSpc>
                <a:spcPts val="1950"/>
              </a:lnSpc>
              <a:spcBef>
                <a:spcPts val="0"/>
              </a:spcBef>
              <a:spcAft>
                <a:spcPts val="0"/>
              </a:spcAft>
            </a:pPr>
            <a:r>
              <a:rPr sz="1500" b="1" i="0">
                <a:solidFill>
                  <a:srgbClr val="1B2A4A"/>
                </a:solidFill>
                <a:latin typeface="Calibri"/>
              </a:rPr>
              <a:t>Construcción paso a paso</a:t>
            </a:r>
          </a:p>
        </p:txBody>
      </p:sp>
      <p:sp>
        <p:nvSpPr>
          <p:cNvPr id="32" name="TextBox 31"/>
          <p:cNvSpPr txBox="1"/>
          <p:nvPr/>
        </p:nvSpPr>
        <p:spPr>
          <a:xfrm>
            <a:off x="711200" y="4024948"/>
            <a:ext cx="2171700" cy="165100"/>
          </a:xfrm>
          <a:prstGeom prst="rect">
            <a:avLst/>
          </a:prstGeom>
          <a:noFill/>
        </p:spPr>
        <p:txBody>
          <a:bodyPr wrap="square" lIns="0" rIns="0" tIns="0" bIns="0" anchor="t"/>
          <a:lstStyle/>
          <a:p>
            <a:pPr algn="l">
              <a:lnSpc>
                <a:spcPts val="1300"/>
              </a:lnSpc>
              <a:spcBef>
                <a:spcPts val="0"/>
              </a:spcBef>
              <a:spcAft>
                <a:spcPts val="0"/>
              </a:spcAft>
            </a:pPr>
            <a:r>
              <a:rPr sz="1000" b="1" i="0">
                <a:solidFill>
                  <a:srgbClr val="5B6575"/>
                </a:solidFill>
                <a:latin typeface="Calibri"/>
              </a:rPr>
              <a:t>Bishay [16, pp. 4–5, 17]</a:t>
            </a:r>
          </a:p>
        </p:txBody>
      </p:sp>
      <p:sp>
        <p:nvSpPr>
          <p:cNvPr id="33" name="Rounded Rectangle 32"/>
          <p:cNvSpPr/>
          <p:nvPr/>
        </p:nvSpPr>
        <p:spPr>
          <a:xfrm>
            <a:off x="3121025" y="3620072"/>
            <a:ext cx="4178300" cy="685800"/>
          </a:xfrm>
          <a:prstGeom prst="roundRect">
            <a:avLst>
              <a:gd name="adj" fmla="val 1435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63900" y="3734848"/>
            <a:ext cx="3970401"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Un módulo por etapa, en el orden del método; memoria</a:t>
            </a:r>
            <a:br/>
            <a:r>
              <a:rPr sz="1250" b="0" i="0">
                <a:solidFill>
                  <a:srgbClr val="3F4A5A"/>
                </a:solidFill>
                <a:latin typeface="Calibri"/>
              </a:rPr>
              <a:t>sobre el modelo propio</a:t>
            </a:r>
          </a:p>
        </p:txBody>
      </p:sp>
      <p:sp>
        <p:nvSpPr>
          <p:cNvPr id="35" name="Rounded Rectangle 34"/>
          <p:cNvSpPr/>
          <p:nvPr/>
        </p:nvSpPr>
        <p:spPr>
          <a:xfrm>
            <a:off x="7445375" y="3620072"/>
            <a:ext cx="4178300" cy="685800"/>
          </a:xfrm>
          <a:prstGeom prst="roundRect">
            <a:avLst>
              <a:gd name="adj" fmla="val 1435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8250" y="3734848"/>
            <a:ext cx="3970401"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Tabla 2.8; § 2.2.9; Anexo G</a:t>
            </a:r>
          </a:p>
        </p:txBody>
      </p:sp>
      <p:sp>
        <p:nvSpPr>
          <p:cNvPr id="37" name="Rounded Rectangle 36"/>
          <p:cNvSpPr/>
          <p:nvPr/>
        </p:nvSpPr>
        <p:spPr>
          <a:xfrm>
            <a:off x="565150" y="4423346"/>
            <a:ext cx="2413000" cy="1104900"/>
          </a:xfrm>
          <a:prstGeom prst="roundRect">
            <a:avLst>
              <a:gd name="adj" fmla="val 919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1200" y="4546473"/>
            <a:ext cx="2171700" cy="495300"/>
          </a:xfrm>
          <a:prstGeom prst="rect">
            <a:avLst/>
          </a:prstGeom>
          <a:noFill/>
        </p:spPr>
        <p:txBody>
          <a:bodyPr wrap="square" lIns="0" rIns="0" tIns="0" bIns="0" anchor="t"/>
          <a:lstStyle/>
          <a:p>
            <a:pPr algn="l">
              <a:lnSpc>
                <a:spcPts val="1950"/>
              </a:lnSpc>
              <a:spcBef>
                <a:spcPts val="0"/>
              </a:spcBef>
              <a:spcAft>
                <a:spcPts val="0"/>
              </a:spcAft>
            </a:pPr>
            <a:r>
              <a:rPr sz="1500" b="1" i="0">
                <a:solidFill>
                  <a:srgbClr val="1B2A4A"/>
                </a:solidFill>
                <a:latin typeface="Calibri"/>
              </a:rPr>
              <a:t>Conexión fundamento–</a:t>
            </a:r>
            <a:br/>
            <a:r>
              <a:rPr sz="1500" b="1" i="0">
                <a:solidFill>
                  <a:srgbClr val="1B2A4A"/>
                </a:solidFill>
                <a:latin typeface="Calibri"/>
              </a:rPr>
              <a:t>operación</a:t>
            </a:r>
          </a:p>
        </p:txBody>
      </p:sp>
      <p:sp>
        <p:nvSpPr>
          <p:cNvPr id="39" name="TextBox 38"/>
          <p:cNvSpPr txBox="1"/>
          <p:nvPr/>
        </p:nvSpPr>
        <p:spPr>
          <a:xfrm>
            <a:off x="711200" y="5079048"/>
            <a:ext cx="2171700" cy="330200"/>
          </a:xfrm>
          <a:prstGeom prst="rect">
            <a:avLst/>
          </a:prstGeom>
          <a:noFill/>
        </p:spPr>
        <p:txBody>
          <a:bodyPr wrap="square" lIns="0" rIns="0" tIns="0" bIns="0" anchor="t"/>
          <a:lstStyle/>
          <a:p>
            <a:pPr algn="l">
              <a:lnSpc>
                <a:spcPts val="1300"/>
              </a:lnSpc>
              <a:spcBef>
                <a:spcPts val="0"/>
              </a:spcBef>
              <a:spcAft>
                <a:spcPts val="0"/>
              </a:spcAft>
            </a:pPr>
            <a:r>
              <a:rPr sz="1000" b="1" i="0">
                <a:solidFill>
                  <a:srgbClr val="5B6575"/>
                </a:solidFill>
                <a:latin typeface="Calibri"/>
              </a:rPr>
              <a:t>Pérez-Santiago y Campos [3, pp. 1159,</a:t>
            </a:r>
            <a:br/>
            <a:r>
              <a:rPr sz="1000" b="1" i="0">
                <a:solidFill>
                  <a:srgbClr val="5B6575"/>
                </a:solidFill>
                <a:latin typeface="Calibri"/>
              </a:rPr>
              <a:t>1168]</a:t>
            </a:r>
          </a:p>
        </p:txBody>
      </p:sp>
      <p:sp>
        <p:nvSpPr>
          <p:cNvPr id="40" name="Rounded Rectangle 39"/>
          <p:cNvSpPr/>
          <p:nvPr/>
        </p:nvSpPr>
        <p:spPr>
          <a:xfrm>
            <a:off x="3121025" y="4426522"/>
            <a:ext cx="4178300" cy="1098550"/>
          </a:xfrm>
          <a:prstGeom prst="roundRect">
            <a:avLst>
              <a:gd name="adj" fmla="val 895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63900" y="4541298"/>
            <a:ext cx="3970401"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Comprobador de salud con explicación; equilibrio y</a:t>
            </a:r>
            <a:br/>
            <a:r>
              <a:rPr sz="1250" b="0" i="0">
                <a:solidFill>
                  <a:srgbClr val="3F4A5A"/>
                </a:solidFill>
                <a:latin typeface="Calibri"/>
              </a:rPr>
              <a:t>condicionamiento en la memoria; V&amp;V publicada</a:t>
            </a:r>
          </a:p>
        </p:txBody>
      </p:sp>
      <p:sp>
        <p:nvSpPr>
          <p:cNvPr id="42" name="Rounded Rectangle 41"/>
          <p:cNvSpPr/>
          <p:nvPr/>
        </p:nvSpPr>
        <p:spPr>
          <a:xfrm>
            <a:off x="7445375" y="4426522"/>
            <a:ext cx="4178300" cy="1098550"/>
          </a:xfrm>
          <a:prstGeom prst="roundRect">
            <a:avLst>
              <a:gd name="adj" fmla="val 895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8250" y="4541298"/>
            <a:ext cx="3970401"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FEA32–FEA34 cubiertos (Tabla 3.7)</a:t>
            </a:r>
          </a:p>
        </p:txBody>
      </p:sp>
      <p:sp>
        <p:nvSpPr>
          <p:cNvPr id="44" name="TextBox 43"/>
          <p:cNvSpPr txBox="1"/>
          <p:nvPr/>
        </p:nvSpPr>
        <p:spPr>
          <a:xfrm>
            <a:off x="565150" y="5640356"/>
            <a:ext cx="11282934"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Describen propiedades del software, no efectos sobre quien lo usa: ese efecto no se mide en esta tesis.</a:t>
            </a:r>
          </a:p>
        </p:txBody>
      </p:sp>
      <p:sp>
        <p:nvSpPr>
          <p:cNvPr id="45" name="Rectangle 44"/>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5150" y="6535420"/>
            <a:ext cx="5077270"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8" name="TextBox 47"/>
          <p:cNvSpPr txBox="1"/>
          <p:nvPr/>
        </p:nvSpPr>
        <p:spPr>
          <a:xfrm>
            <a:off x="5517452" y="6535420"/>
            <a:ext cx="1157097"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1.2 · Tabla 3.8</a:t>
            </a:r>
          </a:p>
        </p:txBody>
      </p:sp>
      <p:sp>
        <p:nvSpPr>
          <p:cNvPr id="49" name="TextBox 48"/>
          <p:cNvSpPr txBox="1"/>
          <p:nvPr/>
        </p:nvSpPr>
        <p:spPr>
          <a:xfrm>
            <a:off x="6549580" y="6535420"/>
            <a:ext cx="507727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13</a:t>
            </a:r>
          </a:p>
        </p:txBody>
      </p:sp>
      <p:sp>
        <p:nvSpPr>
          <p:cNvPr id="50"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nlace a sep-teoria">
            <a:hlinkClick action="ppaction://hlinksldjump" r:id="rId3"/>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nlace a sep-diseno">
            <a:hlinkClick action="ppaction://hlinksldjump" r:id="rId4"/>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97"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50"/>
                                        <p:tgtEl>
                                          <p:spTgt spid="16"/>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50"/>
                                        <p:tgtEl>
                                          <p:spTgt spid="17"/>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50"/>
                                        <p:tgtEl>
                                          <p:spTgt spid="18"/>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50"/>
                                        <p:tgtEl>
                                          <p:spTgt spid="23"/>
                                        </p:tgtEl>
                                      </p:cBhvr>
                                    </p:animEffect>
                                  </p:childTnLst>
                                </p:cTn>
                              </p:par>
                              <p:par>
                                <p:cTn id="15" presetID="10" presetClass="entr" presetSubtype="0" fill="hold" grpId="0" nodeType="withEffect">
                                  <p:stCondLst>
                                    <p:cond delay="23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50"/>
                                        <p:tgtEl>
                                          <p:spTgt spid="24"/>
                                        </p:tgtEl>
                                      </p:cBhvr>
                                    </p:animEffect>
                                  </p:childTnLst>
                                </p:cTn>
                              </p:par>
                              <p:par>
                                <p:cTn id="18" presetID="10" presetClass="entr" presetSubtype="0" fill="hold" grpId="0" nodeType="withEffect">
                                  <p:stCondLst>
                                    <p:cond delay="23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450"/>
                                        <p:tgtEl>
                                          <p:spTgt spid="30"/>
                                        </p:tgtEl>
                                      </p:cBhvr>
                                    </p:animEffect>
                                  </p:childTnLst>
                                </p:cTn>
                              </p:par>
                              <p:par>
                                <p:cTn id="24" presetID="10" presetClass="entr" presetSubtype="0" fill="hold" grpId="0" nodeType="withEffect">
                                  <p:stCondLst>
                                    <p:cond delay="34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450"/>
                                        <p:tgtEl>
                                          <p:spTgt spid="31"/>
                                        </p:tgtEl>
                                      </p:cBhvr>
                                    </p:animEffect>
                                  </p:childTnLst>
                                </p:cTn>
                              </p:par>
                              <p:par>
                                <p:cTn id="27" presetID="10" presetClass="entr" presetSubtype="0" fill="hold" grpId="0" nodeType="withEffect">
                                  <p:stCondLst>
                                    <p:cond delay="34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50"/>
                                        <p:tgtEl>
                                          <p:spTgt spid="32"/>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50"/>
                                        <p:tgtEl>
                                          <p:spTgt spid="37"/>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450"/>
                                        <p:tgtEl>
                                          <p:spTgt spid="38"/>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450"/>
                                        <p:tgtEl>
                                          <p:spTgt spid="39"/>
                                        </p:tgtEl>
                                      </p:cBhvr>
                                    </p:animEffect>
                                  </p:childTnLst>
                                </p:cTn>
                              </p:par>
                            </p:childTnLst>
                          </p:cTn>
                        </p:par>
                      </p:childTnLst>
                    </p:cTn>
                  </p:par>
                  <p:par>
                    <p:cTn id="98" fill="hold">
                      <p:stCondLst>
                        <p:cond delay="indefinite"/>
                      </p:stCondLst>
                      <p:childTnLst>
                        <p:par>
                          <p:cTn id="99"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400"/>
                                        <p:tgtEl>
                                          <p:spTgt spid="2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400"/>
                                        <p:tgtEl>
                                          <p:spTgt spid="2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400"/>
                                        <p:tgtEl>
                                          <p:spTgt spid="3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400"/>
                                        <p:tgtEl>
                                          <p:spTgt spid="3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400"/>
                                        <p:tgtEl>
                                          <p:spTgt spid="4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400"/>
                                        <p:tgtEl>
                                          <p:spTgt spid="41"/>
                                        </p:tgtEl>
                                      </p:cBhvr>
                                    </p:animEffect>
                                  </p:childTnLst>
                                </p:cTn>
                              </p:par>
                            </p:childTnLst>
                          </p:cTn>
                        </p:par>
                      </p:childTnLst>
                    </p:cTn>
                  </p:par>
                  <p:par>
                    <p:cTn id="100" fill="hold">
                      <p:stCondLst>
                        <p:cond delay="indefinite"/>
                      </p:stCondLst>
                      <p:childTnLst>
                        <p:par>
                          <p:cTn id="101"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400"/>
                                        <p:tgtEl>
                                          <p:spTgt spid="1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400"/>
                                        <p:tgtEl>
                                          <p:spTgt spid="2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40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400"/>
                                        <p:tgtEl>
                                          <p:spTgt spid="3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400"/>
                                        <p:tgtEl>
                                          <p:spTgt spid="3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9" dur="400"/>
                                        <p:tgtEl>
                                          <p:spTgt spid="4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3"/>
                                        </p:tgtEl>
                                        <p:attrNameLst>
                                          <p:attrName>style.visibility</p:attrName>
                                        </p:attrNameLst>
                                      </p:cBhvr>
                                      <p:to>
                                        <p:strVal val="visible"/>
                                      </p:to>
                                    </p:set>
                                    <p:animEffect transition="in" filter="fade">
                                      <p:cBhvr>
                                        <p:cTn id="92" dur="400"/>
                                        <p:tgtEl>
                                          <p:spTgt spid="4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4"/>
                                        </p:tgtEl>
                                        <p:attrNameLst>
                                          <p:attrName>style.visibility</p:attrName>
                                        </p:attrNameLst>
                                      </p:cBhvr>
                                      <p:to>
                                        <p:strVal val="visible"/>
                                      </p:to>
                                    </p:set>
                                    <p:animEffect transition="in" filter="fade">
                                      <p:cBhvr>
                                        <p:cTn id="95"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pic>
        <p:nvPicPr>
          <p:cNvPr id="5" name="Picture 4" descr="133b163c4505d18b.png"/>
          <p:cNvPicPr>
            <a:picLocks noChangeAspect="1"/>
          </p:cNvPicPr>
          <p:nvPr/>
        </p:nvPicPr>
        <p:blipFill>
          <a:blip r:embed="rId2"/>
          <a:stretch>
            <a:fillRect/>
          </a:stretch>
        </p:blipFill>
        <p:spPr>
          <a:xfrm>
            <a:off x="565150" y="552450"/>
            <a:ext cx="10922000" cy="577850"/>
          </a:xfrm>
          <a:prstGeom prst="rect">
            <a:avLst/>
          </a:prstGeom>
        </p:spPr>
      </p:pic>
      <p:sp>
        <p:nvSpPr>
          <p:cNvPr id="6" name="Rounded Rectangle 5"/>
          <p:cNvSpPr/>
          <p:nvPr/>
        </p:nvSpPr>
        <p:spPr>
          <a:xfrm>
            <a:off x="565150" y="1213548"/>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3e6cad8ba764b3d.png"/>
          <p:cNvPicPr>
            <a:picLocks noChangeAspect="1"/>
          </p:cNvPicPr>
          <p:nvPr/>
        </p:nvPicPr>
        <p:blipFill>
          <a:blip r:embed="rId3"/>
          <a:stretch>
            <a:fillRect/>
          </a:stretch>
        </p:blipFill>
        <p:spPr>
          <a:xfrm>
            <a:off x="635000" y="1460500"/>
            <a:ext cx="10922000" cy="3175000"/>
          </a:xfrm>
          <a:prstGeom prst="rect">
            <a:avLst/>
          </a:prstGeom>
        </p:spPr>
      </p:pic>
      <p:pic>
        <p:nvPicPr>
          <p:cNvPr id="14" name="Picture 13" descr="4a26180add330b2f.png"/>
          <p:cNvPicPr>
            <a:picLocks noChangeAspect="1"/>
          </p:cNvPicPr>
          <p:nvPr/>
        </p:nvPicPr>
        <p:blipFill>
          <a:blip r:embed="rId4"/>
          <a:stretch>
            <a:fillRect/>
          </a:stretch>
        </p:blipFill>
        <p:spPr>
          <a:xfrm>
            <a:off x="6350000" y="3860800"/>
            <a:ext cx="1943100" cy="806450"/>
          </a:xfrm>
          <a:prstGeom prst="rect">
            <a:avLst/>
          </a:prstGeom>
        </p:spPr>
      </p:pic>
      <p:sp>
        <p:nvSpPr>
          <p:cNvPr id="15" name="Rounded Rectangle 14"/>
          <p:cNvSpPr/>
          <p:nvPr/>
        </p:nvSpPr>
        <p:spPr>
          <a:xfrm>
            <a:off x="638175" y="4840859"/>
            <a:ext cx="1591500" cy="652780"/>
          </a:xfrm>
          <a:prstGeom prst="roundRect">
            <a:avLst>
              <a:gd name="adj" fmla="val 150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1050" y="4955889"/>
            <a:ext cx="1356550" cy="120650"/>
          </a:xfrm>
          <a:prstGeom prst="rect">
            <a:avLst/>
          </a:prstGeom>
          <a:noFill/>
        </p:spPr>
        <p:txBody>
          <a:bodyPr wrap="square" lIns="0" rIns="0" tIns="0" bIns="0" anchor="t"/>
          <a:lstStyle/>
          <a:p>
            <a:pPr algn="l">
              <a:lnSpc>
                <a:spcPts val="950"/>
              </a:lnSpc>
              <a:spcBef>
                <a:spcPts val="0"/>
              </a:spcBef>
              <a:spcAft>
                <a:spcPts val="0"/>
              </a:spcAft>
            </a:pPr>
            <a:r>
              <a:rPr sz="950" b="1" i="0" cap="all" spc="95">
                <a:solidFill>
                  <a:srgbClr val="5B6575"/>
                </a:solidFill>
                <a:latin typeface="Calibri"/>
              </a:rPr>
              <a:t>Forma fuerte</a:t>
            </a:r>
          </a:p>
        </p:txBody>
      </p:sp>
      <p:pic>
        <p:nvPicPr>
          <p:cNvPr id="17" name="Picture 16" descr="a81997001b8a1c57.png"/>
          <p:cNvPicPr>
            <a:picLocks noChangeAspect="1"/>
          </p:cNvPicPr>
          <p:nvPr/>
        </p:nvPicPr>
        <p:blipFill>
          <a:blip r:embed="rId5"/>
          <a:stretch>
            <a:fillRect/>
          </a:stretch>
        </p:blipFill>
        <p:spPr>
          <a:xfrm>
            <a:off x="781050" y="5105400"/>
            <a:ext cx="1308100" cy="285750"/>
          </a:xfrm>
          <a:prstGeom prst="rect">
            <a:avLst/>
          </a:prstGeom>
        </p:spPr>
      </p:pic>
      <p:sp>
        <p:nvSpPr>
          <p:cNvPr id="18" name="TextBox 17"/>
          <p:cNvSpPr txBox="1"/>
          <p:nvPr/>
        </p:nvSpPr>
        <p:spPr>
          <a:xfrm>
            <a:off x="2347150" y="5058728"/>
            <a:ext cx="280797"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5B6575"/>
                </a:solidFill>
                <a:latin typeface="Calibri"/>
              </a:rPr>
              <a:t>→</a:t>
            </a:r>
          </a:p>
        </p:txBody>
      </p:sp>
      <p:sp>
        <p:nvSpPr>
          <p:cNvPr id="19" name="Rounded Rectangle 18"/>
          <p:cNvSpPr/>
          <p:nvPr/>
        </p:nvSpPr>
        <p:spPr>
          <a:xfrm>
            <a:off x="2694559" y="4829175"/>
            <a:ext cx="3990404" cy="676275"/>
          </a:xfrm>
          <a:prstGeom prst="roundRect">
            <a:avLst>
              <a:gd name="adj" fmla="val 1455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37434" y="4944205"/>
            <a:ext cx="3778695" cy="120650"/>
          </a:xfrm>
          <a:prstGeom prst="rect">
            <a:avLst/>
          </a:prstGeom>
          <a:noFill/>
        </p:spPr>
        <p:txBody>
          <a:bodyPr wrap="square" lIns="0" rIns="0" tIns="0" bIns="0" anchor="t"/>
          <a:lstStyle/>
          <a:p>
            <a:pPr algn="l">
              <a:lnSpc>
                <a:spcPts val="950"/>
              </a:lnSpc>
              <a:spcBef>
                <a:spcPts val="0"/>
              </a:spcBef>
              <a:spcAft>
                <a:spcPts val="0"/>
              </a:spcAft>
            </a:pPr>
            <a:r>
              <a:rPr sz="950" b="1" i="0" cap="all" spc="95">
                <a:solidFill>
                  <a:srgbClr val="5B6575"/>
                </a:solidFill>
                <a:latin typeface="Calibri"/>
              </a:rPr>
              <a:t>Trabajos virtuales (forma débil)</a:t>
            </a:r>
          </a:p>
        </p:txBody>
      </p:sp>
      <p:pic>
        <p:nvPicPr>
          <p:cNvPr id="21" name="Picture 20" descr="8383e7bbb3d2a4b3.png"/>
          <p:cNvPicPr>
            <a:picLocks noChangeAspect="1"/>
          </p:cNvPicPr>
          <p:nvPr/>
        </p:nvPicPr>
        <p:blipFill>
          <a:blip r:embed="rId6"/>
          <a:stretch>
            <a:fillRect/>
          </a:stretch>
        </p:blipFill>
        <p:spPr>
          <a:xfrm>
            <a:off x="2832100" y="4635500"/>
            <a:ext cx="3714750" cy="806450"/>
          </a:xfrm>
          <a:prstGeom prst="rect">
            <a:avLst/>
          </a:prstGeom>
        </p:spPr>
      </p:pic>
      <p:sp>
        <p:nvSpPr>
          <p:cNvPr id="22" name="TextBox 21"/>
          <p:cNvSpPr txBox="1"/>
          <p:nvPr/>
        </p:nvSpPr>
        <p:spPr>
          <a:xfrm>
            <a:off x="6802438" y="5058728"/>
            <a:ext cx="280797"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5B6575"/>
                </a:solidFill>
                <a:latin typeface="Calibri"/>
              </a:rPr>
              <a:t>→</a:t>
            </a:r>
          </a:p>
        </p:txBody>
      </p:sp>
      <p:sp>
        <p:nvSpPr>
          <p:cNvPr id="23" name="Rounded Rectangle 22"/>
          <p:cNvSpPr/>
          <p:nvPr/>
        </p:nvSpPr>
        <p:spPr>
          <a:xfrm>
            <a:off x="7149910" y="4847209"/>
            <a:ext cx="1322070" cy="640080"/>
          </a:xfrm>
          <a:prstGeom prst="roundRect">
            <a:avLst>
              <a:gd name="adj" fmla="val 15376"/>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92784" y="4962239"/>
            <a:ext cx="1087120" cy="120650"/>
          </a:xfrm>
          <a:prstGeom prst="rect">
            <a:avLst/>
          </a:prstGeom>
          <a:noFill/>
        </p:spPr>
        <p:txBody>
          <a:bodyPr wrap="square" lIns="0" rIns="0" tIns="0" bIns="0" anchor="t"/>
          <a:lstStyle/>
          <a:p>
            <a:pPr algn="l">
              <a:lnSpc>
                <a:spcPts val="950"/>
              </a:lnSpc>
              <a:spcBef>
                <a:spcPts val="0"/>
              </a:spcBef>
              <a:spcAft>
                <a:spcPts val="0"/>
              </a:spcAft>
            </a:pPr>
            <a:r>
              <a:rPr sz="950" b="1" i="0" cap="all" spc="95">
                <a:solidFill>
                  <a:srgbClr val="5B6575"/>
                </a:solidFill>
                <a:latin typeface="Calibri"/>
              </a:rPr>
              <a:t>Sistema global</a:t>
            </a:r>
          </a:p>
        </p:txBody>
      </p:sp>
      <p:pic>
        <p:nvPicPr>
          <p:cNvPr id="25" name="Picture 24" descr="0e5da4d0c9941470.png"/>
          <p:cNvPicPr>
            <a:picLocks noChangeAspect="1"/>
          </p:cNvPicPr>
          <p:nvPr/>
        </p:nvPicPr>
        <p:blipFill>
          <a:blip r:embed="rId7"/>
          <a:stretch>
            <a:fillRect/>
          </a:stretch>
        </p:blipFill>
        <p:spPr>
          <a:xfrm>
            <a:off x="7289800" y="5111750"/>
            <a:ext cx="819150" cy="273050"/>
          </a:xfrm>
          <a:prstGeom prst="rect">
            <a:avLst/>
          </a:prstGeom>
        </p:spPr>
      </p:pic>
      <p:pic>
        <p:nvPicPr>
          <p:cNvPr id="26" name="Picture 25" descr="f65f73cec7513f03.png"/>
          <p:cNvPicPr>
            <a:picLocks noChangeAspect="1"/>
          </p:cNvPicPr>
          <p:nvPr/>
        </p:nvPicPr>
        <p:blipFill>
          <a:blip r:embed="rId8"/>
          <a:stretch>
            <a:fillRect/>
          </a:stretch>
        </p:blipFill>
        <p:spPr>
          <a:xfrm>
            <a:off x="635000" y="1460500"/>
            <a:ext cx="10922000" cy="3175000"/>
          </a:xfrm>
          <a:prstGeom prst="rect">
            <a:avLst/>
          </a:prstGeom>
        </p:spPr>
      </p:pic>
      <p:sp>
        <p:nvSpPr>
          <p:cNvPr id="27" name="Rectangle 2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5150" y="6535420"/>
            <a:ext cx="535698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0" name="TextBox 29"/>
          <p:cNvSpPr txBox="1"/>
          <p:nvPr/>
        </p:nvSpPr>
        <p:spPr>
          <a:xfrm>
            <a:off x="5791708" y="6535420"/>
            <a:ext cx="60858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1.3</a:t>
            </a:r>
          </a:p>
        </p:txBody>
      </p:sp>
      <p:sp>
        <p:nvSpPr>
          <p:cNvPr id="31" name="TextBox 30"/>
          <p:cNvSpPr txBox="1"/>
          <p:nvPr/>
        </p:nvSpPr>
        <p:spPr>
          <a:xfrm>
            <a:off x="6269863" y="6535420"/>
            <a:ext cx="535698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14</a:t>
            </a:r>
          </a:p>
        </p:txBody>
      </p:sp>
      <p:sp>
        <p:nvSpPr>
          <p:cNvPr id="32" name="Enlace a sep-intro">
            <a:hlinkClick action="ppaction://hlinksldjump" r:id="rId9"/>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nlace a sep-teoria">
            <a:hlinkClick action="ppaction://hlinksldjump" r:id="rId10"/>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nlace a sep-diseno">
            <a:hlinkClick action="ppaction://hlinksldjump" r:id="rId11"/>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nlace a sep-resultados">
            <a:hlinkClick action="ppaction://hlinksldjump" r:id="rId12"/>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nlace a sep-analisis">
            <a:hlinkClick action="ppaction://hlinksldjump" r:id="rId13"/>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nlace a sep-conclusiones">
            <a:hlinkClick action="ppaction://hlinksldjump" r:id="rId14"/>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stCondLst>
                      <p:childTnLst>
                        <p:par>
                          <p:cTn id="46" fill="hold">
                            <p:stCondLst>
                              <p:cond delay="0"/>
                            </p:stCondLst>
                            <p:childTnLst>
                              <p:par>
                                <p:cTn id="3" presetID="10" presetClass="exit" presetSubtype="0" fill="hold" grpId="0" nodeType="clickEffect">
                                  <p:stCondLst>
                                    <p:cond delay="0"/>
                                  </p:stCondLst>
                                  <p:childTnLst>
                                    <p:animEffect transition="out" filter="fade">
                                      <p:cBhvr>
                                        <p:cTn id="4" dur="200"/>
                                        <p:tgtEl>
                                          <p:spTgt spid="26"/>
                                        </p:tgtEl>
                                      </p:cBhvr>
                                    </p:animEffect>
                                    <p:set>
                                      <p:cBhvr>
                                        <p:cTn id="5" dur="1" fill="hold">
                                          <p:stCondLst>
                                            <p:cond delay="199"/>
                                          </p:stCondLst>
                                        </p:cTn>
                                        <p:tgtEl>
                                          <p:spTgt spid="26"/>
                                        </p:tgtEl>
                                        <p:attrNameLst>
                                          <p:attrName>style.visibility</p:attrName>
                                        </p:attrNameLst>
                                      </p:cBhvr>
                                      <p:to>
                                        <p:strVal val="hidden"/>
                                      </p:to>
                                    </p:set>
                                  </p:childTnLst>
                                </p:cTn>
                              </p:par>
                              <p:par>
                                <p:cTn id="6" presetID="10" presetClass="entr" presetSubtype="0" fill="hold" grpId="0" nodeType="withEffect">
                                  <p:stCondLst>
                                    <p:cond delay="20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childTnLst>
                          </p:cTn>
                        </p:par>
                      </p:childTnLst>
                    </p:cTn>
                  </p:par>
                  <p:par>
                    <p:cTn id="47" fill="hold">
                      <p:stCondLst>
                        <p:cond delay="indefinite"/>
                      </p:stCondLst>
                      <p:childTnLst>
                        <p:par>
                          <p:cTn id="48"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4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00"/>
                                        <p:tgtEl>
                                          <p:spTgt spid="2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00"/>
                                        <p:tgtEl>
                                          <p:spTgt spid="2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19" grpId="0" animBg="1"/>
      <p:bldP spid="20" grpId="0" animBg="1"/>
      <p:bldP spid="22" grpId="0" animBg="1"/>
      <p:bldP spid="23" grpId="0" animBg="1"/>
      <p:bldP spid="24"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Tensión plana y deformación plana</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tension_deformacion_plana.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65150" y="1276350"/>
            <a:ext cx="5715000" cy="3816350"/>
          </a:xfrm>
          <a:prstGeom prst="rect">
            <a:avLst/>
          </a:prstGeom>
        </p:spPr>
      </p:pic>
      <p:sp>
        <p:nvSpPr>
          <p:cNvPr id="14" name="TextBox 13"/>
          <p:cNvSpPr txBox="1"/>
          <p:nvPr/>
        </p:nvSpPr>
        <p:spPr>
          <a:xfrm>
            <a:off x="565150" y="5163598"/>
            <a:ext cx="582930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5B6575"/>
                </a:solidFill>
                <a:latin typeface="Calibri"/>
              </a:rPr>
              <a:t>Animación que EduFEM muestra en</a:t>
            </a:r>
            <a:r>
              <a:rPr sz="1250" b="0" i="1">
                <a:solidFill>
                  <a:srgbClr val="5B6575"/>
                </a:solidFill>
                <a:latin typeface="Calibri"/>
              </a:rPr>
              <a:t> Modelo → Tipo de análisis</a:t>
            </a:r>
            <a:r>
              <a:rPr sz="1250" b="0" i="0">
                <a:solidFill>
                  <a:srgbClr val="5B6575"/>
                </a:solidFill>
                <a:latin typeface="Calibri"/>
              </a:rPr>
              <a:t> (generada con Manim y</a:t>
            </a:r>
            <a:br/>
            <a:r>
              <a:rPr sz="1250" b="0" i="0">
                <a:solidFill>
                  <a:srgbClr val="5B6575"/>
                </a:solidFill>
                <a:latin typeface="Calibri"/>
              </a:rPr>
              <a:t>distribuida con EduFEM).</a:t>
            </a:r>
          </a:p>
        </p:txBody>
      </p:sp>
      <p:sp>
        <p:nvSpPr>
          <p:cNvPr id="15" name="Rounded Rectangle 14"/>
          <p:cNvSpPr/>
          <p:nvPr/>
        </p:nvSpPr>
        <p:spPr>
          <a:xfrm>
            <a:off x="6562725" y="1283272"/>
            <a:ext cx="5060950" cy="1470406"/>
          </a:xfrm>
          <a:prstGeom prst="roundRect">
            <a:avLst>
              <a:gd name="adj" fmla="val 496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81800" y="1483615"/>
            <a:ext cx="4715256"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Tensión plana · σ</a:t>
            </a:r>
            <a:r>
              <a:rPr sz="1250" b="1" i="0" cap="all" spc="125" baseline="-25000">
                <a:solidFill>
                  <a:srgbClr val="5B6575"/>
                </a:solidFill>
                <a:latin typeface="Calibri"/>
              </a:rPr>
              <a:t>z</a:t>
            </a:r>
            <a:r>
              <a:rPr sz="1250" b="1" i="0" cap="all" spc="125">
                <a:solidFill>
                  <a:srgbClr val="5B6575"/>
                </a:solidFill>
                <a:latin typeface="Calibri"/>
              </a:rPr>
              <a:t> = 0 · chapas delgadas</a:t>
            </a:r>
          </a:p>
        </p:txBody>
      </p:sp>
      <p:pic>
        <p:nvPicPr>
          <p:cNvPr id="17" name="Picture 16" descr="e3d629727fce3d1e.png"/>
          <p:cNvPicPr>
            <a:picLocks noChangeAspect="1"/>
          </p:cNvPicPr>
          <p:nvPr/>
        </p:nvPicPr>
        <p:blipFill>
          <a:blip r:embed="rId5"/>
          <a:stretch>
            <a:fillRect/>
          </a:stretch>
        </p:blipFill>
        <p:spPr>
          <a:xfrm>
            <a:off x="6781800" y="1314450"/>
            <a:ext cx="2438400" cy="1295400"/>
          </a:xfrm>
          <a:prstGeom prst="rect">
            <a:avLst/>
          </a:prstGeom>
        </p:spPr>
      </p:pic>
      <p:sp>
        <p:nvSpPr>
          <p:cNvPr id="18" name="Rounded Rectangle 17"/>
          <p:cNvSpPr/>
          <p:nvPr/>
        </p:nvSpPr>
        <p:spPr>
          <a:xfrm>
            <a:off x="6562725" y="2899791"/>
            <a:ext cx="5060950" cy="1667256"/>
          </a:xfrm>
          <a:prstGeom prst="roundRect">
            <a:avLst>
              <a:gd name="adj" fmla="val 43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81800" y="3100071"/>
            <a:ext cx="4715256" cy="387604"/>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Deformación plana · ε</a:t>
            </a:r>
            <a:r>
              <a:rPr sz="1250" b="1" i="0" cap="all" spc="125" baseline="-25000">
                <a:solidFill>
                  <a:srgbClr val="5B6575"/>
                </a:solidFill>
                <a:latin typeface="Calibri"/>
              </a:rPr>
              <a:t>z</a:t>
            </a:r>
            <a:r>
              <a:rPr sz="1250" b="1" i="0" cap="all" spc="125">
                <a:solidFill>
                  <a:srgbClr val="5B6575"/>
                </a:solidFill>
                <a:latin typeface="Calibri"/>
              </a:rPr>
              <a:t> = 0 · presas, muros,</a:t>
            </a:r>
            <a:br/>
            <a:r>
              <a:rPr sz="1250" b="1" i="0" cap="all" spc="125">
                <a:solidFill>
                  <a:srgbClr val="5B6575"/>
                </a:solidFill>
                <a:latin typeface="Calibri"/>
              </a:rPr>
              <a:t>túneles</a:t>
            </a:r>
          </a:p>
        </p:txBody>
      </p:sp>
      <p:pic>
        <p:nvPicPr>
          <p:cNvPr id="20" name="Picture 19" descr="37b0f4811a25af19.png"/>
          <p:cNvPicPr>
            <a:picLocks noChangeAspect="1"/>
          </p:cNvPicPr>
          <p:nvPr/>
        </p:nvPicPr>
        <p:blipFill>
          <a:blip r:embed="rId6"/>
          <a:stretch>
            <a:fillRect/>
          </a:stretch>
        </p:blipFill>
        <p:spPr>
          <a:xfrm>
            <a:off x="6781800" y="3124200"/>
            <a:ext cx="3784600" cy="1295400"/>
          </a:xfrm>
          <a:prstGeom prst="rect">
            <a:avLst/>
          </a:prstGeom>
        </p:spPr>
      </p:pic>
      <p:sp>
        <p:nvSpPr>
          <p:cNvPr id="21" name="Rounded Rectangle 20"/>
          <p:cNvSpPr/>
          <p:nvPr/>
        </p:nvSpPr>
        <p:spPr>
          <a:xfrm>
            <a:off x="6562725" y="4713097"/>
            <a:ext cx="5060950" cy="613346"/>
          </a:xfrm>
          <a:prstGeom prst="roundRect">
            <a:avLst>
              <a:gd name="adj" fmla="val 13976"/>
            </a:avLst>
          </a:prstGeom>
          <a:solidFill>
            <a:srgbClr val="FDF1E2"/>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05600" y="4801603"/>
            <a:ext cx="4870704" cy="429260"/>
          </a:xfrm>
          <a:prstGeom prst="rect">
            <a:avLst/>
          </a:prstGeom>
          <a:noFill/>
        </p:spPr>
        <p:txBody>
          <a:bodyPr wrap="square" lIns="0" rIns="0" tIns="0" bIns="0" anchor="t"/>
          <a:lstStyle/>
          <a:p>
            <a:pPr algn="l">
              <a:lnSpc>
                <a:spcPts val="1690"/>
              </a:lnSpc>
              <a:spcBef>
                <a:spcPts val="0"/>
              </a:spcBef>
              <a:spcAft>
                <a:spcPts val="0"/>
              </a:spcAft>
            </a:pPr>
            <a:r>
              <a:rPr sz="1300" b="1" i="0">
                <a:solidFill>
                  <a:srgbClr val="C9620F"/>
                </a:solidFill>
                <a:latin typeface="Calibri"/>
              </a:rPr>
              <a:t>Si ν → 0,5, el factor (1 − 2ν) → 0: bloqueo volumétrico (§ 1.9), que el</a:t>
            </a:r>
            <a:br/>
            <a:r>
              <a:rPr sz="1300" b="1" i="0">
                <a:solidFill>
                  <a:srgbClr val="C9620F"/>
                </a:solidFill>
                <a:latin typeface="Calibri"/>
              </a:rPr>
              <a:t>módulo M4 advierte.</a:t>
            </a:r>
          </a:p>
        </p:txBody>
      </p:sp>
      <p:sp>
        <p:nvSpPr>
          <p:cNvPr id="23" name="Rectangle 22"/>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5150" y="6535420"/>
            <a:ext cx="535698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6" name="TextBox 25"/>
          <p:cNvSpPr txBox="1"/>
          <p:nvPr/>
        </p:nvSpPr>
        <p:spPr>
          <a:xfrm>
            <a:off x="5791708" y="6535420"/>
            <a:ext cx="60858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1.4</a:t>
            </a:r>
          </a:p>
        </p:txBody>
      </p:sp>
      <p:sp>
        <p:nvSpPr>
          <p:cNvPr id="27" name="TextBox 26"/>
          <p:cNvSpPr txBox="1"/>
          <p:nvPr/>
        </p:nvSpPr>
        <p:spPr>
          <a:xfrm>
            <a:off x="6269863" y="6535420"/>
            <a:ext cx="535698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15</a:t>
            </a:r>
          </a:p>
        </p:txBody>
      </p:sp>
      <p:sp>
        <p:nvSpPr>
          <p:cNvPr id="28" name="Enlace a sep-intro">
            <a:hlinkClick action="ppaction://hlinksldjump" r:id="rId7"/>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nlace a sep-teoria">
            <a:hlinkClick action="ppaction://hlinksldjump" r:id="rId8"/>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nlace a sep-diseno">
            <a:hlinkClick action="ppaction://hlinksldjump" r:id="rId9"/>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nlace a sep-resultados">
            <a:hlinkClick action="ppaction://hlinksldjump" r:id="rId10"/>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nlace a sep-analisis">
            <a:hlinkClick action="ppaction://hlinksldjump" r:id="rId11"/>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nlace a sep-conclusiones">
            <a:hlinkClick action="ppaction://hlinksldjump" r:id="rId12"/>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21" fill="hold">
                            <p:stCondLst>
                              <p:cond delay="0"/>
                            </p:stCondLst>
                            <p:childTnLst>
                              <p:par>
                                <p:cTn id="3" presetID="1" presetClass="mediacall" presetSubtype="0" fill="hold" nodeType="withEffect">
                                  <p:stCondLst>
                                    <p:cond delay="0"/>
                                  </p:stCondLst>
                                  <p:childTnLst>
                                    <p:cmd type="call" cmd="playFrom(0.0)">
                                      <p:cBhvr>
                                        <p:cTn id="4" dur="60000" fill="hold"/>
                                        <p:tgtEl>
                                          <p:spTgt spid="13"/>
                                        </p:tgtEl>
                                      </p:cBhvr>
                                    </p:cmd>
                                  </p:childTnLst>
                                </p:cTn>
                              </p:par>
                            </p:childTnLst>
                          </p:cTn>
                        </p:par>
                      </p:childTnLst>
                    </p:cTn>
                  </p:par>
                  <p:par>
                    <p:cTn id="22" fill="hold">
                      <p:stCondLst>
                        <p:cond delay="indefinite"/>
                      </p:stCondLst>
                      <p:childTnLst>
                        <p:par>
                          <p:cTn id="23"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childTnLst>
                          </p:cTn>
                        </p:par>
                      </p:childTnLst>
                    </p:cTn>
                  </p:par>
                  <p:par>
                    <p:cTn id="24" fill="hold">
                      <p:stCondLst>
                        <p:cond delay="indefinite"/>
                      </p:stCondLst>
                      <p:childTnLst>
                        <p:par>
                          <p:cTn id="25"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6" repeatCount="indefinite" fill="hold" display="0">
                  <p:stCondLst>
                    <p:cond delay="indefinite"/>
                  </p:stCondLst>
                  <p:endCondLst>
                    <p:cond evt="onStopAudio" delay="0">
                      <p:tgtEl>
                        <p:sldTgt/>
                      </p:tgtEl>
                    </p:cond>
                  </p:endCondLst>
                </p:cTn>
                <p:tgtEl>
                  <p:spTgt spid="13"/>
                </p:tgtEl>
              </p:cMediaNode>
            </p:video>
          </p:childTnLst>
        </p:cTn>
      </p:par>
    </p:tnLst>
    <p:bldLst>
      <p:bldP spid="18" grpId="0" animBg="1"/>
      <p:bldP spid="19" grpId="0" animBg="1"/>
      <p:bldP spid="21" grpId="0" animBg="1"/>
      <p:bldP spid="22"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El procedimiento de cálculo en nueve etapas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1154938" cy="1887030"/>
          </a:xfrm>
          <a:prstGeom prst="roundRect">
            <a:avLst>
              <a:gd name="adj" fmla="val 962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300" y="1419162"/>
            <a:ext cx="1046988"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1</a:t>
            </a:r>
          </a:p>
        </p:txBody>
      </p:sp>
      <p:sp>
        <p:nvSpPr>
          <p:cNvPr id="15" name="TextBox 14"/>
          <p:cNvSpPr txBox="1"/>
          <p:nvPr/>
        </p:nvSpPr>
        <p:spPr>
          <a:xfrm>
            <a:off x="622300" y="1741432"/>
            <a:ext cx="1046988" cy="232537"/>
          </a:xfrm>
          <a:prstGeom prst="rect">
            <a:avLst/>
          </a:prstGeom>
          <a:noFill/>
        </p:spPr>
        <p:txBody>
          <a:bodyPr wrap="square" lIns="0" rIns="0" tIns="0" bIns="0" anchor="t"/>
          <a:lstStyle/>
          <a:p>
            <a:pPr algn="ctr">
              <a:lnSpc>
                <a:spcPts val="1831"/>
              </a:lnSpc>
              <a:spcBef>
                <a:spcPts val="0"/>
              </a:spcBef>
              <a:spcAft>
                <a:spcPts val="0"/>
              </a:spcAft>
            </a:pPr>
            <a:r>
              <a:rPr sz="2000" b="1" i="1">
                <a:solidFill>
                  <a:srgbClr val="1F2937"/>
                </a:solidFill>
                <a:latin typeface="Calibri"/>
              </a:rPr>
              <a:t>N</a:t>
            </a:r>
          </a:p>
        </p:txBody>
      </p:sp>
      <p:sp>
        <p:nvSpPr>
          <p:cNvPr id="16" name="TextBox 15"/>
          <p:cNvSpPr txBox="1"/>
          <p:nvPr/>
        </p:nvSpPr>
        <p:spPr>
          <a:xfrm>
            <a:off x="622300" y="2049170"/>
            <a:ext cx="1046988"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1F2937"/>
                </a:solidFill>
                <a:latin typeface="Calibri"/>
              </a:rPr>
              <a:t>Mapeo</a:t>
            </a:r>
            <a:br/>
            <a:r>
              <a:rPr sz="1100" b="1" i="0">
                <a:solidFill>
                  <a:srgbClr val="1F2937"/>
                </a:solidFill>
                <a:latin typeface="Calibri"/>
              </a:rPr>
              <a:t>isoparamétrico</a:t>
            </a:r>
          </a:p>
        </p:txBody>
      </p:sp>
      <p:sp>
        <p:nvSpPr>
          <p:cNvPr id="17" name="Rounded Rectangle 16"/>
          <p:cNvSpPr/>
          <p:nvPr/>
        </p:nvSpPr>
        <p:spPr>
          <a:xfrm>
            <a:off x="831850" y="2447163"/>
            <a:ext cx="627888" cy="184150"/>
          </a:xfrm>
          <a:prstGeom prst="roundRect">
            <a:avLst>
              <a:gd name="adj" fmla="val 27586"/>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7250" y="2494439"/>
            <a:ext cx="577088"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Módulo M1</a:t>
            </a:r>
          </a:p>
        </p:txBody>
      </p:sp>
      <p:sp>
        <p:nvSpPr>
          <p:cNvPr id="19" name="Rounded Rectangle 18"/>
          <p:cNvSpPr/>
          <p:nvPr/>
        </p:nvSpPr>
        <p:spPr>
          <a:xfrm>
            <a:off x="888619" y="2669413"/>
            <a:ext cx="514350" cy="184150"/>
          </a:xfrm>
          <a:prstGeom prst="roundRect">
            <a:avLst>
              <a:gd name="adj" fmla="val 2758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019" y="2716689"/>
            <a:ext cx="46355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2E8B57"/>
                </a:solidFill>
                <a:latin typeface="Calibri"/>
              </a:rPr>
              <a:t>Memoria</a:t>
            </a:r>
          </a:p>
        </p:txBody>
      </p:sp>
      <p:sp>
        <p:nvSpPr>
          <p:cNvPr id="21" name="Rounded Rectangle 20"/>
          <p:cNvSpPr/>
          <p:nvPr/>
        </p:nvSpPr>
        <p:spPr>
          <a:xfrm>
            <a:off x="1805813" y="1283272"/>
            <a:ext cx="1155002" cy="1887030"/>
          </a:xfrm>
          <a:prstGeom prst="roundRect">
            <a:avLst>
              <a:gd name="adj" fmla="val 962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59788" y="1419162"/>
            <a:ext cx="1047051"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2</a:t>
            </a:r>
          </a:p>
        </p:txBody>
      </p:sp>
      <p:sp>
        <p:nvSpPr>
          <p:cNvPr id="23" name="TextBox 22"/>
          <p:cNvSpPr txBox="1"/>
          <p:nvPr/>
        </p:nvSpPr>
        <p:spPr>
          <a:xfrm>
            <a:off x="1859788" y="1741432"/>
            <a:ext cx="1047051" cy="232537"/>
          </a:xfrm>
          <a:prstGeom prst="rect">
            <a:avLst/>
          </a:prstGeom>
          <a:noFill/>
        </p:spPr>
        <p:txBody>
          <a:bodyPr wrap="square" lIns="0" rIns="0" tIns="0" bIns="0" anchor="t"/>
          <a:lstStyle/>
          <a:p>
            <a:pPr algn="ctr">
              <a:lnSpc>
                <a:spcPts val="1831"/>
              </a:lnSpc>
              <a:spcBef>
                <a:spcPts val="0"/>
              </a:spcBef>
              <a:spcAft>
                <a:spcPts val="0"/>
              </a:spcAft>
            </a:pPr>
            <a:r>
              <a:rPr sz="2000" b="1" i="1">
                <a:solidFill>
                  <a:srgbClr val="1F2937"/>
                </a:solidFill>
                <a:latin typeface="Calibri"/>
              </a:rPr>
              <a:t>J</a:t>
            </a:r>
          </a:p>
        </p:txBody>
      </p:sp>
      <p:sp>
        <p:nvSpPr>
          <p:cNvPr id="24" name="TextBox 23"/>
          <p:cNvSpPr txBox="1"/>
          <p:nvPr/>
        </p:nvSpPr>
        <p:spPr>
          <a:xfrm>
            <a:off x="1859788" y="2049170"/>
            <a:ext cx="1047051"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1F2937"/>
                </a:solidFill>
                <a:latin typeface="Calibri"/>
              </a:rPr>
              <a:t>Matriz Jacobiana</a:t>
            </a:r>
          </a:p>
        </p:txBody>
      </p:sp>
      <p:sp>
        <p:nvSpPr>
          <p:cNvPr id="25" name="Rounded Rectangle 24"/>
          <p:cNvSpPr/>
          <p:nvPr/>
        </p:nvSpPr>
        <p:spPr>
          <a:xfrm>
            <a:off x="2069338" y="2279523"/>
            <a:ext cx="627888" cy="184150"/>
          </a:xfrm>
          <a:prstGeom prst="roundRect">
            <a:avLst>
              <a:gd name="adj" fmla="val 27586"/>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94738" y="2326799"/>
            <a:ext cx="577088"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Módulo M2</a:t>
            </a:r>
          </a:p>
        </p:txBody>
      </p:sp>
      <p:sp>
        <p:nvSpPr>
          <p:cNvPr id="27" name="Rounded Rectangle 26"/>
          <p:cNvSpPr/>
          <p:nvPr/>
        </p:nvSpPr>
        <p:spPr>
          <a:xfrm>
            <a:off x="2126044" y="2501773"/>
            <a:ext cx="514350" cy="184150"/>
          </a:xfrm>
          <a:prstGeom prst="roundRect">
            <a:avLst>
              <a:gd name="adj" fmla="val 2758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51444" y="2549049"/>
            <a:ext cx="46355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2E8B57"/>
                </a:solidFill>
                <a:latin typeface="Calibri"/>
              </a:rPr>
              <a:t>Memoria</a:t>
            </a:r>
          </a:p>
        </p:txBody>
      </p:sp>
      <p:sp>
        <p:nvSpPr>
          <p:cNvPr id="29" name="Rounded Rectangle 28"/>
          <p:cNvSpPr/>
          <p:nvPr/>
        </p:nvSpPr>
        <p:spPr>
          <a:xfrm>
            <a:off x="3043364" y="1283272"/>
            <a:ext cx="1155002" cy="1887030"/>
          </a:xfrm>
          <a:prstGeom prst="roundRect">
            <a:avLst>
              <a:gd name="adj" fmla="val 962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97340" y="1419162"/>
            <a:ext cx="1047051"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3</a:t>
            </a:r>
          </a:p>
        </p:txBody>
      </p:sp>
      <p:sp>
        <p:nvSpPr>
          <p:cNvPr id="31" name="TextBox 30"/>
          <p:cNvSpPr txBox="1"/>
          <p:nvPr/>
        </p:nvSpPr>
        <p:spPr>
          <a:xfrm>
            <a:off x="3097340" y="1741432"/>
            <a:ext cx="1047051" cy="232537"/>
          </a:xfrm>
          <a:prstGeom prst="rect">
            <a:avLst/>
          </a:prstGeom>
          <a:noFill/>
        </p:spPr>
        <p:txBody>
          <a:bodyPr wrap="square" lIns="0" rIns="0" tIns="0" bIns="0" anchor="t"/>
          <a:lstStyle/>
          <a:p>
            <a:pPr algn="ctr">
              <a:lnSpc>
                <a:spcPts val="1831"/>
              </a:lnSpc>
              <a:spcBef>
                <a:spcPts val="0"/>
              </a:spcBef>
              <a:spcAft>
                <a:spcPts val="0"/>
              </a:spcAft>
            </a:pPr>
            <a:r>
              <a:rPr sz="2000" b="1" i="1">
                <a:solidFill>
                  <a:srgbClr val="1F2937"/>
                </a:solidFill>
                <a:latin typeface="Calibri"/>
              </a:rPr>
              <a:t>B</a:t>
            </a:r>
          </a:p>
        </p:txBody>
      </p:sp>
      <p:sp>
        <p:nvSpPr>
          <p:cNvPr id="32" name="TextBox 31"/>
          <p:cNvSpPr txBox="1"/>
          <p:nvPr/>
        </p:nvSpPr>
        <p:spPr>
          <a:xfrm>
            <a:off x="3097340" y="2049170"/>
            <a:ext cx="1047051"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1F2937"/>
                </a:solidFill>
                <a:latin typeface="Calibri"/>
              </a:rPr>
              <a:t>Matriz de</a:t>
            </a:r>
            <a:br/>
            <a:r>
              <a:rPr sz="1100" b="1" i="0">
                <a:solidFill>
                  <a:srgbClr val="1F2937"/>
                </a:solidFill>
                <a:latin typeface="Calibri"/>
              </a:rPr>
              <a:t>deformación B</a:t>
            </a:r>
          </a:p>
        </p:txBody>
      </p:sp>
      <p:sp>
        <p:nvSpPr>
          <p:cNvPr id="33" name="Rounded Rectangle 32"/>
          <p:cNvSpPr/>
          <p:nvPr/>
        </p:nvSpPr>
        <p:spPr>
          <a:xfrm>
            <a:off x="3306890" y="2447163"/>
            <a:ext cx="627888" cy="184150"/>
          </a:xfrm>
          <a:prstGeom prst="roundRect">
            <a:avLst>
              <a:gd name="adj" fmla="val 27586"/>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2290" y="2494439"/>
            <a:ext cx="577088"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Módulo M3</a:t>
            </a:r>
          </a:p>
        </p:txBody>
      </p:sp>
      <p:sp>
        <p:nvSpPr>
          <p:cNvPr id="35" name="Rounded Rectangle 34"/>
          <p:cNvSpPr/>
          <p:nvPr/>
        </p:nvSpPr>
        <p:spPr>
          <a:xfrm>
            <a:off x="3363595" y="2669413"/>
            <a:ext cx="514350" cy="184150"/>
          </a:xfrm>
          <a:prstGeom prst="roundRect">
            <a:avLst>
              <a:gd name="adj" fmla="val 2758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88995" y="2716689"/>
            <a:ext cx="46355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2E8B57"/>
                </a:solidFill>
                <a:latin typeface="Calibri"/>
              </a:rPr>
              <a:t>Memoria</a:t>
            </a:r>
          </a:p>
        </p:txBody>
      </p:sp>
      <p:sp>
        <p:nvSpPr>
          <p:cNvPr id="37" name="Rounded Rectangle 36"/>
          <p:cNvSpPr/>
          <p:nvPr/>
        </p:nvSpPr>
        <p:spPr>
          <a:xfrm>
            <a:off x="4280916" y="1283272"/>
            <a:ext cx="1155002" cy="1887030"/>
          </a:xfrm>
          <a:prstGeom prst="roundRect">
            <a:avLst>
              <a:gd name="adj" fmla="val 962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34891" y="1419162"/>
            <a:ext cx="1047051"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4</a:t>
            </a:r>
          </a:p>
        </p:txBody>
      </p:sp>
      <p:sp>
        <p:nvSpPr>
          <p:cNvPr id="39" name="TextBox 38"/>
          <p:cNvSpPr txBox="1"/>
          <p:nvPr/>
        </p:nvSpPr>
        <p:spPr>
          <a:xfrm>
            <a:off x="4334891" y="1741432"/>
            <a:ext cx="1047051" cy="232537"/>
          </a:xfrm>
          <a:prstGeom prst="rect">
            <a:avLst/>
          </a:prstGeom>
          <a:noFill/>
        </p:spPr>
        <p:txBody>
          <a:bodyPr wrap="square" lIns="0" rIns="0" tIns="0" bIns="0" anchor="t"/>
          <a:lstStyle/>
          <a:p>
            <a:pPr algn="ctr">
              <a:lnSpc>
                <a:spcPts val="1831"/>
              </a:lnSpc>
              <a:spcBef>
                <a:spcPts val="0"/>
              </a:spcBef>
              <a:spcAft>
                <a:spcPts val="0"/>
              </a:spcAft>
            </a:pPr>
            <a:r>
              <a:rPr sz="2000" b="1" i="1">
                <a:solidFill>
                  <a:srgbClr val="1F2937"/>
                </a:solidFill>
                <a:latin typeface="Calibri"/>
              </a:rPr>
              <a:t>D</a:t>
            </a:r>
          </a:p>
        </p:txBody>
      </p:sp>
      <p:sp>
        <p:nvSpPr>
          <p:cNvPr id="40" name="TextBox 39"/>
          <p:cNvSpPr txBox="1"/>
          <p:nvPr/>
        </p:nvSpPr>
        <p:spPr>
          <a:xfrm>
            <a:off x="4334891" y="2049170"/>
            <a:ext cx="1047051"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1F2937"/>
                </a:solidFill>
                <a:latin typeface="Calibri"/>
              </a:rPr>
              <a:t>Matriz</a:t>
            </a:r>
            <a:br/>
            <a:r>
              <a:rPr sz="1100" b="1" i="0">
                <a:solidFill>
                  <a:srgbClr val="1F2937"/>
                </a:solidFill>
                <a:latin typeface="Calibri"/>
              </a:rPr>
              <a:t>constitutiva D</a:t>
            </a:r>
          </a:p>
        </p:txBody>
      </p:sp>
      <p:sp>
        <p:nvSpPr>
          <p:cNvPr id="41" name="Rounded Rectangle 40"/>
          <p:cNvSpPr/>
          <p:nvPr/>
        </p:nvSpPr>
        <p:spPr>
          <a:xfrm>
            <a:off x="4544441" y="2447163"/>
            <a:ext cx="627888" cy="184150"/>
          </a:xfrm>
          <a:prstGeom prst="roundRect">
            <a:avLst>
              <a:gd name="adj" fmla="val 27586"/>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69841" y="2494439"/>
            <a:ext cx="577088"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Módulo M4</a:t>
            </a:r>
          </a:p>
        </p:txBody>
      </p:sp>
      <p:sp>
        <p:nvSpPr>
          <p:cNvPr id="43" name="Rounded Rectangle 42"/>
          <p:cNvSpPr/>
          <p:nvPr/>
        </p:nvSpPr>
        <p:spPr>
          <a:xfrm>
            <a:off x="4601146" y="2669413"/>
            <a:ext cx="514350" cy="184150"/>
          </a:xfrm>
          <a:prstGeom prst="roundRect">
            <a:avLst>
              <a:gd name="adj" fmla="val 2758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26546" y="2716689"/>
            <a:ext cx="46355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2E8B57"/>
                </a:solidFill>
                <a:latin typeface="Calibri"/>
              </a:rPr>
              <a:t>Memoria</a:t>
            </a:r>
          </a:p>
        </p:txBody>
      </p:sp>
      <p:sp>
        <p:nvSpPr>
          <p:cNvPr id="45" name="Rounded Rectangle 44"/>
          <p:cNvSpPr/>
          <p:nvPr/>
        </p:nvSpPr>
        <p:spPr>
          <a:xfrm>
            <a:off x="5518468" y="1283272"/>
            <a:ext cx="1155002" cy="1887030"/>
          </a:xfrm>
          <a:prstGeom prst="roundRect">
            <a:avLst>
              <a:gd name="adj" fmla="val 962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572442" y="1419162"/>
            <a:ext cx="1047051"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5</a:t>
            </a:r>
          </a:p>
        </p:txBody>
      </p:sp>
      <p:sp>
        <p:nvSpPr>
          <p:cNvPr id="47" name="TextBox 46"/>
          <p:cNvSpPr txBox="1"/>
          <p:nvPr/>
        </p:nvSpPr>
        <p:spPr>
          <a:xfrm>
            <a:off x="5572442" y="1741432"/>
            <a:ext cx="1047051" cy="232537"/>
          </a:xfrm>
          <a:prstGeom prst="rect">
            <a:avLst/>
          </a:prstGeom>
          <a:noFill/>
        </p:spPr>
        <p:txBody>
          <a:bodyPr wrap="square" lIns="0" rIns="0" tIns="0" bIns="0" anchor="t"/>
          <a:lstStyle/>
          <a:p>
            <a:pPr algn="ctr">
              <a:lnSpc>
                <a:spcPts val="1831"/>
              </a:lnSpc>
              <a:spcBef>
                <a:spcPts val="0"/>
              </a:spcBef>
              <a:spcAft>
                <a:spcPts val="0"/>
              </a:spcAft>
            </a:pPr>
            <a:r>
              <a:rPr sz="2000" b="1" i="1">
                <a:solidFill>
                  <a:srgbClr val="1F2937"/>
                </a:solidFill>
                <a:latin typeface="Calibri"/>
              </a:rPr>
              <a:t>k</a:t>
            </a:r>
            <a:r>
              <a:rPr sz="2000" b="1" i="1" baseline="-25000">
                <a:solidFill>
                  <a:srgbClr val="1F2937"/>
                </a:solidFill>
                <a:latin typeface="Calibri"/>
              </a:rPr>
              <a:t>e</a:t>
            </a:r>
          </a:p>
        </p:txBody>
      </p:sp>
      <p:sp>
        <p:nvSpPr>
          <p:cNvPr id="48" name="TextBox 47"/>
          <p:cNvSpPr txBox="1"/>
          <p:nvPr/>
        </p:nvSpPr>
        <p:spPr>
          <a:xfrm>
            <a:off x="5572442" y="2093620"/>
            <a:ext cx="1047051" cy="50292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1F2937"/>
                </a:solidFill>
                <a:latin typeface="Calibri"/>
              </a:rPr>
              <a:t>Rigidez por</a:t>
            </a:r>
            <a:br/>
            <a:r>
              <a:rPr sz="1100" b="1" i="0">
                <a:solidFill>
                  <a:srgbClr val="1F2937"/>
                </a:solidFill>
                <a:latin typeface="Calibri"/>
              </a:rPr>
              <a:t>cuadratura de</a:t>
            </a:r>
            <a:br/>
            <a:r>
              <a:rPr sz="1100" b="1" i="0">
                <a:solidFill>
                  <a:srgbClr val="1F2937"/>
                </a:solidFill>
                <a:latin typeface="Calibri"/>
              </a:rPr>
              <a:t>Gauss</a:t>
            </a:r>
          </a:p>
        </p:txBody>
      </p:sp>
      <p:sp>
        <p:nvSpPr>
          <p:cNvPr id="49" name="Rounded Rectangle 48"/>
          <p:cNvSpPr/>
          <p:nvPr/>
        </p:nvSpPr>
        <p:spPr>
          <a:xfrm>
            <a:off x="5781992" y="2659190"/>
            <a:ext cx="627888" cy="184150"/>
          </a:xfrm>
          <a:prstGeom prst="roundRect">
            <a:avLst>
              <a:gd name="adj" fmla="val 27586"/>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07392" y="2706465"/>
            <a:ext cx="577088"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Módulo M5</a:t>
            </a:r>
          </a:p>
        </p:txBody>
      </p:sp>
      <p:sp>
        <p:nvSpPr>
          <p:cNvPr id="51" name="Rounded Rectangle 50"/>
          <p:cNvSpPr/>
          <p:nvPr/>
        </p:nvSpPr>
        <p:spPr>
          <a:xfrm>
            <a:off x="5838698" y="2881440"/>
            <a:ext cx="514350" cy="184150"/>
          </a:xfrm>
          <a:prstGeom prst="roundRect">
            <a:avLst>
              <a:gd name="adj" fmla="val 2758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864098" y="2928715"/>
            <a:ext cx="46355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2E8B57"/>
                </a:solidFill>
                <a:latin typeface="Calibri"/>
              </a:rPr>
              <a:t>Memoria</a:t>
            </a:r>
          </a:p>
        </p:txBody>
      </p:sp>
      <p:sp>
        <p:nvSpPr>
          <p:cNvPr id="53" name="Rounded Rectangle 52"/>
          <p:cNvSpPr/>
          <p:nvPr/>
        </p:nvSpPr>
        <p:spPr>
          <a:xfrm>
            <a:off x="6756019" y="1283272"/>
            <a:ext cx="1155002" cy="1887030"/>
          </a:xfrm>
          <a:prstGeom prst="roundRect">
            <a:avLst>
              <a:gd name="adj" fmla="val 962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09994" y="1419162"/>
            <a:ext cx="1047051"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6</a:t>
            </a:r>
          </a:p>
        </p:txBody>
      </p:sp>
      <p:sp>
        <p:nvSpPr>
          <p:cNvPr id="55" name="TextBox 54"/>
          <p:cNvSpPr txBox="1"/>
          <p:nvPr/>
        </p:nvSpPr>
        <p:spPr>
          <a:xfrm>
            <a:off x="6809994" y="1741432"/>
            <a:ext cx="1047051" cy="232537"/>
          </a:xfrm>
          <a:prstGeom prst="rect">
            <a:avLst/>
          </a:prstGeom>
          <a:noFill/>
        </p:spPr>
        <p:txBody>
          <a:bodyPr wrap="square" lIns="0" rIns="0" tIns="0" bIns="0" anchor="t"/>
          <a:lstStyle/>
          <a:p>
            <a:pPr algn="ctr">
              <a:lnSpc>
                <a:spcPts val="1831"/>
              </a:lnSpc>
              <a:spcBef>
                <a:spcPts val="0"/>
              </a:spcBef>
              <a:spcAft>
                <a:spcPts val="0"/>
              </a:spcAft>
            </a:pPr>
            <a:r>
              <a:rPr sz="2000" b="1" i="1">
                <a:solidFill>
                  <a:srgbClr val="1F2937"/>
                </a:solidFill>
                <a:latin typeface="Calibri"/>
              </a:rPr>
              <a:t>f</a:t>
            </a:r>
          </a:p>
        </p:txBody>
      </p:sp>
      <p:sp>
        <p:nvSpPr>
          <p:cNvPr id="56" name="TextBox 55"/>
          <p:cNvSpPr txBox="1"/>
          <p:nvPr/>
        </p:nvSpPr>
        <p:spPr>
          <a:xfrm>
            <a:off x="6809994" y="2049170"/>
            <a:ext cx="1047051"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1F2937"/>
                </a:solidFill>
                <a:latin typeface="Calibri"/>
              </a:rPr>
              <a:t>Fuerzas nodales</a:t>
            </a:r>
            <a:br/>
            <a:r>
              <a:rPr sz="1100" b="1" i="0">
                <a:solidFill>
                  <a:srgbClr val="1F2937"/>
                </a:solidFill>
                <a:latin typeface="Calibri"/>
              </a:rPr>
              <a:t>equivalentes</a:t>
            </a:r>
          </a:p>
        </p:txBody>
      </p:sp>
      <p:sp>
        <p:nvSpPr>
          <p:cNvPr id="57" name="Rounded Rectangle 56"/>
          <p:cNvSpPr/>
          <p:nvPr/>
        </p:nvSpPr>
        <p:spPr>
          <a:xfrm>
            <a:off x="7019544" y="2447163"/>
            <a:ext cx="627888" cy="184150"/>
          </a:xfrm>
          <a:prstGeom prst="roundRect">
            <a:avLst>
              <a:gd name="adj" fmla="val 27586"/>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44944" y="2494439"/>
            <a:ext cx="577088"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Módulo M6</a:t>
            </a:r>
          </a:p>
        </p:txBody>
      </p:sp>
      <p:sp>
        <p:nvSpPr>
          <p:cNvPr id="59" name="Rounded Rectangle 58"/>
          <p:cNvSpPr/>
          <p:nvPr/>
        </p:nvSpPr>
        <p:spPr>
          <a:xfrm>
            <a:off x="7076313" y="2669413"/>
            <a:ext cx="514350" cy="184150"/>
          </a:xfrm>
          <a:prstGeom prst="roundRect">
            <a:avLst>
              <a:gd name="adj" fmla="val 2758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101713" y="2716689"/>
            <a:ext cx="46355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2E8B57"/>
                </a:solidFill>
                <a:latin typeface="Calibri"/>
              </a:rPr>
              <a:t>Memoria</a:t>
            </a:r>
          </a:p>
        </p:txBody>
      </p:sp>
      <p:sp>
        <p:nvSpPr>
          <p:cNvPr id="61" name="Rounded Rectangle 60"/>
          <p:cNvSpPr/>
          <p:nvPr/>
        </p:nvSpPr>
        <p:spPr>
          <a:xfrm>
            <a:off x="7993570" y="1283272"/>
            <a:ext cx="1155002" cy="1887030"/>
          </a:xfrm>
          <a:prstGeom prst="roundRect">
            <a:avLst>
              <a:gd name="adj" fmla="val 962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47546" y="1419162"/>
            <a:ext cx="1047051"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7</a:t>
            </a:r>
          </a:p>
        </p:txBody>
      </p:sp>
      <p:sp>
        <p:nvSpPr>
          <p:cNvPr id="63" name="TextBox 62"/>
          <p:cNvSpPr txBox="1"/>
          <p:nvPr/>
        </p:nvSpPr>
        <p:spPr>
          <a:xfrm>
            <a:off x="8047546" y="1741432"/>
            <a:ext cx="1047051" cy="232537"/>
          </a:xfrm>
          <a:prstGeom prst="rect">
            <a:avLst/>
          </a:prstGeom>
          <a:noFill/>
        </p:spPr>
        <p:txBody>
          <a:bodyPr wrap="square" lIns="0" rIns="0" tIns="0" bIns="0" anchor="t"/>
          <a:lstStyle/>
          <a:p>
            <a:pPr algn="ctr">
              <a:lnSpc>
                <a:spcPts val="1831"/>
              </a:lnSpc>
              <a:spcBef>
                <a:spcPts val="0"/>
              </a:spcBef>
              <a:spcAft>
                <a:spcPts val="0"/>
              </a:spcAft>
            </a:pPr>
            <a:r>
              <a:rPr sz="2000" b="1" i="1">
                <a:solidFill>
                  <a:srgbClr val="1F2937"/>
                </a:solidFill>
                <a:latin typeface="Calibri"/>
              </a:rPr>
              <a:t>K</a:t>
            </a:r>
          </a:p>
        </p:txBody>
      </p:sp>
      <p:sp>
        <p:nvSpPr>
          <p:cNvPr id="64" name="TextBox 63"/>
          <p:cNvSpPr txBox="1"/>
          <p:nvPr/>
        </p:nvSpPr>
        <p:spPr>
          <a:xfrm>
            <a:off x="8047546" y="2049170"/>
            <a:ext cx="1047051"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1F2937"/>
                </a:solidFill>
                <a:latin typeface="Calibri"/>
              </a:rPr>
              <a:t>Ensamblaje</a:t>
            </a:r>
          </a:p>
        </p:txBody>
      </p:sp>
      <p:sp>
        <p:nvSpPr>
          <p:cNvPr id="65" name="Rounded Rectangle 64"/>
          <p:cNvSpPr/>
          <p:nvPr/>
        </p:nvSpPr>
        <p:spPr>
          <a:xfrm>
            <a:off x="8257096" y="2279523"/>
            <a:ext cx="627888" cy="184150"/>
          </a:xfrm>
          <a:prstGeom prst="roundRect">
            <a:avLst>
              <a:gd name="adj" fmla="val 27586"/>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282496" y="2326799"/>
            <a:ext cx="577088"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Módulo M7</a:t>
            </a:r>
          </a:p>
        </p:txBody>
      </p:sp>
      <p:sp>
        <p:nvSpPr>
          <p:cNvPr id="67" name="Rounded Rectangle 66"/>
          <p:cNvSpPr/>
          <p:nvPr/>
        </p:nvSpPr>
        <p:spPr>
          <a:xfrm>
            <a:off x="8313864" y="2501773"/>
            <a:ext cx="514350" cy="184150"/>
          </a:xfrm>
          <a:prstGeom prst="roundRect">
            <a:avLst>
              <a:gd name="adj" fmla="val 2758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339264" y="2549049"/>
            <a:ext cx="46355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2E8B57"/>
                </a:solidFill>
                <a:latin typeface="Calibri"/>
              </a:rPr>
              <a:t>Memoria</a:t>
            </a:r>
          </a:p>
        </p:txBody>
      </p:sp>
      <p:sp>
        <p:nvSpPr>
          <p:cNvPr id="69" name="Rounded Rectangle 68"/>
          <p:cNvSpPr/>
          <p:nvPr/>
        </p:nvSpPr>
        <p:spPr>
          <a:xfrm>
            <a:off x="9231122" y="1283272"/>
            <a:ext cx="1155002" cy="1887030"/>
          </a:xfrm>
          <a:prstGeom prst="roundRect">
            <a:avLst>
              <a:gd name="adj" fmla="val 962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285097" y="1419162"/>
            <a:ext cx="1047051"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8</a:t>
            </a:r>
          </a:p>
        </p:txBody>
      </p:sp>
      <p:sp>
        <p:nvSpPr>
          <p:cNvPr id="71" name="TextBox 70"/>
          <p:cNvSpPr txBox="1"/>
          <p:nvPr/>
        </p:nvSpPr>
        <p:spPr>
          <a:xfrm>
            <a:off x="9285097" y="1741432"/>
            <a:ext cx="1047051" cy="232537"/>
          </a:xfrm>
          <a:prstGeom prst="rect">
            <a:avLst/>
          </a:prstGeom>
          <a:noFill/>
        </p:spPr>
        <p:txBody>
          <a:bodyPr wrap="square" lIns="0" rIns="0" tIns="0" bIns="0" anchor="t"/>
          <a:lstStyle/>
          <a:p>
            <a:pPr algn="ctr">
              <a:lnSpc>
                <a:spcPts val="1831"/>
              </a:lnSpc>
              <a:spcBef>
                <a:spcPts val="0"/>
              </a:spcBef>
              <a:spcAft>
                <a:spcPts val="0"/>
              </a:spcAft>
            </a:pPr>
            <a:r>
              <a:rPr sz="2000" b="1" i="1">
                <a:solidFill>
                  <a:srgbClr val="1F2937"/>
                </a:solidFill>
                <a:latin typeface="Calibri"/>
              </a:rPr>
              <a:t>u</a:t>
            </a:r>
          </a:p>
        </p:txBody>
      </p:sp>
      <p:sp>
        <p:nvSpPr>
          <p:cNvPr id="72" name="TextBox 71"/>
          <p:cNvSpPr txBox="1"/>
          <p:nvPr/>
        </p:nvSpPr>
        <p:spPr>
          <a:xfrm>
            <a:off x="9285097" y="2049170"/>
            <a:ext cx="1047051"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1F2937"/>
                </a:solidFill>
                <a:latin typeface="Calibri"/>
              </a:rPr>
              <a:t>Restricciones y</a:t>
            </a:r>
            <a:br/>
            <a:r>
              <a:rPr sz="1100" b="1" i="0">
                <a:solidFill>
                  <a:srgbClr val="1F2937"/>
                </a:solidFill>
                <a:latin typeface="Calibri"/>
              </a:rPr>
              <a:t>solución</a:t>
            </a:r>
          </a:p>
        </p:txBody>
      </p:sp>
      <p:sp>
        <p:nvSpPr>
          <p:cNvPr id="73" name="Rounded Rectangle 72"/>
          <p:cNvSpPr/>
          <p:nvPr/>
        </p:nvSpPr>
        <p:spPr>
          <a:xfrm>
            <a:off x="9469247" y="2447163"/>
            <a:ext cx="678752" cy="184150"/>
          </a:xfrm>
          <a:prstGeom prst="roundRect">
            <a:avLst>
              <a:gd name="adj" fmla="val 27586"/>
            </a:avLst>
          </a:prstGeom>
          <a:solidFill>
            <a:srgbClr val="6F42C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494647" y="2494439"/>
            <a:ext cx="62795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6F42C1"/>
                </a:solidFill>
                <a:latin typeface="Calibri"/>
              </a:rPr>
              <a:t>Post-proceso</a:t>
            </a:r>
          </a:p>
        </p:txBody>
      </p:sp>
      <p:sp>
        <p:nvSpPr>
          <p:cNvPr id="75" name="Rounded Rectangle 74"/>
          <p:cNvSpPr/>
          <p:nvPr/>
        </p:nvSpPr>
        <p:spPr>
          <a:xfrm>
            <a:off x="9551416" y="2669413"/>
            <a:ext cx="514350" cy="184150"/>
          </a:xfrm>
          <a:prstGeom prst="roundRect">
            <a:avLst>
              <a:gd name="adj" fmla="val 2758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576816" y="2716689"/>
            <a:ext cx="46355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2E8B57"/>
                </a:solidFill>
                <a:latin typeface="Calibri"/>
              </a:rPr>
              <a:t>Memoria</a:t>
            </a:r>
          </a:p>
        </p:txBody>
      </p:sp>
      <p:sp>
        <p:nvSpPr>
          <p:cNvPr id="77" name="Rounded Rectangle 76"/>
          <p:cNvSpPr/>
          <p:nvPr/>
        </p:nvSpPr>
        <p:spPr>
          <a:xfrm>
            <a:off x="10468674" y="1245172"/>
            <a:ext cx="1154938" cy="1887030"/>
          </a:xfrm>
          <a:prstGeom prst="roundRect">
            <a:avLst>
              <a:gd name="adj" fmla="val 9621"/>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522648" y="1381062"/>
            <a:ext cx="1046988"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9</a:t>
            </a:r>
          </a:p>
        </p:txBody>
      </p:sp>
      <p:sp>
        <p:nvSpPr>
          <p:cNvPr id="79" name="TextBox 78"/>
          <p:cNvSpPr txBox="1"/>
          <p:nvPr/>
        </p:nvSpPr>
        <p:spPr>
          <a:xfrm>
            <a:off x="10522648" y="1703332"/>
            <a:ext cx="1046988" cy="232537"/>
          </a:xfrm>
          <a:prstGeom prst="rect">
            <a:avLst/>
          </a:prstGeom>
          <a:noFill/>
        </p:spPr>
        <p:txBody>
          <a:bodyPr wrap="square" lIns="0" rIns="0" tIns="0" bIns="0" anchor="t"/>
          <a:lstStyle/>
          <a:p>
            <a:pPr algn="ctr">
              <a:lnSpc>
                <a:spcPts val="1831"/>
              </a:lnSpc>
              <a:spcBef>
                <a:spcPts val="0"/>
              </a:spcBef>
              <a:spcAft>
                <a:spcPts val="0"/>
              </a:spcAft>
            </a:pPr>
            <a:r>
              <a:rPr sz="2000" b="1" i="1">
                <a:solidFill>
                  <a:srgbClr val="1F2937"/>
                </a:solidFill>
                <a:latin typeface="Calibri"/>
              </a:rPr>
              <a:t>σ</a:t>
            </a:r>
          </a:p>
        </p:txBody>
      </p:sp>
      <p:sp>
        <p:nvSpPr>
          <p:cNvPr id="80" name="TextBox 79"/>
          <p:cNvSpPr txBox="1"/>
          <p:nvPr/>
        </p:nvSpPr>
        <p:spPr>
          <a:xfrm>
            <a:off x="10522648" y="2011070"/>
            <a:ext cx="1046988"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1F2937"/>
                </a:solidFill>
                <a:latin typeface="Calibri"/>
              </a:rPr>
              <a:t>Recuperación de</a:t>
            </a:r>
            <a:br/>
            <a:r>
              <a:rPr sz="1100" b="1" i="0">
                <a:solidFill>
                  <a:srgbClr val="1F2937"/>
                </a:solidFill>
                <a:latin typeface="Calibri"/>
              </a:rPr>
              <a:t>tensiones</a:t>
            </a:r>
          </a:p>
        </p:txBody>
      </p:sp>
      <p:sp>
        <p:nvSpPr>
          <p:cNvPr id="81" name="Rounded Rectangle 80"/>
          <p:cNvSpPr/>
          <p:nvPr/>
        </p:nvSpPr>
        <p:spPr>
          <a:xfrm>
            <a:off x="10706672" y="2409063"/>
            <a:ext cx="678752" cy="184150"/>
          </a:xfrm>
          <a:prstGeom prst="roundRect">
            <a:avLst>
              <a:gd name="adj" fmla="val 27586"/>
            </a:avLst>
          </a:prstGeom>
          <a:solidFill>
            <a:srgbClr val="6F42C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732072" y="2456339"/>
            <a:ext cx="62795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6F42C1"/>
                </a:solidFill>
                <a:latin typeface="Calibri"/>
              </a:rPr>
              <a:t>Post-proceso</a:t>
            </a:r>
          </a:p>
        </p:txBody>
      </p:sp>
      <p:sp>
        <p:nvSpPr>
          <p:cNvPr id="83" name="Rounded Rectangle 82"/>
          <p:cNvSpPr/>
          <p:nvPr/>
        </p:nvSpPr>
        <p:spPr>
          <a:xfrm>
            <a:off x="10788968" y="2631313"/>
            <a:ext cx="514350" cy="184150"/>
          </a:xfrm>
          <a:prstGeom prst="roundRect">
            <a:avLst>
              <a:gd name="adj" fmla="val 2758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814368" y="2678589"/>
            <a:ext cx="46355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2E8B57"/>
                </a:solidFill>
                <a:latin typeface="Calibri"/>
              </a:rPr>
              <a:t>Memoria</a:t>
            </a:r>
          </a:p>
        </p:txBody>
      </p:sp>
      <p:sp>
        <p:nvSpPr>
          <p:cNvPr id="85" name="Rounded Rectangle 84"/>
          <p:cNvSpPr/>
          <p:nvPr/>
        </p:nvSpPr>
        <p:spPr>
          <a:xfrm>
            <a:off x="568325" y="3367214"/>
            <a:ext cx="5808472" cy="2470150"/>
          </a:xfrm>
          <a:prstGeom prst="roundRect">
            <a:avLst>
              <a:gd name="adj" fmla="val 295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87400" y="3567495"/>
            <a:ext cx="54777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Etapa 9 · marco teórico § 1.11</a:t>
            </a:r>
          </a:p>
        </p:txBody>
      </p:sp>
      <p:sp>
        <p:nvSpPr>
          <p:cNvPr id="87" name="TextBox 86"/>
          <p:cNvSpPr txBox="1"/>
          <p:nvPr/>
        </p:nvSpPr>
        <p:spPr>
          <a:xfrm>
            <a:off x="787400" y="3880599"/>
            <a:ext cx="5477700" cy="284480"/>
          </a:xfrm>
          <a:prstGeom prst="rect">
            <a:avLst/>
          </a:prstGeom>
          <a:noFill/>
        </p:spPr>
        <p:txBody>
          <a:bodyPr wrap="square" lIns="0" rIns="0" tIns="0" bIns="0" anchor="t"/>
          <a:lstStyle/>
          <a:p>
            <a:pPr algn="l">
              <a:lnSpc>
                <a:spcPts val="2240"/>
              </a:lnSpc>
              <a:spcBef>
                <a:spcPts val="0"/>
              </a:spcBef>
              <a:spcAft>
                <a:spcPts val="0"/>
              </a:spcAft>
            </a:pPr>
            <a:r>
              <a:rPr sz="2000" b="1" i="0">
                <a:solidFill>
                  <a:srgbClr val="1B2A4A"/>
                </a:solidFill>
                <a:latin typeface="Calibri"/>
              </a:rPr>
              <a:t>Recuperación de tensiones</a:t>
            </a:r>
          </a:p>
        </p:txBody>
      </p:sp>
      <p:pic>
        <p:nvPicPr>
          <p:cNvPr id="88" name="Picture 87" descr="a77bb80f3fe52ff7.png"/>
          <p:cNvPicPr>
            <a:picLocks noChangeAspect="1"/>
          </p:cNvPicPr>
          <p:nvPr/>
        </p:nvPicPr>
        <p:blipFill>
          <a:blip r:embed="rId2"/>
          <a:stretch>
            <a:fillRect/>
          </a:stretch>
        </p:blipFill>
        <p:spPr>
          <a:xfrm>
            <a:off x="787400" y="3810000"/>
            <a:ext cx="5372100" cy="819150"/>
          </a:xfrm>
          <a:prstGeom prst="rect">
            <a:avLst/>
          </a:prstGeom>
        </p:spPr>
      </p:pic>
      <p:sp>
        <p:nvSpPr>
          <p:cNvPr id="89" name="TextBox 88"/>
          <p:cNvSpPr txBox="1"/>
          <p:nvPr/>
        </p:nvSpPr>
        <p:spPr>
          <a:xfrm>
            <a:off x="787400" y="4738560"/>
            <a:ext cx="5477700" cy="514350"/>
          </a:xfrm>
          <a:prstGeom prst="rect">
            <a:avLst/>
          </a:prstGeom>
          <a:noFill/>
        </p:spPr>
        <p:txBody>
          <a:bodyPr wrap="square" lIns="0" rIns="0" tIns="0" bIns="0" anchor="t"/>
          <a:lstStyle/>
          <a:p>
            <a:pPr algn="l">
              <a:lnSpc>
                <a:spcPts val="2025"/>
              </a:lnSpc>
              <a:spcBef>
                <a:spcPts val="0"/>
              </a:spcBef>
              <a:spcAft>
                <a:spcPts val="0"/>
              </a:spcAft>
            </a:pPr>
            <a:r>
              <a:rPr sz="1500" b="0" i="0">
                <a:solidFill>
                  <a:srgbClr val="3F4A5A"/>
                </a:solidFill>
                <a:latin typeface="Calibri"/>
              </a:rPr>
              <a:t>Sin módulo propio:</a:t>
            </a:r>
            <a:r>
              <a:rPr sz="1500" b="1" i="0">
                <a:solidFill>
                  <a:srgbClr val="3F4A5A"/>
                </a:solidFill>
                <a:latin typeface="Calibri"/>
              </a:rPr>
              <a:t> post-proceso</a:t>
            </a:r>
            <a:r>
              <a:rPr sz="1500" b="0" i="0">
                <a:solidFill>
                  <a:srgbClr val="3F4A5A"/>
                </a:solidFill>
                <a:latin typeface="Calibri"/>
              </a:rPr>
              <a:t> (sonda cruda y suavizada, vista 3D,</a:t>
            </a:r>
            <a:br/>
            <a:r>
              <a:rPr sz="1500" b="0" i="0">
                <a:solidFill>
                  <a:srgbClr val="3F4A5A"/>
                </a:solidFill>
                <a:latin typeface="Calibri"/>
              </a:rPr>
              <a:t>tabla) y</a:t>
            </a:r>
            <a:r>
              <a:rPr sz="1500" b="1" i="0">
                <a:solidFill>
                  <a:srgbClr val="3F4A5A"/>
                </a:solidFill>
                <a:latin typeface="Calibri"/>
              </a:rPr>
              <a:t> memoria</a:t>
            </a:r>
            <a:r>
              <a:rPr sz="1500" b="0" i="0">
                <a:solidFill>
                  <a:srgbClr val="3F4A5A"/>
                </a:solidFill>
                <a:latin typeface="Calibri"/>
              </a:rPr>
              <a:t>: capítulo «Post-proceso».</a:t>
            </a:r>
          </a:p>
        </p:txBody>
      </p:sp>
      <p:sp>
        <p:nvSpPr>
          <p:cNvPr id="90" name="Rounded Rectangle 89"/>
          <p:cNvSpPr/>
          <p:nvPr/>
        </p:nvSpPr>
        <p:spPr>
          <a:xfrm>
            <a:off x="6573647" y="3367214"/>
            <a:ext cx="5049964" cy="2470150"/>
          </a:xfrm>
          <a:prstGeom prst="roundRect">
            <a:avLst>
              <a:gd name="adj" fmla="val 1928"/>
            </a:avLst>
          </a:prstGeom>
          <a:solidFill>
            <a:srgbClr val="212529"/>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fig_postproceso.png"/>
          <p:cNvPicPr>
            <a:picLocks noChangeAspect="1"/>
          </p:cNvPicPr>
          <p:nvPr/>
        </p:nvPicPr>
        <p:blipFill>
          <a:blip r:embed="rId3"/>
          <a:srcRect/>
          <a:stretch>
            <a:fillRect/>
          </a:stretch>
        </p:blipFill>
        <p:spPr>
          <a:xfrm>
            <a:off x="6576822" y="3410204"/>
            <a:ext cx="5043614" cy="2384108"/>
          </a:xfrm>
          <a:prstGeom prst="rect">
            <a:avLst/>
          </a:prstGeom>
        </p:spPr>
      </p:pic>
      <p:sp>
        <p:nvSpPr>
          <p:cNvPr id="92" name="Rounded Rectangle 91"/>
          <p:cNvSpPr/>
          <p:nvPr/>
        </p:nvSpPr>
        <p:spPr>
          <a:xfrm>
            <a:off x="10468674" y="1283272"/>
            <a:ext cx="1154938" cy="1887030"/>
          </a:xfrm>
          <a:prstGeom prst="roundRect">
            <a:avLst>
              <a:gd name="adj" fmla="val 962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522648" y="1419162"/>
            <a:ext cx="1046988" cy="254000"/>
          </a:xfrm>
          <a:prstGeom prst="rect">
            <a:avLst/>
          </a:prstGeom>
          <a:noFill/>
        </p:spPr>
        <p:txBody>
          <a:bodyPr wrap="square" lIns="0" rIns="0" tIns="0" bIns="0" anchor="t"/>
          <a:lstStyle/>
          <a:p>
            <a:pPr algn="ctr">
              <a:lnSpc>
                <a:spcPts val="2000"/>
              </a:lnSpc>
              <a:spcBef>
                <a:spcPts val="0"/>
              </a:spcBef>
              <a:spcAft>
                <a:spcPts val="0"/>
              </a:spcAft>
            </a:pPr>
            <a:r>
              <a:rPr sz="2000" b="1" i="0">
                <a:solidFill>
                  <a:srgbClr val="E8741A"/>
                </a:solidFill>
                <a:latin typeface="Calibri"/>
              </a:rPr>
              <a:t>9</a:t>
            </a:r>
          </a:p>
        </p:txBody>
      </p:sp>
      <p:sp>
        <p:nvSpPr>
          <p:cNvPr id="94" name="TextBox 93"/>
          <p:cNvSpPr txBox="1"/>
          <p:nvPr/>
        </p:nvSpPr>
        <p:spPr>
          <a:xfrm>
            <a:off x="10522648" y="1741432"/>
            <a:ext cx="1046988" cy="232537"/>
          </a:xfrm>
          <a:prstGeom prst="rect">
            <a:avLst/>
          </a:prstGeom>
          <a:noFill/>
        </p:spPr>
        <p:txBody>
          <a:bodyPr wrap="square" lIns="0" rIns="0" tIns="0" bIns="0" anchor="t"/>
          <a:lstStyle/>
          <a:p>
            <a:pPr algn="ctr">
              <a:lnSpc>
                <a:spcPts val="1831"/>
              </a:lnSpc>
              <a:spcBef>
                <a:spcPts val="0"/>
              </a:spcBef>
              <a:spcAft>
                <a:spcPts val="0"/>
              </a:spcAft>
            </a:pPr>
            <a:r>
              <a:rPr sz="2000" b="1" i="1">
                <a:solidFill>
                  <a:srgbClr val="1F2937"/>
                </a:solidFill>
                <a:latin typeface="Calibri"/>
              </a:rPr>
              <a:t>σ</a:t>
            </a:r>
          </a:p>
        </p:txBody>
      </p:sp>
      <p:sp>
        <p:nvSpPr>
          <p:cNvPr id="95" name="TextBox 94"/>
          <p:cNvSpPr txBox="1"/>
          <p:nvPr/>
        </p:nvSpPr>
        <p:spPr>
          <a:xfrm>
            <a:off x="10522648" y="2049170"/>
            <a:ext cx="1046988"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1F2937"/>
                </a:solidFill>
                <a:latin typeface="Calibri"/>
              </a:rPr>
              <a:t>Recuperación de</a:t>
            </a:r>
            <a:br/>
            <a:r>
              <a:rPr sz="1100" b="1" i="0">
                <a:solidFill>
                  <a:srgbClr val="1F2937"/>
                </a:solidFill>
                <a:latin typeface="Calibri"/>
              </a:rPr>
              <a:t>tensiones</a:t>
            </a:r>
          </a:p>
        </p:txBody>
      </p:sp>
      <p:sp>
        <p:nvSpPr>
          <p:cNvPr id="96" name="Rounded Rectangle 95"/>
          <p:cNvSpPr/>
          <p:nvPr/>
        </p:nvSpPr>
        <p:spPr>
          <a:xfrm>
            <a:off x="10706672" y="2447163"/>
            <a:ext cx="678752" cy="184150"/>
          </a:xfrm>
          <a:prstGeom prst="roundRect">
            <a:avLst>
              <a:gd name="adj" fmla="val 27586"/>
            </a:avLst>
          </a:prstGeom>
          <a:solidFill>
            <a:srgbClr val="6F42C1">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732072" y="2494439"/>
            <a:ext cx="62795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6F42C1"/>
                </a:solidFill>
                <a:latin typeface="Calibri"/>
              </a:rPr>
              <a:t>Post-proceso</a:t>
            </a:r>
          </a:p>
        </p:txBody>
      </p:sp>
      <p:sp>
        <p:nvSpPr>
          <p:cNvPr id="98" name="Rounded Rectangle 97"/>
          <p:cNvSpPr/>
          <p:nvPr/>
        </p:nvSpPr>
        <p:spPr>
          <a:xfrm>
            <a:off x="10788968" y="2669413"/>
            <a:ext cx="514350" cy="184150"/>
          </a:xfrm>
          <a:prstGeom prst="roundRect">
            <a:avLst>
              <a:gd name="adj" fmla="val 2758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814368" y="2716689"/>
            <a:ext cx="46355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2E8B57"/>
                </a:solidFill>
                <a:latin typeface="Calibri"/>
              </a:rPr>
              <a:t>Memoria</a:t>
            </a:r>
          </a:p>
        </p:txBody>
      </p:sp>
      <p:sp>
        <p:nvSpPr>
          <p:cNvPr id="100" name="Rectangle 99"/>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65150" y="6535420"/>
            <a:ext cx="530777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03" name="TextBox 102"/>
          <p:cNvSpPr txBox="1"/>
          <p:nvPr/>
        </p:nvSpPr>
        <p:spPr>
          <a:xfrm>
            <a:off x="5743448" y="6535420"/>
            <a:ext cx="70504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2.1.2</a:t>
            </a:r>
          </a:p>
        </p:txBody>
      </p:sp>
      <p:sp>
        <p:nvSpPr>
          <p:cNvPr id="104" name="TextBox 103"/>
          <p:cNvSpPr txBox="1"/>
          <p:nvPr/>
        </p:nvSpPr>
        <p:spPr>
          <a:xfrm>
            <a:off x="6319076" y="6535420"/>
            <a:ext cx="530777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16</a:t>
            </a:r>
          </a:p>
        </p:txBody>
      </p:sp>
      <p:sp>
        <p:nvSpPr>
          <p:cNvPr id="105" name="Enlace a sep-intro">
            <a:hlinkClick action="ppaction://hlinksldjump" r:id="rId4"/>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Enlace a sep-teoria">
            <a:hlinkClick action="ppaction://hlinksldjump" r:id="rId5"/>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Enlace a sep-diseno">
            <a:hlinkClick action="ppaction://hlinksldjump" r:id="rId6"/>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Enlace a sep-resultados">
            <a:hlinkClick action="ppaction://hlinksldjump" r:id="rId7"/>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Enlace a sep-analisis">
            <a:hlinkClick action="ppaction://hlinksldjump" r:id="rId8"/>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Enlace a sep-conclusiones">
            <a:hlinkClick action="ppaction://hlinksldjump" r:id="rId9"/>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ounded Rectangle 293">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8" fill="hold">
                      <p:stCondLst>
                        <p:cond delay="indefinite"/>
                        <p:cond evt="onBegin" delay="0">
                          <p:tn val="2"/>
                        </p:cond>
                      </p:stCondLst>
                      <p:childTnLst>
                        <p:par>
                          <p:cTn id="289"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23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50"/>
                                        <p:tgtEl>
                                          <p:spTgt spid="21"/>
                                        </p:tgtEl>
                                      </p:cBhvr>
                                    </p:animEffect>
                                  </p:childTnLst>
                                </p:cTn>
                              </p:par>
                              <p:par>
                                <p:cTn id="18" presetID="10" presetClass="entr" presetSubtype="0" fill="hold" grpId="0" nodeType="withEffect">
                                  <p:stCondLst>
                                    <p:cond delay="23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50"/>
                                        <p:tgtEl>
                                          <p:spTgt spid="22"/>
                                        </p:tgtEl>
                                      </p:cBhvr>
                                    </p:animEffect>
                                  </p:childTnLst>
                                </p:cTn>
                              </p:par>
                              <p:par>
                                <p:cTn id="21" presetID="10" presetClass="entr" presetSubtype="0" fill="hold" grpId="0" nodeType="withEffect">
                                  <p:stCondLst>
                                    <p:cond delay="23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50"/>
                                        <p:tgtEl>
                                          <p:spTgt spid="23"/>
                                        </p:tgtEl>
                                      </p:cBhvr>
                                    </p:animEffect>
                                  </p:childTnLst>
                                </p:cTn>
                              </p:par>
                              <p:par>
                                <p:cTn id="24" presetID="10" presetClass="entr" presetSubtype="0" fill="hold" grpId="0" nodeType="withEffect">
                                  <p:stCondLst>
                                    <p:cond delay="23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50"/>
                                        <p:tgtEl>
                                          <p:spTgt spid="24"/>
                                        </p:tgtEl>
                                      </p:cBhvr>
                                    </p:animEffect>
                                  </p:childTnLst>
                                </p:cTn>
                              </p:par>
                              <p:par>
                                <p:cTn id="27" presetID="10" presetClass="entr" presetSubtype="0" fill="hold" grpId="0" nodeType="withEffect">
                                  <p:stCondLst>
                                    <p:cond delay="34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50"/>
                                        <p:tgtEl>
                                          <p:spTgt spid="29"/>
                                        </p:tgtEl>
                                      </p:cBhvr>
                                    </p:animEffect>
                                  </p:childTnLst>
                                </p:cTn>
                              </p:par>
                              <p:par>
                                <p:cTn id="30" presetID="10" presetClass="entr" presetSubtype="0" fill="hold" grpId="0" nodeType="withEffect">
                                  <p:stCondLst>
                                    <p:cond delay="34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50"/>
                                        <p:tgtEl>
                                          <p:spTgt spid="30"/>
                                        </p:tgtEl>
                                      </p:cBhvr>
                                    </p:animEffect>
                                  </p:childTnLst>
                                </p:cTn>
                              </p:par>
                              <p:par>
                                <p:cTn id="33" presetID="10" presetClass="entr" presetSubtype="0" fill="hold" grpId="0" nodeType="withEffect">
                                  <p:stCondLst>
                                    <p:cond delay="34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50"/>
                                        <p:tgtEl>
                                          <p:spTgt spid="31"/>
                                        </p:tgtEl>
                                      </p:cBhvr>
                                    </p:animEffect>
                                  </p:childTnLst>
                                </p:cTn>
                              </p:par>
                              <p:par>
                                <p:cTn id="36" presetID="10" presetClass="entr" presetSubtype="0" fill="hold" grpId="0" nodeType="withEffect">
                                  <p:stCondLst>
                                    <p:cond delay="34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50"/>
                                        <p:tgtEl>
                                          <p:spTgt spid="32"/>
                                        </p:tgtEl>
                                      </p:cBhvr>
                                    </p:animEffect>
                                  </p:childTnLst>
                                </p:cTn>
                              </p:par>
                              <p:par>
                                <p:cTn id="39" presetID="10" presetClass="entr" presetSubtype="0" fill="hold" grpId="0" nodeType="withEffect">
                                  <p:stCondLst>
                                    <p:cond delay="45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450"/>
                                        <p:tgtEl>
                                          <p:spTgt spid="37"/>
                                        </p:tgtEl>
                                      </p:cBhvr>
                                    </p:animEffect>
                                  </p:childTnLst>
                                </p:cTn>
                              </p:par>
                              <p:par>
                                <p:cTn id="42" presetID="10" presetClass="entr" presetSubtype="0" fill="hold" grpId="0" nodeType="withEffect">
                                  <p:stCondLst>
                                    <p:cond delay="45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450"/>
                                        <p:tgtEl>
                                          <p:spTgt spid="38"/>
                                        </p:tgtEl>
                                      </p:cBhvr>
                                    </p:animEffect>
                                  </p:childTnLst>
                                </p:cTn>
                              </p:par>
                              <p:par>
                                <p:cTn id="45" presetID="10" presetClass="entr" presetSubtype="0" fill="hold" grpId="0" nodeType="withEffect">
                                  <p:stCondLst>
                                    <p:cond delay="45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450"/>
                                        <p:tgtEl>
                                          <p:spTgt spid="39"/>
                                        </p:tgtEl>
                                      </p:cBhvr>
                                    </p:animEffect>
                                  </p:childTnLst>
                                </p:cTn>
                              </p:par>
                              <p:par>
                                <p:cTn id="48" presetID="10" presetClass="entr" presetSubtype="0" fill="hold" grpId="0" nodeType="withEffect">
                                  <p:stCondLst>
                                    <p:cond delay="45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450"/>
                                        <p:tgtEl>
                                          <p:spTgt spid="40"/>
                                        </p:tgtEl>
                                      </p:cBhvr>
                                    </p:animEffect>
                                  </p:childTnLst>
                                </p:cTn>
                              </p:par>
                              <p:par>
                                <p:cTn id="51" presetID="10" presetClass="entr" presetSubtype="0" fill="hold" grpId="0" nodeType="withEffect">
                                  <p:stCondLst>
                                    <p:cond delay="56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50"/>
                                        <p:tgtEl>
                                          <p:spTgt spid="45"/>
                                        </p:tgtEl>
                                      </p:cBhvr>
                                    </p:animEffect>
                                  </p:childTnLst>
                                </p:cTn>
                              </p:par>
                              <p:par>
                                <p:cTn id="54" presetID="10" presetClass="entr" presetSubtype="0" fill="hold" grpId="0" nodeType="withEffect">
                                  <p:stCondLst>
                                    <p:cond delay="56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50"/>
                                        <p:tgtEl>
                                          <p:spTgt spid="46"/>
                                        </p:tgtEl>
                                      </p:cBhvr>
                                    </p:animEffect>
                                  </p:childTnLst>
                                </p:cTn>
                              </p:par>
                              <p:par>
                                <p:cTn id="57" presetID="10" presetClass="entr" presetSubtype="0" fill="hold" grpId="0" nodeType="withEffect">
                                  <p:stCondLst>
                                    <p:cond delay="56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50"/>
                                        <p:tgtEl>
                                          <p:spTgt spid="47"/>
                                        </p:tgtEl>
                                      </p:cBhvr>
                                    </p:animEffect>
                                  </p:childTnLst>
                                </p:cTn>
                              </p:par>
                              <p:par>
                                <p:cTn id="60" presetID="10" presetClass="entr" presetSubtype="0" fill="hold" grpId="0" nodeType="withEffect">
                                  <p:stCondLst>
                                    <p:cond delay="560"/>
                                  </p:stCondLst>
                                  <p:childTnLst>
                                    <p:set>
                                      <p:cBhvr>
                                        <p:cTn id="61" dur="1" fill="hold">
                                          <p:stCondLst>
                                            <p:cond delay="0"/>
                                          </p:stCondLst>
                                        </p:cTn>
                                        <p:tgtEl>
                                          <p:spTgt spid="48"/>
                                        </p:tgtEl>
                                        <p:attrNameLst>
                                          <p:attrName>style.visibility</p:attrName>
                                        </p:attrNameLst>
                                      </p:cBhvr>
                                      <p:to>
                                        <p:strVal val="visible"/>
                                      </p:to>
                                    </p:set>
                                    <p:animEffect transition="in" filter="fade">
                                      <p:cBhvr>
                                        <p:cTn id="62" dur="450"/>
                                        <p:tgtEl>
                                          <p:spTgt spid="48"/>
                                        </p:tgtEl>
                                      </p:cBhvr>
                                    </p:animEffect>
                                  </p:childTnLst>
                                </p:cTn>
                              </p:par>
                              <p:par>
                                <p:cTn id="63" presetID="10" presetClass="entr" presetSubtype="0" fill="hold" grpId="0" nodeType="withEffect">
                                  <p:stCondLst>
                                    <p:cond delay="670"/>
                                  </p:stCondLst>
                                  <p:childTnLst>
                                    <p:set>
                                      <p:cBhvr>
                                        <p:cTn id="64" dur="1" fill="hold">
                                          <p:stCondLst>
                                            <p:cond delay="0"/>
                                          </p:stCondLst>
                                        </p:cTn>
                                        <p:tgtEl>
                                          <p:spTgt spid="53"/>
                                        </p:tgtEl>
                                        <p:attrNameLst>
                                          <p:attrName>style.visibility</p:attrName>
                                        </p:attrNameLst>
                                      </p:cBhvr>
                                      <p:to>
                                        <p:strVal val="visible"/>
                                      </p:to>
                                    </p:set>
                                    <p:animEffect transition="in" filter="fade">
                                      <p:cBhvr>
                                        <p:cTn id="65" dur="450"/>
                                        <p:tgtEl>
                                          <p:spTgt spid="53"/>
                                        </p:tgtEl>
                                      </p:cBhvr>
                                    </p:animEffect>
                                  </p:childTnLst>
                                </p:cTn>
                              </p:par>
                              <p:par>
                                <p:cTn id="66" presetID="10" presetClass="entr" presetSubtype="0" fill="hold" grpId="0" nodeType="withEffect">
                                  <p:stCondLst>
                                    <p:cond delay="670"/>
                                  </p:stCondLst>
                                  <p:childTnLst>
                                    <p:set>
                                      <p:cBhvr>
                                        <p:cTn id="67" dur="1" fill="hold">
                                          <p:stCondLst>
                                            <p:cond delay="0"/>
                                          </p:stCondLst>
                                        </p:cTn>
                                        <p:tgtEl>
                                          <p:spTgt spid="54"/>
                                        </p:tgtEl>
                                        <p:attrNameLst>
                                          <p:attrName>style.visibility</p:attrName>
                                        </p:attrNameLst>
                                      </p:cBhvr>
                                      <p:to>
                                        <p:strVal val="visible"/>
                                      </p:to>
                                    </p:set>
                                    <p:animEffect transition="in" filter="fade">
                                      <p:cBhvr>
                                        <p:cTn id="68" dur="450"/>
                                        <p:tgtEl>
                                          <p:spTgt spid="54"/>
                                        </p:tgtEl>
                                      </p:cBhvr>
                                    </p:animEffect>
                                  </p:childTnLst>
                                </p:cTn>
                              </p:par>
                              <p:par>
                                <p:cTn id="69" presetID="10" presetClass="entr" presetSubtype="0" fill="hold" grpId="0" nodeType="withEffect">
                                  <p:stCondLst>
                                    <p:cond delay="670"/>
                                  </p:stCondLst>
                                  <p:childTnLst>
                                    <p:set>
                                      <p:cBhvr>
                                        <p:cTn id="70" dur="1" fill="hold">
                                          <p:stCondLst>
                                            <p:cond delay="0"/>
                                          </p:stCondLst>
                                        </p:cTn>
                                        <p:tgtEl>
                                          <p:spTgt spid="55"/>
                                        </p:tgtEl>
                                        <p:attrNameLst>
                                          <p:attrName>style.visibility</p:attrName>
                                        </p:attrNameLst>
                                      </p:cBhvr>
                                      <p:to>
                                        <p:strVal val="visible"/>
                                      </p:to>
                                    </p:set>
                                    <p:animEffect transition="in" filter="fade">
                                      <p:cBhvr>
                                        <p:cTn id="71" dur="450"/>
                                        <p:tgtEl>
                                          <p:spTgt spid="55"/>
                                        </p:tgtEl>
                                      </p:cBhvr>
                                    </p:animEffect>
                                  </p:childTnLst>
                                </p:cTn>
                              </p:par>
                              <p:par>
                                <p:cTn id="72" presetID="10" presetClass="entr" presetSubtype="0" fill="hold" grpId="0" nodeType="withEffect">
                                  <p:stCondLst>
                                    <p:cond delay="670"/>
                                  </p:stCondLst>
                                  <p:childTnLst>
                                    <p:set>
                                      <p:cBhvr>
                                        <p:cTn id="73" dur="1" fill="hold">
                                          <p:stCondLst>
                                            <p:cond delay="0"/>
                                          </p:stCondLst>
                                        </p:cTn>
                                        <p:tgtEl>
                                          <p:spTgt spid="56"/>
                                        </p:tgtEl>
                                        <p:attrNameLst>
                                          <p:attrName>style.visibility</p:attrName>
                                        </p:attrNameLst>
                                      </p:cBhvr>
                                      <p:to>
                                        <p:strVal val="visible"/>
                                      </p:to>
                                    </p:set>
                                    <p:animEffect transition="in" filter="fade">
                                      <p:cBhvr>
                                        <p:cTn id="74" dur="450"/>
                                        <p:tgtEl>
                                          <p:spTgt spid="56"/>
                                        </p:tgtEl>
                                      </p:cBhvr>
                                    </p:animEffect>
                                  </p:childTnLst>
                                </p:cTn>
                              </p:par>
                              <p:par>
                                <p:cTn id="75" presetID="10" presetClass="entr" presetSubtype="0" fill="hold" grpId="0" nodeType="withEffect">
                                  <p:stCondLst>
                                    <p:cond delay="780"/>
                                  </p:stCondLst>
                                  <p:childTnLst>
                                    <p:set>
                                      <p:cBhvr>
                                        <p:cTn id="76" dur="1" fill="hold">
                                          <p:stCondLst>
                                            <p:cond delay="0"/>
                                          </p:stCondLst>
                                        </p:cTn>
                                        <p:tgtEl>
                                          <p:spTgt spid="61"/>
                                        </p:tgtEl>
                                        <p:attrNameLst>
                                          <p:attrName>style.visibility</p:attrName>
                                        </p:attrNameLst>
                                      </p:cBhvr>
                                      <p:to>
                                        <p:strVal val="visible"/>
                                      </p:to>
                                    </p:set>
                                    <p:animEffect transition="in" filter="fade">
                                      <p:cBhvr>
                                        <p:cTn id="77" dur="450"/>
                                        <p:tgtEl>
                                          <p:spTgt spid="61"/>
                                        </p:tgtEl>
                                      </p:cBhvr>
                                    </p:animEffect>
                                  </p:childTnLst>
                                </p:cTn>
                              </p:par>
                              <p:par>
                                <p:cTn id="78" presetID="10" presetClass="entr" presetSubtype="0" fill="hold" grpId="0" nodeType="withEffect">
                                  <p:stCondLst>
                                    <p:cond delay="780"/>
                                  </p:stCondLst>
                                  <p:childTnLst>
                                    <p:set>
                                      <p:cBhvr>
                                        <p:cTn id="79" dur="1" fill="hold">
                                          <p:stCondLst>
                                            <p:cond delay="0"/>
                                          </p:stCondLst>
                                        </p:cTn>
                                        <p:tgtEl>
                                          <p:spTgt spid="62"/>
                                        </p:tgtEl>
                                        <p:attrNameLst>
                                          <p:attrName>style.visibility</p:attrName>
                                        </p:attrNameLst>
                                      </p:cBhvr>
                                      <p:to>
                                        <p:strVal val="visible"/>
                                      </p:to>
                                    </p:set>
                                    <p:animEffect transition="in" filter="fade">
                                      <p:cBhvr>
                                        <p:cTn id="80" dur="450"/>
                                        <p:tgtEl>
                                          <p:spTgt spid="62"/>
                                        </p:tgtEl>
                                      </p:cBhvr>
                                    </p:animEffect>
                                  </p:childTnLst>
                                </p:cTn>
                              </p:par>
                              <p:par>
                                <p:cTn id="81" presetID="10" presetClass="entr" presetSubtype="0" fill="hold" grpId="0" nodeType="withEffect">
                                  <p:stCondLst>
                                    <p:cond delay="780"/>
                                  </p:stCondLst>
                                  <p:childTnLst>
                                    <p:set>
                                      <p:cBhvr>
                                        <p:cTn id="82" dur="1" fill="hold">
                                          <p:stCondLst>
                                            <p:cond delay="0"/>
                                          </p:stCondLst>
                                        </p:cTn>
                                        <p:tgtEl>
                                          <p:spTgt spid="63"/>
                                        </p:tgtEl>
                                        <p:attrNameLst>
                                          <p:attrName>style.visibility</p:attrName>
                                        </p:attrNameLst>
                                      </p:cBhvr>
                                      <p:to>
                                        <p:strVal val="visible"/>
                                      </p:to>
                                    </p:set>
                                    <p:animEffect transition="in" filter="fade">
                                      <p:cBhvr>
                                        <p:cTn id="83" dur="450"/>
                                        <p:tgtEl>
                                          <p:spTgt spid="63"/>
                                        </p:tgtEl>
                                      </p:cBhvr>
                                    </p:animEffect>
                                  </p:childTnLst>
                                </p:cTn>
                              </p:par>
                              <p:par>
                                <p:cTn id="84" presetID="10" presetClass="entr" presetSubtype="0" fill="hold" grpId="0" nodeType="withEffect">
                                  <p:stCondLst>
                                    <p:cond delay="780"/>
                                  </p:stCondLst>
                                  <p:childTnLst>
                                    <p:set>
                                      <p:cBhvr>
                                        <p:cTn id="85" dur="1" fill="hold">
                                          <p:stCondLst>
                                            <p:cond delay="0"/>
                                          </p:stCondLst>
                                        </p:cTn>
                                        <p:tgtEl>
                                          <p:spTgt spid="64"/>
                                        </p:tgtEl>
                                        <p:attrNameLst>
                                          <p:attrName>style.visibility</p:attrName>
                                        </p:attrNameLst>
                                      </p:cBhvr>
                                      <p:to>
                                        <p:strVal val="visible"/>
                                      </p:to>
                                    </p:set>
                                    <p:animEffect transition="in" filter="fade">
                                      <p:cBhvr>
                                        <p:cTn id="86" dur="450"/>
                                        <p:tgtEl>
                                          <p:spTgt spid="64"/>
                                        </p:tgtEl>
                                      </p:cBhvr>
                                    </p:animEffect>
                                  </p:childTnLst>
                                </p:cTn>
                              </p:par>
                              <p:par>
                                <p:cTn id="87" presetID="10" presetClass="entr" presetSubtype="0" fill="hold" grpId="0" nodeType="withEffect">
                                  <p:stCondLst>
                                    <p:cond delay="890"/>
                                  </p:stCondLst>
                                  <p:childTnLst>
                                    <p:set>
                                      <p:cBhvr>
                                        <p:cTn id="88" dur="1" fill="hold">
                                          <p:stCondLst>
                                            <p:cond delay="0"/>
                                          </p:stCondLst>
                                        </p:cTn>
                                        <p:tgtEl>
                                          <p:spTgt spid="69"/>
                                        </p:tgtEl>
                                        <p:attrNameLst>
                                          <p:attrName>style.visibility</p:attrName>
                                        </p:attrNameLst>
                                      </p:cBhvr>
                                      <p:to>
                                        <p:strVal val="visible"/>
                                      </p:to>
                                    </p:set>
                                    <p:animEffect transition="in" filter="fade">
                                      <p:cBhvr>
                                        <p:cTn id="89" dur="450"/>
                                        <p:tgtEl>
                                          <p:spTgt spid="69"/>
                                        </p:tgtEl>
                                      </p:cBhvr>
                                    </p:animEffect>
                                  </p:childTnLst>
                                </p:cTn>
                              </p:par>
                              <p:par>
                                <p:cTn id="90" presetID="10" presetClass="entr" presetSubtype="0" fill="hold" grpId="0" nodeType="withEffect">
                                  <p:stCondLst>
                                    <p:cond delay="890"/>
                                  </p:stCondLst>
                                  <p:childTnLst>
                                    <p:set>
                                      <p:cBhvr>
                                        <p:cTn id="91" dur="1" fill="hold">
                                          <p:stCondLst>
                                            <p:cond delay="0"/>
                                          </p:stCondLst>
                                        </p:cTn>
                                        <p:tgtEl>
                                          <p:spTgt spid="70"/>
                                        </p:tgtEl>
                                        <p:attrNameLst>
                                          <p:attrName>style.visibility</p:attrName>
                                        </p:attrNameLst>
                                      </p:cBhvr>
                                      <p:to>
                                        <p:strVal val="visible"/>
                                      </p:to>
                                    </p:set>
                                    <p:animEffect transition="in" filter="fade">
                                      <p:cBhvr>
                                        <p:cTn id="92" dur="450"/>
                                        <p:tgtEl>
                                          <p:spTgt spid="70"/>
                                        </p:tgtEl>
                                      </p:cBhvr>
                                    </p:animEffect>
                                  </p:childTnLst>
                                </p:cTn>
                              </p:par>
                              <p:par>
                                <p:cTn id="93" presetID="10" presetClass="entr" presetSubtype="0" fill="hold" grpId="0" nodeType="withEffect">
                                  <p:stCondLst>
                                    <p:cond delay="890"/>
                                  </p:stCondLst>
                                  <p:childTnLst>
                                    <p:set>
                                      <p:cBhvr>
                                        <p:cTn id="94" dur="1" fill="hold">
                                          <p:stCondLst>
                                            <p:cond delay="0"/>
                                          </p:stCondLst>
                                        </p:cTn>
                                        <p:tgtEl>
                                          <p:spTgt spid="71"/>
                                        </p:tgtEl>
                                        <p:attrNameLst>
                                          <p:attrName>style.visibility</p:attrName>
                                        </p:attrNameLst>
                                      </p:cBhvr>
                                      <p:to>
                                        <p:strVal val="visible"/>
                                      </p:to>
                                    </p:set>
                                    <p:animEffect transition="in" filter="fade">
                                      <p:cBhvr>
                                        <p:cTn id="95" dur="450"/>
                                        <p:tgtEl>
                                          <p:spTgt spid="71"/>
                                        </p:tgtEl>
                                      </p:cBhvr>
                                    </p:animEffect>
                                  </p:childTnLst>
                                </p:cTn>
                              </p:par>
                              <p:par>
                                <p:cTn id="96" presetID="10" presetClass="entr" presetSubtype="0" fill="hold" grpId="0" nodeType="withEffect">
                                  <p:stCondLst>
                                    <p:cond delay="890"/>
                                  </p:stCondLst>
                                  <p:childTnLst>
                                    <p:set>
                                      <p:cBhvr>
                                        <p:cTn id="97" dur="1" fill="hold">
                                          <p:stCondLst>
                                            <p:cond delay="0"/>
                                          </p:stCondLst>
                                        </p:cTn>
                                        <p:tgtEl>
                                          <p:spTgt spid="72"/>
                                        </p:tgtEl>
                                        <p:attrNameLst>
                                          <p:attrName>style.visibility</p:attrName>
                                        </p:attrNameLst>
                                      </p:cBhvr>
                                      <p:to>
                                        <p:strVal val="visible"/>
                                      </p:to>
                                    </p:set>
                                    <p:animEffect transition="in" filter="fade">
                                      <p:cBhvr>
                                        <p:cTn id="98" dur="450"/>
                                        <p:tgtEl>
                                          <p:spTgt spid="72"/>
                                        </p:tgtEl>
                                      </p:cBhvr>
                                    </p:animEffect>
                                  </p:childTnLst>
                                </p:cTn>
                              </p:par>
                              <p:par>
                                <p:cTn id="99" presetID="10" presetClass="entr" presetSubtype="0" fill="hold" grpId="0" nodeType="withEffect">
                                  <p:stCondLst>
                                    <p:cond delay="1000"/>
                                  </p:stCondLst>
                                  <p:childTnLst>
                                    <p:set>
                                      <p:cBhvr>
                                        <p:cTn id="100" dur="1" fill="hold">
                                          <p:stCondLst>
                                            <p:cond delay="0"/>
                                          </p:stCondLst>
                                        </p:cTn>
                                        <p:tgtEl>
                                          <p:spTgt spid="92"/>
                                        </p:tgtEl>
                                        <p:attrNameLst>
                                          <p:attrName>style.visibility</p:attrName>
                                        </p:attrNameLst>
                                      </p:cBhvr>
                                      <p:to>
                                        <p:strVal val="visible"/>
                                      </p:to>
                                    </p:set>
                                    <p:animEffect transition="in" filter="fade">
                                      <p:cBhvr>
                                        <p:cTn id="101" dur="450"/>
                                        <p:tgtEl>
                                          <p:spTgt spid="92"/>
                                        </p:tgtEl>
                                      </p:cBhvr>
                                    </p:animEffect>
                                  </p:childTnLst>
                                </p:cTn>
                              </p:par>
                              <p:par>
                                <p:cTn id="102" presetID="10" presetClass="entr" presetSubtype="0" fill="hold" grpId="0" nodeType="withEffect">
                                  <p:stCondLst>
                                    <p:cond delay="1000"/>
                                  </p:stCondLst>
                                  <p:childTnLst>
                                    <p:set>
                                      <p:cBhvr>
                                        <p:cTn id="103" dur="1" fill="hold">
                                          <p:stCondLst>
                                            <p:cond delay="0"/>
                                          </p:stCondLst>
                                        </p:cTn>
                                        <p:tgtEl>
                                          <p:spTgt spid="93"/>
                                        </p:tgtEl>
                                        <p:attrNameLst>
                                          <p:attrName>style.visibility</p:attrName>
                                        </p:attrNameLst>
                                      </p:cBhvr>
                                      <p:to>
                                        <p:strVal val="visible"/>
                                      </p:to>
                                    </p:set>
                                    <p:animEffect transition="in" filter="fade">
                                      <p:cBhvr>
                                        <p:cTn id="104" dur="450"/>
                                        <p:tgtEl>
                                          <p:spTgt spid="93"/>
                                        </p:tgtEl>
                                      </p:cBhvr>
                                    </p:animEffect>
                                  </p:childTnLst>
                                </p:cTn>
                              </p:par>
                              <p:par>
                                <p:cTn id="105" presetID="10" presetClass="entr" presetSubtype="0" fill="hold" grpId="0" nodeType="withEffect">
                                  <p:stCondLst>
                                    <p:cond delay="1000"/>
                                  </p:stCondLst>
                                  <p:childTnLst>
                                    <p:set>
                                      <p:cBhvr>
                                        <p:cTn id="106" dur="1" fill="hold">
                                          <p:stCondLst>
                                            <p:cond delay="0"/>
                                          </p:stCondLst>
                                        </p:cTn>
                                        <p:tgtEl>
                                          <p:spTgt spid="94"/>
                                        </p:tgtEl>
                                        <p:attrNameLst>
                                          <p:attrName>style.visibility</p:attrName>
                                        </p:attrNameLst>
                                      </p:cBhvr>
                                      <p:to>
                                        <p:strVal val="visible"/>
                                      </p:to>
                                    </p:set>
                                    <p:animEffect transition="in" filter="fade">
                                      <p:cBhvr>
                                        <p:cTn id="107" dur="450"/>
                                        <p:tgtEl>
                                          <p:spTgt spid="94"/>
                                        </p:tgtEl>
                                      </p:cBhvr>
                                    </p:animEffect>
                                  </p:childTnLst>
                                </p:cTn>
                              </p:par>
                              <p:par>
                                <p:cTn id="108" presetID="10" presetClass="entr" presetSubtype="0" fill="hold" grpId="0" nodeType="withEffect">
                                  <p:stCondLst>
                                    <p:cond delay="1000"/>
                                  </p:stCondLst>
                                  <p:childTnLst>
                                    <p:set>
                                      <p:cBhvr>
                                        <p:cTn id="109" dur="1" fill="hold">
                                          <p:stCondLst>
                                            <p:cond delay="0"/>
                                          </p:stCondLst>
                                        </p:cTn>
                                        <p:tgtEl>
                                          <p:spTgt spid="95"/>
                                        </p:tgtEl>
                                        <p:attrNameLst>
                                          <p:attrName>style.visibility</p:attrName>
                                        </p:attrNameLst>
                                      </p:cBhvr>
                                      <p:to>
                                        <p:strVal val="visible"/>
                                      </p:to>
                                    </p:set>
                                    <p:animEffect transition="in" filter="fade">
                                      <p:cBhvr>
                                        <p:cTn id="110" dur="450"/>
                                        <p:tgtEl>
                                          <p:spTgt spid="95"/>
                                        </p:tgtEl>
                                      </p:cBhvr>
                                    </p:animEffect>
                                  </p:childTnLst>
                                </p:cTn>
                              </p:par>
                            </p:childTnLst>
                          </p:cTn>
                        </p:par>
                      </p:childTnLst>
                    </p:cTn>
                  </p:par>
                  <p:par>
                    <p:cTn id="290" fill="hold">
                      <p:stCondLst>
                        <p:cond delay="indefinite"/>
                      </p:stCondLst>
                      <p:childTnLst>
                        <p:par>
                          <p:cTn id="291"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17"/>
                                        </p:tgtEl>
                                        <p:attrNameLst>
                                          <p:attrName>style.visibility</p:attrName>
                                        </p:attrNameLst>
                                      </p:cBhvr>
                                      <p:to>
                                        <p:strVal val="visible"/>
                                      </p:to>
                                    </p:set>
                                    <p:animEffect transition="in" filter="fade">
                                      <p:cBhvr>
                                        <p:cTn id="113" dur="400"/>
                                        <p:tgtEl>
                                          <p:spTgt spid="17"/>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18"/>
                                        </p:tgtEl>
                                        <p:attrNameLst>
                                          <p:attrName>style.visibility</p:attrName>
                                        </p:attrNameLst>
                                      </p:cBhvr>
                                      <p:to>
                                        <p:strVal val="visible"/>
                                      </p:to>
                                    </p:set>
                                    <p:animEffect transition="in" filter="fade">
                                      <p:cBhvr>
                                        <p:cTn id="116" dur="400"/>
                                        <p:tgtEl>
                                          <p:spTgt spid="18"/>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19"/>
                                        </p:tgtEl>
                                        <p:attrNameLst>
                                          <p:attrName>style.visibility</p:attrName>
                                        </p:attrNameLst>
                                      </p:cBhvr>
                                      <p:to>
                                        <p:strVal val="visible"/>
                                      </p:to>
                                    </p:set>
                                    <p:animEffect transition="in" filter="fade">
                                      <p:cBhvr>
                                        <p:cTn id="119" dur="400"/>
                                        <p:tgtEl>
                                          <p:spTgt spid="19"/>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20"/>
                                        </p:tgtEl>
                                        <p:attrNameLst>
                                          <p:attrName>style.visibility</p:attrName>
                                        </p:attrNameLst>
                                      </p:cBhvr>
                                      <p:to>
                                        <p:strVal val="visible"/>
                                      </p:to>
                                    </p:set>
                                    <p:animEffect transition="in" filter="fade">
                                      <p:cBhvr>
                                        <p:cTn id="122" dur="400"/>
                                        <p:tgtEl>
                                          <p:spTgt spid="20"/>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25"/>
                                        </p:tgtEl>
                                        <p:attrNameLst>
                                          <p:attrName>style.visibility</p:attrName>
                                        </p:attrNameLst>
                                      </p:cBhvr>
                                      <p:to>
                                        <p:strVal val="visible"/>
                                      </p:to>
                                    </p:set>
                                    <p:animEffect transition="in" filter="fade">
                                      <p:cBhvr>
                                        <p:cTn id="125" dur="400"/>
                                        <p:tgtEl>
                                          <p:spTgt spid="2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26"/>
                                        </p:tgtEl>
                                        <p:attrNameLst>
                                          <p:attrName>style.visibility</p:attrName>
                                        </p:attrNameLst>
                                      </p:cBhvr>
                                      <p:to>
                                        <p:strVal val="visible"/>
                                      </p:to>
                                    </p:set>
                                    <p:animEffect transition="in" filter="fade">
                                      <p:cBhvr>
                                        <p:cTn id="128" dur="400"/>
                                        <p:tgtEl>
                                          <p:spTgt spid="2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27"/>
                                        </p:tgtEl>
                                        <p:attrNameLst>
                                          <p:attrName>style.visibility</p:attrName>
                                        </p:attrNameLst>
                                      </p:cBhvr>
                                      <p:to>
                                        <p:strVal val="visible"/>
                                      </p:to>
                                    </p:set>
                                    <p:animEffect transition="in" filter="fade">
                                      <p:cBhvr>
                                        <p:cTn id="131" dur="400"/>
                                        <p:tgtEl>
                                          <p:spTgt spid="2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28"/>
                                        </p:tgtEl>
                                        <p:attrNameLst>
                                          <p:attrName>style.visibility</p:attrName>
                                        </p:attrNameLst>
                                      </p:cBhvr>
                                      <p:to>
                                        <p:strVal val="visible"/>
                                      </p:to>
                                    </p:set>
                                    <p:animEffect transition="in" filter="fade">
                                      <p:cBhvr>
                                        <p:cTn id="134" dur="400"/>
                                        <p:tgtEl>
                                          <p:spTgt spid="2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33"/>
                                        </p:tgtEl>
                                        <p:attrNameLst>
                                          <p:attrName>style.visibility</p:attrName>
                                        </p:attrNameLst>
                                      </p:cBhvr>
                                      <p:to>
                                        <p:strVal val="visible"/>
                                      </p:to>
                                    </p:set>
                                    <p:animEffect transition="in" filter="fade">
                                      <p:cBhvr>
                                        <p:cTn id="137" dur="400"/>
                                        <p:tgtEl>
                                          <p:spTgt spid="3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34"/>
                                        </p:tgtEl>
                                        <p:attrNameLst>
                                          <p:attrName>style.visibility</p:attrName>
                                        </p:attrNameLst>
                                      </p:cBhvr>
                                      <p:to>
                                        <p:strVal val="visible"/>
                                      </p:to>
                                    </p:set>
                                    <p:animEffect transition="in" filter="fade">
                                      <p:cBhvr>
                                        <p:cTn id="140" dur="400"/>
                                        <p:tgtEl>
                                          <p:spTgt spid="34"/>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35"/>
                                        </p:tgtEl>
                                        <p:attrNameLst>
                                          <p:attrName>style.visibility</p:attrName>
                                        </p:attrNameLst>
                                      </p:cBhvr>
                                      <p:to>
                                        <p:strVal val="visible"/>
                                      </p:to>
                                    </p:set>
                                    <p:animEffect transition="in" filter="fade">
                                      <p:cBhvr>
                                        <p:cTn id="143" dur="400"/>
                                        <p:tgtEl>
                                          <p:spTgt spid="3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36"/>
                                        </p:tgtEl>
                                        <p:attrNameLst>
                                          <p:attrName>style.visibility</p:attrName>
                                        </p:attrNameLst>
                                      </p:cBhvr>
                                      <p:to>
                                        <p:strVal val="visible"/>
                                      </p:to>
                                    </p:set>
                                    <p:animEffect transition="in" filter="fade">
                                      <p:cBhvr>
                                        <p:cTn id="146" dur="400"/>
                                        <p:tgtEl>
                                          <p:spTgt spid="3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41"/>
                                        </p:tgtEl>
                                        <p:attrNameLst>
                                          <p:attrName>style.visibility</p:attrName>
                                        </p:attrNameLst>
                                      </p:cBhvr>
                                      <p:to>
                                        <p:strVal val="visible"/>
                                      </p:to>
                                    </p:set>
                                    <p:animEffect transition="in" filter="fade">
                                      <p:cBhvr>
                                        <p:cTn id="149" dur="400"/>
                                        <p:tgtEl>
                                          <p:spTgt spid="41"/>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42"/>
                                        </p:tgtEl>
                                        <p:attrNameLst>
                                          <p:attrName>style.visibility</p:attrName>
                                        </p:attrNameLst>
                                      </p:cBhvr>
                                      <p:to>
                                        <p:strVal val="visible"/>
                                      </p:to>
                                    </p:set>
                                    <p:animEffect transition="in" filter="fade">
                                      <p:cBhvr>
                                        <p:cTn id="152" dur="400"/>
                                        <p:tgtEl>
                                          <p:spTgt spid="42"/>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43"/>
                                        </p:tgtEl>
                                        <p:attrNameLst>
                                          <p:attrName>style.visibility</p:attrName>
                                        </p:attrNameLst>
                                      </p:cBhvr>
                                      <p:to>
                                        <p:strVal val="visible"/>
                                      </p:to>
                                    </p:set>
                                    <p:animEffect transition="in" filter="fade">
                                      <p:cBhvr>
                                        <p:cTn id="155" dur="400"/>
                                        <p:tgtEl>
                                          <p:spTgt spid="43"/>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44"/>
                                        </p:tgtEl>
                                        <p:attrNameLst>
                                          <p:attrName>style.visibility</p:attrName>
                                        </p:attrNameLst>
                                      </p:cBhvr>
                                      <p:to>
                                        <p:strVal val="visible"/>
                                      </p:to>
                                    </p:set>
                                    <p:animEffect transition="in" filter="fade">
                                      <p:cBhvr>
                                        <p:cTn id="158" dur="400"/>
                                        <p:tgtEl>
                                          <p:spTgt spid="44"/>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49"/>
                                        </p:tgtEl>
                                        <p:attrNameLst>
                                          <p:attrName>style.visibility</p:attrName>
                                        </p:attrNameLst>
                                      </p:cBhvr>
                                      <p:to>
                                        <p:strVal val="visible"/>
                                      </p:to>
                                    </p:set>
                                    <p:animEffect transition="in" filter="fade">
                                      <p:cBhvr>
                                        <p:cTn id="161" dur="400"/>
                                        <p:tgtEl>
                                          <p:spTgt spid="49"/>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0"/>
                                        </p:tgtEl>
                                        <p:attrNameLst>
                                          <p:attrName>style.visibility</p:attrName>
                                        </p:attrNameLst>
                                      </p:cBhvr>
                                      <p:to>
                                        <p:strVal val="visible"/>
                                      </p:to>
                                    </p:set>
                                    <p:animEffect transition="in" filter="fade">
                                      <p:cBhvr>
                                        <p:cTn id="164" dur="400"/>
                                        <p:tgtEl>
                                          <p:spTgt spid="50"/>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1"/>
                                        </p:tgtEl>
                                        <p:attrNameLst>
                                          <p:attrName>style.visibility</p:attrName>
                                        </p:attrNameLst>
                                      </p:cBhvr>
                                      <p:to>
                                        <p:strVal val="visible"/>
                                      </p:to>
                                    </p:set>
                                    <p:animEffect transition="in" filter="fade">
                                      <p:cBhvr>
                                        <p:cTn id="167" dur="400"/>
                                        <p:tgtEl>
                                          <p:spTgt spid="51"/>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2"/>
                                        </p:tgtEl>
                                        <p:attrNameLst>
                                          <p:attrName>style.visibility</p:attrName>
                                        </p:attrNameLst>
                                      </p:cBhvr>
                                      <p:to>
                                        <p:strVal val="visible"/>
                                      </p:to>
                                    </p:set>
                                    <p:animEffect transition="in" filter="fade">
                                      <p:cBhvr>
                                        <p:cTn id="170" dur="400"/>
                                        <p:tgtEl>
                                          <p:spTgt spid="52"/>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57"/>
                                        </p:tgtEl>
                                        <p:attrNameLst>
                                          <p:attrName>style.visibility</p:attrName>
                                        </p:attrNameLst>
                                      </p:cBhvr>
                                      <p:to>
                                        <p:strVal val="visible"/>
                                      </p:to>
                                    </p:set>
                                    <p:animEffect transition="in" filter="fade">
                                      <p:cBhvr>
                                        <p:cTn id="173" dur="400"/>
                                        <p:tgtEl>
                                          <p:spTgt spid="57"/>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58"/>
                                        </p:tgtEl>
                                        <p:attrNameLst>
                                          <p:attrName>style.visibility</p:attrName>
                                        </p:attrNameLst>
                                      </p:cBhvr>
                                      <p:to>
                                        <p:strVal val="visible"/>
                                      </p:to>
                                    </p:set>
                                    <p:animEffect transition="in" filter="fade">
                                      <p:cBhvr>
                                        <p:cTn id="176" dur="400"/>
                                        <p:tgtEl>
                                          <p:spTgt spid="58"/>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59"/>
                                        </p:tgtEl>
                                        <p:attrNameLst>
                                          <p:attrName>style.visibility</p:attrName>
                                        </p:attrNameLst>
                                      </p:cBhvr>
                                      <p:to>
                                        <p:strVal val="visible"/>
                                      </p:to>
                                    </p:set>
                                    <p:animEffect transition="in" filter="fade">
                                      <p:cBhvr>
                                        <p:cTn id="179" dur="400"/>
                                        <p:tgtEl>
                                          <p:spTgt spid="59"/>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0"/>
                                        </p:tgtEl>
                                        <p:attrNameLst>
                                          <p:attrName>style.visibility</p:attrName>
                                        </p:attrNameLst>
                                      </p:cBhvr>
                                      <p:to>
                                        <p:strVal val="visible"/>
                                      </p:to>
                                    </p:set>
                                    <p:animEffect transition="in" filter="fade">
                                      <p:cBhvr>
                                        <p:cTn id="182" dur="400"/>
                                        <p:tgtEl>
                                          <p:spTgt spid="60"/>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5"/>
                                        </p:tgtEl>
                                        <p:attrNameLst>
                                          <p:attrName>style.visibility</p:attrName>
                                        </p:attrNameLst>
                                      </p:cBhvr>
                                      <p:to>
                                        <p:strVal val="visible"/>
                                      </p:to>
                                    </p:set>
                                    <p:animEffect transition="in" filter="fade">
                                      <p:cBhvr>
                                        <p:cTn id="185" dur="400"/>
                                        <p:tgtEl>
                                          <p:spTgt spid="65"/>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66"/>
                                        </p:tgtEl>
                                        <p:attrNameLst>
                                          <p:attrName>style.visibility</p:attrName>
                                        </p:attrNameLst>
                                      </p:cBhvr>
                                      <p:to>
                                        <p:strVal val="visible"/>
                                      </p:to>
                                    </p:set>
                                    <p:animEffect transition="in" filter="fade">
                                      <p:cBhvr>
                                        <p:cTn id="188" dur="400"/>
                                        <p:tgtEl>
                                          <p:spTgt spid="66"/>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67"/>
                                        </p:tgtEl>
                                        <p:attrNameLst>
                                          <p:attrName>style.visibility</p:attrName>
                                        </p:attrNameLst>
                                      </p:cBhvr>
                                      <p:to>
                                        <p:strVal val="visible"/>
                                      </p:to>
                                    </p:set>
                                    <p:animEffect transition="in" filter="fade">
                                      <p:cBhvr>
                                        <p:cTn id="191" dur="400"/>
                                        <p:tgtEl>
                                          <p:spTgt spid="67"/>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68"/>
                                        </p:tgtEl>
                                        <p:attrNameLst>
                                          <p:attrName>style.visibility</p:attrName>
                                        </p:attrNameLst>
                                      </p:cBhvr>
                                      <p:to>
                                        <p:strVal val="visible"/>
                                      </p:to>
                                    </p:set>
                                    <p:animEffect transition="in" filter="fade">
                                      <p:cBhvr>
                                        <p:cTn id="194" dur="400"/>
                                        <p:tgtEl>
                                          <p:spTgt spid="68"/>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73"/>
                                        </p:tgtEl>
                                        <p:attrNameLst>
                                          <p:attrName>style.visibility</p:attrName>
                                        </p:attrNameLst>
                                      </p:cBhvr>
                                      <p:to>
                                        <p:strVal val="visible"/>
                                      </p:to>
                                    </p:set>
                                    <p:animEffect transition="in" filter="fade">
                                      <p:cBhvr>
                                        <p:cTn id="197" dur="400"/>
                                        <p:tgtEl>
                                          <p:spTgt spid="73"/>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74"/>
                                        </p:tgtEl>
                                        <p:attrNameLst>
                                          <p:attrName>style.visibility</p:attrName>
                                        </p:attrNameLst>
                                      </p:cBhvr>
                                      <p:to>
                                        <p:strVal val="visible"/>
                                      </p:to>
                                    </p:set>
                                    <p:animEffect transition="in" filter="fade">
                                      <p:cBhvr>
                                        <p:cTn id="200" dur="400"/>
                                        <p:tgtEl>
                                          <p:spTgt spid="74"/>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5"/>
                                        </p:tgtEl>
                                        <p:attrNameLst>
                                          <p:attrName>style.visibility</p:attrName>
                                        </p:attrNameLst>
                                      </p:cBhvr>
                                      <p:to>
                                        <p:strVal val="visible"/>
                                      </p:to>
                                    </p:set>
                                    <p:animEffect transition="in" filter="fade">
                                      <p:cBhvr>
                                        <p:cTn id="203" dur="400"/>
                                        <p:tgtEl>
                                          <p:spTgt spid="75"/>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76"/>
                                        </p:tgtEl>
                                        <p:attrNameLst>
                                          <p:attrName>style.visibility</p:attrName>
                                        </p:attrNameLst>
                                      </p:cBhvr>
                                      <p:to>
                                        <p:strVal val="visible"/>
                                      </p:to>
                                    </p:set>
                                    <p:animEffect transition="in" filter="fade">
                                      <p:cBhvr>
                                        <p:cTn id="206" dur="400"/>
                                        <p:tgtEl>
                                          <p:spTgt spid="76"/>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96"/>
                                        </p:tgtEl>
                                        <p:attrNameLst>
                                          <p:attrName>style.visibility</p:attrName>
                                        </p:attrNameLst>
                                      </p:cBhvr>
                                      <p:to>
                                        <p:strVal val="visible"/>
                                      </p:to>
                                    </p:set>
                                    <p:animEffect transition="in" filter="fade">
                                      <p:cBhvr>
                                        <p:cTn id="209" dur="400"/>
                                        <p:tgtEl>
                                          <p:spTgt spid="9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97"/>
                                        </p:tgtEl>
                                        <p:attrNameLst>
                                          <p:attrName>style.visibility</p:attrName>
                                        </p:attrNameLst>
                                      </p:cBhvr>
                                      <p:to>
                                        <p:strVal val="visible"/>
                                      </p:to>
                                    </p:set>
                                    <p:animEffect transition="in" filter="fade">
                                      <p:cBhvr>
                                        <p:cTn id="212" dur="400"/>
                                        <p:tgtEl>
                                          <p:spTgt spid="97"/>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98"/>
                                        </p:tgtEl>
                                        <p:attrNameLst>
                                          <p:attrName>style.visibility</p:attrName>
                                        </p:attrNameLst>
                                      </p:cBhvr>
                                      <p:to>
                                        <p:strVal val="visible"/>
                                      </p:to>
                                    </p:set>
                                    <p:animEffect transition="in" filter="fade">
                                      <p:cBhvr>
                                        <p:cTn id="215" dur="400"/>
                                        <p:tgtEl>
                                          <p:spTgt spid="98"/>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99"/>
                                        </p:tgtEl>
                                        <p:attrNameLst>
                                          <p:attrName>style.visibility</p:attrName>
                                        </p:attrNameLst>
                                      </p:cBhvr>
                                      <p:to>
                                        <p:strVal val="visible"/>
                                      </p:to>
                                    </p:set>
                                    <p:animEffect transition="in" filter="fade">
                                      <p:cBhvr>
                                        <p:cTn id="218" dur="400"/>
                                        <p:tgtEl>
                                          <p:spTgt spid="99"/>
                                        </p:tgtEl>
                                      </p:cBhvr>
                                    </p:animEffect>
                                  </p:childTnLst>
                                </p:cTn>
                              </p:par>
                            </p:childTnLst>
                          </p:cTn>
                        </p:par>
                      </p:childTnLst>
                    </p:cTn>
                  </p:par>
                  <p:par>
                    <p:cTn id="292" fill="hold">
                      <p:stCondLst>
                        <p:cond delay="indefinite"/>
                      </p:stCondLst>
                      <p:childTnLst>
                        <p:par>
                          <p:cTn id="293" fill="hold">
                            <p:stCondLst>
                              <p:cond delay="0"/>
                            </p:stCondLst>
                            <p:childTnLst>
                              <p:par>
                                <p:cTn id="219" presetID="10" presetClass="exit" presetSubtype="0" fill="hold" grpId="1" nodeType="clickEffect">
                                  <p:stCondLst>
                                    <p:cond delay="0"/>
                                  </p:stCondLst>
                                  <p:childTnLst>
                                    <p:animEffect transition="out" filter="fade">
                                      <p:cBhvr>
                                        <p:cTn id="220" dur="200"/>
                                        <p:tgtEl>
                                          <p:spTgt spid="92"/>
                                        </p:tgtEl>
                                      </p:cBhvr>
                                    </p:animEffect>
                                    <p:set>
                                      <p:cBhvr>
                                        <p:cTn id="221" dur="1" fill="hold">
                                          <p:stCondLst>
                                            <p:cond delay="199"/>
                                          </p:stCondLst>
                                        </p:cTn>
                                        <p:tgtEl>
                                          <p:spTgt spid="92"/>
                                        </p:tgtEl>
                                        <p:attrNameLst>
                                          <p:attrName>style.visibility</p:attrName>
                                        </p:attrNameLst>
                                      </p:cBhvr>
                                      <p:to>
                                        <p:strVal val="hidden"/>
                                      </p:to>
                                    </p:set>
                                  </p:childTnLst>
                                </p:cTn>
                              </p:par>
                              <p:par>
                                <p:cTn id="222" presetID="10" presetClass="exit" presetSubtype="0" fill="hold" grpId="1" nodeType="withEffect">
                                  <p:stCondLst>
                                    <p:cond delay="0"/>
                                  </p:stCondLst>
                                  <p:childTnLst>
                                    <p:animEffect transition="out" filter="fade">
                                      <p:cBhvr>
                                        <p:cTn id="223" dur="200"/>
                                        <p:tgtEl>
                                          <p:spTgt spid="93"/>
                                        </p:tgtEl>
                                      </p:cBhvr>
                                    </p:animEffect>
                                    <p:set>
                                      <p:cBhvr>
                                        <p:cTn id="224" dur="1" fill="hold">
                                          <p:stCondLst>
                                            <p:cond delay="199"/>
                                          </p:stCondLst>
                                        </p:cTn>
                                        <p:tgtEl>
                                          <p:spTgt spid="93"/>
                                        </p:tgtEl>
                                        <p:attrNameLst>
                                          <p:attrName>style.visibility</p:attrName>
                                        </p:attrNameLst>
                                      </p:cBhvr>
                                      <p:to>
                                        <p:strVal val="hidden"/>
                                      </p:to>
                                    </p:set>
                                  </p:childTnLst>
                                </p:cTn>
                              </p:par>
                              <p:par>
                                <p:cTn id="225" presetID="10" presetClass="exit" presetSubtype="0" fill="hold" grpId="1" nodeType="withEffect">
                                  <p:stCondLst>
                                    <p:cond delay="0"/>
                                  </p:stCondLst>
                                  <p:childTnLst>
                                    <p:animEffect transition="out" filter="fade">
                                      <p:cBhvr>
                                        <p:cTn id="226" dur="200"/>
                                        <p:tgtEl>
                                          <p:spTgt spid="94"/>
                                        </p:tgtEl>
                                      </p:cBhvr>
                                    </p:animEffect>
                                    <p:set>
                                      <p:cBhvr>
                                        <p:cTn id="227" dur="1" fill="hold">
                                          <p:stCondLst>
                                            <p:cond delay="199"/>
                                          </p:stCondLst>
                                        </p:cTn>
                                        <p:tgtEl>
                                          <p:spTgt spid="94"/>
                                        </p:tgtEl>
                                        <p:attrNameLst>
                                          <p:attrName>style.visibility</p:attrName>
                                        </p:attrNameLst>
                                      </p:cBhvr>
                                      <p:to>
                                        <p:strVal val="hidden"/>
                                      </p:to>
                                    </p:set>
                                  </p:childTnLst>
                                </p:cTn>
                              </p:par>
                              <p:par>
                                <p:cTn id="228" presetID="10" presetClass="exit" presetSubtype="0" fill="hold" grpId="1" nodeType="withEffect">
                                  <p:stCondLst>
                                    <p:cond delay="0"/>
                                  </p:stCondLst>
                                  <p:childTnLst>
                                    <p:animEffect transition="out" filter="fade">
                                      <p:cBhvr>
                                        <p:cTn id="229" dur="200"/>
                                        <p:tgtEl>
                                          <p:spTgt spid="95"/>
                                        </p:tgtEl>
                                      </p:cBhvr>
                                    </p:animEffect>
                                    <p:set>
                                      <p:cBhvr>
                                        <p:cTn id="230" dur="1" fill="hold">
                                          <p:stCondLst>
                                            <p:cond delay="199"/>
                                          </p:stCondLst>
                                        </p:cTn>
                                        <p:tgtEl>
                                          <p:spTgt spid="95"/>
                                        </p:tgtEl>
                                        <p:attrNameLst>
                                          <p:attrName>style.visibility</p:attrName>
                                        </p:attrNameLst>
                                      </p:cBhvr>
                                      <p:to>
                                        <p:strVal val="hidden"/>
                                      </p:to>
                                    </p:set>
                                  </p:childTnLst>
                                </p:cTn>
                              </p:par>
                              <p:par>
                                <p:cTn id="231" presetID="10" presetClass="exit" presetSubtype="0" fill="hold" grpId="1" nodeType="withEffect">
                                  <p:stCondLst>
                                    <p:cond delay="0"/>
                                  </p:stCondLst>
                                  <p:childTnLst>
                                    <p:animEffect transition="out" filter="fade">
                                      <p:cBhvr>
                                        <p:cTn id="232" dur="200"/>
                                        <p:tgtEl>
                                          <p:spTgt spid="96"/>
                                        </p:tgtEl>
                                      </p:cBhvr>
                                    </p:animEffect>
                                    <p:set>
                                      <p:cBhvr>
                                        <p:cTn id="233" dur="1" fill="hold">
                                          <p:stCondLst>
                                            <p:cond delay="199"/>
                                          </p:stCondLst>
                                        </p:cTn>
                                        <p:tgtEl>
                                          <p:spTgt spid="96"/>
                                        </p:tgtEl>
                                        <p:attrNameLst>
                                          <p:attrName>style.visibility</p:attrName>
                                        </p:attrNameLst>
                                      </p:cBhvr>
                                      <p:to>
                                        <p:strVal val="hidden"/>
                                      </p:to>
                                    </p:set>
                                  </p:childTnLst>
                                </p:cTn>
                              </p:par>
                              <p:par>
                                <p:cTn id="234" presetID="10" presetClass="exit" presetSubtype="0" fill="hold" grpId="1" nodeType="withEffect">
                                  <p:stCondLst>
                                    <p:cond delay="0"/>
                                  </p:stCondLst>
                                  <p:childTnLst>
                                    <p:animEffect transition="out" filter="fade">
                                      <p:cBhvr>
                                        <p:cTn id="235" dur="200"/>
                                        <p:tgtEl>
                                          <p:spTgt spid="97"/>
                                        </p:tgtEl>
                                      </p:cBhvr>
                                    </p:animEffect>
                                    <p:set>
                                      <p:cBhvr>
                                        <p:cTn id="236" dur="1" fill="hold">
                                          <p:stCondLst>
                                            <p:cond delay="199"/>
                                          </p:stCondLst>
                                        </p:cTn>
                                        <p:tgtEl>
                                          <p:spTgt spid="97"/>
                                        </p:tgtEl>
                                        <p:attrNameLst>
                                          <p:attrName>style.visibility</p:attrName>
                                        </p:attrNameLst>
                                      </p:cBhvr>
                                      <p:to>
                                        <p:strVal val="hidden"/>
                                      </p:to>
                                    </p:set>
                                  </p:childTnLst>
                                </p:cTn>
                              </p:par>
                              <p:par>
                                <p:cTn id="237" presetID="10" presetClass="exit" presetSubtype="0" fill="hold" grpId="1" nodeType="withEffect">
                                  <p:stCondLst>
                                    <p:cond delay="0"/>
                                  </p:stCondLst>
                                  <p:childTnLst>
                                    <p:animEffect transition="out" filter="fade">
                                      <p:cBhvr>
                                        <p:cTn id="238" dur="200"/>
                                        <p:tgtEl>
                                          <p:spTgt spid="98"/>
                                        </p:tgtEl>
                                      </p:cBhvr>
                                    </p:animEffect>
                                    <p:set>
                                      <p:cBhvr>
                                        <p:cTn id="239" dur="1" fill="hold">
                                          <p:stCondLst>
                                            <p:cond delay="199"/>
                                          </p:stCondLst>
                                        </p:cTn>
                                        <p:tgtEl>
                                          <p:spTgt spid="98"/>
                                        </p:tgtEl>
                                        <p:attrNameLst>
                                          <p:attrName>style.visibility</p:attrName>
                                        </p:attrNameLst>
                                      </p:cBhvr>
                                      <p:to>
                                        <p:strVal val="hidden"/>
                                      </p:to>
                                    </p:set>
                                  </p:childTnLst>
                                </p:cTn>
                              </p:par>
                              <p:par>
                                <p:cTn id="240" presetID="10" presetClass="exit" presetSubtype="0" fill="hold" grpId="1" nodeType="withEffect">
                                  <p:stCondLst>
                                    <p:cond delay="0"/>
                                  </p:stCondLst>
                                  <p:childTnLst>
                                    <p:animEffect transition="out" filter="fade">
                                      <p:cBhvr>
                                        <p:cTn id="241" dur="200"/>
                                        <p:tgtEl>
                                          <p:spTgt spid="99"/>
                                        </p:tgtEl>
                                      </p:cBhvr>
                                    </p:animEffect>
                                    <p:set>
                                      <p:cBhvr>
                                        <p:cTn id="242" dur="1" fill="hold">
                                          <p:stCondLst>
                                            <p:cond delay="199"/>
                                          </p:stCondLst>
                                        </p:cTn>
                                        <p:tgtEl>
                                          <p:spTgt spid="99"/>
                                        </p:tgtEl>
                                        <p:attrNameLst>
                                          <p:attrName>style.visibility</p:attrName>
                                        </p:attrNameLst>
                                      </p:cBhvr>
                                      <p:to>
                                        <p:strVal val="hidden"/>
                                      </p:to>
                                    </p:set>
                                  </p:childTnLst>
                                </p:cTn>
                              </p:par>
                              <p:par>
                                <p:cTn id="243" presetID="10" presetClass="entr" presetSubtype="0" fill="hold" grpId="0" nodeType="withEffect">
                                  <p:stCondLst>
                                    <p:cond delay="200"/>
                                  </p:stCondLst>
                                  <p:childTnLst>
                                    <p:set>
                                      <p:cBhvr>
                                        <p:cTn id="244" dur="1" fill="hold">
                                          <p:stCondLst>
                                            <p:cond delay="0"/>
                                          </p:stCondLst>
                                        </p:cTn>
                                        <p:tgtEl>
                                          <p:spTgt spid="77"/>
                                        </p:tgtEl>
                                        <p:attrNameLst>
                                          <p:attrName>style.visibility</p:attrName>
                                        </p:attrNameLst>
                                      </p:cBhvr>
                                      <p:to>
                                        <p:strVal val="visible"/>
                                      </p:to>
                                    </p:set>
                                    <p:animEffect transition="in" filter="fade">
                                      <p:cBhvr>
                                        <p:cTn id="245" dur="400"/>
                                        <p:tgtEl>
                                          <p:spTgt spid="77"/>
                                        </p:tgtEl>
                                      </p:cBhvr>
                                    </p:animEffect>
                                  </p:childTnLst>
                                </p:cTn>
                              </p:par>
                              <p:par>
                                <p:cTn id="246" presetID="10" presetClass="entr" presetSubtype="0" fill="hold" grpId="0" nodeType="withEffect">
                                  <p:stCondLst>
                                    <p:cond delay="200"/>
                                  </p:stCondLst>
                                  <p:childTnLst>
                                    <p:set>
                                      <p:cBhvr>
                                        <p:cTn id="247" dur="1" fill="hold">
                                          <p:stCondLst>
                                            <p:cond delay="0"/>
                                          </p:stCondLst>
                                        </p:cTn>
                                        <p:tgtEl>
                                          <p:spTgt spid="78"/>
                                        </p:tgtEl>
                                        <p:attrNameLst>
                                          <p:attrName>style.visibility</p:attrName>
                                        </p:attrNameLst>
                                      </p:cBhvr>
                                      <p:to>
                                        <p:strVal val="visible"/>
                                      </p:to>
                                    </p:set>
                                    <p:animEffect transition="in" filter="fade">
                                      <p:cBhvr>
                                        <p:cTn id="248" dur="400"/>
                                        <p:tgtEl>
                                          <p:spTgt spid="78"/>
                                        </p:tgtEl>
                                      </p:cBhvr>
                                    </p:animEffect>
                                  </p:childTnLst>
                                </p:cTn>
                              </p:par>
                              <p:par>
                                <p:cTn id="249" presetID="10" presetClass="entr" presetSubtype="0" fill="hold" grpId="0" nodeType="withEffect">
                                  <p:stCondLst>
                                    <p:cond delay="200"/>
                                  </p:stCondLst>
                                  <p:childTnLst>
                                    <p:set>
                                      <p:cBhvr>
                                        <p:cTn id="250" dur="1" fill="hold">
                                          <p:stCondLst>
                                            <p:cond delay="0"/>
                                          </p:stCondLst>
                                        </p:cTn>
                                        <p:tgtEl>
                                          <p:spTgt spid="79"/>
                                        </p:tgtEl>
                                        <p:attrNameLst>
                                          <p:attrName>style.visibility</p:attrName>
                                        </p:attrNameLst>
                                      </p:cBhvr>
                                      <p:to>
                                        <p:strVal val="visible"/>
                                      </p:to>
                                    </p:set>
                                    <p:animEffect transition="in" filter="fade">
                                      <p:cBhvr>
                                        <p:cTn id="251" dur="400"/>
                                        <p:tgtEl>
                                          <p:spTgt spid="79"/>
                                        </p:tgtEl>
                                      </p:cBhvr>
                                    </p:animEffect>
                                  </p:childTnLst>
                                </p:cTn>
                              </p:par>
                              <p:par>
                                <p:cTn id="252" presetID="10" presetClass="entr" presetSubtype="0" fill="hold" grpId="0" nodeType="withEffect">
                                  <p:stCondLst>
                                    <p:cond delay="200"/>
                                  </p:stCondLst>
                                  <p:childTnLst>
                                    <p:set>
                                      <p:cBhvr>
                                        <p:cTn id="253" dur="1" fill="hold">
                                          <p:stCondLst>
                                            <p:cond delay="0"/>
                                          </p:stCondLst>
                                        </p:cTn>
                                        <p:tgtEl>
                                          <p:spTgt spid="80"/>
                                        </p:tgtEl>
                                        <p:attrNameLst>
                                          <p:attrName>style.visibility</p:attrName>
                                        </p:attrNameLst>
                                      </p:cBhvr>
                                      <p:to>
                                        <p:strVal val="visible"/>
                                      </p:to>
                                    </p:set>
                                    <p:animEffect transition="in" filter="fade">
                                      <p:cBhvr>
                                        <p:cTn id="254" dur="400"/>
                                        <p:tgtEl>
                                          <p:spTgt spid="80"/>
                                        </p:tgtEl>
                                      </p:cBhvr>
                                    </p:animEffect>
                                  </p:childTnLst>
                                </p:cTn>
                              </p:par>
                              <p:par>
                                <p:cTn id="255" presetID="10" presetClass="entr" presetSubtype="0" fill="hold" grpId="0" nodeType="withEffect">
                                  <p:stCondLst>
                                    <p:cond delay="200"/>
                                  </p:stCondLst>
                                  <p:childTnLst>
                                    <p:set>
                                      <p:cBhvr>
                                        <p:cTn id="256" dur="1" fill="hold">
                                          <p:stCondLst>
                                            <p:cond delay="0"/>
                                          </p:stCondLst>
                                        </p:cTn>
                                        <p:tgtEl>
                                          <p:spTgt spid="81"/>
                                        </p:tgtEl>
                                        <p:attrNameLst>
                                          <p:attrName>style.visibility</p:attrName>
                                        </p:attrNameLst>
                                      </p:cBhvr>
                                      <p:to>
                                        <p:strVal val="visible"/>
                                      </p:to>
                                    </p:set>
                                    <p:animEffect transition="in" filter="fade">
                                      <p:cBhvr>
                                        <p:cTn id="257" dur="400"/>
                                        <p:tgtEl>
                                          <p:spTgt spid="81"/>
                                        </p:tgtEl>
                                      </p:cBhvr>
                                    </p:animEffect>
                                  </p:childTnLst>
                                </p:cTn>
                              </p:par>
                              <p:par>
                                <p:cTn id="258" presetID="10" presetClass="entr" presetSubtype="0" fill="hold" grpId="0" nodeType="withEffect">
                                  <p:stCondLst>
                                    <p:cond delay="200"/>
                                  </p:stCondLst>
                                  <p:childTnLst>
                                    <p:set>
                                      <p:cBhvr>
                                        <p:cTn id="259" dur="1" fill="hold">
                                          <p:stCondLst>
                                            <p:cond delay="0"/>
                                          </p:stCondLst>
                                        </p:cTn>
                                        <p:tgtEl>
                                          <p:spTgt spid="82"/>
                                        </p:tgtEl>
                                        <p:attrNameLst>
                                          <p:attrName>style.visibility</p:attrName>
                                        </p:attrNameLst>
                                      </p:cBhvr>
                                      <p:to>
                                        <p:strVal val="visible"/>
                                      </p:to>
                                    </p:set>
                                    <p:animEffect transition="in" filter="fade">
                                      <p:cBhvr>
                                        <p:cTn id="260" dur="400"/>
                                        <p:tgtEl>
                                          <p:spTgt spid="82"/>
                                        </p:tgtEl>
                                      </p:cBhvr>
                                    </p:animEffect>
                                  </p:childTnLst>
                                </p:cTn>
                              </p:par>
                              <p:par>
                                <p:cTn id="261" presetID="10" presetClass="entr" presetSubtype="0" fill="hold" grpId="0" nodeType="withEffect">
                                  <p:stCondLst>
                                    <p:cond delay="200"/>
                                  </p:stCondLst>
                                  <p:childTnLst>
                                    <p:set>
                                      <p:cBhvr>
                                        <p:cTn id="262" dur="1" fill="hold">
                                          <p:stCondLst>
                                            <p:cond delay="0"/>
                                          </p:stCondLst>
                                        </p:cTn>
                                        <p:tgtEl>
                                          <p:spTgt spid="83"/>
                                        </p:tgtEl>
                                        <p:attrNameLst>
                                          <p:attrName>style.visibility</p:attrName>
                                        </p:attrNameLst>
                                      </p:cBhvr>
                                      <p:to>
                                        <p:strVal val="visible"/>
                                      </p:to>
                                    </p:set>
                                    <p:animEffect transition="in" filter="fade">
                                      <p:cBhvr>
                                        <p:cTn id="263" dur="400"/>
                                        <p:tgtEl>
                                          <p:spTgt spid="83"/>
                                        </p:tgtEl>
                                      </p:cBhvr>
                                    </p:animEffect>
                                  </p:childTnLst>
                                </p:cTn>
                              </p:par>
                              <p:par>
                                <p:cTn id="264" presetID="10" presetClass="entr" presetSubtype="0" fill="hold" grpId="0" nodeType="withEffect">
                                  <p:stCondLst>
                                    <p:cond delay="200"/>
                                  </p:stCondLst>
                                  <p:childTnLst>
                                    <p:set>
                                      <p:cBhvr>
                                        <p:cTn id="265" dur="1" fill="hold">
                                          <p:stCondLst>
                                            <p:cond delay="0"/>
                                          </p:stCondLst>
                                        </p:cTn>
                                        <p:tgtEl>
                                          <p:spTgt spid="84"/>
                                        </p:tgtEl>
                                        <p:attrNameLst>
                                          <p:attrName>style.visibility</p:attrName>
                                        </p:attrNameLst>
                                      </p:cBhvr>
                                      <p:to>
                                        <p:strVal val="visible"/>
                                      </p:to>
                                    </p:set>
                                    <p:animEffect transition="in" filter="fade">
                                      <p:cBhvr>
                                        <p:cTn id="266" dur="400"/>
                                        <p:tgtEl>
                                          <p:spTgt spid="84"/>
                                        </p:tgtEl>
                                      </p:cBhvr>
                                    </p:animEffect>
                                  </p:childTnLst>
                                </p:cTn>
                              </p:par>
                              <p:par>
                                <p:cTn id="267" presetID="10" presetClass="entr" presetSubtype="0" fill="hold" grpId="0" nodeType="withEffect">
                                  <p:stCondLst>
                                    <p:cond delay="200"/>
                                  </p:stCondLst>
                                  <p:childTnLst>
                                    <p:set>
                                      <p:cBhvr>
                                        <p:cTn id="268" dur="1" fill="hold">
                                          <p:stCondLst>
                                            <p:cond delay="0"/>
                                          </p:stCondLst>
                                        </p:cTn>
                                        <p:tgtEl>
                                          <p:spTgt spid="85"/>
                                        </p:tgtEl>
                                        <p:attrNameLst>
                                          <p:attrName>style.visibility</p:attrName>
                                        </p:attrNameLst>
                                      </p:cBhvr>
                                      <p:to>
                                        <p:strVal val="visible"/>
                                      </p:to>
                                    </p:set>
                                    <p:animEffect transition="in" filter="fade">
                                      <p:cBhvr>
                                        <p:cTn id="269" dur="400"/>
                                        <p:tgtEl>
                                          <p:spTgt spid="85"/>
                                        </p:tgtEl>
                                      </p:cBhvr>
                                    </p:animEffect>
                                  </p:childTnLst>
                                </p:cTn>
                              </p:par>
                              <p:par>
                                <p:cTn id="270" presetID="10" presetClass="entr" presetSubtype="0" fill="hold" grpId="0" nodeType="withEffect">
                                  <p:stCondLst>
                                    <p:cond delay="200"/>
                                  </p:stCondLst>
                                  <p:childTnLst>
                                    <p:set>
                                      <p:cBhvr>
                                        <p:cTn id="271" dur="1" fill="hold">
                                          <p:stCondLst>
                                            <p:cond delay="0"/>
                                          </p:stCondLst>
                                        </p:cTn>
                                        <p:tgtEl>
                                          <p:spTgt spid="86"/>
                                        </p:tgtEl>
                                        <p:attrNameLst>
                                          <p:attrName>style.visibility</p:attrName>
                                        </p:attrNameLst>
                                      </p:cBhvr>
                                      <p:to>
                                        <p:strVal val="visible"/>
                                      </p:to>
                                    </p:set>
                                    <p:animEffect transition="in" filter="fade">
                                      <p:cBhvr>
                                        <p:cTn id="272" dur="400"/>
                                        <p:tgtEl>
                                          <p:spTgt spid="86"/>
                                        </p:tgtEl>
                                      </p:cBhvr>
                                    </p:animEffect>
                                  </p:childTnLst>
                                </p:cTn>
                              </p:par>
                              <p:par>
                                <p:cTn id="273" presetID="10" presetClass="entr" presetSubtype="0" fill="hold" grpId="0" nodeType="withEffect">
                                  <p:stCondLst>
                                    <p:cond delay="200"/>
                                  </p:stCondLst>
                                  <p:childTnLst>
                                    <p:set>
                                      <p:cBhvr>
                                        <p:cTn id="274" dur="1" fill="hold">
                                          <p:stCondLst>
                                            <p:cond delay="0"/>
                                          </p:stCondLst>
                                        </p:cTn>
                                        <p:tgtEl>
                                          <p:spTgt spid="87"/>
                                        </p:tgtEl>
                                        <p:attrNameLst>
                                          <p:attrName>style.visibility</p:attrName>
                                        </p:attrNameLst>
                                      </p:cBhvr>
                                      <p:to>
                                        <p:strVal val="visible"/>
                                      </p:to>
                                    </p:set>
                                    <p:animEffect transition="in" filter="fade">
                                      <p:cBhvr>
                                        <p:cTn id="275" dur="400"/>
                                        <p:tgtEl>
                                          <p:spTgt spid="87"/>
                                        </p:tgtEl>
                                      </p:cBhvr>
                                    </p:animEffect>
                                  </p:childTnLst>
                                </p:cTn>
                              </p:par>
                              <p:par>
                                <p:cTn id="276" presetID="10" presetClass="entr" presetSubtype="0" fill="hold" grpId="0" nodeType="withEffect">
                                  <p:stCondLst>
                                    <p:cond delay="200"/>
                                  </p:stCondLst>
                                  <p:childTnLst>
                                    <p:set>
                                      <p:cBhvr>
                                        <p:cTn id="277" dur="1" fill="hold">
                                          <p:stCondLst>
                                            <p:cond delay="0"/>
                                          </p:stCondLst>
                                        </p:cTn>
                                        <p:tgtEl>
                                          <p:spTgt spid="88"/>
                                        </p:tgtEl>
                                        <p:attrNameLst>
                                          <p:attrName>style.visibility</p:attrName>
                                        </p:attrNameLst>
                                      </p:cBhvr>
                                      <p:to>
                                        <p:strVal val="visible"/>
                                      </p:to>
                                    </p:set>
                                    <p:animEffect transition="in" filter="fade">
                                      <p:cBhvr>
                                        <p:cTn id="278" dur="400"/>
                                        <p:tgtEl>
                                          <p:spTgt spid="88"/>
                                        </p:tgtEl>
                                      </p:cBhvr>
                                    </p:animEffect>
                                  </p:childTnLst>
                                </p:cTn>
                              </p:par>
                              <p:par>
                                <p:cTn id="279" presetID="10" presetClass="entr" presetSubtype="0" fill="hold" grpId="0" nodeType="withEffect">
                                  <p:stCondLst>
                                    <p:cond delay="200"/>
                                  </p:stCondLst>
                                  <p:childTnLst>
                                    <p:set>
                                      <p:cBhvr>
                                        <p:cTn id="280" dur="1" fill="hold">
                                          <p:stCondLst>
                                            <p:cond delay="0"/>
                                          </p:stCondLst>
                                        </p:cTn>
                                        <p:tgtEl>
                                          <p:spTgt spid="89"/>
                                        </p:tgtEl>
                                        <p:attrNameLst>
                                          <p:attrName>style.visibility</p:attrName>
                                        </p:attrNameLst>
                                      </p:cBhvr>
                                      <p:to>
                                        <p:strVal val="visible"/>
                                      </p:to>
                                    </p:set>
                                    <p:animEffect transition="in" filter="fade">
                                      <p:cBhvr>
                                        <p:cTn id="281" dur="400"/>
                                        <p:tgtEl>
                                          <p:spTgt spid="89"/>
                                        </p:tgtEl>
                                      </p:cBhvr>
                                    </p:animEffect>
                                  </p:childTnLst>
                                </p:cTn>
                              </p:par>
                              <p:par>
                                <p:cTn id="282" presetID="10" presetClass="entr" presetSubtype="0" fill="hold" grpId="0" nodeType="withEffect">
                                  <p:stCondLst>
                                    <p:cond delay="200"/>
                                  </p:stCondLst>
                                  <p:childTnLst>
                                    <p:set>
                                      <p:cBhvr>
                                        <p:cTn id="283" dur="1" fill="hold">
                                          <p:stCondLst>
                                            <p:cond delay="0"/>
                                          </p:stCondLst>
                                        </p:cTn>
                                        <p:tgtEl>
                                          <p:spTgt spid="90"/>
                                        </p:tgtEl>
                                        <p:attrNameLst>
                                          <p:attrName>style.visibility</p:attrName>
                                        </p:attrNameLst>
                                      </p:cBhvr>
                                      <p:to>
                                        <p:strVal val="visible"/>
                                      </p:to>
                                    </p:set>
                                    <p:animEffect transition="in" filter="fade">
                                      <p:cBhvr>
                                        <p:cTn id="284" dur="400"/>
                                        <p:tgtEl>
                                          <p:spTgt spid="90"/>
                                        </p:tgtEl>
                                      </p:cBhvr>
                                    </p:animEffect>
                                  </p:childTnLst>
                                </p:cTn>
                              </p:par>
                              <p:par>
                                <p:cTn id="285" presetID="10" presetClass="entr" presetSubtype="0" fill="hold" grpId="0" nodeType="withEffect">
                                  <p:stCondLst>
                                    <p:cond delay="200"/>
                                  </p:stCondLst>
                                  <p:childTnLst>
                                    <p:set>
                                      <p:cBhvr>
                                        <p:cTn id="286" dur="1" fill="hold">
                                          <p:stCondLst>
                                            <p:cond delay="0"/>
                                          </p:stCondLst>
                                        </p:cTn>
                                        <p:tgtEl>
                                          <p:spTgt spid="91"/>
                                        </p:tgtEl>
                                        <p:attrNameLst>
                                          <p:attrName>style.visibility</p:attrName>
                                        </p:attrNameLst>
                                      </p:cBhvr>
                                      <p:to>
                                        <p:strVal val="visible"/>
                                      </p:to>
                                    </p:set>
                                    <p:animEffect transition="in" filter="fade">
                                      <p:cBhvr>
                                        <p:cTn id="287" dur="4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9" grpId="0" animBg="1"/>
      <p:bldP spid="90" grpId="0" animBg="1"/>
      <p:bldP spid="92" grpId="0" animBg="1"/>
      <p:bldP spid="92" grpId="1" animBg="1"/>
      <p:bldP spid="93" grpId="0" animBg="1"/>
      <p:bldP spid="93" grpId="1" animBg="1"/>
      <p:bldP spid="94" grpId="0" animBg="1"/>
      <p:bldP spid="94" grpId="1" animBg="1"/>
      <p:bldP spid="95" grpId="0" animBg="1"/>
      <p:bldP spid="95" grpId="1" animBg="1"/>
      <p:bldP spid="96" grpId="0" animBg="1"/>
      <p:bldP spid="96" grpId="1" animBg="1"/>
      <p:bldP spid="97" grpId="0" animBg="1"/>
      <p:bldP spid="97" grpId="1" animBg="1"/>
      <p:bldP spid="98" grpId="0" animBg="1"/>
      <p:bldP spid="98" grpId="1" animBg="1"/>
      <p:bldP spid="99" grpId="0" animBg="1"/>
      <p:bldP spid="99" grpId="1"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Mapeo isoparamétrico: del cuadrado al elemento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9eed7e5a7a2960ed.png"/>
          <p:cNvPicPr>
            <a:picLocks noChangeAspect="1"/>
          </p:cNvPicPr>
          <p:nvPr/>
        </p:nvPicPr>
        <p:blipFill>
          <a:blip r:embed="rId2"/>
          <a:stretch>
            <a:fillRect/>
          </a:stretch>
        </p:blipFill>
        <p:spPr>
          <a:xfrm>
            <a:off x="635000" y="1435100"/>
            <a:ext cx="10922000" cy="3556000"/>
          </a:xfrm>
          <a:prstGeom prst="rect">
            <a:avLst/>
          </a:prstGeom>
        </p:spPr>
      </p:pic>
      <p:pic>
        <p:nvPicPr>
          <p:cNvPr id="14" name="Picture 13" descr="86aa09361d0714e9.png"/>
          <p:cNvPicPr>
            <a:picLocks noChangeAspect="1"/>
          </p:cNvPicPr>
          <p:nvPr/>
        </p:nvPicPr>
        <p:blipFill>
          <a:blip r:embed="rId3"/>
          <a:stretch>
            <a:fillRect/>
          </a:stretch>
        </p:blipFill>
        <p:spPr>
          <a:xfrm>
            <a:off x="8572500" y="1435100"/>
            <a:ext cx="2984500" cy="3556000"/>
          </a:xfrm>
          <a:prstGeom prst="rect">
            <a:avLst/>
          </a:prstGeom>
        </p:spPr>
      </p:pic>
      <p:pic>
        <p:nvPicPr>
          <p:cNvPr id="15" name="Picture 14" descr="417b378937a54cfc.png"/>
          <p:cNvPicPr>
            <a:picLocks noChangeAspect="1"/>
          </p:cNvPicPr>
          <p:nvPr/>
        </p:nvPicPr>
        <p:blipFill>
          <a:blip r:embed="rId4"/>
          <a:stretch>
            <a:fillRect/>
          </a:stretch>
        </p:blipFill>
        <p:spPr>
          <a:xfrm>
            <a:off x="635000" y="1435100"/>
            <a:ext cx="10922000" cy="3556000"/>
          </a:xfrm>
          <a:prstGeom prst="rect">
            <a:avLst/>
          </a:prstGeom>
        </p:spPr>
      </p:pic>
      <p:sp>
        <p:nvSpPr>
          <p:cNvPr id="16" name="TextBox 15"/>
          <p:cNvSpPr txBox="1"/>
          <p:nvPr/>
        </p:nvSpPr>
        <p:spPr>
          <a:xfrm>
            <a:off x="1480947" y="4614024"/>
            <a:ext cx="2114423"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Cuadrado natural (ξ, η) ∈ [−1, 1]²</a:t>
            </a:r>
          </a:p>
        </p:txBody>
      </p:sp>
      <p:sp>
        <p:nvSpPr>
          <p:cNvPr id="17" name="TextBox 16"/>
          <p:cNvSpPr txBox="1"/>
          <p:nvPr/>
        </p:nvSpPr>
        <p:spPr>
          <a:xfrm>
            <a:off x="5236591" y="4614024"/>
            <a:ext cx="2540826"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Elemento real: E3 del ejemplo canónico</a:t>
            </a:r>
          </a:p>
        </p:txBody>
      </p:sp>
      <p:pic>
        <p:nvPicPr>
          <p:cNvPr id="18" name="Picture 17" descr="98654c8793410231.png"/>
          <p:cNvPicPr>
            <a:picLocks noChangeAspect="1"/>
          </p:cNvPicPr>
          <p:nvPr/>
        </p:nvPicPr>
        <p:blipFill>
          <a:blip r:embed="rId5"/>
          <a:stretch>
            <a:fillRect/>
          </a:stretch>
        </p:blipFill>
        <p:spPr>
          <a:xfrm>
            <a:off x="3619500" y="2286000"/>
            <a:ext cx="1905000" cy="971550"/>
          </a:xfrm>
          <a:prstGeom prst="rect">
            <a:avLst/>
          </a:prstGeom>
        </p:spPr>
      </p:pic>
      <p:sp>
        <p:nvSpPr>
          <p:cNvPr id="19" name="Rounded Rectangle 18"/>
          <p:cNvSpPr/>
          <p:nvPr/>
        </p:nvSpPr>
        <p:spPr>
          <a:xfrm>
            <a:off x="8575675" y="5108575"/>
            <a:ext cx="1343724" cy="348869"/>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5212a2d79cd0e410.png"/>
          <p:cNvPicPr>
            <a:picLocks noChangeAspect="1"/>
          </p:cNvPicPr>
          <p:nvPr/>
        </p:nvPicPr>
        <p:blipFill>
          <a:blip r:embed="rId6"/>
          <a:stretch>
            <a:fillRect/>
          </a:stretch>
        </p:blipFill>
        <p:spPr>
          <a:xfrm>
            <a:off x="8705850" y="4895850"/>
            <a:ext cx="1098550" cy="508000"/>
          </a:xfrm>
          <a:prstGeom prst="rect">
            <a:avLst/>
          </a:prstGeom>
        </p:spPr>
      </p:pic>
      <p:sp>
        <p:nvSpPr>
          <p:cNvPr id="21" name="Rounded Rectangle 20"/>
          <p:cNvSpPr/>
          <p:nvPr/>
        </p:nvSpPr>
        <p:spPr>
          <a:xfrm>
            <a:off x="10001948" y="5108575"/>
            <a:ext cx="1011555" cy="348869"/>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2e35380fdfdd2be8.png"/>
          <p:cNvPicPr>
            <a:picLocks noChangeAspect="1"/>
          </p:cNvPicPr>
          <p:nvPr/>
        </p:nvPicPr>
        <p:blipFill>
          <a:blip r:embed="rId7"/>
          <a:stretch>
            <a:fillRect/>
          </a:stretch>
        </p:blipFill>
        <p:spPr>
          <a:xfrm>
            <a:off x="10128250" y="4895850"/>
            <a:ext cx="755650" cy="533400"/>
          </a:xfrm>
          <a:prstGeom prst="rect">
            <a:avLst/>
          </a:prstGeom>
        </p:spPr>
      </p:pic>
      <p:sp>
        <p:nvSpPr>
          <p:cNvPr id="23" name="Rectangle 22"/>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5150" y="6535420"/>
            <a:ext cx="476091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6" name="TextBox 25"/>
          <p:cNvSpPr txBox="1"/>
          <p:nvPr/>
        </p:nvSpPr>
        <p:spPr>
          <a:xfrm>
            <a:off x="5207318" y="6535420"/>
            <a:ext cx="1777302"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1.5 · Etapa 1 · Módulo M1</a:t>
            </a:r>
          </a:p>
        </p:txBody>
      </p:sp>
      <p:sp>
        <p:nvSpPr>
          <p:cNvPr id="27" name="TextBox 26"/>
          <p:cNvSpPr txBox="1"/>
          <p:nvPr/>
        </p:nvSpPr>
        <p:spPr>
          <a:xfrm>
            <a:off x="6865874" y="6535420"/>
            <a:ext cx="476097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17</a:t>
            </a:r>
          </a:p>
        </p:txBody>
      </p:sp>
      <p:sp>
        <p:nvSpPr>
          <p:cNvPr id="28" name="Enlace a sep-intro">
            <a:hlinkClick action="ppaction://hlinksldjump" r:id="rId8"/>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nlace a sep-teoria">
            <a:hlinkClick action="ppaction://hlinksldjump" r:id="rId9"/>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nlace a sep-diseno">
            <a:hlinkClick action="ppaction://hlinksldjump" r:id="rId10"/>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nlace a sep-resultados">
            <a:hlinkClick action="ppaction://hlinksldjump" r:id="rId11"/>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nlace a sep-analisis">
            <a:hlinkClick action="ppaction://hlinksldjump" r:id="rId12"/>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nlace a sep-conclusiones">
            <a:hlinkClick action="ppaction://hlinksldjump" r:id="rId13"/>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xit" presetSubtype="0" fill="hold" grpId="0" nodeType="clickEffect">
                                  <p:stCondLst>
                                    <p:cond delay="0"/>
                                  </p:stCondLst>
                                  <p:childTnLst>
                                    <p:animEffect transition="out" filter="fade">
                                      <p:cBhvr>
                                        <p:cTn id="4" dur="200"/>
                                        <p:tgtEl>
                                          <p:spTgt spid="15"/>
                                        </p:tgtEl>
                                      </p:cBhvr>
                                    </p:animEffect>
                                    <p:set>
                                      <p:cBhvr>
                                        <p:cTn id="5" dur="1" fill="hold">
                                          <p:stCondLst>
                                            <p:cond delay="199"/>
                                          </p:stCondLst>
                                        </p:cTn>
                                        <p:tgtEl>
                                          <p:spTgt spid="15"/>
                                        </p:tgtEl>
                                        <p:attrNameLst>
                                          <p:attrName>style.visibility</p:attrName>
                                        </p:attrNameLst>
                                      </p:cBhvr>
                                      <p:to>
                                        <p:strVal val="hidden"/>
                                      </p:to>
                                    </p:set>
                                  </p:childTnLst>
                                </p:cTn>
                              </p:par>
                              <p:par>
                                <p:cTn id="6" presetID="10" presetClass="entr" presetSubtype="0" fill="hold" grpId="0" nodeType="withEffect">
                                  <p:stCondLst>
                                    <p:cond delay="20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childTnLst>
                          </p:cTn>
                        </p:par>
                      </p:childTnLst>
                    </p:cTn>
                  </p:par>
                  <p:par>
                    <p:cTn id="26" fill="hold">
                      <p:stCondLst>
                        <p:cond delay="indefinite"/>
                      </p:stCondLst>
                      <p:childTnLst>
                        <p:par>
                          <p:cTn id="27"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Jacobiano y matriz B: el puente entre los dos espacios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1438275"/>
            <a:ext cx="4438650" cy="3930650"/>
          </a:xfrm>
          <a:prstGeom prst="roundRect">
            <a:avLst>
              <a:gd name="adj" fmla="val 2827"/>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6d4a7a27b74ea1cb.png"/>
          <p:cNvPicPr>
            <a:picLocks noChangeAspect="1"/>
          </p:cNvPicPr>
          <p:nvPr/>
        </p:nvPicPr>
        <p:blipFill>
          <a:blip r:embed="rId2"/>
          <a:stretch>
            <a:fillRect/>
          </a:stretch>
        </p:blipFill>
        <p:spPr>
          <a:xfrm>
            <a:off x="641350" y="1441450"/>
            <a:ext cx="4445000" cy="3937000"/>
          </a:xfrm>
          <a:prstGeom prst="rect">
            <a:avLst/>
          </a:prstGeom>
        </p:spPr>
      </p:pic>
      <p:pic>
        <p:nvPicPr>
          <p:cNvPr id="15" name="Picture 14" descr="ca090a401958ad77.png"/>
          <p:cNvPicPr>
            <a:picLocks noChangeAspect="1"/>
          </p:cNvPicPr>
          <p:nvPr/>
        </p:nvPicPr>
        <p:blipFill>
          <a:blip r:embed="rId3"/>
          <a:stretch>
            <a:fillRect/>
          </a:stretch>
        </p:blipFill>
        <p:spPr>
          <a:xfrm>
            <a:off x="641350" y="1441450"/>
            <a:ext cx="4445000" cy="3937000"/>
          </a:xfrm>
          <a:prstGeom prst="rect">
            <a:avLst/>
          </a:prstGeom>
        </p:spPr>
      </p:pic>
      <p:sp>
        <p:nvSpPr>
          <p:cNvPr id="16" name="Rounded Rectangle 15"/>
          <p:cNvSpPr/>
          <p:nvPr/>
        </p:nvSpPr>
        <p:spPr>
          <a:xfrm>
            <a:off x="5337175" y="1438275"/>
            <a:ext cx="6216650" cy="3930650"/>
          </a:xfrm>
          <a:prstGeom prst="roundRect">
            <a:avLst>
              <a:gd name="adj" fmla="val 282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05450" y="1584385"/>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E8741A"/>
                </a:solidFill>
                <a:latin typeface="Calibri"/>
              </a:rPr>
              <a:t>cálculo en vivo con las mismas fórmulas</a:t>
            </a:r>
          </a:p>
        </p:txBody>
      </p:sp>
      <p:sp>
        <p:nvSpPr>
          <p:cNvPr id="18" name="TextBox 17"/>
          <p:cNvSpPr txBox="1"/>
          <p:nvPr/>
        </p:nvSpPr>
        <p:spPr>
          <a:xfrm>
            <a:off x="5505450" y="1768535"/>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1F2937"/>
                </a:solidFill>
                <a:latin typeface="Calibri"/>
              </a:rPr>
              <a:t>Derivadas naturales y coordenadas (nodos 4, 5, 8, 7)</a:t>
            </a:r>
          </a:p>
        </p:txBody>
      </p:sp>
      <p:pic>
        <p:nvPicPr>
          <p:cNvPr id="19" name="Picture 18" descr="6b1dffc8557b1ee8.png"/>
          <p:cNvPicPr>
            <a:picLocks noChangeAspect="1"/>
          </p:cNvPicPr>
          <p:nvPr/>
        </p:nvPicPr>
        <p:blipFill>
          <a:blip r:embed="rId4"/>
          <a:stretch>
            <a:fillRect/>
          </a:stretch>
        </p:blipFill>
        <p:spPr>
          <a:xfrm>
            <a:off x="5505450" y="1536700"/>
            <a:ext cx="6026150" cy="1333500"/>
          </a:xfrm>
          <a:prstGeom prst="rect">
            <a:avLst/>
          </a:prstGeom>
        </p:spPr>
      </p:pic>
      <p:sp>
        <p:nvSpPr>
          <p:cNvPr id="20" name="TextBox 19"/>
          <p:cNvSpPr txBox="1"/>
          <p:nvPr/>
        </p:nvSpPr>
        <p:spPr>
          <a:xfrm>
            <a:off x="5505450" y="2958461"/>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1F2937"/>
                </a:solidFill>
                <a:latin typeface="Calibri"/>
              </a:rPr>
              <a:t>Jacobiano y su determinante</a:t>
            </a:r>
          </a:p>
        </p:txBody>
      </p:sp>
      <p:pic>
        <p:nvPicPr>
          <p:cNvPr id="21" name="Picture 20" descr="82df9250b425819e.png"/>
          <p:cNvPicPr>
            <a:picLocks noChangeAspect="1"/>
          </p:cNvPicPr>
          <p:nvPr/>
        </p:nvPicPr>
        <p:blipFill>
          <a:blip r:embed="rId5"/>
          <a:stretch>
            <a:fillRect/>
          </a:stretch>
        </p:blipFill>
        <p:spPr>
          <a:xfrm>
            <a:off x="5505450" y="2724150"/>
            <a:ext cx="5880100" cy="882650"/>
          </a:xfrm>
          <a:prstGeom prst="rect">
            <a:avLst/>
          </a:prstGeom>
        </p:spPr>
      </p:pic>
      <p:sp>
        <p:nvSpPr>
          <p:cNvPr id="22" name="TextBox 21"/>
          <p:cNvSpPr txBox="1"/>
          <p:nvPr/>
        </p:nvSpPr>
        <p:spPr>
          <a:xfrm>
            <a:off x="5505450" y="1584385"/>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E8741A"/>
                </a:solidFill>
                <a:latin typeface="Calibri"/>
              </a:rPr>
              <a:t>E3, punto de Gauss 1 (−1/√3, −1/√3) · valores del motor</a:t>
            </a:r>
          </a:p>
        </p:txBody>
      </p:sp>
      <p:sp>
        <p:nvSpPr>
          <p:cNvPr id="23" name="TextBox 22"/>
          <p:cNvSpPr txBox="1"/>
          <p:nvPr/>
        </p:nvSpPr>
        <p:spPr>
          <a:xfrm>
            <a:off x="5505450" y="1768535"/>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1F2937"/>
                </a:solidFill>
                <a:latin typeface="Calibri"/>
              </a:rPr>
              <a:t>Inversa por cofactores</a:t>
            </a:r>
          </a:p>
        </p:txBody>
      </p:sp>
      <p:pic>
        <p:nvPicPr>
          <p:cNvPr id="24" name="Picture 23" descr="91541247d992e49c.png"/>
          <p:cNvPicPr>
            <a:picLocks noChangeAspect="1"/>
          </p:cNvPicPr>
          <p:nvPr/>
        </p:nvPicPr>
        <p:blipFill>
          <a:blip r:embed="rId6"/>
          <a:stretch>
            <a:fillRect/>
          </a:stretch>
        </p:blipFill>
        <p:spPr>
          <a:xfrm>
            <a:off x="5505450" y="1524000"/>
            <a:ext cx="5880100" cy="895350"/>
          </a:xfrm>
          <a:prstGeom prst="rect">
            <a:avLst/>
          </a:prstGeom>
        </p:spPr>
      </p:pic>
      <p:sp>
        <p:nvSpPr>
          <p:cNvPr id="25" name="TextBox 24"/>
          <p:cNvSpPr txBox="1"/>
          <p:nvPr/>
        </p:nvSpPr>
        <p:spPr>
          <a:xfrm>
            <a:off x="5505450" y="2501261"/>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1F2937"/>
                </a:solidFill>
                <a:latin typeface="Calibri"/>
              </a:rPr>
              <a:t>Derivadas físicas (regla de la cadena)</a:t>
            </a:r>
          </a:p>
        </p:txBody>
      </p:sp>
      <p:pic>
        <p:nvPicPr>
          <p:cNvPr id="26" name="Picture 25" descr="23ae424cef858620.png"/>
          <p:cNvPicPr>
            <a:picLocks noChangeAspect="1"/>
          </p:cNvPicPr>
          <p:nvPr/>
        </p:nvPicPr>
        <p:blipFill>
          <a:blip r:embed="rId7"/>
          <a:stretch>
            <a:fillRect/>
          </a:stretch>
        </p:blipFill>
        <p:spPr>
          <a:xfrm>
            <a:off x="5505450" y="2254250"/>
            <a:ext cx="5880100" cy="908050"/>
          </a:xfrm>
          <a:prstGeom prst="rect">
            <a:avLst/>
          </a:prstGeom>
        </p:spPr>
      </p:pic>
      <p:sp>
        <p:nvSpPr>
          <p:cNvPr id="27" name="TextBox 26"/>
          <p:cNvSpPr txBox="1"/>
          <p:nvPr/>
        </p:nvSpPr>
        <p:spPr>
          <a:xfrm>
            <a:off x="5505450" y="3233988"/>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1F2937"/>
                </a:solidFill>
                <a:latin typeface="Calibri"/>
              </a:rPr>
              <a:t>Matriz B (3 × 8) en el punto de Gauss 1</a:t>
            </a:r>
          </a:p>
        </p:txBody>
      </p:sp>
      <p:pic>
        <p:nvPicPr>
          <p:cNvPr id="28" name="Picture 27" descr="b78aac9672cb893a.png"/>
          <p:cNvPicPr>
            <a:picLocks noChangeAspect="1"/>
          </p:cNvPicPr>
          <p:nvPr/>
        </p:nvPicPr>
        <p:blipFill>
          <a:blip r:embed="rId8"/>
          <a:stretch>
            <a:fillRect/>
          </a:stretch>
        </p:blipFill>
        <p:spPr>
          <a:xfrm>
            <a:off x="5505450" y="3098800"/>
            <a:ext cx="5880100" cy="844550"/>
          </a:xfrm>
          <a:prstGeom prst="rect">
            <a:avLst/>
          </a:prstGeom>
        </p:spPr>
      </p:pic>
      <p:sp>
        <p:nvSpPr>
          <p:cNvPr id="29" name="TextBox 28"/>
          <p:cNvSpPr txBox="1"/>
          <p:nvPr/>
        </p:nvSpPr>
        <p:spPr>
          <a:xfrm>
            <a:off x="5505450" y="1768535"/>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1F2937"/>
                </a:solidFill>
                <a:latin typeface="Calibri"/>
              </a:rPr>
              <a:t>Derivadas naturales y coordenadas (nodos 4, 5, 8, 7)</a:t>
            </a:r>
          </a:p>
        </p:txBody>
      </p:sp>
      <p:pic>
        <p:nvPicPr>
          <p:cNvPr id="30" name="Picture 29" descr="b8858adc0454da4c.png"/>
          <p:cNvPicPr>
            <a:picLocks noChangeAspect="1"/>
          </p:cNvPicPr>
          <p:nvPr/>
        </p:nvPicPr>
        <p:blipFill>
          <a:blip r:embed="rId9"/>
          <a:stretch>
            <a:fillRect/>
          </a:stretch>
        </p:blipFill>
        <p:spPr>
          <a:xfrm>
            <a:off x="5505450" y="1536700"/>
            <a:ext cx="6026150" cy="1333500"/>
          </a:xfrm>
          <a:prstGeom prst="rect">
            <a:avLst/>
          </a:prstGeom>
        </p:spPr>
      </p:pic>
      <p:sp>
        <p:nvSpPr>
          <p:cNvPr id="31" name="TextBox 30"/>
          <p:cNvSpPr txBox="1"/>
          <p:nvPr/>
        </p:nvSpPr>
        <p:spPr>
          <a:xfrm>
            <a:off x="5505450" y="2958461"/>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1F2937"/>
                </a:solidFill>
                <a:latin typeface="Calibri"/>
              </a:rPr>
              <a:t>Jacobiano y su determinante</a:t>
            </a:r>
          </a:p>
        </p:txBody>
      </p:sp>
      <p:pic>
        <p:nvPicPr>
          <p:cNvPr id="32" name="Picture 31" descr="591c0d9a93a52754.png"/>
          <p:cNvPicPr>
            <a:picLocks noChangeAspect="1"/>
          </p:cNvPicPr>
          <p:nvPr/>
        </p:nvPicPr>
        <p:blipFill>
          <a:blip r:embed="rId10"/>
          <a:stretch>
            <a:fillRect/>
          </a:stretch>
        </p:blipFill>
        <p:spPr>
          <a:xfrm>
            <a:off x="5505450" y="2724150"/>
            <a:ext cx="5880100" cy="882650"/>
          </a:xfrm>
          <a:prstGeom prst="rect">
            <a:avLst/>
          </a:prstGeom>
        </p:spPr>
      </p:pic>
      <p:sp>
        <p:nvSpPr>
          <p:cNvPr id="33" name="TextBox 32"/>
          <p:cNvSpPr txBox="1"/>
          <p:nvPr/>
        </p:nvSpPr>
        <p:spPr>
          <a:xfrm>
            <a:off x="5505450" y="1622485"/>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1F2937"/>
                </a:solidFill>
                <a:latin typeface="Calibri"/>
              </a:rPr>
              <a:t>Jacobiano (convención de Bathe, la del motor)</a:t>
            </a:r>
          </a:p>
        </p:txBody>
      </p:sp>
      <p:pic>
        <p:nvPicPr>
          <p:cNvPr id="34" name="Picture 33" descr="ac66edd3a74903c7.png"/>
          <p:cNvPicPr>
            <a:picLocks noChangeAspect="1"/>
          </p:cNvPicPr>
          <p:nvPr/>
        </p:nvPicPr>
        <p:blipFill>
          <a:blip r:embed="rId11"/>
          <a:stretch>
            <a:fillRect/>
          </a:stretch>
        </p:blipFill>
        <p:spPr>
          <a:xfrm>
            <a:off x="5505450" y="1377950"/>
            <a:ext cx="5880100" cy="908050"/>
          </a:xfrm>
          <a:prstGeom prst="rect">
            <a:avLst/>
          </a:prstGeom>
        </p:spPr>
      </p:pic>
      <p:sp>
        <p:nvSpPr>
          <p:cNvPr id="35" name="TextBox 34"/>
          <p:cNvSpPr txBox="1"/>
          <p:nvPr/>
        </p:nvSpPr>
        <p:spPr>
          <a:xfrm>
            <a:off x="5505450" y="2355211"/>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1F2937"/>
                </a:solidFill>
                <a:latin typeface="Calibri"/>
              </a:rPr>
              <a:t>Factor local de cambio de área</a:t>
            </a:r>
          </a:p>
        </p:txBody>
      </p:sp>
      <p:pic>
        <p:nvPicPr>
          <p:cNvPr id="36" name="Picture 35" descr="0b17a664ab4f07b9.png"/>
          <p:cNvPicPr>
            <a:picLocks noChangeAspect="1"/>
          </p:cNvPicPr>
          <p:nvPr/>
        </p:nvPicPr>
        <p:blipFill>
          <a:blip r:embed="rId12"/>
          <a:stretch>
            <a:fillRect/>
          </a:stretch>
        </p:blipFill>
        <p:spPr>
          <a:xfrm>
            <a:off x="5505450" y="2228850"/>
            <a:ext cx="5880100" cy="558800"/>
          </a:xfrm>
          <a:prstGeom prst="rect">
            <a:avLst/>
          </a:prstGeom>
        </p:spPr>
      </p:pic>
      <p:sp>
        <p:nvSpPr>
          <p:cNvPr id="37" name="TextBox 36"/>
          <p:cNvSpPr txBox="1"/>
          <p:nvPr/>
        </p:nvSpPr>
        <p:spPr>
          <a:xfrm>
            <a:off x="5505450" y="2878388"/>
            <a:ext cx="5997702"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1F2937"/>
                </a:solidFill>
                <a:latin typeface="Calibri"/>
              </a:rPr>
              <a:t>Regla de la cadena y matriz B</a:t>
            </a:r>
          </a:p>
        </p:txBody>
      </p:sp>
      <p:pic>
        <p:nvPicPr>
          <p:cNvPr id="38" name="Picture 37" descr="5d4effb83795928c.png"/>
          <p:cNvPicPr>
            <a:picLocks noChangeAspect="1"/>
          </p:cNvPicPr>
          <p:nvPr/>
        </p:nvPicPr>
        <p:blipFill>
          <a:blip r:embed="rId13"/>
          <a:stretch>
            <a:fillRect/>
          </a:stretch>
        </p:blipFill>
        <p:spPr>
          <a:xfrm>
            <a:off x="5505450" y="2647950"/>
            <a:ext cx="5880100" cy="889000"/>
          </a:xfrm>
          <a:prstGeom prst="rect">
            <a:avLst/>
          </a:prstGeom>
        </p:spPr>
      </p:pic>
      <p:sp>
        <p:nvSpPr>
          <p:cNvPr id="39" name="Rectangle 38"/>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5150" y="6535420"/>
            <a:ext cx="463219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2" name="TextBox 41"/>
          <p:cNvSpPr txBox="1"/>
          <p:nvPr/>
        </p:nvSpPr>
        <p:spPr>
          <a:xfrm>
            <a:off x="5081080" y="6535420"/>
            <a:ext cx="2029841"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1.6–1.7 · Etapas 2 y 3 · M2, M3</a:t>
            </a:r>
          </a:p>
        </p:txBody>
      </p:sp>
      <p:sp>
        <p:nvSpPr>
          <p:cNvPr id="43" name="TextBox 42"/>
          <p:cNvSpPr txBox="1"/>
          <p:nvPr/>
        </p:nvSpPr>
        <p:spPr>
          <a:xfrm>
            <a:off x="6994652" y="6535420"/>
            <a:ext cx="463219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18</a:t>
            </a:r>
          </a:p>
        </p:txBody>
      </p:sp>
      <p:sp>
        <p:nvSpPr>
          <p:cNvPr id="44" name="Enlace a sep-intro">
            <a:hlinkClick action="ppaction://hlinksldjump" r:id="rId14"/>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nlace a sep-teoria">
            <a:hlinkClick action="ppaction://hlinksldjump" r:id="rId15"/>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nlace a sep-diseno">
            <a:hlinkClick action="ppaction://hlinksldjump" r:id="rId16"/>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nlace a sep-resultados">
            <a:hlinkClick action="ppaction://hlinksldjump" r:id="rId17"/>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nlace a sep-analisis">
            <a:hlinkClick action="ppaction://hlinksldjump" r:id="rId18"/>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nlace a sep-conclusiones">
            <a:hlinkClick action="ppaction://hlinksldjump" r:id="rId19"/>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8" fill="hold">
                      <p:stCondLst>
                        <p:cond delay="indefinite"/>
                      </p:stCondLst>
                      <p:childTnLst>
                        <p:par>
                          <p:cTn id="109" fill="hold">
                            <p:stCondLst>
                              <p:cond delay="0"/>
                            </p:stCondLst>
                            <p:childTnLst>
                              <p:par>
                                <p:cTn id="3" presetID="10" presetClass="exit" presetSubtype="0" fill="hold" grpId="0" nodeType="clickEffect">
                                  <p:stCondLst>
                                    <p:cond delay="0"/>
                                  </p:stCondLst>
                                  <p:childTnLst>
                                    <p:animEffect transition="out" filter="fade">
                                      <p:cBhvr>
                                        <p:cTn id="4" dur="200"/>
                                        <p:tgtEl>
                                          <p:spTgt spid="33"/>
                                        </p:tgtEl>
                                      </p:cBhvr>
                                    </p:animEffect>
                                    <p:set>
                                      <p:cBhvr>
                                        <p:cTn id="5" dur="1" fill="hold">
                                          <p:stCondLst>
                                            <p:cond delay="199"/>
                                          </p:stCondLst>
                                        </p:cTn>
                                        <p:tgtEl>
                                          <p:spTgt spid="33"/>
                                        </p:tgtEl>
                                        <p:attrNameLst>
                                          <p:attrName>style.visibility</p:attrName>
                                        </p:attrNameLst>
                                      </p:cBhvr>
                                      <p:to>
                                        <p:strVal val="hidden"/>
                                      </p:to>
                                    </p:set>
                                  </p:childTnLst>
                                </p:cTn>
                              </p:par>
                              <p:par>
                                <p:cTn id="6" presetID="10" presetClass="exit" presetSubtype="0" fill="hold" grpId="0" nodeType="withEffect">
                                  <p:stCondLst>
                                    <p:cond delay="0"/>
                                  </p:stCondLst>
                                  <p:childTnLst>
                                    <p:animEffect transition="out" filter="fade">
                                      <p:cBhvr>
                                        <p:cTn id="7" dur="200"/>
                                        <p:tgtEl>
                                          <p:spTgt spid="34"/>
                                        </p:tgtEl>
                                      </p:cBhvr>
                                    </p:animEffect>
                                    <p:set>
                                      <p:cBhvr>
                                        <p:cTn id="8" dur="1" fill="hold">
                                          <p:stCondLst>
                                            <p:cond delay="199"/>
                                          </p:stCondLst>
                                        </p:cTn>
                                        <p:tgtEl>
                                          <p:spTgt spid="34"/>
                                        </p:tgtEl>
                                        <p:attrNameLst>
                                          <p:attrName>style.visibility</p:attrName>
                                        </p:attrNameLst>
                                      </p:cBhvr>
                                      <p:to>
                                        <p:strVal val="hidden"/>
                                      </p:to>
                                    </p:set>
                                  </p:childTnLst>
                                </p:cTn>
                              </p:par>
                              <p:par>
                                <p:cTn id="9" presetID="10" presetClass="exit" presetSubtype="0" fill="hold" grpId="0" nodeType="withEffect">
                                  <p:stCondLst>
                                    <p:cond delay="0"/>
                                  </p:stCondLst>
                                  <p:childTnLst>
                                    <p:animEffect transition="out" filter="fade">
                                      <p:cBhvr>
                                        <p:cTn id="10" dur="200"/>
                                        <p:tgtEl>
                                          <p:spTgt spid="35"/>
                                        </p:tgtEl>
                                      </p:cBhvr>
                                    </p:animEffect>
                                    <p:set>
                                      <p:cBhvr>
                                        <p:cTn id="11" dur="1" fill="hold">
                                          <p:stCondLst>
                                            <p:cond delay="199"/>
                                          </p:stCondLst>
                                        </p:cTn>
                                        <p:tgtEl>
                                          <p:spTgt spid="35"/>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200"/>
                                        <p:tgtEl>
                                          <p:spTgt spid="36"/>
                                        </p:tgtEl>
                                      </p:cBhvr>
                                    </p:animEffect>
                                    <p:set>
                                      <p:cBhvr>
                                        <p:cTn id="14" dur="1" fill="hold">
                                          <p:stCondLst>
                                            <p:cond delay="199"/>
                                          </p:stCondLst>
                                        </p:cTn>
                                        <p:tgtEl>
                                          <p:spTgt spid="36"/>
                                        </p:tgtEl>
                                        <p:attrNameLst>
                                          <p:attrName>style.visibility</p:attrName>
                                        </p:attrNameLst>
                                      </p:cBhvr>
                                      <p:to>
                                        <p:strVal val="hidden"/>
                                      </p:to>
                                    </p:set>
                                  </p:childTnLst>
                                </p:cTn>
                              </p:par>
                              <p:par>
                                <p:cTn id="15" presetID="10" presetClass="exit" presetSubtype="0" fill="hold" grpId="0" nodeType="withEffect">
                                  <p:stCondLst>
                                    <p:cond delay="0"/>
                                  </p:stCondLst>
                                  <p:childTnLst>
                                    <p:animEffect transition="out" filter="fade">
                                      <p:cBhvr>
                                        <p:cTn id="16" dur="200"/>
                                        <p:tgtEl>
                                          <p:spTgt spid="37"/>
                                        </p:tgtEl>
                                      </p:cBhvr>
                                    </p:animEffect>
                                    <p:set>
                                      <p:cBhvr>
                                        <p:cTn id="17" dur="1" fill="hold">
                                          <p:stCondLst>
                                            <p:cond delay="199"/>
                                          </p:stCondLst>
                                        </p:cTn>
                                        <p:tgtEl>
                                          <p:spTgt spid="37"/>
                                        </p:tgtEl>
                                        <p:attrNameLst>
                                          <p:attrName>style.visibility</p:attrName>
                                        </p:attrNameLst>
                                      </p:cBhvr>
                                      <p:to>
                                        <p:strVal val="hidden"/>
                                      </p:to>
                                    </p:set>
                                  </p:childTnLst>
                                </p:cTn>
                              </p:par>
                              <p:par>
                                <p:cTn id="18" presetID="10" presetClass="exit" presetSubtype="0" fill="hold" grpId="0" nodeType="withEffect">
                                  <p:stCondLst>
                                    <p:cond delay="0"/>
                                  </p:stCondLst>
                                  <p:childTnLst>
                                    <p:animEffect transition="out" filter="fade">
                                      <p:cBhvr>
                                        <p:cTn id="19" dur="200"/>
                                        <p:tgtEl>
                                          <p:spTgt spid="38"/>
                                        </p:tgtEl>
                                      </p:cBhvr>
                                    </p:animEffect>
                                    <p:set>
                                      <p:cBhvr>
                                        <p:cTn id="20" dur="1" fill="hold">
                                          <p:stCondLst>
                                            <p:cond delay="199"/>
                                          </p:stCondLst>
                                        </p:cTn>
                                        <p:tgtEl>
                                          <p:spTgt spid="38"/>
                                        </p:tgtEl>
                                        <p:attrNameLst>
                                          <p:attrName>style.visibility</p:attrName>
                                        </p:attrNameLst>
                                      </p:cBhvr>
                                      <p:to>
                                        <p:strVal val="hidden"/>
                                      </p:to>
                                    </p:set>
                                  </p:childTnLst>
                                </p:cTn>
                              </p:par>
                              <p:par>
                                <p:cTn id="21" presetID="10" presetClass="entr" presetSubtype="0" fill="hold" grpId="0" nodeType="withEffect">
                                  <p:stCondLst>
                                    <p:cond delay="20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20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400"/>
                                        <p:tgtEl>
                                          <p:spTgt spid="29"/>
                                        </p:tgtEl>
                                      </p:cBhvr>
                                    </p:animEffect>
                                  </p:childTnLst>
                                </p:cTn>
                              </p:par>
                              <p:par>
                                <p:cTn id="27" presetID="10" presetClass="entr" presetSubtype="0" fill="hold" grpId="0" nodeType="withEffect">
                                  <p:stCondLst>
                                    <p:cond delay="20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400"/>
                                        <p:tgtEl>
                                          <p:spTgt spid="30"/>
                                        </p:tgtEl>
                                      </p:cBhvr>
                                    </p:animEffect>
                                  </p:childTnLst>
                                </p:cTn>
                              </p:par>
                              <p:par>
                                <p:cTn id="30" presetID="10" presetClass="entr" presetSubtype="0" fill="hold" grpId="0" nodeType="withEffect">
                                  <p:stCondLst>
                                    <p:cond delay="20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par>
                                <p:cTn id="33" presetID="10" presetClass="entr" presetSubtype="0" fill="hold" grpId="0" nodeType="withEffect">
                                  <p:stCondLst>
                                    <p:cond delay="20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400"/>
                                        <p:tgtEl>
                                          <p:spTgt spid="32"/>
                                        </p:tgtEl>
                                      </p:cBhvr>
                                    </p:animEffect>
                                  </p:childTnLst>
                                </p:cTn>
                              </p:par>
                            </p:childTnLst>
                          </p:cTn>
                        </p:par>
                      </p:childTnLst>
                    </p:cTn>
                  </p:par>
                  <p:par>
                    <p:cTn id="110" fill="hold">
                      <p:stCondLst>
                        <p:cond delay="indefinite"/>
                      </p:stCondLst>
                      <p:childTnLst>
                        <p:par>
                          <p:cTn id="111" fill="hold">
                            <p:stCondLst>
                              <p:cond delay="0"/>
                            </p:stCondLst>
                            <p:childTnLst>
                              <p:par>
                                <p:cTn id="36" presetID="10" presetClass="exit" presetSubtype="0" fill="hold" grpId="1" nodeType="clickEffect">
                                  <p:stCondLst>
                                    <p:cond delay="0"/>
                                  </p:stCondLst>
                                  <p:childTnLst>
                                    <p:animEffect transition="out" filter="fade">
                                      <p:cBhvr>
                                        <p:cTn id="37" dur="200"/>
                                        <p:tgtEl>
                                          <p:spTgt spid="29"/>
                                        </p:tgtEl>
                                      </p:cBhvr>
                                    </p:animEffect>
                                    <p:set>
                                      <p:cBhvr>
                                        <p:cTn id="38" dur="1" fill="hold">
                                          <p:stCondLst>
                                            <p:cond delay="199"/>
                                          </p:stCondLst>
                                        </p:cTn>
                                        <p:tgtEl>
                                          <p:spTgt spid="29"/>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200"/>
                                        <p:tgtEl>
                                          <p:spTgt spid="30"/>
                                        </p:tgtEl>
                                      </p:cBhvr>
                                    </p:animEffect>
                                    <p:set>
                                      <p:cBhvr>
                                        <p:cTn id="41" dur="1" fill="hold">
                                          <p:stCondLst>
                                            <p:cond delay="199"/>
                                          </p:stCondLst>
                                        </p:cTn>
                                        <p:tgtEl>
                                          <p:spTgt spid="30"/>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200"/>
                                        <p:tgtEl>
                                          <p:spTgt spid="31"/>
                                        </p:tgtEl>
                                      </p:cBhvr>
                                    </p:animEffect>
                                    <p:set>
                                      <p:cBhvr>
                                        <p:cTn id="44" dur="1" fill="hold">
                                          <p:stCondLst>
                                            <p:cond delay="199"/>
                                          </p:stCondLst>
                                        </p:cTn>
                                        <p:tgtEl>
                                          <p:spTgt spid="31"/>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200"/>
                                        <p:tgtEl>
                                          <p:spTgt spid="32"/>
                                        </p:tgtEl>
                                      </p:cBhvr>
                                    </p:animEffect>
                                    <p:set>
                                      <p:cBhvr>
                                        <p:cTn id="47" dur="1" fill="hold">
                                          <p:stCondLst>
                                            <p:cond delay="199"/>
                                          </p:stCondLst>
                                        </p:cTn>
                                        <p:tgtEl>
                                          <p:spTgt spid="32"/>
                                        </p:tgtEl>
                                        <p:attrNameLst>
                                          <p:attrName>style.visibility</p:attrName>
                                        </p:attrNameLst>
                                      </p:cBhvr>
                                      <p:to>
                                        <p:strVal val="hidden"/>
                                      </p:to>
                                    </p:set>
                                  </p:childTnLst>
                                </p:cTn>
                              </p:par>
                              <p:par>
                                <p:cTn id="48" presetID="10" presetClass="entr" presetSubtype="0" fill="hold" grpId="0" nodeType="withEffect">
                                  <p:stCondLst>
                                    <p:cond delay="20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400"/>
                                        <p:tgtEl>
                                          <p:spTgt spid="23"/>
                                        </p:tgtEl>
                                      </p:cBhvr>
                                    </p:animEffect>
                                  </p:childTnLst>
                                </p:cTn>
                              </p:par>
                              <p:par>
                                <p:cTn id="51" presetID="10" presetClass="entr" presetSubtype="0" fill="hold" grpId="0" nodeType="withEffect">
                                  <p:stCondLst>
                                    <p:cond delay="20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400"/>
                                        <p:tgtEl>
                                          <p:spTgt spid="24"/>
                                        </p:tgtEl>
                                      </p:cBhvr>
                                    </p:animEffect>
                                  </p:childTnLst>
                                </p:cTn>
                              </p:par>
                              <p:par>
                                <p:cTn id="54" presetID="10" presetClass="entr" presetSubtype="0" fill="hold" grpId="0" nodeType="withEffect">
                                  <p:stCondLst>
                                    <p:cond delay="20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par>
                                <p:cTn id="57" presetID="10" presetClass="entr" presetSubtype="0" fill="hold" grpId="0" nodeType="withEffect">
                                  <p:stCondLst>
                                    <p:cond delay="20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grpId="0" nodeType="withEffect">
                                  <p:stCondLst>
                                    <p:cond delay="20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par>
                                <p:cTn id="63" presetID="10" presetClass="entr" presetSubtype="0" fill="hold" grpId="0" nodeType="withEffect">
                                  <p:stCondLst>
                                    <p:cond delay="20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childTnLst>
                          </p:cTn>
                        </p:par>
                      </p:childTnLst>
                    </p:cTn>
                  </p:par>
                  <p:par>
                    <p:cTn id="112" fill="hold">
                      <p:stCondLst>
                        <p:cond delay="indefinite"/>
                      </p:stCondLst>
                      <p:childTnLst>
                        <p:par>
                          <p:cTn id="113" fill="hold">
                            <p:stCondLst>
                              <p:cond delay="0"/>
                            </p:stCondLst>
                            <p:childTnLst>
                              <p:par>
                                <p:cTn id="66" presetID="10" presetClass="exit" presetSubtype="0" fill="hold" grpId="0" nodeType="clickEffect">
                                  <p:stCondLst>
                                    <p:cond delay="0"/>
                                  </p:stCondLst>
                                  <p:childTnLst>
                                    <p:animEffect transition="out" filter="fade">
                                      <p:cBhvr>
                                        <p:cTn id="67" dur="200"/>
                                        <p:tgtEl>
                                          <p:spTgt spid="15"/>
                                        </p:tgtEl>
                                      </p:cBhvr>
                                    </p:animEffect>
                                    <p:set>
                                      <p:cBhvr>
                                        <p:cTn id="68" dur="1" fill="hold">
                                          <p:stCondLst>
                                            <p:cond delay="199"/>
                                          </p:stCondLst>
                                        </p:cTn>
                                        <p:tgtEl>
                                          <p:spTgt spid="15"/>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200"/>
                                        <p:tgtEl>
                                          <p:spTgt spid="22"/>
                                        </p:tgtEl>
                                      </p:cBhvr>
                                    </p:animEffect>
                                    <p:set>
                                      <p:cBhvr>
                                        <p:cTn id="71" dur="1" fill="hold">
                                          <p:stCondLst>
                                            <p:cond delay="199"/>
                                          </p:stCondLst>
                                        </p:cTn>
                                        <p:tgtEl>
                                          <p:spTgt spid="22"/>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200"/>
                                        <p:tgtEl>
                                          <p:spTgt spid="23"/>
                                        </p:tgtEl>
                                      </p:cBhvr>
                                    </p:animEffect>
                                    <p:set>
                                      <p:cBhvr>
                                        <p:cTn id="74" dur="1" fill="hold">
                                          <p:stCondLst>
                                            <p:cond delay="199"/>
                                          </p:stCondLst>
                                        </p:cTn>
                                        <p:tgtEl>
                                          <p:spTgt spid="23"/>
                                        </p:tgtEl>
                                        <p:attrNameLst>
                                          <p:attrName>style.visibility</p:attrName>
                                        </p:attrNameLst>
                                      </p:cBhvr>
                                      <p:to>
                                        <p:strVal val="hidden"/>
                                      </p:to>
                                    </p:set>
                                  </p:childTnLst>
                                </p:cTn>
                              </p:par>
                              <p:par>
                                <p:cTn id="75" presetID="10" presetClass="exit" presetSubtype="0" fill="hold" grpId="1" nodeType="withEffect">
                                  <p:stCondLst>
                                    <p:cond delay="0"/>
                                  </p:stCondLst>
                                  <p:childTnLst>
                                    <p:animEffect transition="out" filter="fade">
                                      <p:cBhvr>
                                        <p:cTn id="76" dur="200"/>
                                        <p:tgtEl>
                                          <p:spTgt spid="24"/>
                                        </p:tgtEl>
                                      </p:cBhvr>
                                    </p:animEffect>
                                    <p:set>
                                      <p:cBhvr>
                                        <p:cTn id="77" dur="1" fill="hold">
                                          <p:stCondLst>
                                            <p:cond delay="199"/>
                                          </p:stCondLst>
                                        </p:cTn>
                                        <p:tgtEl>
                                          <p:spTgt spid="24"/>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200"/>
                                        <p:tgtEl>
                                          <p:spTgt spid="25"/>
                                        </p:tgtEl>
                                      </p:cBhvr>
                                    </p:animEffect>
                                    <p:set>
                                      <p:cBhvr>
                                        <p:cTn id="80" dur="1" fill="hold">
                                          <p:stCondLst>
                                            <p:cond delay="199"/>
                                          </p:stCondLst>
                                        </p:cTn>
                                        <p:tgtEl>
                                          <p:spTgt spid="25"/>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200"/>
                                        <p:tgtEl>
                                          <p:spTgt spid="26"/>
                                        </p:tgtEl>
                                      </p:cBhvr>
                                    </p:animEffect>
                                    <p:set>
                                      <p:cBhvr>
                                        <p:cTn id="83" dur="1" fill="hold">
                                          <p:stCondLst>
                                            <p:cond delay="199"/>
                                          </p:stCondLst>
                                        </p:cTn>
                                        <p:tgtEl>
                                          <p:spTgt spid="26"/>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200"/>
                                        <p:tgtEl>
                                          <p:spTgt spid="27"/>
                                        </p:tgtEl>
                                      </p:cBhvr>
                                    </p:animEffect>
                                    <p:set>
                                      <p:cBhvr>
                                        <p:cTn id="86" dur="1" fill="hold">
                                          <p:stCondLst>
                                            <p:cond delay="199"/>
                                          </p:stCondLst>
                                        </p:cTn>
                                        <p:tgtEl>
                                          <p:spTgt spid="27"/>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200"/>
                                        <p:tgtEl>
                                          <p:spTgt spid="28"/>
                                        </p:tgtEl>
                                      </p:cBhvr>
                                    </p:animEffect>
                                    <p:set>
                                      <p:cBhvr>
                                        <p:cTn id="89" dur="1" fill="hold">
                                          <p:stCondLst>
                                            <p:cond delay="199"/>
                                          </p:stCondLst>
                                        </p:cTn>
                                        <p:tgtEl>
                                          <p:spTgt spid="28"/>
                                        </p:tgtEl>
                                        <p:attrNameLst>
                                          <p:attrName>style.visibility</p:attrName>
                                        </p:attrNameLst>
                                      </p:cBhvr>
                                      <p:to>
                                        <p:strVal val="hidden"/>
                                      </p:to>
                                    </p:set>
                                  </p:childTnLst>
                                </p:cTn>
                              </p:par>
                              <p:par>
                                <p:cTn id="90" presetID="10" presetClass="entr" presetSubtype="0" fill="hold" grpId="0" nodeType="withEffect">
                                  <p:stCondLst>
                                    <p:cond delay="200"/>
                                  </p:stCondLst>
                                  <p:childTnLst>
                                    <p:set>
                                      <p:cBhvr>
                                        <p:cTn id="91" dur="1" fill="hold">
                                          <p:stCondLst>
                                            <p:cond delay="0"/>
                                          </p:stCondLst>
                                        </p:cTn>
                                        <p:tgtEl>
                                          <p:spTgt spid="14"/>
                                        </p:tgtEl>
                                        <p:attrNameLst>
                                          <p:attrName>style.visibility</p:attrName>
                                        </p:attrNameLst>
                                      </p:cBhvr>
                                      <p:to>
                                        <p:strVal val="visible"/>
                                      </p:to>
                                    </p:set>
                                    <p:animEffect transition="in" filter="fade">
                                      <p:cBhvr>
                                        <p:cTn id="92" dur="400"/>
                                        <p:tgtEl>
                                          <p:spTgt spid="14"/>
                                        </p:tgtEl>
                                      </p:cBhvr>
                                    </p:animEffect>
                                  </p:childTnLst>
                                </p:cTn>
                              </p:par>
                              <p:par>
                                <p:cTn id="93" presetID="10" presetClass="entr" presetSubtype="0" fill="hold" grpId="0" nodeType="withEffect">
                                  <p:stCondLst>
                                    <p:cond delay="200"/>
                                  </p:stCondLst>
                                  <p:childTnLst>
                                    <p:set>
                                      <p:cBhvr>
                                        <p:cTn id="94" dur="1" fill="hold">
                                          <p:stCondLst>
                                            <p:cond delay="0"/>
                                          </p:stCondLst>
                                        </p:cTn>
                                        <p:tgtEl>
                                          <p:spTgt spid="17"/>
                                        </p:tgtEl>
                                        <p:attrNameLst>
                                          <p:attrName>style.visibility</p:attrName>
                                        </p:attrNameLst>
                                      </p:cBhvr>
                                      <p:to>
                                        <p:strVal val="visible"/>
                                      </p:to>
                                    </p:set>
                                    <p:animEffect transition="in" filter="fade">
                                      <p:cBhvr>
                                        <p:cTn id="95" dur="400"/>
                                        <p:tgtEl>
                                          <p:spTgt spid="17"/>
                                        </p:tgtEl>
                                      </p:cBhvr>
                                    </p:animEffect>
                                  </p:childTnLst>
                                </p:cTn>
                              </p:par>
                              <p:par>
                                <p:cTn id="96" presetID="10" presetClass="entr" presetSubtype="0" fill="hold" grpId="0" nodeType="withEffect">
                                  <p:stCondLst>
                                    <p:cond delay="200"/>
                                  </p:stCondLst>
                                  <p:childTnLst>
                                    <p:set>
                                      <p:cBhvr>
                                        <p:cTn id="97" dur="1" fill="hold">
                                          <p:stCondLst>
                                            <p:cond delay="0"/>
                                          </p:stCondLst>
                                        </p:cTn>
                                        <p:tgtEl>
                                          <p:spTgt spid="18"/>
                                        </p:tgtEl>
                                        <p:attrNameLst>
                                          <p:attrName>style.visibility</p:attrName>
                                        </p:attrNameLst>
                                      </p:cBhvr>
                                      <p:to>
                                        <p:strVal val="visible"/>
                                      </p:to>
                                    </p:set>
                                    <p:animEffect transition="in" filter="fade">
                                      <p:cBhvr>
                                        <p:cTn id="98" dur="400"/>
                                        <p:tgtEl>
                                          <p:spTgt spid="18"/>
                                        </p:tgtEl>
                                      </p:cBhvr>
                                    </p:animEffect>
                                  </p:childTnLst>
                                </p:cTn>
                              </p:par>
                              <p:par>
                                <p:cTn id="99" presetID="10" presetClass="entr" presetSubtype="0" fill="hold" grpId="0" nodeType="withEffect">
                                  <p:stCondLst>
                                    <p:cond delay="200"/>
                                  </p:stCondLst>
                                  <p:childTnLst>
                                    <p:set>
                                      <p:cBhvr>
                                        <p:cTn id="100" dur="1" fill="hold">
                                          <p:stCondLst>
                                            <p:cond delay="0"/>
                                          </p:stCondLst>
                                        </p:cTn>
                                        <p:tgtEl>
                                          <p:spTgt spid="19"/>
                                        </p:tgtEl>
                                        <p:attrNameLst>
                                          <p:attrName>style.visibility</p:attrName>
                                        </p:attrNameLst>
                                      </p:cBhvr>
                                      <p:to>
                                        <p:strVal val="visible"/>
                                      </p:to>
                                    </p:set>
                                    <p:animEffect transition="in" filter="fade">
                                      <p:cBhvr>
                                        <p:cTn id="101" dur="400"/>
                                        <p:tgtEl>
                                          <p:spTgt spid="19"/>
                                        </p:tgtEl>
                                      </p:cBhvr>
                                    </p:animEffect>
                                  </p:childTnLst>
                                </p:cTn>
                              </p:par>
                              <p:par>
                                <p:cTn id="102" presetID="10" presetClass="entr" presetSubtype="0" fill="hold" grpId="0" nodeType="withEffect">
                                  <p:stCondLst>
                                    <p:cond delay="200"/>
                                  </p:stCondLst>
                                  <p:childTnLst>
                                    <p:set>
                                      <p:cBhvr>
                                        <p:cTn id="103" dur="1" fill="hold">
                                          <p:stCondLst>
                                            <p:cond delay="0"/>
                                          </p:stCondLst>
                                        </p:cTn>
                                        <p:tgtEl>
                                          <p:spTgt spid="20"/>
                                        </p:tgtEl>
                                        <p:attrNameLst>
                                          <p:attrName>style.visibility</p:attrName>
                                        </p:attrNameLst>
                                      </p:cBhvr>
                                      <p:to>
                                        <p:strVal val="visible"/>
                                      </p:to>
                                    </p:set>
                                    <p:animEffect transition="in" filter="fade">
                                      <p:cBhvr>
                                        <p:cTn id="104" dur="400"/>
                                        <p:tgtEl>
                                          <p:spTgt spid="20"/>
                                        </p:tgtEl>
                                      </p:cBhvr>
                                    </p:animEffect>
                                  </p:childTnLst>
                                </p:cTn>
                              </p:par>
                              <p:par>
                                <p:cTn id="105" presetID="10" presetClass="entr" presetSubtype="0" fill="hold" grpId="0" nodeType="withEffect">
                                  <p:stCondLst>
                                    <p:cond delay="200"/>
                                  </p:stCondLst>
                                  <p:childTnLst>
                                    <p:set>
                                      <p:cBhvr>
                                        <p:cTn id="106" dur="1" fill="hold">
                                          <p:stCondLst>
                                            <p:cond delay="0"/>
                                          </p:stCondLst>
                                        </p:cTn>
                                        <p:tgtEl>
                                          <p:spTgt spid="21"/>
                                        </p:tgtEl>
                                        <p:attrNameLst>
                                          <p:attrName>style.visibility</p:attrName>
                                        </p:attrNameLst>
                                      </p:cBhvr>
                                      <p:to>
                                        <p:strVal val="visible"/>
                                      </p:to>
                                    </p:set>
                                    <p:animEffect transition="in" filter="fade">
                                      <p:cBhvr>
                                        <p:cTn id="10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0" grpId="0" animBg="1"/>
      <p:bldP spid="22" grpId="0" animBg="1"/>
      <p:bldP spid="22" grpId="1" animBg="1"/>
      <p:bldP spid="23" grpId="0" animBg="1"/>
      <p:bldP spid="23" grpId="1" animBg="1"/>
      <p:bldP spid="25" grpId="0" animBg="1"/>
      <p:bldP spid="25" grpId="1" animBg="1"/>
      <p:bldP spid="27" grpId="0" animBg="1"/>
      <p:bldP spid="27" grpId="1" animBg="1"/>
      <p:bldP spid="29" grpId="0" animBg="1"/>
      <p:bldP spid="29" grpId="1" animBg="1"/>
      <p:bldP spid="31" grpId="0" animBg="1"/>
      <p:bldP spid="31" grpId="1" animBg="1"/>
      <p:bldP spid="33" grpId="0" animBg="1"/>
      <p:bldP spid="35" grpId="0" animBg="1"/>
      <p:bldP spid="37"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Rigidez elemental por cuadratura de Gauss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31ea47a22036bd99.png"/>
          <p:cNvPicPr>
            <a:picLocks noChangeAspect="1"/>
          </p:cNvPicPr>
          <p:nvPr/>
        </p:nvPicPr>
        <p:blipFill>
          <a:blip r:embed="rId2"/>
          <a:stretch>
            <a:fillRect/>
          </a:stretch>
        </p:blipFill>
        <p:spPr>
          <a:xfrm>
            <a:off x="635000" y="901700"/>
            <a:ext cx="10922000" cy="1263650"/>
          </a:xfrm>
          <a:prstGeom prst="rect">
            <a:avLst/>
          </a:prstGeom>
        </p:spPr>
      </p:pic>
      <p:sp>
        <p:nvSpPr>
          <p:cNvPr id="14" name="TextBox 13"/>
          <p:cNvSpPr txBox="1"/>
          <p:nvPr/>
        </p:nvSpPr>
        <p:spPr>
          <a:xfrm>
            <a:off x="525780" y="2243607"/>
            <a:ext cx="11140440" cy="205740"/>
          </a:xfrm>
          <a:prstGeom prst="rect">
            <a:avLst/>
          </a:prstGeom>
          <a:noFill/>
        </p:spPr>
        <p:txBody>
          <a:bodyPr wrap="square" lIns="0" rIns="0" tIns="0" bIns="0" anchor="t"/>
          <a:lstStyle/>
          <a:p>
            <a:pPr algn="ctr">
              <a:lnSpc>
                <a:spcPts val="1620"/>
              </a:lnSpc>
              <a:spcBef>
                <a:spcPts val="0"/>
              </a:spcBef>
              <a:spcAft>
                <a:spcPts val="0"/>
              </a:spcAft>
            </a:pPr>
            <a:r>
              <a:rPr sz="1200" b="0" i="0">
                <a:solidFill>
                  <a:srgbClr val="3F4A5A"/>
                </a:solidFill>
                <a:latin typeface="Calibri"/>
              </a:rPr>
              <a:t>El integrando es racional en (ξ, η): no tiene primitiva practicable. La regla de</a:t>
            </a:r>
            <a:r>
              <a:rPr sz="1200" b="0" i="1">
                <a:solidFill>
                  <a:srgbClr val="3F4A5A"/>
                </a:solidFill>
                <a:latin typeface="Calibri"/>
              </a:rPr>
              <a:t> m</a:t>
            </a:r>
            <a:r>
              <a:rPr sz="1200" b="0" i="0">
                <a:solidFill>
                  <a:srgbClr val="3F4A5A"/>
                </a:solidFill>
                <a:latin typeface="Calibri"/>
              </a:rPr>
              <a:t> puntos integra exacto un polinomio de grado 2</a:t>
            </a:r>
            <a:r>
              <a:rPr sz="1200" b="0" i="1">
                <a:solidFill>
                  <a:srgbClr val="3F4A5A"/>
                </a:solidFill>
                <a:latin typeface="Calibri"/>
              </a:rPr>
              <a:t>m</a:t>
            </a:r>
            <a:r>
              <a:rPr sz="1200" b="0" i="0">
                <a:solidFill>
                  <a:srgbClr val="3F4A5A"/>
                </a:solidFill>
                <a:latin typeface="Calibri"/>
              </a:rPr>
              <a:t> − 1 [14, pp. 141–142].</a:t>
            </a:r>
          </a:p>
        </p:txBody>
      </p:sp>
      <p:pic>
        <p:nvPicPr>
          <p:cNvPr id="15" name="Picture 14" descr="3b891e6a6d3dfc0f.png"/>
          <p:cNvPicPr>
            <a:picLocks noChangeAspect="1"/>
          </p:cNvPicPr>
          <p:nvPr/>
        </p:nvPicPr>
        <p:blipFill>
          <a:blip r:embed="rId3"/>
          <a:stretch>
            <a:fillRect/>
          </a:stretch>
        </p:blipFill>
        <p:spPr>
          <a:xfrm>
            <a:off x="635000" y="2679700"/>
            <a:ext cx="2730500" cy="2730500"/>
          </a:xfrm>
          <a:prstGeom prst="rect">
            <a:avLst/>
          </a:prstGeom>
        </p:spPr>
      </p:pic>
      <p:pic>
        <p:nvPicPr>
          <p:cNvPr id="16" name="Picture 15" descr="2c3432a8b63659e2.png"/>
          <p:cNvPicPr>
            <a:picLocks noChangeAspect="1"/>
          </p:cNvPicPr>
          <p:nvPr/>
        </p:nvPicPr>
        <p:blipFill>
          <a:blip r:embed="rId4"/>
          <a:stretch>
            <a:fillRect/>
          </a:stretch>
        </p:blipFill>
        <p:spPr>
          <a:xfrm>
            <a:off x="635000" y="2679700"/>
            <a:ext cx="2730500" cy="2730500"/>
          </a:xfrm>
          <a:prstGeom prst="rect">
            <a:avLst/>
          </a:prstGeom>
        </p:spPr>
      </p:pic>
      <p:pic>
        <p:nvPicPr>
          <p:cNvPr id="17" name="Picture 16" descr="3b891e6a6d3dfc0f.png"/>
          <p:cNvPicPr>
            <a:picLocks noChangeAspect="1"/>
          </p:cNvPicPr>
          <p:nvPr/>
        </p:nvPicPr>
        <p:blipFill>
          <a:blip r:embed="rId3"/>
          <a:stretch>
            <a:fillRect/>
          </a:stretch>
        </p:blipFill>
        <p:spPr>
          <a:xfrm>
            <a:off x="635000" y="2679700"/>
            <a:ext cx="2730500" cy="2730500"/>
          </a:xfrm>
          <a:prstGeom prst="rect">
            <a:avLst/>
          </a:prstGeom>
        </p:spPr>
      </p:pic>
      <p:pic>
        <p:nvPicPr>
          <p:cNvPr id="18" name="Picture 17" descr="5fcf26ba9a4935bd.png"/>
          <p:cNvPicPr>
            <a:picLocks noChangeAspect="1"/>
          </p:cNvPicPr>
          <p:nvPr/>
        </p:nvPicPr>
        <p:blipFill>
          <a:blip r:embed="rId5"/>
          <a:stretch>
            <a:fillRect/>
          </a:stretch>
        </p:blipFill>
        <p:spPr>
          <a:xfrm>
            <a:off x="3619500" y="2641600"/>
            <a:ext cx="3556000" cy="2984500"/>
          </a:xfrm>
          <a:prstGeom prst="rect">
            <a:avLst/>
          </a:prstGeom>
        </p:spPr>
      </p:pic>
      <p:sp>
        <p:nvSpPr>
          <p:cNvPr id="19" name="TextBox 18"/>
          <p:cNvSpPr txBox="1"/>
          <p:nvPr/>
        </p:nvSpPr>
        <p:spPr>
          <a:xfrm>
            <a:off x="3583940" y="5495944"/>
            <a:ext cx="3627120" cy="394335"/>
          </a:xfrm>
          <a:prstGeom prst="rect">
            <a:avLst/>
          </a:prstGeom>
          <a:noFill/>
        </p:spPr>
        <p:txBody>
          <a:bodyPr wrap="square" lIns="0" rIns="0" tIns="0" bIns="0" anchor="t"/>
          <a:lstStyle/>
          <a:p>
            <a:pPr algn="ctr">
              <a:lnSpc>
                <a:spcPts val="1552"/>
              </a:lnSpc>
              <a:spcBef>
                <a:spcPts val="0"/>
              </a:spcBef>
              <a:spcAft>
                <a:spcPts val="0"/>
              </a:spcAft>
            </a:pPr>
            <a:r>
              <a:rPr sz="1150" b="1" i="0">
                <a:solidFill>
                  <a:srgbClr val="3F4A5A"/>
                </a:solidFill>
                <a:latin typeface="Calibri"/>
              </a:rPr>
              <a:t>k</a:t>
            </a:r>
            <a:r>
              <a:rPr sz="1150" b="1" i="0" baseline="-25000">
                <a:solidFill>
                  <a:srgbClr val="3F4A5A"/>
                </a:solidFill>
                <a:latin typeface="Calibri"/>
              </a:rPr>
              <a:t>e</a:t>
            </a:r>
            <a:r>
              <a:rPr sz="1150" b="0" i="0">
                <a:solidFill>
                  <a:srgbClr val="3F4A5A"/>
                </a:solidFill>
                <a:latin typeface="Calibri"/>
              </a:rPr>
              <a:t> de E3 (valores ÷ 10³): suma de los 4 aportes = la matriz</a:t>
            </a:r>
            <a:br/>
            <a:r>
              <a:rPr sz="1150" b="0" i="0">
                <a:solidFill>
                  <a:srgbClr val="3F4A5A"/>
                </a:solidFill>
                <a:latin typeface="Calibri"/>
              </a:rPr>
              <a:t>del Anexo G</a:t>
            </a:r>
          </a:p>
        </p:txBody>
      </p:sp>
      <p:pic>
        <p:nvPicPr>
          <p:cNvPr id="20" name="Picture 19" descr="fb06ef6687c853b2.png"/>
          <p:cNvPicPr>
            <a:picLocks noChangeAspect="1"/>
          </p:cNvPicPr>
          <p:nvPr/>
        </p:nvPicPr>
        <p:blipFill>
          <a:blip r:embed="rId6"/>
          <a:stretch>
            <a:fillRect/>
          </a:stretch>
        </p:blipFill>
        <p:spPr>
          <a:xfrm>
            <a:off x="7429500" y="2679700"/>
            <a:ext cx="1905000" cy="1905000"/>
          </a:xfrm>
          <a:prstGeom prst="rect">
            <a:avLst/>
          </a:prstGeom>
        </p:spPr>
      </p:pic>
      <p:pic>
        <p:nvPicPr>
          <p:cNvPr id="21" name="Picture 20" descr="037e41af9b95fc2a.png"/>
          <p:cNvPicPr>
            <a:picLocks noChangeAspect="1"/>
          </p:cNvPicPr>
          <p:nvPr/>
        </p:nvPicPr>
        <p:blipFill>
          <a:blip r:embed="rId7"/>
          <a:stretch>
            <a:fillRect/>
          </a:stretch>
        </p:blipFill>
        <p:spPr>
          <a:xfrm>
            <a:off x="9461500" y="2679700"/>
            <a:ext cx="2095500" cy="1905000"/>
          </a:xfrm>
          <a:prstGeom prst="rect">
            <a:avLst/>
          </a:prstGeom>
        </p:spPr>
      </p:pic>
      <p:sp>
        <p:nvSpPr>
          <p:cNvPr id="22" name="Rounded Rectangle 21"/>
          <p:cNvSpPr/>
          <p:nvPr/>
        </p:nvSpPr>
        <p:spPr>
          <a:xfrm>
            <a:off x="7429500" y="4699000"/>
            <a:ext cx="4127500" cy="639000"/>
          </a:xfrm>
          <a:prstGeom prst="roundRect">
            <a:avLst>
              <a:gd name="adj" fmla="val 15899"/>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69200" y="4800938"/>
            <a:ext cx="3925062" cy="435864"/>
          </a:xfrm>
          <a:prstGeom prst="rect">
            <a:avLst/>
          </a:prstGeom>
          <a:noFill/>
        </p:spPr>
        <p:txBody>
          <a:bodyPr wrap="square" lIns="0" rIns="0" tIns="0" bIns="0" anchor="t"/>
          <a:lstStyle/>
          <a:p>
            <a:pPr algn="l">
              <a:lnSpc>
                <a:spcPts val="1716"/>
              </a:lnSpc>
              <a:spcBef>
                <a:spcPts val="0"/>
              </a:spcBef>
              <a:spcAft>
                <a:spcPts val="0"/>
              </a:spcAft>
            </a:pPr>
            <a:r>
              <a:rPr sz="1300" b="1" i="0">
                <a:solidFill>
                  <a:srgbClr val="2E8B57"/>
                </a:solidFill>
                <a:latin typeface="Calibri"/>
              </a:rPr>
              <a:t>Regla 2 × 2: solo los 3 modos de cuerpo rígido. EduFEM</a:t>
            </a:r>
            <a:br/>
            <a:r>
              <a:rPr sz="1300" b="1" i="0">
                <a:solidFill>
                  <a:srgbClr val="2E8B57"/>
                </a:solidFill>
                <a:latin typeface="Calibri"/>
              </a:rPr>
              <a:t>integra completo: 2 × 2 en Q4 y 3 × 3 en Q9.</a:t>
            </a:r>
          </a:p>
        </p:txBody>
      </p:sp>
      <p:pic>
        <p:nvPicPr>
          <p:cNvPr id="24" name="Picture 23" descr="19b779f9107624ee.png"/>
          <p:cNvPicPr>
            <a:picLocks noChangeAspect="1"/>
          </p:cNvPicPr>
          <p:nvPr/>
        </p:nvPicPr>
        <p:blipFill>
          <a:blip r:embed="rId8"/>
          <a:stretch>
            <a:fillRect/>
          </a:stretch>
        </p:blipFill>
        <p:spPr>
          <a:xfrm>
            <a:off x="9461500" y="2679700"/>
            <a:ext cx="2095500" cy="1905000"/>
          </a:xfrm>
          <a:prstGeom prst="rect">
            <a:avLst/>
          </a:prstGeom>
        </p:spPr>
      </p:pic>
      <p:sp>
        <p:nvSpPr>
          <p:cNvPr id="25" name="Rounded Rectangle 24"/>
          <p:cNvSpPr/>
          <p:nvPr/>
        </p:nvSpPr>
        <p:spPr>
          <a:xfrm>
            <a:off x="7429500" y="4699000"/>
            <a:ext cx="4127500" cy="639000"/>
          </a:xfrm>
          <a:prstGeom prst="roundRect">
            <a:avLst>
              <a:gd name="adj" fmla="val 15899"/>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69200" y="4800938"/>
            <a:ext cx="3925062" cy="435864"/>
          </a:xfrm>
          <a:prstGeom prst="rect">
            <a:avLst/>
          </a:prstGeom>
          <a:noFill/>
        </p:spPr>
        <p:txBody>
          <a:bodyPr wrap="square" lIns="0" rIns="0" tIns="0" bIns="0" anchor="t"/>
          <a:lstStyle/>
          <a:p>
            <a:pPr algn="l">
              <a:lnSpc>
                <a:spcPts val="1716"/>
              </a:lnSpc>
              <a:spcBef>
                <a:spcPts val="0"/>
              </a:spcBef>
              <a:spcAft>
                <a:spcPts val="0"/>
              </a:spcAft>
            </a:pPr>
            <a:r>
              <a:rPr sz="1300" b="1" i="0">
                <a:solidFill>
                  <a:srgbClr val="C0392B"/>
                </a:solidFill>
                <a:latin typeface="Calibri"/>
              </a:rPr>
              <a:t>Regla 1 × 1: 5 modos de energía nula = 3 de cuerpo</a:t>
            </a:r>
            <a:br/>
            <a:r>
              <a:rPr sz="1300" b="1" i="0">
                <a:solidFill>
                  <a:srgbClr val="C0392B"/>
                </a:solidFill>
                <a:latin typeface="Calibri"/>
              </a:rPr>
              <a:t>rígido + 2 modos espurios (hourglass)</a:t>
            </a:r>
          </a:p>
        </p:txBody>
      </p:sp>
      <p:sp>
        <p:nvSpPr>
          <p:cNvPr id="27" name="TextBox 26"/>
          <p:cNvSpPr txBox="1"/>
          <p:nvPr/>
        </p:nvSpPr>
        <p:spPr>
          <a:xfrm>
            <a:off x="7429500" y="5399246"/>
            <a:ext cx="4210050"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Elemento cuadrado de prueba (E = 1, ν = 0,3) calculado con las</a:t>
            </a:r>
            <a:br/>
            <a:r>
              <a:rPr sz="1250" b="0" i="0">
                <a:solidFill>
                  <a:srgbClr val="5B6575"/>
                </a:solidFill>
                <a:latin typeface="Calibri"/>
              </a:rPr>
              <a:t>funciones del motor.</a:t>
            </a:r>
          </a:p>
        </p:txBody>
      </p:sp>
      <p:sp>
        <p:nvSpPr>
          <p:cNvPr id="28" name="Rectangle 27"/>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5150" y="6535420"/>
            <a:ext cx="464661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1" name="TextBox 30"/>
          <p:cNvSpPr txBox="1"/>
          <p:nvPr/>
        </p:nvSpPr>
        <p:spPr>
          <a:xfrm>
            <a:off x="5095304" y="6535420"/>
            <a:ext cx="200133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1.8–1.9 · Etapa 5 · Módulo M5</a:t>
            </a:r>
          </a:p>
        </p:txBody>
      </p:sp>
      <p:sp>
        <p:nvSpPr>
          <p:cNvPr id="32" name="TextBox 31"/>
          <p:cNvSpPr txBox="1"/>
          <p:nvPr/>
        </p:nvSpPr>
        <p:spPr>
          <a:xfrm>
            <a:off x="6980110" y="6535420"/>
            <a:ext cx="464674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19</a:t>
            </a:r>
          </a:p>
        </p:txBody>
      </p:sp>
      <p:sp>
        <p:nvSpPr>
          <p:cNvPr id="33" name="Enlace a sep-intro">
            <a:hlinkClick action="ppaction://hlinksldjump" r:id="rId9"/>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nlace a sep-teoria">
            <a:hlinkClick action="ppaction://hlinksldjump" r:id="rId10"/>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nlace a sep-diseno">
            <a:hlinkClick action="ppaction://hlinksldjump" r:id="rId11"/>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nlace a sep-resultados">
            <a:hlinkClick action="ppaction://hlinksldjump" r:id="rId12"/>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nlace a sep-analisis">
            <a:hlinkClick action="ppaction://hlinksldjump" r:id="rId13"/>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nlace a sep-conclusiones">
            <a:hlinkClick action="ppaction://hlinksldjump" r:id="rId14"/>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xit" presetSubtype="0" fill="hold" grpId="0" nodeType="clickEffect">
                                  <p:stCondLst>
                                    <p:cond delay="0"/>
                                  </p:stCondLst>
                                  <p:childTnLst>
                                    <p:animEffect transition="out" filter="fade">
                                      <p:cBhvr>
                                        <p:cTn id="4" dur="200"/>
                                        <p:tgtEl>
                                          <p:spTgt spid="17"/>
                                        </p:tgtEl>
                                      </p:cBhvr>
                                    </p:animEffect>
                                    <p:set>
                                      <p:cBhvr>
                                        <p:cTn id="5" dur="1" fill="hold">
                                          <p:stCondLst>
                                            <p:cond delay="199"/>
                                          </p:stCondLst>
                                        </p:cTn>
                                        <p:tgtEl>
                                          <p:spTgt spid="17"/>
                                        </p:tgtEl>
                                        <p:attrNameLst>
                                          <p:attrName>style.visibility</p:attrName>
                                        </p:attrNameLst>
                                      </p:cBhvr>
                                      <p:to>
                                        <p:strVal val="hidden"/>
                                      </p:to>
                                    </p:set>
                                  </p:childTnLst>
                                </p:cTn>
                              </p:par>
                              <p:par>
                                <p:cTn id="6" presetID="10" presetClass="entr" presetSubtype="0" fill="hold" grpId="0" nodeType="withEffect">
                                  <p:stCondLst>
                                    <p:cond delay="20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400"/>
                                        <p:tgtEl>
                                          <p:spTgt spid="16"/>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20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20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20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childTnLst>
                          </p:cTn>
                        </p:par>
                      </p:childTnLst>
                    </p:cTn>
                  </p:par>
                  <p:par>
                    <p:cTn id="50" fill="hold">
                      <p:stCondLst>
                        <p:cond delay="indefinite"/>
                      </p:stCondLst>
                      <p:childTnLst>
                        <p:par>
                          <p:cTn id="51" fill="hold">
                            <p:stCondLst>
                              <p:cond delay="0"/>
                            </p:stCondLst>
                            <p:childTnLst>
                              <p:par>
                                <p:cTn id="24" presetID="10" presetClass="exit" presetSubtype="0" fill="hold" grpId="1" nodeType="clickEffect">
                                  <p:stCondLst>
                                    <p:cond delay="0"/>
                                  </p:stCondLst>
                                  <p:childTnLst>
                                    <p:animEffect transition="out" filter="fade">
                                      <p:cBhvr>
                                        <p:cTn id="25" dur="200"/>
                                        <p:tgtEl>
                                          <p:spTgt spid="16"/>
                                        </p:tgtEl>
                                      </p:cBhvr>
                                    </p:animEffect>
                                    <p:set>
                                      <p:cBhvr>
                                        <p:cTn id="26" dur="1" fill="hold">
                                          <p:stCondLst>
                                            <p:cond delay="199"/>
                                          </p:stCondLst>
                                        </p:cTn>
                                        <p:tgtEl>
                                          <p:spTgt spid="16"/>
                                        </p:tgtEl>
                                        <p:attrNameLst>
                                          <p:attrName>style.visibility</p:attrName>
                                        </p:attrNameLst>
                                      </p:cBhvr>
                                      <p:to>
                                        <p:strVal val="hidden"/>
                                      </p:to>
                                    </p:set>
                                  </p:childTnLst>
                                </p:cTn>
                              </p:par>
                              <p:par>
                                <p:cTn id="27" presetID="10" presetClass="exit" presetSubtype="0" fill="hold" grpId="1" nodeType="withEffect">
                                  <p:stCondLst>
                                    <p:cond delay="0"/>
                                  </p:stCondLst>
                                  <p:childTnLst>
                                    <p:animEffect transition="out" filter="fade">
                                      <p:cBhvr>
                                        <p:cTn id="28" dur="200"/>
                                        <p:tgtEl>
                                          <p:spTgt spid="24"/>
                                        </p:tgtEl>
                                      </p:cBhvr>
                                    </p:animEffect>
                                    <p:set>
                                      <p:cBhvr>
                                        <p:cTn id="29" dur="1" fill="hold">
                                          <p:stCondLst>
                                            <p:cond delay="199"/>
                                          </p:stCondLst>
                                        </p:cTn>
                                        <p:tgtEl>
                                          <p:spTgt spid="24"/>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200"/>
                                        <p:tgtEl>
                                          <p:spTgt spid="25"/>
                                        </p:tgtEl>
                                      </p:cBhvr>
                                    </p:animEffect>
                                    <p:set>
                                      <p:cBhvr>
                                        <p:cTn id="32" dur="1" fill="hold">
                                          <p:stCondLst>
                                            <p:cond delay="199"/>
                                          </p:stCondLst>
                                        </p:cTn>
                                        <p:tgtEl>
                                          <p:spTgt spid="25"/>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200"/>
                                        <p:tgtEl>
                                          <p:spTgt spid="26"/>
                                        </p:tgtEl>
                                      </p:cBhvr>
                                    </p:animEffect>
                                    <p:set>
                                      <p:cBhvr>
                                        <p:cTn id="35" dur="1" fill="hold">
                                          <p:stCondLst>
                                            <p:cond delay="199"/>
                                          </p:stCondLst>
                                        </p:cTn>
                                        <p:tgtEl>
                                          <p:spTgt spid="26"/>
                                        </p:tgtEl>
                                        <p:attrNameLst>
                                          <p:attrName>style.visibility</p:attrName>
                                        </p:attrNameLst>
                                      </p:cBhvr>
                                      <p:to>
                                        <p:strVal val="hidden"/>
                                      </p:to>
                                    </p:set>
                                  </p:childTnLst>
                                </p:cTn>
                              </p:par>
                              <p:par>
                                <p:cTn id="36" presetID="10" presetClass="entr" presetSubtype="0" fill="hold" grpId="0" nodeType="withEffect">
                                  <p:stCondLst>
                                    <p:cond delay="20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20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20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20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P spid="25" grpId="1" animBg="1"/>
      <p:bldP spid="26" grpId="0" animBg="1"/>
      <p:bldP spid="26" grpId="1" animBg="1"/>
      <p:bldP spid="27"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Bloqueo por cortante: el Q4 no puede curvarse</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cantilever_q4_q9.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65150" y="1276350"/>
            <a:ext cx="5715000" cy="3816350"/>
          </a:xfrm>
          <a:prstGeom prst="rect">
            <a:avLst/>
          </a:prstGeom>
        </p:spPr>
      </p:pic>
      <p:sp>
        <p:nvSpPr>
          <p:cNvPr id="14" name="TextBox 13"/>
          <p:cNvSpPr txBox="1"/>
          <p:nvPr/>
        </p:nvSpPr>
        <p:spPr>
          <a:xfrm>
            <a:off x="565150" y="5163598"/>
            <a:ext cx="582930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5B6575"/>
                </a:solidFill>
                <a:latin typeface="Calibri"/>
              </a:rPr>
              <a:t>Flexión pura</a:t>
            </a:r>
            <a:r>
              <a:rPr sz="1250" b="0" i="1">
                <a:solidFill>
                  <a:srgbClr val="5B6575"/>
                </a:solidFill>
                <a:latin typeface="Calibri"/>
              </a:rPr>
              <a:t> u = κxy, v = −½κx²</a:t>
            </a:r>
            <a:r>
              <a:rPr sz="1250" b="0" i="0">
                <a:solidFill>
                  <a:srgbClr val="5B6575"/>
                </a:solidFill>
                <a:latin typeface="Calibri"/>
              </a:rPr>
              <a:t>: animación que EduFEM muestra en</a:t>
            </a:r>
            <a:r>
              <a:rPr sz="1250" b="0" i="1">
                <a:solidFill>
                  <a:srgbClr val="5B6575"/>
                </a:solidFill>
                <a:latin typeface="Calibri"/>
              </a:rPr>
              <a:t> Modelo → Tipo de</a:t>
            </a:r>
            <a:br/>
            <a:r>
              <a:rPr sz="1250" b="0" i="1">
                <a:solidFill>
                  <a:srgbClr val="5B6575"/>
                </a:solidFill>
                <a:latin typeface="Calibri"/>
              </a:rPr>
              <a:t>elemento</a:t>
            </a:r>
            <a:r>
              <a:rPr sz="1250" b="0" i="0">
                <a:solidFill>
                  <a:srgbClr val="5B6575"/>
                </a:solidFill>
                <a:latin typeface="Calibri"/>
              </a:rPr>
              <a:t>.</a:t>
            </a:r>
          </a:p>
        </p:txBody>
      </p:sp>
      <p:sp>
        <p:nvSpPr>
          <p:cNvPr id="15" name="TextBox 14"/>
          <p:cNvSpPr txBox="1"/>
          <p:nvPr/>
        </p:nvSpPr>
        <p:spPr>
          <a:xfrm>
            <a:off x="6877050" y="1279581"/>
            <a:ext cx="4844796" cy="912114"/>
          </a:xfrm>
          <a:prstGeom prst="rect">
            <a:avLst/>
          </a:prstGeom>
          <a:noFill/>
        </p:spPr>
        <p:txBody>
          <a:bodyPr wrap="square" lIns="0" rIns="0" tIns="0" bIns="0" anchor="t"/>
          <a:lstStyle/>
          <a:p>
            <a:pPr algn="l">
              <a:lnSpc>
                <a:spcPts val="2394"/>
              </a:lnSpc>
              <a:spcBef>
                <a:spcPts val="0"/>
              </a:spcBef>
              <a:spcAft>
                <a:spcPts val="0"/>
              </a:spcAft>
            </a:pPr>
            <a:r>
              <a:rPr sz="1900" b="1" i="0">
                <a:solidFill>
                  <a:srgbClr val="1F77B4"/>
                </a:solidFill>
                <a:latin typeface="Calibri"/>
              </a:rPr>
              <a:t>Q4 bilineal:</a:t>
            </a:r>
            <a:r>
              <a:rPr sz="1900" b="0" i="0">
                <a:solidFill>
                  <a:srgbClr val="1F2937"/>
                </a:solidFill>
                <a:latin typeface="Calibri"/>
              </a:rPr>
              <a:t> sus bordes quedan rectos; para</a:t>
            </a:r>
            <a:br/>
            <a:r>
              <a:rPr sz="1900" b="0" i="0">
                <a:solidFill>
                  <a:srgbClr val="1F2937"/>
                </a:solidFill>
                <a:latin typeface="Calibri"/>
              </a:rPr>
              <a:t>acomodar la flexión desarrolla</a:t>
            </a:r>
            <a:r>
              <a:rPr sz="1900" b="1" i="0">
                <a:solidFill>
                  <a:srgbClr val="1F2937"/>
                </a:solidFill>
                <a:latin typeface="Calibri"/>
              </a:rPr>
              <a:t> corte espurio</a:t>
            </a:r>
            <a:br/>
            <a:r>
              <a:rPr sz="1900" b="0" i="0">
                <a:solidFill>
                  <a:srgbClr val="1F2937"/>
                </a:solidFill>
                <a:latin typeface="Calibri"/>
              </a:rPr>
              <a:t>que absorbe energía [2, pp. 98–99].</a:t>
            </a:r>
          </a:p>
        </p:txBody>
      </p:sp>
      <p:sp>
        <p:nvSpPr>
          <p:cNvPr id="16" name="Rounded Rectangle 15"/>
          <p:cNvSpPr/>
          <p:nvPr/>
        </p:nvSpPr>
        <p:spPr>
          <a:xfrm>
            <a:off x="6610350" y="141274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77050" y="2318631"/>
            <a:ext cx="4844796" cy="608076"/>
          </a:xfrm>
          <a:prstGeom prst="rect">
            <a:avLst/>
          </a:prstGeom>
          <a:noFill/>
        </p:spPr>
        <p:txBody>
          <a:bodyPr wrap="square" lIns="0" rIns="0" tIns="0" bIns="0" anchor="t"/>
          <a:lstStyle/>
          <a:p>
            <a:pPr algn="l">
              <a:lnSpc>
                <a:spcPts val="2394"/>
              </a:lnSpc>
              <a:spcBef>
                <a:spcPts val="0"/>
              </a:spcBef>
              <a:spcAft>
                <a:spcPts val="0"/>
              </a:spcAft>
            </a:pPr>
            <a:r>
              <a:rPr sz="1900" b="0" i="0">
                <a:solidFill>
                  <a:srgbClr val="1F2937"/>
                </a:solidFill>
                <a:latin typeface="Calibri"/>
              </a:rPr>
              <a:t>Resultado:</a:t>
            </a:r>
            <a:r>
              <a:rPr sz="1900" b="1" i="0">
                <a:solidFill>
                  <a:srgbClr val="1F2937"/>
                </a:solidFill>
                <a:latin typeface="Calibri"/>
              </a:rPr>
              <a:t> rigidez excesiva</a:t>
            </a:r>
            <a:r>
              <a:rPr sz="1900" b="0" i="0">
                <a:solidFill>
                  <a:srgbClr val="1F2937"/>
                </a:solidFill>
                <a:latin typeface="Calibri"/>
              </a:rPr>
              <a:t>, flecha subestimada</a:t>
            </a:r>
            <a:br/>
            <a:r>
              <a:rPr sz="1900" b="0" i="0">
                <a:solidFill>
                  <a:srgbClr val="1F2937"/>
                </a:solidFill>
                <a:latin typeface="Calibri"/>
              </a:rPr>
              <a:t>y convergencia lenta al refinar.</a:t>
            </a:r>
          </a:p>
        </p:txBody>
      </p:sp>
      <p:sp>
        <p:nvSpPr>
          <p:cNvPr id="18" name="Rounded Rectangle 17"/>
          <p:cNvSpPr/>
          <p:nvPr/>
        </p:nvSpPr>
        <p:spPr>
          <a:xfrm>
            <a:off x="6610350" y="245179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77050" y="3053644"/>
            <a:ext cx="4844796" cy="912114"/>
          </a:xfrm>
          <a:prstGeom prst="rect">
            <a:avLst/>
          </a:prstGeom>
          <a:noFill/>
        </p:spPr>
        <p:txBody>
          <a:bodyPr wrap="square" lIns="0" rIns="0" tIns="0" bIns="0" anchor="t"/>
          <a:lstStyle/>
          <a:p>
            <a:pPr algn="l">
              <a:lnSpc>
                <a:spcPts val="2394"/>
              </a:lnSpc>
              <a:spcBef>
                <a:spcPts val="0"/>
              </a:spcBef>
              <a:spcAft>
                <a:spcPts val="0"/>
              </a:spcAft>
            </a:pPr>
            <a:r>
              <a:rPr sz="1900" b="1" i="0">
                <a:solidFill>
                  <a:srgbClr val="FF7F0E"/>
                </a:solidFill>
                <a:latin typeface="Calibri"/>
              </a:rPr>
              <a:t>Q9 bicuadrático:</a:t>
            </a:r>
            <a:r>
              <a:rPr sz="1900" b="0" i="0">
                <a:solidFill>
                  <a:srgbClr val="1F2937"/>
                </a:solidFill>
                <a:latin typeface="Calibri"/>
              </a:rPr>
              <a:t> reproduce el modo de</a:t>
            </a:r>
            <a:br/>
            <a:r>
              <a:rPr sz="1900" b="0" i="0">
                <a:solidFill>
                  <a:srgbClr val="1F2937"/>
                </a:solidFill>
                <a:latin typeface="Calibri"/>
              </a:rPr>
              <a:t>curvatura; está prácticamente libre de este</a:t>
            </a:r>
            <a:br/>
            <a:r>
              <a:rPr sz="1900" b="0" i="0">
                <a:solidFill>
                  <a:srgbClr val="1F2937"/>
                </a:solidFill>
                <a:latin typeface="Calibri"/>
              </a:rPr>
              <a:t>bloqueo [14, p. 243].</a:t>
            </a:r>
          </a:p>
        </p:txBody>
      </p:sp>
      <p:sp>
        <p:nvSpPr>
          <p:cNvPr id="20" name="Rounded Rectangle 19"/>
          <p:cNvSpPr/>
          <p:nvPr/>
        </p:nvSpPr>
        <p:spPr>
          <a:xfrm>
            <a:off x="6610350" y="3186811"/>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77050" y="4092631"/>
            <a:ext cx="4844796" cy="608076"/>
          </a:xfrm>
          <a:prstGeom prst="rect">
            <a:avLst/>
          </a:prstGeom>
          <a:noFill/>
        </p:spPr>
        <p:txBody>
          <a:bodyPr wrap="square" lIns="0" rIns="0" tIns="0" bIns="0" anchor="t"/>
          <a:lstStyle/>
          <a:p>
            <a:pPr algn="l">
              <a:lnSpc>
                <a:spcPts val="2394"/>
              </a:lnSpc>
              <a:spcBef>
                <a:spcPts val="0"/>
              </a:spcBef>
              <a:spcAft>
                <a:spcPts val="0"/>
              </a:spcAft>
            </a:pPr>
            <a:r>
              <a:rPr sz="1900" b="0" i="0">
                <a:solidFill>
                  <a:srgbClr val="1F2937"/>
                </a:solidFill>
                <a:latin typeface="Calibri"/>
              </a:rPr>
              <a:t>EduFEM</a:t>
            </a:r>
            <a:r>
              <a:rPr sz="1900" b="1" i="0">
                <a:solidFill>
                  <a:srgbClr val="1F2937"/>
                </a:solidFill>
                <a:latin typeface="Calibri"/>
              </a:rPr>
              <a:t> no lo corrige: lo deja a la vista</a:t>
            </a:r>
            <a:r>
              <a:rPr sz="1900" b="0" i="0">
                <a:solidFill>
                  <a:srgbClr val="1F2937"/>
                </a:solidFill>
                <a:latin typeface="Calibri"/>
              </a:rPr>
              <a:t>. La</a:t>
            </a:r>
            <a:br/>
            <a:r>
              <a:rPr sz="1900" b="0" i="0">
                <a:solidFill>
                  <a:srgbClr val="1F2937"/>
                </a:solidFill>
                <a:latin typeface="Calibri"/>
              </a:rPr>
              <a:t>membrana de Cook lo cuantifica (§ 3.5).</a:t>
            </a:r>
          </a:p>
        </p:txBody>
      </p:sp>
      <p:sp>
        <p:nvSpPr>
          <p:cNvPr id="22" name="Rounded Rectangle 21"/>
          <p:cNvSpPr/>
          <p:nvPr/>
        </p:nvSpPr>
        <p:spPr>
          <a:xfrm>
            <a:off x="6610350" y="422579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5150" y="6535420"/>
            <a:ext cx="535698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6" name="TextBox 25"/>
          <p:cNvSpPr txBox="1"/>
          <p:nvPr/>
        </p:nvSpPr>
        <p:spPr>
          <a:xfrm>
            <a:off x="5791708" y="6535420"/>
            <a:ext cx="60858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1.9</a:t>
            </a:r>
          </a:p>
        </p:txBody>
      </p:sp>
      <p:sp>
        <p:nvSpPr>
          <p:cNvPr id="27" name="TextBox 26"/>
          <p:cNvSpPr txBox="1"/>
          <p:nvPr/>
        </p:nvSpPr>
        <p:spPr>
          <a:xfrm>
            <a:off x="6269863" y="6535420"/>
            <a:ext cx="535698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20</a:t>
            </a:r>
          </a:p>
        </p:txBody>
      </p:sp>
      <p:sp>
        <p:nvSpPr>
          <p:cNvPr id="28" name="Enlace a sep-intro">
            <a:hlinkClick action="ppaction://hlinksldjump" r:id="rId5"/>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nlace a sep-teoria">
            <a:hlinkClick action="ppaction://hlinksldjump" r:id="rId6"/>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nlace a sep-diseno">
            <a:hlinkClick action="ppaction://hlinksldjump" r:id="rId7"/>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nlace a sep-resultados">
            <a:hlinkClick action="ppaction://hlinksldjump" r:id="rId8"/>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nlace a sep-analisis">
            <a:hlinkClick action="ppaction://hlinksldjump" r:id="rId9"/>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nlace a sep-conclusiones">
            <a:hlinkClick action="ppaction://hlinksldjump" r:id="rId10"/>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9" fill="hold">
                      <p:stCondLst>
                        <p:cond delay="indefinite"/>
                        <p:cond evt="onBegin" delay="0">
                          <p:tn val="2"/>
                        </p:cond>
                      </p:stCondLst>
                      <p:childTnLst>
                        <p:par>
                          <p:cTn id="30"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50"/>
                                        <p:tgtEl>
                                          <p:spTgt spid="15"/>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450"/>
                                        <p:tgtEl>
                                          <p:spTgt spid="16"/>
                                        </p:tgtEl>
                                      </p:cBhvr>
                                    </p:animEffect>
                                  </p:childTnLst>
                                </p:cTn>
                              </p:par>
                              <p:par>
                                <p:cTn id="9" presetID="1" presetClass="mediacall" presetSubtype="0" fill="hold" nodeType="withEffect">
                                  <p:stCondLst>
                                    <p:cond delay="0"/>
                                  </p:stCondLst>
                                  <p:childTnLst>
                                    <p:cmd type="call" cmd="playFrom(0.0)">
                                      <p:cBhvr>
                                        <p:cTn id="10" dur="60000" fill="hold"/>
                                        <p:tgtEl>
                                          <p:spTgt spid="13"/>
                                        </p:tgtEl>
                                      </p:cBhvr>
                                    </p:cmd>
                                  </p:childTnLst>
                                </p:cTn>
                              </p:par>
                            </p:childTnLst>
                          </p:cTn>
                        </p:par>
                      </p:childTnLst>
                    </p:cTn>
                  </p:par>
                  <p:par>
                    <p:cTn id="31" fill="hold">
                      <p:stCondLst>
                        <p:cond delay="indefinite"/>
                      </p:stCondLst>
                      <p:childTnLst>
                        <p:par>
                          <p:cTn id="32"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4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5" repeatCount="indefinite" fill="hold" display="0">
                  <p:stCondLst>
                    <p:cond delay="indefinite"/>
                  </p:stCondLst>
                  <p:endCondLst>
                    <p:cond evt="onStopAudio" delay="0">
                      <p:tgtEl>
                        <p:sldTgt/>
                      </p:tgtEl>
                    </p:cond>
                  </p:endCondLst>
                </p:cTn>
                <p:tgtEl>
                  <p:spTgt spid="13"/>
                </p:tgtEl>
              </p:cMediaNode>
            </p:video>
          </p:childTnLst>
        </p:cTn>
      </p:par>
    </p:tnLst>
    <p:bldLst>
      <p:bldP spid="15" grpId="0" animBg="1"/>
      <p:bldP spid="16" grpId="0" animBg="1"/>
      <p:bldP spid="17" grpId="0" animBg="1"/>
      <p:bldP spid="18" grpId="0" animBg="1"/>
      <p:bldP spid="19" grpId="0" animBg="1"/>
      <p:bldP spid="20" grpId="0" animBg="1"/>
      <p:bldP spid="21" grpId="0" animBg="1"/>
      <p:bldP spid="22"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Tensiones: de los puntos de Gauss a los nodos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1438275"/>
            <a:ext cx="5708650" cy="4057650"/>
          </a:xfrm>
          <a:prstGeom prst="roundRect">
            <a:avLst>
              <a:gd name="adj" fmla="val 2738"/>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8156ee349cd1cd69.png"/>
          <p:cNvPicPr>
            <a:picLocks noChangeAspect="1"/>
          </p:cNvPicPr>
          <p:nvPr/>
        </p:nvPicPr>
        <p:blipFill>
          <a:blip r:embed="rId2"/>
          <a:stretch>
            <a:fillRect/>
          </a:stretch>
        </p:blipFill>
        <p:spPr>
          <a:xfrm>
            <a:off x="641350" y="1441450"/>
            <a:ext cx="5715000" cy="4064000"/>
          </a:xfrm>
          <a:prstGeom prst="rect">
            <a:avLst/>
          </a:prstGeom>
        </p:spPr>
      </p:pic>
      <p:pic>
        <p:nvPicPr>
          <p:cNvPr id="15" name="Picture 14" descr="6b0bdef6e20e977d.png"/>
          <p:cNvPicPr>
            <a:picLocks noChangeAspect="1"/>
          </p:cNvPicPr>
          <p:nvPr/>
        </p:nvPicPr>
        <p:blipFill>
          <a:blip r:embed="rId3"/>
          <a:stretch>
            <a:fillRect/>
          </a:stretch>
        </p:blipFill>
        <p:spPr>
          <a:xfrm>
            <a:off x="641350" y="1441450"/>
            <a:ext cx="5715000" cy="4064000"/>
          </a:xfrm>
          <a:prstGeom prst="rect">
            <a:avLst/>
          </a:prstGeom>
        </p:spPr>
      </p:pic>
      <p:pic>
        <p:nvPicPr>
          <p:cNvPr id="16" name="Picture 15" descr="c712d0365cdd903f.png"/>
          <p:cNvPicPr>
            <a:picLocks noChangeAspect="1"/>
          </p:cNvPicPr>
          <p:nvPr/>
        </p:nvPicPr>
        <p:blipFill>
          <a:blip r:embed="rId4"/>
          <a:stretch>
            <a:fillRect/>
          </a:stretch>
        </p:blipFill>
        <p:spPr>
          <a:xfrm>
            <a:off x="641350" y="1441450"/>
            <a:ext cx="5715000" cy="4064000"/>
          </a:xfrm>
          <a:prstGeom prst="rect">
            <a:avLst/>
          </a:prstGeom>
        </p:spPr>
      </p:pic>
      <p:pic>
        <p:nvPicPr>
          <p:cNvPr id="17" name="Picture 16" descr="d4cbc1b63e3e46fd.png"/>
          <p:cNvPicPr>
            <a:picLocks noChangeAspect="1"/>
          </p:cNvPicPr>
          <p:nvPr/>
        </p:nvPicPr>
        <p:blipFill>
          <a:blip r:embed="rId5"/>
          <a:stretch>
            <a:fillRect/>
          </a:stretch>
        </p:blipFill>
        <p:spPr>
          <a:xfrm>
            <a:off x="641350" y="1441450"/>
            <a:ext cx="5715000" cy="4064000"/>
          </a:xfrm>
          <a:prstGeom prst="rect">
            <a:avLst/>
          </a:prstGeom>
        </p:spPr>
      </p:pic>
      <p:sp>
        <p:nvSpPr>
          <p:cNvPr id="18" name="Rounded Rectangle 17"/>
          <p:cNvSpPr/>
          <p:nvPr/>
        </p:nvSpPr>
        <p:spPr>
          <a:xfrm>
            <a:off x="6607175" y="1438275"/>
            <a:ext cx="4946650" cy="871156"/>
          </a:xfrm>
          <a:prstGeom prst="roundRect">
            <a:avLst>
              <a:gd name="adj" fmla="val 838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75450" y="1587755"/>
            <a:ext cx="470230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1 · En los puntos de Gauss</a:t>
            </a:r>
          </a:p>
        </p:txBody>
      </p:sp>
      <p:pic>
        <p:nvPicPr>
          <p:cNvPr id="20" name="Picture 19" descr="23c9f37a624bcafb.png"/>
          <p:cNvPicPr>
            <a:picLocks noChangeAspect="1"/>
          </p:cNvPicPr>
          <p:nvPr/>
        </p:nvPicPr>
        <p:blipFill>
          <a:blip r:embed="rId6"/>
          <a:stretch>
            <a:fillRect/>
          </a:stretch>
        </p:blipFill>
        <p:spPr>
          <a:xfrm>
            <a:off x="6775450" y="1498600"/>
            <a:ext cx="4610100" cy="641350"/>
          </a:xfrm>
          <a:prstGeom prst="rect">
            <a:avLst/>
          </a:prstGeom>
        </p:spPr>
      </p:pic>
      <p:sp>
        <p:nvSpPr>
          <p:cNvPr id="21" name="Rounded Rectangle 20"/>
          <p:cNvSpPr/>
          <p:nvPr/>
        </p:nvSpPr>
        <p:spPr>
          <a:xfrm>
            <a:off x="6607175" y="2430082"/>
            <a:ext cx="4946650" cy="2064258"/>
          </a:xfrm>
          <a:prstGeom prst="roundRect">
            <a:avLst>
              <a:gd name="adj" fmla="val 35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75450" y="2579562"/>
            <a:ext cx="470230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2 · Extrapolación a los nodos</a:t>
            </a:r>
          </a:p>
        </p:txBody>
      </p:sp>
      <p:pic>
        <p:nvPicPr>
          <p:cNvPr id="23" name="Picture 22" descr="c4b9e628c0c0c4ae.png"/>
          <p:cNvPicPr>
            <a:picLocks noChangeAspect="1"/>
          </p:cNvPicPr>
          <p:nvPr/>
        </p:nvPicPr>
        <p:blipFill>
          <a:blip r:embed="rId7"/>
          <a:stretch>
            <a:fillRect/>
          </a:stretch>
        </p:blipFill>
        <p:spPr>
          <a:xfrm>
            <a:off x="6775450" y="2374900"/>
            <a:ext cx="4610100" cy="1511300"/>
          </a:xfrm>
          <a:prstGeom prst="rect">
            <a:avLst/>
          </a:prstGeom>
        </p:spPr>
      </p:pic>
      <p:sp>
        <p:nvSpPr>
          <p:cNvPr id="24" name="TextBox 23"/>
          <p:cNvSpPr txBox="1"/>
          <p:nvPr/>
        </p:nvSpPr>
        <p:spPr>
          <a:xfrm>
            <a:off x="6775450" y="3920585"/>
            <a:ext cx="4702302"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a = 1 + √3/2 ≈ 1,866 · b = −0,5 · c = 1 − √3/2 ≈ 0,134.</a:t>
            </a:r>
            <a:r>
              <a:rPr sz="1250" b="1" i="0">
                <a:solidFill>
                  <a:srgbClr val="5B6575"/>
                </a:solidFill>
                <a:latin typeface="Calibri"/>
              </a:rPr>
              <a:t> E</a:t>
            </a:r>
            <a:r>
              <a:rPr sz="1250" b="0" i="0">
                <a:solidFill>
                  <a:srgbClr val="5B6575"/>
                </a:solidFill>
                <a:latin typeface="Calibri"/>
              </a:rPr>
              <a:t> en negrita es la</a:t>
            </a:r>
            <a:br/>
            <a:r>
              <a:rPr sz="1250" b="0" i="0">
                <a:solidFill>
                  <a:srgbClr val="5B6575"/>
                </a:solidFill>
                <a:latin typeface="Calibri"/>
              </a:rPr>
              <a:t>matriz de extrapolación, no el módulo de elasticidad.</a:t>
            </a:r>
          </a:p>
        </p:txBody>
      </p:sp>
      <p:sp>
        <p:nvSpPr>
          <p:cNvPr id="25" name="Rounded Rectangle 24"/>
          <p:cNvSpPr/>
          <p:nvPr/>
        </p:nvSpPr>
        <p:spPr>
          <a:xfrm>
            <a:off x="6607175" y="4614990"/>
            <a:ext cx="4946650" cy="1660398"/>
          </a:xfrm>
          <a:prstGeom prst="roundRect">
            <a:avLst>
              <a:gd name="adj" fmla="val 439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75450" y="4764470"/>
            <a:ext cx="470230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3 · Promedio en el nodo compartido</a:t>
            </a:r>
          </a:p>
        </p:txBody>
      </p:sp>
      <p:pic>
        <p:nvPicPr>
          <p:cNvPr id="27" name="Picture 26" descr="9d912ed359cbaf81.png"/>
          <p:cNvPicPr>
            <a:picLocks noChangeAspect="1"/>
          </p:cNvPicPr>
          <p:nvPr/>
        </p:nvPicPr>
        <p:blipFill>
          <a:blip r:embed="rId8"/>
          <a:stretch>
            <a:fillRect/>
          </a:stretch>
        </p:blipFill>
        <p:spPr>
          <a:xfrm>
            <a:off x="6775450" y="4457700"/>
            <a:ext cx="4610100" cy="1238250"/>
          </a:xfrm>
          <a:prstGeom prst="rect">
            <a:avLst/>
          </a:prstGeom>
        </p:spPr>
      </p:pic>
      <p:sp>
        <p:nvSpPr>
          <p:cNvPr id="28" name="TextBox 27"/>
          <p:cNvSpPr txBox="1"/>
          <p:nvPr/>
        </p:nvSpPr>
        <p:spPr>
          <a:xfrm>
            <a:off x="6775450" y="5701697"/>
            <a:ext cx="4702302"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El salto entre los valores sin promediar indica el error de discretización</a:t>
            </a:r>
            <a:br/>
            <a:r>
              <a:rPr sz="1250" b="0" i="0">
                <a:solidFill>
                  <a:srgbClr val="5B6575"/>
                </a:solidFill>
                <a:latin typeface="Calibri"/>
              </a:rPr>
              <a:t>[1, pp. 476–477].</a:t>
            </a:r>
          </a:p>
        </p:txBody>
      </p:sp>
      <p:sp>
        <p:nvSpPr>
          <p:cNvPr id="29" name="Rectangle 28"/>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5150" y="6535420"/>
            <a:ext cx="508323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2" name="TextBox 31"/>
          <p:cNvSpPr txBox="1"/>
          <p:nvPr/>
        </p:nvSpPr>
        <p:spPr>
          <a:xfrm>
            <a:off x="5523294" y="6535420"/>
            <a:ext cx="114541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1.11 · Etapa 9</a:t>
            </a:r>
          </a:p>
        </p:txBody>
      </p:sp>
      <p:sp>
        <p:nvSpPr>
          <p:cNvPr id="33" name="TextBox 32"/>
          <p:cNvSpPr txBox="1"/>
          <p:nvPr/>
        </p:nvSpPr>
        <p:spPr>
          <a:xfrm>
            <a:off x="6543612" y="6535420"/>
            <a:ext cx="508323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21</a:t>
            </a:r>
          </a:p>
        </p:txBody>
      </p:sp>
      <p:sp>
        <p:nvSpPr>
          <p:cNvPr id="34" name="Enlace a sep-intro">
            <a:hlinkClick action="ppaction://hlinksldjump" r:id="rId9"/>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nlace a sep-teoria">
            <a:hlinkClick action="ppaction://hlinksldjump" r:id="rId10"/>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nlace a sep-diseno">
            <a:hlinkClick action="ppaction://hlinksldjump" r:id="rId11"/>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nlace a sep-resultados">
            <a:hlinkClick action="ppaction://hlinksldjump" r:id="rId12"/>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nlace a sep-analisis">
            <a:hlinkClick action="ppaction://hlinksldjump" r:id="rId13"/>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nlace a sep-conclusiones">
            <a:hlinkClick action="ppaction://hlinksldjump" r:id="rId14"/>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stCondLst>
                      <p:childTnLst>
                        <p:par>
                          <p:cTn id="46" fill="hold">
                            <p:stCondLst>
                              <p:cond delay="0"/>
                            </p:stCondLst>
                            <p:childTnLst>
                              <p:par>
                                <p:cTn id="3" presetID="10" presetClass="exit" presetSubtype="0" fill="hold" grpId="0" nodeType="clickEffect">
                                  <p:stCondLst>
                                    <p:cond delay="0"/>
                                  </p:stCondLst>
                                  <p:childTnLst>
                                    <p:animEffect transition="out" filter="fade">
                                      <p:cBhvr>
                                        <p:cTn id="4" dur="200"/>
                                        <p:tgtEl>
                                          <p:spTgt spid="17"/>
                                        </p:tgtEl>
                                      </p:cBhvr>
                                    </p:animEffect>
                                    <p:set>
                                      <p:cBhvr>
                                        <p:cTn id="5" dur="1" fill="hold">
                                          <p:stCondLst>
                                            <p:cond delay="199"/>
                                          </p:stCondLst>
                                        </p:cTn>
                                        <p:tgtEl>
                                          <p:spTgt spid="17"/>
                                        </p:tgtEl>
                                        <p:attrNameLst>
                                          <p:attrName>style.visibility</p:attrName>
                                        </p:attrNameLst>
                                      </p:cBhvr>
                                      <p:to>
                                        <p:strVal val="hidden"/>
                                      </p:to>
                                    </p:set>
                                  </p:childTnLst>
                                </p:cTn>
                              </p:par>
                              <p:par>
                                <p:cTn id="6" presetID="10" presetClass="entr" presetSubtype="0" fill="hold" grpId="0" nodeType="withEffect">
                                  <p:stCondLst>
                                    <p:cond delay="20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400"/>
                                        <p:tgtEl>
                                          <p:spTgt spid="16"/>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20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20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childTnLst>
                          </p:cTn>
                        </p:par>
                      </p:childTnLst>
                    </p:cTn>
                  </p:par>
                  <p:par>
                    <p:cTn id="47" fill="hold">
                      <p:stCondLst>
                        <p:cond delay="indefinite"/>
                      </p:stCondLst>
                      <p:childTnLst>
                        <p:par>
                          <p:cTn id="48" fill="hold">
                            <p:stCondLst>
                              <p:cond delay="0"/>
                            </p:stCondLst>
                            <p:childTnLst>
                              <p:par>
                                <p:cTn id="21" presetID="10" presetClass="exit" presetSubtype="0" fill="hold" grpId="1" nodeType="clickEffect">
                                  <p:stCondLst>
                                    <p:cond delay="0"/>
                                  </p:stCondLst>
                                  <p:childTnLst>
                                    <p:animEffect transition="out" filter="fade">
                                      <p:cBhvr>
                                        <p:cTn id="22" dur="200"/>
                                        <p:tgtEl>
                                          <p:spTgt spid="16"/>
                                        </p:tgtEl>
                                      </p:cBhvr>
                                    </p:animEffect>
                                    <p:set>
                                      <p:cBhvr>
                                        <p:cTn id="23" dur="1" fill="hold">
                                          <p:stCondLst>
                                            <p:cond delay="199"/>
                                          </p:stCondLst>
                                        </p:cTn>
                                        <p:tgtEl>
                                          <p:spTgt spid="16"/>
                                        </p:tgtEl>
                                        <p:attrNameLst>
                                          <p:attrName>style.visibility</p:attrName>
                                        </p:attrNameLst>
                                      </p:cBhvr>
                                      <p:to>
                                        <p:strVal val="hidden"/>
                                      </p:to>
                                    </p:set>
                                  </p:childTnLst>
                                </p:cTn>
                              </p:par>
                              <p:par>
                                <p:cTn id="24" presetID="10" presetClass="entr" presetSubtype="0" fill="hold" grpId="0" nodeType="withEffect">
                                  <p:stCondLst>
                                    <p:cond delay="20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27" presetID="10" presetClass="entr" presetSubtype="0" fill="hold" grpId="0" nodeType="withEffect">
                                  <p:stCondLst>
                                    <p:cond delay="20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00"/>
                                        <p:tgtEl>
                                          <p:spTgt spid="25"/>
                                        </p:tgtEl>
                                      </p:cBhvr>
                                    </p:animEffect>
                                  </p:childTnLst>
                                </p:cTn>
                              </p:par>
                              <p:par>
                                <p:cTn id="30" presetID="10" presetClass="entr" presetSubtype="0" fill="hold" grpId="0" nodeType="withEffect">
                                  <p:stCondLst>
                                    <p:cond delay="20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par>
                                <p:cTn id="33" presetID="10" presetClass="entr" presetSubtype="0" fill="hold" grpId="0" nodeType="withEffect">
                                  <p:stCondLst>
                                    <p:cond delay="20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400"/>
                                        <p:tgtEl>
                                          <p:spTgt spid="27"/>
                                        </p:tgtEl>
                                      </p:cBhvr>
                                    </p:animEffect>
                                  </p:childTnLst>
                                </p:cTn>
                              </p:par>
                              <p:par>
                                <p:cTn id="36" presetID="10" presetClass="entr" presetSubtype="0" fill="hold" grpId="0" nodeType="withEffect">
                                  <p:stCondLst>
                                    <p:cond delay="20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400"/>
                                        <p:tgtEl>
                                          <p:spTgt spid="28"/>
                                        </p:tgtEl>
                                      </p:cBhvr>
                                    </p:animEffect>
                                  </p:childTnLst>
                                </p:cTn>
                              </p:par>
                            </p:childTnLst>
                          </p:cTn>
                        </p:par>
                      </p:childTnLst>
                    </p:cTn>
                  </p:par>
                  <p:par>
                    <p:cTn id="49" fill="hold">
                      <p:stCondLst>
                        <p:cond delay="indefinite"/>
                      </p:stCondLst>
                      <p:childTnLst>
                        <p:par>
                          <p:cTn id="50" fill="hold">
                            <p:stCondLst>
                              <p:cond delay="0"/>
                            </p:stCondLst>
                            <p:childTnLst>
                              <p:par>
                                <p:cTn id="39" presetID="10" presetClass="exit" presetSubtype="0" fill="hold" grpId="1" nodeType="clickEffect">
                                  <p:stCondLst>
                                    <p:cond delay="0"/>
                                  </p:stCondLst>
                                  <p:childTnLst>
                                    <p:animEffect transition="out" filter="fade">
                                      <p:cBhvr>
                                        <p:cTn id="40" dur="200"/>
                                        <p:tgtEl>
                                          <p:spTgt spid="15"/>
                                        </p:tgtEl>
                                      </p:cBhvr>
                                    </p:animEffect>
                                    <p:set>
                                      <p:cBhvr>
                                        <p:cTn id="41" dur="1" fill="hold">
                                          <p:stCondLst>
                                            <p:cond delay="199"/>
                                          </p:stCondLst>
                                        </p:cTn>
                                        <p:tgtEl>
                                          <p:spTgt spid="15"/>
                                        </p:tgtEl>
                                        <p:attrNameLst>
                                          <p:attrName>style.visibility</p:attrName>
                                        </p:attrNameLst>
                                      </p:cBhvr>
                                      <p:to>
                                        <p:strVal val="hidden"/>
                                      </p:to>
                                    </p:set>
                                  </p:childTnLst>
                                </p:cTn>
                              </p:par>
                              <p:par>
                                <p:cTn id="42" presetID="10" presetClass="entr" presetSubtype="0" fill="hold" grpId="0" nodeType="withEffect">
                                  <p:stCondLst>
                                    <p:cond delay="20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4" grpId="0" animBg="1"/>
      <p:bldP spid="25" grpId="0" animBg="1"/>
      <p:bldP spid="26" grpId="0" animBg="1"/>
      <p:bldP spid="28"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02</a:t>
            </a:r>
          </a:p>
        </p:txBody>
      </p:sp>
      <p:sp>
        <p:nvSpPr>
          <p:cNvPr id="4" name="TextBox 3"/>
          <p:cNvSpPr txBox="1"/>
          <p:nvPr/>
        </p:nvSpPr>
        <p:spPr>
          <a:xfrm>
            <a:off x="898398" y="282141"/>
            <a:ext cx="992759"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Base teórica</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Verificación y validación: dos preguntas distintas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5410200" cy="1560894"/>
          </a:xfrm>
          <a:prstGeom prst="roundRect">
            <a:avLst>
              <a:gd name="adj" fmla="val 4678"/>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7400" y="1483615"/>
            <a:ext cx="5071491"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Verificación [21, pp. 13–14]</a:t>
            </a:r>
          </a:p>
        </p:txBody>
      </p:sp>
      <p:sp>
        <p:nvSpPr>
          <p:cNvPr id="15" name="TextBox 14"/>
          <p:cNvSpPr txBox="1"/>
          <p:nvPr/>
        </p:nvSpPr>
        <p:spPr>
          <a:xfrm>
            <a:off x="787400" y="1764858"/>
            <a:ext cx="5071491" cy="298704"/>
          </a:xfrm>
          <a:prstGeom prst="rect">
            <a:avLst/>
          </a:prstGeom>
          <a:noFill/>
        </p:spPr>
        <p:txBody>
          <a:bodyPr wrap="square" lIns="0" rIns="0" tIns="0" bIns="0" anchor="t"/>
          <a:lstStyle/>
          <a:p>
            <a:pPr algn="l">
              <a:lnSpc>
                <a:spcPts val="2352"/>
              </a:lnSpc>
              <a:spcBef>
                <a:spcPts val="0"/>
              </a:spcBef>
              <a:spcAft>
                <a:spcPts val="0"/>
              </a:spcAft>
            </a:pPr>
            <a:r>
              <a:rPr sz="2100" b="1" i="0">
                <a:solidFill>
                  <a:srgbClr val="1B2A4A"/>
                </a:solidFill>
                <a:latin typeface="Calibri"/>
              </a:rPr>
              <a:t>¿Se resuelven bien las ecuaciones?</a:t>
            </a:r>
          </a:p>
        </p:txBody>
      </p:sp>
      <p:sp>
        <p:nvSpPr>
          <p:cNvPr id="16" name="TextBox 15"/>
          <p:cNvSpPr txBox="1"/>
          <p:nvPr/>
        </p:nvSpPr>
        <p:spPr>
          <a:xfrm>
            <a:off x="787400" y="2122449"/>
            <a:ext cx="5071491" cy="525780"/>
          </a:xfrm>
          <a:prstGeom prst="rect">
            <a:avLst/>
          </a:prstGeom>
          <a:noFill/>
        </p:spPr>
        <p:txBody>
          <a:bodyPr wrap="square" lIns="0" rIns="0" tIns="0" bIns="0" anchor="t"/>
          <a:lstStyle/>
          <a:p>
            <a:pPr algn="l">
              <a:lnSpc>
                <a:spcPts val="2070"/>
              </a:lnSpc>
              <a:spcBef>
                <a:spcPts val="0"/>
              </a:spcBef>
              <a:spcAft>
                <a:spcPts val="0"/>
              </a:spcAft>
            </a:pPr>
            <a:r>
              <a:rPr sz="1500" b="0" i="0">
                <a:solidFill>
                  <a:srgbClr val="3F4A5A"/>
                </a:solidFill>
                <a:latin typeface="Calibri"/>
              </a:rPr>
              <a:t>Soluciones manufacturadas: se elige un campo exacto, se</a:t>
            </a:r>
            <a:br/>
            <a:r>
              <a:rPr sz="1500" b="0" i="0">
                <a:solidFill>
                  <a:srgbClr val="3F4A5A"/>
                </a:solidFill>
                <a:latin typeface="Calibri"/>
              </a:rPr>
              <a:t>deduce la carga que lo produce y se mide el error del software.</a:t>
            </a:r>
          </a:p>
        </p:txBody>
      </p:sp>
      <p:sp>
        <p:nvSpPr>
          <p:cNvPr id="17" name="Rounded Rectangle 16"/>
          <p:cNvSpPr/>
          <p:nvPr/>
        </p:nvSpPr>
        <p:spPr>
          <a:xfrm>
            <a:off x="6213475" y="1283272"/>
            <a:ext cx="5410200" cy="1560894"/>
          </a:xfrm>
          <a:prstGeom prst="roundRect">
            <a:avLst>
              <a:gd name="adj" fmla="val 4678"/>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2550" y="1483615"/>
            <a:ext cx="5071491"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Validación, en esta tesis</a:t>
            </a:r>
          </a:p>
        </p:txBody>
      </p:sp>
      <p:sp>
        <p:nvSpPr>
          <p:cNvPr id="19" name="TextBox 18"/>
          <p:cNvSpPr txBox="1"/>
          <p:nvPr/>
        </p:nvSpPr>
        <p:spPr>
          <a:xfrm>
            <a:off x="6432550" y="1764858"/>
            <a:ext cx="5071491" cy="298704"/>
          </a:xfrm>
          <a:prstGeom prst="rect">
            <a:avLst/>
          </a:prstGeom>
          <a:noFill/>
        </p:spPr>
        <p:txBody>
          <a:bodyPr wrap="square" lIns="0" rIns="0" tIns="0" bIns="0" anchor="t"/>
          <a:lstStyle/>
          <a:p>
            <a:pPr algn="l">
              <a:lnSpc>
                <a:spcPts val="2352"/>
              </a:lnSpc>
              <a:spcBef>
                <a:spcPts val="0"/>
              </a:spcBef>
              <a:spcAft>
                <a:spcPts val="0"/>
              </a:spcAft>
            </a:pPr>
            <a:r>
              <a:rPr sz="2100" b="1" i="0">
                <a:solidFill>
                  <a:srgbClr val="1B2A4A"/>
                </a:solidFill>
                <a:latin typeface="Calibri"/>
              </a:rPr>
              <a:t>¿Coinciden con referencias externas?</a:t>
            </a:r>
          </a:p>
        </p:txBody>
      </p:sp>
      <p:sp>
        <p:nvSpPr>
          <p:cNvPr id="20" name="TextBox 19"/>
          <p:cNvSpPr txBox="1"/>
          <p:nvPr/>
        </p:nvSpPr>
        <p:spPr>
          <a:xfrm>
            <a:off x="6432550" y="2122449"/>
            <a:ext cx="5071491" cy="525780"/>
          </a:xfrm>
          <a:prstGeom prst="rect">
            <a:avLst/>
          </a:prstGeom>
          <a:noFill/>
        </p:spPr>
        <p:txBody>
          <a:bodyPr wrap="square" lIns="0" rIns="0" tIns="0" bIns="0" anchor="t"/>
          <a:lstStyle/>
          <a:p>
            <a:pPr algn="l">
              <a:lnSpc>
                <a:spcPts val="2070"/>
              </a:lnSpc>
              <a:spcBef>
                <a:spcPts val="0"/>
              </a:spcBef>
              <a:spcAft>
                <a:spcPts val="0"/>
              </a:spcAft>
            </a:pPr>
            <a:r>
              <a:rPr sz="1500" b="0" i="0">
                <a:solidFill>
                  <a:srgbClr val="3F4A5A"/>
                </a:solidFill>
                <a:latin typeface="Calibri"/>
              </a:rPr>
              <a:t>Contraste con una solución analítica y con un modelo comercial</a:t>
            </a:r>
            <a:br/>
            <a:r>
              <a:rPr sz="1500" b="0" i="0">
                <a:solidFill>
                  <a:srgbClr val="3F4A5A"/>
                </a:solidFill>
                <a:latin typeface="Calibri"/>
              </a:rPr>
              <a:t>de exactitud conocida; no con ensayos físicos.</a:t>
            </a:r>
          </a:p>
        </p:txBody>
      </p:sp>
      <p:pic>
        <p:nvPicPr>
          <p:cNvPr id="21" name="Picture 20" descr="c6f65d5fe47cea9a.png"/>
          <p:cNvPicPr>
            <a:picLocks noChangeAspect="1"/>
          </p:cNvPicPr>
          <p:nvPr/>
        </p:nvPicPr>
        <p:blipFill>
          <a:blip r:embed="rId2"/>
          <a:stretch>
            <a:fillRect/>
          </a:stretch>
        </p:blipFill>
        <p:spPr>
          <a:xfrm>
            <a:off x="565150" y="3035300"/>
            <a:ext cx="10922000" cy="2482850"/>
          </a:xfrm>
          <a:prstGeom prst="rect">
            <a:avLst/>
          </a:prstGeom>
        </p:spPr>
      </p:pic>
      <p:pic>
        <p:nvPicPr>
          <p:cNvPr id="22" name="Picture 21" descr="67bdb21b8b187050.png"/>
          <p:cNvPicPr>
            <a:picLocks noChangeAspect="1"/>
          </p:cNvPicPr>
          <p:nvPr/>
        </p:nvPicPr>
        <p:blipFill>
          <a:blip r:embed="rId3"/>
          <a:stretch>
            <a:fillRect/>
          </a:stretch>
        </p:blipFill>
        <p:spPr>
          <a:xfrm>
            <a:off x="565150" y="3035300"/>
            <a:ext cx="10922000" cy="2482850"/>
          </a:xfrm>
          <a:prstGeom prst="rect">
            <a:avLst/>
          </a:prstGeom>
        </p:spPr>
      </p:pic>
      <p:sp>
        <p:nvSpPr>
          <p:cNvPr id="23" name="Rectangle 22"/>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5150" y="6535420"/>
            <a:ext cx="5324221"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6" name="TextBox 25"/>
          <p:cNvSpPr txBox="1"/>
          <p:nvPr/>
        </p:nvSpPr>
        <p:spPr>
          <a:xfrm>
            <a:off x="5759577" y="6535420"/>
            <a:ext cx="67291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1.13</a:t>
            </a:r>
          </a:p>
        </p:txBody>
      </p:sp>
      <p:sp>
        <p:nvSpPr>
          <p:cNvPr id="27" name="TextBox 26"/>
          <p:cNvSpPr txBox="1"/>
          <p:nvPr/>
        </p:nvSpPr>
        <p:spPr>
          <a:xfrm>
            <a:off x="6302629" y="6535420"/>
            <a:ext cx="5324221"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22</a:t>
            </a:r>
          </a:p>
        </p:txBody>
      </p:sp>
      <p:sp>
        <p:nvSpPr>
          <p:cNvPr id="28" name="Enlace a sep-intro">
            <a:hlinkClick action="ppaction://hlinksldjump" r:id="rId4"/>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nlace a sep-teoria">
            <a:hlinkClick action="ppaction://hlinksldjump" r:id="rId5"/>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nlace a sep-diseno">
            <a:hlinkClick action="ppaction://hlinksldjump" r:id="rId6"/>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nlace a sep-resultados">
            <a:hlinkClick action="ppaction://hlinksldjump" r:id="rId7"/>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nlace a sep-analisis">
            <a:hlinkClick action="ppaction://hlinksldjump" r:id="rId8"/>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nlace a sep-conclusiones">
            <a:hlinkClick action="ppaction://hlinksldjump" r:id="rId9"/>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7"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23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23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23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23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childTnLst>
                          </p:cTn>
                        </p:par>
                      </p:childTnLst>
                    </p:cTn>
                  </p:par>
                  <p:par>
                    <p:cTn id="38" fill="hold">
                      <p:stCondLst>
                        <p:cond delay="indefinite"/>
                      </p:stCondLst>
                      <p:childTnLst>
                        <p:par>
                          <p:cTn id="39"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400"/>
                                        <p:tgtEl>
                                          <p:spTgt spid="22"/>
                                        </p:tgtEl>
                                      </p:cBhvr>
                                    </p:animEffect>
                                  </p:childTnLst>
                                </p:cTn>
                              </p:par>
                            </p:childTnLst>
                          </p:cTn>
                        </p:par>
                      </p:childTnLst>
                    </p:cTn>
                  </p:par>
                  <p:par>
                    <p:cTn id="40" fill="hold">
                      <p:stCondLst>
                        <p:cond delay="indefinite"/>
                      </p:stCondLst>
                      <p:childTnLst>
                        <p:par>
                          <p:cTn id="41" fill="hold">
                            <p:stCondLst>
                              <p:cond delay="0"/>
                            </p:stCondLst>
                            <p:childTnLst>
                              <p:par>
                                <p:cTn id="30" presetID="10" presetClass="exit" presetSubtype="0" fill="hold" grpId="1" nodeType="clickEffect">
                                  <p:stCondLst>
                                    <p:cond delay="0"/>
                                  </p:stCondLst>
                                  <p:childTnLst>
                                    <p:animEffect transition="out" filter="fade">
                                      <p:cBhvr>
                                        <p:cTn id="31" dur="200"/>
                                        <p:tgtEl>
                                          <p:spTgt spid="22"/>
                                        </p:tgtEl>
                                      </p:cBhvr>
                                    </p:animEffect>
                                    <p:set>
                                      <p:cBhvr>
                                        <p:cTn id="32" dur="1" fill="hold">
                                          <p:stCondLst>
                                            <p:cond delay="199"/>
                                          </p:stCondLst>
                                        </p:cTn>
                                        <p:tgtEl>
                                          <p:spTgt spid="22"/>
                                        </p:tgtEl>
                                        <p:attrNameLst>
                                          <p:attrName>style.visibility</p:attrName>
                                        </p:attrNameLst>
                                      </p:cBhvr>
                                      <p:to>
                                        <p:strVal val="hidden"/>
                                      </p:to>
                                    </p:set>
                                  </p:childTnLst>
                                </p:cTn>
                              </p:par>
                              <p:par>
                                <p:cTn id="33" presetID="10" presetClass="entr" presetSubtype="0" fill="hold" grpId="0" nodeType="withEffect">
                                  <p:stCondLst>
                                    <p:cond delay="20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Picture 1"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52500" y="2117280"/>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03</a:t>
            </a:r>
          </a:p>
        </p:txBody>
      </p:sp>
      <p:sp>
        <p:nvSpPr>
          <p:cNvPr id="4" name="Rectangle 3"/>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Diseño y desarrollo del modelo</a:t>
            </a:r>
          </a:p>
        </p:txBody>
      </p:sp>
      <p:sp>
        <p:nvSpPr>
          <p:cNvPr id="7" name="Rectangle 6"/>
          <p:cNvSpPr/>
          <p:nvPr/>
        </p:nvSpPr>
        <p:spPr>
          <a:xfrm>
            <a:off x="3111500" y="2567876"/>
            <a:ext cx="8128000" cy="8685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11500" y="2567876"/>
            <a:ext cx="38100" cy="868553"/>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5200" y="2731668"/>
            <a:ext cx="7888986" cy="62738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El modelo de investigación —variables, casos y criterios fijados de antemano—</a:t>
            </a:r>
            <a:br/>
            <a:r>
              <a:rPr sz="1900" b="0" i="0">
                <a:solidFill>
                  <a:srgbClr val="C7D2E8"/>
                </a:solidFill>
                <a:latin typeface="Calibri"/>
              </a:rPr>
              <a:t>y el software que lo materializa.</a:t>
            </a:r>
          </a:p>
        </p:txBody>
      </p:sp>
      <p:sp>
        <p:nvSpPr>
          <p:cNvPr id="10" name="Rounded Rectangle 9"/>
          <p:cNvSpPr/>
          <p:nvPr/>
        </p:nvSpPr>
        <p:spPr>
          <a:xfrm>
            <a:off x="95567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96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01</a:t>
            </a:r>
            <a:br/>
            <a:r>
              <a:rPr sz="1100" b="0" i="0">
                <a:solidFill>
                  <a:srgbClr val="E6ECF7"/>
                </a:solidFill>
                <a:latin typeface="Calibri"/>
              </a:rPr>
              <a:t>Introducción</a:t>
            </a:r>
          </a:p>
        </p:txBody>
      </p:sp>
      <p:sp>
        <p:nvSpPr>
          <p:cNvPr id="12" name="Rounded Rectangle 11"/>
          <p:cNvSpPr/>
          <p:nvPr/>
        </p:nvSpPr>
        <p:spPr>
          <a:xfrm>
            <a:off x="268922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02</a:t>
            </a:r>
            <a:br/>
            <a:r>
              <a:rPr sz="1100" b="0" i="0">
                <a:solidFill>
                  <a:srgbClr val="E6ECF7"/>
                </a:solidFill>
                <a:latin typeface="Calibri"/>
              </a:rPr>
              <a:t>Base teórica</a:t>
            </a:r>
          </a:p>
        </p:txBody>
      </p:sp>
      <p:sp>
        <p:nvSpPr>
          <p:cNvPr id="14" name="Rounded Rectangle 13"/>
          <p:cNvSpPr/>
          <p:nvPr/>
        </p:nvSpPr>
        <p:spPr>
          <a:xfrm>
            <a:off x="4419600" y="5671947"/>
            <a:ext cx="1619250" cy="576453"/>
          </a:xfrm>
          <a:prstGeom prst="roundRect">
            <a:avLst>
              <a:gd name="adj" fmla="val 11015"/>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67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03</a:t>
            </a:r>
            <a:br/>
            <a:r>
              <a:rPr sz="1100" b="1" i="0">
                <a:solidFill>
                  <a:srgbClr val="FFFFFF"/>
                </a:solidFill>
                <a:latin typeface="Calibri"/>
              </a:rPr>
              <a:t>Diseño y desarrollo</a:t>
            </a:r>
          </a:p>
        </p:txBody>
      </p:sp>
      <p:sp>
        <p:nvSpPr>
          <p:cNvPr id="16" name="Rounded Rectangle 15"/>
          <p:cNvSpPr/>
          <p:nvPr/>
        </p:nvSpPr>
        <p:spPr>
          <a:xfrm>
            <a:off x="615632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03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04</a:t>
            </a:r>
            <a:br/>
            <a:r>
              <a:rPr sz="1100" b="0" i="0">
                <a:solidFill>
                  <a:srgbClr val="C7D2E8"/>
                </a:solidFill>
                <a:latin typeface="Calibri"/>
              </a:rPr>
              <a:t>Resultados</a:t>
            </a:r>
          </a:p>
        </p:txBody>
      </p:sp>
      <p:sp>
        <p:nvSpPr>
          <p:cNvPr id="18" name="Rounded Rectangle 17"/>
          <p:cNvSpPr/>
          <p:nvPr/>
        </p:nvSpPr>
        <p:spPr>
          <a:xfrm>
            <a:off x="788987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438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05</a:t>
            </a:r>
            <a:br/>
            <a:r>
              <a:rPr sz="1100" b="0" i="0">
                <a:solidFill>
                  <a:srgbClr val="C7D2E8"/>
                </a:solidFill>
                <a:latin typeface="Calibri"/>
              </a:rPr>
              <a:t>Análisis</a:t>
            </a:r>
          </a:p>
        </p:txBody>
      </p:sp>
      <p:sp>
        <p:nvSpPr>
          <p:cNvPr id="20" name="Rounded Rectangle 19"/>
          <p:cNvSpPr/>
          <p:nvPr/>
        </p:nvSpPr>
        <p:spPr>
          <a:xfrm>
            <a:off x="962342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774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06</a:t>
            </a:r>
            <a:br/>
            <a:r>
              <a:rPr sz="1100" b="0" i="0">
                <a:solidFill>
                  <a:srgbClr val="C7D2E8"/>
                </a:solidFill>
                <a:latin typeface="Calibri"/>
              </a:rPr>
              <a:t>Conclusiones</a:t>
            </a:r>
          </a:p>
        </p:txBody>
      </p:sp>
      <p:sp>
        <p:nvSpPr>
          <p:cNvPr id="22" name="Enlace a sep-intro">
            <a:hlinkClick action="ppaction://hlinksldjump" r:id="rId3"/>
          </p:cNvPr>
          <p:cNvSpPr/>
          <p:nvPr/>
        </p:nvSpPr>
        <p:spPr>
          <a:xfrm>
            <a:off x="9525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nlace a sep-teoria">
            <a:hlinkClick action="ppaction://hlinksldjump" r:id="rId4"/>
          </p:cNvPr>
          <p:cNvSpPr/>
          <p:nvPr/>
        </p:nvSpPr>
        <p:spPr>
          <a:xfrm>
            <a:off x="26860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nlace a sep-diseno">
            <a:hlinkClick action="ppaction://hlinksldjump" r:id="rId5"/>
          </p:cNvPr>
          <p:cNvSpPr/>
          <p:nvPr/>
        </p:nvSpPr>
        <p:spPr>
          <a:xfrm>
            <a:off x="44196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nlace a sep-resultados">
            <a:hlinkClick action="ppaction://hlinksldjump" r:id="rId6"/>
          </p:cNvPr>
          <p:cNvSpPr/>
          <p:nvPr/>
        </p:nvSpPr>
        <p:spPr>
          <a:xfrm>
            <a:off x="61531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nlace a sep-analisis">
            <a:hlinkClick action="ppaction://hlinksldjump" r:id="rId7"/>
          </p:cNvPr>
          <p:cNvSpPr/>
          <p:nvPr/>
        </p:nvSpPr>
        <p:spPr>
          <a:xfrm>
            <a:off x="78867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nlace a sep-conclusiones">
            <a:hlinkClick action="ppaction://hlinksldjump" r:id="rId8"/>
          </p:cNvPr>
          <p:cNvSpPr/>
          <p:nvPr/>
        </p:nvSpPr>
        <p:spPr>
          <a:xfrm>
            <a:off x="96202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2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2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5" presetID="10" presetClass="entr" presetSubtype="0" fill="hold" grpId="0" nodeType="withEffect">
                                  <p:stCondLst>
                                    <p:cond delay="34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34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4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4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45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4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45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45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45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Modelo de investigación: simulación numérica</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1500" y="1286446"/>
            <a:ext cx="3117342" cy="1619250"/>
          </a:xfrm>
          <a:prstGeom prst="roundRect">
            <a:avLst>
              <a:gd name="adj" fmla="val 7450"/>
            </a:avLst>
          </a:prstGeom>
          <a:solidFill>
            <a:srgbClr val="F6F8FC"/>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5650" y="1453356"/>
            <a:ext cx="2804033" cy="133350"/>
          </a:xfrm>
          <a:prstGeom prst="rect">
            <a:avLst/>
          </a:prstGeom>
          <a:noFill/>
        </p:spPr>
        <p:txBody>
          <a:bodyPr wrap="square" lIns="0" rIns="0" tIns="0" bIns="0" anchor="t"/>
          <a:lstStyle/>
          <a:p>
            <a:pPr algn="l">
              <a:lnSpc>
                <a:spcPts val="1050"/>
              </a:lnSpc>
              <a:spcBef>
                <a:spcPts val="0"/>
              </a:spcBef>
              <a:spcAft>
                <a:spcPts val="0"/>
              </a:spcAft>
            </a:pPr>
            <a:r>
              <a:rPr sz="1050" b="1" i="0" cap="all" spc="126">
                <a:solidFill>
                  <a:srgbClr val="E8741A"/>
                </a:solidFill>
                <a:latin typeface="Calibri"/>
              </a:rPr>
              <a:t>Factores</a:t>
            </a:r>
          </a:p>
        </p:txBody>
      </p:sp>
      <p:sp>
        <p:nvSpPr>
          <p:cNvPr id="15" name="TextBox 14"/>
          <p:cNvSpPr txBox="1"/>
          <p:nvPr/>
        </p:nvSpPr>
        <p:spPr>
          <a:xfrm>
            <a:off x="755650" y="1656652"/>
            <a:ext cx="2804033" cy="508000"/>
          </a:xfrm>
          <a:prstGeom prst="rect">
            <a:avLst/>
          </a:prstGeom>
          <a:noFill/>
        </p:spPr>
        <p:txBody>
          <a:bodyPr wrap="square" lIns="0" rIns="0" tIns="0" bIns="0" anchor="t"/>
          <a:lstStyle/>
          <a:p>
            <a:pPr algn="l">
              <a:lnSpc>
                <a:spcPts val="2000"/>
              </a:lnSpc>
              <a:spcBef>
                <a:spcPts val="0"/>
              </a:spcBef>
              <a:spcAft>
                <a:spcPts val="0"/>
              </a:spcAft>
            </a:pPr>
            <a:r>
              <a:rPr sz="1600" b="0" i="0">
                <a:solidFill>
                  <a:srgbClr val="1F2937"/>
                </a:solidFill>
                <a:latin typeface="Calibri"/>
              </a:rPr>
              <a:t>Tipo de elemento</a:t>
            </a:r>
            <a:br/>
            <a:r>
              <a:rPr sz="1600" b="1" i="0">
                <a:solidFill>
                  <a:srgbClr val="1F2937"/>
                </a:solidFill>
                <a:latin typeface="Calibri"/>
              </a:rPr>
              <a:t>Q4 · Q9</a:t>
            </a:r>
          </a:p>
        </p:txBody>
      </p:sp>
      <p:sp>
        <p:nvSpPr>
          <p:cNvPr id="16" name="TextBox 15"/>
          <p:cNvSpPr txBox="1"/>
          <p:nvPr/>
        </p:nvSpPr>
        <p:spPr>
          <a:xfrm>
            <a:off x="755650" y="2240852"/>
            <a:ext cx="2804033" cy="508000"/>
          </a:xfrm>
          <a:prstGeom prst="rect">
            <a:avLst/>
          </a:prstGeom>
          <a:noFill/>
        </p:spPr>
        <p:txBody>
          <a:bodyPr wrap="square" lIns="0" rIns="0" tIns="0" bIns="0" anchor="t"/>
          <a:lstStyle/>
          <a:p>
            <a:pPr algn="l">
              <a:lnSpc>
                <a:spcPts val="2000"/>
              </a:lnSpc>
              <a:spcBef>
                <a:spcPts val="0"/>
              </a:spcBef>
              <a:spcAft>
                <a:spcPts val="0"/>
              </a:spcAft>
            </a:pPr>
            <a:r>
              <a:rPr sz="1600" b="0" i="0">
                <a:solidFill>
                  <a:srgbClr val="1F2937"/>
                </a:solidFill>
                <a:latin typeface="Calibri"/>
              </a:rPr>
              <a:t>Densidad de malla</a:t>
            </a:r>
            <a:br/>
            <a:r>
              <a:rPr sz="1600" b="1" i="0">
                <a:solidFill>
                  <a:srgbClr val="1F2937"/>
                </a:solidFill>
                <a:latin typeface="Calibri"/>
              </a:rPr>
              <a:t>N = 2 … 32</a:t>
            </a:r>
          </a:p>
        </p:txBody>
      </p:sp>
      <p:sp>
        <p:nvSpPr>
          <p:cNvPr id="17" name="TextBox 16"/>
          <p:cNvSpPr txBox="1"/>
          <p:nvPr/>
        </p:nvSpPr>
        <p:spPr>
          <a:xfrm>
            <a:off x="3669792" y="1953768"/>
            <a:ext cx="495300" cy="342900"/>
          </a:xfrm>
          <a:prstGeom prst="rect">
            <a:avLst/>
          </a:prstGeom>
          <a:noFill/>
        </p:spPr>
        <p:txBody>
          <a:bodyPr wrap="square" lIns="0" rIns="0" tIns="0" bIns="0" anchor="t"/>
          <a:lstStyle/>
          <a:p>
            <a:pPr algn="ctr">
              <a:lnSpc>
                <a:spcPts val="2700"/>
              </a:lnSpc>
              <a:spcBef>
                <a:spcPts val="0"/>
              </a:spcBef>
              <a:spcAft>
                <a:spcPts val="0"/>
              </a:spcAft>
            </a:pPr>
            <a:r>
              <a:rPr sz="2700" b="1" i="0">
                <a:solidFill>
                  <a:srgbClr val="5B6575"/>
                </a:solidFill>
                <a:latin typeface="Calibri"/>
              </a:rPr>
              <a:t>→</a:t>
            </a:r>
          </a:p>
        </p:txBody>
      </p:sp>
      <p:sp>
        <p:nvSpPr>
          <p:cNvPr id="18" name="Rounded Rectangle 17"/>
          <p:cNvSpPr/>
          <p:nvPr/>
        </p:nvSpPr>
        <p:spPr>
          <a:xfrm>
            <a:off x="4146042" y="1286446"/>
            <a:ext cx="3899789" cy="1619250"/>
          </a:xfrm>
          <a:prstGeom prst="roundRect">
            <a:avLst>
              <a:gd name="adj" fmla="val 7450"/>
            </a:avLst>
          </a:prstGeom>
          <a:gradFill rotWithShape="1">
            <a:gsLst>
              <a:gs pos="0">
                <a:srgbClr val="EAF0FA"/>
              </a:gs>
              <a:gs pos="100000">
                <a:srgbClr val="FFFFFF"/>
              </a:gs>
            </a:gsLst>
            <a:lin scaled="0" ang="16200000"/>
          </a:gra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30192" y="1459706"/>
            <a:ext cx="3602101" cy="133350"/>
          </a:xfrm>
          <a:prstGeom prst="rect">
            <a:avLst/>
          </a:prstGeom>
          <a:noFill/>
        </p:spPr>
        <p:txBody>
          <a:bodyPr wrap="square" lIns="0" rIns="0" tIns="0" bIns="0" anchor="t"/>
          <a:lstStyle/>
          <a:p>
            <a:pPr algn="l">
              <a:lnSpc>
                <a:spcPts val="1050"/>
              </a:lnSpc>
              <a:spcBef>
                <a:spcPts val="0"/>
              </a:spcBef>
              <a:spcAft>
                <a:spcPts val="0"/>
              </a:spcAft>
            </a:pPr>
            <a:r>
              <a:rPr sz="1050" b="1" i="0" cap="all" spc="126">
                <a:solidFill>
                  <a:srgbClr val="5B6575"/>
                </a:solidFill>
                <a:latin typeface="Calibri"/>
              </a:rPr>
              <a:t>Objeto de arquitectura conocida</a:t>
            </a:r>
          </a:p>
        </p:txBody>
      </p:sp>
      <p:sp>
        <p:nvSpPr>
          <p:cNvPr id="20" name="TextBox 19"/>
          <p:cNvSpPr txBox="1"/>
          <p:nvPr/>
        </p:nvSpPr>
        <p:spPr>
          <a:xfrm>
            <a:off x="4330192" y="1663002"/>
            <a:ext cx="3602101" cy="762000"/>
          </a:xfrm>
          <a:prstGeom prst="rect">
            <a:avLst/>
          </a:prstGeom>
          <a:noFill/>
        </p:spPr>
        <p:txBody>
          <a:bodyPr wrap="square" lIns="0" rIns="0" tIns="0" bIns="0" anchor="t"/>
          <a:lstStyle/>
          <a:p>
            <a:pPr algn="l">
              <a:lnSpc>
                <a:spcPts val="2000"/>
              </a:lnSpc>
              <a:spcBef>
                <a:spcPts val="0"/>
              </a:spcBef>
              <a:spcAft>
                <a:spcPts val="0"/>
              </a:spcAft>
            </a:pPr>
            <a:r>
              <a:rPr sz="1600" b="1" i="0">
                <a:solidFill>
                  <a:srgbClr val="1F2937"/>
                </a:solidFill>
                <a:latin typeface="Calibri"/>
              </a:rPr>
              <a:t>Motor de EduFEM</a:t>
            </a:r>
            <a:br/>
            <a:r>
              <a:rPr sz="1600" b="0" i="0">
                <a:solidFill>
                  <a:srgbClr val="1F2937"/>
                </a:solidFill>
                <a:latin typeface="Calibri"/>
              </a:rPr>
              <a:t>determinista: la misma entrada da la</a:t>
            </a:r>
            <a:br/>
            <a:r>
              <a:rPr sz="1600" b="0" i="0">
                <a:solidFill>
                  <a:srgbClr val="1F2937"/>
                </a:solidFill>
                <a:latin typeface="Calibri"/>
              </a:rPr>
              <a:t>misma salida</a:t>
            </a:r>
          </a:p>
        </p:txBody>
      </p:sp>
      <p:sp>
        <p:nvSpPr>
          <p:cNvPr id="21" name="Rectangle 20"/>
          <p:cNvSpPr/>
          <p:nvPr/>
        </p:nvSpPr>
        <p:spPr>
          <a:xfrm>
            <a:off x="4330192" y="2499296"/>
            <a:ext cx="3531489" cy="241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4330192" y="2502472"/>
            <a:ext cx="3531489" cy="0"/>
          </a:xfrm>
          <a:prstGeom prst="line">
            <a:avLst/>
          </a:prstGeom>
          <a:ln w="6350">
            <a:solidFill>
              <a:srgbClr val="C3CDDC"/>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30192" y="2574122"/>
            <a:ext cx="3602101" cy="170561"/>
          </a:xfrm>
          <a:prstGeom prst="rect">
            <a:avLst/>
          </a:prstGeom>
          <a:noFill/>
        </p:spPr>
        <p:txBody>
          <a:bodyPr wrap="square" lIns="0" rIns="0" tIns="0" bIns="0" anchor="t"/>
          <a:lstStyle/>
          <a:p>
            <a:pPr algn="l">
              <a:lnSpc>
                <a:spcPts val="1343"/>
              </a:lnSpc>
              <a:spcBef>
                <a:spcPts val="0"/>
              </a:spcBef>
              <a:spcAft>
                <a:spcPts val="0"/>
              </a:spcAft>
            </a:pPr>
            <a:r>
              <a:rPr sz="1100" b="0" i="0">
                <a:solidFill>
                  <a:srgbClr val="5B6575"/>
                </a:solidFill>
                <a:latin typeface="Calibri"/>
              </a:rPr>
              <a:t>Controlados: tipo de análisis · orden de cuadratura</a:t>
            </a:r>
          </a:p>
        </p:txBody>
      </p:sp>
      <p:sp>
        <p:nvSpPr>
          <p:cNvPr id="24" name="TextBox 23"/>
          <p:cNvSpPr txBox="1"/>
          <p:nvPr/>
        </p:nvSpPr>
        <p:spPr>
          <a:xfrm>
            <a:off x="8026781" y="1953768"/>
            <a:ext cx="495300" cy="342900"/>
          </a:xfrm>
          <a:prstGeom prst="rect">
            <a:avLst/>
          </a:prstGeom>
          <a:noFill/>
        </p:spPr>
        <p:txBody>
          <a:bodyPr wrap="square" lIns="0" rIns="0" tIns="0" bIns="0" anchor="t"/>
          <a:lstStyle/>
          <a:p>
            <a:pPr algn="ctr">
              <a:lnSpc>
                <a:spcPts val="2700"/>
              </a:lnSpc>
              <a:spcBef>
                <a:spcPts val="0"/>
              </a:spcBef>
              <a:spcAft>
                <a:spcPts val="0"/>
              </a:spcAft>
            </a:pPr>
            <a:r>
              <a:rPr sz="2700" b="1" i="0">
                <a:solidFill>
                  <a:srgbClr val="5B6575"/>
                </a:solidFill>
                <a:latin typeface="Calibri"/>
              </a:rPr>
              <a:t>→</a:t>
            </a:r>
          </a:p>
        </p:txBody>
      </p:sp>
      <p:sp>
        <p:nvSpPr>
          <p:cNvPr id="25" name="Rounded Rectangle 24"/>
          <p:cNvSpPr/>
          <p:nvPr/>
        </p:nvSpPr>
        <p:spPr>
          <a:xfrm>
            <a:off x="8503031" y="1286446"/>
            <a:ext cx="3117342" cy="1619250"/>
          </a:xfrm>
          <a:prstGeom prst="roundRect">
            <a:avLst>
              <a:gd name="adj" fmla="val 7450"/>
            </a:avLst>
          </a:prstGeom>
          <a:solidFill>
            <a:srgbClr val="F6F8FC"/>
          </a:solid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7181" y="1745456"/>
            <a:ext cx="2804033" cy="133350"/>
          </a:xfrm>
          <a:prstGeom prst="rect">
            <a:avLst/>
          </a:prstGeom>
          <a:noFill/>
        </p:spPr>
        <p:txBody>
          <a:bodyPr wrap="square" lIns="0" rIns="0" tIns="0" bIns="0" anchor="t"/>
          <a:lstStyle/>
          <a:p>
            <a:pPr algn="l">
              <a:lnSpc>
                <a:spcPts val="1050"/>
              </a:lnSpc>
              <a:spcBef>
                <a:spcPts val="0"/>
              </a:spcBef>
              <a:spcAft>
                <a:spcPts val="0"/>
              </a:spcAft>
            </a:pPr>
            <a:r>
              <a:rPr sz="1050" b="1" i="0" cap="all" spc="126">
                <a:solidFill>
                  <a:srgbClr val="1F77B4"/>
                </a:solidFill>
                <a:latin typeface="Calibri"/>
              </a:rPr>
              <a:t>Respuesta</a:t>
            </a:r>
          </a:p>
        </p:txBody>
      </p:sp>
      <p:sp>
        <p:nvSpPr>
          <p:cNvPr id="27" name="TextBox 26"/>
          <p:cNvSpPr txBox="1"/>
          <p:nvPr/>
        </p:nvSpPr>
        <p:spPr>
          <a:xfrm>
            <a:off x="8687181" y="1948752"/>
            <a:ext cx="2804033" cy="508000"/>
          </a:xfrm>
          <a:prstGeom prst="rect">
            <a:avLst/>
          </a:prstGeom>
          <a:noFill/>
        </p:spPr>
        <p:txBody>
          <a:bodyPr wrap="square" lIns="0" rIns="0" tIns="0" bIns="0" anchor="t"/>
          <a:lstStyle/>
          <a:p>
            <a:pPr algn="l">
              <a:lnSpc>
                <a:spcPts val="2000"/>
              </a:lnSpc>
              <a:spcBef>
                <a:spcPts val="0"/>
              </a:spcBef>
              <a:spcAft>
                <a:spcPts val="0"/>
              </a:spcAft>
            </a:pPr>
            <a:r>
              <a:rPr sz="1600" b="1" i="0">
                <a:solidFill>
                  <a:srgbClr val="1F2937"/>
                </a:solidFill>
                <a:latin typeface="Calibri"/>
              </a:rPr>
              <a:t>Exactitud</a:t>
            </a:r>
            <a:br/>
            <a:r>
              <a:rPr sz="1600" b="0" i="0">
                <a:solidFill>
                  <a:srgbClr val="1F2937"/>
                </a:solidFill>
                <a:latin typeface="Calibri"/>
              </a:rPr>
              <a:t>errores y tasas de convergencia</a:t>
            </a:r>
          </a:p>
        </p:txBody>
      </p:sp>
      <p:sp>
        <p:nvSpPr>
          <p:cNvPr id="28" name="Rounded Rectangle 27"/>
          <p:cNvSpPr/>
          <p:nvPr/>
        </p:nvSpPr>
        <p:spPr>
          <a:xfrm>
            <a:off x="565150" y="3077146"/>
            <a:ext cx="11061700" cy="789813"/>
          </a:xfrm>
          <a:prstGeom prst="roundRect">
            <a:avLst>
              <a:gd name="adj" fmla="val 12863"/>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0250" y="3190443"/>
            <a:ext cx="10946130" cy="561340"/>
          </a:xfrm>
          <a:prstGeom prst="rect">
            <a:avLst/>
          </a:prstGeom>
          <a:noFill/>
        </p:spPr>
        <p:txBody>
          <a:bodyPr wrap="square" lIns="0" rIns="0" tIns="0" bIns="0" anchor="t"/>
          <a:lstStyle/>
          <a:p>
            <a:pPr algn="l">
              <a:lnSpc>
                <a:spcPts val="2210"/>
              </a:lnSpc>
              <a:spcBef>
                <a:spcPts val="0"/>
              </a:spcBef>
              <a:spcAft>
                <a:spcPts val="0"/>
              </a:spcAft>
            </a:pPr>
            <a:r>
              <a:rPr sz="1700" b="0" i="0">
                <a:solidFill>
                  <a:srgbClr val="1F2937"/>
                </a:solidFill>
                <a:latin typeface="Calibri"/>
              </a:rPr>
              <a:t>La respuesta se explica por los mecanismos del método:</a:t>
            </a:r>
            <a:r>
              <a:rPr sz="1700" b="1" i="0">
                <a:solidFill>
                  <a:srgbClr val="1F2937"/>
                </a:solidFill>
                <a:latin typeface="Calibri"/>
              </a:rPr>
              <a:t> el orden de interpolación</a:t>
            </a:r>
            <a:r>
              <a:rPr sz="1700" b="0" i="0">
                <a:solidFill>
                  <a:srgbClr val="1F2937"/>
                </a:solidFill>
                <a:latin typeface="Calibri"/>
              </a:rPr>
              <a:t> y</a:t>
            </a:r>
            <a:r>
              <a:rPr sz="1700" b="1" i="0">
                <a:solidFill>
                  <a:srgbClr val="1F2937"/>
                </a:solidFill>
                <a:latin typeface="Calibri"/>
              </a:rPr>
              <a:t> el bloqueo por cortante</a:t>
            </a:r>
            <a:r>
              <a:rPr sz="1700" b="0" i="0">
                <a:solidFill>
                  <a:srgbClr val="1F2937"/>
                </a:solidFill>
                <a:latin typeface="Calibri"/>
              </a:rPr>
              <a:t>. Es un</a:t>
            </a:r>
            <a:br/>
            <a:r>
              <a:rPr sz="1700" b="0" i="0">
                <a:solidFill>
                  <a:srgbClr val="1F2937"/>
                </a:solidFill>
                <a:latin typeface="Calibri"/>
              </a:rPr>
              <a:t>experimento de causa y efecto sin sujetos [25, p. 247].</a:t>
            </a:r>
          </a:p>
        </p:txBody>
      </p:sp>
      <p:sp>
        <p:nvSpPr>
          <p:cNvPr id="30" name="TextBox 29"/>
          <p:cNvSpPr txBox="1"/>
          <p:nvPr/>
        </p:nvSpPr>
        <p:spPr>
          <a:xfrm>
            <a:off x="565150" y="4029977"/>
            <a:ext cx="11282934" cy="188595"/>
          </a:xfrm>
          <a:prstGeom prst="rect">
            <a:avLst/>
          </a:prstGeom>
          <a:noFill/>
        </p:spPr>
        <p:txBody>
          <a:bodyPr wrap="square" lIns="0" rIns="0" tIns="0" bIns="0" anchor="t"/>
          <a:lstStyle/>
          <a:p>
            <a:pPr algn="l">
              <a:lnSpc>
                <a:spcPts val="1485"/>
              </a:lnSpc>
              <a:spcBef>
                <a:spcPts val="0"/>
              </a:spcBef>
              <a:spcAft>
                <a:spcPts val="0"/>
              </a:spcAft>
            </a:pPr>
            <a:r>
              <a:rPr sz="1100" b="1" i="0" cap="all" spc="132">
                <a:solidFill>
                  <a:srgbClr val="5B6575"/>
                </a:solidFill>
                <a:latin typeface="Calibri"/>
              </a:rPr>
              <a:t>Cuatro de las cinco familias de evaluación [11, p. 86]</a:t>
            </a:r>
          </a:p>
        </p:txBody>
      </p:sp>
      <p:sp>
        <p:nvSpPr>
          <p:cNvPr id="31" name="Rounded Rectangle 30"/>
          <p:cNvSpPr/>
          <p:nvPr/>
        </p:nvSpPr>
        <p:spPr>
          <a:xfrm>
            <a:off x="568325" y="4299966"/>
            <a:ext cx="2635250" cy="1317625"/>
          </a:xfrm>
          <a:prstGeom prst="roundRect">
            <a:avLst>
              <a:gd name="adj" fmla="val 554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7400" y="4500246"/>
            <a:ext cx="22479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Analítica</a:t>
            </a:r>
          </a:p>
        </p:txBody>
      </p:sp>
      <p:sp>
        <p:nvSpPr>
          <p:cNvPr id="33" name="TextBox 32"/>
          <p:cNvSpPr txBox="1"/>
          <p:nvPr/>
        </p:nvSpPr>
        <p:spPr>
          <a:xfrm>
            <a:off x="787400" y="4760944"/>
            <a:ext cx="2247900" cy="438150"/>
          </a:xfrm>
          <a:prstGeom prst="rect">
            <a:avLst/>
          </a:prstGeom>
          <a:noFill/>
        </p:spPr>
        <p:txBody>
          <a:bodyPr wrap="square" lIns="0" rIns="0" tIns="0" bIns="0" anchor="t"/>
          <a:lstStyle/>
          <a:p>
            <a:pPr algn="l">
              <a:lnSpc>
                <a:spcPts val="1725"/>
              </a:lnSpc>
              <a:spcBef>
                <a:spcPts val="0"/>
              </a:spcBef>
              <a:spcAft>
                <a:spcPts val="0"/>
              </a:spcAft>
            </a:pPr>
            <a:r>
              <a:rPr sz="1250" b="0" i="0">
                <a:solidFill>
                  <a:srgbClr val="3F4A5A"/>
                </a:solidFill>
                <a:latin typeface="Calibri"/>
              </a:rPr>
              <a:t>Inventario de lo que el software</a:t>
            </a:r>
            <a:br/>
            <a:r>
              <a:rPr sz="1250" b="0" i="0">
                <a:solidFill>
                  <a:srgbClr val="3F4A5A"/>
                </a:solidFill>
                <a:latin typeface="Calibri"/>
              </a:rPr>
              <a:t>expone; medición de tiempos</a:t>
            </a:r>
          </a:p>
        </p:txBody>
      </p:sp>
      <p:sp>
        <p:nvSpPr>
          <p:cNvPr id="34" name="Rounded Rectangle 33"/>
          <p:cNvSpPr/>
          <p:nvPr/>
        </p:nvSpPr>
        <p:spPr>
          <a:xfrm>
            <a:off x="3375025" y="4299966"/>
            <a:ext cx="2635250" cy="1317625"/>
          </a:xfrm>
          <a:prstGeom prst="roundRect">
            <a:avLst>
              <a:gd name="adj" fmla="val 554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94100" y="4500246"/>
            <a:ext cx="22479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Experimental</a:t>
            </a:r>
          </a:p>
        </p:txBody>
      </p:sp>
      <p:sp>
        <p:nvSpPr>
          <p:cNvPr id="36" name="TextBox 35"/>
          <p:cNvSpPr txBox="1"/>
          <p:nvPr/>
        </p:nvSpPr>
        <p:spPr>
          <a:xfrm>
            <a:off x="3594100" y="4760944"/>
            <a:ext cx="2247900" cy="657225"/>
          </a:xfrm>
          <a:prstGeom prst="rect">
            <a:avLst/>
          </a:prstGeom>
          <a:noFill/>
        </p:spPr>
        <p:txBody>
          <a:bodyPr wrap="square" lIns="0" rIns="0" tIns="0" bIns="0" anchor="t"/>
          <a:lstStyle/>
          <a:p>
            <a:pPr algn="l">
              <a:lnSpc>
                <a:spcPts val="1725"/>
              </a:lnSpc>
              <a:spcBef>
                <a:spcPts val="0"/>
              </a:spcBef>
              <a:spcAft>
                <a:spcPts val="0"/>
              </a:spcAft>
            </a:pPr>
            <a:r>
              <a:rPr sz="1250" b="0" i="0">
                <a:solidFill>
                  <a:srgbClr val="3F4A5A"/>
                </a:solidFill>
                <a:latin typeface="Calibri"/>
              </a:rPr>
              <a:t>Simulación con datos</a:t>
            </a:r>
            <a:br/>
            <a:r>
              <a:rPr sz="1250" b="0" i="0">
                <a:solidFill>
                  <a:srgbClr val="3F4A5A"/>
                </a:solidFill>
                <a:latin typeface="Calibri"/>
              </a:rPr>
              <a:t>construidos: soluciones</a:t>
            </a:r>
            <a:br/>
            <a:r>
              <a:rPr sz="1250" b="0" i="0">
                <a:solidFill>
                  <a:srgbClr val="3F4A5A"/>
                </a:solidFill>
                <a:latin typeface="Calibri"/>
              </a:rPr>
              <a:t>manufacturadas</a:t>
            </a:r>
          </a:p>
        </p:txBody>
      </p:sp>
      <p:sp>
        <p:nvSpPr>
          <p:cNvPr id="37" name="Rounded Rectangle 36"/>
          <p:cNvSpPr/>
          <p:nvPr/>
        </p:nvSpPr>
        <p:spPr>
          <a:xfrm>
            <a:off x="6181725" y="4299966"/>
            <a:ext cx="2635250" cy="1317625"/>
          </a:xfrm>
          <a:prstGeom prst="roundRect">
            <a:avLst>
              <a:gd name="adj" fmla="val 554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4500246"/>
            <a:ext cx="22479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Pruebas</a:t>
            </a:r>
          </a:p>
        </p:txBody>
      </p:sp>
      <p:sp>
        <p:nvSpPr>
          <p:cNvPr id="39" name="TextBox 38"/>
          <p:cNvSpPr txBox="1"/>
          <p:nvPr/>
        </p:nvSpPr>
        <p:spPr>
          <a:xfrm>
            <a:off x="6400800" y="4760944"/>
            <a:ext cx="2247900" cy="438150"/>
          </a:xfrm>
          <a:prstGeom prst="rect">
            <a:avLst/>
          </a:prstGeom>
          <a:noFill/>
        </p:spPr>
        <p:txBody>
          <a:bodyPr wrap="square" lIns="0" rIns="0" tIns="0" bIns="0" anchor="t"/>
          <a:lstStyle/>
          <a:p>
            <a:pPr algn="l">
              <a:lnSpc>
                <a:spcPts val="1725"/>
              </a:lnSpc>
              <a:spcBef>
                <a:spcPts val="0"/>
              </a:spcBef>
              <a:spcAft>
                <a:spcPts val="0"/>
              </a:spcAft>
            </a:pPr>
            <a:r>
              <a:rPr sz="1250" b="0" i="0">
                <a:solidFill>
                  <a:srgbClr val="3F4A5A"/>
                </a:solidFill>
                <a:latin typeface="Calibri"/>
              </a:rPr>
              <a:t>Timoshenko, Cook, SAP2000 y la</a:t>
            </a:r>
            <a:br/>
            <a:r>
              <a:rPr sz="1250" b="0" i="0">
                <a:solidFill>
                  <a:srgbClr val="3F4A5A"/>
                </a:solidFill>
                <a:latin typeface="Calibri"/>
              </a:rPr>
              <a:t>batería de regresión</a:t>
            </a:r>
          </a:p>
        </p:txBody>
      </p:sp>
      <p:sp>
        <p:nvSpPr>
          <p:cNvPr id="40" name="Rounded Rectangle 39"/>
          <p:cNvSpPr/>
          <p:nvPr/>
        </p:nvSpPr>
        <p:spPr>
          <a:xfrm>
            <a:off x="8988425" y="4299966"/>
            <a:ext cx="2635250" cy="1317625"/>
          </a:xfrm>
          <a:prstGeom prst="roundRect">
            <a:avLst>
              <a:gd name="adj" fmla="val 554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07500" y="4500246"/>
            <a:ext cx="22479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Descriptiva</a:t>
            </a:r>
          </a:p>
        </p:txBody>
      </p:sp>
      <p:sp>
        <p:nvSpPr>
          <p:cNvPr id="42" name="TextBox 41"/>
          <p:cNvSpPr txBox="1"/>
          <p:nvPr/>
        </p:nvSpPr>
        <p:spPr>
          <a:xfrm>
            <a:off x="9207500" y="4760944"/>
            <a:ext cx="2247900" cy="438150"/>
          </a:xfrm>
          <a:prstGeom prst="rect">
            <a:avLst/>
          </a:prstGeom>
          <a:noFill/>
        </p:spPr>
        <p:txBody>
          <a:bodyPr wrap="square" lIns="0" rIns="0" tIns="0" bIns="0" anchor="t"/>
          <a:lstStyle/>
          <a:p>
            <a:pPr algn="l">
              <a:lnSpc>
                <a:spcPts val="1725"/>
              </a:lnSpc>
              <a:spcBef>
                <a:spcPts val="0"/>
              </a:spcBef>
              <a:spcAft>
                <a:spcPts val="0"/>
              </a:spcAft>
            </a:pPr>
            <a:r>
              <a:rPr sz="1250" b="0" i="0">
                <a:solidFill>
                  <a:srgbClr val="3F4A5A"/>
                </a:solidFill>
                <a:latin typeface="Calibri"/>
              </a:rPr>
              <a:t>El ejemplo canónico resuelto</a:t>
            </a:r>
            <a:br/>
            <a:r>
              <a:rPr sz="1250" b="0" i="0">
                <a:solidFill>
                  <a:srgbClr val="3F4A5A"/>
                </a:solidFill>
                <a:latin typeface="Calibri"/>
              </a:rPr>
              <a:t>paso a paso (Anexo G)</a:t>
            </a:r>
          </a:p>
        </p:txBody>
      </p:sp>
      <p:sp>
        <p:nvSpPr>
          <p:cNvPr id="43" name="TextBox 42"/>
          <p:cNvSpPr txBox="1"/>
          <p:nvPr/>
        </p:nvSpPr>
        <p:spPr>
          <a:xfrm>
            <a:off x="565150" y="5682012"/>
            <a:ext cx="11282934"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La quinta, la observacional, estudia el uso dentro de una organización: no corresponde a métricas de cobertura y exactitud. Es una validación de laboratorio [25, pp. 30–</a:t>
            </a:r>
            <a:br/>
            <a:r>
              <a:rPr sz="1250" b="0" i="0">
                <a:solidFill>
                  <a:srgbClr val="5B6575"/>
                </a:solidFill>
                <a:latin typeface="Calibri"/>
              </a:rPr>
              <a:t>31].</a:t>
            </a:r>
          </a:p>
        </p:txBody>
      </p:sp>
      <p:sp>
        <p:nvSpPr>
          <p:cNvPr id="44" name="Rectangle 43"/>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5150" y="6535420"/>
            <a:ext cx="530777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7" name="TextBox 46"/>
          <p:cNvSpPr txBox="1"/>
          <p:nvPr/>
        </p:nvSpPr>
        <p:spPr>
          <a:xfrm>
            <a:off x="5743448" y="6535420"/>
            <a:ext cx="70504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2.1.1</a:t>
            </a:r>
          </a:p>
        </p:txBody>
      </p:sp>
      <p:sp>
        <p:nvSpPr>
          <p:cNvPr id="48" name="TextBox 47"/>
          <p:cNvSpPr txBox="1"/>
          <p:nvPr/>
        </p:nvSpPr>
        <p:spPr>
          <a:xfrm>
            <a:off x="6319076" y="6535420"/>
            <a:ext cx="530777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24</a:t>
            </a:r>
          </a:p>
        </p:txBody>
      </p:sp>
      <p:sp>
        <p:nvSpPr>
          <p:cNvPr id="49"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nlace a sep-diseno">
            <a:hlinkClick action="ppaction://hlinksldjump" r:id="rId4"/>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97"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12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12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12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12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12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grpId="0" nodeType="withEffect">
                                  <p:stCondLst>
                                    <p:cond delay="12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par>
                                <p:cTn id="39" presetID="10" presetClass="entr" presetSubtype="0" fill="hold" grpId="0" nodeType="withEffect">
                                  <p:stCondLst>
                                    <p:cond delay="12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50"/>
                                        <p:tgtEl>
                                          <p:spTgt spid="25"/>
                                        </p:tgtEl>
                                      </p:cBhvr>
                                    </p:animEffect>
                                  </p:childTnLst>
                                </p:cTn>
                              </p:par>
                              <p:par>
                                <p:cTn id="42" presetID="10" presetClass="entr" presetSubtype="0" fill="hold" grpId="0" nodeType="withEffect">
                                  <p:stCondLst>
                                    <p:cond delay="12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50"/>
                                        <p:tgtEl>
                                          <p:spTgt spid="26"/>
                                        </p:tgtEl>
                                      </p:cBhvr>
                                    </p:animEffect>
                                  </p:childTnLst>
                                </p:cTn>
                              </p:par>
                              <p:par>
                                <p:cTn id="45" presetID="10" presetClass="entr" presetSubtype="0" fill="hold" grpId="0" nodeType="withEffect">
                                  <p:stCondLst>
                                    <p:cond delay="1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50"/>
                                        <p:tgtEl>
                                          <p:spTgt spid="27"/>
                                        </p:tgtEl>
                                      </p:cBhvr>
                                    </p:animEffect>
                                  </p:childTnLst>
                                </p:cTn>
                              </p:par>
                            </p:childTnLst>
                          </p:cTn>
                        </p:par>
                      </p:childTnLst>
                    </p:cTn>
                  </p:par>
                  <p:par>
                    <p:cTn id="98" fill="hold">
                      <p:stCondLst>
                        <p:cond delay="indefinite"/>
                      </p:stCondLst>
                      <p:childTnLst>
                        <p:par>
                          <p:cTn id="99"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childTnLst>
                          </p:cTn>
                        </p:par>
                      </p:childTnLst>
                    </p:cTn>
                  </p:par>
                  <p:par>
                    <p:cTn id="100" fill="hold">
                      <p:stCondLst>
                        <p:cond delay="indefinite"/>
                      </p:stCondLst>
                      <p:childTnLst>
                        <p:par>
                          <p:cTn id="101"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00"/>
                                        <p:tgtEl>
                                          <p:spTgt spid="4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Variables e indicadores: todo se mide sobre el software</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3570796" cy="2818384"/>
          </a:xfrm>
          <a:prstGeom prst="roundRect">
            <a:avLst>
              <a:gd name="adj" fmla="val 2591"/>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 Same Side Corner Rectangle 13"/>
          <p:cNvSpPr/>
          <p:nvPr/>
        </p:nvSpPr>
        <p:spPr>
          <a:xfrm>
            <a:off x="571500" y="1286446"/>
            <a:ext cx="3564446" cy="38100"/>
          </a:xfrm>
          <a:prstGeom prst="round2SameRect">
            <a:avLst>
              <a:gd name="adj1" fmla="val 50000"/>
              <a:gd name="adj2" fmla="val 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1483615"/>
            <a:ext cx="3247072" cy="387604"/>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Independiente · forma de exponer</a:t>
            </a:r>
            <a:br/>
            <a:r>
              <a:rPr sz="1250" b="1" i="0" cap="all" spc="125">
                <a:solidFill>
                  <a:srgbClr val="5B6575"/>
                </a:solidFill>
                <a:latin typeface="Calibri"/>
              </a:rPr>
              <a:t>el procedimiento</a:t>
            </a:r>
          </a:p>
        </p:txBody>
      </p:sp>
      <p:sp>
        <p:nvSpPr>
          <p:cNvPr id="16" name="TextBox 15"/>
          <p:cNvSpPr txBox="1"/>
          <p:nvPr/>
        </p:nvSpPr>
        <p:spPr>
          <a:xfrm>
            <a:off x="1003300" y="1949976"/>
            <a:ext cx="3000946" cy="448056"/>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Magnitudes intermedias visibles en cada</a:t>
            </a:r>
            <a:br/>
            <a:r>
              <a:rPr sz="1400" b="0" i="0">
                <a:solidFill>
                  <a:srgbClr val="1F2937"/>
                </a:solidFill>
                <a:latin typeface="Calibri"/>
              </a:rPr>
              <a:t>etapa</a:t>
            </a:r>
          </a:p>
        </p:txBody>
      </p:sp>
      <p:sp>
        <p:nvSpPr>
          <p:cNvPr id="17" name="Rounded Rectangle 16"/>
          <p:cNvSpPr/>
          <p:nvPr/>
        </p:nvSpPr>
        <p:spPr>
          <a:xfrm>
            <a:off x="812800" y="2044573"/>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3300" y="2486805"/>
            <a:ext cx="3000946" cy="448056"/>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Operación sobre el modelo del usuario</a:t>
            </a:r>
            <a:br/>
            <a:r>
              <a:rPr sz="1400" b="0" i="0">
                <a:solidFill>
                  <a:srgbClr val="1F2937"/>
                </a:solidFill>
                <a:latin typeface="Calibri"/>
              </a:rPr>
              <a:t>en las tres fases</a:t>
            </a:r>
          </a:p>
        </p:txBody>
      </p:sp>
      <p:sp>
        <p:nvSpPr>
          <p:cNvPr id="19" name="Rounded Rectangle 18"/>
          <p:cNvSpPr/>
          <p:nvPr/>
        </p:nvSpPr>
        <p:spPr>
          <a:xfrm>
            <a:off x="812800" y="2581402"/>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3300" y="3023570"/>
            <a:ext cx="3000946" cy="448056"/>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Memoria de cálculo con sustitución</a:t>
            </a:r>
            <a:br/>
            <a:r>
              <a:rPr sz="1400" b="0" i="0">
                <a:solidFill>
                  <a:srgbClr val="1F2937"/>
                </a:solidFill>
                <a:latin typeface="Calibri"/>
              </a:rPr>
              <a:t>numérica</a:t>
            </a:r>
          </a:p>
        </p:txBody>
      </p:sp>
      <p:sp>
        <p:nvSpPr>
          <p:cNvPr id="21" name="Rounded Rectangle 20"/>
          <p:cNvSpPr/>
          <p:nvPr/>
        </p:nvSpPr>
        <p:spPr>
          <a:xfrm>
            <a:off x="812800" y="311816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65175" y="3573082"/>
            <a:ext cx="952818" cy="330200"/>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5350" y="3646362"/>
            <a:ext cx="743268" cy="193802"/>
          </a:xfrm>
          <a:prstGeom prst="rect">
            <a:avLst/>
          </a:prstGeom>
          <a:noFill/>
        </p:spPr>
        <p:txBody>
          <a:bodyPr wrap="square" lIns="0" rIns="0" tIns="0" bIns="0" anchor="t"/>
          <a:lstStyle/>
          <a:p>
            <a:pPr algn="l">
              <a:lnSpc>
                <a:spcPts val="1526"/>
              </a:lnSpc>
              <a:spcBef>
                <a:spcPts val="0"/>
              </a:spcBef>
              <a:spcAft>
                <a:spcPts val="0"/>
              </a:spcAft>
            </a:pPr>
            <a:r>
              <a:rPr sz="1250" b="1" i="0">
                <a:solidFill>
                  <a:srgbClr val="3F4A5A"/>
                </a:solidFill>
                <a:latin typeface="Calibri"/>
              </a:rPr>
              <a:t>Caja negra</a:t>
            </a:r>
          </a:p>
        </p:txBody>
      </p:sp>
      <p:sp>
        <p:nvSpPr>
          <p:cNvPr id="24" name="Rounded Rectangle 23"/>
          <p:cNvSpPr/>
          <p:nvPr/>
        </p:nvSpPr>
        <p:spPr>
          <a:xfrm>
            <a:off x="1787842" y="3573082"/>
            <a:ext cx="1845056" cy="330200"/>
          </a:xfrm>
          <a:prstGeom prst="roundRect">
            <a:avLst>
              <a:gd name="adj" fmla="val 50000"/>
            </a:avLst>
          </a:prstGeom>
          <a:solidFill>
            <a:srgbClr val="FDF1E2"/>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18018" y="3646362"/>
            <a:ext cx="1635506" cy="193802"/>
          </a:xfrm>
          <a:prstGeom prst="rect">
            <a:avLst/>
          </a:prstGeom>
          <a:noFill/>
        </p:spPr>
        <p:txBody>
          <a:bodyPr wrap="square" lIns="0" rIns="0" tIns="0" bIns="0" anchor="t"/>
          <a:lstStyle/>
          <a:p>
            <a:pPr algn="l">
              <a:lnSpc>
                <a:spcPts val="1526"/>
              </a:lnSpc>
              <a:spcBef>
                <a:spcPts val="0"/>
              </a:spcBef>
              <a:spcAft>
                <a:spcPts val="0"/>
              </a:spcAft>
            </a:pPr>
            <a:r>
              <a:rPr sz="1250" b="1" i="0">
                <a:solidFill>
                  <a:srgbClr val="C9620F"/>
                </a:solidFill>
                <a:latin typeface="Calibri"/>
              </a:rPr>
              <a:t>Procedimiento a la vista</a:t>
            </a:r>
          </a:p>
        </p:txBody>
      </p:sp>
      <p:sp>
        <p:nvSpPr>
          <p:cNvPr id="26" name="Rounded Rectangle 25"/>
          <p:cNvSpPr/>
          <p:nvPr/>
        </p:nvSpPr>
        <p:spPr>
          <a:xfrm>
            <a:off x="4310570" y="1283272"/>
            <a:ext cx="3570796" cy="2818384"/>
          </a:xfrm>
          <a:prstGeom prst="roundRect">
            <a:avLst>
              <a:gd name="adj" fmla="val 2591"/>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 Same Side Corner Rectangle 26"/>
          <p:cNvSpPr/>
          <p:nvPr/>
        </p:nvSpPr>
        <p:spPr>
          <a:xfrm>
            <a:off x="4313746" y="1286446"/>
            <a:ext cx="3564446" cy="38100"/>
          </a:xfrm>
          <a:prstGeom prst="round2SameRect">
            <a:avLst>
              <a:gd name="adj1" fmla="val 50000"/>
              <a:gd name="adj2" fmla="val 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04246" y="1483615"/>
            <a:ext cx="324707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Dependiente · trazabilidad</a:t>
            </a:r>
          </a:p>
        </p:txBody>
      </p:sp>
      <p:sp>
        <p:nvSpPr>
          <p:cNvPr id="29" name="TextBox 28"/>
          <p:cNvSpPr txBox="1"/>
          <p:nvPr/>
        </p:nvSpPr>
        <p:spPr>
          <a:xfrm>
            <a:off x="4745546" y="1753126"/>
            <a:ext cx="3000946" cy="448056"/>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Etapas con módulo</a:t>
            </a:r>
            <a:r>
              <a:rPr sz="1400" b="1" i="0">
                <a:solidFill>
                  <a:srgbClr val="1F2937"/>
                </a:solidFill>
                <a:latin typeface="Calibri"/>
              </a:rPr>
              <a:t> (de 7)</a:t>
            </a:r>
            <a:r>
              <a:rPr sz="1400" b="0" i="0">
                <a:solidFill>
                  <a:srgbClr val="1F2937"/>
                </a:solidFill>
                <a:latin typeface="Calibri"/>
              </a:rPr>
              <a:t> y con</a:t>
            </a:r>
            <a:br/>
            <a:r>
              <a:rPr sz="1400" b="0" i="0">
                <a:solidFill>
                  <a:srgbClr val="1F2937"/>
                </a:solidFill>
                <a:latin typeface="Calibri"/>
              </a:rPr>
              <a:t>desarrollo en la memoria</a:t>
            </a:r>
            <a:r>
              <a:rPr sz="1400" b="1" i="0">
                <a:solidFill>
                  <a:srgbClr val="1F2937"/>
                </a:solidFill>
                <a:latin typeface="Calibri"/>
              </a:rPr>
              <a:t> (de 9)</a:t>
            </a:r>
          </a:p>
        </p:txBody>
      </p:sp>
      <p:sp>
        <p:nvSpPr>
          <p:cNvPr id="30" name="Rounded Rectangle 29"/>
          <p:cNvSpPr/>
          <p:nvPr/>
        </p:nvSpPr>
        <p:spPr>
          <a:xfrm>
            <a:off x="4555046" y="1847723"/>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45546" y="2289955"/>
            <a:ext cx="3000946" cy="224028"/>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Fases que comparten el lienzo</a:t>
            </a:r>
            <a:r>
              <a:rPr sz="1400" b="1" i="0">
                <a:solidFill>
                  <a:srgbClr val="1F2937"/>
                </a:solidFill>
                <a:latin typeface="Calibri"/>
              </a:rPr>
              <a:t> (de 3)</a:t>
            </a:r>
          </a:p>
        </p:txBody>
      </p:sp>
      <p:sp>
        <p:nvSpPr>
          <p:cNvPr id="32" name="Rounded Rectangle 31"/>
          <p:cNvSpPr/>
          <p:nvPr/>
        </p:nvSpPr>
        <p:spPr>
          <a:xfrm>
            <a:off x="4555046" y="2384552"/>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45546" y="2602756"/>
            <a:ext cx="3000946" cy="448056"/>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Ítems de contenido con instrumento</a:t>
            </a:r>
            <a:r>
              <a:rPr sz="1400" b="1" i="0">
                <a:solidFill>
                  <a:srgbClr val="1F2937"/>
                </a:solidFill>
                <a:latin typeface="Calibri"/>
              </a:rPr>
              <a:t> (de</a:t>
            </a:r>
            <a:br/>
            <a:r>
              <a:rPr sz="1400" b="1" i="0">
                <a:solidFill>
                  <a:srgbClr val="1F2937"/>
                </a:solidFill>
                <a:latin typeface="Calibri"/>
              </a:rPr>
              <a:t>18)</a:t>
            </a:r>
          </a:p>
        </p:txBody>
      </p:sp>
      <p:sp>
        <p:nvSpPr>
          <p:cNvPr id="34" name="Rounded Rectangle 33"/>
          <p:cNvSpPr/>
          <p:nvPr/>
        </p:nvSpPr>
        <p:spPr>
          <a:xfrm>
            <a:off x="4555046" y="2697353"/>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45546" y="3139521"/>
            <a:ext cx="3000946" cy="224028"/>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Intercambio de datos sin pérdida</a:t>
            </a:r>
          </a:p>
        </p:txBody>
      </p:sp>
      <p:sp>
        <p:nvSpPr>
          <p:cNvPr id="36" name="Rounded Rectangle 35"/>
          <p:cNvSpPr/>
          <p:nvPr/>
        </p:nvSpPr>
        <p:spPr>
          <a:xfrm>
            <a:off x="4555046" y="323411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52816" y="1283272"/>
            <a:ext cx="3570796" cy="2818384"/>
          </a:xfrm>
          <a:prstGeom prst="roundRect">
            <a:avLst>
              <a:gd name="adj" fmla="val 2591"/>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 Same Side Corner Rectangle 37"/>
          <p:cNvSpPr/>
          <p:nvPr/>
        </p:nvSpPr>
        <p:spPr>
          <a:xfrm>
            <a:off x="8055991" y="1286446"/>
            <a:ext cx="3564446" cy="38100"/>
          </a:xfrm>
          <a:prstGeom prst="round2SameRect">
            <a:avLst>
              <a:gd name="adj1" fmla="val 50000"/>
              <a:gd name="adj2" fmla="val 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46491" y="1483615"/>
            <a:ext cx="324707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Dependiente · verificabilidad</a:t>
            </a:r>
          </a:p>
        </p:txBody>
      </p:sp>
      <p:sp>
        <p:nvSpPr>
          <p:cNvPr id="40" name="TextBox 39"/>
          <p:cNvSpPr txBox="1"/>
          <p:nvPr/>
        </p:nvSpPr>
        <p:spPr>
          <a:xfrm>
            <a:off x="8487791" y="1753126"/>
            <a:ext cx="3000946" cy="448056"/>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Tasa de convergencia observada frente</a:t>
            </a:r>
            <a:br/>
            <a:r>
              <a:rPr sz="1400" b="0" i="0">
                <a:solidFill>
                  <a:srgbClr val="1F2937"/>
                </a:solidFill>
                <a:latin typeface="Calibri"/>
              </a:rPr>
              <a:t>a la teórica</a:t>
            </a:r>
          </a:p>
        </p:txBody>
      </p:sp>
      <p:sp>
        <p:nvSpPr>
          <p:cNvPr id="41" name="Rounded Rectangle 40"/>
          <p:cNvSpPr/>
          <p:nvPr/>
        </p:nvSpPr>
        <p:spPr>
          <a:xfrm>
            <a:off x="8297291" y="1847723"/>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87791" y="2289955"/>
            <a:ext cx="3000946" cy="448056"/>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Error de la flecha y de σ</a:t>
            </a:r>
            <a:r>
              <a:rPr sz="1400" b="0" i="0" baseline="-25000">
                <a:solidFill>
                  <a:srgbClr val="1F2937"/>
                </a:solidFill>
                <a:latin typeface="Calibri"/>
              </a:rPr>
              <a:t>x</a:t>
            </a:r>
            <a:r>
              <a:rPr sz="1400" b="0" i="0">
                <a:solidFill>
                  <a:srgbClr val="1F2937"/>
                </a:solidFill>
                <a:latin typeface="Calibri"/>
              </a:rPr>
              <a:t> frente a la</a:t>
            </a:r>
            <a:br/>
            <a:r>
              <a:rPr sz="1400" b="0" i="0">
                <a:solidFill>
                  <a:srgbClr val="1F2937"/>
                </a:solidFill>
                <a:latin typeface="Calibri"/>
              </a:rPr>
              <a:t>analítica y a SAP2000</a:t>
            </a:r>
          </a:p>
        </p:txBody>
      </p:sp>
      <p:sp>
        <p:nvSpPr>
          <p:cNvPr id="43" name="Rounded Rectangle 42"/>
          <p:cNvSpPr/>
          <p:nvPr/>
        </p:nvSpPr>
        <p:spPr>
          <a:xfrm>
            <a:off x="8297291" y="2384552"/>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87791" y="2863042"/>
            <a:ext cx="3000946" cy="448056"/>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Residuo de equilibrio; error en Cook y</a:t>
            </a:r>
            <a:br/>
            <a:r>
              <a:rPr sz="1400" b="0" i="0">
                <a:solidFill>
                  <a:srgbClr val="1F2937"/>
                </a:solidFill>
                <a:latin typeface="Calibri"/>
              </a:rPr>
              <a:t>firma del bloqueo</a:t>
            </a:r>
          </a:p>
        </p:txBody>
      </p:sp>
      <p:sp>
        <p:nvSpPr>
          <p:cNvPr id="45" name="Rounded Rectangle 44"/>
          <p:cNvSpPr/>
          <p:nvPr/>
        </p:nvSpPr>
        <p:spPr>
          <a:xfrm>
            <a:off x="8297291" y="2957640"/>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87791" y="3399808"/>
            <a:ext cx="3000946" cy="448056"/>
          </a:xfrm>
          <a:prstGeom prst="rect">
            <a:avLst/>
          </a:prstGeom>
          <a:noFill/>
        </p:spPr>
        <p:txBody>
          <a:bodyPr wrap="square" lIns="0" rIns="0" tIns="0" bIns="0" anchor="t"/>
          <a:lstStyle/>
          <a:p>
            <a:pPr algn="l">
              <a:lnSpc>
                <a:spcPts val="1764"/>
              </a:lnSpc>
              <a:spcBef>
                <a:spcPts val="0"/>
              </a:spcBef>
              <a:spcAft>
                <a:spcPts val="0"/>
              </a:spcAft>
            </a:pPr>
            <a:r>
              <a:rPr sz="1400" b="0" i="0">
                <a:solidFill>
                  <a:srgbClr val="1F2937"/>
                </a:solidFill>
                <a:latin typeface="Calibri"/>
              </a:rPr>
              <a:t>Etapas de la memoria remitidas a su</a:t>
            </a:r>
            <a:br/>
            <a:r>
              <a:rPr sz="1400" b="0" i="0">
                <a:solidFill>
                  <a:srgbClr val="1F2937"/>
                </a:solidFill>
                <a:latin typeface="Calibri"/>
              </a:rPr>
              <a:t>ecuación</a:t>
            </a:r>
          </a:p>
        </p:txBody>
      </p:sp>
      <p:sp>
        <p:nvSpPr>
          <p:cNvPr id="47" name="Rounded Rectangle 46"/>
          <p:cNvSpPr/>
          <p:nvPr/>
        </p:nvSpPr>
        <p:spPr>
          <a:xfrm>
            <a:off x="8297291" y="3494405"/>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65150" y="5659120"/>
            <a:ext cx="110617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65150" y="56591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450" y="5775884"/>
            <a:ext cx="2680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51" name="TextBox 50"/>
          <p:cNvSpPr txBox="1"/>
          <p:nvPr/>
        </p:nvSpPr>
        <p:spPr>
          <a:xfrm>
            <a:off x="1163447" y="5802089"/>
            <a:ext cx="10336974" cy="263398"/>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Interviniente: EduFEM 1.0.0 (revisión 91e3df0, 16 de septiembre de 2026), la versión que distribuye el instalador.</a:t>
            </a:r>
          </a:p>
        </p:txBody>
      </p:sp>
      <p:sp>
        <p:nvSpPr>
          <p:cNvPr id="52" name="Rectangle 51"/>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55" name="TextBox 54"/>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2.1.2 · Tabla 2.2</a:t>
            </a:r>
          </a:p>
        </p:txBody>
      </p:sp>
      <p:sp>
        <p:nvSpPr>
          <p:cNvPr id="56" name="TextBox 55"/>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25</a:t>
            </a:r>
          </a:p>
        </p:txBody>
      </p:sp>
      <p:sp>
        <p:nvSpPr>
          <p:cNvPr id="57"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Enlace a sep-diseno">
            <a:hlinkClick action="ppaction://hlinksldjump" r:id="rId4"/>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0" fill="hold">
                      <p:stCondLst>
                        <p:cond delay="indefinite"/>
                        <p:cond evt="onBegin" delay="0">
                          <p:tn val="2"/>
                        </p:cond>
                      </p:stCondLst>
                      <p:childTnLst>
                        <p:par>
                          <p:cTn id="121"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12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12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12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12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12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grpId="0" nodeType="withEffect">
                                  <p:stCondLst>
                                    <p:cond delay="12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par>
                                <p:cTn id="39" presetID="10" presetClass="entr" presetSubtype="0" fill="hold" grpId="0" nodeType="withEffect">
                                  <p:stCondLst>
                                    <p:cond delay="12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50"/>
                                        <p:tgtEl>
                                          <p:spTgt spid="25"/>
                                        </p:tgtEl>
                                      </p:cBhvr>
                                    </p:animEffect>
                                  </p:childTnLst>
                                </p:cTn>
                              </p:par>
                            </p:childTnLst>
                          </p:cTn>
                        </p:par>
                      </p:childTnLst>
                    </p:cTn>
                  </p:par>
                  <p:par>
                    <p:cTn id="122" fill="hold">
                      <p:stCondLst>
                        <p:cond delay="indefinite"/>
                      </p:stCondLst>
                      <p:childTnLst>
                        <p:par>
                          <p:cTn id="123"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childTnLst>
                          </p:cTn>
                        </p:par>
                      </p:childTnLst>
                    </p:cTn>
                  </p:par>
                  <p:par>
                    <p:cTn id="124" fill="hold">
                      <p:stCondLst>
                        <p:cond delay="indefinite"/>
                      </p:stCondLst>
                      <p:childTnLst>
                        <p:par>
                          <p:cTn id="125"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00"/>
                                        <p:tgtEl>
                                          <p:spTgt spid="4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00"/>
                                        <p:tgtEl>
                                          <p:spTgt spid="4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400"/>
                                        <p:tgtEl>
                                          <p:spTgt spid="4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400"/>
                                        <p:tgtEl>
                                          <p:spTgt spid="4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400"/>
                                        <p:tgtEl>
                                          <p:spTgt spid="4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400"/>
                                        <p:tgtEl>
                                          <p:spTgt spid="47"/>
                                        </p:tgtEl>
                                      </p:cBhvr>
                                    </p:animEffect>
                                  </p:childTnLst>
                                </p:cTn>
                              </p:par>
                            </p:childTnLst>
                          </p:cTn>
                        </p:par>
                      </p:childTnLst>
                    </p:cTn>
                  </p:par>
                  <p:par>
                    <p:cTn id="126" fill="hold">
                      <p:stCondLst>
                        <p:cond delay="indefinite"/>
                      </p:stCondLst>
                      <p:childTnLst>
                        <p:par>
                          <p:cTn id="12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400"/>
                                        <p:tgtEl>
                                          <p:spTgt spid="4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400"/>
                                        <p:tgtEl>
                                          <p:spTgt spid="4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0"/>
                                        </p:tgtEl>
                                        <p:attrNameLst>
                                          <p:attrName>style.visibility</p:attrName>
                                        </p:attrNameLst>
                                      </p:cBhvr>
                                      <p:to>
                                        <p:strVal val="visible"/>
                                      </p:to>
                                    </p:set>
                                    <p:animEffect transition="in" filter="fade">
                                      <p:cBhvr>
                                        <p:cTn id="116" dur="400"/>
                                        <p:tgtEl>
                                          <p:spTgt spid="50"/>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1"/>
                                        </p:tgtEl>
                                        <p:attrNameLst>
                                          <p:attrName>style.visibility</p:attrName>
                                        </p:attrNameLst>
                                      </p:cBhvr>
                                      <p:to>
                                        <p:strVal val="visible"/>
                                      </p:to>
                                    </p:set>
                                    <p:animEffect transition="in" filter="fade">
                                      <p:cBhvr>
                                        <p:cTn id="119"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Matriz de consistencia</a:t>
            </a:r>
            <a:r>
              <a:rPr sz="1800" b="1" i="0">
                <a:solidFill>
                  <a:srgbClr val="3E5A86"/>
                </a:solidFill>
                <a:latin typeface="Calibri"/>
              </a:rPr>
              <a:t> · clic en una fila para ver su evidencia</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5150" y="1280096"/>
            <a:ext cx="331844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5150" y="1629347"/>
            <a:ext cx="331844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9450" y="1373972"/>
            <a:ext cx="315169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Objetivo específico</a:t>
            </a:r>
          </a:p>
        </p:txBody>
      </p:sp>
      <p:sp>
        <p:nvSpPr>
          <p:cNvPr id="16" name="Rectangle 15"/>
          <p:cNvSpPr/>
          <p:nvPr/>
        </p:nvSpPr>
        <p:spPr>
          <a:xfrm>
            <a:off x="3883596" y="1280096"/>
            <a:ext cx="99549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83596" y="1629347"/>
            <a:ext cx="99549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97896" y="1373972"/>
            <a:ext cx="81769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PI</a:t>
            </a:r>
          </a:p>
        </p:txBody>
      </p:sp>
      <p:sp>
        <p:nvSpPr>
          <p:cNvPr id="19" name="Rectangle 18"/>
          <p:cNvSpPr/>
          <p:nvPr/>
        </p:nvSpPr>
        <p:spPr>
          <a:xfrm>
            <a:off x="4879086" y="1280096"/>
            <a:ext cx="2765425"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79086" y="1629347"/>
            <a:ext cx="2765425"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93386" y="1373972"/>
            <a:ext cx="2587625"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Variable / indicador</a:t>
            </a:r>
          </a:p>
        </p:txBody>
      </p:sp>
      <p:sp>
        <p:nvSpPr>
          <p:cNvPr id="22" name="Rectangle 21"/>
          <p:cNvSpPr/>
          <p:nvPr/>
        </p:nvSpPr>
        <p:spPr>
          <a:xfrm>
            <a:off x="7644511" y="1280096"/>
            <a:ext cx="243351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44511" y="1629347"/>
            <a:ext cx="243351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58811" y="1373972"/>
            <a:ext cx="225571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Método / instrumento</a:t>
            </a:r>
          </a:p>
        </p:txBody>
      </p:sp>
      <p:sp>
        <p:nvSpPr>
          <p:cNvPr id="25" name="Rectangle 24"/>
          <p:cNvSpPr/>
          <p:nvPr/>
        </p:nvSpPr>
        <p:spPr>
          <a:xfrm>
            <a:off x="10078022" y="1280096"/>
            <a:ext cx="1548828"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078022" y="1629347"/>
            <a:ext cx="154882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92322" y="1373972"/>
            <a:ext cx="137102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Evidencia</a:t>
            </a:r>
          </a:p>
        </p:txBody>
      </p:sp>
      <p:sp>
        <p:nvSpPr>
          <p:cNvPr id="28" name="Rectangle 27"/>
          <p:cNvSpPr/>
          <p:nvPr/>
        </p:nvSpPr>
        <p:spPr>
          <a:xfrm>
            <a:off x="565150" y="1648396"/>
            <a:ext cx="3318446"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5150" y="2305622"/>
            <a:ext cx="331844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6750" y="1764633"/>
            <a:ext cx="3177604" cy="428625"/>
          </a:xfrm>
          <a:prstGeom prst="rect">
            <a:avLst/>
          </a:prstGeom>
          <a:noFill/>
        </p:spPr>
        <p:txBody>
          <a:bodyPr wrap="square" lIns="0" rIns="0" tIns="0" bIns="0" anchor="t"/>
          <a:lstStyle/>
          <a:p>
            <a:pPr algn="l">
              <a:lnSpc>
                <a:spcPts val="1688"/>
              </a:lnSpc>
              <a:spcBef>
                <a:spcPts val="0"/>
              </a:spcBef>
              <a:spcAft>
                <a:spcPts val="0"/>
              </a:spcAft>
            </a:pPr>
            <a:r>
              <a:rPr sz="1350" b="1" i="0">
                <a:solidFill>
                  <a:srgbClr val="1F2937"/>
                </a:solidFill>
                <a:latin typeface="Calibri"/>
              </a:rPr>
              <a:t>1.</a:t>
            </a:r>
            <a:r>
              <a:rPr sz="1350" b="0" i="0">
                <a:solidFill>
                  <a:srgbClr val="1F2937"/>
                </a:solidFill>
                <a:latin typeface="Calibri"/>
              </a:rPr>
              <a:t> Diagnosticar los atributos que los</a:t>
            </a:r>
            <a:br/>
            <a:r>
              <a:rPr sz="1350" b="0" i="0">
                <a:solidFill>
                  <a:srgbClr val="1F2937"/>
                </a:solidFill>
                <a:latin typeface="Calibri"/>
              </a:rPr>
              <a:t>recursos no ofrecen</a:t>
            </a:r>
          </a:p>
        </p:txBody>
      </p:sp>
      <p:sp>
        <p:nvSpPr>
          <p:cNvPr id="31" name="Rectangle 30"/>
          <p:cNvSpPr/>
          <p:nvPr/>
        </p:nvSpPr>
        <p:spPr>
          <a:xfrm>
            <a:off x="3883596" y="1648396"/>
            <a:ext cx="995490"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883596" y="2305622"/>
            <a:ext cx="99549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85196" y="1764633"/>
            <a:ext cx="843090"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PI-1 y 2</a:t>
            </a:r>
          </a:p>
        </p:txBody>
      </p:sp>
      <p:sp>
        <p:nvSpPr>
          <p:cNvPr id="34" name="Rectangle 33"/>
          <p:cNvSpPr/>
          <p:nvPr/>
        </p:nvSpPr>
        <p:spPr>
          <a:xfrm>
            <a:off x="4879086" y="1648396"/>
            <a:ext cx="2765425"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879086" y="2305622"/>
            <a:ext cx="276542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80686" y="1764633"/>
            <a:ext cx="2613470"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Atributos ausentes → requisitos</a:t>
            </a:r>
          </a:p>
        </p:txBody>
      </p:sp>
      <p:sp>
        <p:nvSpPr>
          <p:cNvPr id="37" name="Rectangle 36"/>
          <p:cNvSpPr/>
          <p:nvPr/>
        </p:nvSpPr>
        <p:spPr>
          <a:xfrm>
            <a:off x="7644511" y="1648396"/>
            <a:ext cx="2433510"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644511" y="2305622"/>
            <a:ext cx="24335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46111" y="1764633"/>
            <a:ext cx="2281110"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Revisión del estado del arte</a:t>
            </a:r>
          </a:p>
        </p:txBody>
      </p:sp>
      <p:sp>
        <p:nvSpPr>
          <p:cNvPr id="40" name="Rectangle 39"/>
          <p:cNvSpPr/>
          <p:nvPr/>
        </p:nvSpPr>
        <p:spPr>
          <a:xfrm>
            <a:off x="10078022" y="1648396"/>
            <a:ext cx="1548828"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078022" y="2305622"/>
            <a:ext cx="15488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79622" y="1777333"/>
            <a:ext cx="1396428" cy="214312"/>
          </a:xfrm>
          <a:prstGeom prst="rect">
            <a:avLst/>
          </a:prstGeom>
          <a:noFill/>
        </p:spPr>
        <p:txBody>
          <a:bodyPr wrap="square" lIns="0" rIns="0" tIns="0" bIns="0" anchor="t"/>
          <a:lstStyle/>
          <a:p>
            <a:pPr algn="l">
              <a:lnSpc>
                <a:spcPts val="1688"/>
              </a:lnSpc>
              <a:spcBef>
                <a:spcPts val="0"/>
              </a:spcBef>
              <a:spcAft>
                <a:spcPts val="0"/>
              </a:spcAft>
            </a:pPr>
            <a:r>
              <a:rPr sz="1100" b="1" i="0">
                <a:solidFill>
                  <a:srgbClr val="1F77B4"/>
                </a:solidFill>
                <a:latin typeface="Calibri"/>
              </a:rPr>
              <a:t>§ 1.1 · Tabla 1.1 →</a:t>
            </a:r>
          </a:p>
        </p:txBody>
      </p:sp>
      <p:sp>
        <p:nvSpPr>
          <p:cNvPr id="43" name="Rectangle 42"/>
          <p:cNvSpPr/>
          <p:nvPr/>
        </p:nvSpPr>
        <p:spPr>
          <a:xfrm>
            <a:off x="565150" y="2311972"/>
            <a:ext cx="3318446" cy="6635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5150" y="2969196"/>
            <a:ext cx="331844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6750" y="2428208"/>
            <a:ext cx="3177604" cy="428625"/>
          </a:xfrm>
          <a:prstGeom prst="rect">
            <a:avLst/>
          </a:prstGeom>
          <a:noFill/>
        </p:spPr>
        <p:txBody>
          <a:bodyPr wrap="square" lIns="0" rIns="0" tIns="0" bIns="0" anchor="t"/>
          <a:lstStyle/>
          <a:p>
            <a:pPr algn="l">
              <a:lnSpc>
                <a:spcPts val="1688"/>
              </a:lnSpc>
              <a:spcBef>
                <a:spcPts val="0"/>
              </a:spcBef>
              <a:spcAft>
                <a:spcPts val="0"/>
              </a:spcAft>
            </a:pPr>
            <a:r>
              <a:rPr sz="1350" b="1" i="0">
                <a:solidFill>
                  <a:srgbClr val="1F2937"/>
                </a:solidFill>
                <a:latin typeface="Calibri"/>
              </a:rPr>
              <a:t>2.</a:t>
            </a:r>
            <a:r>
              <a:rPr sz="1350" b="0" i="0">
                <a:solidFill>
                  <a:srgbClr val="1F2937"/>
                </a:solidFill>
                <a:latin typeface="Calibri"/>
              </a:rPr>
              <a:t> Fundamentar el MEF y los principios de la</a:t>
            </a:r>
            <a:br/>
            <a:r>
              <a:rPr sz="1350" b="0" i="0">
                <a:solidFill>
                  <a:srgbClr val="1F2937"/>
                </a:solidFill>
                <a:latin typeface="Calibri"/>
              </a:rPr>
              <a:t>exposición</a:t>
            </a:r>
          </a:p>
        </p:txBody>
      </p:sp>
      <p:sp>
        <p:nvSpPr>
          <p:cNvPr id="46" name="Rectangle 45"/>
          <p:cNvSpPr/>
          <p:nvPr/>
        </p:nvSpPr>
        <p:spPr>
          <a:xfrm>
            <a:off x="3883596" y="2311972"/>
            <a:ext cx="995490" cy="6635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883596" y="2969196"/>
            <a:ext cx="99549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985196" y="2428208"/>
            <a:ext cx="843090"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PI-1 y 2</a:t>
            </a:r>
          </a:p>
        </p:txBody>
      </p:sp>
      <p:sp>
        <p:nvSpPr>
          <p:cNvPr id="49" name="Rectangle 48"/>
          <p:cNvSpPr/>
          <p:nvPr/>
        </p:nvSpPr>
        <p:spPr>
          <a:xfrm>
            <a:off x="4879086" y="2311972"/>
            <a:ext cx="2765425" cy="6635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879086" y="2969196"/>
            <a:ext cx="276542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80686" y="2428208"/>
            <a:ext cx="2613470" cy="428625"/>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Etapas del procedimiento; criterios</a:t>
            </a:r>
            <a:br/>
            <a:r>
              <a:rPr sz="1350" b="0" i="0">
                <a:solidFill>
                  <a:srgbClr val="1F2937"/>
                </a:solidFill>
                <a:latin typeface="Calibri"/>
              </a:rPr>
              <a:t>de V&amp;V</a:t>
            </a:r>
          </a:p>
        </p:txBody>
      </p:sp>
      <p:sp>
        <p:nvSpPr>
          <p:cNvPr id="52" name="Rectangle 51"/>
          <p:cNvSpPr/>
          <p:nvPr/>
        </p:nvSpPr>
        <p:spPr>
          <a:xfrm>
            <a:off x="7644511" y="2311972"/>
            <a:ext cx="2433510" cy="6635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44511" y="2969196"/>
            <a:ext cx="24335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46111" y="2428208"/>
            <a:ext cx="2281110" cy="428625"/>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Literatura clásica del MEF y de</a:t>
            </a:r>
            <a:br/>
            <a:r>
              <a:rPr sz="1350" b="0" i="0">
                <a:solidFill>
                  <a:srgbClr val="1F2937"/>
                </a:solidFill>
                <a:latin typeface="Calibri"/>
              </a:rPr>
              <a:t>V&amp;V</a:t>
            </a:r>
          </a:p>
        </p:txBody>
      </p:sp>
      <p:sp>
        <p:nvSpPr>
          <p:cNvPr id="55" name="Rectangle 54"/>
          <p:cNvSpPr/>
          <p:nvPr/>
        </p:nvSpPr>
        <p:spPr>
          <a:xfrm>
            <a:off x="10078022" y="2311972"/>
            <a:ext cx="1548828" cy="6635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078022" y="2969196"/>
            <a:ext cx="15488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179622" y="2440908"/>
            <a:ext cx="1396428" cy="214312"/>
          </a:xfrm>
          <a:prstGeom prst="rect">
            <a:avLst/>
          </a:prstGeom>
          <a:noFill/>
        </p:spPr>
        <p:txBody>
          <a:bodyPr wrap="square" lIns="0" rIns="0" tIns="0" bIns="0" anchor="t"/>
          <a:lstStyle/>
          <a:p>
            <a:pPr algn="l">
              <a:lnSpc>
                <a:spcPts val="1688"/>
              </a:lnSpc>
              <a:spcBef>
                <a:spcPts val="0"/>
              </a:spcBef>
              <a:spcAft>
                <a:spcPts val="0"/>
              </a:spcAft>
            </a:pPr>
            <a:r>
              <a:rPr sz="1100" b="1" i="0">
                <a:solidFill>
                  <a:srgbClr val="1F77B4"/>
                </a:solidFill>
                <a:latin typeface="Calibri"/>
              </a:rPr>
              <a:t>Capítulo 1 →</a:t>
            </a:r>
          </a:p>
        </p:txBody>
      </p:sp>
      <p:sp>
        <p:nvSpPr>
          <p:cNvPr id="58" name="Rectangle 57"/>
          <p:cNvSpPr/>
          <p:nvPr/>
        </p:nvSpPr>
        <p:spPr>
          <a:xfrm>
            <a:off x="565150" y="2975546"/>
            <a:ext cx="3318446"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65150" y="3632771"/>
            <a:ext cx="331844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6750" y="3091783"/>
            <a:ext cx="3177604" cy="428625"/>
          </a:xfrm>
          <a:prstGeom prst="rect">
            <a:avLst/>
          </a:prstGeom>
          <a:noFill/>
        </p:spPr>
        <p:txBody>
          <a:bodyPr wrap="square" lIns="0" rIns="0" tIns="0" bIns="0" anchor="t"/>
          <a:lstStyle/>
          <a:p>
            <a:pPr algn="l">
              <a:lnSpc>
                <a:spcPts val="1688"/>
              </a:lnSpc>
              <a:spcBef>
                <a:spcPts val="0"/>
              </a:spcBef>
              <a:spcAft>
                <a:spcPts val="0"/>
              </a:spcAft>
            </a:pPr>
            <a:r>
              <a:rPr sz="1350" b="1" i="0">
                <a:solidFill>
                  <a:srgbClr val="1F2937"/>
                </a:solidFill>
                <a:latin typeface="Calibri"/>
              </a:rPr>
              <a:t>3.</a:t>
            </a:r>
            <a:r>
              <a:rPr sz="1350" b="0" i="0">
                <a:solidFill>
                  <a:srgbClr val="1F2937"/>
                </a:solidFill>
                <a:latin typeface="Calibri"/>
              </a:rPr>
              <a:t> Desarrollar motor, interfaz, módulos y</a:t>
            </a:r>
            <a:br/>
            <a:r>
              <a:rPr sz="1350" b="0" i="0">
                <a:solidFill>
                  <a:srgbClr val="1F2937"/>
                </a:solidFill>
                <a:latin typeface="Calibri"/>
              </a:rPr>
              <a:t>memoria</a:t>
            </a:r>
          </a:p>
        </p:txBody>
      </p:sp>
      <p:sp>
        <p:nvSpPr>
          <p:cNvPr id="61" name="Rectangle 60"/>
          <p:cNvSpPr/>
          <p:nvPr/>
        </p:nvSpPr>
        <p:spPr>
          <a:xfrm>
            <a:off x="3883596" y="2975546"/>
            <a:ext cx="995490"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883596" y="3632771"/>
            <a:ext cx="99549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985196" y="3091783"/>
            <a:ext cx="843090"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PI-1</a:t>
            </a:r>
          </a:p>
        </p:txBody>
      </p:sp>
      <p:sp>
        <p:nvSpPr>
          <p:cNvPr id="64" name="Rectangle 63"/>
          <p:cNvSpPr/>
          <p:nvPr/>
        </p:nvSpPr>
        <p:spPr>
          <a:xfrm>
            <a:off x="4879086" y="2975546"/>
            <a:ext cx="2765425"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879086" y="3632771"/>
            <a:ext cx="276542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980686" y="3091783"/>
            <a:ext cx="2613470" cy="428625"/>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VI en su nivel «procedimiento a la</a:t>
            </a:r>
            <a:br/>
            <a:r>
              <a:rPr sz="1350" b="0" i="0">
                <a:solidFill>
                  <a:srgbClr val="1F2937"/>
                </a:solidFill>
                <a:latin typeface="Calibri"/>
              </a:rPr>
              <a:t>vista»</a:t>
            </a:r>
          </a:p>
        </p:txBody>
      </p:sp>
      <p:sp>
        <p:nvSpPr>
          <p:cNvPr id="67" name="Rectangle 66"/>
          <p:cNvSpPr/>
          <p:nvPr/>
        </p:nvSpPr>
        <p:spPr>
          <a:xfrm>
            <a:off x="7644511" y="2975546"/>
            <a:ext cx="2433510"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644511" y="3632771"/>
            <a:ext cx="24335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746111" y="3091783"/>
            <a:ext cx="2281110" cy="428625"/>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Desarrollo iterativo con</a:t>
            </a:r>
            <a:br/>
            <a:r>
              <a:rPr sz="1350" b="0" i="0">
                <a:solidFill>
                  <a:srgbClr val="1F2937"/>
                </a:solidFill>
                <a:latin typeface="Calibri"/>
              </a:rPr>
              <a:t>regresión</a:t>
            </a:r>
          </a:p>
        </p:txBody>
      </p:sp>
      <p:sp>
        <p:nvSpPr>
          <p:cNvPr id="70" name="Rectangle 69"/>
          <p:cNvSpPr/>
          <p:nvPr/>
        </p:nvSpPr>
        <p:spPr>
          <a:xfrm>
            <a:off x="10078022" y="2975546"/>
            <a:ext cx="1548828"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078022" y="3632771"/>
            <a:ext cx="15488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179622" y="3104483"/>
            <a:ext cx="1396428" cy="214312"/>
          </a:xfrm>
          <a:prstGeom prst="rect">
            <a:avLst/>
          </a:prstGeom>
          <a:noFill/>
        </p:spPr>
        <p:txBody>
          <a:bodyPr wrap="square" lIns="0" rIns="0" tIns="0" bIns="0" anchor="t"/>
          <a:lstStyle/>
          <a:p>
            <a:pPr algn="l">
              <a:lnSpc>
                <a:spcPts val="1688"/>
              </a:lnSpc>
              <a:spcBef>
                <a:spcPts val="0"/>
              </a:spcBef>
              <a:spcAft>
                <a:spcPts val="0"/>
              </a:spcAft>
            </a:pPr>
            <a:r>
              <a:rPr sz="1100" b="1" i="0">
                <a:solidFill>
                  <a:srgbClr val="1F77B4"/>
                </a:solidFill>
                <a:latin typeface="Calibri"/>
              </a:rPr>
              <a:t>§ 2.2 →</a:t>
            </a:r>
          </a:p>
        </p:txBody>
      </p:sp>
      <p:sp>
        <p:nvSpPr>
          <p:cNvPr id="73" name="Rectangle 72"/>
          <p:cNvSpPr/>
          <p:nvPr/>
        </p:nvSpPr>
        <p:spPr>
          <a:xfrm>
            <a:off x="565150" y="3639122"/>
            <a:ext cx="3318446" cy="6635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65150" y="4296346"/>
            <a:ext cx="331844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66750" y="3755358"/>
            <a:ext cx="3177604" cy="214312"/>
          </a:xfrm>
          <a:prstGeom prst="rect">
            <a:avLst/>
          </a:prstGeom>
          <a:noFill/>
        </p:spPr>
        <p:txBody>
          <a:bodyPr wrap="square" lIns="0" rIns="0" tIns="0" bIns="0" anchor="t"/>
          <a:lstStyle/>
          <a:p>
            <a:pPr algn="l">
              <a:lnSpc>
                <a:spcPts val="1688"/>
              </a:lnSpc>
              <a:spcBef>
                <a:spcPts val="0"/>
              </a:spcBef>
              <a:spcAft>
                <a:spcPts val="0"/>
              </a:spcAft>
            </a:pPr>
            <a:r>
              <a:rPr sz="1350" b="1" i="0">
                <a:solidFill>
                  <a:srgbClr val="1F2937"/>
                </a:solidFill>
                <a:latin typeface="Calibri"/>
              </a:rPr>
              <a:t>4.</a:t>
            </a:r>
            <a:r>
              <a:rPr sz="1350" b="0" i="0">
                <a:solidFill>
                  <a:srgbClr val="1F2937"/>
                </a:solidFill>
                <a:latin typeface="Calibri"/>
              </a:rPr>
              <a:t> Verificar y validar el motor</a:t>
            </a:r>
          </a:p>
        </p:txBody>
      </p:sp>
      <p:sp>
        <p:nvSpPr>
          <p:cNvPr id="76" name="Rectangle 75"/>
          <p:cNvSpPr/>
          <p:nvPr/>
        </p:nvSpPr>
        <p:spPr>
          <a:xfrm>
            <a:off x="3883596" y="3639122"/>
            <a:ext cx="995490" cy="6635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3883596" y="4296346"/>
            <a:ext cx="99549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985196" y="3755358"/>
            <a:ext cx="843090"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PI-2</a:t>
            </a:r>
          </a:p>
        </p:txBody>
      </p:sp>
      <p:sp>
        <p:nvSpPr>
          <p:cNvPr id="79" name="Rectangle 78"/>
          <p:cNvSpPr/>
          <p:nvPr/>
        </p:nvSpPr>
        <p:spPr>
          <a:xfrm>
            <a:off x="4879086" y="3639122"/>
            <a:ext cx="2765425" cy="6635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879086" y="4296346"/>
            <a:ext cx="276542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980686" y="3755358"/>
            <a:ext cx="2613470" cy="428625"/>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Verificabilidad: tasas, errores,</a:t>
            </a:r>
            <a:br/>
            <a:r>
              <a:rPr sz="1350" b="0" i="0">
                <a:solidFill>
                  <a:srgbClr val="1F2937"/>
                </a:solidFill>
                <a:latin typeface="Calibri"/>
              </a:rPr>
              <a:t>equilibrio, bloqueo</a:t>
            </a:r>
          </a:p>
        </p:txBody>
      </p:sp>
      <p:sp>
        <p:nvSpPr>
          <p:cNvPr id="82" name="Rectangle 81"/>
          <p:cNvSpPr/>
          <p:nvPr/>
        </p:nvSpPr>
        <p:spPr>
          <a:xfrm>
            <a:off x="7644511" y="3639122"/>
            <a:ext cx="2433510" cy="6635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644511" y="4296346"/>
            <a:ext cx="24335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746111" y="3755358"/>
            <a:ext cx="2281110" cy="428625"/>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MMS, Timoshenko, Cook,</a:t>
            </a:r>
            <a:br/>
            <a:r>
              <a:rPr sz="1350" b="0" i="0">
                <a:solidFill>
                  <a:srgbClr val="1F2937"/>
                </a:solidFill>
                <a:latin typeface="Calibri"/>
              </a:rPr>
              <a:t>SAP2000</a:t>
            </a:r>
          </a:p>
        </p:txBody>
      </p:sp>
      <p:sp>
        <p:nvSpPr>
          <p:cNvPr id="85" name="Rectangle 84"/>
          <p:cNvSpPr/>
          <p:nvPr/>
        </p:nvSpPr>
        <p:spPr>
          <a:xfrm>
            <a:off x="10078022" y="3639122"/>
            <a:ext cx="1548828" cy="6635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0078022" y="4296346"/>
            <a:ext cx="15488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179622" y="3768058"/>
            <a:ext cx="1396428" cy="214312"/>
          </a:xfrm>
          <a:prstGeom prst="rect">
            <a:avLst/>
          </a:prstGeom>
          <a:noFill/>
        </p:spPr>
        <p:txBody>
          <a:bodyPr wrap="square" lIns="0" rIns="0" tIns="0" bIns="0" anchor="t"/>
          <a:lstStyle/>
          <a:p>
            <a:pPr algn="l">
              <a:lnSpc>
                <a:spcPts val="1688"/>
              </a:lnSpc>
              <a:spcBef>
                <a:spcPts val="0"/>
              </a:spcBef>
              <a:spcAft>
                <a:spcPts val="0"/>
              </a:spcAft>
            </a:pPr>
            <a:r>
              <a:rPr sz="1100" b="1" i="0">
                <a:solidFill>
                  <a:srgbClr val="1F77B4"/>
                </a:solidFill>
                <a:latin typeface="Calibri"/>
              </a:rPr>
              <a:t>§ 3.2–3.5 →</a:t>
            </a:r>
          </a:p>
        </p:txBody>
      </p:sp>
      <p:sp>
        <p:nvSpPr>
          <p:cNvPr id="88" name="Rectangle 87"/>
          <p:cNvSpPr/>
          <p:nvPr/>
        </p:nvSpPr>
        <p:spPr>
          <a:xfrm>
            <a:off x="565150" y="4302696"/>
            <a:ext cx="3318446"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65150" y="4959922"/>
            <a:ext cx="331844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66750" y="4418933"/>
            <a:ext cx="3177604" cy="214312"/>
          </a:xfrm>
          <a:prstGeom prst="rect">
            <a:avLst/>
          </a:prstGeom>
          <a:noFill/>
        </p:spPr>
        <p:txBody>
          <a:bodyPr wrap="square" lIns="0" rIns="0" tIns="0" bIns="0" anchor="t"/>
          <a:lstStyle/>
          <a:p>
            <a:pPr algn="l">
              <a:lnSpc>
                <a:spcPts val="1688"/>
              </a:lnSpc>
              <a:spcBef>
                <a:spcPts val="0"/>
              </a:spcBef>
              <a:spcAft>
                <a:spcPts val="0"/>
              </a:spcAft>
            </a:pPr>
            <a:r>
              <a:rPr sz="1350" b="1" i="0">
                <a:solidFill>
                  <a:srgbClr val="1F2937"/>
                </a:solidFill>
                <a:latin typeface="Calibri"/>
              </a:rPr>
              <a:t>5.</a:t>
            </a:r>
            <a:r>
              <a:rPr sz="1350" b="0" i="0">
                <a:solidFill>
                  <a:srgbClr val="1F2937"/>
                </a:solidFill>
                <a:latin typeface="Calibri"/>
              </a:rPr>
              <a:t> Validar la propuesta</a:t>
            </a:r>
          </a:p>
        </p:txBody>
      </p:sp>
      <p:sp>
        <p:nvSpPr>
          <p:cNvPr id="91" name="Rectangle 90"/>
          <p:cNvSpPr/>
          <p:nvPr/>
        </p:nvSpPr>
        <p:spPr>
          <a:xfrm>
            <a:off x="3883596" y="4302696"/>
            <a:ext cx="995490"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3883596" y="4959922"/>
            <a:ext cx="99549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985196" y="4418933"/>
            <a:ext cx="843090"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PI-1 y 2</a:t>
            </a:r>
          </a:p>
        </p:txBody>
      </p:sp>
      <p:sp>
        <p:nvSpPr>
          <p:cNvPr id="94" name="Rectangle 93"/>
          <p:cNvSpPr/>
          <p:nvPr/>
        </p:nvSpPr>
        <p:spPr>
          <a:xfrm>
            <a:off x="4879086" y="4302696"/>
            <a:ext cx="2765425"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879086" y="4959922"/>
            <a:ext cx="276542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980686" y="4418933"/>
            <a:ext cx="2613470" cy="428625"/>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Trazabilidad: cobertura; contraste</a:t>
            </a:r>
            <a:br/>
            <a:r>
              <a:rPr sz="1350" b="0" i="0">
                <a:solidFill>
                  <a:srgbClr val="1F2937"/>
                </a:solidFill>
                <a:latin typeface="Calibri"/>
              </a:rPr>
              <a:t>global</a:t>
            </a:r>
          </a:p>
        </p:txBody>
      </p:sp>
      <p:sp>
        <p:nvSpPr>
          <p:cNvPr id="97" name="Rectangle 96"/>
          <p:cNvSpPr/>
          <p:nvPr/>
        </p:nvSpPr>
        <p:spPr>
          <a:xfrm>
            <a:off x="7644511" y="4302696"/>
            <a:ext cx="2433510"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7644511" y="4959922"/>
            <a:ext cx="24335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746111" y="4418933"/>
            <a:ext cx="2281110" cy="428625"/>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Inventario; tabla de cobertura;</a:t>
            </a:r>
            <a:br/>
            <a:r>
              <a:rPr sz="1350" b="0" i="0">
                <a:solidFill>
                  <a:srgbClr val="1F2937"/>
                </a:solidFill>
                <a:latin typeface="Calibri"/>
              </a:rPr>
              <a:t>ejemplo canónico</a:t>
            </a:r>
          </a:p>
        </p:txBody>
      </p:sp>
      <p:sp>
        <p:nvSpPr>
          <p:cNvPr id="100" name="Rectangle 99"/>
          <p:cNvSpPr/>
          <p:nvPr/>
        </p:nvSpPr>
        <p:spPr>
          <a:xfrm>
            <a:off x="10078022" y="4302696"/>
            <a:ext cx="1548828" cy="663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078022" y="4959922"/>
            <a:ext cx="15488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179622" y="4431633"/>
            <a:ext cx="1396428" cy="214312"/>
          </a:xfrm>
          <a:prstGeom prst="rect">
            <a:avLst/>
          </a:prstGeom>
          <a:noFill/>
        </p:spPr>
        <p:txBody>
          <a:bodyPr wrap="square" lIns="0" rIns="0" tIns="0" bIns="0" anchor="t"/>
          <a:lstStyle/>
          <a:p>
            <a:pPr algn="l">
              <a:lnSpc>
                <a:spcPts val="1688"/>
              </a:lnSpc>
              <a:spcBef>
                <a:spcPts val="0"/>
              </a:spcBef>
              <a:spcAft>
                <a:spcPts val="0"/>
              </a:spcAft>
            </a:pPr>
            <a:r>
              <a:rPr sz="1100" b="1" i="0">
                <a:solidFill>
                  <a:srgbClr val="1F77B4"/>
                </a:solidFill>
                <a:latin typeface="Calibri"/>
              </a:rPr>
              <a:t>§ 3.6–3.8 →</a:t>
            </a:r>
          </a:p>
        </p:txBody>
      </p:sp>
      <p:sp>
        <p:nvSpPr>
          <p:cNvPr id="103" name="Rounded Rectangle 102"/>
          <p:cNvSpPr/>
          <p:nvPr/>
        </p:nvSpPr>
        <p:spPr>
          <a:xfrm>
            <a:off x="565150" y="5659120"/>
            <a:ext cx="110617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565150" y="56591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6450" y="5775884"/>
            <a:ext cx="254508"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106" name="TextBox 105"/>
          <p:cNvSpPr txBox="1"/>
          <p:nvPr/>
        </p:nvSpPr>
        <p:spPr>
          <a:xfrm>
            <a:off x="1149858" y="5802089"/>
            <a:ext cx="9563926" cy="263398"/>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Una sola formulación del problema: la Introducción la plantea, la § 2.1.3 la retoma y la § 3.8 la responde.</a:t>
            </a:r>
          </a:p>
        </p:txBody>
      </p:sp>
      <p:sp>
        <p:nvSpPr>
          <p:cNvPr id="107" name="Rectangle 10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10" name="TextBox 109"/>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2.1.3 · Tabla 2.3</a:t>
            </a:r>
          </a:p>
        </p:txBody>
      </p:sp>
      <p:sp>
        <p:nvSpPr>
          <p:cNvPr id="111" name="TextBox 110"/>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26</a:t>
            </a:r>
          </a:p>
        </p:txBody>
      </p:sp>
      <p:sp>
        <p:nvSpPr>
          <p:cNvPr id="112"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Enlace a sep-diseno">
            <a:hlinkClick action="ppaction://hlinksldjump" r:id="rId4"/>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Enlace a estado-arte">
            <a:hlinkClick action="ppaction://hlinksldjump" r:id="rId8"/>
          </p:cNvPr>
          <p:cNvSpPr/>
          <p:nvPr/>
        </p:nvSpPr>
        <p:spPr>
          <a:xfrm>
            <a:off x="565150" y="1648396"/>
            <a:ext cx="11061700" cy="663575"/>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Enlace a procedimiento">
            <a:hlinkClick action="ppaction://hlinksldjump" r:id="rId9"/>
          </p:cNvPr>
          <p:cNvSpPr/>
          <p:nvPr/>
        </p:nvSpPr>
        <p:spPr>
          <a:xfrm>
            <a:off x="565150" y="2311972"/>
            <a:ext cx="11061700" cy="663575"/>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Enlace a arquitectura">
            <a:hlinkClick action="ppaction://hlinksldjump" r:id="rId10"/>
          </p:cNvPr>
          <p:cNvSpPr/>
          <p:nvPr/>
        </p:nvSpPr>
        <p:spPr>
          <a:xfrm>
            <a:off x="565150" y="2975546"/>
            <a:ext cx="11061700" cy="663575"/>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Enlace a mms">
            <a:hlinkClick action="ppaction://hlinksldjump" r:id="rId11"/>
          </p:cNvPr>
          <p:cNvSpPr/>
          <p:nvPr/>
        </p:nvSpPr>
        <p:spPr>
          <a:xfrm>
            <a:off x="565150" y="3639122"/>
            <a:ext cx="11061700" cy="663575"/>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Enlace a veredicto">
            <a:hlinkClick action="ppaction://hlinksldjump" r:id="rId12"/>
          </p:cNvPr>
          <p:cNvSpPr/>
          <p:nvPr/>
        </p:nvSpPr>
        <p:spPr>
          <a:xfrm>
            <a:off x="565150" y="4302696"/>
            <a:ext cx="11061700" cy="663575"/>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0" fill="hold">
                      <p:stCondLst>
                        <p:cond delay="indefinite"/>
                        <p:cond evt="onBegin" delay="0">
                          <p:tn val="2"/>
                        </p:cond>
                      </p:stCondLst>
                      <p:childTnLst>
                        <p:par>
                          <p:cTn id="241"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450"/>
                                        <p:tgtEl>
                                          <p:spTgt spid="28"/>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450"/>
                                        <p:tgtEl>
                                          <p:spTgt spid="29"/>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450"/>
                                        <p:tgtEl>
                                          <p:spTgt spid="30"/>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450"/>
                                        <p:tgtEl>
                                          <p:spTgt spid="31"/>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450"/>
                                        <p:tgtEl>
                                          <p:spTgt spid="32"/>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450"/>
                                        <p:tgtEl>
                                          <p:spTgt spid="33"/>
                                        </p:tgtEl>
                                      </p:cBhvr>
                                    </p:animEffect>
                                  </p:childTnLst>
                                </p:cTn>
                              </p:par>
                              <p:par>
                                <p:cTn id="21" presetID="10" presetClass="entr" presetSubtype="0" fill="hold" grpId="0" nodeType="withEffect">
                                  <p:stCondLst>
                                    <p:cond delay="12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450"/>
                                        <p:tgtEl>
                                          <p:spTgt spid="34"/>
                                        </p:tgtEl>
                                      </p:cBhvr>
                                    </p:animEffect>
                                  </p:childTnLst>
                                </p:cTn>
                              </p:par>
                              <p:par>
                                <p:cTn id="24" presetID="10" presetClass="entr" presetSubtype="0" fill="hold" grpId="0" nodeType="withEffect">
                                  <p:stCondLst>
                                    <p:cond delay="12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450"/>
                                        <p:tgtEl>
                                          <p:spTgt spid="35"/>
                                        </p:tgtEl>
                                      </p:cBhvr>
                                    </p:animEffect>
                                  </p:childTnLst>
                                </p:cTn>
                              </p:par>
                              <p:par>
                                <p:cTn id="27" presetID="10" presetClass="entr" presetSubtype="0" fill="hold" grpId="0" nodeType="withEffect">
                                  <p:stCondLst>
                                    <p:cond delay="12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450"/>
                                        <p:tgtEl>
                                          <p:spTgt spid="36"/>
                                        </p:tgtEl>
                                      </p:cBhvr>
                                    </p:animEffect>
                                  </p:childTnLst>
                                </p:cTn>
                              </p:par>
                              <p:par>
                                <p:cTn id="30" presetID="10" presetClass="entr" presetSubtype="0" fill="hold" grpId="0" nodeType="withEffect">
                                  <p:stCondLst>
                                    <p:cond delay="12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50"/>
                                        <p:tgtEl>
                                          <p:spTgt spid="37"/>
                                        </p:tgtEl>
                                      </p:cBhvr>
                                    </p:animEffect>
                                  </p:childTnLst>
                                </p:cTn>
                              </p:par>
                              <p:par>
                                <p:cTn id="33" presetID="10" presetClass="entr" presetSubtype="0" fill="hold" grpId="0" nodeType="withEffect">
                                  <p:stCondLst>
                                    <p:cond delay="12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450"/>
                                        <p:tgtEl>
                                          <p:spTgt spid="38"/>
                                        </p:tgtEl>
                                      </p:cBhvr>
                                    </p:animEffect>
                                  </p:childTnLst>
                                </p:cTn>
                              </p:par>
                              <p:par>
                                <p:cTn id="36" presetID="10" presetClass="entr" presetSubtype="0" fill="hold" grpId="0" nodeType="withEffect">
                                  <p:stCondLst>
                                    <p:cond delay="12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450"/>
                                        <p:tgtEl>
                                          <p:spTgt spid="39"/>
                                        </p:tgtEl>
                                      </p:cBhvr>
                                    </p:animEffect>
                                  </p:childTnLst>
                                </p:cTn>
                              </p:par>
                              <p:par>
                                <p:cTn id="39" presetID="10" presetClass="entr" presetSubtype="0" fill="hold" grpId="0" nodeType="withEffect">
                                  <p:stCondLst>
                                    <p:cond delay="12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450"/>
                                        <p:tgtEl>
                                          <p:spTgt spid="40"/>
                                        </p:tgtEl>
                                      </p:cBhvr>
                                    </p:animEffect>
                                  </p:childTnLst>
                                </p:cTn>
                              </p:par>
                              <p:par>
                                <p:cTn id="42" presetID="10" presetClass="entr" presetSubtype="0" fill="hold" grpId="0" nodeType="withEffect">
                                  <p:stCondLst>
                                    <p:cond delay="12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450"/>
                                        <p:tgtEl>
                                          <p:spTgt spid="41"/>
                                        </p:tgtEl>
                                      </p:cBhvr>
                                    </p:animEffect>
                                  </p:childTnLst>
                                </p:cTn>
                              </p:par>
                              <p:par>
                                <p:cTn id="45" presetID="10" presetClass="entr" presetSubtype="0" fill="hold" grpId="0" nodeType="withEffect">
                                  <p:stCondLst>
                                    <p:cond delay="12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450"/>
                                        <p:tgtEl>
                                          <p:spTgt spid="42"/>
                                        </p:tgtEl>
                                      </p:cBhvr>
                                    </p:animEffect>
                                  </p:childTnLst>
                                </p:cTn>
                              </p:par>
                              <p:par>
                                <p:cTn id="48" presetID="10" presetClass="entr" presetSubtype="0" fill="hold" grpId="0" nodeType="withEffect">
                                  <p:stCondLst>
                                    <p:cond delay="23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450"/>
                                        <p:tgtEl>
                                          <p:spTgt spid="43"/>
                                        </p:tgtEl>
                                      </p:cBhvr>
                                    </p:animEffect>
                                  </p:childTnLst>
                                </p:cTn>
                              </p:par>
                              <p:par>
                                <p:cTn id="51" presetID="10" presetClass="entr" presetSubtype="0" fill="hold" grpId="0" nodeType="withEffect">
                                  <p:stCondLst>
                                    <p:cond delay="230"/>
                                  </p:stCondLst>
                                  <p:childTnLst>
                                    <p:set>
                                      <p:cBhvr>
                                        <p:cTn id="52" dur="1" fill="hold">
                                          <p:stCondLst>
                                            <p:cond delay="0"/>
                                          </p:stCondLst>
                                        </p:cTn>
                                        <p:tgtEl>
                                          <p:spTgt spid="44"/>
                                        </p:tgtEl>
                                        <p:attrNameLst>
                                          <p:attrName>style.visibility</p:attrName>
                                        </p:attrNameLst>
                                      </p:cBhvr>
                                      <p:to>
                                        <p:strVal val="visible"/>
                                      </p:to>
                                    </p:set>
                                    <p:animEffect transition="in" filter="fade">
                                      <p:cBhvr>
                                        <p:cTn id="53" dur="450"/>
                                        <p:tgtEl>
                                          <p:spTgt spid="44"/>
                                        </p:tgtEl>
                                      </p:cBhvr>
                                    </p:animEffect>
                                  </p:childTnLst>
                                </p:cTn>
                              </p:par>
                              <p:par>
                                <p:cTn id="54" presetID="10" presetClass="entr" presetSubtype="0" fill="hold" grpId="0" nodeType="withEffect">
                                  <p:stCondLst>
                                    <p:cond delay="230"/>
                                  </p:stCondLst>
                                  <p:childTnLst>
                                    <p:set>
                                      <p:cBhvr>
                                        <p:cTn id="55" dur="1" fill="hold">
                                          <p:stCondLst>
                                            <p:cond delay="0"/>
                                          </p:stCondLst>
                                        </p:cTn>
                                        <p:tgtEl>
                                          <p:spTgt spid="45"/>
                                        </p:tgtEl>
                                        <p:attrNameLst>
                                          <p:attrName>style.visibility</p:attrName>
                                        </p:attrNameLst>
                                      </p:cBhvr>
                                      <p:to>
                                        <p:strVal val="visible"/>
                                      </p:to>
                                    </p:set>
                                    <p:animEffect transition="in" filter="fade">
                                      <p:cBhvr>
                                        <p:cTn id="56" dur="450"/>
                                        <p:tgtEl>
                                          <p:spTgt spid="45"/>
                                        </p:tgtEl>
                                      </p:cBhvr>
                                    </p:animEffect>
                                  </p:childTnLst>
                                </p:cTn>
                              </p:par>
                              <p:par>
                                <p:cTn id="57" presetID="10" presetClass="entr" presetSubtype="0" fill="hold" grpId="0" nodeType="withEffect">
                                  <p:stCondLst>
                                    <p:cond delay="230"/>
                                  </p:stCondLst>
                                  <p:childTnLst>
                                    <p:set>
                                      <p:cBhvr>
                                        <p:cTn id="58" dur="1" fill="hold">
                                          <p:stCondLst>
                                            <p:cond delay="0"/>
                                          </p:stCondLst>
                                        </p:cTn>
                                        <p:tgtEl>
                                          <p:spTgt spid="46"/>
                                        </p:tgtEl>
                                        <p:attrNameLst>
                                          <p:attrName>style.visibility</p:attrName>
                                        </p:attrNameLst>
                                      </p:cBhvr>
                                      <p:to>
                                        <p:strVal val="visible"/>
                                      </p:to>
                                    </p:set>
                                    <p:animEffect transition="in" filter="fade">
                                      <p:cBhvr>
                                        <p:cTn id="59" dur="450"/>
                                        <p:tgtEl>
                                          <p:spTgt spid="46"/>
                                        </p:tgtEl>
                                      </p:cBhvr>
                                    </p:animEffect>
                                  </p:childTnLst>
                                </p:cTn>
                              </p:par>
                              <p:par>
                                <p:cTn id="60" presetID="10" presetClass="entr" presetSubtype="0" fill="hold" grpId="0" nodeType="withEffect">
                                  <p:stCondLst>
                                    <p:cond delay="230"/>
                                  </p:stCondLst>
                                  <p:childTnLst>
                                    <p:set>
                                      <p:cBhvr>
                                        <p:cTn id="61" dur="1" fill="hold">
                                          <p:stCondLst>
                                            <p:cond delay="0"/>
                                          </p:stCondLst>
                                        </p:cTn>
                                        <p:tgtEl>
                                          <p:spTgt spid="47"/>
                                        </p:tgtEl>
                                        <p:attrNameLst>
                                          <p:attrName>style.visibility</p:attrName>
                                        </p:attrNameLst>
                                      </p:cBhvr>
                                      <p:to>
                                        <p:strVal val="visible"/>
                                      </p:to>
                                    </p:set>
                                    <p:animEffect transition="in" filter="fade">
                                      <p:cBhvr>
                                        <p:cTn id="62" dur="450"/>
                                        <p:tgtEl>
                                          <p:spTgt spid="47"/>
                                        </p:tgtEl>
                                      </p:cBhvr>
                                    </p:animEffect>
                                  </p:childTnLst>
                                </p:cTn>
                              </p:par>
                              <p:par>
                                <p:cTn id="63" presetID="10" presetClass="entr" presetSubtype="0" fill="hold" grpId="0" nodeType="withEffect">
                                  <p:stCondLst>
                                    <p:cond delay="230"/>
                                  </p:stCondLst>
                                  <p:childTnLst>
                                    <p:set>
                                      <p:cBhvr>
                                        <p:cTn id="64" dur="1" fill="hold">
                                          <p:stCondLst>
                                            <p:cond delay="0"/>
                                          </p:stCondLst>
                                        </p:cTn>
                                        <p:tgtEl>
                                          <p:spTgt spid="48"/>
                                        </p:tgtEl>
                                        <p:attrNameLst>
                                          <p:attrName>style.visibility</p:attrName>
                                        </p:attrNameLst>
                                      </p:cBhvr>
                                      <p:to>
                                        <p:strVal val="visible"/>
                                      </p:to>
                                    </p:set>
                                    <p:animEffect transition="in" filter="fade">
                                      <p:cBhvr>
                                        <p:cTn id="65" dur="450"/>
                                        <p:tgtEl>
                                          <p:spTgt spid="48"/>
                                        </p:tgtEl>
                                      </p:cBhvr>
                                    </p:animEffect>
                                  </p:childTnLst>
                                </p:cTn>
                              </p:par>
                              <p:par>
                                <p:cTn id="66" presetID="10" presetClass="entr" presetSubtype="0" fill="hold" grpId="0" nodeType="withEffect">
                                  <p:stCondLst>
                                    <p:cond delay="230"/>
                                  </p:stCondLst>
                                  <p:childTnLst>
                                    <p:set>
                                      <p:cBhvr>
                                        <p:cTn id="67" dur="1" fill="hold">
                                          <p:stCondLst>
                                            <p:cond delay="0"/>
                                          </p:stCondLst>
                                        </p:cTn>
                                        <p:tgtEl>
                                          <p:spTgt spid="49"/>
                                        </p:tgtEl>
                                        <p:attrNameLst>
                                          <p:attrName>style.visibility</p:attrName>
                                        </p:attrNameLst>
                                      </p:cBhvr>
                                      <p:to>
                                        <p:strVal val="visible"/>
                                      </p:to>
                                    </p:set>
                                    <p:animEffect transition="in" filter="fade">
                                      <p:cBhvr>
                                        <p:cTn id="68" dur="450"/>
                                        <p:tgtEl>
                                          <p:spTgt spid="49"/>
                                        </p:tgtEl>
                                      </p:cBhvr>
                                    </p:animEffect>
                                  </p:childTnLst>
                                </p:cTn>
                              </p:par>
                              <p:par>
                                <p:cTn id="69" presetID="10" presetClass="entr" presetSubtype="0" fill="hold" grpId="0" nodeType="withEffect">
                                  <p:stCondLst>
                                    <p:cond delay="230"/>
                                  </p:stCondLst>
                                  <p:childTnLst>
                                    <p:set>
                                      <p:cBhvr>
                                        <p:cTn id="70" dur="1" fill="hold">
                                          <p:stCondLst>
                                            <p:cond delay="0"/>
                                          </p:stCondLst>
                                        </p:cTn>
                                        <p:tgtEl>
                                          <p:spTgt spid="50"/>
                                        </p:tgtEl>
                                        <p:attrNameLst>
                                          <p:attrName>style.visibility</p:attrName>
                                        </p:attrNameLst>
                                      </p:cBhvr>
                                      <p:to>
                                        <p:strVal val="visible"/>
                                      </p:to>
                                    </p:set>
                                    <p:animEffect transition="in" filter="fade">
                                      <p:cBhvr>
                                        <p:cTn id="71" dur="450"/>
                                        <p:tgtEl>
                                          <p:spTgt spid="50"/>
                                        </p:tgtEl>
                                      </p:cBhvr>
                                    </p:animEffect>
                                  </p:childTnLst>
                                </p:cTn>
                              </p:par>
                              <p:par>
                                <p:cTn id="72" presetID="10" presetClass="entr" presetSubtype="0" fill="hold" grpId="0" nodeType="withEffect">
                                  <p:stCondLst>
                                    <p:cond delay="230"/>
                                  </p:stCondLst>
                                  <p:childTnLst>
                                    <p:set>
                                      <p:cBhvr>
                                        <p:cTn id="73" dur="1" fill="hold">
                                          <p:stCondLst>
                                            <p:cond delay="0"/>
                                          </p:stCondLst>
                                        </p:cTn>
                                        <p:tgtEl>
                                          <p:spTgt spid="51"/>
                                        </p:tgtEl>
                                        <p:attrNameLst>
                                          <p:attrName>style.visibility</p:attrName>
                                        </p:attrNameLst>
                                      </p:cBhvr>
                                      <p:to>
                                        <p:strVal val="visible"/>
                                      </p:to>
                                    </p:set>
                                    <p:animEffect transition="in" filter="fade">
                                      <p:cBhvr>
                                        <p:cTn id="74" dur="450"/>
                                        <p:tgtEl>
                                          <p:spTgt spid="51"/>
                                        </p:tgtEl>
                                      </p:cBhvr>
                                    </p:animEffect>
                                  </p:childTnLst>
                                </p:cTn>
                              </p:par>
                              <p:par>
                                <p:cTn id="75" presetID="10" presetClass="entr" presetSubtype="0" fill="hold" grpId="0" nodeType="withEffect">
                                  <p:stCondLst>
                                    <p:cond delay="23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450"/>
                                        <p:tgtEl>
                                          <p:spTgt spid="52"/>
                                        </p:tgtEl>
                                      </p:cBhvr>
                                    </p:animEffect>
                                  </p:childTnLst>
                                </p:cTn>
                              </p:par>
                              <p:par>
                                <p:cTn id="78" presetID="10" presetClass="entr" presetSubtype="0" fill="hold" grpId="0" nodeType="withEffect">
                                  <p:stCondLst>
                                    <p:cond delay="230"/>
                                  </p:stCondLst>
                                  <p:childTnLst>
                                    <p:set>
                                      <p:cBhvr>
                                        <p:cTn id="79" dur="1" fill="hold">
                                          <p:stCondLst>
                                            <p:cond delay="0"/>
                                          </p:stCondLst>
                                        </p:cTn>
                                        <p:tgtEl>
                                          <p:spTgt spid="53"/>
                                        </p:tgtEl>
                                        <p:attrNameLst>
                                          <p:attrName>style.visibility</p:attrName>
                                        </p:attrNameLst>
                                      </p:cBhvr>
                                      <p:to>
                                        <p:strVal val="visible"/>
                                      </p:to>
                                    </p:set>
                                    <p:animEffect transition="in" filter="fade">
                                      <p:cBhvr>
                                        <p:cTn id="80" dur="450"/>
                                        <p:tgtEl>
                                          <p:spTgt spid="53"/>
                                        </p:tgtEl>
                                      </p:cBhvr>
                                    </p:animEffect>
                                  </p:childTnLst>
                                </p:cTn>
                              </p:par>
                              <p:par>
                                <p:cTn id="81" presetID="10" presetClass="entr" presetSubtype="0" fill="hold" grpId="0" nodeType="withEffect">
                                  <p:stCondLst>
                                    <p:cond delay="230"/>
                                  </p:stCondLst>
                                  <p:childTnLst>
                                    <p:set>
                                      <p:cBhvr>
                                        <p:cTn id="82" dur="1" fill="hold">
                                          <p:stCondLst>
                                            <p:cond delay="0"/>
                                          </p:stCondLst>
                                        </p:cTn>
                                        <p:tgtEl>
                                          <p:spTgt spid="54"/>
                                        </p:tgtEl>
                                        <p:attrNameLst>
                                          <p:attrName>style.visibility</p:attrName>
                                        </p:attrNameLst>
                                      </p:cBhvr>
                                      <p:to>
                                        <p:strVal val="visible"/>
                                      </p:to>
                                    </p:set>
                                    <p:animEffect transition="in" filter="fade">
                                      <p:cBhvr>
                                        <p:cTn id="83" dur="450"/>
                                        <p:tgtEl>
                                          <p:spTgt spid="54"/>
                                        </p:tgtEl>
                                      </p:cBhvr>
                                    </p:animEffect>
                                  </p:childTnLst>
                                </p:cTn>
                              </p:par>
                              <p:par>
                                <p:cTn id="84" presetID="10" presetClass="entr" presetSubtype="0" fill="hold" grpId="0" nodeType="withEffect">
                                  <p:stCondLst>
                                    <p:cond delay="230"/>
                                  </p:stCondLst>
                                  <p:childTnLst>
                                    <p:set>
                                      <p:cBhvr>
                                        <p:cTn id="85" dur="1" fill="hold">
                                          <p:stCondLst>
                                            <p:cond delay="0"/>
                                          </p:stCondLst>
                                        </p:cTn>
                                        <p:tgtEl>
                                          <p:spTgt spid="55"/>
                                        </p:tgtEl>
                                        <p:attrNameLst>
                                          <p:attrName>style.visibility</p:attrName>
                                        </p:attrNameLst>
                                      </p:cBhvr>
                                      <p:to>
                                        <p:strVal val="visible"/>
                                      </p:to>
                                    </p:set>
                                    <p:animEffect transition="in" filter="fade">
                                      <p:cBhvr>
                                        <p:cTn id="86" dur="450"/>
                                        <p:tgtEl>
                                          <p:spTgt spid="55"/>
                                        </p:tgtEl>
                                      </p:cBhvr>
                                    </p:animEffect>
                                  </p:childTnLst>
                                </p:cTn>
                              </p:par>
                              <p:par>
                                <p:cTn id="87" presetID="10" presetClass="entr" presetSubtype="0" fill="hold" grpId="0" nodeType="withEffect">
                                  <p:stCondLst>
                                    <p:cond delay="230"/>
                                  </p:stCondLst>
                                  <p:childTnLst>
                                    <p:set>
                                      <p:cBhvr>
                                        <p:cTn id="88" dur="1" fill="hold">
                                          <p:stCondLst>
                                            <p:cond delay="0"/>
                                          </p:stCondLst>
                                        </p:cTn>
                                        <p:tgtEl>
                                          <p:spTgt spid="56"/>
                                        </p:tgtEl>
                                        <p:attrNameLst>
                                          <p:attrName>style.visibility</p:attrName>
                                        </p:attrNameLst>
                                      </p:cBhvr>
                                      <p:to>
                                        <p:strVal val="visible"/>
                                      </p:to>
                                    </p:set>
                                    <p:animEffect transition="in" filter="fade">
                                      <p:cBhvr>
                                        <p:cTn id="89" dur="450"/>
                                        <p:tgtEl>
                                          <p:spTgt spid="56"/>
                                        </p:tgtEl>
                                      </p:cBhvr>
                                    </p:animEffect>
                                  </p:childTnLst>
                                </p:cTn>
                              </p:par>
                              <p:par>
                                <p:cTn id="90" presetID="10" presetClass="entr" presetSubtype="0" fill="hold" grpId="0" nodeType="withEffect">
                                  <p:stCondLst>
                                    <p:cond delay="230"/>
                                  </p:stCondLst>
                                  <p:childTnLst>
                                    <p:set>
                                      <p:cBhvr>
                                        <p:cTn id="91" dur="1" fill="hold">
                                          <p:stCondLst>
                                            <p:cond delay="0"/>
                                          </p:stCondLst>
                                        </p:cTn>
                                        <p:tgtEl>
                                          <p:spTgt spid="57"/>
                                        </p:tgtEl>
                                        <p:attrNameLst>
                                          <p:attrName>style.visibility</p:attrName>
                                        </p:attrNameLst>
                                      </p:cBhvr>
                                      <p:to>
                                        <p:strVal val="visible"/>
                                      </p:to>
                                    </p:set>
                                    <p:animEffect transition="in" filter="fade">
                                      <p:cBhvr>
                                        <p:cTn id="92" dur="450"/>
                                        <p:tgtEl>
                                          <p:spTgt spid="57"/>
                                        </p:tgtEl>
                                      </p:cBhvr>
                                    </p:animEffect>
                                  </p:childTnLst>
                                </p:cTn>
                              </p:par>
                              <p:par>
                                <p:cTn id="93" presetID="10" presetClass="entr" presetSubtype="0" fill="hold" grpId="0" nodeType="withEffect">
                                  <p:stCondLst>
                                    <p:cond delay="340"/>
                                  </p:stCondLst>
                                  <p:childTnLst>
                                    <p:set>
                                      <p:cBhvr>
                                        <p:cTn id="94" dur="1" fill="hold">
                                          <p:stCondLst>
                                            <p:cond delay="0"/>
                                          </p:stCondLst>
                                        </p:cTn>
                                        <p:tgtEl>
                                          <p:spTgt spid="58"/>
                                        </p:tgtEl>
                                        <p:attrNameLst>
                                          <p:attrName>style.visibility</p:attrName>
                                        </p:attrNameLst>
                                      </p:cBhvr>
                                      <p:to>
                                        <p:strVal val="visible"/>
                                      </p:to>
                                    </p:set>
                                    <p:animEffect transition="in" filter="fade">
                                      <p:cBhvr>
                                        <p:cTn id="95" dur="450"/>
                                        <p:tgtEl>
                                          <p:spTgt spid="58"/>
                                        </p:tgtEl>
                                      </p:cBhvr>
                                    </p:animEffect>
                                  </p:childTnLst>
                                </p:cTn>
                              </p:par>
                              <p:par>
                                <p:cTn id="96" presetID="10" presetClass="entr" presetSubtype="0" fill="hold" grpId="0" nodeType="withEffect">
                                  <p:stCondLst>
                                    <p:cond delay="340"/>
                                  </p:stCondLst>
                                  <p:childTnLst>
                                    <p:set>
                                      <p:cBhvr>
                                        <p:cTn id="97" dur="1" fill="hold">
                                          <p:stCondLst>
                                            <p:cond delay="0"/>
                                          </p:stCondLst>
                                        </p:cTn>
                                        <p:tgtEl>
                                          <p:spTgt spid="59"/>
                                        </p:tgtEl>
                                        <p:attrNameLst>
                                          <p:attrName>style.visibility</p:attrName>
                                        </p:attrNameLst>
                                      </p:cBhvr>
                                      <p:to>
                                        <p:strVal val="visible"/>
                                      </p:to>
                                    </p:set>
                                    <p:animEffect transition="in" filter="fade">
                                      <p:cBhvr>
                                        <p:cTn id="98" dur="450"/>
                                        <p:tgtEl>
                                          <p:spTgt spid="59"/>
                                        </p:tgtEl>
                                      </p:cBhvr>
                                    </p:animEffect>
                                  </p:childTnLst>
                                </p:cTn>
                              </p:par>
                              <p:par>
                                <p:cTn id="99" presetID="10" presetClass="entr" presetSubtype="0" fill="hold" grpId="0" nodeType="withEffect">
                                  <p:stCondLst>
                                    <p:cond delay="340"/>
                                  </p:stCondLst>
                                  <p:childTnLst>
                                    <p:set>
                                      <p:cBhvr>
                                        <p:cTn id="100" dur="1" fill="hold">
                                          <p:stCondLst>
                                            <p:cond delay="0"/>
                                          </p:stCondLst>
                                        </p:cTn>
                                        <p:tgtEl>
                                          <p:spTgt spid="60"/>
                                        </p:tgtEl>
                                        <p:attrNameLst>
                                          <p:attrName>style.visibility</p:attrName>
                                        </p:attrNameLst>
                                      </p:cBhvr>
                                      <p:to>
                                        <p:strVal val="visible"/>
                                      </p:to>
                                    </p:set>
                                    <p:animEffect transition="in" filter="fade">
                                      <p:cBhvr>
                                        <p:cTn id="101" dur="450"/>
                                        <p:tgtEl>
                                          <p:spTgt spid="60"/>
                                        </p:tgtEl>
                                      </p:cBhvr>
                                    </p:animEffect>
                                  </p:childTnLst>
                                </p:cTn>
                              </p:par>
                              <p:par>
                                <p:cTn id="102" presetID="10" presetClass="entr" presetSubtype="0" fill="hold" grpId="0" nodeType="withEffect">
                                  <p:stCondLst>
                                    <p:cond delay="340"/>
                                  </p:stCondLst>
                                  <p:childTnLst>
                                    <p:set>
                                      <p:cBhvr>
                                        <p:cTn id="103" dur="1" fill="hold">
                                          <p:stCondLst>
                                            <p:cond delay="0"/>
                                          </p:stCondLst>
                                        </p:cTn>
                                        <p:tgtEl>
                                          <p:spTgt spid="61"/>
                                        </p:tgtEl>
                                        <p:attrNameLst>
                                          <p:attrName>style.visibility</p:attrName>
                                        </p:attrNameLst>
                                      </p:cBhvr>
                                      <p:to>
                                        <p:strVal val="visible"/>
                                      </p:to>
                                    </p:set>
                                    <p:animEffect transition="in" filter="fade">
                                      <p:cBhvr>
                                        <p:cTn id="104" dur="450"/>
                                        <p:tgtEl>
                                          <p:spTgt spid="61"/>
                                        </p:tgtEl>
                                      </p:cBhvr>
                                    </p:animEffect>
                                  </p:childTnLst>
                                </p:cTn>
                              </p:par>
                              <p:par>
                                <p:cTn id="105" presetID="10" presetClass="entr" presetSubtype="0" fill="hold" grpId="0" nodeType="withEffect">
                                  <p:stCondLst>
                                    <p:cond delay="340"/>
                                  </p:stCondLst>
                                  <p:childTnLst>
                                    <p:set>
                                      <p:cBhvr>
                                        <p:cTn id="106" dur="1" fill="hold">
                                          <p:stCondLst>
                                            <p:cond delay="0"/>
                                          </p:stCondLst>
                                        </p:cTn>
                                        <p:tgtEl>
                                          <p:spTgt spid="62"/>
                                        </p:tgtEl>
                                        <p:attrNameLst>
                                          <p:attrName>style.visibility</p:attrName>
                                        </p:attrNameLst>
                                      </p:cBhvr>
                                      <p:to>
                                        <p:strVal val="visible"/>
                                      </p:to>
                                    </p:set>
                                    <p:animEffect transition="in" filter="fade">
                                      <p:cBhvr>
                                        <p:cTn id="107" dur="450"/>
                                        <p:tgtEl>
                                          <p:spTgt spid="62"/>
                                        </p:tgtEl>
                                      </p:cBhvr>
                                    </p:animEffect>
                                  </p:childTnLst>
                                </p:cTn>
                              </p:par>
                              <p:par>
                                <p:cTn id="108" presetID="10" presetClass="entr" presetSubtype="0" fill="hold" grpId="0" nodeType="withEffect">
                                  <p:stCondLst>
                                    <p:cond delay="340"/>
                                  </p:stCondLst>
                                  <p:childTnLst>
                                    <p:set>
                                      <p:cBhvr>
                                        <p:cTn id="109" dur="1" fill="hold">
                                          <p:stCondLst>
                                            <p:cond delay="0"/>
                                          </p:stCondLst>
                                        </p:cTn>
                                        <p:tgtEl>
                                          <p:spTgt spid="63"/>
                                        </p:tgtEl>
                                        <p:attrNameLst>
                                          <p:attrName>style.visibility</p:attrName>
                                        </p:attrNameLst>
                                      </p:cBhvr>
                                      <p:to>
                                        <p:strVal val="visible"/>
                                      </p:to>
                                    </p:set>
                                    <p:animEffect transition="in" filter="fade">
                                      <p:cBhvr>
                                        <p:cTn id="110" dur="450"/>
                                        <p:tgtEl>
                                          <p:spTgt spid="63"/>
                                        </p:tgtEl>
                                      </p:cBhvr>
                                    </p:animEffect>
                                  </p:childTnLst>
                                </p:cTn>
                              </p:par>
                              <p:par>
                                <p:cTn id="111" presetID="10" presetClass="entr" presetSubtype="0" fill="hold" grpId="0" nodeType="withEffect">
                                  <p:stCondLst>
                                    <p:cond delay="340"/>
                                  </p:stCondLst>
                                  <p:childTnLst>
                                    <p:set>
                                      <p:cBhvr>
                                        <p:cTn id="112" dur="1" fill="hold">
                                          <p:stCondLst>
                                            <p:cond delay="0"/>
                                          </p:stCondLst>
                                        </p:cTn>
                                        <p:tgtEl>
                                          <p:spTgt spid="64"/>
                                        </p:tgtEl>
                                        <p:attrNameLst>
                                          <p:attrName>style.visibility</p:attrName>
                                        </p:attrNameLst>
                                      </p:cBhvr>
                                      <p:to>
                                        <p:strVal val="visible"/>
                                      </p:to>
                                    </p:set>
                                    <p:animEffect transition="in" filter="fade">
                                      <p:cBhvr>
                                        <p:cTn id="113" dur="450"/>
                                        <p:tgtEl>
                                          <p:spTgt spid="64"/>
                                        </p:tgtEl>
                                      </p:cBhvr>
                                    </p:animEffect>
                                  </p:childTnLst>
                                </p:cTn>
                              </p:par>
                              <p:par>
                                <p:cTn id="114" presetID="10" presetClass="entr" presetSubtype="0" fill="hold" grpId="0" nodeType="withEffect">
                                  <p:stCondLst>
                                    <p:cond delay="340"/>
                                  </p:stCondLst>
                                  <p:childTnLst>
                                    <p:set>
                                      <p:cBhvr>
                                        <p:cTn id="115" dur="1" fill="hold">
                                          <p:stCondLst>
                                            <p:cond delay="0"/>
                                          </p:stCondLst>
                                        </p:cTn>
                                        <p:tgtEl>
                                          <p:spTgt spid="65"/>
                                        </p:tgtEl>
                                        <p:attrNameLst>
                                          <p:attrName>style.visibility</p:attrName>
                                        </p:attrNameLst>
                                      </p:cBhvr>
                                      <p:to>
                                        <p:strVal val="visible"/>
                                      </p:to>
                                    </p:set>
                                    <p:animEffect transition="in" filter="fade">
                                      <p:cBhvr>
                                        <p:cTn id="116" dur="450"/>
                                        <p:tgtEl>
                                          <p:spTgt spid="65"/>
                                        </p:tgtEl>
                                      </p:cBhvr>
                                    </p:animEffect>
                                  </p:childTnLst>
                                </p:cTn>
                              </p:par>
                              <p:par>
                                <p:cTn id="117" presetID="10" presetClass="entr" presetSubtype="0" fill="hold" grpId="0" nodeType="withEffect">
                                  <p:stCondLst>
                                    <p:cond delay="340"/>
                                  </p:stCondLst>
                                  <p:childTnLst>
                                    <p:set>
                                      <p:cBhvr>
                                        <p:cTn id="118" dur="1" fill="hold">
                                          <p:stCondLst>
                                            <p:cond delay="0"/>
                                          </p:stCondLst>
                                        </p:cTn>
                                        <p:tgtEl>
                                          <p:spTgt spid="66"/>
                                        </p:tgtEl>
                                        <p:attrNameLst>
                                          <p:attrName>style.visibility</p:attrName>
                                        </p:attrNameLst>
                                      </p:cBhvr>
                                      <p:to>
                                        <p:strVal val="visible"/>
                                      </p:to>
                                    </p:set>
                                    <p:animEffect transition="in" filter="fade">
                                      <p:cBhvr>
                                        <p:cTn id="119" dur="450"/>
                                        <p:tgtEl>
                                          <p:spTgt spid="66"/>
                                        </p:tgtEl>
                                      </p:cBhvr>
                                    </p:animEffect>
                                  </p:childTnLst>
                                </p:cTn>
                              </p:par>
                              <p:par>
                                <p:cTn id="120" presetID="10" presetClass="entr" presetSubtype="0" fill="hold" grpId="0" nodeType="withEffect">
                                  <p:stCondLst>
                                    <p:cond delay="340"/>
                                  </p:stCondLst>
                                  <p:childTnLst>
                                    <p:set>
                                      <p:cBhvr>
                                        <p:cTn id="121" dur="1" fill="hold">
                                          <p:stCondLst>
                                            <p:cond delay="0"/>
                                          </p:stCondLst>
                                        </p:cTn>
                                        <p:tgtEl>
                                          <p:spTgt spid="67"/>
                                        </p:tgtEl>
                                        <p:attrNameLst>
                                          <p:attrName>style.visibility</p:attrName>
                                        </p:attrNameLst>
                                      </p:cBhvr>
                                      <p:to>
                                        <p:strVal val="visible"/>
                                      </p:to>
                                    </p:set>
                                    <p:animEffect transition="in" filter="fade">
                                      <p:cBhvr>
                                        <p:cTn id="122" dur="450"/>
                                        <p:tgtEl>
                                          <p:spTgt spid="67"/>
                                        </p:tgtEl>
                                      </p:cBhvr>
                                    </p:animEffect>
                                  </p:childTnLst>
                                </p:cTn>
                              </p:par>
                              <p:par>
                                <p:cTn id="123" presetID="10" presetClass="entr" presetSubtype="0" fill="hold" grpId="0" nodeType="withEffect">
                                  <p:stCondLst>
                                    <p:cond delay="340"/>
                                  </p:stCondLst>
                                  <p:childTnLst>
                                    <p:set>
                                      <p:cBhvr>
                                        <p:cTn id="124" dur="1" fill="hold">
                                          <p:stCondLst>
                                            <p:cond delay="0"/>
                                          </p:stCondLst>
                                        </p:cTn>
                                        <p:tgtEl>
                                          <p:spTgt spid="68"/>
                                        </p:tgtEl>
                                        <p:attrNameLst>
                                          <p:attrName>style.visibility</p:attrName>
                                        </p:attrNameLst>
                                      </p:cBhvr>
                                      <p:to>
                                        <p:strVal val="visible"/>
                                      </p:to>
                                    </p:set>
                                    <p:animEffect transition="in" filter="fade">
                                      <p:cBhvr>
                                        <p:cTn id="125" dur="450"/>
                                        <p:tgtEl>
                                          <p:spTgt spid="68"/>
                                        </p:tgtEl>
                                      </p:cBhvr>
                                    </p:animEffect>
                                  </p:childTnLst>
                                </p:cTn>
                              </p:par>
                              <p:par>
                                <p:cTn id="126" presetID="10" presetClass="entr" presetSubtype="0" fill="hold" grpId="0" nodeType="withEffect">
                                  <p:stCondLst>
                                    <p:cond delay="340"/>
                                  </p:stCondLst>
                                  <p:childTnLst>
                                    <p:set>
                                      <p:cBhvr>
                                        <p:cTn id="127" dur="1" fill="hold">
                                          <p:stCondLst>
                                            <p:cond delay="0"/>
                                          </p:stCondLst>
                                        </p:cTn>
                                        <p:tgtEl>
                                          <p:spTgt spid="69"/>
                                        </p:tgtEl>
                                        <p:attrNameLst>
                                          <p:attrName>style.visibility</p:attrName>
                                        </p:attrNameLst>
                                      </p:cBhvr>
                                      <p:to>
                                        <p:strVal val="visible"/>
                                      </p:to>
                                    </p:set>
                                    <p:animEffect transition="in" filter="fade">
                                      <p:cBhvr>
                                        <p:cTn id="128" dur="450"/>
                                        <p:tgtEl>
                                          <p:spTgt spid="69"/>
                                        </p:tgtEl>
                                      </p:cBhvr>
                                    </p:animEffect>
                                  </p:childTnLst>
                                </p:cTn>
                              </p:par>
                              <p:par>
                                <p:cTn id="129" presetID="10" presetClass="entr" presetSubtype="0" fill="hold" grpId="0" nodeType="withEffect">
                                  <p:stCondLst>
                                    <p:cond delay="340"/>
                                  </p:stCondLst>
                                  <p:childTnLst>
                                    <p:set>
                                      <p:cBhvr>
                                        <p:cTn id="130" dur="1" fill="hold">
                                          <p:stCondLst>
                                            <p:cond delay="0"/>
                                          </p:stCondLst>
                                        </p:cTn>
                                        <p:tgtEl>
                                          <p:spTgt spid="70"/>
                                        </p:tgtEl>
                                        <p:attrNameLst>
                                          <p:attrName>style.visibility</p:attrName>
                                        </p:attrNameLst>
                                      </p:cBhvr>
                                      <p:to>
                                        <p:strVal val="visible"/>
                                      </p:to>
                                    </p:set>
                                    <p:animEffect transition="in" filter="fade">
                                      <p:cBhvr>
                                        <p:cTn id="131" dur="450"/>
                                        <p:tgtEl>
                                          <p:spTgt spid="70"/>
                                        </p:tgtEl>
                                      </p:cBhvr>
                                    </p:animEffect>
                                  </p:childTnLst>
                                </p:cTn>
                              </p:par>
                              <p:par>
                                <p:cTn id="132" presetID="10" presetClass="entr" presetSubtype="0" fill="hold" grpId="0" nodeType="withEffect">
                                  <p:stCondLst>
                                    <p:cond delay="340"/>
                                  </p:stCondLst>
                                  <p:childTnLst>
                                    <p:set>
                                      <p:cBhvr>
                                        <p:cTn id="133" dur="1" fill="hold">
                                          <p:stCondLst>
                                            <p:cond delay="0"/>
                                          </p:stCondLst>
                                        </p:cTn>
                                        <p:tgtEl>
                                          <p:spTgt spid="71"/>
                                        </p:tgtEl>
                                        <p:attrNameLst>
                                          <p:attrName>style.visibility</p:attrName>
                                        </p:attrNameLst>
                                      </p:cBhvr>
                                      <p:to>
                                        <p:strVal val="visible"/>
                                      </p:to>
                                    </p:set>
                                    <p:animEffect transition="in" filter="fade">
                                      <p:cBhvr>
                                        <p:cTn id="134" dur="450"/>
                                        <p:tgtEl>
                                          <p:spTgt spid="71"/>
                                        </p:tgtEl>
                                      </p:cBhvr>
                                    </p:animEffect>
                                  </p:childTnLst>
                                </p:cTn>
                              </p:par>
                              <p:par>
                                <p:cTn id="135" presetID="10" presetClass="entr" presetSubtype="0" fill="hold" grpId="0" nodeType="withEffect">
                                  <p:stCondLst>
                                    <p:cond delay="340"/>
                                  </p:stCondLst>
                                  <p:childTnLst>
                                    <p:set>
                                      <p:cBhvr>
                                        <p:cTn id="136" dur="1" fill="hold">
                                          <p:stCondLst>
                                            <p:cond delay="0"/>
                                          </p:stCondLst>
                                        </p:cTn>
                                        <p:tgtEl>
                                          <p:spTgt spid="72"/>
                                        </p:tgtEl>
                                        <p:attrNameLst>
                                          <p:attrName>style.visibility</p:attrName>
                                        </p:attrNameLst>
                                      </p:cBhvr>
                                      <p:to>
                                        <p:strVal val="visible"/>
                                      </p:to>
                                    </p:set>
                                    <p:animEffect transition="in" filter="fade">
                                      <p:cBhvr>
                                        <p:cTn id="137" dur="450"/>
                                        <p:tgtEl>
                                          <p:spTgt spid="72"/>
                                        </p:tgtEl>
                                      </p:cBhvr>
                                    </p:animEffect>
                                  </p:childTnLst>
                                </p:cTn>
                              </p:par>
                              <p:par>
                                <p:cTn id="138" presetID="10" presetClass="entr" presetSubtype="0" fill="hold" grpId="0" nodeType="withEffect">
                                  <p:stCondLst>
                                    <p:cond delay="450"/>
                                  </p:stCondLst>
                                  <p:childTnLst>
                                    <p:set>
                                      <p:cBhvr>
                                        <p:cTn id="139" dur="1" fill="hold">
                                          <p:stCondLst>
                                            <p:cond delay="0"/>
                                          </p:stCondLst>
                                        </p:cTn>
                                        <p:tgtEl>
                                          <p:spTgt spid="73"/>
                                        </p:tgtEl>
                                        <p:attrNameLst>
                                          <p:attrName>style.visibility</p:attrName>
                                        </p:attrNameLst>
                                      </p:cBhvr>
                                      <p:to>
                                        <p:strVal val="visible"/>
                                      </p:to>
                                    </p:set>
                                    <p:animEffect transition="in" filter="fade">
                                      <p:cBhvr>
                                        <p:cTn id="140" dur="450"/>
                                        <p:tgtEl>
                                          <p:spTgt spid="73"/>
                                        </p:tgtEl>
                                      </p:cBhvr>
                                    </p:animEffect>
                                  </p:childTnLst>
                                </p:cTn>
                              </p:par>
                              <p:par>
                                <p:cTn id="141" presetID="10" presetClass="entr" presetSubtype="0" fill="hold" grpId="0" nodeType="withEffect">
                                  <p:stCondLst>
                                    <p:cond delay="450"/>
                                  </p:stCondLst>
                                  <p:childTnLst>
                                    <p:set>
                                      <p:cBhvr>
                                        <p:cTn id="142" dur="1" fill="hold">
                                          <p:stCondLst>
                                            <p:cond delay="0"/>
                                          </p:stCondLst>
                                        </p:cTn>
                                        <p:tgtEl>
                                          <p:spTgt spid="74"/>
                                        </p:tgtEl>
                                        <p:attrNameLst>
                                          <p:attrName>style.visibility</p:attrName>
                                        </p:attrNameLst>
                                      </p:cBhvr>
                                      <p:to>
                                        <p:strVal val="visible"/>
                                      </p:to>
                                    </p:set>
                                    <p:animEffect transition="in" filter="fade">
                                      <p:cBhvr>
                                        <p:cTn id="143" dur="450"/>
                                        <p:tgtEl>
                                          <p:spTgt spid="74"/>
                                        </p:tgtEl>
                                      </p:cBhvr>
                                    </p:animEffect>
                                  </p:childTnLst>
                                </p:cTn>
                              </p:par>
                              <p:par>
                                <p:cTn id="144" presetID="10" presetClass="entr" presetSubtype="0" fill="hold" grpId="0" nodeType="withEffect">
                                  <p:stCondLst>
                                    <p:cond delay="450"/>
                                  </p:stCondLst>
                                  <p:childTnLst>
                                    <p:set>
                                      <p:cBhvr>
                                        <p:cTn id="145" dur="1" fill="hold">
                                          <p:stCondLst>
                                            <p:cond delay="0"/>
                                          </p:stCondLst>
                                        </p:cTn>
                                        <p:tgtEl>
                                          <p:spTgt spid="75"/>
                                        </p:tgtEl>
                                        <p:attrNameLst>
                                          <p:attrName>style.visibility</p:attrName>
                                        </p:attrNameLst>
                                      </p:cBhvr>
                                      <p:to>
                                        <p:strVal val="visible"/>
                                      </p:to>
                                    </p:set>
                                    <p:animEffect transition="in" filter="fade">
                                      <p:cBhvr>
                                        <p:cTn id="146" dur="450"/>
                                        <p:tgtEl>
                                          <p:spTgt spid="75"/>
                                        </p:tgtEl>
                                      </p:cBhvr>
                                    </p:animEffect>
                                  </p:childTnLst>
                                </p:cTn>
                              </p:par>
                              <p:par>
                                <p:cTn id="147" presetID="10" presetClass="entr" presetSubtype="0" fill="hold" grpId="0" nodeType="withEffect">
                                  <p:stCondLst>
                                    <p:cond delay="450"/>
                                  </p:stCondLst>
                                  <p:childTnLst>
                                    <p:set>
                                      <p:cBhvr>
                                        <p:cTn id="148" dur="1" fill="hold">
                                          <p:stCondLst>
                                            <p:cond delay="0"/>
                                          </p:stCondLst>
                                        </p:cTn>
                                        <p:tgtEl>
                                          <p:spTgt spid="76"/>
                                        </p:tgtEl>
                                        <p:attrNameLst>
                                          <p:attrName>style.visibility</p:attrName>
                                        </p:attrNameLst>
                                      </p:cBhvr>
                                      <p:to>
                                        <p:strVal val="visible"/>
                                      </p:to>
                                    </p:set>
                                    <p:animEffect transition="in" filter="fade">
                                      <p:cBhvr>
                                        <p:cTn id="149" dur="450"/>
                                        <p:tgtEl>
                                          <p:spTgt spid="76"/>
                                        </p:tgtEl>
                                      </p:cBhvr>
                                    </p:animEffect>
                                  </p:childTnLst>
                                </p:cTn>
                              </p:par>
                              <p:par>
                                <p:cTn id="150" presetID="10" presetClass="entr" presetSubtype="0" fill="hold" grpId="0" nodeType="withEffect">
                                  <p:stCondLst>
                                    <p:cond delay="450"/>
                                  </p:stCondLst>
                                  <p:childTnLst>
                                    <p:set>
                                      <p:cBhvr>
                                        <p:cTn id="151" dur="1" fill="hold">
                                          <p:stCondLst>
                                            <p:cond delay="0"/>
                                          </p:stCondLst>
                                        </p:cTn>
                                        <p:tgtEl>
                                          <p:spTgt spid="77"/>
                                        </p:tgtEl>
                                        <p:attrNameLst>
                                          <p:attrName>style.visibility</p:attrName>
                                        </p:attrNameLst>
                                      </p:cBhvr>
                                      <p:to>
                                        <p:strVal val="visible"/>
                                      </p:to>
                                    </p:set>
                                    <p:animEffect transition="in" filter="fade">
                                      <p:cBhvr>
                                        <p:cTn id="152" dur="450"/>
                                        <p:tgtEl>
                                          <p:spTgt spid="77"/>
                                        </p:tgtEl>
                                      </p:cBhvr>
                                    </p:animEffect>
                                  </p:childTnLst>
                                </p:cTn>
                              </p:par>
                              <p:par>
                                <p:cTn id="153" presetID="10" presetClass="entr" presetSubtype="0" fill="hold" grpId="0" nodeType="withEffect">
                                  <p:stCondLst>
                                    <p:cond delay="450"/>
                                  </p:stCondLst>
                                  <p:childTnLst>
                                    <p:set>
                                      <p:cBhvr>
                                        <p:cTn id="154" dur="1" fill="hold">
                                          <p:stCondLst>
                                            <p:cond delay="0"/>
                                          </p:stCondLst>
                                        </p:cTn>
                                        <p:tgtEl>
                                          <p:spTgt spid="78"/>
                                        </p:tgtEl>
                                        <p:attrNameLst>
                                          <p:attrName>style.visibility</p:attrName>
                                        </p:attrNameLst>
                                      </p:cBhvr>
                                      <p:to>
                                        <p:strVal val="visible"/>
                                      </p:to>
                                    </p:set>
                                    <p:animEffect transition="in" filter="fade">
                                      <p:cBhvr>
                                        <p:cTn id="155" dur="450"/>
                                        <p:tgtEl>
                                          <p:spTgt spid="78"/>
                                        </p:tgtEl>
                                      </p:cBhvr>
                                    </p:animEffect>
                                  </p:childTnLst>
                                </p:cTn>
                              </p:par>
                              <p:par>
                                <p:cTn id="156" presetID="10" presetClass="entr" presetSubtype="0" fill="hold" grpId="0" nodeType="withEffect">
                                  <p:stCondLst>
                                    <p:cond delay="450"/>
                                  </p:stCondLst>
                                  <p:childTnLst>
                                    <p:set>
                                      <p:cBhvr>
                                        <p:cTn id="157" dur="1" fill="hold">
                                          <p:stCondLst>
                                            <p:cond delay="0"/>
                                          </p:stCondLst>
                                        </p:cTn>
                                        <p:tgtEl>
                                          <p:spTgt spid="79"/>
                                        </p:tgtEl>
                                        <p:attrNameLst>
                                          <p:attrName>style.visibility</p:attrName>
                                        </p:attrNameLst>
                                      </p:cBhvr>
                                      <p:to>
                                        <p:strVal val="visible"/>
                                      </p:to>
                                    </p:set>
                                    <p:animEffect transition="in" filter="fade">
                                      <p:cBhvr>
                                        <p:cTn id="158" dur="450"/>
                                        <p:tgtEl>
                                          <p:spTgt spid="79"/>
                                        </p:tgtEl>
                                      </p:cBhvr>
                                    </p:animEffect>
                                  </p:childTnLst>
                                </p:cTn>
                              </p:par>
                              <p:par>
                                <p:cTn id="159" presetID="10" presetClass="entr" presetSubtype="0" fill="hold" grpId="0" nodeType="withEffect">
                                  <p:stCondLst>
                                    <p:cond delay="450"/>
                                  </p:stCondLst>
                                  <p:childTnLst>
                                    <p:set>
                                      <p:cBhvr>
                                        <p:cTn id="160" dur="1" fill="hold">
                                          <p:stCondLst>
                                            <p:cond delay="0"/>
                                          </p:stCondLst>
                                        </p:cTn>
                                        <p:tgtEl>
                                          <p:spTgt spid="80"/>
                                        </p:tgtEl>
                                        <p:attrNameLst>
                                          <p:attrName>style.visibility</p:attrName>
                                        </p:attrNameLst>
                                      </p:cBhvr>
                                      <p:to>
                                        <p:strVal val="visible"/>
                                      </p:to>
                                    </p:set>
                                    <p:animEffect transition="in" filter="fade">
                                      <p:cBhvr>
                                        <p:cTn id="161" dur="450"/>
                                        <p:tgtEl>
                                          <p:spTgt spid="80"/>
                                        </p:tgtEl>
                                      </p:cBhvr>
                                    </p:animEffect>
                                  </p:childTnLst>
                                </p:cTn>
                              </p:par>
                              <p:par>
                                <p:cTn id="162" presetID="10" presetClass="entr" presetSubtype="0" fill="hold" grpId="0" nodeType="withEffect">
                                  <p:stCondLst>
                                    <p:cond delay="450"/>
                                  </p:stCondLst>
                                  <p:childTnLst>
                                    <p:set>
                                      <p:cBhvr>
                                        <p:cTn id="163" dur="1" fill="hold">
                                          <p:stCondLst>
                                            <p:cond delay="0"/>
                                          </p:stCondLst>
                                        </p:cTn>
                                        <p:tgtEl>
                                          <p:spTgt spid="81"/>
                                        </p:tgtEl>
                                        <p:attrNameLst>
                                          <p:attrName>style.visibility</p:attrName>
                                        </p:attrNameLst>
                                      </p:cBhvr>
                                      <p:to>
                                        <p:strVal val="visible"/>
                                      </p:to>
                                    </p:set>
                                    <p:animEffect transition="in" filter="fade">
                                      <p:cBhvr>
                                        <p:cTn id="164" dur="450"/>
                                        <p:tgtEl>
                                          <p:spTgt spid="81"/>
                                        </p:tgtEl>
                                      </p:cBhvr>
                                    </p:animEffect>
                                  </p:childTnLst>
                                </p:cTn>
                              </p:par>
                              <p:par>
                                <p:cTn id="165" presetID="10" presetClass="entr" presetSubtype="0" fill="hold" grpId="0" nodeType="withEffect">
                                  <p:stCondLst>
                                    <p:cond delay="450"/>
                                  </p:stCondLst>
                                  <p:childTnLst>
                                    <p:set>
                                      <p:cBhvr>
                                        <p:cTn id="166" dur="1" fill="hold">
                                          <p:stCondLst>
                                            <p:cond delay="0"/>
                                          </p:stCondLst>
                                        </p:cTn>
                                        <p:tgtEl>
                                          <p:spTgt spid="82"/>
                                        </p:tgtEl>
                                        <p:attrNameLst>
                                          <p:attrName>style.visibility</p:attrName>
                                        </p:attrNameLst>
                                      </p:cBhvr>
                                      <p:to>
                                        <p:strVal val="visible"/>
                                      </p:to>
                                    </p:set>
                                    <p:animEffect transition="in" filter="fade">
                                      <p:cBhvr>
                                        <p:cTn id="167" dur="450"/>
                                        <p:tgtEl>
                                          <p:spTgt spid="82"/>
                                        </p:tgtEl>
                                      </p:cBhvr>
                                    </p:animEffect>
                                  </p:childTnLst>
                                </p:cTn>
                              </p:par>
                              <p:par>
                                <p:cTn id="168" presetID="10" presetClass="entr" presetSubtype="0" fill="hold" grpId="0" nodeType="withEffect">
                                  <p:stCondLst>
                                    <p:cond delay="450"/>
                                  </p:stCondLst>
                                  <p:childTnLst>
                                    <p:set>
                                      <p:cBhvr>
                                        <p:cTn id="169" dur="1" fill="hold">
                                          <p:stCondLst>
                                            <p:cond delay="0"/>
                                          </p:stCondLst>
                                        </p:cTn>
                                        <p:tgtEl>
                                          <p:spTgt spid="83"/>
                                        </p:tgtEl>
                                        <p:attrNameLst>
                                          <p:attrName>style.visibility</p:attrName>
                                        </p:attrNameLst>
                                      </p:cBhvr>
                                      <p:to>
                                        <p:strVal val="visible"/>
                                      </p:to>
                                    </p:set>
                                    <p:animEffect transition="in" filter="fade">
                                      <p:cBhvr>
                                        <p:cTn id="170" dur="450"/>
                                        <p:tgtEl>
                                          <p:spTgt spid="83"/>
                                        </p:tgtEl>
                                      </p:cBhvr>
                                    </p:animEffect>
                                  </p:childTnLst>
                                </p:cTn>
                              </p:par>
                              <p:par>
                                <p:cTn id="171" presetID="10" presetClass="entr" presetSubtype="0" fill="hold" grpId="0" nodeType="withEffect">
                                  <p:stCondLst>
                                    <p:cond delay="450"/>
                                  </p:stCondLst>
                                  <p:childTnLst>
                                    <p:set>
                                      <p:cBhvr>
                                        <p:cTn id="172" dur="1" fill="hold">
                                          <p:stCondLst>
                                            <p:cond delay="0"/>
                                          </p:stCondLst>
                                        </p:cTn>
                                        <p:tgtEl>
                                          <p:spTgt spid="84"/>
                                        </p:tgtEl>
                                        <p:attrNameLst>
                                          <p:attrName>style.visibility</p:attrName>
                                        </p:attrNameLst>
                                      </p:cBhvr>
                                      <p:to>
                                        <p:strVal val="visible"/>
                                      </p:to>
                                    </p:set>
                                    <p:animEffect transition="in" filter="fade">
                                      <p:cBhvr>
                                        <p:cTn id="173" dur="450"/>
                                        <p:tgtEl>
                                          <p:spTgt spid="84"/>
                                        </p:tgtEl>
                                      </p:cBhvr>
                                    </p:animEffect>
                                  </p:childTnLst>
                                </p:cTn>
                              </p:par>
                              <p:par>
                                <p:cTn id="174" presetID="10" presetClass="entr" presetSubtype="0" fill="hold" grpId="0" nodeType="withEffect">
                                  <p:stCondLst>
                                    <p:cond delay="450"/>
                                  </p:stCondLst>
                                  <p:childTnLst>
                                    <p:set>
                                      <p:cBhvr>
                                        <p:cTn id="175" dur="1" fill="hold">
                                          <p:stCondLst>
                                            <p:cond delay="0"/>
                                          </p:stCondLst>
                                        </p:cTn>
                                        <p:tgtEl>
                                          <p:spTgt spid="85"/>
                                        </p:tgtEl>
                                        <p:attrNameLst>
                                          <p:attrName>style.visibility</p:attrName>
                                        </p:attrNameLst>
                                      </p:cBhvr>
                                      <p:to>
                                        <p:strVal val="visible"/>
                                      </p:to>
                                    </p:set>
                                    <p:animEffect transition="in" filter="fade">
                                      <p:cBhvr>
                                        <p:cTn id="176" dur="450"/>
                                        <p:tgtEl>
                                          <p:spTgt spid="85"/>
                                        </p:tgtEl>
                                      </p:cBhvr>
                                    </p:animEffect>
                                  </p:childTnLst>
                                </p:cTn>
                              </p:par>
                              <p:par>
                                <p:cTn id="177" presetID="10" presetClass="entr" presetSubtype="0" fill="hold" grpId="0" nodeType="withEffect">
                                  <p:stCondLst>
                                    <p:cond delay="450"/>
                                  </p:stCondLst>
                                  <p:childTnLst>
                                    <p:set>
                                      <p:cBhvr>
                                        <p:cTn id="178" dur="1" fill="hold">
                                          <p:stCondLst>
                                            <p:cond delay="0"/>
                                          </p:stCondLst>
                                        </p:cTn>
                                        <p:tgtEl>
                                          <p:spTgt spid="86"/>
                                        </p:tgtEl>
                                        <p:attrNameLst>
                                          <p:attrName>style.visibility</p:attrName>
                                        </p:attrNameLst>
                                      </p:cBhvr>
                                      <p:to>
                                        <p:strVal val="visible"/>
                                      </p:to>
                                    </p:set>
                                    <p:animEffect transition="in" filter="fade">
                                      <p:cBhvr>
                                        <p:cTn id="179" dur="450"/>
                                        <p:tgtEl>
                                          <p:spTgt spid="86"/>
                                        </p:tgtEl>
                                      </p:cBhvr>
                                    </p:animEffect>
                                  </p:childTnLst>
                                </p:cTn>
                              </p:par>
                              <p:par>
                                <p:cTn id="180" presetID="10" presetClass="entr" presetSubtype="0" fill="hold" grpId="0" nodeType="withEffect">
                                  <p:stCondLst>
                                    <p:cond delay="450"/>
                                  </p:stCondLst>
                                  <p:childTnLst>
                                    <p:set>
                                      <p:cBhvr>
                                        <p:cTn id="181" dur="1" fill="hold">
                                          <p:stCondLst>
                                            <p:cond delay="0"/>
                                          </p:stCondLst>
                                        </p:cTn>
                                        <p:tgtEl>
                                          <p:spTgt spid="87"/>
                                        </p:tgtEl>
                                        <p:attrNameLst>
                                          <p:attrName>style.visibility</p:attrName>
                                        </p:attrNameLst>
                                      </p:cBhvr>
                                      <p:to>
                                        <p:strVal val="visible"/>
                                      </p:to>
                                    </p:set>
                                    <p:animEffect transition="in" filter="fade">
                                      <p:cBhvr>
                                        <p:cTn id="182" dur="450"/>
                                        <p:tgtEl>
                                          <p:spTgt spid="87"/>
                                        </p:tgtEl>
                                      </p:cBhvr>
                                    </p:animEffect>
                                  </p:childTnLst>
                                </p:cTn>
                              </p:par>
                              <p:par>
                                <p:cTn id="183" presetID="10" presetClass="entr" presetSubtype="0" fill="hold" grpId="0" nodeType="withEffect">
                                  <p:stCondLst>
                                    <p:cond delay="560"/>
                                  </p:stCondLst>
                                  <p:childTnLst>
                                    <p:set>
                                      <p:cBhvr>
                                        <p:cTn id="184" dur="1" fill="hold">
                                          <p:stCondLst>
                                            <p:cond delay="0"/>
                                          </p:stCondLst>
                                        </p:cTn>
                                        <p:tgtEl>
                                          <p:spTgt spid="88"/>
                                        </p:tgtEl>
                                        <p:attrNameLst>
                                          <p:attrName>style.visibility</p:attrName>
                                        </p:attrNameLst>
                                      </p:cBhvr>
                                      <p:to>
                                        <p:strVal val="visible"/>
                                      </p:to>
                                    </p:set>
                                    <p:animEffect transition="in" filter="fade">
                                      <p:cBhvr>
                                        <p:cTn id="185" dur="450"/>
                                        <p:tgtEl>
                                          <p:spTgt spid="88"/>
                                        </p:tgtEl>
                                      </p:cBhvr>
                                    </p:animEffect>
                                  </p:childTnLst>
                                </p:cTn>
                              </p:par>
                              <p:par>
                                <p:cTn id="186" presetID="10" presetClass="entr" presetSubtype="0" fill="hold" grpId="0" nodeType="withEffect">
                                  <p:stCondLst>
                                    <p:cond delay="560"/>
                                  </p:stCondLst>
                                  <p:childTnLst>
                                    <p:set>
                                      <p:cBhvr>
                                        <p:cTn id="187" dur="1" fill="hold">
                                          <p:stCondLst>
                                            <p:cond delay="0"/>
                                          </p:stCondLst>
                                        </p:cTn>
                                        <p:tgtEl>
                                          <p:spTgt spid="89"/>
                                        </p:tgtEl>
                                        <p:attrNameLst>
                                          <p:attrName>style.visibility</p:attrName>
                                        </p:attrNameLst>
                                      </p:cBhvr>
                                      <p:to>
                                        <p:strVal val="visible"/>
                                      </p:to>
                                    </p:set>
                                    <p:animEffect transition="in" filter="fade">
                                      <p:cBhvr>
                                        <p:cTn id="188" dur="450"/>
                                        <p:tgtEl>
                                          <p:spTgt spid="89"/>
                                        </p:tgtEl>
                                      </p:cBhvr>
                                    </p:animEffect>
                                  </p:childTnLst>
                                </p:cTn>
                              </p:par>
                              <p:par>
                                <p:cTn id="189" presetID="10" presetClass="entr" presetSubtype="0" fill="hold" grpId="0" nodeType="withEffect">
                                  <p:stCondLst>
                                    <p:cond delay="560"/>
                                  </p:stCondLst>
                                  <p:childTnLst>
                                    <p:set>
                                      <p:cBhvr>
                                        <p:cTn id="190" dur="1" fill="hold">
                                          <p:stCondLst>
                                            <p:cond delay="0"/>
                                          </p:stCondLst>
                                        </p:cTn>
                                        <p:tgtEl>
                                          <p:spTgt spid="90"/>
                                        </p:tgtEl>
                                        <p:attrNameLst>
                                          <p:attrName>style.visibility</p:attrName>
                                        </p:attrNameLst>
                                      </p:cBhvr>
                                      <p:to>
                                        <p:strVal val="visible"/>
                                      </p:to>
                                    </p:set>
                                    <p:animEffect transition="in" filter="fade">
                                      <p:cBhvr>
                                        <p:cTn id="191" dur="450"/>
                                        <p:tgtEl>
                                          <p:spTgt spid="90"/>
                                        </p:tgtEl>
                                      </p:cBhvr>
                                    </p:animEffect>
                                  </p:childTnLst>
                                </p:cTn>
                              </p:par>
                              <p:par>
                                <p:cTn id="192" presetID="10" presetClass="entr" presetSubtype="0" fill="hold" grpId="0" nodeType="withEffect">
                                  <p:stCondLst>
                                    <p:cond delay="560"/>
                                  </p:stCondLst>
                                  <p:childTnLst>
                                    <p:set>
                                      <p:cBhvr>
                                        <p:cTn id="193" dur="1" fill="hold">
                                          <p:stCondLst>
                                            <p:cond delay="0"/>
                                          </p:stCondLst>
                                        </p:cTn>
                                        <p:tgtEl>
                                          <p:spTgt spid="91"/>
                                        </p:tgtEl>
                                        <p:attrNameLst>
                                          <p:attrName>style.visibility</p:attrName>
                                        </p:attrNameLst>
                                      </p:cBhvr>
                                      <p:to>
                                        <p:strVal val="visible"/>
                                      </p:to>
                                    </p:set>
                                    <p:animEffect transition="in" filter="fade">
                                      <p:cBhvr>
                                        <p:cTn id="194" dur="450"/>
                                        <p:tgtEl>
                                          <p:spTgt spid="91"/>
                                        </p:tgtEl>
                                      </p:cBhvr>
                                    </p:animEffect>
                                  </p:childTnLst>
                                </p:cTn>
                              </p:par>
                              <p:par>
                                <p:cTn id="195" presetID="10" presetClass="entr" presetSubtype="0" fill="hold" grpId="0" nodeType="withEffect">
                                  <p:stCondLst>
                                    <p:cond delay="560"/>
                                  </p:stCondLst>
                                  <p:childTnLst>
                                    <p:set>
                                      <p:cBhvr>
                                        <p:cTn id="196" dur="1" fill="hold">
                                          <p:stCondLst>
                                            <p:cond delay="0"/>
                                          </p:stCondLst>
                                        </p:cTn>
                                        <p:tgtEl>
                                          <p:spTgt spid="92"/>
                                        </p:tgtEl>
                                        <p:attrNameLst>
                                          <p:attrName>style.visibility</p:attrName>
                                        </p:attrNameLst>
                                      </p:cBhvr>
                                      <p:to>
                                        <p:strVal val="visible"/>
                                      </p:to>
                                    </p:set>
                                    <p:animEffect transition="in" filter="fade">
                                      <p:cBhvr>
                                        <p:cTn id="197" dur="450"/>
                                        <p:tgtEl>
                                          <p:spTgt spid="92"/>
                                        </p:tgtEl>
                                      </p:cBhvr>
                                    </p:animEffect>
                                  </p:childTnLst>
                                </p:cTn>
                              </p:par>
                              <p:par>
                                <p:cTn id="198" presetID="10" presetClass="entr" presetSubtype="0" fill="hold" grpId="0" nodeType="withEffect">
                                  <p:stCondLst>
                                    <p:cond delay="560"/>
                                  </p:stCondLst>
                                  <p:childTnLst>
                                    <p:set>
                                      <p:cBhvr>
                                        <p:cTn id="199" dur="1" fill="hold">
                                          <p:stCondLst>
                                            <p:cond delay="0"/>
                                          </p:stCondLst>
                                        </p:cTn>
                                        <p:tgtEl>
                                          <p:spTgt spid="93"/>
                                        </p:tgtEl>
                                        <p:attrNameLst>
                                          <p:attrName>style.visibility</p:attrName>
                                        </p:attrNameLst>
                                      </p:cBhvr>
                                      <p:to>
                                        <p:strVal val="visible"/>
                                      </p:to>
                                    </p:set>
                                    <p:animEffect transition="in" filter="fade">
                                      <p:cBhvr>
                                        <p:cTn id="200" dur="450"/>
                                        <p:tgtEl>
                                          <p:spTgt spid="93"/>
                                        </p:tgtEl>
                                      </p:cBhvr>
                                    </p:animEffect>
                                  </p:childTnLst>
                                </p:cTn>
                              </p:par>
                              <p:par>
                                <p:cTn id="201" presetID="10" presetClass="entr" presetSubtype="0" fill="hold" grpId="0" nodeType="withEffect">
                                  <p:stCondLst>
                                    <p:cond delay="560"/>
                                  </p:stCondLst>
                                  <p:childTnLst>
                                    <p:set>
                                      <p:cBhvr>
                                        <p:cTn id="202" dur="1" fill="hold">
                                          <p:stCondLst>
                                            <p:cond delay="0"/>
                                          </p:stCondLst>
                                        </p:cTn>
                                        <p:tgtEl>
                                          <p:spTgt spid="94"/>
                                        </p:tgtEl>
                                        <p:attrNameLst>
                                          <p:attrName>style.visibility</p:attrName>
                                        </p:attrNameLst>
                                      </p:cBhvr>
                                      <p:to>
                                        <p:strVal val="visible"/>
                                      </p:to>
                                    </p:set>
                                    <p:animEffect transition="in" filter="fade">
                                      <p:cBhvr>
                                        <p:cTn id="203" dur="450"/>
                                        <p:tgtEl>
                                          <p:spTgt spid="94"/>
                                        </p:tgtEl>
                                      </p:cBhvr>
                                    </p:animEffect>
                                  </p:childTnLst>
                                </p:cTn>
                              </p:par>
                              <p:par>
                                <p:cTn id="204" presetID="10" presetClass="entr" presetSubtype="0" fill="hold" grpId="0" nodeType="withEffect">
                                  <p:stCondLst>
                                    <p:cond delay="560"/>
                                  </p:stCondLst>
                                  <p:childTnLst>
                                    <p:set>
                                      <p:cBhvr>
                                        <p:cTn id="205" dur="1" fill="hold">
                                          <p:stCondLst>
                                            <p:cond delay="0"/>
                                          </p:stCondLst>
                                        </p:cTn>
                                        <p:tgtEl>
                                          <p:spTgt spid="95"/>
                                        </p:tgtEl>
                                        <p:attrNameLst>
                                          <p:attrName>style.visibility</p:attrName>
                                        </p:attrNameLst>
                                      </p:cBhvr>
                                      <p:to>
                                        <p:strVal val="visible"/>
                                      </p:to>
                                    </p:set>
                                    <p:animEffect transition="in" filter="fade">
                                      <p:cBhvr>
                                        <p:cTn id="206" dur="450"/>
                                        <p:tgtEl>
                                          <p:spTgt spid="95"/>
                                        </p:tgtEl>
                                      </p:cBhvr>
                                    </p:animEffect>
                                  </p:childTnLst>
                                </p:cTn>
                              </p:par>
                              <p:par>
                                <p:cTn id="207" presetID="10" presetClass="entr" presetSubtype="0" fill="hold" grpId="0" nodeType="withEffect">
                                  <p:stCondLst>
                                    <p:cond delay="560"/>
                                  </p:stCondLst>
                                  <p:childTnLst>
                                    <p:set>
                                      <p:cBhvr>
                                        <p:cTn id="208" dur="1" fill="hold">
                                          <p:stCondLst>
                                            <p:cond delay="0"/>
                                          </p:stCondLst>
                                        </p:cTn>
                                        <p:tgtEl>
                                          <p:spTgt spid="96"/>
                                        </p:tgtEl>
                                        <p:attrNameLst>
                                          <p:attrName>style.visibility</p:attrName>
                                        </p:attrNameLst>
                                      </p:cBhvr>
                                      <p:to>
                                        <p:strVal val="visible"/>
                                      </p:to>
                                    </p:set>
                                    <p:animEffect transition="in" filter="fade">
                                      <p:cBhvr>
                                        <p:cTn id="209" dur="450"/>
                                        <p:tgtEl>
                                          <p:spTgt spid="96"/>
                                        </p:tgtEl>
                                      </p:cBhvr>
                                    </p:animEffect>
                                  </p:childTnLst>
                                </p:cTn>
                              </p:par>
                              <p:par>
                                <p:cTn id="210" presetID="10" presetClass="entr" presetSubtype="0" fill="hold" grpId="0" nodeType="withEffect">
                                  <p:stCondLst>
                                    <p:cond delay="560"/>
                                  </p:stCondLst>
                                  <p:childTnLst>
                                    <p:set>
                                      <p:cBhvr>
                                        <p:cTn id="211" dur="1" fill="hold">
                                          <p:stCondLst>
                                            <p:cond delay="0"/>
                                          </p:stCondLst>
                                        </p:cTn>
                                        <p:tgtEl>
                                          <p:spTgt spid="97"/>
                                        </p:tgtEl>
                                        <p:attrNameLst>
                                          <p:attrName>style.visibility</p:attrName>
                                        </p:attrNameLst>
                                      </p:cBhvr>
                                      <p:to>
                                        <p:strVal val="visible"/>
                                      </p:to>
                                    </p:set>
                                    <p:animEffect transition="in" filter="fade">
                                      <p:cBhvr>
                                        <p:cTn id="212" dur="450"/>
                                        <p:tgtEl>
                                          <p:spTgt spid="97"/>
                                        </p:tgtEl>
                                      </p:cBhvr>
                                    </p:animEffect>
                                  </p:childTnLst>
                                </p:cTn>
                              </p:par>
                              <p:par>
                                <p:cTn id="213" presetID="10" presetClass="entr" presetSubtype="0" fill="hold" grpId="0" nodeType="withEffect">
                                  <p:stCondLst>
                                    <p:cond delay="560"/>
                                  </p:stCondLst>
                                  <p:childTnLst>
                                    <p:set>
                                      <p:cBhvr>
                                        <p:cTn id="214" dur="1" fill="hold">
                                          <p:stCondLst>
                                            <p:cond delay="0"/>
                                          </p:stCondLst>
                                        </p:cTn>
                                        <p:tgtEl>
                                          <p:spTgt spid="98"/>
                                        </p:tgtEl>
                                        <p:attrNameLst>
                                          <p:attrName>style.visibility</p:attrName>
                                        </p:attrNameLst>
                                      </p:cBhvr>
                                      <p:to>
                                        <p:strVal val="visible"/>
                                      </p:to>
                                    </p:set>
                                    <p:animEffect transition="in" filter="fade">
                                      <p:cBhvr>
                                        <p:cTn id="215" dur="450"/>
                                        <p:tgtEl>
                                          <p:spTgt spid="98"/>
                                        </p:tgtEl>
                                      </p:cBhvr>
                                    </p:animEffect>
                                  </p:childTnLst>
                                </p:cTn>
                              </p:par>
                              <p:par>
                                <p:cTn id="216" presetID="10" presetClass="entr" presetSubtype="0" fill="hold" grpId="0" nodeType="withEffect">
                                  <p:stCondLst>
                                    <p:cond delay="560"/>
                                  </p:stCondLst>
                                  <p:childTnLst>
                                    <p:set>
                                      <p:cBhvr>
                                        <p:cTn id="217" dur="1" fill="hold">
                                          <p:stCondLst>
                                            <p:cond delay="0"/>
                                          </p:stCondLst>
                                        </p:cTn>
                                        <p:tgtEl>
                                          <p:spTgt spid="99"/>
                                        </p:tgtEl>
                                        <p:attrNameLst>
                                          <p:attrName>style.visibility</p:attrName>
                                        </p:attrNameLst>
                                      </p:cBhvr>
                                      <p:to>
                                        <p:strVal val="visible"/>
                                      </p:to>
                                    </p:set>
                                    <p:animEffect transition="in" filter="fade">
                                      <p:cBhvr>
                                        <p:cTn id="218" dur="450"/>
                                        <p:tgtEl>
                                          <p:spTgt spid="99"/>
                                        </p:tgtEl>
                                      </p:cBhvr>
                                    </p:animEffect>
                                  </p:childTnLst>
                                </p:cTn>
                              </p:par>
                              <p:par>
                                <p:cTn id="219" presetID="10" presetClass="entr" presetSubtype="0" fill="hold" grpId="0" nodeType="withEffect">
                                  <p:stCondLst>
                                    <p:cond delay="560"/>
                                  </p:stCondLst>
                                  <p:childTnLst>
                                    <p:set>
                                      <p:cBhvr>
                                        <p:cTn id="220" dur="1" fill="hold">
                                          <p:stCondLst>
                                            <p:cond delay="0"/>
                                          </p:stCondLst>
                                        </p:cTn>
                                        <p:tgtEl>
                                          <p:spTgt spid="100"/>
                                        </p:tgtEl>
                                        <p:attrNameLst>
                                          <p:attrName>style.visibility</p:attrName>
                                        </p:attrNameLst>
                                      </p:cBhvr>
                                      <p:to>
                                        <p:strVal val="visible"/>
                                      </p:to>
                                    </p:set>
                                    <p:animEffect transition="in" filter="fade">
                                      <p:cBhvr>
                                        <p:cTn id="221" dur="450"/>
                                        <p:tgtEl>
                                          <p:spTgt spid="100"/>
                                        </p:tgtEl>
                                      </p:cBhvr>
                                    </p:animEffect>
                                  </p:childTnLst>
                                </p:cTn>
                              </p:par>
                              <p:par>
                                <p:cTn id="222" presetID="10" presetClass="entr" presetSubtype="0" fill="hold" grpId="0" nodeType="withEffect">
                                  <p:stCondLst>
                                    <p:cond delay="560"/>
                                  </p:stCondLst>
                                  <p:childTnLst>
                                    <p:set>
                                      <p:cBhvr>
                                        <p:cTn id="223" dur="1" fill="hold">
                                          <p:stCondLst>
                                            <p:cond delay="0"/>
                                          </p:stCondLst>
                                        </p:cTn>
                                        <p:tgtEl>
                                          <p:spTgt spid="101"/>
                                        </p:tgtEl>
                                        <p:attrNameLst>
                                          <p:attrName>style.visibility</p:attrName>
                                        </p:attrNameLst>
                                      </p:cBhvr>
                                      <p:to>
                                        <p:strVal val="visible"/>
                                      </p:to>
                                    </p:set>
                                    <p:animEffect transition="in" filter="fade">
                                      <p:cBhvr>
                                        <p:cTn id="224" dur="450"/>
                                        <p:tgtEl>
                                          <p:spTgt spid="101"/>
                                        </p:tgtEl>
                                      </p:cBhvr>
                                    </p:animEffect>
                                  </p:childTnLst>
                                </p:cTn>
                              </p:par>
                              <p:par>
                                <p:cTn id="225" presetID="10" presetClass="entr" presetSubtype="0" fill="hold" grpId="0" nodeType="withEffect">
                                  <p:stCondLst>
                                    <p:cond delay="560"/>
                                  </p:stCondLst>
                                  <p:childTnLst>
                                    <p:set>
                                      <p:cBhvr>
                                        <p:cTn id="226" dur="1" fill="hold">
                                          <p:stCondLst>
                                            <p:cond delay="0"/>
                                          </p:stCondLst>
                                        </p:cTn>
                                        <p:tgtEl>
                                          <p:spTgt spid="102"/>
                                        </p:tgtEl>
                                        <p:attrNameLst>
                                          <p:attrName>style.visibility</p:attrName>
                                        </p:attrNameLst>
                                      </p:cBhvr>
                                      <p:to>
                                        <p:strVal val="visible"/>
                                      </p:to>
                                    </p:set>
                                    <p:animEffect transition="in" filter="fade">
                                      <p:cBhvr>
                                        <p:cTn id="227" dur="450"/>
                                        <p:tgtEl>
                                          <p:spTgt spid="102"/>
                                        </p:tgtEl>
                                      </p:cBhvr>
                                    </p:animEffect>
                                  </p:childTnLst>
                                </p:cTn>
                              </p:par>
                            </p:childTnLst>
                          </p:cTn>
                        </p:par>
                      </p:childTnLst>
                    </p:cTn>
                  </p:par>
                  <p:par>
                    <p:cTn id="242" fill="hold">
                      <p:stCondLst>
                        <p:cond delay="indefinite"/>
                      </p:stCondLst>
                      <p:childTnLst>
                        <p:par>
                          <p:cTn id="243" fill="hold">
                            <p:stCondLst>
                              <p:cond delay="0"/>
                            </p:stCondLst>
                            <p:childTnLst>
                              <p:par>
                                <p:cTn id="228" presetID="10" presetClass="entr" presetSubtype="0" fill="hold" grpId="0" nodeType="clickEffect">
                                  <p:stCondLst>
                                    <p:cond delay="0"/>
                                  </p:stCondLst>
                                  <p:childTnLst>
                                    <p:set>
                                      <p:cBhvr>
                                        <p:cTn id="229" dur="1" fill="hold">
                                          <p:stCondLst>
                                            <p:cond delay="0"/>
                                          </p:stCondLst>
                                        </p:cTn>
                                        <p:tgtEl>
                                          <p:spTgt spid="103"/>
                                        </p:tgtEl>
                                        <p:attrNameLst>
                                          <p:attrName>style.visibility</p:attrName>
                                        </p:attrNameLst>
                                      </p:cBhvr>
                                      <p:to>
                                        <p:strVal val="visible"/>
                                      </p:to>
                                    </p:set>
                                    <p:animEffect transition="in" filter="fade">
                                      <p:cBhvr>
                                        <p:cTn id="230" dur="400"/>
                                        <p:tgtEl>
                                          <p:spTgt spid="103"/>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104"/>
                                        </p:tgtEl>
                                        <p:attrNameLst>
                                          <p:attrName>style.visibility</p:attrName>
                                        </p:attrNameLst>
                                      </p:cBhvr>
                                      <p:to>
                                        <p:strVal val="visible"/>
                                      </p:to>
                                    </p:set>
                                    <p:animEffect transition="in" filter="fade">
                                      <p:cBhvr>
                                        <p:cTn id="233" dur="400"/>
                                        <p:tgtEl>
                                          <p:spTgt spid="104"/>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105"/>
                                        </p:tgtEl>
                                        <p:attrNameLst>
                                          <p:attrName>style.visibility</p:attrName>
                                        </p:attrNameLst>
                                      </p:cBhvr>
                                      <p:to>
                                        <p:strVal val="visible"/>
                                      </p:to>
                                    </p:set>
                                    <p:animEffect transition="in" filter="fade">
                                      <p:cBhvr>
                                        <p:cTn id="236" dur="400"/>
                                        <p:tgtEl>
                                          <p:spTgt spid="105"/>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106"/>
                                        </p:tgtEl>
                                        <p:attrNameLst>
                                          <p:attrName>style.visibility</p:attrName>
                                        </p:attrNameLst>
                                      </p:cBhvr>
                                      <p:to>
                                        <p:strVal val="visible"/>
                                      </p:to>
                                    </p:set>
                                    <p:animEffect transition="in" filter="fade">
                                      <p:cBhvr>
                                        <p:cTn id="239" dur="4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Tres casos de estudio, elegidos por su valor probatorio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5150" y="1144238"/>
            <a:ext cx="10687050" cy="460375"/>
          </a:xfrm>
          <a:prstGeom prst="rect">
            <a:avLst/>
          </a:prstGeom>
          <a:noFill/>
        </p:spPr>
        <p:txBody>
          <a:bodyPr wrap="square" lIns="0" rIns="0" tIns="0" bIns="0" anchor="t"/>
          <a:lstStyle/>
          <a:p>
            <a:pPr algn="l">
              <a:lnSpc>
                <a:spcPts val="1812"/>
              </a:lnSpc>
              <a:spcBef>
                <a:spcPts val="0"/>
              </a:spcBef>
              <a:spcAft>
                <a:spcPts val="0"/>
              </a:spcAft>
            </a:pPr>
            <a:r>
              <a:rPr sz="1450" b="0" i="1">
                <a:solidFill>
                  <a:srgbClr val="5B6575"/>
                </a:solidFill>
                <a:latin typeface="Calibri"/>
              </a:rPr>
              <a:t>Población: los problemas de elasticidad plana resolubles con cuadriláteros. Muestra dirigida: cada caso ejercita términos distintos del</a:t>
            </a:r>
            <a:br/>
            <a:r>
              <a:rPr sz="1450" b="0" i="1">
                <a:solidFill>
                  <a:srgbClr val="5B6575"/>
                </a:solidFill>
                <a:latin typeface="Calibri"/>
              </a:rPr>
              <a:t>modelo [21].</a:t>
            </a:r>
          </a:p>
        </p:txBody>
      </p:sp>
      <p:sp>
        <p:nvSpPr>
          <p:cNvPr id="8" name="Oval 7"/>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8325" y="1794446"/>
            <a:ext cx="2654300" cy="3671760"/>
          </a:xfrm>
          <a:prstGeom prst="roundRect">
            <a:avLst>
              <a:gd name="adj" fmla="val 275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1500" y="1797621"/>
            <a:ext cx="2647950" cy="1587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28dfa66386e866d.png"/>
          <p:cNvPicPr>
            <a:picLocks noChangeAspect="1"/>
          </p:cNvPicPr>
          <p:nvPr/>
        </p:nvPicPr>
        <p:blipFill>
          <a:blip r:embed="rId2"/>
          <a:stretch>
            <a:fillRect/>
          </a:stretch>
        </p:blipFill>
        <p:spPr>
          <a:xfrm>
            <a:off x="571500" y="1797050"/>
            <a:ext cx="2508250" cy="1593850"/>
          </a:xfrm>
          <a:prstGeom prst="rect">
            <a:avLst/>
          </a:prstGeom>
        </p:spPr>
      </p:pic>
      <p:sp>
        <p:nvSpPr>
          <p:cNvPr id="17" name="TextBox 16"/>
          <p:cNvSpPr txBox="1"/>
          <p:nvPr/>
        </p:nvSpPr>
        <p:spPr>
          <a:xfrm>
            <a:off x="711200" y="3508174"/>
            <a:ext cx="2419350" cy="227584"/>
          </a:xfrm>
          <a:prstGeom prst="rect">
            <a:avLst/>
          </a:prstGeom>
          <a:noFill/>
        </p:spPr>
        <p:txBody>
          <a:bodyPr wrap="square" lIns="0" rIns="0" tIns="0" bIns="0" anchor="t"/>
          <a:lstStyle/>
          <a:p>
            <a:pPr algn="l">
              <a:lnSpc>
                <a:spcPts val="1792"/>
              </a:lnSpc>
              <a:spcBef>
                <a:spcPts val="0"/>
              </a:spcBef>
              <a:spcAft>
                <a:spcPts val="0"/>
              </a:spcAft>
            </a:pPr>
            <a:r>
              <a:rPr sz="1600" b="1" i="0">
                <a:solidFill>
                  <a:srgbClr val="1B2A4A"/>
                </a:solidFill>
                <a:latin typeface="Calibri"/>
              </a:rPr>
              <a:t>Soluciones manufacturadas</a:t>
            </a:r>
          </a:p>
        </p:txBody>
      </p:sp>
      <p:sp>
        <p:nvSpPr>
          <p:cNvPr id="18" name="TextBox 17"/>
          <p:cNvSpPr txBox="1"/>
          <p:nvPr/>
        </p:nvSpPr>
        <p:spPr>
          <a:xfrm>
            <a:off x="711200" y="3750151"/>
            <a:ext cx="2419350"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4 configuraciones · N = 2 … 32 · Q4 y</a:t>
            </a:r>
            <a:br/>
            <a:r>
              <a:rPr sz="1250" b="0" i="0">
                <a:solidFill>
                  <a:srgbClr val="5B6575"/>
                </a:solidFill>
                <a:latin typeface="Calibri"/>
              </a:rPr>
              <a:t>Q9</a:t>
            </a:r>
          </a:p>
        </p:txBody>
      </p:sp>
      <p:sp>
        <p:nvSpPr>
          <p:cNvPr id="19" name="TextBox 18"/>
          <p:cNvSpPr txBox="1"/>
          <p:nvPr/>
        </p:nvSpPr>
        <p:spPr>
          <a:xfrm>
            <a:off x="711200" y="4250737"/>
            <a:ext cx="2419350" cy="806196"/>
          </a:xfrm>
          <a:prstGeom prst="rect">
            <a:avLst/>
          </a:prstGeom>
          <a:noFill/>
        </p:spPr>
        <p:txBody>
          <a:bodyPr wrap="square" lIns="0" rIns="0" tIns="0" bIns="0" anchor="t"/>
          <a:lstStyle/>
          <a:p>
            <a:pPr algn="l">
              <a:lnSpc>
                <a:spcPts val="1587"/>
              </a:lnSpc>
              <a:spcBef>
                <a:spcPts val="0"/>
              </a:spcBef>
              <a:spcAft>
                <a:spcPts val="0"/>
              </a:spcAft>
            </a:pPr>
            <a:r>
              <a:rPr sz="1150" b="1" i="0">
                <a:solidFill>
                  <a:srgbClr val="E8741A"/>
                </a:solidFill>
                <a:latin typeface="Calibri"/>
              </a:rPr>
              <a:t>Ejercita:</a:t>
            </a:r>
            <a:r>
              <a:rPr sz="1150" b="0" i="0">
                <a:solidFill>
                  <a:srgbClr val="1F2937"/>
                </a:solidFill>
                <a:latin typeface="Calibri"/>
              </a:rPr>
              <a:t> Fuerza de volumen,</a:t>
            </a:r>
            <a:br/>
            <a:r>
              <a:rPr sz="1150" b="0" i="0">
                <a:solidFill>
                  <a:srgbClr val="1F2937"/>
                </a:solidFill>
                <a:latin typeface="Calibri"/>
              </a:rPr>
              <a:t>restricciones no homogéneas y mapeo</a:t>
            </a:r>
            <a:br/>
            <a:r>
              <a:rPr sz="1150" b="0" i="0">
                <a:solidFill>
                  <a:srgbClr val="1F2937"/>
                </a:solidFill>
                <a:latin typeface="Calibri"/>
              </a:rPr>
              <a:t>distorsionado, en tensión y en</a:t>
            </a:r>
            <a:br/>
            <a:r>
              <a:rPr sz="1150" b="0" i="0">
                <a:solidFill>
                  <a:srgbClr val="1F2937"/>
                </a:solidFill>
                <a:latin typeface="Calibri"/>
              </a:rPr>
              <a:t>deformación plana</a:t>
            </a:r>
          </a:p>
        </p:txBody>
      </p:sp>
      <p:sp>
        <p:nvSpPr>
          <p:cNvPr id="20" name="TextBox 19"/>
          <p:cNvSpPr txBox="1"/>
          <p:nvPr/>
        </p:nvSpPr>
        <p:spPr>
          <a:xfrm>
            <a:off x="711200" y="5135498"/>
            <a:ext cx="2419350" cy="184023"/>
          </a:xfrm>
          <a:prstGeom prst="rect">
            <a:avLst/>
          </a:prstGeom>
          <a:noFill/>
        </p:spPr>
        <p:txBody>
          <a:bodyPr wrap="square" lIns="0" rIns="0" tIns="0" bIns="0" anchor="t"/>
          <a:lstStyle/>
          <a:p>
            <a:pPr algn="l">
              <a:lnSpc>
                <a:spcPts val="1449"/>
              </a:lnSpc>
              <a:spcBef>
                <a:spcPts val="0"/>
              </a:spcBef>
              <a:spcAft>
                <a:spcPts val="0"/>
              </a:spcAft>
            </a:pPr>
            <a:r>
              <a:rPr sz="1050" b="1" i="0">
                <a:solidFill>
                  <a:srgbClr val="3F4A5A"/>
                </a:solidFill>
                <a:latin typeface="Calibri"/>
              </a:rPr>
              <a:t>Referencia:</a:t>
            </a:r>
            <a:r>
              <a:rPr sz="1050" b="0" i="0">
                <a:solidFill>
                  <a:srgbClr val="3F4A5A"/>
                </a:solidFill>
                <a:latin typeface="Calibri"/>
              </a:rPr>
              <a:t> Solución exacta construida</a:t>
            </a:r>
          </a:p>
        </p:txBody>
      </p:sp>
      <p:sp>
        <p:nvSpPr>
          <p:cNvPr id="21" name="Rounded Rectangle 20"/>
          <p:cNvSpPr/>
          <p:nvPr/>
        </p:nvSpPr>
        <p:spPr>
          <a:xfrm>
            <a:off x="3368675" y="1794446"/>
            <a:ext cx="2654300" cy="3671760"/>
          </a:xfrm>
          <a:prstGeom prst="roundRect">
            <a:avLst>
              <a:gd name="adj" fmla="val 275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71850" y="1797621"/>
            <a:ext cx="2647950" cy="1587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41db7754ff2e769e.png"/>
          <p:cNvPicPr>
            <a:picLocks noChangeAspect="1"/>
          </p:cNvPicPr>
          <p:nvPr/>
        </p:nvPicPr>
        <p:blipFill>
          <a:blip r:embed="rId3"/>
          <a:stretch>
            <a:fillRect/>
          </a:stretch>
        </p:blipFill>
        <p:spPr>
          <a:xfrm>
            <a:off x="3371850" y="1797050"/>
            <a:ext cx="2508250" cy="1593850"/>
          </a:xfrm>
          <a:prstGeom prst="rect">
            <a:avLst/>
          </a:prstGeom>
        </p:spPr>
      </p:pic>
      <p:sp>
        <p:nvSpPr>
          <p:cNvPr id="24" name="TextBox 23"/>
          <p:cNvSpPr txBox="1"/>
          <p:nvPr/>
        </p:nvSpPr>
        <p:spPr>
          <a:xfrm>
            <a:off x="3511550" y="3508174"/>
            <a:ext cx="2419350" cy="227584"/>
          </a:xfrm>
          <a:prstGeom prst="rect">
            <a:avLst/>
          </a:prstGeom>
          <a:noFill/>
        </p:spPr>
        <p:txBody>
          <a:bodyPr wrap="square" lIns="0" rIns="0" tIns="0" bIns="0" anchor="t"/>
          <a:lstStyle/>
          <a:p>
            <a:pPr algn="l">
              <a:lnSpc>
                <a:spcPts val="1792"/>
              </a:lnSpc>
              <a:spcBef>
                <a:spcPts val="0"/>
              </a:spcBef>
              <a:spcAft>
                <a:spcPts val="0"/>
              </a:spcAft>
            </a:pPr>
            <a:r>
              <a:rPr sz="1600" b="1" i="0">
                <a:solidFill>
                  <a:srgbClr val="1B2A4A"/>
                </a:solidFill>
                <a:latin typeface="Calibri"/>
              </a:rPr>
              <a:t>Viga de Timoshenko</a:t>
            </a:r>
          </a:p>
        </p:txBody>
      </p:sp>
      <p:sp>
        <p:nvSpPr>
          <p:cNvPr id="25" name="TextBox 24"/>
          <p:cNvSpPr txBox="1"/>
          <p:nvPr/>
        </p:nvSpPr>
        <p:spPr>
          <a:xfrm>
            <a:off x="3511550" y="3750151"/>
            <a:ext cx="2419350"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Q9 56 × 8 · 1921 nodos · 3842 GDL</a:t>
            </a:r>
          </a:p>
        </p:txBody>
      </p:sp>
      <p:sp>
        <p:nvSpPr>
          <p:cNvPr id="26" name="TextBox 25"/>
          <p:cNvSpPr txBox="1"/>
          <p:nvPr/>
        </p:nvSpPr>
        <p:spPr>
          <a:xfrm>
            <a:off x="3511550" y="4036424"/>
            <a:ext cx="2419350" cy="403098"/>
          </a:xfrm>
          <a:prstGeom prst="rect">
            <a:avLst/>
          </a:prstGeom>
          <a:noFill/>
        </p:spPr>
        <p:txBody>
          <a:bodyPr wrap="square" lIns="0" rIns="0" tIns="0" bIns="0" anchor="t"/>
          <a:lstStyle/>
          <a:p>
            <a:pPr algn="l">
              <a:lnSpc>
                <a:spcPts val="1587"/>
              </a:lnSpc>
              <a:spcBef>
                <a:spcPts val="0"/>
              </a:spcBef>
              <a:spcAft>
                <a:spcPts val="0"/>
              </a:spcAft>
            </a:pPr>
            <a:r>
              <a:rPr sz="1150" b="1" i="0">
                <a:solidFill>
                  <a:srgbClr val="E8741A"/>
                </a:solidFill>
                <a:latin typeface="Calibri"/>
              </a:rPr>
              <a:t>Ejercita:</a:t>
            </a:r>
            <a:r>
              <a:rPr sz="1150" b="0" i="0">
                <a:solidFill>
                  <a:srgbClr val="1F2937"/>
                </a:solidFill>
                <a:latin typeface="Calibri"/>
              </a:rPr>
              <a:t> Carga superficial uniforme y</a:t>
            </a:r>
            <a:br/>
            <a:r>
              <a:rPr sz="1150" b="0" i="0">
                <a:solidFill>
                  <a:srgbClr val="1F2937"/>
                </a:solidFill>
                <a:latin typeface="Calibri"/>
              </a:rPr>
              <a:t>apoyos; tensión plana</a:t>
            </a:r>
          </a:p>
        </p:txBody>
      </p:sp>
      <p:sp>
        <p:nvSpPr>
          <p:cNvPr id="27" name="TextBox 26"/>
          <p:cNvSpPr txBox="1"/>
          <p:nvPr/>
        </p:nvSpPr>
        <p:spPr>
          <a:xfrm>
            <a:off x="3511550" y="4518151"/>
            <a:ext cx="2419350" cy="368046"/>
          </a:xfrm>
          <a:prstGeom prst="rect">
            <a:avLst/>
          </a:prstGeom>
          <a:noFill/>
        </p:spPr>
        <p:txBody>
          <a:bodyPr wrap="square" lIns="0" rIns="0" tIns="0" bIns="0" anchor="t"/>
          <a:lstStyle/>
          <a:p>
            <a:pPr algn="l">
              <a:lnSpc>
                <a:spcPts val="1449"/>
              </a:lnSpc>
              <a:spcBef>
                <a:spcPts val="0"/>
              </a:spcBef>
              <a:spcAft>
                <a:spcPts val="0"/>
              </a:spcAft>
            </a:pPr>
            <a:r>
              <a:rPr sz="1050" b="1" i="0">
                <a:solidFill>
                  <a:srgbClr val="3F4A5A"/>
                </a:solidFill>
                <a:latin typeface="Calibri"/>
              </a:rPr>
              <a:t>Referencia:</a:t>
            </a:r>
            <a:r>
              <a:rPr sz="1050" b="0" i="0">
                <a:solidFill>
                  <a:srgbClr val="3F4A5A"/>
                </a:solidFill>
                <a:latin typeface="Calibri"/>
              </a:rPr>
              <a:t> Analítica de Timoshenko y</a:t>
            </a:r>
            <a:br/>
            <a:r>
              <a:rPr sz="1050" b="0" i="0">
                <a:solidFill>
                  <a:srgbClr val="3F4A5A"/>
                </a:solidFill>
                <a:latin typeface="Calibri"/>
              </a:rPr>
              <a:t>Goodier [13] y SAP2000 [19]</a:t>
            </a:r>
          </a:p>
        </p:txBody>
      </p:sp>
      <p:sp>
        <p:nvSpPr>
          <p:cNvPr id="28" name="Rounded Rectangle 27"/>
          <p:cNvSpPr/>
          <p:nvPr/>
        </p:nvSpPr>
        <p:spPr>
          <a:xfrm>
            <a:off x="6169025" y="1794446"/>
            <a:ext cx="2654300" cy="3671760"/>
          </a:xfrm>
          <a:prstGeom prst="roundRect">
            <a:avLst>
              <a:gd name="adj" fmla="val 275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1797621"/>
            <a:ext cx="2647950" cy="1587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628bcfbcbb18c622.png"/>
          <p:cNvPicPr>
            <a:picLocks noChangeAspect="1"/>
          </p:cNvPicPr>
          <p:nvPr/>
        </p:nvPicPr>
        <p:blipFill>
          <a:blip r:embed="rId4"/>
          <a:stretch>
            <a:fillRect/>
          </a:stretch>
        </p:blipFill>
        <p:spPr>
          <a:xfrm>
            <a:off x="6172200" y="1797050"/>
            <a:ext cx="2508250" cy="1593850"/>
          </a:xfrm>
          <a:prstGeom prst="rect">
            <a:avLst/>
          </a:prstGeom>
        </p:spPr>
      </p:pic>
      <p:sp>
        <p:nvSpPr>
          <p:cNvPr id="31" name="TextBox 30"/>
          <p:cNvSpPr txBox="1"/>
          <p:nvPr/>
        </p:nvSpPr>
        <p:spPr>
          <a:xfrm>
            <a:off x="6311900" y="3508174"/>
            <a:ext cx="2419350" cy="227584"/>
          </a:xfrm>
          <a:prstGeom prst="rect">
            <a:avLst/>
          </a:prstGeom>
          <a:noFill/>
        </p:spPr>
        <p:txBody>
          <a:bodyPr wrap="square" lIns="0" rIns="0" tIns="0" bIns="0" anchor="t"/>
          <a:lstStyle/>
          <a:p>
            <a:pPr algn="l">
              <a:lnSpc>
                <a:spcPts val="1792"/>
              </a:lnSpc>
              <a:spcBef>
                <a:spcPts val="0"/>
              </a:spcBef>
              <a:spcAft>
                <a:spcPts val="0"/>
              </a:spcAft>
            </a:pPr>
            <a:r>
              <a:rPr sz="1600" b="1" i="0">
                <a:solidFill>
                  <a:srgbClr val="1B2A4A"/>
                </a:solidFill>
                <a:latin typeface="Calibri"/>
              </a:rPr>
              <a:t>Membrana de Cook</a:t>
            </a:r>
          </a:p>
        </p:txBody>
      </p:sp>
      <p:sp>
        <p:nvSpPr>
          <p:cNvPr id="32" name="TextBox 31"/>
          <p:cNvSpPr txBox="1"/>
          <p:nvPr/>
        </p:nvSpPr>
        <p:spPr>
          <a:xfrm>
            <a:off x="6311900" y="3750151"/>
            <a:ext cx="2419350"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Q4 y Q9 · N = 2 … 32</a:t>
            </a:r>
          </a:p>
        </p:txBody>
      </p:sp>
      <p:sp>
        <p:nvSpPr>
          <p:cNvPr id="33" name="TextBox 32"/>
          <p:cNvSpPr txBox="1"/>
          <p:nvPr/>
        </p:nvSpPr>
        <p:spPr>
          <a:xfrm>
            <a:off x="6311900" y="4036424"/>
            <a:ext cx="2419350" cy="604647"/>
          </a:xfrm>
          <a:prstGeom prst="rect">
            <a:avLst/>
          </a:prstGeom>
          <a:noFill/>
        </p:spPr>
        <p:txBody>
          <a:bodyPr wrap="square" lIns="0" rIns="0" tIns="0" bIns="0" anchor="t"/>
          <a:lstStyle/>
          <a:p>
            <a:pPr algn="l">
              <a:lnSpc>
                <a:spcPts val="1587"/>
              </a:lnSpc>
              <a:spcBef>
                <a:spcPts val="0"/>
              </a:spcBef>
              <a:spcAft>
                <a:spcPts val="0"/>
              </a:spcAft>
            </a:pPr>
            <a:r>
              <a:rPr sz="1150" b="1" i="0">
                <a:solidFill>
                  <a:srgbClr val="E8741A"/>
                </a:solidFill>
                <a:latin typeface="Calibri"/>
              </a:rPr>
              <a:t>Ejercita:</a:t>
            </a:r>
            <a:r>
              <a:rPr sz="1150" b="0" i="0">
                <a:solidFill>
                  <a:srgbClr val="1F2937"/>
                </a:solidFill>
                <a:latin typeface="Calibri"/>
              </a:rPr>
              <a:t> Distorsión trapezoidal bajo</a:t>
            </a:r>
            <a:br/>
            <a:r>
              <a:rPr sz="1150" b="0" i="0">
                <a:solidFill>
                  <a:srgbClr val="1F2937"/>
                </a:solidFill>
                <a:latin typeface="Calibri"/>
              </a:rPr>
              <a:t>cortante y flexión: el caso que bloquea</a:t>
            </a:r>
            <a:br/>
            <a:r>
              <a:rPr sz="1150" b="0" i="0">
                <a:solidFill>
                  <a:srgbClr val="1F2937"/>
                </a:solidFill>
                <a:latin typeface="Calibri"/>
              </a:rPr>
              <a:t>al Q4</a:t>
            </a:r>
          </a:p>
        </p:txBody>
      </p:sp>
      <p:sp>
        <p:nvSpPr>
          <p:cNvPr id="34" name="TextBox 33"/>
          <p:cNvSpPr txBox="1"/>
          <p:nvPr/>
        </p:nvSpPr>
        <p:spPr>
          <a:xfrm>
            <a:off x="6311900" y="4719700"/>
            <a:ext cx="2419350" cy="368046"/>
          </a:xfrm>
          <a:prstGeom prst="rect">
            <a:avLst/>
          </a:prstGeom>
          <a:noFill/>
        </p:spPr>
        <p:txBody>
          <a:bodyPr wrap="square" lIns="0" rIns="0" tIns="0" bIns="0" anchor="t"/>
          <a:lstStyle/>
          <a:p>
            <a:pPr algn="l">
              <a:lnSpc>
                <a:spcPts val="1449"/>
              </a:lnSpc>
              <a:spcBef>
                <a:spcPts val="0"/>
              </a:spcBef>
              <a:spcAft>
                <a:spcPts val="0"/>
              </a:spcAft>
            </a:pPr>
            <a:r>
              <a:rPr sz="1050" b="1" i="0">
                <a:solidFill>
                  <a:srgbClr val="3F4A5A"/>
                </a:solidFill>
                <a:latin typeface="Calibri"/>
              </a:rPr>
              <a:t>Referencia:</a:t>
            </a:r>
            <a:r>
              <a:rPr sz="1050" b="0" i="0">
                <a:solidFill>
                  <a:srgbClr val="3F4A5A"/>
                </a:solidFill>
                <a:latin typeface="Calibri"/>
              </a:rPr>
              <a:t> 23,96; publicado 23,965 [26, p.</a:t>
            </a:r>
            <a:br/>
            <a:r>
              <a:rPr sz="1050" b="0" i="0">
                <a:solidFill>
                  <a:srgbClr val="3F4A5A"/>
                </a:solidFill>
                <a:latin typeface="Calibri"/>
              </a:rPr>
              <a:t>28]</a:t>
            </a:r>
          </a:p>
        </p:txBody>
      </p:sp>
      <p:sp>
        <p:nvSpPr>
          <p:cNvPr id="35" name="Rounded Rectangle 34"/>
          <p:cNvSpPr/>
          <p:nvPr/>
        </p:nvSpPr>
        <p:spPr>
          <a:xfrm>
            <a:off x="8969375" y="1794446"/>
            <a:ext cx="2654300" cy="3671760"/>
          </a:xfrm>
          <a:prstGeom prst="roundRect">
            <a:avLst>
              <a:gd name="adj" fmla="val 275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72550" y="1797621"/>
            <a:ext cx="2647950" cy="1587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eab46067fcb3478c.png"/>
          <p:cNvPicPr>
            <a:picLocks noChangeAspect="1"/>
          </p:cNvPicPr>
          <p:nvPr/>
        </p:nvPicPr>
        <p:blipFill>
          <a:blip r:embed="rId5"/>
          <a:stretch>
            <a:fillRect/>
          </a:stretch>
        </p:blipFill>
        <p:spPr>
          <a:xfrm>
            <a:off x="8972550" y="1797050"/>
            <a:ext cx="2508250" cy="1593850"/>
          </a:xfrm>
          <a:prstGeom prst="rect">
            <a:avLst/>
          </a:prstGeom>
        </p:spPr>
      </p:pic>
      <p:sp>
        <p:nvSpPr>
          <p:cNvPr id="38" name="TextBox 37"/>
          <p:cNvSpPr txBox="1"/>
          <p:nvPr/>
        </p:nvSpPr>
        <p:spPr>
          <a:xfrm>
            <a:off x="9112250" y="3508174"/>
            <a:ext cx="2419350" cy="227584"/>
          </a:xfrm>
          <a:prstGeom prst="rect">
            <a:avLst/>
          </a:prstGeom>
          <a:noFill/>
        </p:spPr>
        <p:txBody>
          <a:bodyPr wrap="square" lIns="0" rIns="0" tIns="0" bIns="0" anchor="t"/>
          <a:lstStyle/>
          <a:p>
            <a:pPr algn="l">
              <a:lnSpc>
                <a:spcPts val="1792"/>
              </a:lnSpc>
              <a:spcBef>
                <a:spcPts val="0"/>
              </a:spcBef>
              <a:spcAft>
                <a:spcPts val="0"/>
              </a:spcAft>
            </a:pPr>
            <a:r>
              <a:rPr sz="1600" b="1" i="0">
                <a:solidFill>
                  <a:srgbClr val="1B2A4A"/>
                </a:solidFill>
                <a:latin typeface="Calibri"/>
              </a:rPr>
              <a:t>Ejemplo canónico</a:t>
            </a:r>
          </a:p>
        </p:txBody>
      </p:sp>
      <p:sp>
        <p:nvSpPr>
          <p:cNvPr id="39" name="TextBox 38"/>
          <p:cNvSpPr txBox="1"/>
          <p:nvPr/>
        </p:nvSpPr>
        <p:spPr>
          <a:xfrm>
            <a:off x="9112250" y="3750151"/>
            <a:ext cx="2419350"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9 nodos · 4 elementos Q4 · P = 1000</a:t>
            </a:r>
          </a:p>
        </p:txBody>
      </p:sp>
      <p:sp>
        <p:nvSpPr>
          <p:cNvPr id="40" name="TextBox 39"/>
          <p:cNvSpPr txBox="1"/>
          <p:nvPr/>
        </p:nvSpPr>
        <p:spPr>
          <a:xfrm>
            <a:off x="9112250" y="4036424"/>
            <a:ext cx="2419350" cy="403098"/>
          </a:xfrm>
          <a:prstGeom prst="rect">
            <a:avLst/>
          </a:prstGeom>
          <a:noFill/>
        </p:spPr>
        <p:txBody>
          <a:bodyPr wrap="square" lIns="0" rIns="0" tIns="0" bIns="0" anchor="t"/>
          <a:lstStyle/>
          <a:p>
            <a:pPr algn="l">
              <a:lnSpc>
                <a:spcPts val="1587"/>
              </a:lnSpc>
              <a:spcBef>
                <a:spcPts val="0"/>
              </a:spcBef>
              <a:spcAft>
                <a:spcPts val="0"/>
              </a:spcAft>
            </a:pPr>
            <a:r>
              <a:rPr sz="1150" b="1" i="0">
                <a:solidFill>
                  <a:srgbClr val="E8741A"/>
                </a:solidFill>
                <a:latin typeface="Calibri"/>
              </a:rPr>
              <a:t>Ejercita:</a:t>
            </a:r>
            <a:r>
              <a:rPr sz="1150" b="0" i="0">
                <a:solidFill>
                  <a:srgbClr val="1F2937"/>
                </a:solidFill>
                <a:latin typeface="Calibri"/>
              </a:rPr>
              <a:t> No mide exactitud: demuestra</a:t>
            </a:r>
            <a:br/>
            <a:r>
              <a:rPr sz="1150" b="0" i="0">
                <a:solidFill>
                  <a:srgbClr val="1F2937"/>
                </a:solidFill>
                <a:latin typeface="Calibri"/>
              </a:rPr>
              <a:t>que la memoria se rehace a mano</a:t>
            </a:r>
          </a:p>
        </p:txBody>
      </p:sp>
      <p:sp>
        <p:nvSpPr>
          <p:cNvPr id="41" name="TextBox 40"/>
          <p:cNvSpPr txBox="1"/>
          <p:nvPr/>
        </p:nvSpPr>
        <p:spPr>
          <a:xfrm>
            <a:off x="9112250" y="4518151"/>
            <a:ext cx="2419350" cy="184023"/>
          </a:xfrm>
          <a:prstGeom prst="rect">
            <a:avLst/>
          </a:prstGeom>
          <a:noFill/>
        </p:spPr>
        <p:txBody>
          <a:bodyPr wrap="square" lIns="0" rIns="0" tIns="0" bIns="0" anchor="t"/>
          <a:lstStyle/>
          <a:p>
            <a:pPr algn="l">
              <a:lnSpc>
                <a:spcPts val="1449"/>
              </a:lnSpc>
              <a:spcBef>
                <a:spcPts val="0"/>
              </a:spcBef>
              <a:spcAft>
                <a:spcPts val="0"/>
              </a:spcAft>
            </a:pPr>
            <a:r>
              <a:rPr sz="1050" b="1" i="0">
                <a:solidFill>
                  <a:srgbClr val="3F4A5A"/>
                </a:solidFill>
                <a:latin typeface="Calibri"/>
              </a:rPr>
              <a:t>Referencia:</a:t>
            </a:r>
            <a:r>
              <a:rPr sz="1050" b="0" i="0">
                <a:solidFill>
                  <a:srgbClr val="3F4A5A"/>
                </a:solidFill>
                <a:latin typeface="Calibri"/>
              </a:rPr>
              <a:t> Anexo G</a:t>
            </a:r>
          </a:p>
        </p:txBody>
      </p:sp>
      <p:sp>
        <p:nvSpPr>
          <p:cNvPr id="42" name="Rectangle 41"/>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5150" y="6535420"/>
            <a:ext cx="530777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5" name="TextBox 44"/>
          <p:cNvSpPr txBox="1"/>
          <p:nvPr/>
        </p:nvSpPr>
        <p:spPr>
          <a:xfrm>
            <a:off x="5743448" y="6535420"/>
            <a:ext cx="70504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2.1.4</a:t>
            </a:r>
          </a:p>
        </p:txBody>
      </p:sp>
      <p:sp>
        <p:nvSpPr>
          <p:cNvPr id="46" name="TextBox 45"/>
          <p:cNvSpPr txBox="1"/>
          <p:nvPr/>
        </p:nvSpPr>
        <p:spPr>
          <a:xfrm>
            <a:off x="6319076" y="6535420"/>
            <a:ext cx="530777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27</a:t>
            </a:r>
          </a:p>
        </p:txBody>
      </p:sp>
      <p:sp>
        <p:nvSpPr>
          <p:cNvPr id="47" name="Enlace a sep-intro">
            <a:hlinkClick action="ppaction://hlinksldjump" r:id="rId6"/>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nlace a sep-teoria">
            <a:hlinkClick action="ppaction://hlinksldjump" r:id="rId7"/>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nlace a sep-diseno">
            <a:hlinkClick action="ppaction://hlinksldjump" r:id="rId8"/>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nlace a sep-resultados">
            <a:hlinkClick action="ppaction://hlinksldjump" r:id="rId9"/>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nlace a sep-analisis">
            <a:hlinkClick action="ppaction://hlinksldjump" r:id="rId10"/>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nlace a sep-conclusiones">
            <a:hlinkClick action="ppaction://hlinksldjump" r:id="rId11"/>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7" fill="hold">
                      <p:stCondLst>
                        <p:cond delay="indefinite"/>
                        <p:cond evt="onBegin" delay="0">
                          <p:tn val="2"/>
                        </p:cond>
                      </p:stCondLst>
                      <p:childTnLst>
                        <p:par>
                          <p:cTn id="88"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50"/>
                                        <p:tgtEl>
                                          <p:spTgt spid="14"/>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50"/>
                                        <p:tgtEl>
                                          <p:spTgt spid="15"/>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50"/>
                                        <p:tgtEl>
                                          <p:spTgt spid="16"/>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50"/>
                                        <p:tgtEl>
                                          <p:spTgt spid="17"/>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50"/>
                                        <p:tgtEl>
                                          <p:spTgt spid="18"/>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50"/>
                                        <p:tgtEl>
                                          <p:spTgt spid="19"/>
                                        </p:tgtEl>
                                      </p:cBhvr>
                                    </p:animEffect>
                                  </p:childTnLst>
                                </p:cTn>
                              </p:par>
                              <p:par>
                                <p:cTn id="21" presetID="10" presetClass="entr" presetSubtype="0" fill="hold" grpId="0" nodeType="withEffect">
                                  <p:stCondLst>
                                    <p:cond delay="12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50"/>
                                        <p:tgtEl>
                                          <p:spTgt spid="20"/>
                                        </p:tgtEl>
                                      </p:cBhvr>
                                    </p:animEffect>
                                  </p:childTnLst>
                                </p:cTn>
                              </p:par>
                              <p:par>
                                <p:cTn id="24" presetID="10" presetClass="entr" presetSubtype="0" fill="hold" grpId="0" nodeType="withEffect">
                                  <p:stCondLst>
                                    <p:cond delay="23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50"/>
                                        <p:tgtEl>
                                          <p:spTgt spid="21"/>
                                        </p:tgtEl>
                                      </p:cBhvr>
                                    </p:animEffect>
                                  </p:childTnLst>
                                </p:cTn>
                              </p:par>
                              <p:par>
                                <p:cTn id="27" presetID="10" presetClass="entr" presetSubtype="0" fill="hold" grpId="0" nodeType="withEffect">
                                  <p:stCondLst>
                                    <p:cond delay="23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450"/>
                                        <p:tgtEl>
                                          <p:spTgt spid="22"/>
                                        </p:tgtEl>
                                      </p:cBhvr>
                                    </p:animEffect>
                                  </p:childTnLst>
                                </p:cTn>
                              </p:par>
                              <p:par>
                                <p:cTn id="30" presetID="10" presetClass="entr" presetSubtype="0" fill="hold" grpId="0" nodeType="withEffect">
                                  <p:stCondLst>
                                    <p:cond delay="23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450"/>
                                        <p:tgtEl>
                                          <p:spTgt spid="23"/>
                                        </p:tgtEl>
                                      </p:cBhvr>
                                    </p:animEffect>
                                  </p:childTnLst>
                                </p:cTn>
                              </p:par>
                              <p:par>
                                <p:cTn id="33" presetID="10" presetClass="entr" presetSubtype="0" fill="hold" grpId="0" nodeType="withEffect">
                                  <p:stCondLst>
                                    <p:cond delay="23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450"/>
                                        <p:tgtEl>
                                          <p:spTgt spid="24"/>
                                        </p:tgtEl>
                                      </p:cBhvr>
                                    </p:animEffect>
                                  </p:childTnLst>
                                </p:cTn>
                              </p:par>
                              <p:par>
                                <p:cTn id="36" presetID="10" presetClass="entr" presetSubtype="0" fill="hold" grpId="0" nodeType="withEffect">
                                  <p:stCondLst>
                                    <p:cond delay="23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par>
                                <p:cTn id="39" presetID="10" presetClass="entr" presetSubtype="0" fill="hold" grpId="0" nodeType="withEffect">
                                  <p:stCondLst>
                                    <p:cond delay="23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450"/>
                                        <p:tgtEl>
                                          <p:spTgt spid="26"/>
                                        </p:tgtEl>
                                      </p:cBhvr>
                                    </p:animEffect>
                                  </p:childTnLst>
                                </p:cTn>
                              </p:par>
                              <p:par>
                                <p:cTn id="42" presetID="10" presetClass="entr" presetSubtype="0" fill="hold" grpId="0" nodeType="withEffect">
                                  <p:stCondLst>
                                    <p:cond delay="23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450"/>
                                        <p:tgtEl>
                                          <p:spTgt spid="27"/>
                                        </p:tgtEl>
                                      </p:cBhvr>
                                    </p:animEffect>
                                  </p:childTnLst>
                                </p:cTn>
                              </p:par>
                              <p:par>
                                <p:cTn id="45" presetID="10" presetClass="entr" presetSubtype="0" fill="hold" grpId="0" nodeType="withEffect">
                                  <p:stCondLst>
                                    <p:cond delay="34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450"/>
                                        <p:tgtEl>
                                          <p:spTgt spid="28"/>
                                        </p:tgtEl>
                                      </p:cBhvr>
                                    </p:animEffect>
                                  </p:childTnLst>
                                </p:cTn>
                              </p:par>
                              <p:par>
                                <p:cTn id="48" presetID="10" presetClass="entr" presetSubtype="0" fill="hold" grpId="0" nodeType="withEffect">
                                  <p:stCondLst>
                                    <p:cond delay="34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50"/>
                                        <p:tgtEl>
                                          <p:spTgt spid="29"/>
                                        </p:tgtEl>
                                      </p:cBhvr>
                                    </p:animEffect>
                                  </p:childTnLst>
                                </p:cTn>
                              </p:par>
                              <p:par>
                                <p:cTn id="51" presetID="10" presetClass="entr" presetSubtype="0" fill="hold" grpId="0" nodeType="withEffect">
                                  <p:stCondLst>
                                    <p:cond delay="34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450"/>
                                        <p:tgtEl>
                                          <p:spTgt spid="30"/>
                                        </p:tgtEl>
                                      </p:cBhvr>
                                    </p:animEffect>
                                  </p:childTnLst>
                                </p:cTn>
                              </p:par>
                              <p:par>
                                <p:cTn id="54" presetID="10" presetClass="entr" presetSubtype="0" fill="hold" grpId="0" nodeType="withEffect">
                                  <p:stCondLst>
                                    <p:cond delay="34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450"/>
                                        <p:tgtEl>
                                          <p:spTgt spid="31"/>
                                        </p:tgtEl>
                                      </p:cBhvr>
                                    </p:animEffect>
                                  </p:childTnLst>
                                </p:cTn>
                              </p:par>
                              <p:par>
                                <p:cTn id="57" presetID="10" presetClass="entr" presetSubtype="0" fill="hold" grpId="0" nodeType="withEffect">
                                  <p:stCondLst>
                                    <p:cond delay="34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450"/>
                                        <p:tgtEl>
                                          <p:spTgt spid="32"/>
                                        </p:tgtEl>
                                      </p:cBhvr>
                                    </p:animEffect>
                                  </p:childTnLst>
                                </p:cTn>
                              </p:par>
                              <p:par>
                                <p:cTn id="60" presetID="10" presetClass="entr" presetSubtype="0" fill="hold" grpId="0" nodeType="withEffect">
                                  <p:stCondLst>
                                    <p:cond delay="34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450"/>
                                        <p:tgtEl>
                                          <p:spTgt spid="33"/>
                                        </p:tgtEl>
                                      </p:cBhvr>
                                    </p:animEffect>
                                  </p:childTnLst>
                                </p:cTn>
                              </p:par>
                              <p:par>
                                <p:cTn id="63" presetID="10" presetClass="entr" presetSubtype="0" fill="hold" grpId="0" nodeType="withEffect">
                                  <p:stCondLst>
                                    <p:cond delay="34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450"/>
                                        <p:tgtEl>
                                          <p:spTgt spid="34"/>
                                        </p:tgtEl>
                                      </p:cBhvr>
                                    </p:animEffect>
                                  </p:childTnLst>
                                </p:cTn>
                              </p:par>
                              <p:par>
                                <p:cTn id="66" presetID="10" presetClass="entr" presetSubtype="0" fill="hold" grpId="0" nodeType="withEffect">
                                  <p:stCondLst>
                                    <p:cond delay="45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450"/>
                                        <p:tgtEl>
                                          <p:spTgt spid="35"/>
                                        </p:tgtEl>
                                      </p:cBhvr>
                                    </p:animEffect>
                                  </p:childTnLst>
                                </p:cTn>
                              </p:par>
                              <p:par>
                                <p:cTn id="69" presetID="10" presetClass="entr" presetSubtype="0" fill="hold" grpId="0" nodeType="withEffect">
                                  <p:stCondLst>
                                    <p:cond delay="45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450"/>
                                        <p:tgtEl>
                                          <p:spTgt spid="36"/>
                                        </p:tgtEl>
                                      </p:cBhvr>
                                    </p:animEffect>
                                  </p:childTnLst>
                                </p:cTn>
                              </p:par>
                              <p:par>
                                <p:cTn id="72" presetID="10" presetClass="entr" presetSubtype="0" fill="hold" grpId="0" nodeType="withEffect">
                                  <p:stCondLst>
                                    <p:cond delay="45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450"/>
                                        <p:tgtEl>
                                          <p:spTgt spid="37"/>
                                        </p:tgtEl>
                                      </p:cBhvr>
                                    </p:animEffect>
                                  </p:childTnLst>
                                </p:cTn>
                              </p:par>
                              <p:par>
                                <p:cTn id="75" presetID="10" presetClass="entr" presetSubtype="0" fill="hold" grpId="0" nodeType="withEffect">
                                  <p:stCondLst>
                                    <p:cond delay="45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450"/>
                                        <p:tgtEl>
                                          <p:spTgt spid="38"/>
                                        </p:tgtEl>
                                      </p:cBhvr>
                                    </p:animEffect>
                                  </p:childTnLst>
                                </p:cTn>
                              </p:par>
                              <p:par>
                                <p:cTn id="78" presetID="10" presetClass="entr" presetSubtype="0" fill="hold" grpId="0" nodeType="withEffect">
                                  <p:stCondLst>
                                    <p:cond delay="45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450"/>
                                        <p:tgtEl>
                                          <p:spTgt spid="39"/>
                                        </p:tgtEl>
                                      </p:cBhvr>
                                    </p:animEffect>
                                  </p:childTnLst>
                                </p:cTn>
                              </p:par>
                              <p:par>
                                <p:cTn id="81" presetID="10" presetClass="entr" presetSubtype="0" fill="hold" grpId="0" nodeType="withEffect">
                                  <p:stCondLst>
                                    <p:cond delay="450"/>
                                  </p:stCondLst>
                                  <p:childTnLst>
                                    <p:set>
                                      <p:cBhvr>
                                        <p:cTn id="82" dur="1" fill="hold">
                                          <p:stCondLst>
                                            <p:cond delay="0"/>
                                          </p:stCondLst>
                                        </p:cTn>
                                        <p:tgtEl>
                                          <p:spTgt spid="40"/>
                                        </p:tgtEl>
                                        <p:attrNameLst>
                                          <p:attrName>style.visibility</p:attrName>
                                        </p:attrNameLst>
                                      </p:cBhvr>
                                      <p:to>
                                        <p:strVal val="visible"/>
                                      </p:to>
                                    </p:set>
                                    <p:animEffect transition="in" filter="fade">
                                      <p:cBhvr>
                                        <p:cTn id="83" dur="450"/>
                                        <p:tgtEl>
                                          <p:spTgt spid="40"/>
                                        </p:tgtEl>
                                      </p:cBhvr>
                                    </p:animEffect>
                                  </p:childTnLst>
                                </p:cTn>
                              </p:par>
                              <p:par>
                                <p:cTn id="84" presetID="10" presetClass="entr" presetSubtype="0" fill="hold" grpId="0" nodeType="withEffect">
                                  <p:stCondLst>
                                    <p:cond delay="450"/>
                                  </p:stCondLst>
                                  <p:childTnLst>
                                    <p:set>
                                      <p:cBhvr>
                                        <p:cTn id="85" dur="1" fill="hold">
                                          <p:stCondLst>
                                            <p:cond delay="0"/>
                                          </p:stCondLst>
                                        </p:cTn>
                                        <p:tgtEl>
                                          <p:spTgt spid="41"/>
                                        </p:tgtEl>
                                        <p:attrNameLst>
                                          <p:attrName>style.visibility</p:attrName>
                                        </p:attrNameLst>
                                      </p:cBhvr>
                                      <p:to>
                                        <p:strVal val="visible"/>
                                      </p:to>
                                    </p:set>
                                    <p:animEffect transition="in" filter="fade">
                                      <p:cBhvr>
                                        <p:cTn id="86" dur="4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Criterios de aceptación, fijados antes de medir</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5150" y="1289876"/>
            <a:ext cx="5544312" cy="152400"/>
          </a:xfrm>
          <a:prstGeom prst="rect">
            <a:avLst/>
          </a:prstGeom>
          <a:noFill/>
        </p:spPr>
        <p:txBody>
          <a:bodyPr wrap="square" lIns="0" rIns="0" tIns="0" bIns="0" anchor="t"/>
          <a:lstStyle/>
          <a:p>
            <a:pPr algn="l">
              <a:lnSpc>
                <a:spcPts val="1200"/>
              </a:lnSpc>
              <a:spcBef>
                <a:spcPts val="0"/>
              </a:spcBef>
              <a:spcAft>
                <a:spcPts val="0"/>
              </a:spcAft>
            </a:pPr>
            <a:r>
              <a:rPr sz="1200" b="1" i="0" cap="all" spc="120">
                <a:solidFill>
                  <a:srgbClr val="E8741A"/>
                </a:solidFill>
                <a:latin typeface="Calibri"/>
              </a:rPr>
              <a:t>(a) Trazabilidad</a:t>
            </a:r>
            <a:r>
              <a:rPr sz="950" b="1" i="0" spc="38">
                <a:solidFill>
                  <a:srgbClr val="5B6575"/>
                </a:solidFill>
                <a:latin typeface="Calibri"/>
              </a:rPr>
              <a:t> · umbral y lo que lo refutaría</a:t>
            </a:r>
          </a:p>
        </p:txBody>
      </p:sp>
      <p:sp>
        <p:nvSpPr>
          <p:cNvPr id="14" name="Rounded Rectangle 13"/>
          <p:cNvSpPr/>
          <p:nvPr/>
        </p:nvSpPr>
        <p:spPr>
          <a:xfrm>
            <a:off x="568325" y="1511872"/>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1558153"/>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Etapas con módulo educativo</a:t>
            </a:r>
          </a:p>
        </p:txBody>
      </p:sp>
      <p:sp>
        <p:nvSpPr>
          <p:cNvPr id="16" name="TextBox 15"/>
          <p:cNvSpPr txBox="1"/>
          <p:nvPr/>
        </p:nvSpPr>
        <p:spPr>
          <a:xfrm>
            <a:off x="660400" y="1746868"/>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Exhaustividad</a:t>
            </a:r>
          </a:p>
        </p:txBody>
      </p:sp>
      <p:sp>
        <p:nvSpPr>
          <p:cNvPr id="17" name="Rounded Rectangle 16"/>
          <p:cNvSpPr/>
          <p:nvPr/>
        </p:nvSpPr>
        <p:spPr>
          <a:xfrm>
            <a:off x="3162300" y="1592453"/>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75000" y="1647965"/>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7 de 7</a:t>
            </a:r>
          </a:p>
        </p:txBody>
      </p:sp>
      <p:sp>
        <p:nvSpPr>
          <p:cNvPr id="19" name="Rounded Rectangle 18"/>
          <p:cNvSpPr/>
          <p:nvPr/>
        </p:nvSpPr>
        <p:spPr>
          <a:xfrm>
            <a:off x="4321175" y="1597533"/>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7850" y="1650657"/>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Una etapa sin módulo</a:t>
            </a:r>
          </a:p>
        </p:txBody>
      </p:sp>
      <p:sp>
        <p:nvSpPr>
          <p:cNvPr id="21" name="Rounded Rectangle 20"/>
          <p:cNvSpPr/>
          <p:nvPr/>
        </p:nvSpPr>
        <p:spPr>
          <a:xfrm>
            <a:off x="568325" y="1972691"/>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2018972"/>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Etapas con desarrollo en la memoria</a:t>
            </a:r>
          </a:p>
        </p:txBody>
      </p:sp>
      <p:sp>
        <p:nvSpPr>
          <p:cNvPr id="23" name="TextBox 22"/>
          <p:cNvSpPr txBox="1"/>
          <p:nvPr/>
        </p:nvSpPr>
        <p:spPr>
          <a:xfrm>
            <a:off x="660400" y="2207624"/>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Exhaustividad</a:t>
            </a:r>
          </a:p>
        </p:txBody>
      </p:sp>
      <p:sp>
        <p:nvSpPr>
          <p:cNvPr id="24" name="Rounded Rectangle 23"/>
          <p:cNvSpPr/>
          <p:nvPr/>
        </p:nvSpPr>
        <p:spPr>
          <a:xfrm>
            <a:off x="3162300" y="2053209"/>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75000" y="2108721"/>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9 de 9</a:t>
            </a:r>
          </a:p>
        </p:txBody>
      </p:sp>
      <p:sp>
        <p:nvSpPr>
          <p:cNvPr id="26" name="Rounded Rectangle 25"/>
          <p:cNvSpPr/>
          <p:nvPr/>
        </p:nvSpPr>
        <p:spPr>
          <a:xfrm>
            <a:off x="4321175" y="2058289"/>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7850" y="2111413"/>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Una etapa sin desarrollo</a:t>
            </a:r>
          </a:p>
        </p:txBody>
      </p:sp>
      <p:sp>
        <p:nvSpPr>
          <p:cNvPr id="28" name="Rounded Rectangle 27"/>
          <p:cNvSpPr/>
          <p:nvPr/>
        </p:nvSpPr>
        <p:spPr>
          <a:xfrm>
            <a:off x="568325" y="2433447"/>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400" y="2479728"/>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Solución y tensiones en el post-proceso</a:t>
            </a:r>
          </a:p>
        </p:txBody>
      </p:sp>
      <p:sp>
        <p:nvSpPr>
          <p:cNvPr id="30" name="TextBox 29"/>
          <p:cNvSpPr txBox="1"/>
          <p:nvPr/>
        </p:nvSpPr>
        <p:spPr>
          <a:xfrm>
            <a:off x="660400" y="2668444"/>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Modo crudo y suavizado</a:t>
            </a:r>
          </a:p>
        </p:txBody>
      </p:sp>
      <p:sp>
        <p:nvSpPr>
          <p:cNvPr id="31" name="Rounded Rectangle 30"/>
          <p:cNvSpPr/>
          <p:nvPr/>
        </p:nvSpPr>
        <p:spPr>
          <a:xfrm>
            <a:off x="3162300" y="2514028"/>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75000" y="2569540"/>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Ambas</a:t>
            </a:r>
          </a:p>
        </p:txBody>
      </p:sp>
      <p:sp>
        <p:nvSpPr>
          <p:cNvPr id="33" name="Rounded Rectangle 32"/>
          <p:cNvSpPr/>
          <p:nvPr/>
        </p:nvSpPr>
        <p:spPr>
          <a:xfrm>
            <a:off x="4321175" y="2519045"/>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7850" y="2572169"/>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Una sin exposición</a:t>
            </a:r>
          </a:p>
        </p:txBody>
      </p:sp>
      <p:sp>
        <p:nvSpPr>
          <p:cNvPr id="35" name="Rounded Rectangle 34"/>
          <p:cNvSpPr/>
          <p:nvPr/>
        </p:nvSpPr>
        <p:spPr>
          <a:xfrm>
            <a:off x="568325" y="2894203"/>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0400" y="2940484"/>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Fases sobre el mismo lienzo</a:t>
            </a:r>
          </a:p>
        </p:txBody>
      </p:sp>
      <p:sp>
        <p:nvSpPr>
          <p:cNvPr id="37" name="TextBox 36"/>
          <p:cNvSpPr txBox="1"/>
          <p:nvPr/>
        </p:nvSpPr>
        <p:spPr>
          <a:xfrm>
            <a:off x="660400" y="3129200"/>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Exhaustividad</a:t>
            </a:r>
          </a:p>
        </p:txBody>
      </p:sp>
      <p:sp>
        <p:nvSpPr>
          <p:cNvPr id="38" name="Rounded Rectangle 37"/>
          <p:cNvSpPr/>
          <p:nvPr/>
        </p:nvSpPr>
        <p:spPr>
          <a:xfrm>
            <a:off x="3162300" y="2974784"/>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75000" y="3030296"/>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3 de 3</a:t>
            </a:r>
          </a:p>
        </p:txBody>
      </p:sp>
      <p:sp>
        <p:nvSpPr>
          <p:cNvPr id="40" name="Rounded Rectangle 39"/>
          <p:cNvSpPr/>
          <p:nvPr/>
        </p:nvSpPr>
        <p:spPr>
          <a:xfrm>
            <a:off x="4321175" y="2979864"/>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7850" y="3032989"/>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Una fase en otra vista</a:t>
            </a:r>
          </a:p>
        </p:txBody>
      </p:sp>
      <p:sp>
        <p:nvSpPr>
          <p:cNvPr id="42" name="Rounded Rectangle 41"/>
          <p:cNvSpPr/>
          <p:nvPr/>
        </p:nvSpPr>
        <p:spPr>
          <a:xfrm>
            <a:off x="568325" y="3354959"/>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0400" y="3401240"/>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Ítems de contenido con instrumento</a:t>
            </a:r>
          </a:p>
        </p:txBody>
      </p:sp>
      <p:sp>
        <p:nvSpPr>
          <p:cNvPr id="44" name="TextBox 43"/>
          <p:cNvSpPr txBox="1"/>
          <p:nvPr/>
        </p:nvSpPr>
        <p:spPr>
          <a:xfrm>
            <a:off x="660400" y="3589956"/>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Consenso de 67 expertos [3]</a:t>
            </a:r>
          </a:p>
        </p:txBody>
      </p:sp>
      <p:sp>
        <p:nvSpPr>
          <p:cNvPr id="45" name="Rounded Rectangle 44"/>
          <p:cNvSpPr/>
          <p:nvPr/>
        </p:nvSpPr>
        <p:spPr>
          <a:xfrm>
            <a:off x="3162300" y="3435540"/>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75000" y="3491052"/>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18 de 18</a:t>
            </a:r>
          </a:p>
        </p:txBody>
      </p:sp>
      <p:sp>
        <p:nvSpPr>
          <p:cNvPr id="47" name="Rounded Rectangle 46"/>
          <p:cNvSpPr/>
          <p:nvPr/>
        </p:nvSpPr>
        <p:spPr>
          <a:xfrm>
            <a:off x="4321175" y="3440621"/>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87850" y="3493745"/>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 ítem sin instrumento</a:t>
            </a:r>
          </a:p>
        </p:txBody>
      </p:sp>
      <p:sp>
        <p:nvSpPr>
          <p:cNvPr id="49" name="Rounded Rectangle 48"/>
          <p:cNvSpPr/>
          <p:nvPr/>
        </p:nvSpPr>
        <p:spPr>
          <a:xfrm>
            <a:off x="568325" y="3815778"/>
            <a:ext cx="5429250" cy="504063"/>
          </a:xfrm>
          <a:prstGeom prst="roundRect">
            <a:avLst>
              <a:gd name="adj" fmla="val 1448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0400" y="3905875"/>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Intercambio CSV / DXF; memoria Q4 y Q9</a:t>
            </a:r>
          </a:p>
        </p:txBody>
      </p:sp>
      <p:sp>
        <p:nvSpPr>
          <p:cNvPr id="51" name="TextBox 50"/>
          <p:cNvSpPr txBox="1"/>
          <p:nvPr/>
        </p:nvSpPr>
        <p:spPr>
          <a:xfrm>
            <a:off x="660400" y="4094590"/>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Ida y vuelta e importación repetible</a:t>
            </a:r>
          </a:p>
        </p:txBody>
      </p:sp>
      <p:sp>
        <p:nvSpPr>
          <p:cNvPr id="52" name="Rounded Rectangle 51"/>
          <p:cNvSpPr/>
          <p:nvPr/>
        </p:nvSpPr>
        <p:spPr>
          <a:xfrm>
            <a:off x="3162300" y="3863404"/>
            <a:ext cx="1079500" cy="408813"/>
          </a:xfrm>
          <a:prstGeom prst="roundRect">
            <a:avLst>
              <a:gd name="adj" fmla="val 15532"/>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175000" y="3918915"/>
            <a:ext cx="1054100" cy="30734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Sin pérdida y sin</a:t>
            </a:r>
            <a:br/>
            <a:r>
              <a:rPr sz="1100" b="1" i="0">
                <a:solidFill>
                  <a:srgbClr val="1F2937"/>
                </a:solidFill>
                <a:latin typeface="Calibri"/>
              </a:rPr>
              <a:t>error</a:t>
            </a:r>
          </a:p>
        </p:txBody>
      </p:sp>
      <p:sp>
        <p:nvSpPr>
          <p:cNvPr id="54" name="Rounded Rectangle 53"/>
          <p:cNvSpPr/>
          <p:nvPr/>
        </p:nvSpPr>
        <p:spPr>
          <a:xfrm>
            <a:off x="4321175" y="3876675"/>
            <a:ext cx="1581150" cy="382206"/>
          </a:xfrm>
          <a:prstGeom prst="roundRect">
            <a:avLst>
              <a:gd name="adj" fmla="val 15783"/>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387850" y="3929799"/>
            <a:ext cx="1498600" cy="27432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Una entidad perdida o un</a:t>
            </a:r>
            <a:br/>
            <a:r>
              <a:rPr sz="900" b="1" i="0">
                <a:solidFill>
                  <a:srgbClr val="C0392B"/>
                </a:solidFill>
                <a:latin typeface="Calibri"/>
              </a:rPr>
              <a:t>error</a:t>
            </a:r>
          </a:p>
        </p:txBody>
      </p:sp>
      <p:sp>
        <p:nvSpPr>
          <p:cNvPr id="56" name="TextBox 55"/>
          <p:cNvSpPr txBox="1"/>
          <p:nvPr/>
        </p:nvSpPr>
        <p:spPr>
          <a:xfrm>
            <a:off x="6191250" y="1289876"/>
            <a:ext cx="5544312" cy="152400"/>
          </a:xfrm>
          <a:prstGeom prst="rect">
            <a:avLst/>
          </a:prstGeom>
          <a:noFill/>
        </p:spPr>
        <p:txBody>
          <a:bodyPr wrap="square" lIns="0" rIns="0" tIns="0" bIns="0" anchor="t"/>
          <a:lstStyle/>
          <a:p>
            <a:pPr algn="l">
              <a:lnSpc>
                <a:spcPts val="1200"/>
              </a:lnSpc>
              <a:spcBef>
                <a:spcPts val="0"/>
              </a:spcBef>
              <a:spcAft>
                <a:spcPts val="0"/>
              </a:spcAft>
            </a:pPr>
            <a:r>
              <a:rPr sz="1200" b="1" i="0" cap="all" spc="120">
                <a:solidFill>
                  <a:srgbClr val="1F77B4"/>
                </a:solidFill>
                <a:latin typeface="Calibri"/>
              </a:rPr>
              <a:t>(b) Verificabilidad</a:t>
            </a:r>
            <a:r>
              <a:rPr sz="950" b="1" i="0" spc="38">
                <a:solidFill>
                  <a:srgbClr val="5B6575"/>
                </a:solidFill>
                <a:latin typeface="Calibri"/>
              </a:rPr>
              <a:t> · umbral y lo que lo refutaría</a:t>
            </a:r>
          </a:p>
        </p:txBody>
      </p:sp>
      <p:sp>
        <p:nvSpPr>
          <p:cNvPr id="57" name="Rounded Rectangle 56"/>
          <p:cNvSpPr/>
          <p:nvPr/>
        </p:nvSpPr>
        <p:spPr>
          <a:xfrm>
            <a:off x="6194425" y="1511872"/>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86500" y="1558153"/>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Tasa L² del desplazamiento</a:t>
            </a:r>
          </a:p>
        </p:txBody>
      </p:sp>
      <p:sp>
        <p:nvSpPr>
          <p:cNvPr id="59" name="TextBox 58"/>
          <p:cNvSpPr txBox="1"/>
          <p:nvPr/>
        </p:nvSpPr>
        <p:spPr>
          <a:xfrm>
            <a:off x="6286500" y="1746868"/>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4 configuraciones · medio orden</a:t>
            </a:r>
          </a:p>
        </p:txBody>
      </p:sp>
      <p:sp>
        <p:nvSpPr>
          <p:cNvPr id="60" name="Rounded Rectangle 59"/>
          <p:cNvSpPr/>
          <p:nvPr/>
        </p:nvSpPr>
        <p:spPr>
          <a:xfrm>
            <a:off x="8788400" y="1592453"/>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801100" y="1647965"/>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teórica ± 0,5</a:t>
            </a:r>
          </a:p>
        </p:txBody>
      </p:sp>
      <p:sp>
        <p:nvSpPr>
          <p:cNvPr id="62" name="Rounded Rectangle 61"/>
          <p:cNvSpPr/>
          <p:nvPr/>
        </p:nvSpPr>
        <p:spPr>
          <a:xfrm>
            <a:off x="9947275" y="1597533"/>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013950" y="1650657"/>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Una tasa fuera de margen</a:t>
            </a:r>
          </a:p>
        </p:txBody>
      </p:sp>
      <p:sp>
        <p:nvSpPr>
          <p:cNvPr id="64" name="Rounded Rectangle 63"/>
          <p:cNvSpPr/>
          <p:nvPr/>
        </p:nvSpPr>
        <p:spPr>
          <a:xfrm>
            <a:off x="6194425" y="1972691"/>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86500" y="2018972"/>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Tasa H¹ del desplazamiento</a:t>
            </a:r>
          </a:p>
        </p:txBody>
      </p:sp>
      <p:sp>
        <p:nvSpPr>
          <p:cNvPr id="66" name="TextBox 65"/>
          <p:cNvSpPr txBox="1"/>
          <p:nvPr/>
        </p:nvSpPr>
        <p:spPr>
          <a:xfrm>
            <a:off x="6286500" y="2207624"/>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4 configuraciones · medio orden</a:t>
            </a:r>
          </a:p>
        </p:txBody>
      </p:sp>
      <p:sp>
        <p:nvSpPr>
          <p:cNvPr id="67" name="Rounded Rectangle 66"/>
          <p:cNvSpPr/>
          <p:nvPr/>
        </p:nvSpPr>
        <p:spPr>
          <a:xfrm>
            <a:off x="8788400" y="2053209"/>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01100" y="2108721"/>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teórica ± 0,5</a:t>
            </a:r>
          </a:p>
        </p:txBody>
      </p:sp>
      <p:sp>
        <p:nvSpPr>
          <p:cNvPr id="69" name="Rounded Rectangle 68"/>
          <p:cNvSpPr/>
          <p:nvPr/>
        </p:nvSpPr>
        <p:spPr>
          <a:xfrm>
            <a:off x="9947275" y="2058289"/>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013950" y="2111413"/>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Una tasa fuera de margen</a:t>
            </a:r>
          </a:p>
        </p:txBody>
      </p:sp>
      <p:sp>
        <p:nvSpPr>
          <p:cNvPr id="71" name="Rounded Rectangle 70"/>
          <p:cNvSpPr/>
          <p:nvPr/>
        </p:nvSpPr>
        <p:spPr>
          <a:xfrm>
            <a:off x="6194425" y="2433447"/>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86500" y="2479728"/>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Flecha frente a la analítica</a:t>
            </a:r>
          </a:p>
        </p:txBody>
      </p:sp>
      <p:sp>
        <p:nvSpPr>
          <p:cNvPr id="73" name="TextBox 72"/>
          <p:cNvSpPr txBox="1"/>
          <p:nvPr/>
        </p:nvSpPr>
        <p:spPr>
          <a:xfrm>
            <a:off x="6286500" y="2668444"/>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Timoshenko · tolerancia del autor</a:t>
            </a:r>
          </a:p>
        </p:txBody>
      </p:sp>
      <p:sp>
        <p:nvSpPr>
          <p:cNvPr id="74" name="Rounded Rectangle 73"/>
          <p:cNvSpPr/>
          <p:nvPr/>
        </p:nvSpPr>
        <p:spPr>
          <a:xfrm>
            <a:off x="8788400" y="2514028"/>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801100" y="2569540"/>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&lt; 3 %</a:t>
            </a:r>
          </a:p>
        </p:txBody>
      </p:sp>
      <p:sp>
        <p:nvSpPr>
          <p:cNvPr id="76" name="Rounded Rectangle 75"/>
          <p:cNvSpPr/>
          <p:nvPr/>
        </p:nvSpPr>
        <p:spPr>
          <a:xfrm>
            <a:off x="9947275" y="2519045"/>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013950" y="2572169"/>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 error mayor</a:t>
            </a:r>
          </a:p>
        </p:txBody>
      </p:sp>
      <p:sp>
        <p:nvSpPr>
          <p:cNvPr id="78" name="Rounded Rectangle 77"/>
          <p:cNvSpPr/>
          <p:nvPr/>
        </p:nvSpPr>
        <p:spPr>
          <a:xfrm>
            <a:off x="6194425" y="2894203"/>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86500" y="2940484"/>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σx frente a la analítica, 3 puntos</a:t>
            </a:r>
          </a:p>
        </p:txBody>
      </p:sp>
      <p:sp>
        <p:nvSpPr>
          <p:cNvPr id="80" name="TextBox 79"/>
          <p:cNvSpPr txBox="1"/>
          <p:nvPr/>
        </p:nvSpPr>
        <p:spPr>
          <a:xfrm>
            <a:off x="6286500" y="3129200"/>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Timoshenko · tolerancia del autor</a:t>
            </a:r>
          </a:p>
        </p:txBody>
      </p:sp>
      <p:sp>
        <p:nvSpPr>
          <p:cNvPr id="81" name="Rounded Rectangle 80"/>
          <p:cNvSpPr/>
          <p:nvPr/>
        </p:nvSpPr>
        <p:spPr>
          <a:xfrm>
            <a:off x="8788400" y="2974784"/>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801100" y="3030296"/>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&lt; 1 %</a:t>
            </a:r>
          </a:p>
        </p:txBody>
      </p:sp>
      <p:sp>
        <p:nvSpPr>
          <p:cNvPr id="83" name="Rounded Rectangle 82"/>
          <p:cNvSpPr/>
          <p:nvPr/>
        </p:nvSpPr>
        <p:spPr>
          <a:xfrm>
            <a:off x="9947275" y="2979864"/>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013950" y="3032989"/>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 valor mayor</a:t>
            </a:r>
          </a:p>
        </p:txBody>
      </p:sp>
      <p:sp>
        <p:nvSpPr>
          <p:cNvPr id="85" name="Rounded Rectangle 84"/>
          <p:cNvSpPr/>
          <p:nvPr/>
        </p:nvSpPr>
        <p:spPr>
          <a:xfrm>
            <a:off x="6194425" y="3354959"/>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86500" y="3401240"/>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σx frente a SAP2000, 3 puntos</a:t>
            </a:r>
          </a:p>
        </p:txBody>
      </p:sp>
      <p:sp>
        <p:nvSpPr>
          <p:cNvPr id="87" name="TextBox 86"/>
          <p:cNvSpPr txBox="1"/>
          <p:nvPr/>
        </p:nvSpPr>
        <p:spPr>
          <a:xfrm>
            <a:off x="6286500" y="3589956"/>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Diferencia, no error</a:t>
            </a:r>
          </a:p>
        </p:txBody>
      </p:sp>
      <p:sp>
        <p:nvSpPr>
          <p:cNvPr id="88" name="Rounded Rectangle 87"/>
          <p:cNvSpPr/>
          <p:nvPr/>
        </p:nvSpPr>
        <p:spPr>
          <a:xfrm>
            <a:off x="8788400" y="3435540"/>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801100" y="3491052"/>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&lt; 1 %</a:t>
            </a:r>
          </a:p>
        </p:txBody>
      </p:sp>
      <p:sp>
        <p:nvSpPr>
          <p:cNvPr id="90" name="Rounded Rectangle 89"/>
          <p:cNvSpPr/>
          <p:nvPr/>
        </p:nvSpPr>
        <p:spPr>
          <a:xfrm>
            <a:off x="9947275" y="3440621"/>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013950" y="3493745"/>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 valor mayor</a:t>
            </a:r>
          </a:p>
        </p:txBody>
      </p:sp>
      <p:sp>
        <p:nvSpPr>
          <p:cNvPr id="92" name="Rounded Rectangle 91"/>
          <p:cNvSpPr/>
          <p:nvPr/>
        </p:nvSpPr>
        <p:spPr>
          <a:xfrm>
            <a:off x="6194425" y="3815778"/>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286500" y="3862060"/>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Residuo del equilibrio de reacciones</a:t>
            </a:r>
          </a:p>
        </p:txBody>
      </p:sp>
      <p:sp>
        <p:nvSpPr>
          <p:cNvPr id="94" name="TextBox 93"/>
          <p:cNvSpPr txBox="1"/>
          <p:nvPr/>
        </p:nvSpPr>
        <p:spPr>
          <a:xfrm>
            <a:off x="6286500" y="4050712"/>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Cero numérico del motor</a:t>
            </a:r>
          </a:p>
        </p:txBody>
      </p:sp>
      <p:sp>
        <p:nvSpPr>
          <p:cNvPr id="95" name="Rounded Rectangle 94"/>
          <p:cNvSpPr/>
          <p:nvPr/>
        </p:nvSpPr>
        <p:spPr>
          <a:xfrm>
            <a:off x="8788400" y="3896296"/>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801100" y="3951808"/>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&lt; 10⁻⁸</a:t>
            </a:r>
          </a:p>
        </p:txBody>
      </p:sp>
      <p:sp>
        <p:nvSpPr>
          <p:cNvPr id="97" name="Rounded Rectangle 96"/>
          <p:cNvSpPr/>
          <p:nvPr/>
        </p:nvSpPr>
        <p:spPr>
          <a:xfrm>
            <a:off x="9947275" y="3901376"/>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013950" y="3954501"/>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 residuo mayor</a:t>
            </a:r>
          </a:p>
        </p:txBody>
      </p:sp>
      <p:sp>
        <p:nvSpPr>
          <p:cNvPr id="99" name="Rounded Rectangle 98"/>
          <p:cNvSpPr/>
          <p:nvPr/>
        </p:nvSpPr>
        <p:spPr>
          <a:xfrm>
            <a:off x="6194425" y="4276534"/>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286500" y="4322816"/>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Error con Q9 y N = 8 (Cook)</a:t>
            </a:r>
          </a:p>
        </p:txBody>
      </p:sp>
      <p:sp>
        <p:nvSpPr>
          <p:cNvPr id="101" name="TextBox 100"/>
          <p:cNvSpPr txBox="1"/>
          <p:nvPr/>
        </p:nvSpPr>
        <p:spPr>
          <a:xfrm>
            <a:off x="6286500" y="4511531"/>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Tolerancia del autor</a:t>
            </a:r>
          </a:p>
        </p:txBody>
      </p:sp>
      <p:sp>
        <p:nvSpPr>
          <p:cNvPr id="102" name="Rounded Rectangle 101"/>
          <p:cNvSpPr/>
          <p:nvPr/>
        </p:nvSpPr>
        <p:spPr>
          <a:xfrm>
            <a:off x="8788400" y="4357116"/>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801100" y="4412628"/>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&lt; 1,5 %</a:t>
            </a:r>
          </a:p>
        </p:txBody>
      </p:sp>
      <p:sp>
        <p:nvSpPr>
          <p:cNvPr id="104" name="Rounded Rectangle 103"/>
          <p:cNvSpPr/>
          <p:nvPr/>
        </p:nvSpPr>
        <p:spPr>
          <a:xfrm>
            <a:off x="9947275" y="4362132"/>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013950" y="4415257"/>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 error mayor</a:t>
            </a:r>
          </a:p>
        </p:txBody>
      </p:sp>
      <p:sp>
        <p:nvSpPr>
          <p:cNvPr id="106" name="Rounded Rectangle 105"/>
          <p:cNvSpPr/>
          <p:nvPr/>
        </p:nvSpPr>
        <p:spPr>
          <a:xfrm>
            <a:off x="6194425" y="4737290"/>
            <a:ext cx="5429250" cy="416306"/>
          </a:xfrm>
          <a:prstGeom prst="roundRect">
            <a:avLst>
              <a:gd name="adj" fmla="val 1754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286500" y="4783572"/>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Flecha Q4 &lt; Q9, misma malla</a:t>
            </a:r>
          </a:p>
        </p:txBody>
      </p:sp>
      <p:sp>
        <p:nvSpPr>
          <p:cNvPr id="108" name="TextBox 107"/>
          <p:cNvSpPr txBox="1"/>
          <p:nvPr/>
        </p:nvSpPr>
        <p:spPr>
          <a:xfrm>
            <a:off x="6286500" y="4972287"/>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Predicción: bloqueo por cortante</a:t>
            </a:r>
          </a:p>
        </p:txBody>
      </p:sp>
      <p:sp>
        <p:nvSpPr>
          <p:cNvPr id="109" name="Rounded Rectangle 108"/>
          <p:cNvSpPr/>
          <p:nvPr/>
        </p:nvSpPr>
        <p:spPr>
          <a:xfrm>
            <a:off x="8788400" y="4817872"/>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801100" y="4873384"/>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Se observa</a:t>
            </a:r>
          </a:p>
        </p:txBody>
      </p:sp>
      <p:sp>
        <p:nvSpPr>
          <p:cNvPr id="111" name="Rounded Rectangle 110"/>
          <p:cNvSpPr/>
          <p:nvPr/>
        </p:nvSpPr>
        <p:spPr>
          <a:xfrm>
            <a:off x="9947275" y="4822952"/>
            <a:ext cx="1581150" cy="245047"/>
          </a:xfrm>
          <a:prstGeom prst="roundRect">
            <a:avLst>
              <a:gd name="adj" fmla="val 24617"/>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013950" y="4876076"/>
            <a:ext cx="1498600" cy="13716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Que no se observe</a:t>
            </a:r>
          </a:p>
        </p:txBody>
      </p:sp>
      <p:sp>
        <p:nvSpPr>
          <p:cNvPr id="113" name="Rounded Rectangle 112"/>
          <p:cNvSpPr/>
          <p:nvPr/>
        </p:nvSpPr>
        <p:spPr>
          <a:xfrm>
            <a:off x="6194425" y="5198046"/>
            <a:ext cx="5429250" cy="483806"/>
          </a:xfrm>
          <a:prstGeom prst="roundRect">
            <a:avLst>
              <a:gd name="adj" fmla="val 1509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286500" y="5278110"/>
            <a:ext cx="2476500" cy="170434"/>
          </a:xfrm>
          <a:prstGeom prst="rect">
            <a:avLst/>
          </a:prstGeom>
          <a:noFill/>
        </p:spPr>
        <p:txBody>
          <a:bodyPr wrap="square" lIns="0" rIns="0" tIns="0" bIns="0" anchor="t"/>
          <a:lstStyle/>
          <a:p>
            <a:pPr algn="l">
              <a:lnSpc>
                <a:spcPts val="1342"/>
              </a:lnSpc>
              <a:spcBef>
                <a:spcPts val="0"/>
              </a:spcBef>
              <a:spcAft>
                <a:spcPts val="0"/>
              </a:spcAft>
            </a:pPr>
            <a:r>
              <a:rPr sz="1100" b="0" i="0">
                <a:solidFill>
                  <a:srgbClr val="1F2937"/>
                </a:solidFill>
                <a:latin typeface="Calibri"/>
              </a:rPr>
              <a:t>Memoria: etapas remitidas a su ecuación</a:t>
            </a:r>
          </a:p>
        </p:txBody>
      </p:sp>
      <p:sp>
        <p:nvSpPr>
          <p:cNvPr id="115" name="TextBox 114"/>
          <p:cNvSpPr txBox="1"/>
          <p:nvPr/>
        </p:nvSpPr>
        <p:spPr>
          <a:xfrm>
            <a:off x="6286500" y="5466762"/>
            <a:ext cx="2476500" cy="131699"/>
          </a:xfrm>
          <a:prstGeom prst="rect">
            <a:avLst/>
          </a:prstGeom>
          <a:noFill/>
        </p:spPr>
        <p:txBody>
          <a:bodyPr wrap="square" lIns="0" rIns="0" tIns="0" bIns="0" anchor="t"/>
          <a:lstStyle/>
          <a:p>
            <a:pPr algn="l">
              <a:lnSpc>
                <a:spcPts val="1037"/>
              </a:lnSpc>
              <a:spcBef>
                <a:spcPts val="0"/>
              </a:spcBef>
              <a:spcAft>
                <a:spcPts val="0"/>
              </a:spcAft>
            </a:pPr>
            <a:r>
              <a:rPr sz="850" b="0" i="0">
                <a:solidFill>
                  <a:srgbClr val="5B6575"/>
                </a:solidFill>
                <a:latin typeface="Calibri"/>
              </a:rPr>
              <a:t>Ejemplo canónico · Anexo G</a:t>
            </a:r>
          </a:p>
        </p:txBody>
      </p:sp>
      <p:sp>
        <p:nvSpPr>
          <p:cNvPr id="116" name="Rounded Rectangle 115"/>
          <p:cNvSpPr/>
          <p:nvPr/>
        </p:nvSpPr>
        <p:spPr>
          <a:xfrm>
            <a:off x="8788400" y="5312346"/>
            <a:ext cx="1079500" cy="255206"/>
          </a:xfrm>
          <a:prstGeom prst="roundRect">
            <a:avLst>
              <a:gd name="adj" fmla="val 24881"/>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801100" y="5367858"/>
            <a:ext cx="1054100"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1F2937"/>
                </a:solidFill>
                <a:latin typeface="Calibri"/>
              </a:rPr>
              <a:t>Todas</a:t>
            </a:r>
          </a:p>
        </p:txBody>
      </p:sp>
      <p:sp>
        <p:nvSpPr>
          <p:cNvPr id="118" name="Rounded Rectangle 117"/>
          <p:cNvSpPr/>
          <p:nvPr/>
        </p:nvSpPr>
        <p:spPr>
          <a:xfrm>
            <a:off x="9947275" y="5248846"/>
            <a:ext cx="1581150" cy="382206"/>
          </a:xfrm>
          <a:prstGeom prst="roundRect">
            <a:avLst>
              <a:gd name="adj" fmla="val 15783"/>
            </a:avLst>
          </a:prstGeom>
          <a:noFill/>
          <a:ln w="6350">
            <a:solidFill>
              <a:srgbClr val="C0392B">
                <a:alpha val="4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0013950" y="5301971"/>
            <a:ext cx="1498600" cy="274320"/>
          </a:xfrm>
          <a:prstGeom prst="rect">
            <a:avLst/>
          </a:prstGeom>
          <a:noFill/>
        </p:spPr>
        <p:txBody>
          <a:bodyPr wrap="square" lIns="0" rIns="0" tIns="0" bIns="0" anchor="t"/>
          <a:lstStyle/>
          <a:p>
            <a:pPr algn="l">
              <a:lnSpc>
                <a:spcPts val="1080"/>
              </a:lnSpc>
              <a:spcBef>
                <a:spcPts val="0"/>
              </a:spcBef>
              <a:spcAft>
                <a:spcPts val="0"/>
              </a:spcAft>
            </a:pPr>
            <a:r>
              <a:rPr sz="900" b="1" i="0">
                <a:solidFill>
                  <a:srgbClr val="C0392B"/>
                </a:solidFill>
                <a:latin typeface="Calibri"/>
              </a:rPr>
              <a:t>Una etapa sin desarrollo</a:t>
            </a:r>
            <a:br/>
            <a:r>
              <a:rPr sz="900" b="1" i="0">
                <a:solidFill>
                  <a:srgbClr val="C0392B"/>
                </a:solidFill>
                <a:latin typeface="Calibri"/>
              </a:rPr>
              <a:t>cotejable</a:t>
            </a:r>
          </a:p>
        </p:txBody>
      </p:sp>
      <p:sp>
        <p:nvSpPr>
          <p:cNvPr id="120" name="Rectangle 119"/>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3" name="TextBox 122"/>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2.1.6 · Tabla 2.4</a:t>
            </a:r>
          </a:p>
        </p:txBody>
      </p:sp>
      <p:sp>
        <p:nvSpPr>
          <p:cNvPr id="124" name="TextBox 123"/>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28</a:t>
            </a:r>
          </a:p>
        </p:txBody>
      </p:sp>
      <p:sp>
        <p:nvSpPr>
          <p:cNvPr id="125"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Enlace a sep-diseno">
            <a:hlinkClick action="ppaction://hlinksldjump" r:id="rId4"/>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5" fill="hold">
                      <p:stCondLst>
                        <p:cond delay="indefinite"/>
                      </p:stCondLst>
                      <p:childTnLst>
                        <p:par>
                          <p:cTn id="19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6"/>
                                        </p:tgtEl>
                                        <p:attrNameLst>
                                          <p:attrName>style.visibility</p:attrName>
                                        </p:attrNameLst>
                                      </p:cBhvr>
                                      <p:to>
                                        <p:strVal val="visible"/>
                                      </p:to>
                                    </p:set>
                                    <p:animEffect transition="in" filter="fade">
                                      <p:cBhvr>
                                        <p:cTn id="5" dur="400"/>
                                        <p:tgtEl>
                                          <p:spTgt spid="5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7"/>
                                        </p:tgtEl>
                                        <p:attrNameLst>
                                          <p:attrName>style.visibility</p:attrName>
                                        </p:attrNameLst>
                                      </p:cBhvr>
                                      <p:to>
                                        <p:strVal val="visible"/>
                                      </p:to>
                                    </p:set>
                                    <p:animEffect transition="in" filter="fade">
                                      <p:cBhvr>
                                        <p:cTn id="8" dur="400"/>
                                        <p:tgtEl>
                                          <p:spTgt spid="5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400"/>
                                        <p:tgtEl>
                                          <p:spTgt spid="5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fade">
                                      <p:cBhvr>
                                        <p:cTn id="14" dur="400"/>
                                        <p:tgtEl>
                                          <p:spTgt spid="5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fade">
                                      <p:cBhvr>
                                        <p:cTn id="17" dur="400"/>
                                        <p:tgtEl>
                                          <p:spTgt spid="6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fade">
                                      <p:cBhvr>
                                        <p:cTn id="20" dur="400"/>
                                        <p:tgtEl>
                                          <p:spTgt spid="6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fade">
                                      <p:cBhvr>
                                        <p:cTn id="23" dur="400"/>
                                        <p:tgtEl>
                                          <p:spTgt spid="6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fade">
                                      <p:cBhvr>
                                        <p:cTn id="26" dur="400"/>
                                        <p:tgtEl>
                                          <p:spTgt spid="6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fade">
                                      <p:cBhvr>
                                        <p:cTn id="29" dur="400"/>
                                        <p:tgtEl>
                                          <p:spTgt spid="6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fade">
                                      <p:cBhvr>
                                        <p:cTn id="32" dur="400"/>
                                        <p:tgtEl>
                                          <p:spTgt spid="6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fade">
                                      <p:cBhvr>
                                        <p:cTn id="35" dur="400"/>
                                        <p:tgtEl>
                                          <p:spTgt spid="6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7"/>
                                        </p:tgtEl>
                                        <p:attrNameLst>
                                          <p:attrName>style.visibility</p:attrName>
                                        </p:attrNameLst>
                                      </p:cBhvr>
                                      <p:to>
                                        <p:strVal val="visible"/>
                                      </p:to>
                                    </p:set>
                                    <p:animEffect transition="in" filter="fade">
                                      <p:cBhvr>
                                        <p:cTn id="38" dur="400"/>
                                        <p:tgtEl>
                                          <p:spTgt spid="6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8"/>
                                        </p:tgtEl>
                                        <p:attrNameLst>
                                          <p:attrName>style.visibility</p:attrName>
                                        </p:attrNameLst>
                                      </p:cBhvr>
                                      <p:to>
                                        <p:strVal val="visible"/>
                                      </p:to>
                                    </p:set>
                                    <p:animEffect transition="in" filter="fade">
                                      <p:cBhvr>
                                        <p:cTn id="41" dur="400"/>
                                        <p:tgtEl>
                                          <p:spTgt spid="6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9"/>
                                        </p:tgtEl>
                                        <p:attrNameLst>
                                          <p:attrName>style.visibility</p:attrName>
                                        </p:attrNameLst>
                                      </p:cBhvr>
                                      <p:to>
                                        <p:strVal val="visible"/>
                                      </p:to>
                                    </p:set>
                                    <p:animEffect transition="in" filter="fade">
                                      <p:cBhvr>
                                        <p:cTn id="44" dur="400"/>
                                        <p:tgtEl>
                                          <p:spTgt spid="6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fade">
                                      <p:cBhvr>
                                        <p:cTn id="47" dur="400"/>
                                        <p:tgtEl>
                                          <p:spTgt spid="7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1"/>
                                        </p:tgtEl>
                                        <p:attrNameLst>
                                          <p:attrName>style.visibility</p:attrName>
                                        </p:attrNameLst>
                                      </p:cBhvr>
                                      <p:to>
                                        <p:strVal val="visible"/>
                                      </p:to>
                                    </p:set>
                                    <p:animEffect transition="in" filter="fade">
                                      <p:cBhvr>
                                        <p:cTn id="50" dur="400"/>
                                        <p:tgtEl>
                                          <p:spTgt spid="7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2"/>
                                        </p:tgtEl>
                                        <p:attrNameLst>
                                          <p:attrName>style.visibility</p:attrName>
                                        </p:attrNameLst>
                                      </p:cBhvr>
                                      <p:to>
                                        <p:strVal val="visible"/>
                                      </p:to>
                                    </p:set>
                                    <p:animEffect transition="in" filter="fade">
                                      <p:cBhvr>
                                        <p:cTn id="53" dur="400"/>
                                        <p:tgtEl>
                                          <p:spTgt spid="7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73"/>
                                        </p:tgtEl>
                                        <p:attrNameLst>
                                          <p:attrName>style.visibility</p:attrName>
                                        </p:attrNameLst>
                                      </p:cBhvr>
                                      <p:to>
                                        <p:strVal val="visible"/>
                                      </p:to>
                                    </p:set>
                                    <p:animEffect transition="in" filter="fade">
                                      <p:cBhvr>
                                        <p:cTn id="56" dur="400"/>
                                        <p:tgtEl>
                                          <p:spTgt spid="7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74"/>
                                        </p:tgtEl>
                                        <p:attrNameLst>
                                          <p:attrName>style.visibility</p:attrName>
                                        </p:attrNameLst>
                                      </p:cBhvr>
                                      <p:to>
                                        <p:strVal val="visible"/>
                                      </p:to>
                                    </p:set>
                                    <p:animEffect transition="in" filter="fade">
                                      <p:cBhvr>
                                        <p:cTn id="59" dur="400"/>
                                        <p:tgtEl>
                                          <p:spTgt spid="7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75"/>
                                        </p:tgtEl>
                                        <p:attrNameLst>
                                          <p:attrName>style.visibility</p:attrName>
                                        </p:attrNameLst>
                                      </p:cBhvr>
                                      <p:to>
                                        <p:strVal val="visible"/>
                                      </p:to>
                                    </p:set>
                                    <p:animEffect transition="in" filter="fade">
                                      <p:cBhvr>
                                        <p:cTn id="62" dur="400"/>
                                        <p:tgtEl>
                                          <p:spTgt spid="7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6"/>
                                        </p:tgtEl>
                                        <p:attrNameLst>
                                          <p:attrName>style.visibility</p:attrName>
                                        </p:attrNameLst>
                                      </p:cBhvr>
                                      <p:to>
                                        <p:strVal val="visible"/>
                                      </p:to>
                                    </p:set>
                                    <p:animEffect transition="in" filter="fade">
                                      <p:cBhvr>
                                        <p:cTn id="65" dur="400"/>
                                        <p:tgtEl>
                                          <p:spTgt spid="7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7"/>
                                        </p:tgtEl>
                                        <p:attrNameLst>
                                          <p:attrName>style.visibility</p:attrName>
                                        </p:attrNameLst>
                                      </p:cBhvr>
                                      <p:to>
                                        <p:strVal val="visible"/>
                                      </p:to>
                                    </p:set>
                                    <p:animEffect transition="in" filter="fade">
                                      <p:cBhvr>
                                        <p:cTn id="68" dur="400"/>
                                        <p:tgtEl>
                                          <p:spTgt spid="7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78"/>
                                        </p:tgtEl>
                                        <p:attrNameLst>
                                          <p:attrName>style.visibility</p:attrName>
                                        </p:attrNameLst>
                                      </p:cBhvr>
                                      <p:to>
                                        <p:strVal val="visible"/>
                                      </p:to>
                                    </p:set>
                                    <p:animEffect transition="in" filter="fade">
                                      <p:cBhvr>
                                        <p:cTn id="71" dur="400"/>
                                        <p:tgtEl>
                                          <p:spTgt spid="7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79"/>
                                        </p:tgtEl>
                                        <p:attrNameLst>
                                          <p:attrName>style.visibility</p:attrName>
                                        </p:attrNameLst>
                                      </p:cBhvr>
                                      <p:to>
                                        <p:strVal val="visible"/>
                                      </p:to>
                                    </p:set>
                                    <p:animEffect transition="in" filter="fade">
                                      <p:cBhvr>
                                        <p:cTn id="74" dur="400"/>
                                        <p:tgtEl>
                                          <p:spTgt spid="7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80"/>
                                        </p:tgtEl>
                                        <p:attrNameLst>
                                          <p:attrName>style.visibility</p:attrName>
                                        </p:attrNameLst>
                                      </p:cBhvr>
                                      <p:to>
                                        <p:strVal val="visible"/>
                                      </p:to>
                                    </p:set>
                                    <p:animEffect transition="in" filter="fade">
                                      <p:cBhvr>
                                        <p:cTn id="77" dur="400"/>
                                        <p:tgtEl>
                                          <p:spTgt spid="8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81"/>
                                        </p:tgtEl>
                                        <p:attrNameLst>
                                          <p:attrName>style.visibility</p:attrName>
                                        </p:attrNameLst>
                                      </p:cBhvr>
                                      <p:to>
                                        <p:strVal val="visible"/>
                                      </p:to>
                                    </p:set>
                                    <p:animEffect transition="in" filter="fade">
                                      <p:cBhvr>
                                        <p:cTn id="80" dur="400"/>
                                        <p:tgtEl>
                                          <p:spTgt spid="8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82"/>
                                        </p:tgtEl>
                                        <p:attrNameLst>
                                          <p:attrName>style.visibility</p:attrName>
                                        </p:attrNameLst>
                                      </p:cBhvr>
                                      <p:to>
                                        <p:strVal val="visible"/>
                                      </p:to>
                                    </p:set>
                                    <p:animEffect transition="in" filter="fade">
                                      <p:cBhvr>
                                        <p:cTn id="83" dur="400"/>
                                        <p:tgtEl>
                                          <p:spTgt spid="8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83"/>
                                        </p:tgtEl>
                                        <p:attrNameLst>
                                          <p:attrName>style.visibility</p:attrName>
                                        </p:attrNameLst>
                                      </p:cBhvr>
                                      <p:to>
                                        <p:strVal val="visible"/>
                                      </p:to>
                                    </p:set>
                                    <p:animEffect transition="in" filter="fade">
                                      <p:cBhvr>
                                        <p:cTn id="86" dur="400"/>
                                        <p:tgtEl>
                                          <p:spTgt spid="8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84"/>
                                        </p:tgtEl>
                                        <p:attrNameLst>
                                          <p:attrName>style.visibility</p:attrName>
                                        </p:attrNameLst>
                                      </p:cBhvr>
                                      <p:to>
                                        <p:strVal val="visible"/>
                                      </p:to>
                                    </p:set>
                                    <p:animEffect transition="in" filter="fade">
                                      <p:cBhvr>
                                        <p:cTn id="89" dur="400"/>
                                        <p:tgtEl>
                                          <p:spTgt spid="8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85"/>
                                        </p:tgtEl>
                                        <p:attrNameLst>
                                          <p:attrName>style.visibility</p:attrName>
                                        </p:attrNameLst>
                                      </p:cBhvr>
                                      <p:to>
                                        <p:strVal val="visible"/>
                                      </p:to>
                                    </p:set>
                                    <p:animEffect transition="in" filter="fade">
                                      <p:cBhvr>
                                        <p:cTn id="92" dur="400"/>
                                        <p:tgtEl>
                                          <p:spTgt spid="8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86"/>
                                        </p:tgtEl>
                                        <p:attrNameLst>
                                          <p:attrName>style.visibility</p:attrName>
                                        </p:attrNameLst>
                                      </p:cBhvr>
                                      <p:to>
                                        <p:strVal val="visible"/>
                                      </p:to>
                                    </p:set>
                                    <p:animEffect transition="in" filter="fade">
                                      <p:cBhvr>
                                        <p:cTn id="95" dur="400"/>
                                        <p:tgtEl>
                                          <p:spTgt spid="8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87"/>
                                        </p:tgtEl>
                                        <p:attrNameLst>
                                          <p:attrName>style.visibility</p:attrName>
                                        </p:attrNameLst>
                                      </p:cBhvr>
                                      <p:to>
                                        <p:strVal val="visible"/>
                                      </p:to>
                                    </p:set>
                                    <p:animEffect transition="in" filter="fade">
                                      <p:cBhvr>
                                        <p:cTn id="98" dur="400"/>
                                        <p:tgtEl>
                                          <p:spTgt spid="8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88"/>
                                        </p:tgtEl>
                                        <p:attrNameLst>
                                          <p:attrName>style.visibility</p:attrName>
                                        </p:attrNameLst>
                                      </p:cBhvr>
                                      <p:to>
                                        <p:strVal val="visible"/>
                                      </p:to>
                                    </p:set>
                                    <p:animEffect transition="in" filter="fade">
                                      <p:cBhvr>
                                        <p:cTn id="101" dur="400"/>
                                        <p:tgtEl>
                                          <p:spTgt spid="8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89"/>
                                        </p:tgtEl>
                                        <p:attrNameLst>
                                          <p:attrName>style.visibility</p:attrName>
                                        </p:attrNameLst>
                                      </p:cBhvr>
                                      <p:to>
                                        <p:strVal val="visible"/>
                                      </p:to>
                                    </p:set>
                                    <p:animEffect transition="in" filter="fade">
                                      <p:cBhvr>
                                        <p:cTn id="104" dur="400"/>
                                        <p:tgtEl>
                                          <p:spTgt spid="89"/>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90"/>
                                        </p:tgtEl>
                                        <p:attrNameLst>
                                          <p:attrName>style.visibility</p:attrName>
                                        </p:attrNameLst>
                                      </p:cBhvr>
                                      <p:to>
                                        <p:strVal val="visible"/>
                                      </p:to>
                                    </p:set>
                                    <p:animEffect transition="in" filter="fade">
                                      <p:cBhvr>
                                        <p:cTn id="107" dur="400"/>
                                        <p:tgtEl>
                                          <p:spTgt spid="90"/>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91"/>
                                        </p:tgtEl>
                                        <p:attrNameLst>
                                          <p:attrName>style.visibility</p:attrName>
                                        </p:attrNameLst>
                                      </p:cBhvr>
                                      <p:to>
                                        <p:strVal val="visible"/>
                                      </p:to>
                                    </p:set>
                                    <p:animEffect transition="in" filter="fade">
                                      <p:cBhvr>
                                        <p:cTn id="110" dur="400"/>
                                        <p:tgtEl>
                                          <p:spTgt spid="91"/>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92"/>
                                        </p:tgtEl>
                                        <p:attrNameLst>
                                          <p:attrName>style.visibility</p:attrName>
                                        </p:attrNameLst>
                                      </p:cBhvr>
                                      <p:to>
                                        <p:strVal val="visible"/>
                                      </p:to>
                                    </p:set>
                                    <p:animEffect transition="in" filter="fade">
                                      <p:cBhvr>
                                        <p:cTn id="113" dur="400"/>
                                        <p:tgtEl>
                                          <p:spTgt spid="92"/>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93"/>
                                        </p:tgtEl>
                                        <p:attrNameLst>
                                          <p:attrName>style.visibility</p:attrName>
                                        </p:attrNameLst>
                                      </p:cBhvr>
                                      <p:to>
                                        <p:strVal val="visible"/>
                                      </p:to>
                                    </p:set>
                                    <p:animEffect transition="in" filter="fade">
                                      <p:cBhvr>
                                        <p:cTn id="116" dur="400"/>
                                        <p:tgtEl>
                                          <p:spTgt spid="9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94"/>
                                        </p:tgtEl>
                                        <p:attrNameLst>
                                          <p:attrName>style.visibility</p:attrName>
                                        </p:attrNameLst>
                                      </p:cBhvr>
                                      <p:to>
                                        <p:strVal val="visible"/>
                                      </p:to>
                                    </p:set>
                                    <p:animEffect transition="in" filter="fade">
                                      <p:cBhvr>
                                        <p:cTn id="119" dur="400"/>
                                        <p:tgtEl>
                                          <p:spTgt spid="9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95"/>
                                        </p:tgtEl>
                                        <p:attrNameLst>
                                          <p:attrName>style.visibility</p:attrName>
                                        </p:attrNameLst>
                                      </p:cBhvr>
                                      <p:to>
                                        <p:strVal val="visible"/>
                                      </p:to>
                                    </p:set>
                                    <p:animEffect transition="in" filter="fade">
                                      <p:cBhvr>
                                        <p:cTn id="122" dur="400"/>
                                        <p:tgtEl>
                                          <p:spTgt spid="95"/>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96"/>
                                        </p:tgtEl>
                                        <p:attrNameLst>
                                          <p:attrName>style.visibility</p:attrName>
                                        </p:attrNameLst>
                                      </p:cBhvr>
                                      <p:to>
                                        <p:strVal val="visible"/>
                                      </p:to>
                                    </p:set>
                                    <p:animEffect transition="in" filter="fade">
                                      <p:cBhvr>
                                        <p:cTn id="125" dur="400"/>
                                        <p:tgtEl>
                                          <p:spTgt spid="96"/>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97"/>
                                        </p:tgtEl>
                                        <p:attrNameLst>
                                          <p:attrName>style.visibility</p:attrName>
                                        </p:attrNameLst>
                                      </p:cBhvr>
                                      <p:to>
                                        <p:strVal val="visible"/>
                                      </p:to>
                                    </p:set>
                                    <p:animEffect transition="in" filter="fade">
                                      <p:cBhvr>
                                        <p:cTn id="128" dur="400"/>
                                        <p:tgtEl>
                                          <p:spTgt spid="97"/>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98"/>
                                        </p:tgtEl>
                                        <p:attrNameLst>
                                          <p:attrName>style.visibility</p:attrName>
                                        </p:attrNameLst>
                                      </p:cBhvr>
                                      <p:to>
                                        <p:strVal val="visible"/>
                                      </p:to>
                                    </p:set>
                                    <p:animEffect transition="in" filter="fade">
                                      <p:cBhvr>
                                        <p:cTn id="131" dur="400"/>
                                        <p:tgtEl>
                                          <p:spTgt spid="98"/>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99"/>
                                        </p:tgtEl>
                                        <p:attrNameLst>
                                          <p:attrName>style.visibility</p:attrName>
                                        </p:attrNameLst>
                                      </p:cBhvr>
                                      <p:to>
                                        <p:strVal val="visible"/>
                                      </p:to>
                                    </p:set>
                                    <p:animEffect transition="in" filter="fade">
                                      <p:cBhvr>
                                        <p:cTn id="134" dur="400"/>
                                        <p:tgtEl>
                                          <p:spTgt spid="99"/>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100"/>
                                        </p:tgtEl>
                                        <p:attrNameLst>
                                          <p:attrName>style.visibility</p:attrName>
                                        </p:attrNameLst>
                                      </p:cBhvr>
                                      <p:to>
                                        <p:strVal val="visible"/>
                                      </p:to>
                                    </p:set>
                                    <p:animEffect transition="in" filter="fade">
                                      <p:cBhvr>
                                        <p:cTn id="137" dur="400"/>
                                        <p:tgtEl>
                                          <p:spTgt spid="100"/>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101"/>
                                        </p:tgtEl>
                                        <p:attrNameLst>
                                          <p:attrName>style.visibility</p:attrName>
                                        </p:attrNameLst>
                                      </p:cBhvr>
                                      <p:to>
                                        <p:strVal val="visible"/>
                                      </p:to>
                                    </p:set>
                                    <p:animEffect transition="in" filter="fade">
                                      <p:cBhvr>
                                        <p:cTn id="140" dur="400"/>
                                        <p:tgtEl>
                                          <p:spTgt spid="10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102"/>
                                        </p:tgtEl>
                                        <p:attrNameLst>
                                          <p:attrName>style.visibility</p:attrName>
                                        </p:attrNameLst>
                                      </p:cBhvr>
                                      <p:to>
                                        <p:strVal val="visible"/>
                                      </p:to>
                                    </p:set>
                                    <p:animEffect transition="in" filter="fade">
                                      <p:cBhvr>
                                        <p:cTn id="143" dur="400"/>
                                        <p:tgtEl>
                                          <p:spTgt spid="102"/>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103"/>
                                        </p:tgtEl>
                                        <p:attrNameLst>
                                          <p:attrName>style.visibility</p:attrName>
                                        </p:attrNameLst>
                                      </p:cBhvr>
                                      <p:to>
                                        <p:strVal val="visible"/>
                                      </p:to>
                                    </p:set>
                                    <p:animEffect transition="in" filter="fade">
                                      <p:cBhvr>
                                        <p:cTn id="146" dur="400"/>
                                        <p:tgtEl>
                                          <p:spTgt spid="10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104"/>
                                        </p:tgtEl>
                                        <p:attrNameLst>
                                          <p:attrName>style.visibility</p:attrName>
                                        </p:attrNameLst>
                                      </p:cBhvr>
                                      <p:to>
                                        <p:strVal val="visible"/>
                                      </p:to>
                                    </p:set>
                                    <p:animEffect transition="in" filter="fade">
                                      <p:cBhvr>
                                        <p:cTn id="149" dur="400"/>
                                        <p:tgtEl>
                                          <p:spTgt spid="104"/>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105"/>
                                        </p:tgtEl>
                                        <p:attrNameLst>
                                          <p:attrName>style.visibility</p:attrName>
                                        </p:attrNameLst>
                                      </p:cBhvr>
                                      <p:to>
                                        <p:strVal val="visible"/>
                                      </p:to>
                                    </p:set>
                                    <p:animEffect transition="in" filter="fade">
                                      <p:cBhvr>
                                        <p:cTn id="152" dur="400"/>
                                        <p:tgtEl>
                                          <p:spTgt spid="105"/>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106"/>
                                        </p:tgtEl>
                                        <p:attrNameLst>
                                          <p:attrName>style.visibility</p:attrName>
                                        </p:attrNameLst>
                                      </p:cBhvr>
                                      <p:to>
                                        <p:strVal val="visible"/>
                                      </p:to>
                                    </p:set>
                                    <p:animEffect transition="in" filter="fade">
                                      <p:cBhvr>
                                        <p:cTn id="155" dur="400"/>
                                        <p:tgtEl>
                                          <p:spTgt spid="106"/>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107"/>
                                        </p:tgtEl>
                                        <p:attrNameLst>
                                          <p:attrName>style.visibility</p:attrName>
                                        </p:attrNameLst>
                                      </p:cBhvr>
                                      <p:to>
                                        <p:strVal val="visible"/>
                                      </p:to>
                                    </p:set>
                                    <p:animEffect transition="in" filter="fade">
                                      <p:cBhvr>
                                        <p:cTn id="158" dur="400"/>
                                        <p:tgtEl>
                                          <p:spTgt spid="107"/>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108"/>
                                        </p:tgtEl>
                                        <p:attrNameLst>
                                          <p:attrName>style.visibility</p:attrName>
                                        </p:attrNameLst>
                                      </p:cBhvr>
                                      <p:to>
                                        <p:strVal val="visible"/>
                                      </p:to>
                                    </p:set>
                                    <p:animEffect transition="in" filter="fade">
                                      <p:cBhvr>
                                        <p:cTn id="161" dur="400"/>
                                        <p:tgtEl>
                                          <p:spTgt spid="108"/>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109"/>
                                        </p:tgtEl>
                                        <p:attrNameLst>
                                          <p:attrName>style.visibility</p:attrName>
                                        </p:attrNameLst>
                                      </p:cBhvr>
                                      <p:to>
                                        <p:strVal val="visible"/>
                                      </p:to>
                                    </p:set>
                                    <p:animEffect transition="in" filter="fade">
                                      <p:cBhvr>
                                        <p:cTn id="164" dur="400"/>
                                        <p:tgtEl>
                                          <p:spTgt spid="109"/>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110"/>
                                        </p:tgtEl>
                                        <p:attrNameLst>
                                          <p:attrName>style.visibility</p:attrName>
                                        </p:attrNameLst>
                                      </p:cBhvr>
                                      <p:to>
                                        <p:strVal val="visible"/>
                                      </p:to>
                                    </p:set>
                                    <p:animEffect transition="in" filter="fade">
                                      <p:cBhvr>
                                        <p:cTn id="167" dur="400"/>
                                        <p:tgtEl>
                                          <p:spTgt spid="110"/>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111"/>
                                        </p:tgtEl>
                                        <p:attrNameLst>
                                          <p:attrName>style.visibility</p:attrName>
                                        </p:attrNameLst>
                                      </p:cBhvr>
                                      <p:to>
                                        <p:strVal val="visible"/>
                                      </p:to>
                                    </p:set>
                                    <p:animEffect transition="in" filter="fade">
                                      <p:cBhvr>
                                        <p:cTn id="170" dur="400"/>
                                        <p:tgtEl>
                                          <p:spTgt spid="111"/>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112"/>
                                        </p:tgtEl>
                                        <p:attrNameLst>
                                          <p:attrName>style.visibility</p:attrName>
                                        </p:attrNameLst>
                                      </p:cBhvr>
                                      <p:to>
                                        <p:strVal val="visible"/>
                                      </p:to>
                                    </p:set>
                                    <p:animEffect transition="in" filter="fade">
                                      <p:cBhvr>
                                        <p:cTn id="173" dur="400"/>
                                        <p:tgtEl>
                                          <p:spTgt spid="112"/>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113"/>
                                        </p:tgtEl>
                                        <p:attrNameLst>
                                          <p:attrName>style.visibility</p:attrName>
                                        </p:attrNameLst>
                                      </p:cBhvr>
                                      <p:to>
                                        <p:strVal val="visible"/>
                                      </p:to>
                                    </p:set>
                                    <p:animEffect transition="in" filter="fade">
                                      <p:cBhvr>
                                        <p:cTn id="176" dur="400"/>
                                        <p:tgtEl>
                                          <p:spTgt spid="113"/>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114"/>
                                        </p:tgtEl>
                                        <p:attrNameLst>
                                          <p:attrName>style.visibility</p:attrName>
                                        </p:attrNameLst>
                                      </p:cBhvr>
                                      <p:to>
                                        <p:strVal val="visible"/>
                                      </p:to>
                                    </p:set>
                                    <p:animEffect transition="in" filter="fade">
                                      <p:cBhvr>
                                        <p:cTn id="179" dur="400"/>
                                        <p:tgtEl>
                                          <p:spTgt spid="114"/>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115"/>
                                        </p:tgtEl>
                                        <p:attrNameLst>
                                          <p:attrName>style.visibility</p:attrName>
                                        </p:attrNameLst>
                                      </p:cBhvr>
                                      <p:to>
                                        <p:strVal val="visible"/>
                                      </p:to>
                                    </p:set>
                                    <p:animEffect transition="in" filter="fade">
                                      <p:cBhvr>
                                        <p:cTn id="182" dur="400"/>
                                        <p:tgtEl>
                                          <p:spTgt spid="115"/>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116"/>
                                        </p:tgtEl>
                                        <p:attrNameLst>
                                          <p:attrName>style.visibility</p:attrName>
                                        </p:attrNameLst>
                                      </p:cBhvr>
                                      <p:to>
                                        <p:strVal val="visible"/>
                                      </p:to>
                                    </p:set>
                                    <p:animEffect transition="in" filter="fade">
                                      <p:cBhvr>
                                        <p:cTn id="185" dur="400"/>
                                        <p:tgtEl>
                                          <p:spTgt spid="116"/>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117"/>
                                        </p:tgtEl>
                                        <p:attrNameLst>
                                          <p:attrName>style.visibility</p:attrName>
                                        </p:attrNameLst>
                                      </p:cBhvr>
                                      <p:to>
                                        <p:strVal val="visible"/>
                                      </p:to>
                                    </p:set>
                                    <p:animEffect transition="in" filter="fade">
                                      <p:cBhvr>
                                        <p:cTn id="188" dur="400"/>
                                        <p:tgtEl>
                                          <p:spTgt spid="117"/>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118"/>
                                        </p:tgtEl>
                                        <p:attrNameLst>
                                          <p:attrName>style.visibility</p:attrName>
                                        </p:attrNameLst>
                                      </p:cBhvr>
                                      <p:to>
                                        <p:strVal val="visible"/>
                                      </p:to>
                                    </p:set>
                                    <p:animEffect transition="in" filter="fade">
                                      <p:cBhvr>
                                        <p:cTn id="191" dur="400"/>
                                        <p:tgtEl>
                                          <p:spTgt spid="118"/>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119"/>
                                        </p:tgtEl>
                                        <p:attrNameLst>
                                          <p:attrName>style.visibility</p:attrName>
                                        </p:attrNameLst>
                                      </p:cBhvr>
                                      <p:to>
                                        <p:strVal val="visible"/>
                                      </p:to>
                                    </p:set>
                                    <p:animEffect transition="in" filter="fade">
                                      <p:cBhvr>
                                        <p:cTn id="194" dur="4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Seis capas en torno a un solo modelo de proyecto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2fbef1358530bfd.png"/>
          <p:cNvPicPr>
            <a:picLocks noChangeAspect="1"/>
          </p:cNvPicPr>
          <p:nvPr/>
        </p:nvPicPr>
        <p:blipFill>
          <a:blip r:embed="rId2"/>
          <a:stretch>
            <a:fillRect/>
          </a:stretch>
        </p:blipFill>
        <p:spPr>
          <a:xfrm>
            <a:off x="635000" y="1435100"/>
            <a:ext cx="10922000" cy="4445000"/>
          </a:xfrm>
          <a:prstGeom prst="rect">
            <a:avLst/>
          </a:prstGeom>
        </p:spPr>
      </p:pic>
      <p:pic>
        <p:nvPicPr>
          <p:cNvPr id="14" name="Picture 13" descr="3f39493ff8d43707.png"/>
          <p:cNvPicPr>
            <a:picLocks noChangeAspect="1"/>
          </p:cNvPicPr>
          <p:nvPr/>
        </p:nvPicPr>
        <p:blipFill>
          <a:blip r:embed="rId3"/>
          <a:stretch>
            <a:fillRect/>
          </a:stretch>
        </p:blipFill>
        <p:spPr>
          <a:xfrm>
            <a:off x="635000" y="1435100"/>
            <a:ext cx="10922000" cy="4445000"/>
          </a:xfrm>
          <a:prstGeom prst="rect">
            <a:avLst/>
          </a:prstGeom>
        </p:spPr>
      </p:pic>
      <p:sp>
        <p:nvSpPr>
          <p:cNvPr id="15" name="TextBox 14"/>
          <p:cNvSpPr txBox="1"/>
          <p:nvPr/>
        </p:nvSpPr>
        <p:spPr>
          <a:xfrm>
            <a:off x="635000" y="4917641"/>
            <a:ext cx="1114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5B6575"/>
                </a:solidFill>
                <a:latin typeface="Calibri"/>
              </a:rPr>
              <a:t>Tecnologías empleadas (Tabla 2.5)</a:t>
            </a:r>
          </a:p>
        </p:txBody>
      </p:sp>
      <p:sp>
        <p:nvSpPr>
          <p:cNvPr id="16" name="Rounded Rectangle 15"/>
          <p:cNvSpPr/>
          <p:nvPr/>
        </p:nvSpPr>
        <p:spPr>
          <a:xfrm>
            <a:off x="638175" y="5133975"/>
            <a:ext cx="579310" cy="273050"/>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0250" y="5193372"/>
            <a:ext cx="445960"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1F2937"/>
                </a:solidFill>
                <a:latin typeface="Calibri"/>
              </a:rPr>
              <a:t>Python</a:t>
            </a:r>
          </a:p>
        </p:txBody>
      </p:sp>
      <p:sp>
        <p:nvSpPr>
          <p:cNvPr id="18" name="Rounded Rectangle 17"/>
          <p:cNvSpPr/>
          <p:nvPr/>
        </p:nvSpPr>
        <p:spPr>
          <a:xfrm>
            <a:off x="1287336" y="5133975"/>
            <a:ext cx="967867" cy="273050"/>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9410" y="5193372"/>
            <a:ext cx="834517"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1F2937"/>
                </a:solidFill>
                <a:latin typeface="Calibri"/>
              </a:rPr>
              <a:t>NumPy · SciPy</a:t>
            </a:r>
          </a:p>
        </p:txBody>
      </p:sp>
      <p:sp>
        <p:nvSpPr>
          <p:cNvPr id="20" name="Rounded Rectangle 19"/>
          <p:cNvSpPr/>
          <p:nvPr/>
        </p:nvSpPr>
        <p:spPr>
          <a:xfrm>
            <a:off x="2325116" y="5133975"/>
            <a:ext cx="1388046" cy="273050"/>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7191" y="5193372"/>
            <a:ext cx="1254696"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1F2937"/>
                </a:solidFill>
                <a:latin typeface="Calibri"/>
              </a:rPr>
              <a:t>tkinter + ttkbootstrap</a:t>
            </a:r>
          </a:p>
        </p:txBody>
      </p:sp>
      <p:sp>
        <p:nvSpPr>
          <p:cNvPr id="22" name="Rounded Rectangle 21"/>
          <p:cNvSpPr/>
          <p:nvPr/>
        </p:nvSpPr>
        <p:spPr>
          <a:xfrm>
            <a:off x="3783012" y="5133975"/>
            <a:ext cx="1174940" cy="273050"/>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75088" y="5193372"/>
            <a:ext cx="1041590"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1F2937"/>
                </a:solidFill>
                <a:latin typeface="Calibri"/>
              </a:rPr>
              <a:t>pylatex + TeX Live</a:t>
            </a:r>
          </a:p>
        </p:txBody>
      </p:sp>
      <p:sp>
        <p:nvSpPr>
          <p:cNvPr id="24" name="Rounded Rectangle 23"/>
          <p:cNvSpPr/>
          <p:nvPr/>
        </p:nvSpPr>
        <p:spPr>
          <a:xfrm>
            <a:off x="5027803" y="5133975"/>
            <a:ext cx="722694" cy="273050"/>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19878" y="5193372"/>
            <a:ext cx="589344"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1F2937"/>
                </a:solidFill>
                <a:latin typeface="Calibri"/>
              </a:rPr>
              <a:t>PyMuPDF</a:t>
            </a:r>
          </a:p>
        </p:txBody>
      </p:sp>
      <p:sp>
        <p:nvSpPr>
          <p:cNvPr id="26" name="Rounded Rectangle 25"/>
          <p:cNvSpPr/>
          <p:nvPr/>
        </p:nvSpPr>
        <p:spPr>
          <a:xfrm>
            <a:off x="5820346" y="5133975"/>
            <a:ext cx="479298" cy="273050"/>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12422" y="5193372"/>
            <a:ext cx="345948"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1F2937"/>
                </a:solidFill>
                <a:latin typeface="Calibri"/>
              </a:rPr>
              <a:t>ezdxf</a:t>
            </a:r>
          </a:p>
        </p:txBody>
      </p:sp>
      <p:sp>
        <p:nvSpPr>
          <p:cNvPr id="28" name="Rounded Rectangle 27"/>
          <p:cNvSpPr/>
          <p:nvPr/>
        </p:nvSpPr>
        <p:spPr>
          <a:xfrm>
            <a:off x="6369558" y="5133975"/>
            <a:ext cx="524446" cy="273050"/>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1633" y="5193372"/>
            <a:ext cx="391096"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1F2937"/>
                </a:solidFill>
                <a:latin typeface="Calibri"/>
              </a:rPr>
              <a:t>Pillow</a:t>
            </a:r>
          </a:p>
        </p:txBody>
      </p:sp>
      <p:sp>
        <p:nvSpPr>
          <p:cNvPr id="30" name="Rounded Rectangle 29"/>
          <p:cNvSpPr/>
          <p:nvPr/>
        </p:nvSpPr>
        <p:spPr>
          <a:xfrm>
            <a:off x="6963854" y="5133975"/>
            <a:ext cx="1044004" cy="273050"/>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55930" y="5193372"/>
            <a:ext cx="910654"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1F2937"/>
                </a:solidFill>
                <a:latin typeface="Calibri"/>
              </a:rPr>
              <a:t>manim (videos)</a:t>
            </a:r>
          </a:p>
        </p:txBody>
      </p:sp>
      <p:sp>
        <p:nvSpPr>
          <p:cNvPr id="32" name="Rounded Rectangle 31"/>
          <p:cNvSpPr/>
          <p:nvPr/>
        </p:nvSpPr>
        <p:spPr>
          <a:xfrm>
            <a:off x="8077708" y="5133975"/>
            <a:ext cx="1497394" cy="273050"/>
          </a:xfrm>
          <a:prstGeom prst="roundRect">
            <a:avLst>
              <a:gd name="adj" fmla="val 50000"/>
            </a:avLst>
          </a:prstGeom>
          <a:solidFill>
            <a:srgbClr val="EAF0FA"/>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69783" y="5193372"/>
            <a:ext cx="1364044"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1F2937"/>
                </a:solidFill>
                <a:latin typeface="Calibri"/>
              </a:rPr>
              <a:t>PyInstaller + Inno Setup</a:t>
            </a:r>
          </a:p>
        </p:txBody>
      </p:sp>
      <p:sp>
        <p:nvSpPr>
          <p:cNvPr id="34" name="TextBox 33"/>
          <p:cNvSpPr txBox="1"/>
          <p:nvPr/>
        </p:nvSpPr>
        <p:spPr>
          <a:xfrm>
            <a:off x="635000" y="5484209"/>
            <a:ext cx="11140440"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Todas de código abierto. Salvo manim, con la que los videos se generan antes de empaquetar, todas van dentro del instalador, incluido el TeX Live que compila la</a:t>
            </a:r>
            <a:br/>
            <a:r>
              <a:rPr sz="1250" b="0" i="0">
                <a:solidFill>
                  <a:srgbClr val="5B6575"/>
                </a:solidFill>
                <a:latin typeface="Calibri"/>
              </a:rPr>
              <a:t>memoria. PyMuPDF se distribuye bajo AGPL-3.0 (nota de la Tabla 2.5).</a:t>
            </a:r>
          </a:p>
        </p:txBody>
      </p:sp>
      <p:sp>
        <p:nvSpPr>
          <p:cNvPr id="35" name="Rounded Rectangle 34"/>
          <p:cNvSpPr/>
          <p:nvPr/>
        </p:nvSpPr>
        <p:spPr>
          <a:xfrm>
            <a:off x="635000" y="4445000"/>
            <a:ext cx="10922000" cy="349822"/>
          </a:xfrm>
          <a:prstGeom prst="roundRect">
            <a:avLst>
              <a:gd name="adj" fmla="val 29043"/>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7400" y="4510411"/>
            <a:ext cx="10829544" cy="222885"/>
          </a:xfrm>
          <a:prstGeom prst="rect">
            <a:avLst/>
          </a:prstGeom>
          <a:noFill/>
        </p:spPr>
        <p:txBody>
          <a:bodyPr wrap="square" lIns="0" rIns="0" tIns="0" bIns="0" anchor="t"/>
          <a:lstStyle/>
          <a:p>
            <a:pPr algn="l">
              <a:lnSpc>
                <a:spcPts val="1755"/>
              </a:lnSpc>
              <a:spcBef>
                <a:spcPts val="0"/>
              </a:spcBef>
              <a:spcAft>
                <a:spcPts val="0"/>
              </a:spcAft>
            </a:pPr>
            <a:r>
              <a:rPr sz="1350" b="0" i="0">
                <a:solidFill>
                  <a:srgbClr val="1F2937"/>
                </a:solidFill>
                <a:latin typeface="Calibri"/>
              </a:rPr>
              <a:t>Módulos, memoria y guiones de verificación llaman a</a:t>
            </a:r>
            <a:r>
              <a:rPr sz="1350" b="1" i="0">
                <a:solidFill>
                  <a:srgbClr val="1F2937"/>
                </a:solidFill>
                <a:latin typeface="Calibri"/>
              </a:rPr>
              <a:t> las mismas funciones del motor</a:t>
            </a:r>
            <a:r>
              <a:rPr sz="1350" b="0" i="0">
                <a:solidFill>
                  <a:srgbClr val="1F2937"/>
                </a:solidFill>
                <a:latin typeface="Calibri"/>
              </a:rPr>
              <a:t>: lo expuesto es lo que se calculó.</a:t>
            </a:r>
          </a:p>
        </p:txBody>
      </p:sp>
      <p:sp>
        <p:nvSpPr>
          <p:cNvPr id="37" name="Rectangle 3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5150" y="6535420"/>
            <a:ext cx="469868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0" name="TextBox 39"/>
          <p:cNvSpPr txBox="1"/>
          <p:nvPr/>
        </p:nvSpPr>
        <p:spPr>
          <a:xfrm>
            <a:off x="5146294" y="6535420"/>
            <a:ext cx="189934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2.2.2–2.2.3 · Tablas 2.5 y 2.6</a:t>
            </a:r>
          </a:p>
        </p:txBody>
      </p:sp>
      <p:sp>
        <p:nvSpPr>
          <p:cNvPr id="41" name="TextBox 40"/>
          <p:cNvSpPr txBox="1"/>
          <p:nvPr/>
        </p:nvSpPr>
        <p:spPr>
          <a:xfrm>
            <a:off x="6928104" y="6535420"/>
            <a:ext cx="469874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29</a:t>
            </a:r>
          </a:p>
        </p:txBody>
      </p:sp>
      <p:sp>
        <p:nvSpPr>
          <p:cNvPr id="42" name="Enlace a sep-intro">
            <a:hlinkClick action="ppaction://hlinksldjump" r:id="rId4"/>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nlace a sep-teoria">
            <a:hlinkClick action="ppaction://hlinksldjump" r:id="rId5"/>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nlace a sep-diseno">
            <a:hlinkClick action="ppaction://hlinksldjump" r:id="rId6"/>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nlace a sep-resultados">
            <a:hlinkClick action="ppaction://hlinksldjump" r:id="rId7"/>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nlace a sep-analisis">
            <a:hlinkClick action="ppaction://hlinksldjump" r:id="rId8"/>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nlace a sep-conclusiones">
            <a:hlinkClick action="ppaction://hlinksldjump" r:id="rId9"/>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5" fill="hold">
                      <p:stCondLst>
                        <p:cond delay="indefinite"/>
                      </p:stCondLst>
                      <p:childTnLst>
                        <p:par>
                          <p:cTn id="7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00"/>
                                        <p:tgtEl>
                                          <p:spTgt spid="1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400"/>
                                        <p:tgtEl>
                                          <p:spTgt spid="1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00"/>
                                        <p:tgtEl>
                                          <p:spTgt spid="1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400"/>
                                        <p:tgtEl>
                                          <p:spTgt spid="2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4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0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00"/>
                                        <p:tgtEl>
                                          <p:spTgt spid="2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400"/>
                                        <p:tgtEl>
                                          <p:spTgt spid="2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400"/>
                                        <p:tgtEl>
                                          <p:spTgt spid="2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400"/>
                                        <p:tgtEl>
                                          <p:spTgt spid="2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4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400"/>
                                        <p:tgtEl>
                                          <p:spTgt spid="3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400"/>
                                        <p:tgtEl>
                                          <p:spTgt spid="3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400"/>
                                        <p:tgtEl>
                                          <p:spTgt spid="3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400"/>
                                        <p:tgtEl>
                                          <p:spTgt spid="34"/>
                                        </p:tgtEl>
                                      </p:cBhvr>
                                    </p:animEffect>
                                  </p:childTnLst>
                                </p:cTn>
                              </p:par>
                            </p:childTnLst>
                          </p:cTn>
                        </p:par>
                      </p:childTnLst>
                    </p:cTn>
                  </p:par>
                  <p:par>
                    <p:cTn id="77" fill="hold">
                      <p:stCondLst>
                        <p:cond delay="indefinite"/>
                      </p:stCondLst>
                      <p:childTnLst>
                        <p:par>
                          <p:cTn id="78" fill="hold">
                            <p:stCondLst>
                              <p:cond delay="0"/>
                            </p:stCondLst>
                            <p:childTnLst>
                              <p:par>
                                <p:cTn id="63" presetID="10" presetClass="exit" presetSubtype="0" fill="hold" grpId="0" nodeType="clickEffect">
                                  <p:stCondLst>
                                    <p:cond delay="0"/>
                                  </p:stCondLst>
                                  <p:childTnLst>
                                    <p:animEffect transition="out" filter="fade">
                                      <p:cBhvr>
                                        <p:cTn id="64" dur="200"/>
                                        <p:tgtEl>
                                          <p:spTgt spid="14"/>
                                        </p:tgtEl>
                                      </p:cBhvr>
                                    </p:animEffect>
                                    <p:set>
                                      <p:cBhvr>
                                        <p:cTn id="65" dur="1" fill="hold">
                                          <p:stCondLst>
                                            <p:cond delay="199"/>
                                          </p:stCondLst>
                                        </p:cTn>
                                        <p:tgtEl>
                                          <p:spTgt spid="14"/>
                                        </p:tgtEl>
                                        <p:attrNameLst>
                                          <p:attrName>style.visibility</p:attrName>
                                        </p:attrNameLst>
                                      </p:cBhvr>
                                      <p:to>
                                        <p:strVal val="hidden"/>
                                      </p:to>
                                    </p:set>
                                  </p:childTnLst>
                                </p:cTn>
                              </p:par>
                              <p:par>
                                <p:cTn id="66" presetID="10" presetClass="entr" presetSubtype="0" fill="hold" grpId="0" nodeType="withEffect">
                                  <p:stCondLst>
                                    <p:cond delay="20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400"/>
                                        <p:tgtEl>
                                          <p:spTgt spid="13"/>
                                        </p:tgtEl>
                                      </p:cBhvr>
                                    </p:animEffect>
                                  </p:childTnLst>
                                </p:cTn>
                              </p:par>
                              <p:par>
                                <p:cTn id="69" presetID="10" presetClass="entr" presetSubtype="0" fill="hold" grpId="0" nodeType="withEffect">
                                  <p:stCondLst>
                                    <p:cond delay="20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20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Motor: identidad ≠ índice y matriz dispersa</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4321d4dba6d1badf.png"/>
          <p:cNvPicPr>
            <a:picLocks noChangeAspect="1"/>
          </p:cNvPicPr>
          <p:nvPr/>
        </p:nvPicPr>
        <p:blipFill>
          <a:blip r:embed="rId2"/>
          <a:stretch>
            <a:fillRect/>
          </a:stretch>
        </p:blipFill>
        <p:spPr>
          <a:xfrm>
            <a:off x="635000" y="1435100"/>
            <a:ext cx="5207000" cy="4064000"/>
          </a:xfrm>
          <a:prstGeom prst="rect">
            <a:avLst/>
          </a:prstGeom>
        </p:spPr>
      </p:pic>
      <p:sp>
        <p:nvSpPr>
          <p:cNvPr id="14" name="Rounded Rectangle 13"/>
          <p:cNvSpPr/>
          <p:nvPr/>
        </p:nvSpPr>
        <p:spPr>
          <a:xfrm>
            <a:off x="638175" y="4422775"/>
            <a:ext cx="5073650" cy="697103"/>
          </a:xfrm>
          <a:prstGeom prst="roundRect">
            <a:avLst>
              <a:gd name="adj" fmla="val 1047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050" y="4538116"/>
            <a:ext cx="4883658" cy="462280"/>
          </a:xfrm>
          <a:prstGeom prst="rect">
            <a:avLst/>
          </a:prstGeom>
          <a:noFill/>
        </p:spPr>
        <p:txBody>
          <a:bodyPr wrap="square" lIns="0" rIns="0" tIns="0" bIns="0" anchor="t"/>
          <a:lstStyle/>
          <a:p>
            <a:pPr algn="l">
              <a:lnSpc>
                <a:spcPts val="1820"/>
              </a:lnSpc>
              <a:spcBef>
                <a:spcPts val="0"/>
              </a:spcBef>
              <a:spcAft>
                <a:spcPts val="0"/>
              </a:spcAft>
            </a:pPr>
            <a:r>
              <a:rPr sz="1400" b="1" i="0">
                <a:solidFill>
                  <a:srgbClr val="1F2937"/>
                </a:solidFill>
                <a:latin typeface="Calibri"/>
              </a:rPr>
              <a:t>K</a:t>
            </a:r>
            <a:r>
              <a:rPr sz="1400" b="0" i="0">
                <a:solidFill>
                  <a:srgbClr val="1F2937"/>
                </a:solidFill>
                <a:latin typeface="Calibri"/>
              </a:rPr>
              <a:t> se dimensiona 2N = 8, no 2 · máx(id) = 198. Mismo problema</a:t>
            </a:r>
            <a:br/>
            <a:r>
              <a:rPr sz="1400" b="0" i="0">
                <a:solidFill>
                  <a:srgbClr val="1F2937"/>
                </a:solidFill>
                <a:latin typeface="Calibri"/>
              </a:rPr>
              <a:t>con {1, 2, 3, 4}: diferencia</a:t>
            </a:r>
            <a:r>
              <a:rPr sz="1400" b="1" i="0">
                <a:solidFill>
                  <a:srgbClr val="2E8B57"/>
                </a:solidFill>
                <a:latin typeface="Calibri"/>
              </a:rPr>
              <a:t> &lt; 10⁻⁹</a:t>
            </a:r>
            <a:r>
              <a:rPr sz="1400" b="0" i="0">
                <a:solidFill>
                  <a:srgbClr val="1F2937"/>
                </a:solidFill>
                <a:latin typeface="Calibri"/>
              </a:rPr>
              <a:t> (§ 3.3).</a:t>
            </a:r>
          </a:p>
        </p:txBody>
      </p:sp>
      <p:sp>
        <p:nvSpPr>
          <p:cNvPr id="16" name="TextBox 15"/>
          <p:cNvSpPr txBox="1"/>
          <p:nvPr/>
        </p:nvSpPr>
        <p:spPr>
          <a:xfrm>
            <a:off x="6223000" y="1440717"/>
            <a:ext cx="5440680" cy="209296"/>
          </a:xfrm>
          <a:prstGeom prst="rect">
            <a:avLst/>
          </a:prstGeom>
          <a:noFill/>
        </p:spPr>
        <p:txBody>
          <a:bodyPr wrap="square" lIns="0" rIns="0" tIns="0" bIns="0" anchor="t"/>
          <a:lstStyle/>
          <a:p>
            <a:pPr algn="l">
              <a:lnSpc>
                <a:spcPts val="1648"/>
              </a:lnSpc>
              <a:spcBef>
                <a:spcPts val="0"/>
              </a:spcBef>
              <a:spcAft>
                <a:spcPts val="0"/>
              </a:spcAft>
            </a:pPr>
            <a:r>
              <a:rPr sz="1350" b="1" i="0">
                <a:solidFill>
                  <a:srgbClr val="3F4A5A"/>
                </a:solidFill>
                <a:latin typeface="Calibri"/>
              </a:rPr>
              <a:t>Patrón de K: membrana de Cook, Q9, N = 8 (578 GDL)</a:t>
            </a:r>
          </a:p>
        </p:txBody>
      </p:sp>
      <p:sp>
        <p:nvSpPr>
          <p:cNvPr id="17" name="Rounded Rectangle 16"/>
          <p:cNvSpPr/>
          <p:nvPr/>
        </p:nvSpPr>
        <p:spPr>
          <a:xfrm>
            <a:off x="6226175" y="1755775"/>
            <a:ext cx="2724150" cy="2724150"/>
          </a:xfrm>
          <a:prstGeom prst="roundRect">
            <a:avLst>
              <a:gd name="adj" fmla="val 2680"/>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81e100f0472faae3.png"/>
          <p:cNvPicPr>
            <a:picLocks noChangeAspect="1"/>
          </p:cNvPicPr>
          <p:nvPr/>
        </p:nvPicPr>
        <p:blipFill>
          <a:blip r:embed="rId3"/>
          <a:stretch>
            <a:fillRect/>
          </a:stretch>
        </p:blipFill>
        <p:spPr>
          <a:xfrm>
            <a:off x="6229350" y="1758950"/>
            <a:ext cx="2730500" cy="2730500"/>
          </a:xfrm>
          <a:prstGeom prst="rect">
            <a:avLst/>
          </a:prstGeom>
        </p:spPr>
      </p:pic>
      <p:sp>
        <p:nvSpPr>
          <p:cNvPr id="19" name="TextBox 18"/>
          <p:cNvSpPr txBox="1"/>
          <p:nvPr/>
        </p:nvSpPr>
        <p:spPr>
          <a:xfrm>
            <a:off x="9144000" y="1751349"/>
            <a:ext cx="2463800" cy="144780"/>
          </a:xfrm>
          <a:prstGeom prst="rect">
            <a:avLst/>
          </a:prstGeom>
          <a:noFill/>
        </p:spPr>
        <p:txBody>
          <a:bodyPr wrap="square" lIns="0" rIns="0" tIns="0" bIns="0" anchor="t"/>
          <a:lstStyle/>
          <a:p>
            <a:pPr algn="l">
              <a:lnSpc>
                <a:spcPts val="1140"/>
              </a:lnSpc>
              <a:spcBef>
                <a:spcPts val="0"/>
              </a:spcBef>
              <a:spcAft>
                <a:spcPts val="0"/>
              </a:spcAft>
            </a:pPr>
            <a:r>
              <a:rPr sz="950" b="1" i="0" cap="all" spc="95">
                <a:solidFill>
                  <a:srgbClr val="5B6575"/>
                </a:solidFill>
                <a:latin typeface="Calibri"/>
              </a:rPr>
              <a:t>Memoria de K (Tabla 3.9)</a:t>
            </a:r>
          </a:p>
        </p:txBody>
      </p:sp>
      <p:sp>
        <p:nvSpPr>
          <p:cNvPr id="20" name="TextBox 19"/>
          <p:cNvSpPr txBox="1"/>
          <p:nvPr/>
        </p:nvSpPr>
        <p:spPr>
          <a:xfrm>
            <a:off x="9144000" y="2000822"/>
            <a:ext cx="2463800" cy="469900"/>
          </a:xfrm>
          <a:prstGeom prst="rect">
            <a:avLst/>
          </a:prstGeom>
          <a:noFill/>
        </p:spPr>
        <p:txBody>
          <a:bodyPr wrap="square" lIns="0" rIns="0" tIns="0" bIns="0" anchor="t"/>
          <a:lstStyle/>
          <a:p>
            <a:pPr algn="l">
              <a:lnSpc>
                <a:spcPts val="3700"/>
              </a:lnSpc>
              <a:spcBef>
                <a:spcPts val="0"/>
              </a:spcBef>
              <a:spcAft>
                <a:spcPts val="0"/>
              </a:spcAft>
            </a:pPr>
            <a:r>
              <a:rPr sz="3700" b="1" i="0">
                <a:solidFill>
                  <a:srgbClr val="E8741A"/>
                </a:solidFill>
                <a:latin typeface="Calibri"/>
              </a:rPr>
              <a:t>0,21</a:t>
            </a:r>
            <a:r>
              <a:rPr sz="1664" b="1" i="0">
                <a:solidFill>
                  <a:srgbClr val="3F4A5A"/>
                </a:solidFill>
                <a:latin typeface="Calibri"/>
              </a:rPr>
              <a:t>MB</a:t>
            </a:r>
          </a:p>
        </p:txBody>
      </p:sp>
      <p:sp>
        <p:nvSpPr>
          <p:cNvPr id="21" name="TextBox 20"/>
          <p:cNvSpPr txBox="1"/>
          <p:nvPr/>
        </p:nvSpPr>
        <p:spPr>
          <a:xfrm>
            <a:off x="9144000" y="2472055"/>
            <a:ext cx="2463800"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3F4A5A"/>
                </a:solidFill>
                <a:latin typeface="Calibri"/>
              </a:rPr>
              <a:t>dispersa, frente a</a:t>
            </a:r>
            <a:r>
              <a:rPr sz="1500" b="1" i="0">
                <a:solidFill>
                  <a:srgbClr val="3F4A5A"/>
                </a:solidFill>
                <a:latin typeface="Calibri"/>
              </a:rPr>
              <a:t> 3 MB</a:t>
            </a:r>
            <a:r>
              <a:rPr sz="1500" b="0" i="0">
                <a:solidFill>
                  <a:srgbClr val="3F4A5A"/>
                </a:solidFill>
                <a:latin typeface="Calibri"/>
              </a:rPr>
              <a:t> densa</a:t>
            </a:r>
          </a:p>
        </p:txBody>
      </p:sp>
      <p:sp>
        <p:nvSpPr>
          <p:cNvPr id="22" name="TextBox 21"/>
          <p:cNvSpPr txBox="1"/>
          <p:nvPr/>
        </p:nvSpPr>
        <p:spPr>
          <a:xfrm>
            <a:off x="9144000" y="2819051"/>
            <a:ext cx="2463800" cy="642938"/>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El patrón dibujado: 16 900</a:t>
            </a:r>
            <a:br/>
            <a:r>
              <a:rPr sz="1250" b="0" i="0">
                <a:solidFill>
                  <a:srgbClr val="5B6575"/>
                </a:solidFill>
                <a:latin typeface="Calibri"/>
              </a:rPr>
              <a:t>coeficientes no nulos de 334 084 (5,1</a:t>
            </a:r>
            <a:br/>
            <a:r>
              <a:rPr sz="1250" b="0" i="0">
                <a:solidFill>
                  <a:srgbClr val="5B6575"/>
                </a:solidFill>
                <a:latin typeface="Calibri"/>
              </a:rPr>
              <a:t>%).</a:t>
            </a:r>
          </a:p>
        </p:txBody>
      </p:sp>
      <p:sp>
        <p:nvSpPr>
          <p:cNvPr id="23" name="Rounded Rectangle 22"/>
          <p:cNvSpPr/>
          <p:nvPr/>
        </p:nvSpPr>
        <p:spPr>
          <a:xfrm>
            <a:off x="6226175" y="4613275"/>
            <a:ext cx="5327650" cy="1150938"/>
          </a:xfrm>
          <a:prstGeom prst="roundRect">
            <a:avLst>
              <a:gd name="adj" fmla="val 634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1750" y="4737355"/>
            <a:ext cx="511683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Solución directa (§ 2.2.5)</a:t>
            </a:r>
          </a:p>
        </p:txBody>
      </p:sp>
      <p:sp>
        <p:nvSpPr>
          <p:cNvPr id="25" name="TextBox 24"/>
          <p:cNvSpPr txBox="1"/>
          <p:nvPr/>
        </p:nvSpPr>
        <p:spPr>
          <a:xfrm>
            <a:off x="6381750" y="5001609"/>
            <a:ext cx="5116830" cy="642938"/>
          </a:xfrm>
          <a:prstGeom prst="rect">
            <a:avLst/>
          </a:prstGeom>
          <a:noFill/>
        </p:spPr>
        <p:txBody>
          <a:bodyPr wrap="square" lIns="0" rIns="0" tIns="0" bIns="0" anchor="t"/>
          <a:lstStyle/>
          <a:p>
            <a:pPr algn="l">
              <a:lnSpc>
                <a:spcPts val="1688"/>
              </a:lnSpc>
              <a:spcBef>
                <a:spcPts val="0"/>
              </a:spcBef>
              <a:spcAft>
                <a:spcPts val="0"/>
              </a:spcAft>
            </a:pPr>
            <a:r>
              <a:rPr sz="1250" b="0" i="0">
                <a:solidFill>
                  <a:srgbClr val="1F2937"/>
                </a:solidFill>
                <a:latin typeface="Calibri"/>
              </a:rPr>
              <a:t>Factorización LU dispersa (SuperLU) con reordenamiento de mínimo grado</a:t>
            </a:r>
            <a:br/>
            <a:r>
              <a:rPr sz="1250" b="0" i="0">
                <a:solidFill>
                  <a:srgbClr val="1F2937"/>
                </a:solidFill>
                <a:latin typeface="Calibri"/>
              </a:rPr>
              <a:t>sobre Kᵀ + K. Junto al motor por lotes se conserva la</a:t>
            </a:r>
            <a:r>
              <a:rPr sz="1250" b="1" i="0">
                <a:solidFill>
                  <a:srgbClr val="1F2937"/>
                </a:solidFill>
                <a:latin typeface="Calibri"/>
              </a:rPr>
              <a:t> versión legible</a:t>
            </a:r>
            <a:r>
              <a:rPr sz="1250" b="0" i="0">
                <a:solidFill>
                  <a:srgbClr val="1F2937"/>
                </a:solidFill>
                <a:latin typeface="Calibri"/>
              </a:rPr>
              <a:t> elemento</a:t>
            </a:r>
            <a:br/>
            <a:r>
              <a:rPr sz="1250" b="0" i="0">
                <a:solidFill>
                  <a:srgbClr val="1F2937"/>
                </a:solidFill>
                <a:latin typeface="Calibri"/>
              </a:rPr>
              <a:t>a elemento: es el patrón de comparación de las pruebas de regresión.</a:t>
            </a:r>
          </a:p>
        </p:txBody>
      </p:sp>
      <p:sp>
        <p:nvSpPr>
          <p:cNvPr id="26" name="Rectangle 25"/>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5150" y="6535420"/>
            <a:ext cx="514438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9" name="TextBox 28"/>
          <p:cNvSpPr txBox="1"/>
          <p:nvPr/>
        </p:nvSpPr>
        <p:spPr>
          <a:xfrm>
            <a:off x="5583238" y="6535420"/>
            <a:ext cx="1025525"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2.2.4–2.2.5</a:t>
            </a:r>
          </a:p>
        </p:txBody>
      </p:sp>
      <p:sp>
        <p:nvSpPr>
          <p:cNvPr id="30" name="TextBox 29"/>
          <p:cNvSpPr txBox="1"/>
          <p:nvPr/>
        </p:nvSpPr>
        <p:spPr>
          <a:xfrm>
            <a:off x="6482524" y="6535420"/>
            <a:ext cx="514438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30</a:t>
            </a:r>
          </a:p>
        </p:txBody>
      </p:sp>
      <p:sp>
        <p:nvSpPr>
          <p:cNvPr id="31" name="Enlace a sep-intro">
            <a:hlinkClick action="ppaction://hlinksldjump" r:id="rId4"/>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nlace a sep-teoria">
            <a:hlinkClick action="ppaction://hlinksldjump" r:id="rId5"/>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nlace a sep-diseno">
            <a:hlinkClick action="ppaction://hlinksldjump" r:id="rId6"/>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nlace a sep-resultados">
            <a:hlinkClick action="ppaction://hlinksldjump" r:id="rId7"/>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nlace a sep-analisis">
            <a:hlinkClick action="ppaction://hlinksldjump" r:id="rId8"/>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nlace a sep-conclusiones">
            <a:hlinkClick action="ppaction://hlinksldjump" r:id="rId9"/>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childTnLst>
                          </p:cTn>
                        </p:par>
                      </p:childTnLst>
                    </p:cTn>
                  </p:par>
                  <p:par>
                    <p:cTn id="35" fill="hold">
                      <p:stCondLst>
                        <p:cond delay="indefinite"/>
                      </p:stCondLst>
                      <p:childTnLst>
                        <p:par>
                          <p:cTn id="36"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9" grpId="0" animBg="1"/>
      <p:bldP spid="20" grpId="0" animBg="1"/>
      <p:bldP spid="21" grpId="0" animBg="1"/>
      <p:bldP spid="22" grpId="0" animBg="1"/>
      <p:bldP spid="23" grpId="0" animBg="1"/>
      <p:bldP spid="24" grpId="0" animBg="1"/>
      <p:bldP spid="25"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Pre-proceso: un lienzo, cinco tablas y un comprobador</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6724650" cy="3375342"/>
          </a:xfrm>
          <a:prstGeom prst="roundRect">
            <a:avLst>
              <a:gd name="adj" fmla="val 1410"/>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_app_completa.png"/>
          <p:cNvPicPr>
            <a:picLocks noChangeAspect="1"/>
          </p:cNvPicPr>
          <p:nvPr/>
        </p:nvPicPr>
        <p:blipFill>
          <a:blip r:embed="rId2"/>
          <a:srcRect/>
          <a:stretch>
            <a:fillRect/>
          </a:stretch>
        </p:blipFill>
        <p:spPr>
          <a:xfrm>
            <a:off x="571500" y="1286446"/>
            <a:ext cx="6718300" cy="3368992"/>
          </a:xfrm>
          <a:prstGeom prst="rect">
            <a:avLst/>
          </a:prstGeom>
        </p:spPr>
      </p:pic>
      <p:sp>
        <p:nvSpPr>
          <p:cNvPr id="15" name="Oval 14"/>
          <p:cNvSpPr/>
          <p:nvPr/>
        </p:nvSpPr>
        <p:spPr>
          <a:xfrm>
            <a:off x="1407096" y="1789112"/>
            <a:ext cx="469900" cy="469900"/>
          </a:xfrm>
          <a:prstGeom prst="ellipse">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470596" y="1852612"/>
            <a:ext cx="342900" cy="342900"/>
          </a:xfrm>
          <a:prstGeom prst="ellipse">
            <a:avLst/>
          </a:prstGeom>
          <a:solidFill>
            <a:srgbClr val="E8741A"/>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45196" y="1955546"/>
            <a:ext cx="3937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1</a:t>
            </a:r>
          </a:p>
        </p:txBody>
      </p:sp>
      <p:sp>
        <p:nvSpPr>
          <p:cNvPr id="18" name="Oval 17"/>
          <p:cNvSpPr/>
          <p:nvPr/>
        </p:nvSpPr>
        <p:spPr>
          <a:xfrm>
            <a:off x="4368800" y="2059559"/>
            <a:ext cx="469900" cy="469900"/>
          </a:xfrm>
          <a:prstGeom prst="ellipse">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32300" y="2123059"/>
            <a:ext cx="342900" cy="342900"/>
          </a:xfrm>
          <a:prstGeom prst="ellipse">
            <a:avLst/>
          </a:prstGeom>
          <a:solidFill>
            <a:srgbClr val="E8741A"/>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6900" y="2225992"/>
            <a:ext cx="3937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2</a:t>
            </a:r>
          </a:p>
        </p:txBody>
      </p:sp>
      <p:sp>
        <p:nvSpPr>
          <p:cNvPr id="21" name="Oval 20"/>
          <p:cNvSpPr/>
          <p:nvPr/>
        </p:nvSpPr>
        <p:spPr>
          <a:xfrm>
            <a:off x="5984176" y="4291520"/>
            <a:ext cx="469900" cy="469900"/>
          </a:xfrm>
          <a:prstGeom prst="ellipse">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047676" y="4355020"/>
            <a:ext cx="342900" cy="342900"/>
          </a:xfrm>
          <a:prstGeom prst="ellipse">
            <a:avLst/>
          </a:prstGeom>
          <a:solidFill>
            <a:srgbClr val="E8741A"/>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22276" y="4457954"/>
            <a:ext cx="3937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3</a:t>
            </a:r>
          </a:p>
        </p:txBody>
      </p:sp>
      <p:sp>
        <p:nvSpPr>
          <p:cNvPr id="24" name="Oval 23"/>
          <p:cNvSpPr/>
          <p:nvPr/>
        </p:nvSpPr>
        <p:spPr>
          <a:xfrm>
            <a:off x="1407096" y="2397824"/>
            <a:ext cx="469900" cy="469900"/>
          </a:xfrm>
          <a:prstGeom prst="ellipse">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470596" y="2461324"/>
            <a:ext cx="342900" cy="342900"/>
          </a:xfrm>
          <a:prstGeom prst="ellipse">
            <a:avLst/>
          </a:prstGeom>
          <a:solidFill>
            <a:srgbClr val="E8741A"/>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45196" y="2564257"/>
            <a:ext cx="3937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4</a:t>
            </a:r>
          </a:p>
        </p:txBody>
      </p:sp>
      <p:sp>
        <p:nvSpPr>
          <p:cNvPr id="27" name="Oval 26"/>
          <p:cNvSpPr/>
          <p:nvPr/>
        </p:nvSpPr>
        <p:spPr>
          <a:xfrm>
            <a:off x="7550150" y="1280096"/>
            <a:ext cx="292100" cy="2921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24750" y="1362361"/>
            <a:ext cx="342900" cy="146050"/>
          </a:xfrm>
          <a:prstGeom prst="rect">
            <a:avLst/>
          </a:prstGeom>
          <a:noFill/>
        </p:spPr>
        <p:txBody>
          <a:bodyPr wrap="square" lIns="0" rIns="0" tIns="0" bIns="0" anchor="t"/>
          <a:lstStyle/>
          <a:p>
            <a:pPr algn="ctr">
              <a:lnSpc>
                <a:spcPts val="1150"/>
              </a:lnSpc>
              <a:spcBef>
                <a:spcPts val="0"/>
              </a:spcBef>
              <a:spcAft>
                <a:spcPts val="0"/>
              </a:spcAft>
            </a:pPr>
            <a:r>
              <a:rPr sz="1150" b="1" i="0">
                <a:solidFill>
                  <a:srgbClr val="FFFFFF"/>
                </a:solidFill>
                <a:latin typeface="Calibri"/>
              </a:rPr>
              <a:t>1</a:t>
            </a:r>
          </a:p>
        </p:txBody>
      </p:sp>
      <p:sp>
        <p:nvSpPr>
          <p:cNvPr id="29" name="TextBox 28"/>
          <p:cNvSpPr txBox="1"/>
          <p:nvPr/>
        </p:nvSpPr>
        <p:spPr>
          <a:xfrm>
            <a:off x="7994650" y="1277963"/>
            <a:ext cx="3704844" cy="462280"/>
          </a:xfrm>
          <a:prstGeom prst="rect">
            <a:avLst/>
          </a:prstGeom>
          <a:noFill/>
        </p:spPr>
        <p:txBody>
          <a:bodyPr wrap="square" lIns="0" rIns="0" tIns="0" bIns="0" anchor="t"/>
          <a:lstStyle/>
          <a:p>
            <a:pPr algn="l">
              <a:lnSpc>
                <a:spcPts val="1820"/>
              </a:lnSpc>
              <a:spcBef>
                <a:spcPts val="0"/>
              </a:spcBef>
              <a:spcAft>
                <a:spcPts val="0"/>
              </a:spcAft>
            </a:pPr>
            <a:r>
              <a:rPr sz="1400" b="0" i="0">
                <a:solidFill>
                  <a:srgbClr val="1F2937"/>
                </a:solidFill>
                <a:latin typeface="Calibri"/>
              </a:rPr>
              <a:t>Cinco tablas: nodos, elementos, cargas,</a:t>
            </a:r>
            <a:br/>
            <a:r>
              <a:rPr sz="1400" b="0" i="0">
                <a:solidFill>
                  <a:srgbClr val="1F2937"/>
                </a:solidFill>
                <a:latin typeface="Calibri"/>
              </a:rPr>
              <a:t>restricciones y cargas superficiales</a:t>
            </a:r>
          </a:p>
        </p:txBody>
      </p:sp>
      <p:sp>
        <p:nvSpPr>
          <p:cNvPr id="30" name="TextBox 29"/>
          <p:cNvSpPr txBox="1"/>
          <p:nvPr/>
        </p:nvSpPr>
        <p:spPr>
          <a:xfrm>
            <a:off x="7994650" y="1751749"/>
            <a:ext cx="3704844"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5B6575"/>
                </a:solidFill>
                <a:latin typeface="Calibri"/>
              </a:rPr>
              <a:t>edición por doble clic; copiar y pegar desde una planilla</a:t>
            </a:r>
          </a:p>
        </p:txBody>
      </p:sp>
      <p:sp>
        <p:nvSpPr>
          <p:cNvPr id="31" name="Oval 30"/>
          <p:cNvSpPr/>
          <p:nvPr/>
        </p:nvSpPr>
        <p:spPr>
          <a:xfrm>
            <a:off x="7550150" y="2050860"/>
            <a:ext cx="292100" cy="2921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24750" y="2133124"/>
            <a:ext cx="342900" cy="146050"/>
          </a:xfrm>
          <a:prstGeom prst="rect">
            <a:avLst/>
          </a:prstGeom>
          <a:noFill/>
        </p:spPr>
        <p:txBody>
          <a:bodyPr wrap="square" lIns="0" rIns="0" tIns="0" bIns="0" anchor="t"/>
          <a:lstStyle/>
          <a:p>
            <a:pPr algn="ctr">
              <a:lnSpc>
                <a:spcPts val="1150"/>
              </a:lnSpc>
              <a:spcBef>
                <a:spcPts val="0"/>
              </a:spcBef>
              <a:spcAft>
                <a:spcPts val="0"/>
              </a:spcAft>
            </a:pPr>
            <a:r>
              <a:rPr sz="1150" b="1" i="0">
                <a:solidFill>
                  <a:srgbClr val="FFFFFF"/>
                </a:solidFill>
                <a:latin typeface="Calibri"/>
              </a:rPr>
              <a:t>2</a:t>
            </a:r>
          </a:p>
        </p:txBody>
      </p:sp>
      <p:sp>
        <p:nvSpPr>
          <p:cNvPr id="33" name="TextBox 32"/>
          <p:cNvSpPr txBox="1"/>
          <p:nvPr/>
        </p:nvSpPr>
        <p:spPr>
          <a:xfrm>
            <a:off x="7994650" y="2048726"/>
            <a:ext cx="3704844" cy="231140"/>
          </a:xfrm>
          <a:prstGeom prst="rect">
            <a:avLst/>
          </a:prstGeom>
          <a:noFill/>
        </p:spPr>
        <p:txBody>
          <a:bodyPr wrap="square" lIns="0" rIns="0" tIns="0" bIns="0" anchor="t"/>
          <a:lstStyle/>
          <a:p>
            <a:pPr algn="l">
              <a:lnSpc>
                <a:spcPts val="1820"/>
              </a:lnSpc>
              <a:spcBef>
                <a:spcPts val="0"/>
              </a:spcBef>
              <a:spcAft>
                <a:spcPts val="0"/>
              </a:spcAft>
            </a:pPr>
            <a:r>
              <a:rPr sz="1400" b="0" i="0">
                <a:solidFill>
                  <a:srgbClr val="1F2937"/>
                </a:solidFill>
                <a:latin typeface="Calibri"/>
              </a:rPr>
              <a:t>Lienzo con dibujo tipo CAD</a:t>
            </a:r>
          </a:p>
        </p:txBody>
      </p:sp>
      <p:sp>
        <p:nvSpPr>
          <p:cNvPr id="34" name="TextBox 33"/>
          <p:cNvSpPr txBox="1"/>
          <p:nvPr/>
        </p:nvSpPr>
        <p:spPr>
          <a:xfrm>
            <a:off x="7994650" y="2291372"/>
            <a:ext cx="3704844" cy="363220"/>
          </a:xfrm>
          <a:prstGeom prst="rect">
            <a:avLst/>
          </a:prstGeom>
          <a:noFill/>
        </p:spPr>
        <p:txBody>
          <a:bodyPr wrap="square" lIns="0" rIns="0" tIns="0" bIns="0" anchor="t"/>
          <a:lstStyle/>
          <a:p>
            <a:pPr algn="l">
              <a:lnSpc>
                <a:spcPts val="1430"/>
              </a:lnSpc>
              <a:spcBef>
                <a:spcPts val="0"/>
              </a:spcBef>
              <a:spcAft>
                <a:spcPts val="0"/>
              </a:spcAft>
            </a:pPr>
            <a:r>
              <a:rPr sz="1100" b="0" i="0">
                <a:solidFill>
                  <a:srgbClr val="5B6575"/>
                </a:solidFill>
                <a:latin typeface="Calibri"/>
              </a:rPr>
              <a:t>anclaje a nodos, orientación antihoraria forzada, nivel de</a:t>
            </a:r>
            <a:br/>
            <a:r>
              <a:rPr sz="1100" b="0" i="0">
                <a:solidFill>
                  <a:srgbClr val="5B6575"/>
                </a:solidFill>
                <a:latin typeface="Calibri"/>
              </a:rPr>
              <a:t>detalle por acercamiento</a:t>
            </a:r>
          </a:p>
        </p:txBody>
      </p:sp>
      <p:sp>
        <p:nvSpPr>
          <p:cNvPr id="35" name="Oval 34"/>
          <p:cNvSpPr/>
          <p:nvPr/>
        </p:nvSpPr>
        <p:spPr>
          <a:xfrm>
            <a:off x="7550150" y="2772092"/>
            <a:ext cx="292100" cy="2921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24750" y="2854357"/>
            <a:ext cx="342900" cy="146050"/>
          </a:xfrm>
          <a:prstGeom prst="rect">
            <a:avLst/>
          </a:prstGeom>
          <a:noFill/>
        </p:spPr>
        <p:txBody>
          <a:bodyPr wrap="square" lIns="0" rIns="0" tIns="0" bIns="0" anchor="t"/>
          <a:lstStyle/>
          <a:p>
            <a:pPr algn="ctr">
              <a:lnSpc>
                <a:spcPts val="1150"/>
              </a:lnSpc>
              <a:spcBef>
                <a:spcPts val="0"/>
              </a:spcBef>
              <a:spcAft>
                <a:spcPts val="0"/>
              </a:spcAft>
            </a:pPr>
            <a:r>
              <a:rPr sz="1150" b="1" i="0">
                <a:solidFill>
                  <a:srgbClr val="FFFFFF"/>
                </a:solidFill>
                <a:latin typeface="Calibri"/>
              </a:rPr>
              <a:t>3</a:t>
            </a:r>
          </a:p>
        </p:txBody>
      </p:sp>
      <p:sp>
        <p:nvSpPr>
          <p:cNvPr id="37" name="TextBox 36"/>
          <p:cNvSpPr txBox="1"/>
          <p:nvPr/>
        </p:nvSpPr>
        <p:spPr>
          <a:xfrm>
            <a:off x="7994650" y="2769959"/>
            <a:ext cx="3704844" cy="231140"/>
          </a:xfrm>
          <a:prstGeom prst="rect">
            <a:avLst/>
          </a:prstGeom>
          <a:noFill/>
        </p:spPr>
        <p:txBody>
          <a:bodyPr wrap="square" lIns="0" rIns="0" tIns="0" bIns="0" anchor="t"/>
          <a:lstStyle/>
          <a:p>
            <a:pPr algn="l">
              <a:lnSpc>
                <a:spcPts val="1820"/>
              </a:lnSpc>
              <a:spcBef>
                <a:spcPts val="0"/>
              </a:spcBef>
              <a:spcAft>
                <a:spcPts val="0"/>
              </a:spcAft>
            </a:pPr>
            <a:r>
              <a:rPr sz="1400" b="0" i="0">
                <a:solidFill>
                  <a:srgbClr val="1F2937"/>
                </a:solidFill>
                <a:latin typeface="Calibri"/>
              </a:rPr>
              <a:t>Comprobador de salud</a:t>
            </a:r>
          </a:p>
        </p:txBody>
      </p:sp>
      <p:sp>
        <p:nvSpPr>
          <p:cNvPr id="38" name="TextBox 37"/>
          <p:cNvSpPr txBox="1"/>
          <p:nvPr/>
        </p:nvSpPr>
        <p:spPr>
          <a:xfrm>
            <a:off x="7994650" y="3012605"/>
            <a:ext cx="3704844" cy="363220"/>
          </a:xfrm>
          <a:prstGeom prst="rect">
            <a:avLst/>
          </a:prstGeom>
          <a:noFill/>
        </p:spPr>
        <p:txBody>
          <a:bodyPr wrap="square" lIns="0" rIns="0" tIns="0" bIns="0" anchor="t"/>
          <a:lstStyle/>
          <a:p>
            <a:pPr algn="l">
              <a:lnSpc>
                <a:spcPts val="1430"/>
              </a:lnSpc>
              <a:spcBef>
                <a:spcPts val="0"/>
              </a:spcBef>
              <a:spcAft>
                <a:spcPts val="0"/>
              </a:spcAft>
            </a:pPr>
            <a:r>
              <a:rPr sz="1100" b="0" i="0">
                <a:solidFill>
                  <a:srgbClr val="5B6575"/>
                </a:solidFill>
                <a:latin typeface="Calibri"/>
              </a:rPr>
              <a:t>errores que bloquean, advertencias, corrección automática y</a:t>
            </a:r>
            <a:br/>
            <a:r>
              <a:rPr sz="1100" b="0" i="0">
                <a:solidFill>
                  <a:srgbClr val="5B6575"/>
                </a:solidFill>
                <a:latin typeface="Calibri"/>
              </a:rPr>
              <a:t>explicación</a:t>
            </a:r>
          </a:p>
        </p:txBody>
      </p:sp>
      <p:sp>
        <p:nvSpPr>
          <p:cNvPr id="39" name="Oval 38"/>
          <p:cNvSpPr/>
          <p:nvPr/>
        </p:nvSpPr>
        <p:spPr>
          <a:xfrm>
            <a:off x="7550150" y="3493326"/>
            <a:ext cx="292100" cy="2921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24750" y="3575590"/>
            <a:ext cx="342900" cy="146050"/>
          </a:xfrm>
          <a:prstGeom prst="rect">
            <a:avLst/>
          </a:prstGeom>
          <a:noFill/>
        </p:spPr>
        <p:txBody>
          <a:bodyPr wrap="square" lIns="0" rIns="0" tIns="0" bIns="0" anchor="t"/>
          <a:lstStyle/>
          <a:p>
            <a:pPr algn="ctr">
              <a:lnSpc>
                <a:spcPts val="1150"/>
              </a:lnSpc>
              <a:spcBef>
                <a:spcPts val="0"/>
              </a:spcBef>
              <a:spcAft>
                <a:spcPts val="0"/>
              </a:spcAft>
            </a:pPr>
            <a:r>
              <a:rPr sz="1150" b="1" i="0">
                <a:solidFill>
                  <a:srgbClr val="FFFFFF"/>
                </a:solidFill>
                <a:latin typeface="Calibri"/>
              </a:rPr>
              <a:t>4</a:t>
            </a:r>
          </a:p>
        </p:txBody>
      </p:sp>
      <p:sp>
        <p:nvSpPr>
          <p:cNvPr id="41" name="TextBox 40"/>
          <p:cNvSpPr txBox="1"/>
          <p:nvPr/>
        </p:nvSpPr>
        <p:spPr>
          <a:xfrm>
            <a:off x="7994650" y="3491128"/>
            <a:ext cx="3704844" cy="231140"/>
          </a:xfrm>
          <a:prstGeom prst="rect">
            <a:avLst/>
          </a:prstGeom>
          <a:noFill/>
        </p:spPr>
        <p:txBody>
          <a:bodyPr wrap="square" lIns="0" rIns="0" tIns="0" bIns="0" anchor="t"/>
          <a:lstStyle/>
          <a:p>
            <a:pPr algn="l">
              <a:lnSpc>
                <a:spcPts val="1820"/>
              </a:lnSpc>
              <a:spcBef>
                <a:spcPts val="0"/>
              </a:spcBef>
              <a:spcAft>
                <a:spcPts val="0"/>
              </a:spcAft>
            </a:pPr>
            <a:r>
              <a:rPr sz="1400" b="0" i="0">
                <a:solidFill>
                  <a:srgbClr val="1F2937"/>
                </a:solidFill>
                <a:latin typeface="Calibri"/>
              </a:rPr>
              <a:t>Selección sincronizada tabla ↔ lienzo</a:t>
            </a:r>
          </a:p>
        </p:txBody>
      </p:sp>
      <p:sp>
        <p:nvSpPr>
          <p:cNvPr id="42" name="TextBox 41"/>
          <p:cNvSpPr txBox="1"/>
          <p:nvPr/>
        </p:nvSpPr>
        <p:spPr>
          <a:xfrm>
            <a:off x="7994650" y="3733838"/>
            <a:ext cx="3704844"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5B6575"/>
                </a:solidFill>
                <a:latin typeface="Calibri"/>
              </a:rPr>
              <a:t>y deshacer/rehacer por instantáneas del modelo completo</a:t>
            </a:r>
          </a:p>
        </p:txBody>
      </p:sp>
      <p:sp>
        <p:nvSpPr>
          <p:cNvPr id="43" name="Oval 42"/>
          <p:cNvSpPr/>
          <p:nvPr/>
        </p:nvSpPr>
        <p:spPr>
          <a:xfrm>
            <a:off x="7550150" y="4032948"/>
            <a:ext cx="292100" cy="292100"/>
          </a:xfrm>
          <a:prstGeom prst="ellipse">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24750" y="4115213"/>
            <a:ext cx="342900" cy="146050"/>
          </a:xfrm>
          <a:prstGeom prst="rect">
            <a:avLst/>
          </a:prstGeom>
          <a:noFill/>
        </p:spPr>
        <p:txBody>
          <a:bodyPr wrap="square" lIns="0" rIns="0" tIns="0" bIns="0" anchor="t"/>
          <a:lstStyle/>
          <a:p>
            <a:pPr algn="ctr">
              <a:lnSpc>
                <a:spcPts val="1150"/>
              </a:lnSpc>
              <a:spcBef>
                <a:spcPts val="0"/>
              </a:spcBef>
              <a:spcAft>
                <a:spcPts val="0"/>
              </a:spcAft>
            </a:pPr>
            <a:r>
              <a:rPr sz="1150" b="1" i="0">
                <a:solidFill>
                  <a:srgbClr val="FFFFFF"/>
                </a:solidFill>
                <a:latin typeface="Calibri"/>
              </a:rPr>
              <a:t>+</a:t>
            </a:r>
          </a:p>
        </p:txBody>
      </p:sp>
      <p:sp>
        <p:nvSpPr>
          <p:cNvPr id="45" name="TextBox 44"/>
          <p:cNvSpPr txBox="1"/>
          <p:nvPr/>
        </p:nvSpPr>
        <p:spPr>
          <a:xfrm>
            <a:off x="7994650" y="4030815"/>
            <a:ext cx="3704844" cy="231140"/>
          </a:xfrm>
          <a:prstGeom prst="rect">
            <a:avLst/>
          </a:prstGeom>
          <a:noFill/>
        </p:spPr>
        <p:txBody>
          <a:bodyPr wrap="square" lIns="0" rIns="0" tIns="0" bIns="0" anchor="t"/>
          <a:lstStyle/>
          <a:p>
            <a:pPr algn="l">
              <a:lnSpc>
                <a:spcPts val="1820"/>
              </a:lnSpc>
              <a:spcBef>
                <a:spcPts val="0"/>
              </a:spcBef>
              <a:spcAft>
                <a:spcPts val="0"/>
              </a:spcAft>
            </a:pPr>
            <a:r>
              <a:rPr sz="1400" b="0" i="0">
                <a:solidFill>
                  <a:srgbClr val="1F2937"/>
                </a:solidFill>
                <a:latin typeface="Calibri"/>
              </a:rPr>
              <a:t>Importación DXF repetible</a:t>
            </a:r>
          </a:p>
        </p:txBody>
      </p:sp>
      <p:sp>
        <p:nvSpPr>
          <p:cNvPr id="46" name="TextBox 45"/>
          <p:cNvSpPr txBox="1"/>
          <p:nvPr/>
        </p:nvSpPr>
        <p:spPr>
          <a:xfrm>
            <a:off x="7994650" y="4273461"/>
            <a:ext cx="3704844"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5B6575"/>
                </a:solidFill>
                <a:latin typeface="Calibri"/>
              </a:rPr>
              <a:t>capa FEM_ELEMENTS; reimportar no duplica</a:t>
            </a:r>
          </a:p>
        </p:txBody>
      </p:sp>
      <p:sp>
        <p:nvSpPr>
          <p:cNvPr id="47" name="Rectangle 4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5150" y="6535420"/>
            <a:ext cx="530777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50" name="TextBox 49"/>
          <p:cNvSpPr txBox="1"/>
          <p:nvPr/>
        </p:nvSpPr>
        <p:spPr>
          <a:xfrm>
            <a:off x="5743448" y="6535420"/>
            <a:ext cx="70504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2.2.6</a:t>
            </a:r>
          </a:p>
        </p:txBody>
      </p:sp>
      <p:sp>
        <p:nvSpPr>
          <p:cNvPr id="51" name="TextBox 50"/>
          <p:cNvSpPr txBox="1"/>
          <p:nvPr/>
        </p:nvSpPr>
        <p:spPr>
          <a:xfrm>
            <a:off x="6319076" y="6535420"/>
            <a:ext cx="530777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31</a:t>
            </a:r>
          </a:p>
        </p:txBody>
      </p:sp>
      <p:sp>
        <p:nvSpPr>
          <p:cNvPr id="52" name="Enlace a sep-intro">
            <a:hlinkClick action="ppaction://hlinksldjump" r:id="rId3"/>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nlace a sep-teoria">
            <a:hlinkClick action="ppaction://hlinksldjump" r:id="rId4"/>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nlace a sep-diseno">
            <a:hlinkClick action="ppaction://hlinksldjump" r:id="rId5"/>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nlace a sep-resultados">
            <a:hlinkClick action="ppaction://hlinksldjump" r:id="rId6"/>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Enlace a sep-analisis">
            <a:hlinkClick action="ppaction://hlinksldjump" r:id="rId7"/>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Enlace a sep-conclusiones">
            <a:hlinkClick action="ppaction://hlinksldjump" r:id="rId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5" fill="hold">
                      <p:stCondLst>
                        <p:cond delay="indefinite"/>
                        <p:cond evt="onBegin" delay="0">
                          <p:tn val="2"/>
                        </p:cond>
                      </p:stCondLst>
                      <p:childTnLst>
                        <p:par>
                          <p:cTn id="106"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childTnLst>
                          </p:cTn>
                        </p:par>
                      </p:childTnLst>
                    </p:cTn>
                  </p:par>
                  <p:par>
                    <p:cTn id="107" fill="hold">
                      <p:stCondLst>
                        <p:cond delay="indefinite"/>
                      </p:stCondLst>
                      <p:childTnLst>
                        <p:par>
                          <p:cTn id="10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00"/>
                                        <p:tgtEl>
                                          <p:spTgt spid="2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00"/>
                                        <p:tgtEl>
                                          <p:spTgt spid="3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400"/>
                                        <p:tgtEl>
                                          <p:spTgt spid="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400"/>
                                        <p:tgtEl>
                                          <p:spTgt spid="3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400"/>
                                        <p:tgtEl>
                                          <p:spTgt spid="3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par>
                    <p:cTn id="109" fill="hold">
                      <p:stCondLst>
                        <p:cond delay="indefinite"/>
                      </p:stCondLst>
                      <p:childTnLst>
                        <p:par>
                          <p:cTn id="11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0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0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0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00"/>
                                        <p:tgtEl>
                                          <p:spTgt spid="42"/>
                                        </p:tgtEl>
                                      </p:cBhvr>
                                    </p:animEffect>
                                  </p:childTnLst>
                                </p:cTn>
                              </p:par>
                            </p:childTnLst>
                          </p:cTn>
                        </p:par>
                      </p:childTnLst>
                    </p:cTn>
                  </p:par>
                  <p:par>
                    <p:cTn id="111" fill="hold">
                      <p:stCondLst>
                        <p:cond delay="indefinite"/>
                      </p:stCondLst>
                      <p:childTnLst>
                        <p:par>
                          <p:cTn id="11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00"/>
                                        <p:tgtEl>
                                          <p:spTgt spid="4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400"/>
                                        <p:tgtEl>
                                          <p:spTgt spid="4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400"/>
                                        <p:tgtEl>
                                          <p:spTgt spid="4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Ocho módulos, sobre el elemento que el usuario elige</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2682875" cy="1689100"/>
          </a:xfrm>
          <a:prstGeom prst="roundRect">
            <a:avLst>
              <a:gd name="adj" fmla="val 5827"/>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_modulo_m0.png"/>
          <p:cNvPicPr>
            <a:picLocks noChangeAspect="1"/>
          </p:cNvPicPr>
          <p:nvPr/>
        </p:nvPicPr>
        <p:blipFill>
          <a:blip r:embed="rId2"/>
          <a:srcRect b="10437"/>
          <a:stretch>
            <a:fillRect/>
          </a:stretch>
        </p:blipFill>
        <p:spPr>
          <a:xfrm>
            <a:off x="571500" y="1286446"/>
            <a:ext cx="2676525" cy="1143000"/>
          </a:xfrm>
          <a:prstGeom prst="rect">
            <a:avLst/>
          </a:prstGeom>
        </p:spPr>
      </p:pic>
      <p:sp>
        <p:nvSpPr>
          <p:cNvPr id="15" name="Rectangle 14"/>
          <p:cNvSpPr/>
          <p:nvPr/>
        </p:nvSpPr>
        <p:spPr>
          <a:xfrm>
            <a:off x="571500" y="2429446"/>
            <a:ext cx="2676525" cy="5397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100" y="2548527"/>
            <a:ext cx="278828" cy="124016"/>
          </a:xfrm>
          <a:prstGeom prst="rect">
            <a:avLst/>
          </a:prstGeom>
          <a:noFill/>
        </p:spPr>
        <p:txBody>
          <a:bodyPr wrap="square" lIns="0" rIns="0" tIns="0" bIns="0" anchor="t"/>
          <a:lstStyle/>
          <a:p>
            <a:pPr algn="l">
              <a:lnSpc>
                <a:spcPts val="976"/>
              </a:lnSpc>
              <a:spcBef>
                <a:spcPts val="0"/>
              </a:spcBef>
              <a:spcAft>
                <a:spcPts val="0"/>
              </a:spcAft>
            </a:pPr>
            <a:r>
              <a:rPr sz="1300" b="1" i="0">
                <a:solidFill>
                  <a:srgbClr val="E8741A"/>
                </a:solidFill>
                <a:latin typeface="Calibri"/>
              </a:rPr>
              <a:t>M0</a:t>
            </a:r>
          </a:p>
        </p:txBody>
      </p:sp>
      <p:sp>
        <p:nvSpPr>
          <p:cNvPr id="17" name="TextBox 16"/>
          <p:cNvSpPr txBox="1"/>
          <p:nvPr/>
        </p:nvSpPr>
        <p:spPr>
          <a:xfrm>
            <a:off x="951928" y="2548527"/>
            <a:ext cx="1053528" cy="124016"/>
          </a:xfrm>
          <a:prstGeom prst="rect">
            <a:avLst/>
          </a:prstGeom>
          <a:noFill/>
        </p:spPr>
        <p:txBody>
          <a:bodyPr wrap="square" lIns="0" rIns="0" tIns="0" bIns="0" anchor="t"/>
          <a:lstStyle/>
          <a:p>
            <a:pPr algn="l">
              <a:lnSpc>
                <a:spcPts val="976"/>
              </a:lnSpc>
              <a:spcBef>
                <a:spcPts val="0"/>
              </a:spcBef>
              <a:spcAft>
                <a:spcPts val="0"/>
              </a:spcAft>
            </a:pPr>
            <a:r>
              <a:rPr sz="1150" b="1" i="0">
                <a:solidFill>
                  <a:srgbClr val="1F2937"/>
                </a:solidFill>
                <a:latin typeface="Calibri"/>
              </a:rPr>
              <a:t>Calidad de malla</a:t>
            </a:r>
          </a:p>
        </p:txBody>
      </p:sp>
      <p:sp>
        <p:nvSpPr>
          <p:cNvPr id="18" name="TextBox 17"/>
          <p:cNvSpPr txBox="1"/>
          <p:nvPr/>
        </p:nvSpPr>
        <p:spPr>
          <a:xfrm>
            <a:off x="673100" y="2737545"/>
            <a:ext cx="2524125"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5B6575"/>
                </a:solidFill>
                <a:latin typeface="Calibri"/>
              </a:rPr>
              <a:t>Pre-proceso · distorsión en vivo</a:t>
            </a:r>
          </a:p>
        </p:txBody>
      </p:sp>
      <p:sp>
        <p:nvSpPr>
          <p:cNvPr id="19" name="Rounded Rectangle 18"/>
          <p:cNvSpPr/>
          <p:nvPr/>
        </p:nvSpPr>
        <p:spPr>
          <a:xfrm>
            <a:off x="3359150" y="1283272"/>
            <a:ext cx="2682875" cy="1689100"/>
          </a:xfrm>
          <a:prstGeom prst="roundRect">
            <a:avLst>
              <a:gd name="adj" fmla="val 5827"/>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ig_modulo_m1.png"/>
          <p:cNvPicPr>
            <a:picLocks noChangeAspect="1"/>
          </p:cNvPicPr>
          <p:nvPr/>
        </p:nvPicPr>
        <p:blipFill>
          <a:blip r:embed="rId3"/>
          <a:srcRect b="8490"/>
          <a:stretch>
            <a:fillRect/>
          </a:stretch>
        </p:blipFill>
        <p:spPr>
          <a:xfrm>
            <a:off x="3362325" y="1286446"/>
            <a:ext cx="2676525" cy="1143000"/>
          </a:xfrm>
          <a:prstGeom prst="rect">
            <a:avLst/>
          </a:prstGeom>
        </p:spPr>
      </p:pic>
      <p:sp>
        <p:nvSpPr>
          <p:cNvPr id="21" name="Rectangle 20"/>
          <p:cNvSpPr/>
          <p:nvPr/>
        </p:nvSpPr>
        <p:spPr>
          <a:xfrm>
            <a:off x="3362325" y="2429446"/>
            <a:ext cx="2676525" cy="5397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63925" y="2548527"/>
            <a:ext cx="278828" cy="124016"/>
          </a:xfrm>
          <a:prstGeom prst="rect">
            <a:avLst/>
          </a:prstGeom>
          <a:noFill/>
        </p:spPr>
        <p:txBody>
          <a:bodyPr wrap="square" lIns="0" rIns="0" tIns="0" bIns="0" anchor="t"/>
          <a:lstStyle/>
          <a:p>
            <a:pPr algn="l">
              <a:lnSpc>
                <a:spcPts val="976"/>
              </a:lnSpc>
              <a:spcBef>
                <a:spcPts val="0"/>
              </a:spcBef>
              <a:spcAft>
                <a:spcPts val="0"/>
              </a:spcAft>
            </a:pPr>
            <a:r>
              <a:rPr sz="1300" b="1" i="0">
                <a:solidFill>
                  <a:srgbClr val="E8741A"/>
                </a:solidFill>
                <a:latin typeface="Calibri"/>
              </a:rPr>
              <a:t>M1</a:t>
            </a:r>
          </a:p>
        </p:txBody>
      </p:sp>
      <p:sp>
        <p:nvSpPr>
          <p:cNvPr id="23" name="TextBox 22"/>
          <p:cNvSpPr txBox="1"/>
          <p:nvPr/>
        </p:nvSpPr>
        <p:spPr>
          <a:xfrm>
            <a:off x="3742754" y="2548527"/>
            <a:ext cx="1431544" cy="124016"/>
          </a:xfrm>
          <a:prstGeom prst="rect">
            <a:avLst/>
          </a:prstGeom>
          <a:noFill/>
        </p:spPr>
        <p:txBody>
          <a:bodyPr wrap="square" lIns="0" rIns="0" tIns="0" bIns="0" anchor="t"/>
          <a:lstStyle/>
          <a:p>
            <a:pPr algn="l">
              <a:lnSpc>
                <a:spcPts val="976"/>
              </a:lnSpc>
              <a:spcBef>
                <a:spcPts val="0"/>
              </a:spcBef>
              <a:spcAft>
                <a:spcPts val="0"/>
              </a:spcAft>
            </a:pPr>
            <a:r>
              <a:rPr sz="1150" b="1" i="0">
                <a:solidFill>
                  <a:srgbClr val="1F2937"/>
                </a:solidFill>
                <a:latin typeface="Calibri"/>
              </a:rPr>
              <a:t>Mapeo isoparamétrico</a:t>
            </a:r>
          </a:p>
        </p:txBody>
      </p:sp>
      <p:sp>
        <p:nvSpPr>
          <p:cNvPr id="24" name="TextBox 23"/>
          <p:cNvSpPr txBox="1"/>
          <p:nvPr/>
        </p:nvSpPr>
        <p:spPr>
          <a:xfrm>
            <a:off x="3463925" y="2737545"/>
            <a:ext cx="2524125"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5B6575"/>
                </a:solidFill>
                <a:latin typeface="Calibri"/>
              </a:rPr>
              <a:t>Etapa 1 · funciones de forma</a:t>
            </a:r>
          </a:p>
        </p:txBody>
      </p:sp>
      <p:sp>
        <p:nvSpPr>
          <p:cNvPr id="25" name="Rounded Rectangle 24"/>
          <p:cNvSpPr/>
          <p:nvPr/>
        </p:nvSpPr>
        <p:spPr>
          <a:xfrm>
            <a:off x="6149975" y="1283272"/>
            <a:ext cx="2682875" cy="1689100"/>
          </a:xfrm>
          <a:prstGeom prst="roundRect">
            <a:avLst>
              <a:gd name="adj" fmla="val 5827"/>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fig_modulo_m2.png"/>
          <p:cNvPicPr>
            <a:picLocks noChangeAspect="1"/>
          </p:cNvPicPr>
          <p:nvPr/>
        </p:nvPicPr>
        <p:blipFill>
          <a:blip r:embed="rId4"/>
          <a:srcRect r="6617"/>
          <a:stretch>
            <a:fillRect/>
          </a:stretch>
        </p:blipFill>
        <p:spPr>
          <a:xfrm>
            <a:off x="6153150" y="1286446"/>
            <a:ext cx="2676525" cy="1143000"/>
          </a:xfrm>
          <a:prstGeom prst="rect">
            <a:avLst/>
          </a:prstGeom>
        </p:spPr>
      </p:pic>
      <p:sp>
        <p:nvSpPr>
          <p:cNvPr id="27" name="Rectangle 26"/>
          <p:cNvSpPr/>
          <p:nvPr/>
        </p:nvSpPr>
        <p:spPr>
          <a:xfrm>
            <a:off x="6153150" y="2429446"/>
            <a:ext cx="2676525" cy="5397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54750" y="2548527"/>
            <a:ext cx="278828" cy="124016"/>
          </a:xfrm>
          <a:prstGeom prst="rect">
            <a:avLst/>
          </a:prstGeom>
          <a:noFill/>
        </p:spPr>
        <p:txBody>
          <a:bodyPr wrap="square" lIns="0" rIns="0" tIns="0" bIns="0" anchor="t"/>
          <a:lstStyle/>
          <a:p>
            <a:pPr algn="l">
              <a:lnSpc>
                <a:spcPts val="976"/>
              </a:lnSpc>
              <a:spcBef>
                <a:spcPts val="0"/>
              </a:spcBef>
              <a:spcAft>
                <a:spcPts val="0"/>
              </a:spcAft>
            </a:pPr>
            <a:r>
              <a:rPr sz="1300" b="1" i="0">
                <a:solidFill>
                  <a:srgbClr val="E8741A"/>
                </a:solidFill>
                <a:latin typeface="Calibri"/>
              </a:rPr>
              <a:t>M2</a:t>
            </a:r>
          </a:p>
        </p:txBody>
      </p:sp>
      <p:sp>
        <p:nvSpPr>
          <p:cNvPr id="29" name="TextBox 28"/>
          <p:cNvSpPr txBox="1"/>
          <p:nvPr/>
        </p:nvSpPr>
        <p:spPr>
          <a:xfrm>
            <a:off x="6533579" y="2548527"/>
            <a:ext cx="654177" cy="124016"/>
          </a:xfrm>
          <a:prstGeom prst="rect">
            <a:avLst/>
          </a:prstGeom>
          <a:noFill/>
        </p:spPr>
        <p:txBody>
          <a:bodyPr wrap="square" lIns="0" rIns="0" tIns="0" bIns="0" anchor="t"/>
          <a:lstStyle/>
          <a:p>
            <a:pPr algn="l">
              <a:lnSpc>
                <a:spcPts val="976"/>
              </a:lnSpc>
              <a:spcBef>
                <a:spcPts val="0"/>
              </a:spcBef>
              <a:spcAft>
                <a:spcPts val="0"/>
              </a:spcAft>
            </a:pPr>
            <a:r>
              <a:rPr sz="1150" b="1" i="0">
                <a:solidFill>
                  <a:srgbClr val="1F2937"/>
                </a:solidFill>
                <a:latin typeface="Calibri"/>
              </a:rPr>
              <a:t>Jacobiano</a:t>
            </a:r>
          </a:p>
        </p:txBody>
      </p:sp>
      <p:sp>
        <p:nvSpPr>
          <p:cNvPr id="30" name="TextBox 29"/>
          <p:cNvSpPr txBox="1"/>
          <p:nvPr/>
        </p:nvSpPr>
        <p:spPr>
          <a:xfrm>
            <a:off x="6254750" y="2737545"/>
            <a:ext cx="2524125"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5B6575"/>
                </a:solidFill>
                <a:latin typeface="Calibri"/>
              </a:rPr>
              <a:t>Etapa 2 · det J y distorsión</a:t>
            </a:r>
          </a:p>
        </p:txBody>
      </p:sp>
      <p:sp>
        <p:nvSpPr>
          <p:cNvPr id="31" name="Rounded Rectangle 30"/>
          <p:cNvSpPr/>
          <p:nvPr/>
        </p:nvSpPr>
        <p:spPr>
          <a:xfrm>
            <a:off x="8940800" y="1283272"/>
            <a:ext cx="2682875" cy="1689100"/>
          </a:xfrm>
          <a:prstGeom prst="roundRect">
            <a:avLst>
              <a:gd name="adj" fmla="val 5827"/>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fig_modulo_m3.png"/>
          <p:cNvPicPr>
            <a:picLocks noChangeAspect="1"/>
          </p:cNvPicPr>
          <p:nvPr/>
        </p:nvPicPr>
        <p:blipFill>
          <a:blip r:embed="rId5"/>
          <a:srcRect r="5471"/>
          <a:stretch>
            <a:fillRect/>
          </a:stretch>
        </p:blipFill>
        <p:spPr>
          <a:xfrm>
            <a:off x="8943975" y="1286446"/>
            <a:ext cx="2676525" cy="1143000"/>
          </a:xfrm>
          <a:prstGeom prst="rect">
            <a:avLst/>
          </a:prstGeom>
        </p:spPr>
      </p:pic>
      <p:sp>
        <p:nvSpPr>
          <p:cNvPr id="33" name="Rectangle 32"/>
          <p:cNvSpPr/>
          <p:nvPr/>
        </p:nvSpPr>
        <p:spPr>
          <a:xfrm>
            <a:off x="8943975" y="2429446"/>
            <a:ext cx="2676525" cy="5397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45575" y="2548527"/>
            <a:ext cx="278828" cy="124016"/>
          </a:xfrm>
          <a:prstGeom prst="rect">
            <a:avLst/>
          </a:prstGeom>
          <a:noFill/>
        </p:spPr>
        <p:txBody>
          <a:bodyPr wrap="square" lIns="0" rIns="0" tIns="0" bIns="0" anchor="t"/>
          <a:lstStyle/>
          <a:p>
            <a:pPr algn="l">
              <a:lnSpc>
                <a:spcPts val="976"/>
              </a:lnSpc>
              <a:spcBef>
                <a:spcPts val="0"/>
              </a:spcBef>
              <a:spcAft>
                <a:spcPts val="0"/>
              </a:spcAft>
            </a:pPr>
            <a:r>
              <a:rPr sz="1300" b="1" i="0">
                <a:solidFill>
                  <a:srgbClr val="E8741A"/>
                </a:solidFill>
                <a:latin typeface="Calibri"/>
              </a:rPr>
              <a:t>M3</a:t>
            </a:r>
          </a:p>
        </p:txBody>
      </p:sp>
      <p:sp>
        <p:nvSpPr>
          <p:cNvPr id="35" name="TextBox 34"/>
          <p:cNvSpPr txBox="1"/>
          <p:nvPr/>
        </p:nvSpPr>
        <p:spPr>
          <a:xfrm>
            <a:off x="9324404" y="2548527"/>
            <a:ext cx="561975" cy="124016"/>
          </a:xfrm>
          <a:prstGeom prst="rect">
            <a:avLst/>
          </a:prstGeom>
          <a:noFill/>
        </p:spPr>
        <p:txBody>
          <a:bodyPr wrap="square" lIns="0" rIns="0" tIns="0" bIns="0" anchor="t"/>
          <a:lstStyle/>
          <a:p>
            <a:pPr algn="l">
              <a:lnSpc>
                <a:spcPts val="976"/>
              </a:lnSpc>
              <a:spcBef>
                <a:spcPts val="0"/>
              </a:spcBef>
              <a:spcAft>
                <a:spcPts val="0"/>
              </a:spcAft>
            </a:pPr>
            <a:r>
              <a:rPr sz="1150" b="1" i="0">
                <a:solidFill>
                  <a:srgbClr val="1F2937"/>
                </a:solidFill>
                <a:latin typeface="Calibri"/>
              </a:rPr>
              <a:t>Matriz B</a:t>
            </a:r>
          </a:p>
        </p:txBody>
      </p:sp>
      <p:sp>
        <p:nvSpPr>
          <p:cNvPr id="36" name="TextBox 35"/>
          <p:cNvSpPr txBox="1"/>
          <p:nvPr/>
        </p:nvSpPr>
        <p:spPr>
          <a:xfrm>
            <a:off x="9045575" y="2737545"/>
            <a:ext cx="2524125"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5B6575"/>
                </a:solidFill>
                <a:latin typeface="Calibri"/>
              </a:rPr>
              <a:t>Etapa 3 · deformación</a:t>
            </a:r>
          </a:p>
        </p:txBody>
      </p:sp>
      <p:sp>
        <p:nvSpPr>
          <p:cNvPr id="37" name="Rounded Rectangle 36"/>
          <p:cNvSpPr/>
          <p:nvPr/>
        </p:nvSpPr>
        <p:spPr>
          <a:xfrm>
            <a:off x="568325" y="3080322"/>
            <a:ext cx="2682875" cy="1711896"/>
          </a:xfrm>
          <a:prstGeom prst="roundRect">
            <a:avLst>
              <a:gd name="adj" fmla="val 5749"/>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fig_modulo_m4.png"/>
          <p:cNvPicPr>
            <a:picLocks noChangeAspect="1"/>
          </p:cNvPicPr>
          <p:nvPr/>
        </p:nvPicPr>
        <p:blipFill>
          <a:blip r:embed="rId6"/>
          <a:srcRect b="9788"/>
          <a:stretch>
            <a:fillRect/>
          </a:stretch>
        </p:blipFill>
        <p:spPr>
          <a:xfrm>
            <a:off x="571500" y="3083496"/>
            <a:ext cx="2676525" cy="1143000"/>
          </a:xfrm>
          <a:prstGeom prst="rect">
            <a:avLst/>
          </a:prstGeom>
        </p:spPr>
      </p:pic>
      <p:sp>
        <p:nvSpPr>
          <p:cNvPr id="39" name="Rectangle 38"/>
          <p:cNvSpPr/>
          <p:nvPr/>
        </p:nvSpPr>
        <p:spPr>
          <a:xfrm>
            <a:off x="571500" y="4226496"/>
            <a:ext cx="2676525" cy="5397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3100" y="4345577"/>
            <a:ext cx="278828" cy="124016"/>
          </a:xfrm>
          <a:prstGeom prst="rect">
            <a:avLst/>
          </a:prstGeom>
          <a:noFill/>
        </p:spPr>
        <p:txBody>
          <a:bodyPr wrap="square" lIns="0" rIns="0" tIns="0" bIns="0" anchor="t"/>
          <a:lstStyle/>
          <a:p>
            <a:pPr algn="l">
              <a:lnSpc>
                <a:spcPts val="976"/>
              </a:lnSpc>
              <a:spcBef>
                <a:spcPts val="0"/>
              </a:spcBef>
              <a:spcAft>
                <a:spcPts val="0"/>
              </a:spcAft>
            </a:pPr>
            <a:r>
              <a:rPr sz="1300" b="1" i="0">
                <a:solidFill>
                  <a:srgbClr val="E8741A"/>
                </a:solidFill>
                <a:latin typeface="Calibri"/>
              </a:rPr>
              <a:t>M4</a:t>
            </a:r>
          </a:p>
        </p:txBody>
      </p:sp>
      <p:sp>
        <p:nvSpPr>
          <p:cNvPr id="41" name="TextBox 40"/>
          <p:cNvSpPr txBox="1"/>
          <p:nvPr/>
        </p:nvSpPr>
        <p:spPr>
          <a:xfrm>
            <a:off x="951928" y="4345577"/>
            <a:ext cx="1324674" cy="124016"/>
          </a:xfrm>
          <a:prstGeom prst="rect">
            <a:avLst/>
          </a:prstGeom>
          <a:noFill/>
        </p:spPr>
        <p:txBody>
          <a:bodyPr wrap="square" lIns="0" rIns="0" tIns="0" bIns="0" anchor="t"/>
          <a:lstStyle/>
          <a:p>
            <a:pPr algn="l">
              <a:lnSpc>
                <a:spcPts val="976"/>
              </a:lnSpc>
              <a:spcBef>
                <a:spcPts val="0"/>
              </a:spcBef>
              <a:spcAft>
                <a:spcPts val="0"/>
              </a:spcAft>
            </a:pPr>
            <a:r>
              <a:rPr sz="1150" b="1" i="0">
                <a:solidFill>
                  <a:srgbClr val="1F2937"/>
                </a:solidFill>
                <a:latin typeface="Calibri"/>
              </a:rPr>
              <a:t>Matriz constitutiva D</a:t>
            </a:r>
          </a:p>
        </p:txBody>
      </p:sp>
      <p:sp>
        <p:nvSpPr>
          <p:cNvPr id="42" name="TextBox 41"/>
          <p:cNvSpPr txBox="1"/>
          <p:nvPr/>
        </p:nvSpPr>
        <p:spPr>
          <a:xfrm>
            <a:off x="673100" y="4534595"/>
            <a:ext cx="2524125"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5B6575"/>
                </a:solidFill>
                <a:latin typeface="Calibri"/>
              </a:rPr>
              <a:t>Etapa 4 · advierte ν → 0,5</a:t>
            </a:r>
          </a:p>
        </p:txBody>
      </p:sp>
      <p:sp>
        <p:nvSpPr>
          <p:cNvPr id="43" name="Rounded Rectangle 42"/>
          <p:cNvSpPr/>
          <p:nvPr/>
        </p:nvSpPr>
        <p:spPr>
          <a:xfrm>
            <a:off x="3359150" y="3080322"/>
            <a:ext cx="2682875" cy="1711896"/>
          </a:xfrm>
          <a:prstGeom prst="roundRect">
            <a:avLst>
              <a:gd name="adj" fmla="val 5749"/>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fig_modulo_m5.png"/>
          <p:cNvPicPr>
            <a:picLocks noChangeAspect="1"/>
          </p:cNvPicPr>
          <p:nvPr/>
        </p:nvPicPr>
        <p:blipFill>
          <a:blip r:embed="rId7"/>
          <a:srcRect b="8403"/>
          <a:stretch>
            <a:fillRect/>
          </a:stretch>
        </p:blipFill>
        <p:spPr>
          <a:xfrm>
            <a:off x="3362325" y="3083496"/>
            <a:ext cx="2676525" cy="1143000"/>
          </a:xfrm>
          <a:prstGeom prst="rect">
            <a:avLst/>
          </a:prstGeom>
        </p:spPr>
      </p:pic>
      <p:sp>
        <p:nvSpPr>
          <p:cNvPr id="45" name="Rectangle 44"/>
          <p:cNvSpPr/>
          <p:nvPr/>
        </p:nvSpPr>
        <p:spPr>
          <a:xfrm>
            <a:off x="3362325" y="4226496"/>
            <a:ext cx="2676525" cy="56254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63925" y="4345577"/>
            <a:ext cx="278828" cy="124016"/>
          </a:xfrm>
          <a:prstGeom prst="rect">
            <a:avLst/>
          </a:prstGeom>
          <a:noFill/>
        </p:spPr>
        <p:txBody>
          <a:bodyPr wrap="square" lIns="0" rIns="0" tIns="0" bIns="0" anchor="t"/>
          <a:lstStyle/>
          <a:p>
            <a:pPr algn="l">
              <a:lnSpc>
                <a:spcPts val="976"/>
              </a:lnSpc>
              <a:spcBef>
                <a:spcPts val="0"/>
              </a:spcBef>
              <a:spcAft>
                <a:spcPts val="0"/>
              </a:spcAft>
            </a:pPr>
            <a:r>
              <a:rPr sz="1300" b="1" i="0">
                <a:solidFill>
                  <a:srgbClr val="E8741A"/>
                </a:solidFill>
                <a:latin typeface="Calibri"/>
              </a:rPr>
              <a:t>M5</a:t>
            </a:r>
          </a:p>
        </p:txBody>
      </p:sp>
      <p:sp>
        <p:nvSpPr>
          <p:cNvPr id="47" name="TextBox 46"/>
          <p:cNvSpPr txBox="1"/>
          <p:nvPr/>
        </p:nvSpPr>
        <p:spPr>
          <a:xfrm>
            <a:off x="3742754" y="4345577"/>
            <a:ext cx="1147254" cy="124016"/>
          </a:xfrm>
          <a:prstGeom prst="rect">
            <a:avLst/>
          </a:prstGeom>
          <a:noFill/>
        </p:spPr>
        <p:txBody>
          <a:bodyPr wrap="square" lIns="0" rIns="0" tIns="0" bIns="0" anchor="t"/>
          <a:lstStyle/>
          <a:p>
            <a:pPr algn="l">
              <a:lnSpc>
                <a:spcPts val="976"/>
              </a:lnSpc>
              <a:spcBef>
                <a:spcPts val="0"/>
              </a:spcBef>
              <a:spcAft>
                <a:spcPts val="0"/>
              </a:spcAft>
            </a:pPr>
            <a:r>
              <a:rPr sz="1150" b="1" i="0">
                <a:solidFill>
                  <a:srgbClr val="1F2937"/>
                </a:solidFill>
                <a:latin typeface="Calibri"/>
              </a:rPr>
              <a:t>Rigidez k</a:t>
            </a:r>
            <a:r>
              <a:rPr sz="1150" b="1" i="0" baseline="-25000">
                <a:solidFill>
                  <a:srgbClr val="1F2937"/>
                </a:solidFill>
                <a:latin typeface="Calibri"/>
              </a:rPr>
              <a:t>e</a:t>
            </a:r>
            <a:r>
              <a:rPr sz="1150" b="1" i="0">
                <a:solidFill>
                  <a:srgbClr val="1F2937"/>
                </a:solidFill>
                <a:latin typeface="Calibri"/>
              </a:rPr>
              <a:t> + Gauss</a:t>
            </a:r>
          </a:p>
        </p:txBody>
      </p:sp>
      <p:sp>
        <p:nvSpPr>
          <p:cNvPr id="48" name="TextBox 47"/>
          <p:cNvSpPr txBox="1"/>
          <p:nvPr/>
        </p:nvSpPr>
        <p:spPr>
          <a:xfrm>
            <a:off x="3463925" y="4557391"/>
            <a:ext cx="2524125"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5B6575"/>
                </a:solidFill>
                <a:latin typeface="Calibri"/>
              </a:rPr>
              <a:t>Etapa 5 · puntos de Gauss variables</a:t>
            </a:r>
          </a:p>
        </p:txBody>
      </p:sp>
      <p:sp>
        <p:nvSpPr>
          <p:cNvPr id="49" name="Rounded Rectangle 48"/>
          <p:cNvSpPr/>
          <p:nvPr/>
        </p:nvSpPr>
        <p:spPr>
          <a:xfrm>
            <a:off x="6149975" y="3080322"/>
            <a:ext cx="2682875" cy="1711896"/>
          </a:xfrm>
          <a:prstGeom prst="roundRect">
            <a:avLst>
              <a:gd name="adj" fmla="val 5749"/>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fig_modulo_m6.png"/>
          <p:cNvPicPr>
            <a:picLocks noChangeAspect="1"/>
          </p:cNvPicPr>
          <p:nvPr/>
        </p:nvPicPr>
        <p:blipFill>
          <a:blip r:embed="rId8"/>
          <a:srcRect b="17576"/>
          <a:stretch>
            <a:fillRect/>
          </a:stretch>
        </p:blipFill>
        <p:spPr>
          <a:xfrm>
            <a:off x="6153150" y="3083496"/>
            <a:ext cx="2676525" cy="1143000"/>
          </a:xfrm>
          <a:prstGeom prst="rect">
            <a:avLst/>
          </a:prstGeom>
        </p:spPr>
      </p:pic>
      <p:sp>
        <p:nvSpPr>
          <p:cNvPr id="51" name="Rectangle 50"/>
          <p:cNvSpPr/>
          <p:nvPr/>
        </p:nvSpPr>
        <p:spPr>
          <a:xfrm>
            <a:off x="6153150" y="4226496"/>
            <a:ext cx="2676525" cy="5397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54750" y="4345577"/>
            <a:ext cx="278828" cy="124016"/>
          </a:xfrm>
          <a:prstGeom prst="rect">
            <a:avLst/>
          </a:prstGeom>
          <a:noFill/>
        </p:spPr>
        <p:txBody>
          <a:bodyPr wrap="square" lIns="0" rIns="0" tIns="0" bIns="0" anchor="t"/>
          <a:lstStyle/>
          <a:p>
            <a:pPr algn="l">
              <a:lnSpc>
                <a:spcPts val="976"/>
              </a:lnSpc>
              <a:spcBef>
                <a:spcPts val="0"/>
              </a:spcBef>
              <a:spcAft>
                <a:spcPts val="0"/>
              </a:spcAft>
            </a:pPr>
            <a:r>
              <a:rPr sz="1300" b="1" i="0">
                <a:solidFill>
                  <a:srgbClr val="E8741A"/>
                </a:solidFill>
                <a:latin typeface="Calibri"/>
              </a:rPr>
              <a:t>M6</a:t>
            </a:r>
          </a:p>
        </p:txBody>
      </p:sp>
      <p:sp>
        <p:nvSpPr>
          <p:cNvPr id="53" name="TextBox 52"/>
          <p:cNvSpPr txBox="1"/>
          <p:nvPr/>
        </p:nvSpPr>
        <p:spPr>
          <a:xfrm>
            <a:off x="6533579" y="4345577"/>
            <a:ext cx="1320673" cy="124016"/>
          </a:xfrm>
          <a:prstGeom prst="rect">
            <a:avLst/>
          </a:prstGeom>
          <a:noFill/>
        </p:spPr>
        <p:txBody>
          <a:bodyPr wrap="square" lIns="0" rIns="0" tIns="0" bIns="0" anchor="t"/>
          <a:lstStyle/>
          <a:p>
            <a:pPr algn="l">
              <a:lnSpc>
                <a:spcPts val="976"/>
              </a:lnSpc>
              <a:spcBef>
                <a:spcPts val="0"/>
              </a:spcBef>
              <a:spcAft>
                <a:spcPts val="0"/>
              </a:spcAft>
            </a:pPr>
            <a:r>
              <a:rPr sz="1150" b="1" i="0">
                <a:solidFill>
                  <a:srgbClr val="1F2937"/>
                </a:solidFill>
                <a:latin typeface="Calibri"/>
              </a:rPr>
              <a:t>Fuerzas equivalentes</a:t>
            </a:r>
          </a:p>
        </p:txBody>
      </p:sp>
      <p:sp>
        <p:nvSpPr>
          <p:cNvPr id="54" name="TextBox 53"/>
          <p:cNvSpPr txBox="1"/>
          <p:nvPr/>
        </p:nvSpPr>
        <p:spPr>
          <a:xfrm>
            <a:off x="6254750" y="4534595"/>
            <a:ext cx="2524125"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5B6575"/>
                </a:solidFill>
                <a:latin typeface="Calibri"/>
              </a:rPr>
              <a:t>Etapa 6 · carga distribuida</a:t>
            </a:r>
          </a:p>
        </p:txBody>
      </p:sp>
      <p:sp>
        <p:nvSpPr>
          <p:cNvPr id="55" name="Rounded Rectangle 54"/>
          <p:cNvSpPr/>
          <p:nvPr/>
        </p:nvSpPr>
        <p:spPr>
          <a:xfrm>
            <a:off x="8940800" y="3080322"/>
            <a:ext cx="2682875" cy="1711896"/>
          </a:xfrm>
          <a:prstGeom prst="roundRect">
            <a:avLst>
              <a:gd name="adj" fmla="val 5749"/>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fig_modulo_m7.png"/>
          <p:cNvPicPr>
            <a:picLocks noChangeAspect="1"/>
          </p:cNvPicPr>
          <p:nvPr/>
        </p:nvPicPr>
        <p:blipFill>
          <a:blip r:embed="rId9"/>
          <a:srcRect b="7537"/>
          <a:stretch>
            <a:fillRect/>
          </a:stretch>
        </p:blipFill>
        <p:spPr>
          <a:xfrm>
            <a:off x="8943975" y="3083496"/>
            <a:ext cx="2676525" cy="1143000"/>
          </a:xfrm>
          <a:prstGeom prst="rect">
            <a:avLst/>
          </a:prstGeom>
        </p:spPr>
      </p:pic>
      <p:sp>
        <p:nvSpPr>
          <p:cNvPr id="57" name="Rectangle 56"/>
          <p:cNvSpPr/>
          <p:nvPr/>
        </p:nvSpPr>
        <p:spPr>
          <a:xfrm>
            <a:off x="8943975" y="4226496"/>
            <a:ext cx="2676525" cy="5397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45575" y="4345577"/>
            <a:ext cx="278828" cy="124016"/>
          </a:xfrm>
          <a:prstGeom prst="rect">
            <a:avLst/>
          </a:prstGeom>
          <a:noFill/>
        </p:spPr>
        <p:txBody>
          <a:bodyPr wrap="square" lIns="0" rIns="0" tIns="0" bIns="0" anchor="t"/>
          <a:lstStyle/>
          <a:p>
            <a:pPr algn="l">
              <a:lnSpc>
                <a:spcPts val="976"/>
              </a:lnSpc>
              <a:spcBef>
                <a:spcPts val="0"/>
              </a:spcBef>
              <a:spcAft>
                <a:spcPts val="0"/>
              </a:spcAft>
            </a:pPr>
            <a:r>
              <a:rPr sz="1300" b="1" i="0">
                <a:solidFill>
                  <a:srgbClr val="E8741A"/>
                </a:solidFill>
                <a:latin typeface="Calibri"/>
              </a:rPr>
              <a:t>M7</a:t>
            </a:r>
          </a:p>
        </p:txBody>
      </p:sp>
      <p:sp>
        <p:nvSpPr>
          <p:cNvPr id="59" name="TextBox 58"/>
          <p:cNvSpPr txBox="1"/>
          <p:nvPr/>
        </p:nvSpPr>
        <p:spPr>
          <a:xfrm>
            <a:off x="9324404" y="4345577"/>
            <a:ext cx="746824" cy="124016"/>
          </a:xfrm>
          <a:prstGeom prst="rect">
            <a:avLst/>
          </a:prstGeom>
          <a:noFill/>
        </p:spPr>
        <p:txBody>
          <a:bodyPr wrap="square" lIns="0" rIns="0" tIns="0" bIns="0" anchor="t"/>
          <a:lstStyle/>
          <a:p>
            <a:pPr algn="l">
              <a:lnSpc>
                <a:spcPts val="976"/>
              </a:lnSpc>
              <a:spcBef>
                <a:spcPts val="0"/>
              </a:spcBef>
              <a:spcAft>
                <a:spcPts val="0"/>
              </a:spcAft>
            </a:pPr>
            <a:r>
              <a:rPr sz="1150" b="1" i="0">
                <a:solidFill>
                  <a:srgbClr val="1F2937"/>
                </a:solidFill>
                <a:latin typeface="Calibri"/>
              </a:rPr>
              <a:t>Ensamblaje</a:t>
            </a:r>
          </a:p>
        </p:txBody>
      </p:sp>
      <p:sp>
        <p:nvSpPr>
          <p:cNvPr id="60" name="TextBox 59"/>
          <p:cNvSpPr txBox="1"/>
          <p:nvPr/>
        </p:nvSpPr>
        <p:spPr>
          <a:xfrm>
            <a:off x="9045575" y="4534595"/>
            <a:ext cx="2524125" cy="147256"/>
          </a:xfrm>
          <a:prstGeom prst="rect">
            <a:avLst/>
          </a:prstGeom>
          <a:noFill/>
        </p:spPr>
        <p:txBody>
          <a:bodyPr wrap="square" lIns="0" rIns="0" tIns="0" bIns="0" anchor="t"/>
          <a:lstStyle/>
          <a:p>
            <a:pPr algn="l">
              <a:lnSpc>
                <a:spcPts val="1160"/>
              </a:lnSpc>
              <a:spcBef>
                <a:spcPts val="0"/>
              </a:spcBef>
              <a:spcAft>
                <a:spcPts val="0"/>
              </a:spcAft>
            </a:pPr>
            <a:r>
              <a:rPr sz="950" b="0" i="0">
                <a:solidFill>
                  <a:srgbClr val="5B6575"/>
                </a:solidFill>
                <a:latin typeface="Calibri"/>
              </a:rPr>
              <a:t>Etapa 7 · K y F globales</a:t>
            </a:r>
          </a:p>
        </p:txBody>
      </p:sp>
      <p:sp>
        <p:nvSpPr>
          <p:cNvPr id="61" name="Rounded Rectangle 60"/>
          <p:cNvSpPr/>
          <p:nvPr/>
        </p:nvSpPr>
        <p:spPr>
          <a:xfrm>
            <a:off x="565150" y="5659120"/>
            <a:ext cx="110617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65150" y="56591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6450" y="5775884"/>
            <a:ext cx="2680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64" name="TextBox 63"/>
          <p:cNvSpPr txBox="1"/>
          <p:nvPr/>
        </p:nvSpPr>
        <p:spPr>
          <a:xfrm>
            <a:off x="1163447" y="5802089"/>
            <a:ext cx="9793351" cy="263398"/>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Cada módulo usa las mismas funciones del motor: lo que se muestra es, por construcción, lo que se calcula.</a:t>
            </a:r>
          </a:p>
        </p:txBody>
      </p:sp>
      <p:sp>
        <p:nvSpPr>
          <p:cNvPr id="65" name="Rectangle 64"/>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68" name="TextBox 67"/>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2.2.7 · Tabla 2.8</a:t>
            </a:r>
          </a:p>
        </p:txBody>
      </p:sp>
      <p:sp>
        <p:nvSpPr>
          <p:cNvPr id="69" name="TextBox 68"/>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32</a:t>
            </a:r>
          </a:p>
        </p:txBody>
      </p:sp>
      <p:sp>
        <p:nvSpPr>
          <p:cNvPr id="70" name="Enlace a sep-intro">
            <a:hlinkClick action="ppaction://hlinksldjump" r:id="rId10"/>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Enlace a sep-teoria">
            <a:hlinkClick action="ppaction://hlinksldjump" r:id="rId11"/>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Enlace a sep-diseno">
            <a:hlinkClick action="ppaction://hlinksldjump" r:id="rId12"/>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Enlace a sep-resultados">
            <a:hlinkClick action="ppaction://hlinksldjump" r:id="rId13"/>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Enlace a sep-analisis">
            <a:hlinkClick action="ppaction://hlinksldjump" r:id="rId14"/>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Enlace a sep-conclusiones">
            <a:hlinkClick action="ppaction://hlinksldjump" r:id="rId15"/>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9" fill="hold">
                      <p:stCondLst>
                        <p:cond delay="indefinite"/>
                        <p:cond evt="onBegin" delay="0">
                          <p:tn val="2"/>
                        </p:cond>
                      </p:stCondLst>
                      <p:childTnLst>
                        <p:par>
                          <p:cTn id="160"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23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23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23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23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23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grpId="0" nodeType="withEffect">
                                  <p:stCondLst>
                                    <p:cond delay="23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par>
                                <p:cTn id="39" presetID="10" presetClass="entr" presetSubtype="0" fill="hold" grpId="0" nodeType="withEffect">
                                  <p:stCondLst>
                                    <p:cond delay="34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50"/>
                                        <p:tgtEl>
                                          <p:spTgt spid="25"/>
                                        </p:tgtEl>
                                      </p:cBhvr>
                                    </p:animEffect>
                                  </p:childTnLst>
                                </p:cTn>
                              </p:par>
                              <p:par>
                                <p:cTn id="42" presetID="10" presetClass="entr" presetSubtype="0" fill="hold" grpId="0" nodeType="withEffect">
                                  <p:stCondLst>
                                    <p:cond delay="34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50"/>
                                        <p:tgtEl>
                                          <p:spTgt spid="26"/>
                                        </p:tgtEl>
                                      </p:cBhvr>
                                    </p:animEffect>
                                  </p:childTnLst>
                                </p:cTn>
                              </p:par>
                              <p:par>
                                <p:cTn id="45" presetID="10" presetClass="entr" presetSubtype="0" fill="hold" grpId="0" nodeType="withEffect">
                                  <p:stCondLst>
                                    <p:cond delay="34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50"/>
                                        <p:tgtEl>
                                          <p:spTgt spid="27"/>
                                        </p:tgtEl>
                                      </p:cBhvr>
                                    </p:animEffect>
                                  </p:childTnLst>
                                </p:cTn>
                              </p:par>
                              <p:par>
                                <p:cTn id="48" presetID="10" presetClass="entr" presetSubtype="0" fill="hold" grpId="0" nodeType="withEffect">
                                  <p:stCondLst>
                                    <p:cond delay="34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50"/>
                                        <p:tgtEl>
                                          <p:spTgt spid="28"/>
                                        </p:tgtEl>
                                      </p:cBhvr>
                                    </p:animEffect>
                                  </p:childTnLst>
                                </p:cTn>
                              </p:par>
                              <p:par>
                                <p:cTn id="51" presetID="10" presetClass="entr" presetSubtype="0" fill="hold" grpId="0" nodeType="withEffect">
                                  <p:stCondLst>
                                    <p:cond delay="34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50"/>
                                        <p:tgtEl>
                                          <p:spTgt spid="29"/>
                                        </p:tgtEl>
                                      </p:cBhvr>
                                    </p:animEffect>
                                  </p:childTnLst>
                                </p:cTn>
                              </p:par>
                              <p:par>
                                <p:cTn id="54" presetID="10" presetClass="entr" presetSubtype="0" fill="hold" grpId="0" nodeType="withEffect">
                                  <p:stCondLst>
                                    <p:cond delay="34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50"/>
                                        <p:tgtEl>
                                          <p:spTgt spid="30"/>
                                        </p:tgtEl>
                                      </p:cBhvr>
                                    </p:animEffect>
                                  </p:childTnLst>
                                </p:cTn>
                              </p:par>
                              <p:par>
                                <p:cTn id="57" presetID="10" presetClass="entr" presetSubtype="0" fill="hold" grpId="0" nodeType="withEffect">
                                  <p:stCondLst>
                                    <p:cond delay="45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50"/>
                                        <p:tgtEl>
                                          <p:spTgt spid="31"/>
                                        </p:tgtEl>
                                      </p:cBhvr>
                                    </p:animEffect>
                                  </p:childTnLst>
                                </p:cTn>
                              </p:par>
                              <p:par>
                                <p:cTn id="60" presetID="10" presetClass="entr" presetSubtype="0" fill="hold" grpId="0" nodeType="withEffect">
                                  <p:stCondLst>
                                    <p:cond delay="45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50"/>
                                        <p:tgtEl>
                                          <p:spTgt spid="32"/>
                                        </p:tgtEl>
                                      </p:cBhvr>
                                    </p:animEffect>
                                  </p:childTnLst>
                                </p:cTn>
                              </p:par>
                              <p:par>
                                <p:cTn id="63" presetID="10" presetClass="entr" presetSubtype="0" fill="hold" grpId="0" nodeType="withEffect">
                                  <p:stCondLst>
                                    <p:cond delay="45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50"/>
                                        <p:tgtEl>
                                          <p:spTgt spid="33"/>
                                        </p:tgtEl>
                                      </p:cBhvr>
                                    </p:animEffect>
                                  </p:childTnLst>
                                </p:cTn>
                              </p:par>
                              <p:par>
                                <p:cTn id="66" presetID="10" presetClass="entr" presetSubtype="0" fill="hold" grpId="0" nodeType="withEffect">
                                  <p:stCondLst>
                                    <p:cond delay="45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50"/>
                                        <p:tgtEl>
                                          <p:spTgt spid="34"/>
                                        </p:tgtEl>
                                      </p:cBhvr>
                                    </p:animEffect>
                                  </p:childTnLst>
                                </p:cTn>
                              </p:par>
                              <p:par>
                                <p:cTn id="69" presetID="10" presetClass="entr" presetSubtype="0" fill="hold" grpId="0" nodeType="withEffect">
                                  <p:stCondLst>
                                    <p:cond delay="45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50"/>
                                        <p:tgtEl>
                                          <p:spTgt spid="35"/>
                                        </p:tgtEl>
                                      </p:cBhvr>
                                    </p:animEffect>
                                  </p:childTnLst>
                                </p:cTn>
                              </p:par>
                              <p:par>
                                <p:cTn id="72" presetID="10" presetClass="entr" presetSubtype="0" fill="hold" grpId="0" nodeType="withEffect">
                                  <p:stCondLst>
                                    <p:cond delay="45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50"/>
                                        <p:tgtEl>
                                          <p:spTgt spid="36"/>
                                        </p:tgtEl>
                                      </p:cBhvr>
                                    </p:animEffect>
                                  </p:childTnLst>
                                </p:cTn>
                              </p:par>
                              <p:par>
                                <p:cTn id="75" presetID="10" presetClass="entr" presetSubtype="0" fill="hold" grpId="0" nodeType="withEffect">
                                  <p:stCondLst>
                                    <p:cond delay="56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50"/>
                                        <p:tgtEl>
                                          <p:spTgt spid="37"/>
                                        </p:tgtEl>
                                      </p:cBhvr>
                                    </p:animEffect>
                                  </p:childTnLst>
                                </p:cTn>
                              </p:par>
                              <p:par>
                                <p:cTn id="78" presetID="10" presetClass="entr" presetSubtype="0" fill="hold" grpId="0" nodeType="withEffect">
                                  <p:stCondLst>
                                    <p:cond delay="56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50"/>
                                        <p:tgtEl>
                                          <p:spTgt spid="38"/>
                                        </p:tgtEl>
                                      </p:cBhvr>
                                    </p:animEffect>
                                  </p:childTnLst>
                                </p:cTn>
                              </p:par>
                              <p:par>
                                <p:cTn id="81" presetID="10" presetClass="entr" presetSubtype="0" fill="hold" grpId="0" nodeType="withEffect">
                                  <p:stCondLst>
                                    <p:cond delay="56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50"/>
                                        <p:tgtEl>
                                          <p:spTgt spid="39"/>
                                        </p:tgtEl>
                                      </p:cBhvr>
                                    </p:animEffect>
                                  </p:childTnLst>
                                </p:cTn>
                              </p:par>
                              <p:par>
                                <p:cTn id="84" presetID="10" presetClass="entr" presetSubtype="0" fill="hold" grpId="0" nodeType="withEffect">
                                  <p:stCondLst>
                                    <p:cond delay="56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50"/>
                                        <p:tgtEl>
                                          <p:spTgt spid="40"/>
                                        </p:tgtEl>
                                      </p:cBhvr>
                                    </p:animEffect>
                                  </p:childTnLst>
                                </p:cTn>
                              </p:par>
                              <p:par>
                                <p:cTn id="87" presetID="10" presetClass="entr" presetSubtype="0" fill="hold" grpId="0" nodeType="withEffect">
                                  <p:stCondLst>
                                    <p:cond delay="56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50"/>
                                        <p:tgtEl>
                                          <p:spTgt spid="41"/>
                                        </p:tgtEl>
                                      </p:cBhvr>
                                    </p:animEffect>
                                  </p:childTnLst>
                                </p:cTn>
                              </p:par>
                              <p:par>
                                <p:cTn id="90" presetID="10" presetClass="entr" presetSubtype="0" fill="hold" grpId="0" nodeType="withEffect">
                                  <p:stCondLst>
                                    <p:cond delay="56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50"/>
                                        <p:tgtEl>
                                          <p:spTgt spid="42"/>
                                        </p:tgtEl>
                                      </p:cBhvr>
                                    </p:animEffect>
                                  </p:childTnLst>
                                </p:cTn>
                              </p:par>
                              <p:par>
                                <p:cTn id="93" presetID="10" presetClass="entr" presetSubtype="0" fill="hold" grpId="0" nodeType="withEffect">
                                  <p:stCondLst>
                                    <p:cond delay="67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50"/>
                                        <p:tgtEl>
                                          <p:spTgt spid="43"/>
                                        </p:tgtEl>
                                      </p:cBhvr>
                                    </p:animEffect>
                                  </p:childTnLst>
                                </p:cTn>
                              </p:par>
                              <p:par>
                                <p:cTn id="96" presetID="10" presetClass="entr" presetSubtype="0" fill="hold" grpId="0" nodeType="withEffect">
                                  <p:stCondLst>
                                    <p:cond delay="67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450"/>
                                        <p:tgtEl>
                                          <p:spTgt spid="44"/>
                                        </p:tgtEl>
                                      </p:cBhvr>
                                    </p:animEffect>
                                  </p:childTnLst>
                                </p:cTn>
                              </p:par>
                              <p:par>
                                <p:cTn id="99" presetID="10" presetClass="entr" presetSubtype="0" fill="hold" grpId="0" nodeType="withEffect">
                                  <p:stCondLst>
                                    <p:cond delay="67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450"/>
                                        <p:tgtEl>
                                          <p:spTgt spid="45"/>
                                        </p:tgtEl>
                                      </p:cBhvr>
                                    </p:animEffect>
                                  </p:childTnLst>
                                </p:cTn>
                              </p:par>
                              <p:par>
                                <p:cTn id="102" presetID="10" presetClass="entr" presetSubtype="0" fill="hold" grpId="0" nodeType="withEffect">
                                  <p:stCondLst>
                                    <p:cond delay="67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450"/>
                                        <p:tgtEl>
                                          <p:spTgt spid="46"/>
                                        </p:tgtEl>
                                      </p:cBhvr>
                                    </p:animEffect>
                                  </p:childTnLst>
                                </p:cTn>
                              </p:par>
                              <p:par>
                                <p:cTn id="105" presetID="10" presetClass="entr" presetSubtype="0" fill="hold" grpId="0" nodeType="withEffect">
                                  <p:stCondLst>
                                    <p:cond delay="67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450"/>
                                        <p:tgtEl>
                                          <p:spTgt spid="47"/>
                                        </p:tgtEl>
                                      </p:cBhvr>
                                    </p:animEffect>
                                  </p:childTnLst>
                                </p:cTn>
                              </p:par>
                              <p:par>
                                <p:cTn id="108" presetID="10" presetClass="entr" presetSubtype="0" fill="hold" grpId="0" nodeType="withEffect">
                                  <p:stCondLst>
                                    <p:cond delay="67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450"/>
                                        <p:tgtEl>
                                          <p:spTgt spid="48"/>
                                        </p:tgtEl>
                                      </p:cBhvr>
                                    </p:animEffect>
                                  </p:childTnLst>
                                </p:cTn>
                              </p:par>
                              <p:par>
                                <p:cTn id="111" presetID="10" presetClass="entr" presetSubtype="0" fill="hold" grpId="0" nodeType="withEffect">
                                  <p:stCondLst>
                                    <p:cond delay="78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450"/>
                                        <p:tgtEl>
                                          <p:spTgt spid="49"/>
                                        </p:tgtEl>
                                      </p:cBhvr>
                                    </p:animEffect>
                                  </p:childTnLst>
                                </p:cTn>
                              </p:par>
                              <p:par>
                                <p:cTn id="114" presetID="10" presetClass="entr" presetSubtype="0" fill="hold" grpId="0" nodeType="withEffect">
                                  <p:stCondLst>
                                    <p:cond delay="780"/>
                                  </p:stCondLst>
                                  <p:childTnLst>
                                    <p:set>
                                      <p:cBhvr>
                                        <p:cTn id="115" dur="1" fill="hold">
                                          <p:stCondLst>
                                            <p:cond delay="0"/>
                                          </p:stCondLst>
                                        </p:cTn>
                                        <p:tgtEl>
                                          <p:spTgt spid="50"/>
                                        </p:tgtEl>
                                        <p:attrNameLst>
                                          <p:attrName>style.visibility</p:attrName>
                                        </p:attrNameLst>
                                      </p:cBhvr>
                                      <p:to>
                                        <p:strVal val="visible"/>
                                      </p:to>
                                    </p:set>
                                    <p:animEffect transition="in" filter="fade">
                                      <p:cBhvr>
                                        <p:cTn id="116" dur="450"/>
                                        <p:tgtEl>
                                          <p:spTgt spid="50"/>
                                        </p:tgtEl>
                                      </p:cBhvr>
                                    </p:animEffect>
                                  </p:childTnLst>
                                </p:cTn>
                              </p:par>
                              <p:par>
                                <p:cTn id="117" presetID="10" presetClass="entr" presetSubtype="0" fill="hold" grpId="0" nodeType="withEffect">
                                  <p:stCondLst>
                                    <p:cond delay="780"/>
                                  </p:stCondLst>
                                  <p:childTnLst>
                                    <p:set>
                                      <p:cBhvr>
                                        <p:cTn id="118" dur="1" fill="hold">
                                          <p:stCondLst>
                                            <p:cond delay="0"/>
                                          </p:stCondLst>
                                        </p:cTn>
                                        <p:tgtEl>
                                          <p:spTgt spid="51"/>
                                        </p:tgtEl>
                                        <p:attrNameLst>
                                          <p:attrName>style.visibility</p:attrName>
                                        </p:attrNameLst>
                                      </p:cBhvr>
                                      <p:to>
                                        <p:strVal val="visible"/>
                                      </p:to>
                                    </p:set>
                                    <p:animEffect transition="in" filter="fade">
                                      <p:cBhvr>
                                        <p:cTn id="119" dur="450"/>
                                        <p:tgtEl>
                                          <p:spTgt spid="51"/>
                                        </p:tgtEl>
                                      </p:cBhvr>
                                    </p:animEffect>
                                  </p:childTnLst>
                                </p:cTn>
                              </p:par>
                              <p:par>
                                <p:cTn id="120" presetID="10" presetClass="entr" presetSubtype="0" fill="hold" grpId="0" nodeType="withEffect">
                                  <p:stCondLst>
                                    <p:cond delay="780"/>
                                  </p:stCondLst>
                                  <p:childTnLst>
                                    <p:set>
                                      <p:cBhvr>
                                        <p:cTn id="121" dur="1" fill="hold">
                                          <p:stCondLst>
                                            <p:cond delay="0"/>
                                          </p:stCondLst>
                                        </p:cTn>
                                        <p:tgtEl>
                                          <p:spTgt spid="52"/>
                                        </p:tgtEl>
                                        <p:attrNameLst>
                                          <p:attrName>style.visibility</p:attrName>
                                        </p:attrNameLst>
                                      </p:cBhvr>
                                      <p:to>
                                        <p:strVal val="visible"/>
                                      </p:to>
                                    </p:set>
                                    <p:animEffect transition="in" filter="fade">
                                      <p:cBhvr>
                                        <p:cTn id="122" dur="450"/>
                                        <p:tgtEl>
                                          <p:spTgt spid="52"/>
                                        </p:tgtEl>
                                      </p:cBhvr>
                                    </p:animEffect>
                                  </p:childTnLst>
                                </p:cTn>
                              </p:par>
                              <p:par>
                                <p:cTn id="123" presetID="10" presetClass="entr" presetSubtype="0" fill="hold" grpId="0" nodeType="withEffect">
                                  <p:stCondLst>
                                    <p:cond delay="780"/>
                                  </p:stCondLst>
                                  <p:childTnLst>
                                    <p:set>
                                      <p:cBhvr>
                                        <p:cTn id="124" dur="1" fill="hold">
                                          <p:stCondLst>
                                            <p:cond delay="0"/>
                                          </p:stCondLst>
                                        </p:cTn>
                                        <p:tgtEl>
                                          <p:spTgt spid="53"/>
                                        </p:tgtEl>
                                        <p:attrNameLst>
                                          <p:attrName>style.visibility</p:attrName>
                                        </p:attrNameLst>
                                      </p:cBhvr>
                                      <p:to>
                                        <p:strVal val="visible"/>
                                      </p:to>
                                    </p:set>
                                    <p:animEffect transition="in" filter="fade">
                                      <p:cBhvr>
                                        <p:cTn id="125" dur="450"/>
                                        <p:tgtEl>
                                          <p:spTgt spid="53"/>
                                        </p:tgtEl>
                                      </p:cBhvr>
                                    </p:animEffect>
                                  </p:childTnLst>
                                </p:cTn>
                              </p:par>
                              <p:par>
                                <p:cTn id="126" presetID="10" presetClass="entr" presetSubtype="0" fill="hold" grpId="0" nodeType="withEffect">
                                  <p:stCondLst>
                                    <p:cond delay="780"/>
                                  </p:stCondLst>
                                  <p:childTnLst>
                                    <p:set>
                                      <p:cBhvr>
                                        <p:cTn id="127" dur="1" fill="hold">
                                          <p:stCondLst>
                                            <p:cond delay="0"/>
                                          </p:stCondLst>
                                        </p:cTn>
                                        <p:tgtEl>
                                          <p:spTgt spid="54"/>
                                        </p:tgtEl>
                                        <p:attrNameLst>
                                          <p:attrName>style.visibility</p:attrName>
                                        </p:attrNameLst>
                                      </p:cBhvr>
                                      <p:to>
                                        <p:strVal val="visible"/>
                                      </p:to>
                                    </p:set>
                                    <p:animEffect transition="in" filter="fade">
                                      <p:cBhvr>
                                        <p:cTn id="128" dur="450"/>
                                        <p:tgtEl>
                                          <p:spTgt spid="54"/>
                                        </p:tgtEl>
                                      </p:cBhvr>
                                    </p:animEffect>
                                  </p:childTnLst>
                                </p:cTn>
                              </p:par>
                              <p:par>
                                <p:cTn id="129" presetID="10" presetClass="entr" presetSubtype="0" fill="hold" grpId="0" nodeType="withEffect">
                                  <p:stCondLst>
                                    <p:cond delay="890"/>
                                  </p:stCondLst>
                                  <p:childTnLst>
                                    <p:set>
                                      <p:cBhvr>
                                        <p:cTn id="130" dur="1" fill="hold">
                                          <p:stCondLst>
                                            <p:cond delay="0"/>
                                          </p:stCondLst>
                                        </p:cTn>
                                        <p:tgtEl>
                                          <p:spTgt spid="55"/>
                                        </p:tgtEl>
                                        <p:attrNameLst>
                                          <p:attrName>style.visibility</p:attrName>
                                        </p:attrNameLst>
                                      </p:cBhvr>
                                      <p:to>
                                        <p:strVal val="visible"/>
                                      </p:to>
                                    </p:set>
                                    <p:animEffect transition="in" filter="fade">
                                      <p:cBhvr>
                                        <p:cTn id="131" dur="450"/>
                                        <p:tgtEl>
                                          <p:spTgt spid="55"/>
                                        </p:tgtEl>
                                      </p:cBhvr>
                                    </p:animEffect>
                                  </p:childTnLst>
                                </p:cTn>
                              </p:par>
                              <p:par>
                                <p:cTn id="132" presetID="10" presetClass="entr" presetSubtype="0" fill="hold" grpId="0" nodeType="withEffect">
                                  <p:stCondLst>
                                    <p:cond delay="890"/>
                                  </p:stCondLst>
                                  <p:childTnLst>
                                    <p:set>
                                      <p:cBhvr>
                                        <p:cTn id="133" dur="1" fill="hold">
                                          <p:stCondLst>
                                            <p:cond delay="0"/>
                                          </p:stCondLst>
                                        </p:cTn>
                                        <p:tgtEl>
                                          <p:spTgt spid="56"/>
                                        </p:tgtEl>
                                        <p:attrNameLst>
                                          <p:attrName>style.visibility</p:attrName>
                                        </p:attrNameLst>
                                      </p:cBhvr>
                                      <p:to>
                                        <p:strVal val="visible"/>
                                      </p:to>
                                    </p:set>
                                    <p:animEffect transition="in" filter="fade">
                                      <p:cBhvr>
                                        <p:cTn id="134" dur="450"/>
                                        <p:tgtEl>
                                          <p:spTgt spid="56"/>
                                        </p:tgtEl>
                                      </p:cBhvr>
                                    </p:animEffect>
                                  </p:childTnLst>
                                </p:cTn>
                              </p:par>
                              <p:par>
                                <p:cTn id="135" presetID="10" presetClass="entr" presetSubtype="0" fill="hold" grpId="0" nodeType="withEffect">
                                  <p:stCondLst>
                                    <p:cond delay="890"/>
                                  </p:stCondLst>
                                  <p:childTnLst>
                                    <p:set>
                                      <p:cBhvr>
                                        <p:cTn id="136" dur="1" fill="hold">
                                          <p:stCondLst>
                                            <p:cond delay="0"/>
                                          </p:stCondLst>
                                        </p:cTn>
                                        <p:tgtEl>
                                          <p:spTgt spid="57"/>
                                        </p:tgtEl>
                                        <p:attrNameLst>
                                          <p:attrName>style.visibility</p:attrName>
                                        </p:attrNameLst>
                                      </p:cBhvr>
                                      <p:to>
                                        <p:strVal val="visible"/>
                                      </p:to>
                                    </p:set>
                                    <p:animEffect transition="in" filter="fade">
                                      <p:cBhvr>
                                        <p:cTn id="137" dur="450"/>
                                        <p:tgtEl>
                                          <p:spTgt spid="57"/>
                                        </p:tgtEl>
                                      </p:cBhvr>
                                    </p:animEffect>
                                  </p:childTnLst>
                                </p:cTn>
                              </p:par>
                              <p:par>
                                <p:cTn id="138" presetID="10" presetClass="entr" presetSubtype="0" fill="hold" grpId="0" nodeType="withEffect">
                                  <p:stCondLst>
                                    <p:cond delay="890"/>
                                  </p:stCondLst>
                                  <p:childTnLst>
                                    <p:set>
                                      <p:cBhvr>
                                        <p:cTn id="139" dur="1" fill="hold">
                                          <p:stCondLst>
                                            <p:cond delay="0"/>
                                          </p:stCondLst>
                                        </p:cTn>
                                        <p:tgtEl>
                                          <p:spTgt spid="58"/>
                                        </p:tgtEl>
                                        <p:attrNameLst>
                                          <p:attrName>style.visibility</p:attrName>
                                        </p:attrNameLst>
                                      </p:cBhvr>
                                      <p:to>
                                        <p:strVal val="visible"/>
                                      </p:to>
                                    </p:set>
                                    <p:animEffect transition="in" filter="fade">
                                      <p:cBhvr>
                                        <p:cTn id="140" dur="450"/>
                                        <p:tgtEl>
                                          <p:spTgt spid="58"/>
                                        </p:tgtEl>
                                      </p:cBhvr>
                                    </p:animEffect>
                                  </p:childTnLst>
                                </p:cTn>
                              </p:par>
                              <p:par>
                                <p:cTn id="141" presetID="10" presetClass="entr" presetSubtype="0" fill="hold" grpId="0" nodeType="withEffect">
                                  <p:stCondLst>
                                    <p:cond delay="890"/>
                                  </p:stCondLst>
                                  <p:childTnLst>
                                    <p:set>
                                      <p:cBhvr>
                                        <p:cTn id="142" dur="1" fill="hold">
                                          <p:stCondLst>
                                            <p:cond delay="0"/>
                                          </p:stCondLst>
                                        </p:cTn>
                                        <p:tgtEl>
                                          <p:spTgt spid="59"/>
                                        </p:tgtEl>
                                        <p:attrNameLst>
                                          <p:attrName>style.visibility</p:attrName>
                                        </p:attrNameLst>
                                      </p:cBhvr>
                                      <p:to>
                                        <p:strVal val="visible"/>
                                      </p:to>
                                    </p:set>
                                    <p:animEffect transition="in" filter="fade">
                                      <p:cBhvr>
                                        <p:cTn id="143" dur="450"/>
                                        <p:tgtEl>
                                          <p:spTgt spid="59"/>
                                        </p:tgtEl>
                                      </p:cBhvr>
                                    </p:animEffect>
                                  </p:childTnLst>
                                </p:cTn>
                              </p:par>
                              <p:par>
                                <p:cTn id="144" presetID="10" presetClass="entr" presetSubtype="0" fill="hold" grpId="0" nodeType="withEffect">
                                  <p:stCondLst>
                                    <p:cond delay="890"/>
                                  </p:stCondLst>
                                  <p:childTnLst>
                                    <p:set>
                                      <p:cBhvr>
                                        <p:cTn id="145" dur="1" fill="hold">
                                          <p:stCondLst>
                                            <p:cond delay="0"/>
                                          </p:stCondLst>
                                        </p:cTn>
                                        <p:tgtEl>
                                          <p:spTgt spid="60"/>
                                        </p:tgtEl>
                                        <p:attrNameLst>
                                          <p:attrName>style.visibility</p:attrName>
                                        </p:attrNameLst>
                                      </p:cBhvr>
                                      <p:to>
                                        <p:strVal val="visible"/>
                                      </p:to>
                                    </p:set>
                                    <p:animEffect transition="in" filter="fade">
                                      <p:cBhvr>
                                        <p:cTn id="146" dur="450"/>
                                        <p:tgtEl>
                                          <p:spTgt spid="60"/>
                                        </p:tgtEl>
                                      </p:cBhvr>
                                    </p:animEffect>
                                  </p:childTnLst>
                                </p:cTn>
                              </p:par>
                            </p:childTnLst>
                          </p:cTn>
                        </p:par>
                      </p:childTnLst>
                    </p:cTn>
                  </p:par>
                  <p:par>
                    <p:cTn id="161" fill="hold">
                      <p:stCondLst>
                        <p:cond delay="indefinite"/>
                      </p:stCondLst>
                      <p:childTnLst>
                        <p:par>
                          <p:cTn id="162" fill="hold">
                            <p:stCondLst>
                              <p:cond delay="0"/>
                            </p:stCondLst>
                            <p:childTnLst>
                              <p:par>
                                <p:cTn id="147" presetID="10" presetClass="entr" presetSubtype="0" fill="hold" grpId="0" nodeType="clickEffect">
                                  <p:stCondLst>
                                    <p:cond delay="0"/>
                                  </p:stCondLst>
                                  <p:childTnLst>
                                    <p:set>
                                      <p:cBhvr>
                                        <p:cTn id="148" dur="1" fill="hold">
                                          <p:stCondLst>
                                            <p:cond delay="0"/>
                                          </p:stCondLst>
                                        </p:cTn>
                                        <p:tgtEl>
                                          <p:spTgt spid="61"/>
                                        </p:tgtEl>
                                        <p:attrNameLst>
                                          <p:attrName>style.visibility</p:attrName>
                                        </p:attrNameLst>
                                      </p:cBhvr>
                                      <p:to>
                                        <p:strVal val="visible"/>
                                      </p:to>
                                    </p:set>
                                    <p:animEffect transition="in" filter="fade">
                                      <p:cBhvr>
                                        <p:cTn id="149" dur="400"/>
                                        <p:tgtEl>
                                          <p:spTgt spid="61"/>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62"/>
                                        </p:tgtEl>
                                        <p:attrNameLst>
                                          <p:attrName>style.visibility</p:attrName>
                                        </p:attrNameLst>
                                      </p:cBhvr>
                                      <p:to>
                                        <p:strVal val="visible"/>
                                      </p:to>
                                    </p:set>
                                    <p:animEffect transition="in" filter="fade">
                                      <p:cBhvr>
                                        <p:cTn id="152" dur="400"/>
                                        <p:tgtEl>
                                          <p:spTgt spid="62"/>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63"/>
                                        </p:tgtEl>
                                        <p:attrNameLst>
                                          <p:attrName>style.visibility</p:attrName>
                                        </p:attrNameLst>
                                      </p:cBhvr>
                                      <p:to>
                                        <p:strVal val="visible"/>
                                      </p:to>
                                    </p:set>
                                    <p:animEffect transition="in" filter="fade">
                                      <p:cBhvr>
                                        <p:cTn id="155" dur="400"/>
                                        <p:tgtEl>
                                          <p:spTgt spid="63"/>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64"/>
                                        </p:tgtEl>
                                        <p:attrNameLst>
                                          <p:attrName>style.visibility</p:attrName>
                                        </p:attrNameLst>
                                      </p:cBhvr>
                                      <p:to>
                                        <p:strVal val="visible"/>
                                      </p:to>
                                    </p:set>
                                    <p:animEffect transition="in" filter="fade">
                                      <p:cBhvr>
                                        <p:cTn id="158"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9" grpId="0" animBg="1"/>
      <p:bldP spid="40" grpId="0" animBg="1"/>
      <p:bldP spid="41" grpId="0" animBg="1"/>
      <p:bldP spid="42" grpId="0" animBg="1"/>
      <p:bldP spid="43" grpId="0" animBg="1"/>
      <p:bldP spid="45" grpId="0" animBg="1"/>
      <p:bldP spid="46" grpId="0" animBg="1"/>
      <p:bldP spid="47" grpId="0" animBg="1"/>
      <p:bldP spid="48" grpId="0" animBg="1"/>
      <p:bldP spid="49" grpId="0" animBg="1"/>
      <p:bldP spid="51" grpId="0" animBg="1"/>
      <p:bldP spid="52" grpId="0" animBg="1"/>
      <p:bldP spid="53" grpId="0" animBg="1"/>
      <p:bldP spid="54" grpId="0" animBg="1"/>
      <p:bldP spid="55" grpId="0" animBg="1"/>
      <p:bldP spid="57" grpId="0" animBg="1"/>
      <p:bldP spid="58" grpId="0" animBg="1"/>
      <p:bldP spid="59" grpId="0" animBg="1"/>
      <p:bldP spid="60" grpId="0" animBg="1"/>
      <p:bldP spid="61" grpId="0" animBg="1"/>
      <p:bldP spid="62" grpId="0" animBg="1"/>
      <p:bldP spid="63" grpId="0" animBg="1"/>
      <p:bldP spid="6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Ensamblaje: cada elemento entra en su lugar de K</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1438275"/>
            <a:ext cx="4692650" cy="4057650"/>
          </a:xfrm>
          <a:prstGeom prst="roundRect">
            <a:avLst>
              <a:gd name="adj" fmla="val 2738"/>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60f6ca59e2cf3842.png"/>
          <p:cNvPicPr>
            <a:picLocks noChangeAspect="1"/>
          </p:cNvPicPr>
          <p:nvPr/>
        </p:nvPicPr>
        <p:blipFill>
          <a:blip r:embed="rId2"/>
          <a:stretch>
            <a:fillRect/>
          </a:stretch>
        </p:blipFill>
        <p:spPr>
          <a:xfrm>
            <a:off x="641350" y="1441450"/>
            <a:ext cx="4699000" cy="4064000"/>
          </a:xfrm>
          <a:prstGeom prst="rect">
            <a:avLst/>
          </a:prstGeom>
        </p:spPr>
      </p:pic>
      <p:pic>
        <p:nvPicPr>
          <p:cNvPr id="15" name="Picture 14" descr="4ea48d5ac495a2be.png"/>
          <p:cNvPicPr>
            <a:picLocks noChangeAspect="1"/>
          </p:cNvPicPr>
          <p:nvPr/>
        </p:nvPicPr>
        <p:blipFill>
          <a:blip r:embed="rId3"/>
          <a:stretch>
            <a:fillRect/>
          </a:stretch>
        </p:blipFill>
        <p:spPr>
          <a:xfrm>
            <a:off x="5715000" y="1435100"/>
            <a:ext cx="5651500" cy="4064000"/>
          </a:xfrm>
          <a:prstGeom prst="rect">
            <a:avLst/>
          </a:prstGeom>
        </p:spPr>
      </p:pic>
      <p:sp>
        <p:nvSpPr>
          <p:cNvPr id="16" name="TextBox 15"/>
          <p:cNvSpPr txBox="1"/>
          <p:nvPr/>
        </p:nvSpPr>
        <p:spPr>
          <a:xfrm>
            <a:off x="5715000" y="5223624"/>
            <a:ext cx="582930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3F4A5A"/>
                </a:solidFill>
                <a:latin typeface="Calibri"/>
              </a:rPr>
              <a:t>Solución: u en los 12 GDL libres · reacciones: ΣR</a:t>
            </a:r>
            <a:r>
              <a:rPr sz="1200" b="1" i="0" baseline="-25000">
                <a:solidFill>
                  <a:srgbClr val="3F4A5A"/>
                </a:solidFill>
                <a:latin typeface="Calibri"/>
              </a:rPr>
              <a:t>y</a:t>
            </a:r>
            <a:r>
              <a:rPr sz="1200" b="1" i="0">
                <a:solidFill>
                  <a:srgbClr val="3F4A5A"/>
                </a:solidFill>
                <a:latin typeface="Calibri"/>
              </a:rPr>
              <a:t> = 1000,00 = P</a:t>
            </a:r>
          </a:p>
        </p:txBody>
      </p:sp>
      <p:pic>
        <p:nvPicPr>
          <p:cNvPr id="17" name="Picture 16" descr="7b2dcc116965752d.png"/>
          <p:cNvPicPr>
            <a:picLocks noChangeAspect="1"/>
          </p:cNvPicPr>
          <p:nvPr/>
        </p:nvPicPr>
        <p:blipFill>
          <a:blip r:embed="rId4"/>
          <a:stretch>
            <a:fillRect/>
          </a:stretch>
        </p:blipFill>
        <p:spPr>
          <a:xfrm>
            <a:off x="641350" y="1441450"/>
            <a:ext cx="4699000" cy="4064000"/>
          </a:xfrm>
          <a:prstGeom prst="rect">
            <a:avLst/>
          </a:prstGeom>
        </p:spPr>
      </p:pic>
      <p:pic>
        <p:nvPicPr>
          <p:cNvPr id="18" name="Picture 17" descr="14f25f4107f4e9bf.png"/>
          <p:cNvPicPr>
            <a:picLocks noChangeAspect="1"/>
          </p:cNvPicPr>
          <p:nvPr/>
        </p:nvPicPr>
        <p:blipFill>
          <a:blip r:embed="rId5"/>
          <a:stretch>
            <a:fillRect/>
          </a:stretch>
        </p:blipFill>
        <p:spPr>
          <a:xfrm>
            <a:off x="5715000" y="1435100"/>
            <a:ext cx="5651500" cy="4064000"/>
          </a:xfrm>
          <a:prstGeom prst="rect">
            <a:avLst/>
          </a:prstGeom>
        </p:spPr>
      </p:pic>
      <p:sp>
        <p:nvSpPr>
          <p:cNvPr id="19" name="TextBox 18"/>
          <p:cNvSpPr txBox="1"/>
          <p:nvPr/>
        </p:nvSpPr>
        <p:spPr>
          <a:xfrm>
            <a:off x="5715000" y="5223624"/>
            <a:ext cx="582930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3F4A5A"/>
                </a:solidFill>
                <a:latin typeface="Calibri"/>
              </a:rPr>
              <a:t>Restricciones en los nodos 1, 3, 6: quedan 12 incógnitas · K</a:t>
            </a:r>
            <a:r>
              <a:rPr sz="1200" b="1" i="0" baseline="-25000">
                <a:solidFill>
                  <a:srgbClr val="3F4A5A"/>
                </a:solidFill>
                <a:latin typeface="Calibri"/>
              </a:rPr>
              <a:t>ff</a:t>
            </a:r>
            <a:r>
              <a:rPr sz="1200" b="1" i="0">
                <a:solidFill>
                  <a:srgbClr val="3F4A5A"/>
                </a:solidFill>
                <a:latin typeface="Calibri"/>
              </a:rPr>
              <a:t> u</a:t>
            </a:r>
            <a:r>
              <a:rPr sz="1200" b="1" i="0" baseline="-25000">
                <a:solidFill>
                  <a:srgbClr val="3F4A5A"/>
                </a:solidFill>
                <a:latin typeface="Calibri"/>
              </a:rPr>
              <a:t>f</a:t>
            </a:r>
            <a:r>
              <a:rPr sz="1200" b="1" i="0">
                <a:solidFill>
                  <a:srgbClr val="3F4A5A"/>
                </a:solidFill>
                <a:latin typeface="Calibri"/>
              </a:rPr>
              <a:t> = F</a:t>
            </a:r>
            <a:r>
              <a:rPr sz="1200" b="1" i="0" baseline="-25000">
                <a:solidFill>
                  <a:srgbClr val="3F4A5A"/>
                </a:solidFill>
                <a:latin typeface="Calibri"/>
              </a:rPr>
              <a:t>f</a:t>
            </a:r>
          </a:p>
        </p:txBody>
      </p:sp>
      <p:pic>
        <p:nvPicPr>
          <p:cNvPr id="20" name="Picture 19" descr="266a4d987df6f2ce.png"/>
          <p:cNvPicPr>
            <a:picLocks noChangeAspect="1"/>
          </p:cNvPicPr>
          <p:nvPr/>
        </p:nvPicPr>
        <p:blipFill>
          <a:blip r:embed="rId6"/>
          <a:stretch>
            <a:fillRect/>
          </a:stretch>
        </p:blipFill>
        <p:spPr>
          <a:xfrm>
            <a:off x="5715000" y="1435100"/>
            <a:ext cx="5651500" cy="4064000"/>
          </a:xfrm>
          <a:prstGeom prst="rect">
            <a:avLst/>
          </a:prstGeom>
        </p:spPr>
      </p:pic>
      <p:sp>
        <p:nvSpPr>
          <p:cNvPr id="21" name="TextBox 20"/>
          <p:cNvSpPr txBox="1"/>
          <p:nvPr/>
        </p:nvSpPr>
        <p:spPr>
          <a:xfrm>
            <a:off x="5715000" y="5223624"/>
            <a:ext cx="582930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3F4A5A"/>
                </a:solidFill>
                <a:latin typeface="Calibri"/>
              </a:rPr>
              <a:t>K</a:t>
            </a:r>
            <a:r>
              <a:rPr sz="1200" b="1" i="0" baseline="-25000">
                <a:solidFill>
                  <a:srgbClr val="3F4A5A"/>
                </a:solidFill>
                <a:latin typeface="Calibri"/>
              </a:rPr>
              <a:t>8,8</a:t>
            </a:r>
            <a:r>
              <a:rPr sz="1200" b="1" i="0">
                <a:solidFill>
                  <a:srgbClr val="3F4A5A"/>
                </a:solidFill>
                <a:latin typeface="Calibri"/>
              </a:rPr>
              <a:t> (nodo 5, compartido): 54 882 + 121 104 + 122 181 + 99 519 = 397 687</a:t>
            </a:r>
          </a:p>
        </p:txBody>
      </p:sp>
      <p:pic>
        <p:nvPicPr>
          <p:cNvPr id="22" name="Picture 21" descr="9932bae0fbdf0e38.png"/>
          <p:cNvPicPr>
            <a:picLocks noChangeAspect="1"/>
          </p:cNvPicPr>
          <p:nvPr/>
        </p:nvPicPr>
        <p:blipFill>
          <a:blip r:embed="rId7"/>
          <a:stretch>
            <a:fillRect/>
          </a:stretch>
        </p:blipFill>
        <p:spPr>
          <a:xfrm>
            <a:off x="5715000" y="1435100"/>
            <a:ext cx="5651500" cy="4064000"/>
          </a:xfrm>
          <a:prstGeom prst="rect">
            <a:avLst/>
          </a:prstGeom>
        </p:spPr>
      </p:pic>
      <p:sp>
        <p:nvSpPr>
          <p:cNvPr id="23" name="TextBox 22"/>
          <p:cNvSpPr txBox="1"/>
          <p:nvPr/>
        </p:nvSpPr>
        <p:spPr>
          <a:xfrm>
            <a:off x="5715000" y="5223624"/>
            <a:ext cx="582930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3F4A5A"/>
                </a:solidFill>
                <a:latin typeface="Calibri"/>
              </a:rPr>
              <a:t>Numeración de GDL: el nodo de índice i ocupa las posiciones 2i y 2i + 1</a:t>
            </a:r>
          </a:p>
        </p:txBody>
      </p:sp>
      <p:sp>
        <p:nvSpPr>
          <p:cNvPr id="24" name="Rectangle 23"/>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5150" y="6535420"/>
            <a:ext cx="432136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7" name="TextBox 26"/>
          <p:cNvSpPr txBox="1"/>
          <p:nvPr/>
        </p:nvSpPr>
        <p:spPr>
          <a:xfrm>
            <a:off x="4775898" y="6535420"/>
            <a:ext cx="264007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1.10–1.11 · Etapa 7 (módulo M7) y etapa 8</a:t>
            </a:r>
          </a:p>
        </p:txBody>
      </p:sp>
      <p:sp>
        <p:nvSpPr>
          <p:cNvPr id="28" name="TextBox 27"/>
          <p:cNvSpPr txBox="1"/>
          <p:nvPr/>
        </p:nvSpPr>
        <p:spPr>
          <a:xfrm>
            <a:off x="7305358" y="6535420"/>
            <a:ext cx="432149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33</a:t>
            </a:r>
          </a:p>
        </p:txBody>
      </p:sp>
      <p:sp>
        <p:nvSpPr>
          <p:cNvPr id="29" name="Enlace a sep-intro">
            <a:hlinkClick action="ppaction://hlinksldjump" r:id="rId8"/>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nlace a sep-teoria">
            <a:hlinkClick action="ppaction://hlinksldjump" r:id="rId9"/>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nlace a sep-diseno">
            <a:hlinkClick action="ppaction://hlinksldjump" r:id="rId10"/>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nlace a sep-resultados">
            <a:hlinkClick action="ppaction://hlinksldjump" r:id="rId11"/>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nlace a sep-analisis">
            <a:hlinkClick action="ppaction://hlinksldjump" r:id="rId12"/>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nlace a sep-conclusiones">
            <a:hlinkClick action="ppaction://hlinksldjump" r:id="rId13"/>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stCondLst>
                      <p:childTnLst>
                        <p:par>
                          <p:cTn id="46" fill="hold">
                            <p:stCondLst>
                              <p:cond delay="0"/>
                            </p:stCondLst>
                            <p:childTnLst>
                              <p:par>
                                <p:cTn id="3" presetID="10" presetClass="exit" presetSubtype="0" fill="hold" grpId="0" nodeType="clickEffect">
                                  <p:stCondLst>
                                    <p:cond delay="0"/>
                                  </p:stCondLst>
                                  <p:childTnLst>
                                    <p:animEffect transition="out" filter="fade">
                                      <p:cBhvr>
                                        <p:cTn id="4" dur="200"/>
                                        <p:tgtEl>
                                          <p:spTgt spid="22"/>
                                        </p:tgtEl>
                                      </p:cBhvr>
                                    </p:animEffect>
                                    <p:set>
                                      <p:cBhvr>
                                        <p:cTn id="5" dur="1" fill="hold">
                                          <p:stCondLst>
                                            <p:cond delay="199"/>
                                          </p:stCondLst>
                                        </p:cTn>
                                        <p:tgtEl>
                                          <p:spTgt spid="22"/>
                                        </p:tgtEl>
                                        <p:attrNameLst>
                                          <p:attrName>style.visibility</p:attrName>
                                        </p:attrNameLst>
                                      </p:cBhvr>
                                      <p:to>
                                        <p:strVal val="hidden"/>
                                      </p:to>
                                    </p:set>
                                  </p:childTnLst>
                                </p:cTn>
                              </p:par>
                              <p:par>
                                <p:cTn id="6" presetID="10" presetClass="exit" presetSubtype="0" fill="hold" grpId="0" nodeType="withEffect">
                                  <p:stCondLst>
                                    <p:cond delay="0"/>
                                  </p:stCondLst>
                                  <p:childTnLst>
                                    <p:animEffect transition="out" filter="fade">
                                      <p:cBhvr>
                                        <p:cTn id="7" dur="200"/>
                                        <p:tgtEl>
                                          <p:spTgt spid="23"/>
                                        </p:tgtEl>
                                      </p:cBhvr>
                                    </p:animEffect>
                                    <p:set>
                                      <p:cBhvr>
                                        <p:cTn id="8" dur="1" fill="hold">
                                          <p:stCondLst>
                                            <p:cond delay="199"/>
                                          </p:stCondLst>
                                        </p:cTn>
                                        <p:tgtEl>
                                          <p:spTgt spid="23"/>
                                        </p:tgtEl>
                                        <p:attrNameLst>
                                          <p:attrName>style.visibility</p:attrName>
                                        </p:attrNameLst>
                                      </p:cBhvr>
                                      <p:to>
                                        <p:strVal val="hidden"/>
                                      </p:to>
                                    </p:set>
                                  </p:childTnLst>
                                </p:cTn>
                              </p:par>
                              <p:par>
                                <p:cTn id="9" presetID="10" presetClass="entr" presetSubtype="0" fill="hold" grpId="0" nodeType="withEffect">
                                  <p:stCondLst>
                                    <p:cond delay="20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childTnLst>
                          </p:cTn>
                        </p:par>
                      </p:childTnLst>
                    </p:cTn>
                  </p:par>
                  <p:par>
                    <p:cTn id="47" fill="hold">
                      <p:stCondLst>
                        <p:cond delay="indefinite"/>
                      </p:stCondLst>
                      <p:childTnLst>
                        <p:par>
                          <p:cTn id="48" fill="hold">
                            <p:stCondLst>
                              <p:cond delay="0"/>
                            </p:stCondLst>
                            <p:childTnLst>
                              <p:par>
                                <p:cTn id="15" presetID="10" presetClass="exit" presetSubtype="0" fill="hold" grpId="1" nodeType="clickEffect">
                                  <p:stCondLst>
                                    <p:cond delay="0"/>
                                  </p:stCondLst>
                                  <p:childTnLst>
                                    <p:animEffect transition="out" filter="fade">
                                      <p:cBhvr>
                                        <p:cTn id="16" dur="200"/>
                                        <p:tgtEl>
                                          <p:spTgt spid="20"/>
                                        </p:tgtEl>
                                      </p:cBhvr>
                                    </p:animEffect>
                                    <p:set>
                                      <p:cBhvr>
                                        <p:cTn id="17" dur="1" fill="hold">
                                          <p:stCondLst>
                                            <p:cond delay="199"/>
                                          </p:stCondLst>
                                        </p:cTn>
                                        <p:tgtEl>
                                          <p:spTgt spid="20"/>
                                        </p:tgtEl>
                                        <p:attrNameLst>
                                          <p:attrName>style.visibility</p:attrName>
                                        </p:attrNameLst>
                                      </p:cBhvr>
                                      <p:to>
                                        <p:strVal val="hidden"/>
                                      </p:to>
                                    </p:set>
                                  </p:childTnLst>
                                </p:cTn>
                              </p:par>
                              <p:par>
                                <p:cTn id="18" presetID="10" presetClass="exit" presetSubtype="0" fill="hold" grpId="1" nodeType="withEffect">
                                  <p:stCondLst>
                                    <p:cond delay="0"/>
                                  </p:stCondLst>
                                  <p:childTnLst>
                                    <p:animEffect transition="out" filter="fade">
                                      <p:cBhvr>
                                        <p:cTn id="19" dur="200"/>
                                        <p:tgtEl>
                                          <p:spTgt spid="21"/>
                                        </p:tgtEl>
                                      </p:cBhvr>
                                    </p:animEffect>
                                    <p:set>
                                      <p:cBhvr>
                                        <p:cTn id="20" dur="1" fill="hold">
                                          <p:stCondLst>
                                            <p:cond delay="199"/>
                                          </p:stCondLst>
                                        </p:cTn>
                                        <p:tgtEl>
                                          <p:spTgt spid="21"/>
                                        </p:tgtEl>
                                        <p:attrNameLst>
                                          <p:attrName>style.visibility</p:attrName>
                                        </p:attrNameLst>
                                      </p:cBhvr>
                                      <p:to>
                                        <p:strVal val="hidden"/>
                                      </p:to>
                                    </p:set>
                                  </p:childTnLst>
                                </p:cTn>
                              </p:par>
                              <p:par>
                                <p:cTn id="21" presetID="10" presetClass="entr" presetSubtype="0" fill="hold" grpId="0" nodeType="withEffect">
                                  <p:stCondLst>
                                    <p:cond delay="20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400"/>
                                        <p:tgtEl>
                                          <p:spTgt spid="18"/>
                                        </p:tgtEl>
                                      </p:cBhvr>
                                    </p:animEffect>
                                  </p:childTnLst>
                                </p:cTn>
                              </p:par>
                              <p:par>
                                <p:cTn id="24" presetID="10" presetClass="entr" presetSubtype="0" fill="hold" grpId="0" nodeType="withEffect">
                                  <p:stCondLst>
                                    <p:cond delay="20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xit" presetSubtype="0" fill="hold" grpId="0" nodeType="clickEffect">
                                  <p:stCondLst>
                                    <p:cond delay="0"/>
                                  </p:stCondLst>
                                  <p:childTnLst>
                                    <p:animEffect transition="out" filter="fade">
                                      <p:cBhvr>
                                        <p:cTn id="28" dur="200"/>
                                        <p:tgtEl>
                                          <p:spTgt spid="17"/>
                                        </p:tgtEl>
                                      </p:cBhvr>
                                    </p:animEffect>
                                    <p:set>
                                      <p:cBhvr>
                                        <p:cTn id="29" dur="1" fill="hold">
                                          <p:stCondLst>
                                            <p:cond delay="199"/>
                                          </p:stCondLst>
                                        </p:cTn>
                                        <p:tgtEl>
                                          <p:spTgt spid="17"/>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200"/>
                                        <p:tgtEl>
                                          <p:spTgt spid="18"/>
                                        </p:tgtEl>
                                      </p:cBhvr>
                                    </p:animEffect>
                                    <p:set>
                                      <p:cBhvr>
                                        <p:cTn id="32" dur="1" fill="hold">
                                          <p:stCondLst>
                                            <p:cond delay="199"/>
                                          </p:stCondLst>
                                        </p:cTn>
                                        <p:tgtEl>
                                          <p:spTgt spid="18"/>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200"/>
                                        <p:tgtEl>
                                          <p:spTgt spid="19"/>
                                        </p:tgtEl>
                                      </p:cBhvr>
                                    </p:animEffect>
                                    <p:set>
                                      <p:cBhvr>
                                        <p:cTn id="35" dur="1" fill="hold">
                                          <p:stCondLst>
                                            <p:cond delay="199"/>
                                          </p:stCondLst>
                                        </p:cTn>
                                        <p:tgtEl>
                                          <p:spTgt spid="19"/>
                                        </p:tgtEl>
                                        <p:attrNameLst>
                                          <p:attrName>style.visibility</p:attrName>
                                        </p:attrNameLst>
                                      </p:cBhvr>
                                      <p:to>
                                        <p:strVal val="hidden"/>
                                      </p:to>
                                    </p:set>
                                  </p:childTnLst>
                                </p:cTn>
                              </p:par>
                              <p:par>
                                <p:cTn id="36" presetID="10" presetClass="entr" presetSubtype="0" fill="hold" grpId="0" nodeType="withEffect">
                                  <p:stCondLst>
                                    <p:cond delay="2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20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20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19" grpId="1" animBg="1"/>
      <p:bldP spid="21" grpId="0" animBg="1"/>
      <p:bldP spid="21" grpId="1" animBg="1"/>
      <p:bldP spid="23"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Post-proceso: la respuesta y sus comprobaciones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1438275"/>
            <a:ext cx="6216650" cy="4121150"/>
          </a:xfrm>
          <a:prstGeom prst="roundRect">
            <a:avLst>
              <a:gd name="adj" fmla="val 2696"/>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2b7305ee99159dba.png"/>
          <p:cNvPicPr>
            <a:picLocks noChangeAspect="1"/>
          </p:cNvPicPr>
          <p:nvPr/>
        </p:nvPicPr>
        <p:blipFill>
          <a:blip r:embed="rId2"/>
          <a:stretch>
            <a:fillRect/>
          </a:stretch>
        </p:blipFill>
        <p:spPr>
          <a:xfrm>
            <a:off x="641350" y="1441450"/>
            <a:ext cx="6223000" cy="4127500"/>
          </a:xfrm>
          <a:prstGeom prst="rect">
            <a:avLst/>
          </a:prstGeom>
        </p:spPr>
      </p:pic>
      <p:pic>
        <p:nvPicPr>
          <p:cNvPr id="15" name="Picture 14" descr="c67281511b6bfb5b.png"/>
          <p:cNvPicPr>
            <a:picLocks noChangeAspect="1"/>
          </p:cNvPicPr>
          <p:nvPr/>
        </p:nvPicPr>
        <p:blipFill>
          <a:blip r:embed="rId3"/>
          <a:stretch>
            <a:fillRect/>
          </a:stretch>
        </p:blipFill>
        <p:spPr>
          <a:xfrm>
            <a:off x="641350" y="1441450"/>
            <a:ext cx="6223000" cy="4127500"/>
          </a:xfrm>
          <a:prstGeom prst="rect">
            <a:avLst/>
          </a:prstGeom>
        </p:spPr>
      </p:pic>
      <p:pic>
        <p:nvPicPr>
          <p:cNvPr id="16" name="Picture 15" descr="269a014e21127a9a.png"/>
          <p:cNvPicPr>
            <a:picLocks noChangeAspect="1"/>
          </p:cNvPicPr>
          <p:nvPr/>
        </p:nvPicPr>
        <p:blipFill>
          <a:blip r:embed="rId4"/>
          <a:stretch>
            <a:fillRect/>
          </a:stretch>
        </p:blipFill>
        <p:spPr>
          <a:xfrm>
            <a:off x="6038850" y="1568450"/>
            <a:ext cx="762000" cy="2857500"/>
          </a:xfrm>
          <a:prstGeom prst="rect">
            <a:avLst/>
          </a:prstGeom>
        </p:spPr>
      </p:pic>
      <p:sp>
        <p:nvSpPr>
          <p:cNvPr id="17" name="Rounded Rectangle 16"/>
          <p:cNvSpPr/>
          <p:nvPr/>
        </p:nvSpPr>
        <p:spPr>
          <a:xfrm>
            <a:off x="7115175" y="1438275"/>
            <a:ext cx="4438650" cy="3121025"/>
          </a:xfrm>
          <a:prstGeom prst="roundRect">
            <a:avLst>
              <a:gd name="adj" fmla="val 233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83450" y="1587755"/>
            <a:ext cx="418414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Sonda · nodo 7 · (5,0; 8,0)</a:t>
            </a:r>
          </a:p>
        </p:txBody>
      </p:sp>
      <p:sp>
        <p:nvSpPr>
          <p:cNvPr id="19" name="TextBox 18"/>
          <p:cNvSpPr txBox="1"/>
          <p:nvPr/>
        </p:nvSpPr>
        <p:spPr>
          <a:xfrm>
            <a:off x="7289800" y="1853406"/>
            <a:ext cx="283464" cy="238125"/>
          </a:xfrm>
          <a:prstGeom prst="rect">
            <a:avLst/>
          </a:prstGeom>
          <a:noFill/>
        </p:spPr>
        <p:txBody>
          <a:bodyPr wrap="square" lIns="0" rIns="0" tIns="0" bIns="0" anchor="t"/>
          <a:lstStyle/>
          <a:p>
            <a:pPr algn="l">
              <a:lnSpc>
                <a:spcPts val="1875"/>
              </a:lnSpc>
              <a:spcBef>
                <a:spcPts val="0"/>
              </a:spcBef>
              <a:spcAft>
                <a:spcPts val="0"/>
              </a:spcAft>
            </a:pPr>
            <a:r>
              <a:rPr sz="1250" b="0" i="0">
                <a:solidFill>
                  <a:srgbClr val="5B6575"/>
                </a:solidFill>
                <a:latin typeface="Calibri"/>
              </a:rPr>
              <a:t>ux</a:t>
            </a:r>
          </a:p>
        </p:txBody>
      </p:sp>
      <p:sp>
        <p:nvSpPr>
          <p:cNvPr id="20" name="TextBox 19"/>
          <p:cNvSpPr txBox="1"/>
          <p:nvPr/>
        </p:nvSpPr>
        <p:spPr>
          <a:xfrm>
            <a:off x="7592314" y="1853406"/>
            <a:ext cx="653542" cy="238125"/>
          </a:xfrm>
          <a:prstGeom prst="rect">
            <a:avLst/>
          </a:prstGeom>
          <a:noFill/>
        </p:spPr>
        <p:txBody>
          <a:bodyPr wrap="square" lIns="0" rIns="0" tIns="0" bIns="0" anchor="t"/>
          <a:lstStyle/>
          <a:p>
            <a:pPr algn="r">
              <a:lnSpc>
                <a:spcPts val="1875"/>
              </a:lnSpc>
              <a:spcBef>
                <a:spcPts val="0"/>
              </a:spcBef>
              <a:spcAft>
                <a:spcPts val="0"/>
              </a:spcAft>
            </a:pPr>
            <a:r>
              <a:rPr sz="1250" b="1" i="0">
                <a:solidFill>
                  <a:srgbClr val="1F2937"/>
                </a:solidFill>
                <a:latin typeface="Calibri"/>
              </a:rPr>
              <a:t>−0,00689</a:t>
            </a:r>
          </a:p>
        </p:txBody>
      </p:sp>
      <p:sp>
        <p:nvSpPr>
          <p:cNvPr id="21" name="TextBox 20"/>
          <p:cNvSpPr txBox="1"/>
          <p:nvPr/>
        </p:nvSpPr>
        <p:spPr>
          <a:xfrm>
            <a:off x="7289800" y="2104231"/>
            <a:ext cx="283464" cy="238125"/>
          </a:xfrm>
          <a:prstGeom prst="rect">
            <a:avLst/>
          </a:prstGeom>
          <a:noFill/>
        </p:spPr>
        <p:txBody>
          <a:bodyPr wrap="square" lIns="0" rIns="0" tIns="0" bIns="0" anchor="t"/>
          <a:lstStyle/>
          <a:p>
            <a:pPr algn="l">
              <a:lnSpc>
                <a:spcPts val="1875"/>
              </a:lnSpc>
              <a:spcBef>
                <a:spcPts val="0"/>
              </a:spcBef>
              <a:spcAft>
                <a:spcPts val="0"/>
              </a:spcAft>
            </a:pPr>
            <a:r>
              <a:rPr sz="1250" b="0" i="0">
                <a:solidFill>
                  <a:srgbClr val="5B6575"/>
                </a:solidFill>
                <a:latin typeface="Calibri"/>
              </a:rPr>
              <a:t>uy</a:t>
            </a:r>
          </a:p>
        </p:txBody>
      </p:sp>
      <p:sp>
        <p:nvSpPr>
          <p:cNvPr id="22" name="TextBox 21"/>
          <p:cNvSpPr txBox="1"/>
          <p:nvPr/>
        </p:nvSpPr>
        <p:spPr>
          <a:xfrm>
            <a:off x="7592314" y="2104231"/>
            <a:ext cx="653542" cy="238125"/>
          </a:xfrm>
          <a:prstGeom prst="rect">
            <a:avLst/>
          </a:prstGeom>
          <a:noFill/>
        </p:spPr>
        <p:txBody>
          <a:bodyPr wrap="square" lIns="0" rIns="0" tIns="0" bIns="0" anchor="t"/>
          <a:lstStyle/>
          <a:p>
            <a:pPr algn="r">
              <a:lnSpc>
                <a:spcPts val="1875"/>
              </a:lnSpc>
              <a:spcBef>
                <a:spcPts val="0"/>
              </a:spcBef>
              <a:spcAft>
                <a:spcPts val="0"/>
              </a:spcAft>
            </a:pPr>
            <a:r>
              <a:rPr sz="1250" b="1" i="0">
                <a:solidFill>
                  <a:srgbClr val="1F2937"/>
                </a:solidFill>
                <a:latin typeface="Calibri"/>
              </a:rPr>
              <a:t>−0,01308</a:t>
            </a:r>
          </a:p>
        </p:txBody>
      </p:sp>
      <p:sp>
        <p:nvSpPr>
          <p:cNvPr id="23" name="TextBox 22"/>
          <p:cNvSpPr txBox="1"/>
          <p:nvPr/>
        </p:nvSpPr>
        <p:spPr>
          <a:xfrm>
            <a:off x="7289800" y="2355056"/>
            <a:ext cx="283464" cy="238125"/>
          </a:xfrm>
          <a:prstGeom prst="rect">
            <a:avLst/>
          </a:prstGeom>
          <a:noFill/>
        </p:spPr>
        <p:txBody>
          <a:bodyPr wrap="square" lIns="0" rIns="0" tIns="0" bIns="0" anchor="t"/>
          <a:lstStyle/>
          <a:p>
            <a:pPr algn="l">
              <a:lnSpc>
                <a:spcPts val="1875"/>
              </a:lnSpc>
              <a:spcBef>
                <a:spcPts val="0"/>
              </a:spcBef>
              <a:spcAft>
                <a:spcPts val="0"/>
              </a:spcAft>
            </a:pPr>
            <a:r>
              <a:rPr sz="1250" b="0" i="0">
                <a:solidFill>
                  <a:srgbClr val="5B6575"/>
                </a:solidFill>
                <a:latin typeface="Calibri"/>
              </a:rPr>
              <a:t>σx</a:t>
            </a:r>
          </a:p>
        </p:txBody>
      </p:sp>
      <p:sp>
        <p:nvSpPr>
          <p:cNvPr id="24" name="TextBox 23"/>
          <p:cNvSpPr txBox="1"/>
          <p:nvPr/>
        </p:nvSpPr>
        <p:spPr>
          <a:xfrm>
            <a:off x="7592314" y="2355056"/>
            <a:ext cx="653542" cy="238125"/>
          </a:xfrm>
          <a:prstGeom prst="rect">
            <a:avLst/>
          </a:prstGeom>
          <a:noFill/>
        </p:spPr>
        <p:txBody>
          <a:bodyPr wrap="square" lIns="0" rIns="0" tIns="0" bIns="0" anchor="t"/>
          <a:lstStyle/>
          <a:p>
            <a:pPr algn="r">
              <a:lnSpc>
                <a:spcPts val="1875"/>
              </a:lnSpc>
              <a:spcBef>
                <a:spcPts val="0"/>
              </a:spcBef>
              <a:spcAft>
                <a:spcPts val="0"/>
              </a:spcAft>
            </a:pPr>
            <a:r>
              <a:rPr sz="1250" b="1" i="0">
                <a:solidFill>
                  <a:srgbClr val="1F2937"/>
                </a:solidFill>
                <a:latin typeface="Calibri"/>
              </a:rPr>
              <a:t>−25,26</a:t>
            </a:r>
          </a:p>
        </p:txBody>
      </p:sp>
      <p:sp>
        <p:nvSpPr>
          <p:cNvPr id="25" name="TextBox 24"/>
          <p:cNvSpPr txBox="1"/>
          <p:nvPr/>
        </p:nvSpPr>
        <p:spPr>
          <a:xfrm>
            <a:off x="7289800" y="2605881"/>
            <a:ext cx="283464" cy="238125"/>
          </a:xfrm>
          <a:prstGeom prst="rect">
            <a:avLst/>
          </a:prstGeom>
          <a:noFill/>
        </p:spPr>
        <p:txBody>
          <a:bodyPr wrap="square" lIns="0" rIns="0" tIns="0" bIns="0" anchor="t"/>
          <a:lstStyle/>
          <a:p>
            <a:pPr algn="l">
              <a:lnSpc>
                <a:spcPts val="1875"/>
              </a:lnSpc>
              <a:spcBef>
                <a:spcPts val="0"/>
              </a:spcBef>
              <a:spcAft>
                <a:spcPts val="0"/>
              </a:spcAft>
            </a:pPr>
            <a:r>
              <a:rPr sz="1250" b="0" i="0">
                <a:solidFill>
                  <a:srgbClr val="5B6575"/>
                </a:solidFill>
                <a:latin typeface="Calibri"/>
              </a:rPr>
              <a:t>σy</a:t>
            </a:r>
          </a:p>
        </p:txBody>
      </p:sp>
      <p:sp>
        <p:nvSpPr>
          <p:cNvPr id="26" name="TextBox 25"/>
          <p:cNvSpPr txBox="1"/>
          <p:nvPr/>
        </p:nvSpPr>
        <p:spPr>
          <a:xfrm>
            <a:off x="7592314" y="2605881"/>
            <a:ext cx="653542" cy="238125"/>
          </a:xfrm>
          <a:prstGeom prst="rect">
            <a:avLst/>
          </a:prstGeom>
          <a:noFill/>
        </p:spPr>
        <p:txBody>
          <a:bodyPr wrap="square" lIns="0" rIns="0" tIns="0" bIns="0" anchor="t"/>
          <a:lstStyle/>
          <a:p>
            <a:pPr algn="r">
              <a:lnSpc>
                <a:spcPts val="1875"/>
              </a:lnSpc>
              <a:spcBef>
                <a:spcPts val="0"/>
              </a:spcBef>
              <a:spcAft>
                <a:spcPts val="0"/>
              </a:spcAft>
            </a:pPr>
            <a:r>
              <a:rPr sz="1250" b="1" i="0">
                <a:solidFill>
                  <a:srgbClr val="1F2937"/>
                </a:solidFill>
                <a:latin typeface="Calibri"/>
              </a:rPr>
              <a:t>−845,06</a:t>
            </a:r>
          </a:p>
        </p:txBody>
      </p:sp>
      <p:sp>
        <p:nvSpPr>
          <p:cNvPr id="27" name="TextBox 26"/>
          <p:cNvSpPr txBox="1"/>
          <p:nvPr/>
        </p:nvSpPr>
        <p:spPr>
          <a:xfrm>
            <a:off x="7289800" y="2856706"/>
            <a:ext cx="283464" cy="238125"/>
          </a:xfrm>
          <a:prstGeom prst="rect">
            <a:avLst/>
          </a:prstGeom>
          <a:noFill/>
        </p:spPr>
        <p:txBody>
          <a:bodyPr wrap="square" lIns="0" rIns="0" tIns="0" bIns="0" anchor="t"/>
          <a:lstStyle/>
          <a:p>
            <a:pPr algn="l">
              <a:lnSpc>
                <a:spcPts val="1875"/>
              </a:lnSpc>
              <a:spcBef>
                <a:spcPts val="0"/>
              </a:spcBef>
              <a:spcAft>
                <a:spcPts val="0"/>
              </a:spcAft>
            </a:pPr>
            <a:r>
              <a:rPr sz="1250" b="0" i="0">
                <a:solidFill>
                  <a:srgbClr val="5B6575"/>
                </a:solidFill>
                <a:latin typeface="Calibri"/>
              </a:rPr>
              <a:t>τxy</a:t>
            </a:r>
          </a:p>
        </p:txBody>
      </p:sp>
      <p:sp>
        <p:nvSpPr>
          <p:cNvPr id="28" name="TextBox 27"/>
          <p:cNvSpPr txBox="1"/>
          <p:nvPr/>
        </p:nvSpPr>
        <p:spPr>
          <a:xfrm>
            <a:off x="7592314" y="2856706"/>
            <a:ext cx="653542" cy="238125"/>
          </a:xfrm>
          <a:prstGeom prst="rect">
            <a:avLst/>
          </a:prstGeom>
          <a:noFill/>
        </p:spPr>
        <p:txBody>
          <a:bodyPr wrap="square" lIns="0" rIns="0" tIns="0" bIns="0" anchor="t"/>
          <a:lstStyle/>
          <a:p>
            <a:pPr algn="r">
              <a:lnSpc>
                <a:spcPts val="1875"/>
              </a:lnSpc>
              <a:spcBef>
                <a:spcPts val="0"/>
              </a:spcBef>
              <a:spcAft>
                <a:spcPts val="0"/>
              </a:spcAft>
            </a:pPr>
            <a:r>
              <a:rPr sz="1250" b="1" i="0">
                <a:solidFill>
                  <a:srgbClr val="1F2937"/>
                </a:solidFill>
                <a:latin typeface="Calibri"/>
              </a:rPr>
              <a:t>134,51</a:t>
            </a:r>
          </a:p>
        </p:txBody>
      </p:sp>
      <p:sp>
        <p:nvSpPr>
          <p:cNvPr id="29" name="TextBox 28"/>
          <p:cNvSpPr txBox="1"/>
          <p:nvPr/>
        </p:nvSpPr>
        <p:spPr>
          <a:xfrm>
            <a:off x="7289800" y="3107531"/>
            <a:ext cx="283464" cy="238125"/>
          </a:xfrm>
          <a:prstGeom prst="rect">
            <a:avLst/>
          </a:prstGeom>
          <a:noFill/>
        </p:spPr>
        <p:txBody>
          <a:bodyPr wrap="square" lIns="0" rIns="0" tIns="0" bIns="0" anchor="t"/>
          <a:lstStyle/>
          <a:p>
            <a:pPr algn="l">
              <a:lnSpc>
                <a:spcPts val="1875"/>
              </a:lnSpc>
              <a:spcBef>
                <a:spcPts val="0"/>
              </a:spcBef>
              <a:spcAft>
                <a:spcPts val="0"/>
              </a:spcAft>
            </a:pPr>
            <a:r>
              <a:rPr sz="1250" b="0" i="0">
                <a:solidFill>
                  <a:srgbClr val="5B6575"/>
                </a:solidFill>
                <a:latin typeface="Calibri"/>
              </a:rPr>
              <a:t>σ₁</a:t>
            </a:r>
          </a:p>
        </p:txBody>
      </p:sp>
      <p:sp>
        <p:nvSpPr>
          <p:cNvPr id="30" name="TextBox 29"/>
          <p:cNvSpPr txBox="1"/>
          <p:nvPr/>
        </p:nvSpPr>
        <p:spPr>
          <a:xfrm>
            <a:off x="7592314" y="3107531"/>
            <a:ext cx="653542" cy="238125"/>
          </a:xfrm>
          <a:prstGeom prst="rect">
            <a:avLst/>
          </a:prstGeom>
          <a:noFill/>
        </p:spPr>
        <p:txBody>
          <a:bodyPr wrap="square" lIns="0" rIns="0" tIns="0" bIns="0" anchor="t"/>
          <a:lstStyle/>
          <a:p>
            <a:pPr algn="r">
              <a:lnSpc>
                <a:spcPts val="1875"/>
              </a:lnSpc>
              <a:spcBef>
                <a:spcPts val="0"/>
              </a:spcBef>
              <a:spcAft>
                <a:spcPts val="0"/>
              </a:spcAft>
            </a:pPr>
            <a:r>
              <a:rPr sz="1250" b="1" i="0">
                <a:solidFill>
                  <a:srgbClr val="1F2937"/>
                </a:solidFill>
                <a:latin typeface="Calibri"/>
              </a:rPr>
              <a:t>−3,75</a:t>
            </a:r>
          </a:p>
        </p:txBody>
      </p:sp>
      <p:sp>
        <p:nvSpPr>
          <p:cNvPr id="31" name="TextBox 30"/>
          <p:cNvSpPr txBox="1"/>
          <p:nvPr/>
        </p:nvSpPr>
        <p:spPr>
          <a:xfrm>
            <a:off x="7289800" y="3358356"/>
            <a:ext cx="283464" cy="238125"/>
          </a:xfrm>
          <a:prstGeom prst="rect">
            <a:avLst/>
          </a:prstGeom>
          <a:noFill/>
        </p:spPr>
        <p:txBody>
          <a:bodyPr wrap="square" lIns="0" rIns="0" tIns="0" bIns="0" anchor="t"/>
          <a:lstStyle/>
          <a:p>
            <a:pPr algn="l">
              <a:lnSpc>
                <a:spcPts val="1875"/>
              </a:lnSpc>
              <a:spcBef>
                <a:spcPts val="0"/>
              </a:spcBef>
              <a:spcAft>
                <a:spcPts val="0"/>
              </a:spcAft>
            </a:pPr>
            <a:r>
              <a:rPr sz="1250" b="0" i="0">
                <a:solidFill>
                  <a:srgbClr val="5B6575"/>
                </a:solidFill>
                <a:latin typeface="Calibri"/>
              </a:rPr>
              <a:t>σ₂</a:t>
            </a:r>
          </a:p>
        </p:txBody>
      </p:sp>
      <p:sp>
        <p:nvSpPr>
          <p:cNvPr id="32" name="TextBox 31"/>
          <p:cNvSpPr txBox="1"/>
          <p:nvPr/>
        </p:nvSpPr>
        <p:spPr>
          <a:xfrm>
            <a:off x="7592314" y="3358356"/>
            <a:ext cx="653542" cy="238125"/>
          </a:xfrm>
          <a:prstGeom prst="rect">
            <a:avLst/>
          </a:prstGeom>
          <a:noFill/>
        </p:spPr>
        <p:txBody>
          <a:bodyPr wrap="square" lIns="0" rIns="0" tIns="0" bIns="0" anchor="t"/>
          <a:lstStyle/>
          <a:p>
            <a:pPr algn="r">
              <a:lnSpc>
                <a:spcPts val="1875"/>
              </a:lnSpc>
              <a:spcBef>
                <a:spcPts val="0"/>
              </a:spcBef>
              <a:spcAft>
                <a:spcPts val="0"/>
              </a:spcAft>
            </a:pPr>
            <a:r>
              <a:rPr sz="1250" b="1" i="0">
                <a:solidFill>
                  <a:srgbClr val="1F2937"/>
                </a:solidFill>
                <a:latin typeface="Calibri"/>
              </a:rPr>
              <a:t>−866,57</a:t>
            </a:r>
          </a:p>
        </p:txBody>
      </p:sp>
      <p:sp>
        <p:nvSpPr>
          <p:cNvPr id="33" name="TextBox 32"/>
          <p:cNvSpPr txBox="1"/>
          <p:nvPr/>
        </p:nvSpPr>
        <p:spPr>
          <a:xfrm>
            <a:off x="7289800" y="3609181"/>
            <a:ext cx="283464" cy="238125"/>
          </a:xfrm>
          <a:prstGeom prst="rect">
            <a:avLst/>
          </a:prstGeom>
          <a:noFill/>
        </p:spPr>
        <p:txBody>
          <a:bodyPr wrap="square" lIns="0" rIns="0" tIns="0" bIns="0" anchor="t"/>
          <a:lstStyle/>
          <a:p>
            <a:pPr algn="l">
              <a:lnSpc>
                <a:spcPts val="1875"/>
              </a:lnSpc>
              <a:spcBef>
                <a:spcPts val="0"/>
              </a:spcBef>
              <a:spcAft>
                <a:spcPts val="0"/>
              </a:spcAft>
            </a:pPr>
            <a:r>
              <a:rPr sz="1250" b="1" i="0">
                <a:solidFill>
                  <a:srgbClr val="E8741A"/>
                </a:solidFill>
                <a:latin typeface="Calibri"/>
              </a:rPr>
              <a:t>VM</a:t>
            </a:r>
          </a:p>
        </p:txBody>
      </p:sp>
      <p:sp>
        <p:nvSpPr>
          <p:cNvPr id="34" name="TextBox 33"/>
          <p:cNvSpPr txBox="1"/>
          <p:nvPr/>
        </p:nvSpPr>
        <p:spPr>
          <a:xfrm>
            <a:off x="7592314" y="3609181"/>
            <a:ext cx="653542" cy="238125"/>
          </a:xfrm>
          <a:prstGeom prst="rect">
            <a:avLst/>
          </a:prstGeom>
          <a:noFill/>
        </p:spPr>
        <p:txBody>
          <a:bodyPr wrap="square" lIns="0" rIns="0" tIns="0" bIns="0" anchor="t"/>
          <a:lstStyle/>
          <a:p>
            <a:pPr algn="r">
              <a:lnSpc>
                <a:spcPts val="1875"/>
              </a:lnSpc>
              <a:spcBef>
                <a:spcPts val="0"/>
              </a:spcBef>
              <a:spcAft>
                <a:spcPts val="0"/>
              </a:spcAft>
            </a:pPr>
            <a:r>
              <a:rPr sz="1250" b="1" i="0">
                <a:solidFill>
                  <a:srgbClr val="E8741A"/>
                </a:solidFill>
                <a:latin typeface="Calibri"/>
              </a:rPr>
              <a:t>864,70</a:t>
            </a:r>
          </a:p>
        </p:txBody>
      </p:sp>
      <p:pic>
        <p:nvPicPr>
          <p:cNvPr id="35" name="Picture 34" descr="d50616f1d8c293ee.png"/>
          <p:cNvPicPr>
            <a:picLocks noChangeAspect="1"/>
          </p:cNvPicPr>
          <p:nvPr/>
        </p:nvPicPr>
        <p:blipFill>
          <a:blip r:embed="rId5"/>
          <a:stretch>
            <a:fillRect/>
          </a:stretch>
        </p:blipFill>
        <p:spPr>
          <a:xfrm>
            <a:off x="8401050" y="1854200"/>
            <a:ext cx="2101850" cy="2095500"/>
          </a:xfrm>
          <a:prstGeom prst="rect">
            <a:avLst/>
          </a:prstGeom>
        </p:spPr>
      </p:pic>
      <p:sp>
        <p:nvSpPr>
          <p:cNvPr id="36" name="TextBox 35"/>
          <p:cNvSpPr txBox="1"/>
          <p:nvPr/>
        </p:nvSpPr>
        <p:spPr>
          <a:xfrm>
            <a:off x="7283450" y="3985609"/>
            <a:ext cx="4184142"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Círculo de Mohr: centro −435,2, radio 431,4; θp = 9,1°. Valores</a:t>
            </a:r>
            <a:br/>
            <a:r>
              <a:rPr sz="1250" b="0" i="0">
                <a:solidFill>
                  <a:srgbClr val="5B6575"/>
                </a:solidFill>
                <a:latin typeface="Calibri"/>
              </a:rPr>
              <a:t>del motor, idénticos a los de la interfaz.</a:t>
            </a:r>
          </a:p>
        </p:txBody>
      </p:sp>
      <p:pic>
        <p:nvPicPr>
          <p:cNvPr id="37" name="Picture 36" descr="0f6dde530b0b4201.png"/>
          <p:cNvPicPr>
            <a:picLocks noChangeAspect="1"/>
          </p:cNvPicPr>
          <p:nvPr/>
        </p:nvPicPr>
        <p:blipFill>
          <a:blip r:embed="rId6"/>
          <a:stretch>
            <a:fillRect/>
          </a:stretch>
        </p:blipFill>
        <p:spPr>
          <a:xfrm>
            <a:off x="641350" y="1441450"/>
            <a:ext cx="6223000" cy="4127500"/>
          </a:xfrm>
          <a:prstGeom prst="rect">
            <a:avLst/>
          </a:prstGeom>
        </p:spPr>
      </p:pic>
      <p:pic>
        <p:nvPicPr>
          <p:cNvPr id="38" name="Picture 37" descr="bd508390dbe21a68.png"/>
          <p:cNvPicPr>
            <a:picLocks noChangeAspect="1"/>
          </p:cNvPicPr>
          <p:nvPr/>
        </p:nvPicPr>
        <p:blipFill>
          <a:blip r:embed="rId7"/>
          <a:stretch>
            <a:fillRect/>
          </a:stretch>
        </p:blipFill>
        <p:spPr>
          <a:xfrm>
            <a:off x="6038850" y="1568450"/>
            <a:ext cx="762000" cy="2857500"/>
          </a:xfrm>
          <a:prstGeom prst="rect">
            <a:avLst/>
          </a:prstGeom>
        </p:spPr>
      </p:pic>
      <p:sp>
        <p:nvSpPr>
          <p:cNvPr id="39" name="Rectangle 38"/>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5150" y="6535420"/>
            <a:ext cx="495007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2" name="TextBox 41"/>
          <p:cNvSpPr txBox="1"/>
          <p:nvPr/>
        </p:nvSpPr>
        <p:spPr>
          <a:xfrm>
            <a:off x="5392738" y="6535420"/>
            <a:ext cx="140639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2.2.8 · Etapas 8 y 9</a:t>
            </a:r>
          </a:p>
        </p:txBody>
      </p:sp>
      <p:sp>
        <p:nvSpPr>
          <p:cNvPr id="43" name="TextBox 42"/>
          <p:cNvSpPr txBox="1"/>
          <p:nvPr/>
        </p:nvSpPr>
        <p:spPr>
          <a:xfrm>
            <a:off x="6676708" y="6535420"/>
            <a:ext cx="495014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34</a:t>
            </a:r>
          </a:p>
        </p:txBody>
      </p:sp>
      <p:sp>
        <p:nvSpPr>
          <p:cNvPr id="44" name="Enlace a sep-intro">
            <a:hlinkClick action="ppaction://hlinksldjump" r:id="rId8"/>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nlace a sep-teoria">
            <a:hlinkClick action="ppaction://hlinksldjump" r:id="rId9"/>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nlace a sep-diseno">
            <a:hlinkClick action="ppaction://hlinksldjump" r:id="rId10"/>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nlace a sep-resultados">
            <a:hlinkClick action="ppaction://hlinksldjump" r:id="rId11"/>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nlace a sep-analisis">
            <a:hlinkClick action="ppaction://hlinksldjump" r:id="rId12"/>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nlace a sep-conclusiones">
            <a:hlinkClick action="ppaction://hlinksldjump" r:id="rId13"/>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xit" presetSubtype="0" fill="hold" grpId="0" nodeType="clickEffect">
                                  <p:stCondLst>
                                    <p:cond delay="0"/>
                                  </p:stCondLst>
                                  <p:childTnLst>
                                    <p:animEffect transition="out" filter="fade">
                                      <p:cBhvr>
                                        <p:cTn id="4" dur="200"/>
                                        <p:tgtEl>
                                          <p:spTgt spid="37"/>
                                        </p:tgtEl>
                                      </p:cBhvr>
                                    </p:animEffect>
                                    <p:set>
                                      <p:cBhvr>
                                        <p:cTn id="5" dur="1" fill="hold">
                                          <p:stCondLst>
                                            <p:cond delay="199"/>
                                          </p:stCondLst>
                                        </p:cTn>
                                        <p:tgtEl>
                                          <p:spTgt spid="37"/>
                                        </p:tgtEl>
                                        <p:attrNameLst>
                                          <p:attrName>style.visibility</p:attrName>
                                        </p:attrNameLst>
                                      </p:cBhvr>
                                      <p:to>
                                        <p:strVal val="hidden"/>
                                      </p:to>
                                    </p:set>
                                  </p:childTnLst>
                                </p:cTn>
                              </p:par>
                              <p:par>
                                <p:cTn id="6" presetID="10" presetClass="exit" presetSubtype="0" fill="hold" grpId="0" nodeType="withEffect">
                                  <p:stCondLst>
                                    <p:cond delay="0"/>
                                  </p:stCondLst>
                                  <p:childTnLst>
                                    <p:animEffect transition="out" filter="fade">
                                      <p:cBhvr>
                                        <p:cTn id="7" dur="200"/>
                                        <p:tgtEl>
                                          <p:spTgt spid="38"/>
                                        </p:tgtEl>
                                      </p:cBhvr>
                                    </p:animEffect>
                                    <p:set>
                                      <p:cBhvr>
                                        <p:cTn id="8" dur="1" fill="hold">
                                          <p:stCondLst>
                                            <p:cond delay="199"/>
                                          </p:stCondLst>
                                        </p:cTn>
                                        <p:tgtEl>
                                          <p:spTgt spid="38"/>
                                        </p:tgtEl>
                                        <p:attrNameLst>
                                          <p:attrName>style.visibility</p:attrName>
                                        </p:attrNameLst>
                                      </p:cBhvr>
                                      <p:to>
                                        <p:strVal val="hidden"/>
                                      </p:to>
                                    </p:set>
                                  </p:childTnLst>
                                </p:cTn>
                              </p:par>
                              <p:par>
                                <p:cTn id="9" presetID="10" presetClass="entr" presetSubtype="0" fill="hold" grpId="0" nodeType="withEffect">
                                  <p:stCondLst>
                                    <p:cond delay="2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2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grpId="0" nodeType="withEffect">
                                  <p:stCondLst>
                                    <p:cond delay="20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2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20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20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grpId="0" nodeType="withEffect">
                                  <p:stCondLst>
                                    <p:cond delay="20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2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grpId="0" nodeType="withEffect">
                                  <p:stCondLst>
                                    <p:cond delay="20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grpId="0" nodeType="withEffect">
                                  <p:stCondLst>
                                    <p:cond delay="20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20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20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20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par>
                                <p:cTn id="51" presetID="10" presetClass="entr" presetSubtype="0" fill="hold" grpId="0" nodeType="withEffect">
                                  <p:stCondLst>
                                    <p:cond delay="20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20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20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20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20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20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20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20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childTnLst>
                          </p:cTn>
                        </p:par>
                      </p:childTnLst>
                    </p:cTn>
                  </p:par>
                  <p:par>
                    <p:cTn id="83" fill="hold">
                      <p:stCondLst>
                        <p:cond delay="indefinite"/>
                      </p:stCondLst>
                      <p:childTnLst>
                        <p:par>
                          <p:cTn id="84" fill="hold">
                            <p:stCondLst>
                              <p:cond delay="0"/>
                            </p:stCondLst>
                            <p:childTnLst>
                              <p:par>
                                <p:cTn id="75" presetID="10" presetClass="exit" presetSubtype="0" fill="hold" grpId="1" nodeType="clickEffect">
                                  <p:stCondLst>
                                    <p:cond delay="0"/>
                                  </p:stCondLst>
                                  <p:childTnLst>
                                    <p:animEffect transition="out" filter="fade">
                                      <p:cBhvr>
                                        <p:cTn id="76" dur="200"/>
                                        <p:tgtEl>
                                          <p:spTgt spid="15"/>
                                        </p:tgtEl>
                                      </p:cBhvr>
                                    </p:animEffect>
                                    <p:set>
                                      <p:cBhvr>
                                        <p:cTn id="77" dur="1" fill="hold">
                                          <p:stCondLst>
                                            <p:cond delay="199"/>
                                          </p:stCondLst>
                                        </p:cTn>
                                        <p:tgtEl>
                                          <p:spTgt spid="15"/>
                                        </p:tgtEl>
                                        <p:attrNameLst>
                                          <p:attrName>style.visibility</p:attrName>
                                        </p:attrNameLst>
                                      </p:cBhvr>
                                      <p:to>
                                        <p:strVal val="hidden"/>
                                      </p:to>
                                    </p:set>
                                  </p:childTnLst>
                                </p:cTn>
                              </p:par>
                              <p:par>
                                <p:cTn id="78" presetID="10" presetClass="entr" presetSubtype="0" fill="hold" grpId="0" nodeType="withEffect">
                                  <p:stCondLst>
                                    <p:cond delay="200"/>
                                  </p:stCondLst>
                                  <p:childTnLst>
                                    <p:set>
                                      <p:cBhvr>
                                        <p:cTn id="79" dur="1" fill="hold">
                                          <p:stCondLst>
                                            <p:cond delay="0"/>
                                          </p:stCondLst>
                                        </p:cTn>
                                        <p:tgtEl>
                                          <p:spTgt spid="14"/>
                                        </p:tgtEl>
                                        <p:attrNameLst>
                                          <p:attrName>style.visibility</p:attrName>
                                        </p:attrNameLst>
                                      </p:cBhvr>
                                      <p:to>
                                        <p:strVal val="visible"/>
                                      </p:to>
                                    </p:set>
                                    <p:animEffect transition="in" filter="fade">
                                      <p:cBhvr>
                                        <p:cTn id="8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6"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Memoria de cálculo: el procedimiento, en papel</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98385b8b17590a8.png"/>
          <p:cNvPicPr>
            <a:picLocks noChangeAspect="1"/>
          </p:cNvPicPr>
          <p:nvPr/>
        </p:nvPicPr>
        <p:blipFill>
          <a:blip r:embed="rId2"/>
          <a:stretch>
            <a:fillRect/>
          </a:stretch>
        </p:blipFill>
        <p:spPr>
          <a:xfrm>
            <a:off x="69850" y="1200150"/>
            <a:ext cx="3619500" cy="4572000"/>
          </a:xfrm>
          <a:prstGeom prst="rect">
            <a:avLst/>
          </a:prstGeom>
        </p:spPr>
      </p:pic>
      <p:pic>
        <p:nvPicPr>
          <p:cNvPr id="14" name="Picture 13" descr="e036ee5646e46f09.png"/>
          <p:cNvPicPr>
            <a:picLocks noChangeAspect="1"/>
          </p:cNvPicPr>
          <p:nvPr/>
        </p:nvPicPr>
        <p:blipFill>
          <a:blip r:embed="rId3"/>
          <a:stretch>
            <a:fillRect/>
          </a:stretch>
        </p:blipFill>
        <p:spPr>
          <a:xfrm>
            <a:off x="190500" y="1263650"/>
            <a:ext cx="3536950" cy="4514850"/>
          </a:xfrm>
          <a:prstGeom prst="rect">
            <a:avLst/>
          </a:prstGeom>
        </p:spPr>
      </p:pic>
      <p:sp>
        <p:nvSpPr>
          <p:cNvPr id="15" name="TextBox 14"/>
          <p:cNvSpPr txBox="1"/>
          <p:nvPr/>
        </p:nvSpPr>
        <p:spPr>
          <a:xfrm>
            <a:off x="4572000" y="1440012"/>
            <a:ext cx="7124700" cy="170561"/>
          </a:xfrm>
          <a:prstGeom prst="rect">
            <a:avLst/>
          </a:prstGeom>
          <a:noFill/>
        </p:spPr>
        <p:txBody>
          <a:bodyPr wrap="square" lIns="0" rIns="0" tIns="0" bIns="0" anchor="t"/>
          <a:lstStyle/>
          <a:p>
            <a:pPr algn="l">
              <a:lnSpc>
                <a:spcPts val="1343"/>
              </a:lnSpc>
              <a:spcBef>
                <a:spcPts val="0"/>
              </a:spcBef>
              <a:spcAft>
                <a:spcPts val="0"/>
              </a:spcAft>
            </a:pPr>
            <a:r>
              <a:rPr sz="1100" b="0" i="0">
                <a:solidFill>
                  <a:srgbClr val="1F2937"/>
                </a:solidFill>
                <a:latin typeface="Calibri"/>
              </a:rPr>
              <a:t>Nueve capítulos, el mismo procedimiento que el motor</a:t>
            </a:r>
          </a:p>
        </p:txBody>
      </p:sp>
      <p:sp>
        <p:nvSpPr>
          <p:cNvPr id="16" name="Rounded Rectangle 15"/>
          <p:cNvSpPr/>
          <p:nvPr/>
        </p:nvSpPr>
        <p:spPr>
          <a:xfrm>
            <a:off x="4575175" y="1685925"/>
            <a:ext cx="2271141" cy="438150"/>
          </a:xfrm>
          <a:prstGeom prst="roundRect">
            <a:avLst>
              <a:gd name="adj" fmla="val 195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54550" y="1812449"/>
            <a:ext cx="2112391" cy="190500"/>
          </a:xfrm>
          <a:prstGeom prst="rect">
            <a:avLst/>
          </a:prstGeom>
          <a:noFill/>
        </p:spPr>
        <p:txBody>
          <a:bodyPr wrap="square" lIns="0" rIns="0" tIns="0" bIns="0" anchor="t"/>
          <a:lstStyle/>
          <a:p>
            <a:pPr algn="ctr">
              <a:lnSpc>
                <a:spcPts val="1500"/>
              </a:lnSpc>
              <a:spcBef>
                <a:spcPts val="0"/>
              </a:spcBef>
              <a:spcAft>
                <a:spcPts val="0"/>
              </a:spcAft>
            </a:pPr>
            <a:r>
              <a:rPr sz="1250" b="1" i="0">
                <a:solidFill>
                  <a:srgbClr val="1F2937"/>
                </a:solidFill>
                <a:latin typeface="Calibri"/>
              </a:rPr>
              <a:t>Planteo del problema</a:t>
            </a:r>
          </a:p>
        </p:txBody>
      </p:sp>
      <p:sp>
        <p:nvSpPr>
          <p:cNvPr id="18" name="Rounded Rectangle 17"/>
          <p:cNvSpPr/>
          <p:nvPr/>
        </p:nvSpPr>
        <p:spPr>
          <a:xfrm>
            <a:off x="4679950" y="1778000"/>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54550" y="1821904"/>
            <a:ext cx="304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8741A"/>
                </a:solidFill>
                <a:latin typeface="Calibri"/>
              </a:rPr>
              <a:t>1</a:t>
            </a:r>
          </a:p>
        </p:txBody>
      </p:sp>
      <p:sp>
        <p:nvSpPr>
          <p:cNvPr id="20" name="Rounded Rectangle 19"/>
          <p:cNvSpPr/>
          <p:nvPr/>
        </p:nvSpPr>
        <p:spPr>
          <a:xfrm>
            <a:off x="6928866" y="1685925"/>
            <a:ext cx="2271204" cy="438150"/>
          </a:xfrm>
          <a:prstGeom prst="roundRect">
            <a:avLst>
              <a:gd name="adj" fmla="val 195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3841" y="1812449"/>
            <a:ext cx="1782254" cy="190500"/>
          </a:xfrm>
          <a:prstGeom prst="rect">
            <a:avLst/>
          </a:prstGeom>
          <a:noFill/>
        </p:spPr>
        <p:txBody>
          <a:bodyPr wrap="square" lIns="0" rIns="0" tIns="0" bIns="0" anchor="t"/>
          <a:lstStyle/>
          <a:p>
            <a:pPr algn="l">
              <a:lnSpc>
                <a:spcPts val="1500"/>
              </a:lnSpc>
              <a:spcBef>
                <a:spcPts val="0"/>
              </a:spcBef>
              <a:spcAft>
                <a:spcPts val="0"/>
              </a:spcAft>
            </a:pPr>
            <a:r>
              <a:rPr sz="1250" b="1" i="0">
                <a:solidFill>
                  <a:srgbClr val="1F2937"/>
                </a:solidFill>
                <a:latin typeface="Calibri"/>
              </a:rPr>
              <a:t>Discretización</a:t>
            </a:r>
          </a:p>
        </p:txBody>
      </p:sp>
      <p:sp>
        <p:nvSpPr>
          <p:cNvPr id="22" name="Rounded Rectangle 21"/>
          <p:cNvSpPr/>
          <p:nvPr/>
        </p:nvSpPr>
        <p:spPr>
          <a:xfrm>
            <a:off x="7033641" y="1778000"/>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08241" y="1821904"/>
            <a:ext cx="304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8741A"/>
                </a:solidFill>
                <a:latin typeface="Calibri"/>
              </a:rPr>
              <a:t>2</a:t>
            </a:r>
          </a:p>
        </p:txBody>
      </p:sp>
      <p:sp>
        <p:nvSpPr>
          <p:cNvPr id="24" name="Rounded Rectangle 23"/>
          <p:cNvSpPr/>
          <p:nvPr/>
        </p:nvSpPr>
        <p:spPr>
          <a:xfrm>
            <a:off x="9282620" y="1685925"/>
            <a:ext cx="2271141" cy="438150"/>
          </a:xfrm>
          <a:prstGeom prst="roundRect">
            <a:avLst>
              <a:gd name="adj" fmla="val 195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17596" y="1812449"/>
            <a:ext cx="1782191" cy="190500"/>
          </a:xfrm>
          <a:prstGeom prst="rect">
            <a:avLst/>
          </a:prstGeom>
          <a:noFill/>
        </p:spPr>
        <p:txBody>
          <a:bodyPr wrap="square" lIns="0" rIns="0" tIns="0" bIns="0" anchor="t"/>
          <a:lstStyle/>
          <a:p>
            <a:pPr algn="l">
              <a:lnSpc>
                <a:spcPts val="1500"/>
              </a:lnSpc>
              <a:spcBef>
                <a:spcPts val="0"/>
              </a:spcBef>
              <a:spcAft>
                <a:spcPts val="0"/>
              </a:spcAft>
            </a:pPr>
            <a:r>
              <a:rPr sz="1250" b="1" i="0">
                <a:solidFill>
                  <a:srgbClr val="1F2937"/>
                </a:solidFill>
                <a:latin typeface="Calibri"/>
              </a:rPr>
              <a:t>Calidad de la malla</a:t>
            </a:r>
          </a:p>
        </p:txBody>
      </p:sp>
      <p:sp>
        <p:nvSpPr>
          <p:cNvPr id="26" name="Rounded Rectangle 25"/>
          <p:cNvSpPr/>
          <p:nvPr/>
        </p:nvSpPr>
        <p:spPr>
          <a:xfrm>
            <a:off x="9387396" y="1778000"/>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61996" y="1821904"/>
            <a:ext cx="304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8741A"/>
                </a:solidFill>
                <a:latin typeface="Calibri"/>
              </a:rPr>
              <a:t>3</a:t>
            </a:r>
          </a:p>
        </p:txBody>
      </p:sp>
      <p:sp>
        <p:nvSpPr>
          <p:cNvPr id="28" name="Rounded Rectangle 27"/>
          <p:cNvSpPr/>
          <p:nvPr/>
        </p:nvSpPr>
        <p:spPr>
          <a:xfrm>
            <a:off x="4575175" y="2206625"/>
            <a:ext cx="2271141" cy="438150"/>
          </a:xfrm>
          <a:prstGeom prst="roundRect">
            <a:avLst>
              <a:gd name="adj" fmla="val 195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10150" y="2333149"/>
            <a:ext cx="1782191" cy="190500"/>
          </a:xfrm>
          <a:prstGeom prst="rect">
            <a:avLst/>
          </a:prstGeom>
          <a:noFill/>
        </p:spPr>
        <p:txBody>
          <a:bodyPr wrap="square" lIns="0" rIns="0" tIns="0" bIns="0" anchor="t"/>
          <a:lstStyle/>
          <a:p>
            <a:pPr algn="l">
              <a:lnSpc>
                <a:spcPts val="1500"/>
              </a:lnSpc>
              <a:spcBef>
                <a:spcPts val="0"/>
              </a:spcBef>
              <a:spcAft>
                <a:spcPts val="0"/>
              </a:spcAft>
            </a:pPr>
            <a:r>
              <a:rPr sz="1250" b="1" i="0">
                <a:solidFill>
                  <a:srgbClr val="1F2937"/>
                </a:solidFill>
                <a:latin typeface="Calibri"/>
              </a:rPr>
              <a:t>Formulación elemental</a:t>
            </a:r>
          </a:p>
        </p:txBody>
      </p:sp>
      <p:sp>
        <p:nvSpPr>
          <p:cNvPr id="30" name="Rounded Rectangle 29"/>
          <p:cNvSpPr/>
          <p:nvPr/>
        </p:nvSpPr>
        <p:spPr>
          <a:xfrm>
            <a:off x="4679950" y="2298700"/>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54550" y="2342604"/>
            <a:ext cx="304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8741A"/>
                </a:solidFill>
                <a:latin typeface="Calibri"/>
              </a:rPr>
              <a:t>4</a:t>
            </a:r>
          </a:p>
        </p:txBody>
      </p:sp>
      <p:sp>
        <p:nvSpPr>
          <p:cNvPr id="32" name="Rounded Rectangle 31"/>
          <p:cNvSpPr/>
          <p:nvPr/>
        </p:nvSpPr>
        <p:spPr>
          <a:xfrm>
            <a:off x="6928866" y="2206625"/>
            <a:ext cx="2271204" cy="438150"/>
          </a:xfrm>
          <a:prstGeom prst="roundRect">
            <a:avLst>
              <a:gd name="adj" fmla="val 195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63841" y="2333149"/>
            <a:ext cx="1782254" cy="190500"/>
          </a:xfrm>
          <a:prstGeom prst="rect">
            <a:avLst/>
          </a:prstGeom>
          <a:noFill/>
        </p:spPr>
        <p:txBody>
          <a:bodyPr wrap="square" lIns="0" rIns="0" tIns="0" bIns="0" anchor="t"/>
          <a:lstStyle/>
          <a:p>
            <a:pPr algn="l">
              <a:lnSpc>
                <a:spcPts val="1500"/>
              </a:lnSpc>
              <a:spcBef>
                <a:spcPts val="0"/>
              </a:spcBef>
              <a:spcAft>
                <a:spcPts val="0"/>
              </a:spcAft>
            </a:pPr>
            <a:r>
              <a:rPr sz="1250" b="1" i="0">
                <a:solidFill>
                  <a:srgbClr val="1F2937"/>
                </a:solidFill>
                <a:latin typeface="Calibri"/>
              </a:rPr>
              <a:t>Ensamblaje</a:t>
            </a:r>
          </a:p>
        </p:txBody>
      </p:sp>
      <p:sp>
        <p:nvSpPr>
          <p:cNvPr id="34" name="Rounded Rectangle 33"/>
          <p:cNvSpPr/>
          <p:nvPr/>
        </p:nvSpPr>
        <p:spPr>
          <a:xfrm>
            <a:off x="7033641" y="2298700"/>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08241" y="2342604"/>
            <a:ext cx="304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8741A"/>
                </a:solidFill>
                <a:latin typeface="Calibri"/>
              </a:rPr>
              <a:t>5</a:t>
            </a:r>
          </a:p>
        </p:txBody>
      </p:sp>
      <p:sp>
        <p:nvSpPr>
          <p:cNvPr id="36" name="Rounded Rectangle 35"/>
          <p:cNvSpPr/>
          <p:nvPr/>
        </p:nvSpPr>
        <p:spPr>
          <a:xfrm>
            <a:off x="9282620" y="2206625"/>
            <a:ext cx="2271141" cy="438150"/>
          </a:xfrm>
          <a:prstGeom prst="roundRect">
            <a:avLst>
              <a:gd name="adj" fmla="val 195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17596" y="2333149"/>
            <a:ext cx="1782191" cy="190500"/>
          </a:xfrm>
          <a:prstGeom prst="rect">
            <a:avLst/>
          </a:prstGeom>
          <a:noFill/>
        </p:spPr>
        <p:txBody>
          <a:bodyPr wrap="square" lIns="0" rIns="0" tIns="0" bIns="0" anchor="t"/>
          <a:lstStyle/>
          <a:p>
            <a:pPr algn="l">
              <a:lnSpc>
                <a:spcPts val="1500"/>
              </a:lnSpc>
              <a:spcBef>
                <a:spcPts val="0"/>
              </a:spcBef>
              <a:spcAft>
                <a:spcPts val="0"/>
              </a:spcAft>
            </a:pPr>
            <a:r>
              <a:rPr sz="1250" b="1" i="0">
                <a:solidFill>
                  <a:srgbClr val="1F2937"/>
                </a:solidFill>
                <a:latin typeface="Calibri"/>
              </a:rPr>
              <a:t>Restricciones y solución</a:t>
            </a:r>
          </a:p>
        </p:txBody>
      </p:sp>
      <p:sp>
        <p:nvSpPr>
          <p:cNvPr id="38" name="Rounded Rectangle 37"/>
          <p:cNvSpPr/>
          <p:nvPr/>
        </p:nvSpPr>
        <p:spPr>
          <a:xfrm>
            <a:off x="9387396" y="2298700"/>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61996" y="2342604"/>
            <a:ext cx="304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8741A"/>
                </a:solidFill>
                <a:latin typeface="Calibri"/>
              </a:rPr>
              <a:t>6</a:t>
            </a:r>
          </a:p>
        </p:txBody>
      </p:sp>
      <p:sp>
        <p:nvSpPr>
          <p:cNvPr id="40" name="Rounded Rectangle 39"/>
          <p:cNvSpPr/>
          <p:nvPr/>
        </p:nvSpPr>
        <p:spPr>
          <a:xfrm>
            <a:off x="4575175" y="2727325"/>
            <a:ext cx="2271141" cy="438150"/>
          </a:xfrm>
          <a:prstGeom prst="roundRect">
            <a:avLst>
              <a:gd name="adj" fmla="val 195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10150" y="2853849"/>
            <a:ext cx="1782191" cy="190500"/>
          </a:xfrm>
          <a:prstGeom prst="rect">
            <a:avLst/>
          </a:prstGeom>
          <a:noFill/>
        </p:spPr>
        <p:txBody>
          <a:bodyPr wrap="square" lIns="0" rIns="0" tIns="0" bIns="0" anchor="t"/>
          <a:lstStyle/>
          <a:p>
            <a:pPr algn="l">
              <a:lnSpc>
                <a:spcPts val="1500"/>
              </a:lnSpc>
              <a:spcBef>
                <a:spcPts val="0"/>
              </a:spcBef>
              <a:spcAft>
                <a:spcPts val="0"/>
              </a:spcAft>
            </a:pPr>
            <a:r>
              <a:rPr sz="1250" b="1" i="0">
                <a:solidFill>
                  <a:srgbClr val="1F2937"/>
                </a:solidFill>
                <a:latin typeface="Calibri"/>
              </a:rPr>
              <a:t>Post-proceso</a:t>
            </a:r>
          </a:p>
        </p:txBody>
      </p:sp>
      <p:sp>
        <p:nvSpPr>
          <p:cNvPr id="42" name="Rounded Rectangle 41"/>
          <p:cNvSpPr/>
          <p:nvPr/>
        </p:nvSpPr>
        <p:spPr>
          <a:xfrm>
            <a:off x="4679950" y="2819400"/>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54550" y="2863304"/>
            <a:ext cx="304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8741A"/>
                </a:solidFill>
                <a:latin typeface="Calibri"/>
              </a:rPr>
              <a:t>7</a:t>
            </a:r>
          </a:p>
        </p:txBody>
      </p:sp>
      <p:sp>
        <p:nvSpPr>
          <p:cNvPr id="44" name="Rounded Rectangle 43"/>
          <p:cNvSpPr/>
          <p:nvPr/>
        </p:nvSpPr>
        <p:spPr>
          <a:xfrm>
            <a:off x="6928866" y="2727325"/>
            <a:ext cx="2271204" cy="438150"/>
          </a:xfrm>
          <a:prstGeom prst="roundRect">
            <a:avLst>
              <a:gd name="adj" fmla="val 195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63841" y="2853849"/>
            <a:ext cx="1782254" cy="190500"/>
          </a:xfrm>
          <a:prstGeom prst="rect">
            <a:avLst/>
          </a:prstGeom>
          <a:noFill/>
        </p:spPr>
        <p:txBody>
          <a:bodyPr wrap="square" lIns="0" rIns="0" tIns="0" bIns="0" anchor="t"/>
          <a:lstStyle/>
          <a:p>
            <a:pPr algn="l">
              <a:lnSpc>
                <a:spcPts val="1500"/>
              </a:lnSpc>
              <a:spcBef>
                <a:spcPts val="0"/>
              </a:spcBef>
              <a:spcAft>
                <a:spcPts val="0"/>
              </a:spcAft>
            </a:pPr>
            <a:r>
              <a:rPr sz="1250" b="1" i="0">
                <a:solidFill>
                  <a:srgbClr val="1F2937"/>
                </a:solidFill>
                <a:latin typeface="Calibri"/>
              </a:rPr>
              <a:t>Diagnóstico y validación</a:t>
            </a:r>
          </a:p>
        </p:txBody>
      </p:sp>
      <p:sp>
        <p:nvSpPr>
          <p:cNvPr id="46" name="Rounded Rectangle 45"/>
          <p:cNvSpPr/>
          <p:nvPr/>
        </p:nvSpPr>
        <p:spPr>
          <a:xfrm>
            <a:off x="7033641" y="2819400"/>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08241" y="2863304"/>
            <a:ext cx="304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8741A"/>
                </a:solidFill>
                <a:latin typeface="Calibri"/>
              </a:rPr>
              <a:t>8</a:t>
            </a:r>
          </a:p>
        </p:txBody>
      </p:sp>
      <p:sp>
        <p:nvSpPr>
          <p:cNvPr id="48" name="Rounded Rectangle 47"/>
          <p:cNvSpPr/>
          <p:nvPr/>
        </p:nvSpPr>
        <p:spPr>
          <a:xfrm>
            <a:off x="9282620" y="2727325"/>
            <a:ext cx="2271141" cy="438150"/>
          </a:xfrm>
          <a:prstGeom prst="roundRect">
            <a:avLst>
              <a:gd name="adj" fmla="val 195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17596" y="2853849"/>
            <a:ext cx="1782191" cy="190500"/>
          </a:xfrm>
          <a:prstGeom prst="rect">
            <a:avLst/>
          </a:prstGeom>
          <a:noFill/>
        </p:spPr>
        <p:txBody>
          <a:bodyPr wrap="square" lIns="0" rIns="0" tIns="0" bIns="0" anchor="t"/>
          <a:lstStyle/>
          <a:p>
            <a:pPr algn="l">
              <a:lnSpc>
                <a:spcPts val="1500"/>
              </a:lnSpc>
              <a:spcBef>
                <a:spcPts val="0"/>
              </a:spcBef>
              <a:spcAft>
                <a:spcPts val="0"/>
              </a:spcAft>
            </a:pPr>
            <a:r>
              <a:rPr sz="1250" b="1" i="0">
                <a:solidFill>
                  <a:srgbClr val="1F2937"/>
                </a:solidFill>
                <a:latin typeface="Calibri"/>
              </a:rPr>
              <a:t>Resumen e interpretación</a:t>
            </a:r>
          </a:p>
        </p:txBody>
      </p:sp>
      <p:sp>
        <p:nvSpPr>
          <p:cNvPr id="50" name="Rounded Rectangle 49"/>
          <p:cNvSpPr/>
          <p:nvPr/>
        </p:nvSpPr>
        <p:spPr>
          <a:xfrm>
            <a:off x="9387396" y="2819400"/>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61996" y="2863304"/>
            <a:ext cx="304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8741A"/>
                </a:solidFill>
                <a:latin typeface="Calibri"/>
              </a:rPr>
              <a:t>9</a:t>
            </a:r>
          </a:p>
        </p:txBody>
      </p:sp>
      <p:sp>
        <p:nvSpPr>
          <p:cNvPr id="52" name="Rounded Rectangle 51"/>
          <p:cNvSpPr/>
          <p:nvPr/>
        </p:nvSpPr>
        <p:spPr>
          <a:xfrm>
            <a:off x="4575175" y="3336925"/>
            <a:ext cx="3422650" cy="1080897"/>
          </a:xfrm>
          <a:prstGeom prst="roundRect">
            <a:avLst>
              <a:gd name="adj" fmla="val 675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94250" y="3537205"/>
            <a:ext cx="304419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Dos estilos</a:t>
            </a:r>
          </a:p>
        </p:txBody>
      </p:sp>
      <p:sp>
        <p:nvSpPr>
          <p:cNvPr id="54" name="TextBox 53"/>
          <p:cNvSpPr txBox="1"/>
          <p:nvPr/>
        </p:nvSpPr>
        <p:spPr>
          <a:xfrm>
            <a:off x="4794250" y="3802324"/>
            <a:ext cx="3044190" cy="420624"/>
          </a:xfrm>
          <a:prstGeom prst="rect">
            <a:avLst/>
          </a:prstGeom>
          <a:noFill/>
        </p:spPr>
        <p:txBody>
          <a:bodyPr wrap="square" lIns="0" rIns="0" tIns="0" bIns="0" anchor="t"/>
          <a:lstStyle/>
          <a:p>
            <a:pPr algn="l">
              <a:lnSpc>
                <a:spcPts val="1656"/>
              </a:lnSpc>
              <a:spcBef>
                <a:spcPts val="0"/>
              </a:spcBef>
              <a:spcAft>
                <a:spcPts val="0"/>
              </a:spcAft>
            </a:pPr>
            <a:r>
              <a:rPr sz="1200" b="0" i="0">
                <a:solidFill>
                  <a:srgbClr val="3F4A5A"/>
                </a:solidFill>
                <a:latin typeface="Calibri"/>
              </a:rPr>
              <a:t>Educativo (infografías y glosario) y directo; las</a:t>
            </a:r>
            <a:br/>
            <a:r>
              <a:rPr sz="1200" b="0" i="0">
                <a:solidFill>
                  <a:srgbClr val="3F4A5A"/>
                </a:solidFill>
                <a:latin typeface="Calibri"/>
              </a:rPr>
              <a:t>fórmulas y matrices se emiten siempre.</a:t>
            </a:r>
          </a:p>
        </p:txBody>
      </p:sp>
      <p:sp>
        <p:nvSpPr>
          <p:cNvPr id="55" name="Rounded Rectangle 54"/>
          <p:cNvSpPr/>
          <p:nvPr/>
        </p:nvSpPr>
        <p:spPr>
          <a:xfrm>
            <a:off x="8131175" y="3336925"/>
            <a:ext cx="3422650" cy="1080897"/>
          </a:xfrm>
          <a:prstGeom prst="roundRect">
            <a:avLst>
              <a:gd name="adj" fmla="val 675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50250" y="3537205"/>
            <a:ext cx="304419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Sin instalar nada más</a:t>
            </a:r>
          </a:p>
        </p:txBody>
      </p:sp>
      <p:sp>
        <p:nvSpPr>
          <p:cNvPr id="57" name="TextBox 56"/>
          <p:cNvSpPr txBox="1"/>
          <p:nvPr/>
        </p:nvSpPr>
        <p:spPr>
          <a:xfrm>
            <a:off x="8350250" y="3802324"/>
            <a:ext cx="3044190" cy="420624"/>
          </a:xfrm>
          <a:prstGeom prst="rect">
            <a:avLst/>
          </a:prstGeom>
          <a:noFill/>
        </p:spPr>
        <p:txBody>
          <a:bodyPr wrap="square" lIns="0" rIns="0" tIns="0" bIns="0" anchor="t"/>
          <a:lstStyle/>
          <a:p>
            <a:pPr algn="l">
              <a:lnSpc>
                <a:spcPts val="1656"/>
              </a:lnSpc>
              <a:spcBef>
                <a:spcPts val="0"/>
              </a:spcBef>
              <a:spcAft>
                <a:spcPts val="0"/>
              </a:spcAft>
            </a:pPr>
            <a:r>
              <a:rPr sz="1200" b="0" i="0">
                <a:solidFill>
                  <a:srgbClr val="3F4A5A"/>
                </a:solidFill>
                <a:latin typeface="Calibri"/>
              </a:rPr>
              <a:t>pylatex + TeX Live embebido: compila sin</a:t>
            </a:r>
            <a:br/>
            <a:r>
              <a:rPr sz="1200" b="0" i="0">
                <a:solidFill>
                  <a:srgbClr val="3F4A5A"/>
                </a:solidFill>
                <a:latin typeface="Calibri"/>
              </a:rPr>
              <a:t>internet y sin MiKTeX.</a:t>
            </a:r>
          </a:p>
        </p:txBody>
      </p:sp>
      <p:sp>
        <p:nvSpPr>
          <p:cNvPr id="58" name="Rounded Rectangle 57"/>
          <p:cNvSpPr/>
          <p:nvPr/>
        </p:nvSpPr>
        <p:spPr>
          <a:xfrm>
            <a:off x="4572000" y="4991100"/>
            <a:ext cx="6985000" cy="665353"/>
          </a:xfrm>
          <a:prstGeom prst="roundRect">
            <a:avLst>
              <a:gd name="adj" fmla="val 1527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724400" y="5090566"/>
            <a:ext cx="6813804" cy="462280"/>
          </a:xfrm>
          <a:prstGeom prst="rect">
            <a:avLst/>
          </a:prstGeom>
          <a:noFill/>
        </p:spPr>
        <p:txBody>
          <a:bodyPr wrap="square" lIns="0" rIns="0" tIns="0" bIns="0" anchor="t"/>
          <a:lstStyle/>
          <a:p>
            <a:pPr algn="l">
              <a:lnSpc>
                <a:spcPts val="1820"/>
              </a:lnSpc>
              <a:spcBef>
                <a:spcPts val="0"/>
              </a:spcBef>
              <a:spcAft>
                <a:spcPts val="0"/>
              </a:spcAft>
            </a:pPr>
            <a:r>
              <a:rPr sz="1400" b="0" i="0">
                <a:solidFill>
                  <a:srgbClr val="1F2937"/>
                </a:solidFill>
                <a:latin typeface="Calibri"/>
              </a:rPr>
              <a:t>Hojas 6 y 7 (pp. 169–170): las reacciones suman</a:t>
            </a:r>
            <a:r>
              <a:rPr sz="1400" b="1" i="0">
                <a:solidFill>
                  <a:srgbClr val="2E8B57"/>
                </a:solidFill>
                <a:latin typeface="Calibri"/>
              </a:rPr>
              <a:t> 1000,00</a:t>
            </a:r>
            <a:r>
              <a:rPr sz="1400" b="0" i="0">
                <a:solidFill>
                  <a:srgbClr val="1F2937"/>
                </a:solidFill>
                <a:latin typeface="Calibri"/>
              </a:rPr>
              <a:t> contra la carga aplicada y el</a:t>
            </a:r>
            <a:br/>
            <a:r>
              <a:rPr sz="1400" b="0" i="0">
                <a:solidFill>
                  <a:srgbClr val="1F2937"/>
                </a:solidFill>
                <a:latin typeface="Calibri"/>
              </a:rPr>
              <a:t>máximo de von Mises es</a:t>
            </a:r>
            <a:r>
              <a:rPr sz="1400" b="1" i="0">
                <a:solidFill>
                  <a:srgbClr val="2E8B57"/>
                </a:solidFill>
                <a:latin typeface="Calibri"/>
              </a:rPr>
              <a:t> 864,70</a:t>
            </a:r>
            <a:r>
              <a:rPr sz="1400" b="0" i="0">
                <a:solidFill>
                  <a:srgbClr val="1F2937"/>
                </a:solidFill>
                <a:latin typeface="Calibri"/>
              </a:rPr>
              <a:t> en el nodo 7.</a:t>
            </a:r>
          </a:p>
        </p:txBody>
      </p:sp>
      <p:sp>
        <p:nvSpPr>
          <p:cNvPr id="60" name="TextBox 59"/>
          <p:cNvSpPr txBox="1"/>
          <p:nvPr/>
        </p:nvSpPr>
        <p:spPr>
          <a:xfrm>
            <a:off x="4724400" y="5090566"/>
            <a:ext cx="6813804" cy="462280"/>
          </a:xfrm>
          <a:prstGeom prst="rect">
            <a:avLst/>
          </a:prstGeom>
          <a:noFill/>
        </p:spPr>
        <p:txBody>
          <a:bodyPr wrap="square" lIns="0" rIns="0" tIns="0" bIns="0" anchor="t"/>
          <a:lstStyle/>
          <a:p>
            <a:pPr algn="l">
              <a:lnSpc>
                <a:spcPts val="1820"/>
              </a:lnSpc>
              <a:spcBef>
                <a:spcPts val="0"/>
              </a:spcBef>
              <a:spcAft>
                <a:spcPts val="0"/>
              </a:spcAft>
            </a:pPr>
            <a:r>
              <a:rPr sz="1400" b="0" i="0">
                <a:solidFill>
                  <a:srgbClr val="1F2937"/>
                </a:solidFill>
                <a:latin typeface="Calibri"/>
              </a:rPr>
              <a:t>Hoja 4 (p. 167): el Jacobiano de E3 remite a las</a:t>
            </a:r>
            <a:r>
              <a:rPr sz="1400" b="1" i="0">
                <a:solidFill>
                  <a:srgbClr val="E8741A"/>
                </a:solidFill>
                <a:latin typeface="Calibri"/>
              </a:rPr>
              <a:t> Ecuaciones 1.9 a 1.11</a:t>
            </a:r>
            <a:r>
              <a:rPr sz="1400" b="0" i="0">
                <a:solidFill>
                  <a:srgbClr val="1F2937"/>
                </a:solidFill>
                <a:latin typeface="Calibri"/>
              </a:rPr>
              <a:t> y da</a:t>
            </a:r>
            <a:r>
              <a:rPr sz="1400" b="1" i="0">
                <a:solidFill>
                  <a:srgbClr val="2E8B57"/>
                </a:solidFill>
                <a:latin typeface="Calibri"/>
              </a:rPr>
              <a:t> det J = 4,7604</a:t>
            </a:r>
            <a:r>
              <a:rPr sz="1400" b="0" i="0">
                <a:solidFill>
                  <a:srgbClr val="1F2937"/>
                </a:solidFill>
                <a:latin typeface="Calibri"/>
              </a:rPr>
              <a:t>:</a:t>
            </a:r>
            <a:br/>
            <a:r>
              <a:rPr sz="1400" b="0" i="0">
                <a:solidFill>
                  <a:srgbClr val="1F2937"/>
                </a:solidFill>
                <a:latin typeface="Calibri"/>
              </a:rPr>
              <a:t>cada valor, con la ecuación de la que sale.</a:t>
            </a:r>
          </a:p>
        </p:txBody>
      </p:sp>
      <p:sp>
        <p:nvSpPr>
          <p:cNvPr id="61" name="Rectangle 60"/>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65150" y="6535420"/>
            <a:ext cx="504348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64" name="TextBox 63"/>
          <p:cNvSpPr txBox="1"/>
          <p:nvPr/>
        </p:nvSpPr>
        <p:spPr>
          <a:xfrm>
            <a:off x="5484304" y="6535420"/>
            <a:ext cx="1223391"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2.2.9 · Anexo G</a:t>
            </a:r>
          </a:p>
        </p:txBody>
      </p:sp>
      <p:sp>
        <p:nvSpPr>
          <p:cNvPr id="65" name="TextBox 64"/>
          <p:cNvSpPr txBox="1"/>
          <p:nvPr/>
        </p:nvSpPr>
        <p:spPr>
          <a:xfrm>
            <a:off x="6583362" y="6535420"/>
            <a:ext cx="504348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35</a:t>
            </a:r>
          </a:p>
        </p:txBody>
      </p:sp>
      <p:pic>
        <p:nvPicPr>
          <p:cNvPr id="66" name="Picture 65" descr="8e923aa7148b3e49.png"/>
          <p:cNvPicPr>
            <a:picLocks noChangeAspect="1"/>
          </p:cNvPicPr>
          <p:nvPr/>
        </p:nvPicPr>
        <p:blipFill>
          <a:blip r:embed="rId4"/>
          <a:stretch>
            <a:fillRect/>
          </a:stretch>
        </p:blipFill>
        <p:spPr>
          <a:xfrm>
            <a:off x="152400" y="1250950"/>
            <a:ext cx="3587750" cy="4552950"/>
          </a:xfrm>
          <a:prstGeom prst="rect">
            <a:avLst/>
          </a:prstGeom>
        </p:spPr>
      </p:pic>
      <p:pic>
        <p:nvPicPr>
          <p:cNvPr id="67" name="Picture 66" descr="1520065dd29a9aeb.png"/>
          <p:cNvPicPr>
            <a:picLocks noChangeAspect="1"/>
          </p:cNvPicPr>
          <p:nvPr/>
        </p:nvPicPr>
        <p:blipFill>
          <a:blip r:embed="rId5"/>
          <a:stretch>
            <a:fillRect/>
          </a:stretch>
        </p:blipFill>
        <p:spPr>
          <a:xfrm>
            <a:off x="273050" y="1314450"/>
            <a:ext cx="3498850" cy="4495800"/>
          </a:xfrm>
          <a:prstGeom prst="rect">
            <a:avLst/>
          </a:prstGeom>
        </p:spPr>
      </p:pic>
      <p:pic>
        <p:nvPicPr>
          <p:cNvPr id="68" name="Picture 67" descr="6e2afe7e657b0e7e.png"/>
          <p:cNvPicPr>
            <a:picLocks noChangeAspect="1"/>
          </p:cNvPicPr>
          <p:nvPr/>
        </p:nvPicPr>
        <p:blipFill>
          <a:blip r:embed="rId6"/>
          <a:stretch>
            <a:fillRect/>
          </a:stretch>
        </p:blipFill>
        <p:spPr>
          <a:xfrm>
            <a:off x="228600" y="1301750"/>
            <a:ext cx="3562350" cy="4533900"/>
          </a:xfrm>
          <a:prstGeom prst="rect">
            <a:avLst/>
          </a:prstGeom>
        </p:spPr>
      </p:pic>
      <p:pic>
        <p:nvPicPr>
          <p:cNvPr id="69" name="Picture 68" descr="89d902ddac63e7f2.png"/>
          <p:cNvPicPr>
            <a:picLocks noChangeAspect="1"/>
          </p:cNvPicPr>
          <p:nvPr/>
        </p:nvPicPr>
        <p:blipFill>
          <a:blip r:embed="rId7"/>
          <a:stretch>
            <a:fillRect/>
          </a:stretch>
        </p:blipFill>
        <p:spPr>
          <a:xfrm>
            <a:off x="349250" y="1365250"/>
            <a:ext cx="3473450" cy="4476750"/>
          </a:xfrm>
          <a:prstGeom prst="rect">
            <a:avLst/>
          </a:prstGeom>
        </p:spPr>
      </p:pic>
      <p:pic>
        <p:nvPicPr>
          <p:cNvPr id="70" name="Picture 69" descr="a7452513a1a0d310.png"/>
          <p:cNvPicPr>
            <a:picLocks noChangeAspect="1"/>
          </p:cNvPicPr>
          <p:nvPr/>
        </p:nvPicPr>
        <p:blipFill>
          <a:blip r:embed="rId8"/>
          <a:stretch>
            <a:fillRect/>
          </a:stretch>
        </p:blipFill>
        <p:spPr>
          <a:xfrm>
            <a:off x="304800" y="1358900"/>
            <a:ext cx="3536950" cy="4514850"/>
          </a:xfrm>
          <a:prstGeom prst="rect">
            <a:avLst/>
          </a:prstGeom>
        </p:spPr>
      </p:pic>
      <p:pic>
        <p:nvPicPr>
          <p:cNvPr id="71" name="Picture 70" descr="3a0e901adf5ec99a.png"/>
          <p:cNvPicPr>
            <a:picLocks noChangeAspect="1"/>
          </p:cNvPicPr>
          <p:nvPr/>
        </p:nvPicPr>
        <p:blipFill>
          <a:blip r:embed="rId9"/>
          <a:stretch>
            <a:fillRect/>
          </a:stretch>
        </p:blipFill>
        <p:spPr>
          <a:xfrm>
            <a:off x="971550" y="1600200"/>
            <a:ext cx="3454400" cy="4476750"/>
          </a:xfrm>
          <a:prstGeom prst="rect">
            <a:avLst/>
          </a:prstGeom>
        </p:spPr>
      </p:pic>
      <p:pic>
        <p:nvPicPr>
          <p:cNvPr id="72" name="Picture 71" descr="cba353693a45e1fb.png"/>
          <p:cNvPicPr>
            <a:picLocks noChangeAspect="1"/>
          </p:cNvPicPr>
          <p:nvPr/>
        </p:nvPicPr>
        <p:blipFill>
          <a:blip r:embed="rId10"/>
          <a:stretch>
            <a:fillRect/>
          </a:stretch>
        </p:blipFill>
        <p:spPr>
          <a:xfrm>
            <a:off x="850900" y="1606550"/>
            <a:ext cx="3689350" cy="4641850"/>
          </a:xfrm>
          <a:prstGeom prst="rect">
            <a:avLst/>
          </a:prstGeom>
        </p:spPr>
      </p:pic>
      <p:pic>
        <p:nvPicPr>
          <p:cNvPr id="73" name="Picture 72" descr="34c0f61a775d97cb.png"/>
          <p:cNvPicPr>
            <a:picLocks noChangeAspect="1"/>
          </p:cNvPicPr>
          <p:nvPr/>
        </p:nvPicPr>
        <p:blipFill>
          <a:blip r:embed="rId11"/>
          <a:stretch>
            <a:fillRect/>
          </a:stretch>
        </p:blipFill>
        <p:spPr>
          <a:xfrm>
            <a:off x="730250" y="1619250"/>
            <a:ext cx="3911600" cy="4794250"/>
          </a:xfrm>
          <a:prstGeom prst="rect">
            <a:avLst/>
          </a:prstGeom>
        </p:spPr>
      </p:pic>
      <p:pic>
        <p:nvPicPr>
          <p:cNvPr id="74" name="Picture 73" descr="7b29e8f892ab07f6.png"/>
          <p:cNvPicPr>
            <a:picLocks noChangeAspect="1"/>
          </p:cNvPicPr>
          <p:nvPr/>
        </p:nvPicPr>
        <p:blipFill>
          <a:blip r:embed="rId12"/>
          <a:stretch>
            <a:fillRect/>
          </a:stretch>
        </p:blipFill>
        <p:spPr>
          <a:xfrm>
            <a:off x="387350" y="1409700"/>
            <a:ext cx="3498850" cy="4495800"/>
          </a:xfrm>
          <a:prstGeom prst="rect">
            <a:avLst/>
          </a:prstGeom>
        </p:spPr>
      </p:pic>
      <p:pic>
        <p:nvPicPr>
          <p:cNvPr id="75" name="Picture 74" descr="a02a5ef96b0a7684.png"/>
          <p:cNvPicPr>
            <a:picLocks noChangeAspect="1"/>
          </p:cNvPicPr>
          <p:nvPr/>
        </p:nvPicPr>
        <p:blipFill>
          <a:blip r:embed="rId13"/>
          <a:stretch>
            <a:fillRect/>
          </a:stretch>
        </p:blipFill>
        <p:spPr>
          <a:xfrm>
            <a:off x="850900" y="1574800"/>
            <a:ext cx="3613150" cy="4584700"/>
          </a:xfrm>
          <a:prstGeom prst="rect">
            <a:avLst/>
          </a:prstGeom>
        </p:spPr>
      </p:pic>
      <p:pic>
        <p:nvPicPr>
          <p:cNvPr id="76" name="Picture 75" descr="404be61ed77d4155.png"/>
          <p:cNvPicPr>
            <a:picLocks noChangeAspect="1"/>
          </p:cNvPicPr>
          <p:nvPr/>
        </p:nvPicPr>
        <p:blipFill>
          <a:blip r:embed="rId14"/>
          <a:stretch>
            <a:fillRect/>
          </a:stretch>
        </p:blipFill>
        <p:spPr>
          <a:xfrm>
            <a:off x="730250" y="1581150"/>
            <a:ext cx="3835400" cy="4749800"/>
          </a:xfrm>
          <a:prstGeom prst="rect">
            <a:avLst/>
          </a:prstGeom>
        </p:spPr>
      </p:pic>
      <p:pic>
        <p:nvPicPr>
          <p:cNvPr id="77" name="Picture 76" descr="6f020d90d6117889.png"/>
          <p:cNvPicPr>
            <a:picLocks noChangeAspect="1"/>
          </p:cNvPicPr>
          <p:nvPr/>
        </p:nvPicPr>
        <p:blipFill>
          <a:blip r:embed="rId15"/>
          <a:stretch>
            <a:fillRect/>
          </a:stretch>
        </p:blipFill>
        <p:spPr>
          <a:xfrm>
            <a:off x="463550" y="1460500"/>
            <a:ext cx="3473450" cy="4476750"/>
          </a:xfrm>
          <a:prstGeom prst="rect">
            <a:avLst/>
          </a:prstGeom>
        </p:spPr>
      </p:pic>
      <p:pic>
        <p:nvPicPr>
          <p:cNvPr id="78" name="Picture 77" descr="67433c23baa86561.png"/>
          <p:cNvPicPr>
            <a:picLocks noChangeAspect="1"/>
          </p:cNvPicPr>
          <p:nvPr/>
        </p:nvPicPr>
        <p:blipFill>
          <a:blip r:embed="rId16"/>
          <a:stretch>
            <a:fillRect/>
          </a:stretch>
        </p:blipFill>
        <p:spPr>
          <a:xfrm>
            <a:off x="857250" y="1536700"/>
            <a:ext cx="3530600" cy="4533900"/>
          </a:xfrm>
          <a:prstGeom prst="rect">
            <a:avLst/>
          </a:prstGeom>
        </p:spPr>
      </p:pic>
      <p:pic>
        <p:nvPicPr>
          <p:cNvPr id="79" name="Picture 78" descr="f38c4874681d91e4.png"/>
          <p:cNvPicPr>
            <a:picLocks noChangeAspect="1"/>
          </p:cNvPicPr>
          <p:nvPr/>
        </p:nvPicPr>
        <p:blipFill>
          <a:blip r:embed="rId17"/>
          <a:stretch>
            <a:fillRect/>
          </a:stretch>
        </p:blipFill>
        <p:spPr>
          <a:xfrm>
            <a:off x="736600" y="1549400"/>
            <a:ext cx="3759200" cy="4692650"/>
          </a:xfrm>
          <a:prstGeom prst="rect">
            <a:avLst/>
          </a:prstGeom>
        </p:spPr>
      </p:pic>
      <p:pic>
        <p:nvPicPr>
          <p:cNvPr id="80" name="Picture 79" descr="8585549bd85ed209.png"/>
          <p:cNvPicPr>
            <a:picLocks noChangeAspect="1"/>
          </p:cNvPicPr>
          <p:nvPr/>
        </p:nvPicPr>
        <p:blipFill>
          <a:blip r:embed="rId18"/>
          <a:stretch>
            <a:fillRect/>
          </a:stretch>
        </p:blipFill>
        <p:spPr>
          <a:xfrm>
            <a:off x="857250" y="1504950"/>
            <a:ext cx="3454400" cy="4476750"/>
          </a:xfrm>
          <a:prstGeom prst="rect">
            <a:avLst/>
          </a:prstGeom>
        </p:spPr>
      </p:pic>
      <p:pic>
        <p:nvPicPr>
          <p:cNvPr id="81" name="Picture 80" descr="abad651df112d55b.png"/>
          <p:cNvPicPr>
            <a:picLocks noChangeAspect="1"/>
          </p:cNvPicPr>
          <p:nvPr/>
        </p:nvPicPr>
        <p:blipFill>
          <a:blip r:embed="rId19"/>
          <a:stretch>
            <a:fillRect/>
          </a:stretch>
        </p:blipFill>
        <p:spPr>
          <a:xfrm>
            <a:off x="736600" y="1511300"/>
            <a:ext cx="3689350" cy="4641850"/>
          </a:xfrm>
          <a:prstGeom prst="rect">
            <a:avLst/>
          </a:prstGeom>
        </p:spPr>
      </p:pic>
      <p:pic>
        <p:nvPicPr>
          <p:cNvPr id="82" name="Picture 81" descr="eee9c9639823cd42.png"/>
          <p:cNvPicPr>
            <a:picLocks noChangeAspect="1"/>
          </p:cNvPicPr>
          <p:nvPr/>
        </p:nvPicPr>
        <p:blipFill>
          <a:blip r:embed="rId20"/>
          <a:stretch>
            <a:fillRect/>
          </a:stretch>
        </p:blipFill>
        <p:spPr>
          <a:xfrm>
            <a:off x="736600" y="1479550"/>
            <a:ext cx="3613150" cy="4584700"/>
          </a:xfrm>
          <a:prstGeom prst="rect">
            <a:avLst/>
          </a:prstGeom>
        </p:spPr>
      </p:pic>
      <p:pic>
        <p:nvPicPr>
          <p:cNvPr id="83" name="Picture 82" descr="388d523539231c9d.png"/>
          <p:cNvPicPr>
            <a:picLocks noChangeAspect="1"/>
          </p:cNvPicPr>
          <p:nvPr/>
        </p:nvPicPr>
        <p:blipFill>
          <a:blip r:embed="rId21"/>
          <a:stretch>
            <a:fillRect/>
          </a:stretch>
        </p:blipFill>
        <p:spPr>
          <a:xfrm>
            <a:off x="742950" y="1441450"/>
            <a:ext cx="3530600" cy="4533900"/>
          </a:xfrm>
          <a:prstGeom prst="rect">
            <a:avLst/>
          </a:prstGeom>
        </p:spPr>
      </p:pic>
      <p:pic>
        <p:nvPicPr>
          <p:cNvPr id="84" name="Picture 83" descr="969696f037b52a11.png"/>
          <p:cNvPicPr>
            <a:picLocks noChangeAspect="1"/>
          </p:cNvPicPr>
          <p:nvPr/>
        </p:nvPicPr>
        <p:blipFill>
          <a:blip r:embed="rId22"/>
          <a:stretch>
            <a:fillRect/>
          </a:stretch>
        </p:blipFill>
        <p:spPr>
          <a:xfrm>
            <a:off x="742950" y="1409700"/>
            <a:ext cx="3454400" cy="4476750"/>
          </a:xfrm>
          <a:prstGeom prst="rect">
            <a:avLst/>
          </a:prstGeom>
        </p:spPr>
      </p:pic>
      <p:pic>
        <p:nvPicPr>
          <p:cNvPr id="85" name="Picture 84" descr="56591b5e66b87898.png"/>
          <p:cNvPicPr>
            <a:picLocks noChangeAspect="1"/>
          </p:cNvPicPr>
          <p:nvPr/>
        </p:nvPicPr>
        <p:blipFill>
          <a:blip r:embed="rId23"/>
          <a:stretch>
            <a:fillRect/>
          </a:stretch>
        </p:blipFill>
        <p:spPr>
          <a:xfrm>
            <a:off x="679450" y="1403350"/>
            <a:ext cx="3600450" cy="4686300"/>
          </a:xfrm>
          <a:prstGeom prst="rect">
            <a:avLst/>
          </a:prstGeom>
        </p:spPr>
      </p:pic>
      <p:pic>
        <p:nvPicPr>
          <p:cNvPr id="86" name="Picture 85" descr="c813fe55191c9665.png"/>
          <p:cNvPicPr>
            <a:picLocks noChangeAspect="1"/>
          </p:cNvPicPr>
          <p:nvPr/>
        </p:nvPicPr>
        <p:blipFill>
          <a:blip r:embed="rId24"/>
          <a:stretch>
            <a:fillRect/>
          </a:stretch>
        </p:blipFill>
        <p:spPr>
          <a:xfrm>
            <a:off x="565150" y="1308100"/>
            <a:ext cx="3600450" cy="4686300"/>
          </a:xfrm>
          <a:prstGeom prst="rect">
            <a:avLst/>
          </a:prstGeom>
        </p:spPr>
      </p:pic>
      <p:pic>
        <p:nvPicPr>
          <p:cNvPr id="87" name="Picture 86" descr="c31a48d513e8fa6a.png"/>
          <p:cNvPicPr>
            <a:picLocks noChangeAspect="1"/>
          </p:cNvPicPr>
          <p:nvPr/>
        </p:nvPicPr>
        <p:blipFill>
          <a:blip r:embed="rId25"/>
          <a:stretch>
            <a:fillRect/>
          </a:stretch>
        </p:blipFill>
        <p:spPr>
          <a:xfrm>
            <a:off x="450850" y="1212850"/>
            <a:ext cx="3600450" cy="4686300"/>
          </a:xfrm>
          <a:prstGeom prst="rect">
            <a:avLst/>
          </a:prstGeom>
        </p:spPr>
      </p:pic>
      <p:sp>
        <p:nvSpPr>
          <p:cNvPr id="88" name="Enlace a sep-intro">
            <a:hlinkClick action="ppaction://hlinksldjump" r:id="rId26"/>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Enlace a sep-teoria">
            <a:hlinkClick action="ppaction://hlinksldjump" r:id="rId27"/>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Enlace a sep-diseno">
            <a:hlinkClick action="ppaction://hlinksldjump" r:id="rId28"/>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Enlace a sep-resultados">
            <a:hlinkClick action="ppaction://hlinksldjump" r:id="rId29"/>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Enlace a sep-analisis">
            <a:hlinkClick action="ppaction://hlinksldjump" r:id="rId30"/>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Enlace a sep-conclusiones">
            <a:hlinkClick action="ppaction://hlinksldjump" r:id="rId31"/>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ounded Rectangle 224">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9" fill="hold">
                      <p:stCondLst>
                        <p:cond delay="indefinite"/>
                        <p:cond evt="onBegin" delay="0">
                          <p:tn val="2"/>
                        </p:cond>
                      </p:stCondLst>
                      <p:childTnLst>
                        <p:par>
                          <p:cTn id="220"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50"/>
                                        <p:tgtEl>
                                          <p:spTgt spid="16"/>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50"/>
                                        <p:tgtEl>
                                          <p:spTgt spid="17"/>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50"/>
                                        <p:tgtEl>
                                          <p:spTgt spid="18"/>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50"/>
                                        <p:tgtEl>
                                          <p:spTgt spid="19"/>
                                        </p:tgtEl>
                                      </p:cBhvr>
                                    </p:animEffect>
                                  </p:childTnLst>
                                </p:cTn>
                              </p:par>
                              <p:par>
                                <p:cTn id="15" presetID="10" presetClass="entr" presetSubtype="0" fill="hold" grpId="0" nodeType="withEffect">
                                  <p:stCondLst>
                                    <p:cond delay="23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50"/>
                                        <p:tgtEl>
                                          <p:spTgt spid="20"/>
                                        </p:tgtEl>
                                      </p:cBhvr>
                                    </p:animEffect>
                                  </p:childTnLst>
                                </p:cTn>
                              </p:par>
                              <p:par>
                                <p:cTn id="18" presetID="10" presetClass="entr" presetSubtype="0" fill="hold" grpId="0" nodeType="withEffect">
                                  <p:stCondLst>
                                    <p:cond delay="23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50"/>
                                        <p:tgtEl>
                                          <p:spTgt spid="21"/>
                                        </p:tgtEl>
                                      </p:cBhvr>
                                    </p:animEffect>
                                  </p:childTnLst>
                                </p:cTn>
                              </p:par>
                              <p:par>
                                <p:cTn id="21" presetID="10" presetClass="entr" presetSubtype="0" fill="hold" grpId="0" nodeType="withEffect">
                                  <p:stCondLst>
                                    <p:cond delay="23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50"/>
                                        <p:tgtEl>
                                          <p:spTgt spid="22"/>
                                        </p:tgtEl>
                                      </p:cBhvr>
                                    </p:animEffect>
                                  </p:childTnLst>
                                </p:cTn>
                              </p:par>
                              <p:par>
                                <p:cTn id="24" presetID="10" presetClass="entr" presetSubtype="0" fill="hold" grpId="0" nodeType="withEffect">
                                  <p:stCondLst>
                                    <p:cond delay="23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50"/>
                                        <p:tgtEl>
                                          <p:spTgt spid="23"/>
                                        </p:tgtEl>
                                      </p:cBhvr>
                                    </p:animEffect>
                                  </p:childTnLst>
                                </p:cTn>
                              </p:par>
                              <p:par>
                                <p:cTn id="27" presetID="10" presetClass="entr" presetSubtype="0" fill="hold" grpId="0" nodeType="withEffect">
                                  <p:stCondLst>
                                    <p:cond delay="34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50"/>
                                        <p:tgtEl>
                                          <p:spTgt spid="24"/>
                                        </p:tgtEl>
                                      </p:cBhvr>
                                    </p:animEffect>
                                  </p:childTnLst>
                                </p:cTn>
                              </p:par>
                              <p:par>
                                <p:cTn id="30" presetID="10" presetClass="entr" presetSubtype="0" fill="hold" grpId="0" nodeType="withEffect">
                                  <p:stCondLst>
                                    <p:cond delay="34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50"/>
                                        <p:tgtEl>
                                          <p:spTgt spid="25"/>
                                        </p:tgtEl>
                                      </p:cBhvr>
                                    </p:animEffect>
                                  </p:childTnLst>
                                </p:cTn>
                              </p:par>
                              <p:par>
                                <p:cTn id="33" presetID="10" presetClass="entr" presetSubtype="0" fill="hold" grpId="0" nodeType="withEffect">
                                  <p:stCondLst>
                                    <p:cond delay="34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450"/>
                                        <p:tgtEl>
                                          <p:spTgt spid="26"/>
                                        </p:tgtEl>
                                      </p:cBhvr>
                                    </p:animEffect>
                                  </p:childTnLst>
                                </p:cTn>
                              </p:par>
                              <p:par>
                                <p:cTn id="36" presetID="10" presetClass="entr" presetSubtype="0" fill="hold" grpId="0" nodeType="withEffect">
                                  <p:stCondLst>
                                    <p:cond delay="34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450"/>
                                        <p:tgtEl>
                                          <p:spTgt spid="27"/>
                                        </p:tgtEl>
                                      </p:cBhvr>
                                    </p:animEffect>
                                  </p:childTnLst>
                                </p:cTn>
                              </p:par>
                              <p:par>
                                <p:cTn id="39" presetID="10" presetClass="entr" presetSubtype="0" fill="hold" grpId="0" nodeType="withEffect">
                                  <p:stCondLst>
                                    <p:cond delay="45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450"/>
                                        <p:tgtEl>
                                          <p:spTgt spid="28"/>
                                        </p:tgtEl>
                                      </p:cBhvr>
                                    </p:animEffect>
                                  </p:childTnLst>
                                </p:cTn>
                              </p:par>
                              <p:par>
                                <p:cTn id="42" presetID="10" presetClass="entr" presetSubtype="0" fill="hold" grpId="0" nodeType="withEffect">
                                  <p:stCondLst>
                                    <p:cond delay="45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450"/>
                                        <p:tgtEl>
                                          <p:spTgt spid="29"/>
                                        </p:tgtEl>
                                      </p:cBhvr>
                                    </p:animEffect>
                                  </p:childTnLst>
                                </p:cTn>
                              </p:par>
                              <p:par>
                                <p:cTn id="45" presetID="10" presetClass="entr" presetSubtype="0" fill="hold" grpId="0" nodeType="withEffect">
                                  <p:stCondLst>
                                    <p:cond delay="45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450"/>
                                        <p:tgtEl>
                                          <p:spTgt spid="30"/>
                                        </p:tgtEl>
                                      </p:cBhvr>
                                    </p:animEffect>
                                  </p:childTnLst>
                                </p:cTn>
                              </p:par>
                              <p:par>
                                <p:cTn id="48" presetID="10" presetClass="entr" presetSubtype="0" fill="hold" grpId="0" nodeType="withEffect">
                                  <p:stCondLst>
                                    <p:cond delay="45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450"/>
                                        <p:tgtEl>
                                          <p:spTgt spid="31"/>
                                        </p:tgtEl>
                                      </p:cBhvr>
                                    </p:animEffect>
                                  </p:childTnLst>
                                </p:cTn>
                              </p:par>
                              <p:par>
                                <p:cTn id="51" presetID="10" presetClass="entr" presetSubtype="0" fill="hold" grpId="0" nodeType="withEffect">
                                  <p:stCondLst>
                                    <p:cond delay="56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50"/>
                                        <p:tgtEl>
                                          <p:spTgt spid="32"/>
                                        </p:tgtEl>
                                      </p:cBhvr>
                                    </p:animEffect>
                                  </p:childTnLst>
                                </p:cTn>
                              </p:par>
                              <p:par>
                                <p:cTn id="54" presetID="10" presetClass="entr" presetSubtype="0" fill="hold" grpId="0" nodeType="withEffect">
                                  <p:stCondLst>
                                    <p:cond delay="56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450"/>
                                        <p:tgtEl>
                                          <p:spTgt spid="33"/>
                                        </p:tgtEl>
                                      </p:cBhvr>
                                    </p:animEffect>
                                  </p:childTnLst>
                                </p:cTn>
                              </p:par>
                              <p:par>
                                <p:cTn id="57" presetID="10" presetClass="entr" presetSubtype="0" fill="hold" grpId="0" nodeType="withEffect">
                                  <p:stCondLst>
                                    <p:cond delay="56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450"/>
                                        <p:tgtEl>
                                          <p:spTgt spid="34"/>
                                        </p:tgtEl>
                                      </p:cBhvr>
                                    </p:animEffect>
                                  </p:childTnLst>
                                </p:cTn>
                              </p:par>
                              <p:par>
                                <p:cTn id="60" presetID="10" presetClass="entr" presetSubtype="0" fill="hold" grpId="0" nodeType="withEffect">
                                  <p:stCondLst>
                                    <p:cond delay="560"/>
                                  </p:stCondLst>
                                  <p:childTnLst>
                                    <p:set>
                                      <p:cBhvr>
                                        <p:cTn id="61" dur="1" fill="hold">
                                          <p:stCondLst>
                                            <p:cond delay="0"/>
                                          </p:stCondLst>
                                        </p:cTn>
                                        <p:tgtEl>
                                          <p:spTgt spid="35"/>
                                        </p:tgtEl>
                                        <p:attrNameLst>
                                          <p:attrName>style.visibility</p:attrName>
                                        </p:attrNameLst>
                                      </p:cBhvr>
                                      <p:to>
                                        <p:strVal val="visible"/>
                                      </p:to>
                                    </p:set>
                                    <p:animEffect transition="in" filter="fade">
                                      <p:cBhvr>
                                        <p:cTn id="62" dur="450"/>
                                        <p:tgtEl>
                                          <p:spTgt spid="35"/>
                                        </p:tgtEl>
                                      </p:cBhvr>
                                    </p:animEffect>
                                  </p:childTnLst>
                                </p:cTn>
                              </p:par>
                              <p:par>
                                <p:cTn id="63" presetID="10" presetClass="entr" presetSubtype="0" fill="hold" grpId="0" nodeType="withEffect">
                                  <p:stCondLst>
                                    <p:cond delay="67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50"/>
                                        <p:tgtEl>
                                          <p:spTgt spid="36"/>
                                        </p:tgtEl>
                                      </p:cBhvr>
                                    </p:animEffect>
                                  </p:childTnLst>
                                </p:cTn>
                              </p:par>
                              <p:par>
                                <p:cTn id="66" presetID="10" presetClass="entr" presetSubtype="0" fill="hold" grpId="0" nodeType="withEffect">
                                  <p:stCondLst>
                                    <p:cond delay="67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50"/>
                                        <p:tgtEl>
                                          <p:spTgt spid="37"/>
                                        </p:tgtEl>
                                      </p:cBhvr>
                                    </p:animEffect>
                                  </p:childTnLst>
                                </p:cTn>
                              </p:par>
                              <p:par>
                                <p:cTn id="69" presetID="10" presetClass="entr" presetSubtype="0" fill="hold" grpId="0" nodeType="withEffect">
                                  <p:stCondLst>
                                    <p:cond delay="67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450"/>
                                        <p:tgtEl>
                                          <p:spTgt spid="38"/>
                                        </p:tgtEl>
                                      </p:cBhvr>
                                    </p:animEffect>
                                  </p:childTnLst>
                                </p:cTn>
                              </p:par>
                              <p:par>
                                <p:cTn id="72" presetID="10" presetClass="entr" presetSubtype="0" fill="hold" grpId="0" nodeType="withEffect">
                                  <p:stCondLst>
                                    <p:cond delay="67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450"/>
                                        <p:tgtEl>
                                          <p:spTgt spid="39"/>
                                        </p:tgtEl>
                                      </p:cBhvr>
                                    </p:animEffect>
                                  </p:childTnLst>
                                </p:cTn>
                              </p:par>
                              <p:par>
                                <p:cTn id="75" presetID="10" presetClass="entr" presetSubtype="0" fill="hold" grpId="0" nodeType="withEffect">
                                  <p:stCondLst>
                                    <p:cond delay="78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450"/>
                                        <p:tgtEl>
                                          <p:spTgt spid="40"/>
                                        </p:tgtEl>
                                      </p:cBhvr>
                                    </p:animEffect>
                                  </p:childTnLst>
                                </p:cTn>
                              </p:par>
                              <p:par>
                                <p:cTn id="78" presetID="10" presetClass="entr" presetSubtype="0" fill="hold" grpId="0" nodeType="withEffect">
                                  <p:stCondLst>
                                    <p:cond delay="78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50"/>
                                        <p:tgtEl>
                                          <p:spTgt spid="41"/>
                                        </p:tgtEl>
                                      </p:cBhvr>
                                    </p:animEffect>
                                  </p:childTnLst>
                                </p:cTn>
                              </p:par>
                              <p:par>
                                <p:cTn id="81" presetID="10" presetClass="entr" presetSubtype="0" fill="hold" grpId="0" nodeType="withEffect">
                                  <p:stCondLst>
                                    <p:cond delay="78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450"/>
                                        <p:tgtEl>
                                          <p:spTgt spid="42"/>
                                        </p:tgtEl>
                                      </p:cBhvr>
                                    </p:animEffect>
                                  </p:childTnLst>
                                </p:cTn>
                              </p:par>
                              <p:par>
                                <p:cTn id="84" presetID="10" presetClass="entr" presetSubtype="0" fill="hold" grpId="0" nodeType="withEffect">
                                  <p:stCondLst>
                                    <p:cond delay="78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450"/>
                                        <p:tgtEl>
                                          <p:spTgt spid="43"/>
                                        </p:tgtEl>
                                      </p:cBhvr>
                                    </p:animEffect>
                                  </p:childTnLst>
                                </p:cTn>
                              </p:par>
                              <p:par>
                                <p:cTn id="87" presetID="10" presetClass="entr" presetSubtype="0" fill="hold" grpId="0" nodeType="withEffect">
                                  <p:stCondLst>
                                    <p:cond delay="890"/>
                                  </p:stCondLst>
                                  <p:childTnLst>
                                    <p:set>
                                      <p:cBhvr>
                                        <p:cTn id="88" dur="1" fill="hold">
                                          <p:stCondLst>
                                            <p:cond delay="0"/>
                                          </p:stCondLst>
                                        </p:cTn>
                                        <p:tgtEl>
                                          <p:spTgt spid="44"/>
                                        </p:tgtEl>
                                        <p:attrNameLst>
                                          <p:attrName>style.visibility</p:attrName>
                                        </p:attrNameLst>
                                      </p:cBhvr>
                                      <p:to>
                                        <p:strVal val="visible"/>
                                      </p:to>
                                    </p:set>
                                    <p:animEffect transition="in" filter="fade">
                                      <p:cBhvr>
                                        <p:cTn id="89" dur="450"/>
                                        <p:tgtEl>
                                          <p:spTgt spid="44"/>
                                        </p:tgtEl>
                                      </p:cBhvr>
                                    </p:animEffect>
                                  </p:childTnLst>
                                </p:cTn>
                              </p:par>
                              <p:par>
                                <p:cTn id="90" presetID="10" presetClass="entr" presetSubtype="0" fill="hold" grpId="0" nodeType="withEffect">
                                  <p:stCondLst>
                                    <p:cond delay="890"/>
                                  </p:stCondLst>
                                  <p:childTnLst>
                                    <p:set>
                                      <p:cBhvr>
                                        <p:cTn id="91" dur="1" fill="hold">
                                          <p:stCondLst>
                                            <p:cond delay="0"/>
                                          </p:stCondLst>
                                        </p:cTn>
                                        <p:tgtEl>
                                          <p:spTgt spid="45"/>
                                        </p:tgtEl>
                                        <p:attrNameLst>
                                          <p:attrName>style.visibility</p:attrName>
                                        </p:attrNameLst>
                                      </p:cBhvr>
                                      <p:to>
                                        <p:strVal val="visible"/>
                                      </p:to>
                                    </p:set>
                                    <p:animEffect transition="in" filter="fade">
                                      <p:cBhvr>
                                        <p:cTn id="92" dur="450"/>
                                        <p:tgtEl>
                                          <p:spTgt spid="45"/>
                                        </p:tgtEl>
                                      </p:cBhvr>
                                    </p:animEffect>
                                  </p:childTnLst>
                                </p:cTn>
                              </p:par>
                              <p:par>
                                <p:cTn id="93" presetID="10" presetClass="entr" presetSubtype="0" fill="hold" grpId="0" nodeType="withEffect">
                                  <p:stCondLst>
                                    <p:cond delay="890"/>
                                  </p:stCondLst>
                                  <p:childTnLst>
                                    <p:set>
                                      <p:cBhvr>
                                        <p:cTn id="94" dur="1" fill="hold">
                                          <p:stCondLst>
                                            <p:cond delay="0"/>
                                          </p:stCondLst>
                                        </p:cTn>
                                        <p:tgtEl>
                                          <p:spTgt spid="46"/>
                                        </p:tgtEl>
                                        <p:attrNameLst>
                                          <p:attrName>style.visibility</p:attrName>
                                        </p:attrNameLst>
                                      </p:cBhvr>
                                      <p:to>
                                        <p:strVal val="visible"/>
                                      </p:to>
                                    </p:set>
                                    <p:animEffect transition="in" filter="fade">
                                      <p:cBhvr>
                                        <p:cTn id="95" dur="450"/>
                                        <p:tgtEl>
                                          <p:spTgt spid="46"/>
                                        </p:tgtEl>
                                      </p:cBhvr>
                                    </p:animEffect>
                                  </p:childTnLst>
                                </p:cTn>
                              </p:par>
                              <p:par>
                                <p:cTn id="96" presetID="10" presetClass="entr" presetSubtype="0" fill="hold" grpId="0" nodeType="withEffect">
                                  <p:stCondLst>
                                    <p:cond delay="89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450"/>
                                        <p:tgtEl>
                                          <p:spTgt spid="47"/>
                                        </p:tgtEl>
                                      </p:cBhvr>
                                    </p:animEffect>
                                  </p:childTnLst>
                                </p:cTn>
                              </p:par>
                              <p:par>
                                <p:cTn id="99" presetID="10" presetClass="entr" presetSubtype="0" fill="hold" grpId="0" nodeType="withEffect">
                                  <p:stCondLst>
                                    <p:cond delay="1000"/>
                                  </p:stCondLst>
                                  <p:childTnLst>
                                    <p:set>
                                      <p:cBhvr>
                                        <p:cTn id="100" dur="1" fill="hold">
                                          <p:stCondLst>
                                            <p:cond delay="0"/>
                                          </p:stCondLst>
                                        </p:cTn>
                                        <p:tgtEl>
                                          <p:spTgt spid="48"/>
                                        </p:tgtEl>
                                        <p:attrNameLst>
                                          <p:attrName>style.visibility</p:attrName>
                                        </p:attrNameLst>
                                      </p:cBhvr>
                                      <p:to>
                                        <p:strVal val="visible"/>
                                      </p:to>
                                    </p:set>
                                    <p:animEffect transition="in" filter="fade">
                                      <p:cBhvr>
                                        <p:cTn id="101" dur="450"/>
                                        <p:tgtEl>
                                          <p:spTgt spid="48"/>
                                        </p:tgtEl>
                                      </p:cBhvr>
                                    </p:animEffect>
                                  </p:childTnLst>
                                </p:cTn>
                              </p:par>
                              <p:par>
                                <p:cTn id="102" presetID="10" presetClass="entr" presetSubtype="0" fill="hold" grpId="0" nodeType="withEffect">
                                  <p:stCondLst>
                                    <p:cond delay="1000"/>
                                  </p:stCondLst>
                                  <p:childTnLst>
                                    <p:set>
                                      <p:cBhvr>
                                        <p:cTn id="103" dur="1" fill="hold">
                                          <p:stCondLst>
                                            <p:cond delay="0"/>
                                          </p:stCondLst>
                                        </p:cTn>
                                        <p:tgtEl>
                                          <p:spTgt spid="49"/>
                                        </p:tgtEl>
                                        <p:attrNameLst>
                                          <p:attrName>style.visibility</p:attrName>
                                        </p:attrNameLst>
                                      </p:cBhvr>
                                      <p:to>
                                        <p:strVal val="visible"/>
                                      </p:to>
                                    </p:set>
                                    <p:animEffect transition="in" filter="fade">
                                      <p:cBhvr>
                                        <p:cTn id="104" dur="450"/>
                                        <p:tgtEl>
                                          <p:spTgt spid="49"/>
                                        </p:tgtEl>
                                      </p:cBhvr>
                                    </p:animEffect>
                                  </p:childTnLst>
                                </p:cTn>
                              </p:par>
                              <p:par>
                                <p:cTn id="105" presetID="10" presetClass="entr" presetSubtype="0" fill="hold" grpId="0" nodeType="withEffect">
                                  <p:stCondLst>
                                    <p:cond delay="1000"/>
                                  </p:stCondLst>
                                  <p:childTnLst>
                                    <p:set>
                                      <p:cBhvr>
                                        <p:cTn id="106" dur="1" fill="hold">
                                          <p:stCondLst>
                                            <p:cond delay="0"/>
                                          </p:stCondLst>
                                        </p:cTn>
                                        <p:tgtEl>
                                          <p:spTgt spid="50"/>
                                        </p:tgtEl>
                                        <p:attrNameLst>
                                          <p:attrName>style.visibility</p:attrName>
                                        </p:attrNameLst>
                                      </p:cBhvr>
                                      <p:to>
                                        <p:strVal val="visible"/>
                                      </p:to>
                                    </p:set>
                                    <p:animEffect transition="in" filter="fade">
                                      <p:cBhvr>
                                        <p:cTn id="107" dur="450"/>
                                        <p:tgtEl>
                                          <p:spTgt spid="50"/>
                                        </p:tgtEl>
                                      </p:cBhvr>
                                    </p:animEffect>
                                  </p:childTnLst>
                                </p:cTn>
                              </p:par>
                              <p:par>
                                <p:cTn id="108" presetID="10" presetClass="entr" presetSubtype="0" fill="hold" grpId="0" nodeType="withEffect">
                                  <p:stCondLst>
                                    <p:cond delay="1000"/>
                                  </p:stCondLst>
                                  <p:childTnLst>
                                    <p:set>
                                      <p:cBhvr>
                                        <p:cTn id="109" dur="1" fill="hold">
                                          <p:stCondLst>
                                            <p:cond delay="0"/>
                                          </p:stCondLst>
                                        </p:cTn>
                                        <p:tgtEl>
                                          <p:spTgt spid="51"/>
                                        </p:tgtEl>
                                        <p:attrNameLst>
                                          <p:attrName>style.visibility</p:attrName>
                                        </p:attrNameLst>
                                      </p:cBhvr>
                                      <p:to>
                                        <p:strVal val="visible"/>
                                      </p:to>
                                    </p:set>
                                    <p:animEffect transition="in" filter="fade">
                                      <p:cBhvr>
                                        <p:cTn id="110" dur="450"/>
                                        <p:tgtEl>
                                          <p:spTgt spid="51"/>
                                        </p:tgtEl>
                                      </p:cBhvr>
                                    </p:animEffect>
                                  </p:childTnLst>
                                </p:cTn>
                              </p:par>
                            </p:childTnLst>
                          </p:cTn>
                        </p:par>
                      </p:childTnLst>
                    </p:cTn>
                  </p:par>
                  <p:par>
                    <p:cTn id="221" fill="hold">
                      <p:stCondLst>
                        <p:cond delay="indefinite"/>
                      </p:stCondLst>
                      <p:childTnLst>
                        <p:par>
                          <p:cTn id="222" fill="hold">
                            <p:stCondLst>
                              <p:cond delay="0"/>
                            </p:stCondLst>
                            <p:childTnLst>
                              <p:par>
                                <p:cTn id="111" presetID="10" presetClass="exit" presetSubtype="0" fill="hold" grpId="0" nodeType="clickEffect">
                                  <p:stCondLst>
                                    <p:cond delay="0"/>
                                  </p:stCondLst>
                                  <p:childTnLst>
                                    <p:animEffect transition="out" filter="fade">
                                      <p:cBhvr>
                                        <p:cTn id="112" dur="200"/>
                                        <p:tgtEl>
                                          <p:spTgt spid="73"/>
                                        </p:tgtEl>
                                      </p:cBhvr>
                                    </p:animEffect>
                                    <p:set>
                                      <p:cBhvr>
                                        <p:cTn id="113" dur="1" fill="hold">
                                          <p:stCondLst>
                                            <p:cond delay="199"/>
                                          </p:stCondLst>
                                        </p:cTn>
                                        <p:tgtEl>
                                          <p:spTgt spid="73"/>
                                        </p:tgtEl>
                                        <p:attrNameLst>
                                          <p:attrName>style.visibility</p:attrName>
                                        </p:attrNameLst>
                                      </p:cBhvr>
                                      <p:to>
                                        <p:strVal val="hidden"/>
                                      </p:to>
                                    </p:set>
                                  </p:childTnLst>
                                </p:cTn>
                              </p:par>
                              <p:par>
                                <p:cTn id="114" presetID="10" presetClass="exit" presetSubtype="0" fill="hold" grpId="0" nodeType="withEffect">
                                  <p:stCondLst>
                                    <p:cond delay="0"/>
                                  </p:stCondLst>
                                  <p:childTnLst>
                                    <p:animEffect transition="out" filter="fade">
                                      <p:cBhvr>
                                        <p:cTn id="115" dur="200"/>
                                        <p:tgtEl>
                                          <p:spTgt spid="76"/>
                                        </p:tgtEl>
                                      </p:cBhvr>
                                    </p:animEffect>
                                    <p:set>
                                      <p:cBhvr>
                                        <p:cTn id="116" dur="1" fill="hold">
                                          <p:stCondLst>
                                            <p:cond delay="199"/>
                                          </p:stCondLst>
                                        </p:cTn>
                                        <p:tgtEl>
                                          <p:spTgt spid="76"/>
                                        </p:tgtEl>
                                        <p:attrNameLst>
                                          <p:attrName>style.visibility</p:attrName>
                                        </p:attrNameLst>
                                      </p:cBhvr>
                                      <p:to>
                                        <p:strVal val="hidden"/>
                                      </p:to>
                                    </p:set>
                                  </p:childTnLst>
                                </p:cTn>
                              </p:par>
                              <p:par>
                                <p:cTn id="117" presetID="10" presetClass="exit" presetSubtype="0" fill="hold" grpId="0" nodeType="withEffect">
                                  <p:stCondLst>
                                    <p:cond delay="0"/>
                                  </p:stCondLst>
                                  <p:childTnLst>
                                    <p:animEffect transition="out" filter="fade">
                                      <p:cBhvr>
                                        <p:cTn id="118" dur="200"/>
                                        <p:tgtEl>
                                          <p:spTgt spid="79"/>
                                        </p:tgtEl>
                                      </p:cBhvr>
                                    </p:animEffect>
                                    <p:set>
                                      <p:cBhvr>
                                        <p:cTn id="119" dur="1" fill="hold">
                                          <p:stCondLst>
                                            <p:cond delay="199"/>
                                          </p:stCondLst>
                                        </p:cTn>
                                        <p:tgtEl>
                                          <p:spTgt spid="79"/>
                                        </p:tgtEl>
                                        <p:attrNameLst>
                                          <p:attrName>style.visibility</p:attrName>
                                        </p:attrNameLst>
                                      </p:cBhvr>
                                      <p:to>
                                        <p:strVal val="hidden"/>
                                      </p:to>
                                    </p:set>
                                  </p:childTnLst>
                                </p:cTn>
                              </p:par>
                              <p:par>
                                <p:cTn id="120" presetID="10" presetClass="exit" presetSubtype="0" fill="hold" grpId="0" nodeType="withEffect">
                                  <p:stCondLst>
                                    <p:cond delay="0"/>
                                  </p:stCondLst>
                                  <p:childTnLst>
                                    <p:animEffect transition="out" filter="fade">
                                      <p:cBhvr>
                                        <p:cTn id="121" dur="200"/>
                                        <p:tgtEl>
                                          <p:spTgt spid="81"/>
                                        </p:tgtEl>
                                      </p:cBhvr>
                                    </p:animEffect>
                                    <p:set>
                                      <p:cBhvr>
                                        <p:cTn id="122" dur="1" fill="hold">
                                          <p:stCondLst>
                                            <p:cond delay="199"/>
                                          </p:stCondLst>
                                        </p:cTn>
                                        <p:tgtEl>
                                          <p:spTgt spid="81"/>
                                        </p:tgtEl>
                                        <p:attrNameLst>
                                          <p:attrName>style.visibility</p:attrName>
                                        </p:attrNameLst>
                                      </p:cBhvr>
                                      <p:to>
                                        <p:strVal val="hidden"/>
                                      </p:to>
                                    </p:set>
                                  </p:childTnLst>
                                </p:cTn>
                              </p:par>
                              <p:par>
                                <p:cTn id="123" presetID="10" presetClass="exit" presetSubtype="0" fill="hold" grpId="0" nodeType="withEffect">
                                  <p:stCondLst>
                                    <p:cond delay="0"/>
                                  </p:stCondLst>
                                  <p:childTnLst>
                                    <p:animEffect transition="out" filter="fade">
                                      <p:cBhvr>
                                        <p:cTn id="124" dur="200"/>
                                        <p:tgtEl>
                                          <p:spTgt spid="82"/>
                                        </p:tgtEl>
                                      </p:cBhvr>
                                    </p:animEffect>
                                    <p:set>
                                      <p:cBhvr>
                                        <p:cTn id="125" dur="1" fill="hold">
                                          <p:stCondLst>
                                            <p:cond delay="199"/>
                                          </p:stCondLst>
                                        </p:cTn>
                                        <p:tgtEl>
                                          <p:spTgt spid="82"/>
                                        </p:tgtEl>
                                        <p:attrNameLst>
                                          <p:attrName>style.visibility</p:attrName>
                                        </p:attrNameLst>
                                      </p:cBhvr>
                                      <p:to>
                                        <p:strVal val="hidden"/>
                                      </p:to>
                                    </p:set>
                                  </p:childTnLst>
                                </p:cTn>
                              </p:par>
                              <p:par>
                                <p:cTn id="126" presetID="10" presetClass="exit" presetSubtype="0" fill="hold" grpId="0" nodeType="withEffect">
                                  <p:stCondLst>
                                    <p:cond delay="0"/>
                                  </p:stCondLst>
                                  <p:childTnLst>
                                    <p:animEffect transition="out" filter="fade">
                                      <p:cBhvr>
                                        <p:cTn id="127" dur="200"/>
                                        <p:tgtEl>
                                          <p:spTgt spid="83"/>
                                        </p:tgtEl>
                                      </p:cBhvr>
                                    </p:animEffect>
                                    <p:set>
                                      <p:cBhvr>
                                        <p:cTn id="128" dur="1" fill="hold">
                                          <p:stCondLst>
                                            <p:cond delay="199"/>
                                          </p:stCondLst>
                                        </p:cTn>
                                        <p:tgtEl>
                                          <p:spTgt spid="83"/>
                                        </p:tgtEl>
                                        <p:attrNameLst>
                                          <p:attrName>style.visibility</p:attrName>
                                        </p:attrNameLst>
                                      </p:cBhvr>
                                      <p:to>
                                        <p:strVal val="hidden"/>
                                      </p:to>
                                    </p:set>
                                  </p:childTnLst>
                                </p:cTn>
                              </p:par>
                              <p:par>
                                <p:cTn id="129" presetID="10" presetClass="exit" presetSubtype="0" fill="hold" grpId="0" nodeType="withEffect">
                                  <p:stCondLst>
                                    <p:cond delay="0"/>
                                  </p:stCondLst>
                                  <p:childTnLst>
                                    <p:animEffect transition="out" filter="fade">
                                      <p:cBhvr>
                                        <p:cTn id="130" dur="200"/>
                                        <p:tgtEl>
                                          <p:spTgt spid="84"/>
                                        </p:tgtEl>
                                      </p:cBhvr>
                                    </p:animEffect>
                                    <p:set>
                                      <p:cBhvr>
                                        <p:cTn id="131" dur="1" fill="hold">
                                          <p:stCondLst>
                                            <p:cond delay="199"/>
                                          </p:stCondLst>
                                        </p:cTn>
                                        <p:tgtEl>
                                          <p:spTgt spid="84"/>
                                        </p:tgtEl>
                                        <p:attrNameLst>
                                          <p:attrName>style.visibility</p:attrName>
                                        </p:attrNameLst>
                                      </p:cBhvr>
                                      <p:to>
                                        <p:strVal val="hidden"/>
                                      </p:to>
                                    </p:set>
                                  </p:childTnLst>
                                </p:cTn>
                              </p:par>
                              <p:par>
                                <p:cTn id="132" presetID="10" presetClass="exit" presetSubtype="0" fill="hold" grpId="0" nodeType="withEffect">
                                  <p:stCondLst>
                                    <p:cond delay="0"/>
                                  </p:stCondLst>
                                  <p:childTnLst>
                                    <p:animEffect transition="out" filter="fade">
                                      <p:cBhvr>
                                        <p:cTn id="133" dur="200"/>
                                        <p:tgtEl>
                                          <p:spTgt spid="87"/>
                                        </p:tgtEl>
                                      </p:cBhvr>
                                    </p:animEffect>
                                    <p:set>
                                      <p:cBhvr>
                                        <p:cTn id="134" dur="1" fill="hold">
                                          <p:stCondLst>
                                            <p:cond delay="199"/>
                                          </p:stCondLst>
                                        </p:cTn>
                                        <p:tgtEl>
                                          <p:spTgt spid="87"/>
                                        </p:tgtEl>
                                        <p:attrNameLst>
                                          <p:attrName>style.visibility</p:attrName>
                                        </p:attrNameLst>
                                      </p:cBhvr>
                                      <p:to>
                                        <p:strVal val="hidden"/>
                                      </p:to>
                                    </p:set>
                                  </p:childTnLst>
                                </p:cTn>
                              </p:par>
                              <p:par>
                                <p:cTn id="135" presetID="10" presetClass="entr" presetSubtype="0" fill="hold" grpId="0" nodeType="withEffect">
                                  <p:stCondLst>
                                    <p:cond delay="200"/>
                                  </p:stCondLst>
                                  <p:childTnLst>
                                    <p:set>
                                      <p:cBhvr>
                                        <p:cTn id="136" dur="1" fill="hold">
                                          <p:stCondLst>
                                            <p:cond delay="0"/>
                                          </p:stCondLst>
                                        </p:cTn>
                                        <p:tgtEl>
                                          <p:spTgt spid="14"/>
                                        </p:tgtEl>
                                        <p:attrNameLst>
                                          <p:attrName>style.visibility</p:attrName>
                                        </p:attrNameLst>
                                      </p:cBhvr>
                                      <p:to>
                                        <p:strVal val="visible"/>
                                      </p:to>
                                    </p:set>
                                    <p:animEffect transition="in" filter="fade">
                                      <p:cBhvr>
                                        <p:cTn id="137" dur="400"/>
                                        <p:tgtEl>
                                          <p:spTgt spid="14"/>
                                        </p:tgtEl>
                                      </p:cBhvr>
                                    </p:animEffect>
                                  </p:childTnLst>
                                </p:cTn>
                              </p:par>
                              <p:par>
                                <p:cTn id="138" presetID="10" presetClass="entr" presetSubtype="0" fill="hold" grpId="0" nodeType="withEffect">
                                  <p:stCondLst>
                                    <p:cond delay="200"/>
                                  </p:stCondLst>
                                  <p:childTnLst>
                                    <p:set>
                                      <p:cBhvr>
                                        <p:cTn id="139" dur="1" fill="hold">
                                          <p:stCondLst>
                                            <p:cond delay="0"/>
                                          </p:stCondLst>
                                        </p:cTn>
                                        <p:tgtEl>
                                          <p:spTgt spid="58"/>
                                        </p:tgtEl>
                                        <p:attrNameLst>
                                          <p:attrName>style.visibility</p:attrName>
                                        </p:attrNameLst>
                                      </p:cBhvr>
                                      <p:to>
                                        <p:strVal val="visible"/>
                                      </p:to>
                                    </p:set>
                                    <p:animEffect transition="in" filter="fade">
                                      <p:cBhvr>
                                        <p:cTn id="140" dur="400"/>
                                        <p:tgtEl>
                                          <p:spTgt spid="58"/>
                                        </p:tgtEl>
                                      </p:cBhvr>
                                    </p:animEffect>
                                  </p:childTnLst>
                                </p:cTn>
                              </p:par>
                              <p:par>
                                <p:cTn id="141" presetID="10" presetClass="entr" presetSubtype="0" fill="hold" grpId="0" nodeType="withEffect">
                                  <p:stCondLst>
                                    <p:cond delay="200"/>
                                  </p:stCondLst>
                                  <p:childTnLst>
                                    <p:set>
                                      <p:cBhvr>
                                        <p:cTn id="142" dur="1" fill="hold">
                                          <p:stCondLst>
                                            <p:cond delay="0"/>
                                          </p:stCondLst>
                                        </p:cTn>
                                        <p:tgtEl>
                                          <p:spTgt spid="60"/>
                                        </p:tgtEl>
                                        <p:attrNameLst>
                                          <p:attrName>style.visibility</p:attrName>
                                        </p:attrNameLst>
                                      </p:cBhvr>
                                      <p:to>
                                        <p:strVal val="visible"/>
                                      </p:to>
                                    </p:set>
                                    <p:animEffect transition="in" filter="fade">
                                      <p:cBhvr>
                                        <p:cTn id="143" dur="400"/>
                                        <p:tgtEl>
                                          <p:spTgt spid="60"/>
                                        </p:tgtEl>
                                      </p:cBhvr>
                                    </p:animEffect>
                                  </p:childTnLst>
                                </p:cTn>
                              </p:par>
                              <p:par>
                                <p:cTn id="144" presetID="10" presetClass="entr" presetSubtype="0" fill="hold" grpId="0" nodeType="withEffect">
                                  <p:stCondLst>
                                    <p:cond delay="200"/>
                                  </p:stCondLst>
                                  <p:childTnLst>
                                    <p:set>
                                      <p:cBhvr>
                                        <p:cTn id="145" dur="1" fill="hold">
                                          <p:stCondLst>
                                            <p:cond delay="0"/>
                                          </p:stCondLst>
                                        </p:cTn>
                                        <p:tgtEl>
                                          <p:spTgt spid="67"/>
                                        </p:tgtEl>
                                        <p:attrNameLst>
                                          <p:attrName>style.visibility</p:attrName>
                                        </p:attrNameLst>
                                      </p:cBhvr>
                                      <p:to>
                                        <p:strVal val="visible"/>
                                      </p:to>
                                    </p:set>
                                    <p:animEffect transition="in" filter="fade">
                                      <p:cBhvr>
                                        <p:cTn id="146" dur="400"/>
                                        <p:tgtEl>
                                          <p:spTgt spid="67"/>
                                        </p:tgtEl>
                                      </p:cBhvr>
                                    </p:animEffect>
                                  </p:childTnLst>
                                </p:cTn>
                              </p:par>
                              <p:par>
                                <p:cTn id="147" presetID="10" presetClass="entr" presetSubtype="0" fill="hold" grpId="0" nodeType="withEffect">
                                  <p:stCondLst>
                                    <p:cond delay="200"/>
                                  </p:stCondLst>
                                  <p:childTnLst>
                                    <p:set>
                                      <p:cBhvr>
                                        <p:cTn id="148" dur="1" fill="hold">
                                          <p:stCondLst>
                                            <p:cond delay="0"/>
                                          </p:stCondLst>
                                        </p:cTn>
                                        <p:tgtEl>
                                          <p:spTgt spid="69"/>
                                        </p:tgtEl>
                                        <p:attrNameLst>
                                          <p:attrName>style.visibility</p:attrName>
                                        </p:attrNameLst>
                                      </p:cBhvr>
                                      <p:to>
                                        <p:strVal val="visible"/>
                                      </p:to>
                                    </p:set>
                                    <p:animEffect transition="in" filter="fade">
                                      <p:cBhvr>
                                        <p:cTn id="149" dur="400"/>
                                        <p:tgtEl>
                                          <p:spTgt spid="69"/>
                                        </p:tgtEl>
                                      </p:cBhvr>
                                    </p:animEffect>
                                  </p:childTnLst>
                                </p:cTn>
                              </p:par>
                              <p:par>
                                <p:cTn id="150" presetID="10" presetClass="entr" presetSubtype="0" fill="hold" grpId="0" nodeType="withEffect">
                                  <p:stCondLst>
                                    <p:cond delay="200"/>
                                  </p:stCondLst>
                                  <p:childTnLst>
                                    <p:set>
                                      <p:cBhvr>
                                        <p:cTn id="151" dur="1" fill="hold">
                                          <p:stCondLst>
                                            <p:cond delay="0"/>
                                          </p:stCondLst>
                                        </p:cTn>
                                        <p:tgtEl>
                                          <p:spTgt spid="72"/>
                                        </p:tgtEl>
                                        <p:attrNameLst>
                                          <p:attrName>style.visibility</p:attrName>
                                        </p:attrNameLst>
                                      </p:cBhvr>
                                      <p:to>
                                        <p:strVal val="visible"/>
                                      </p:to>
                                    </p:set>
                                    <p:animEffect transition="in" filter="fade">
                                      <p:cBhvr>
                                        <p:cTn id="152" dur="400"/>
                                        <p:tgtEl>
                                          <p:spTgt spid="72"/>
                                        </p:tgtEl>
                                      </p:cBhvr>
                                    </p:animEffect>
                                  </p:childTnLst>
                                </p:cTn>
                              </p:par>
                              <p:par>
                                <p:cTn id="153" presetID="10" presetClass="entr" presetSubtype="0" fill="hold" grpId="0" nodeType="withEffect">
                                  <p:stCondLst>
                                    <p:cond delay="200"/>
                                  </p:stCondLst>
                                  <p:childTnLst>
                                    <p:set>
                                      <p:cBhvr>
                                        <p:cTn id="154" dur="1" fill="hold">
                                          <p:stCondLst>
                                            <p:cond delay="0"/>
                                          </p:stCondLst>
                                        </p:cTn>
                                        <p:tgtEl>
                                          <p:spTgt spid="75"/>
                                        </p:tgtEl>
                                        <p:attrNameLst>
                                          <p:attrName>style.visibility</p:attrName>
                                        </p:attrNameLst>
                                      </p:cBhvr>
                                      <p:to>
                                        <p:strVal val="visible"/>
                                      </p:to>
                                    </p:set>
                                    <p:animEffect transition="in" filter="fade">
                                      <p:cBhvr>
                                        <p:cTn id="155" dur="400"/>
                                        <p:tgtEl>
                                          <p:spTgt spid="75"/>
                                        </p:tgtEl>
                                      </p:cBhvr>
                                    </p:animEffect>
                                  </p:childTnLst>
                                </p:cTn>
                              </p:par>
                              <p:par>
                                <p:cTn id="156" presetID="10" presetClass="entr" presetSubtype="0" fill="hold" grpId="0" nodeType="withEffect">
                                  <p:stCondLst>
                                    <p:cond delay="200"/>
                                  </p:stCondLst>
                                  <p:childTnLst>
                                    <p:set>
                                      <p:cBhvr>
                                        <p:cTn id="157" dur="1" fill="hold">
                                          <p:stCondLst>
                                            <p:cond delay="0"/>
                                          </p:stCondLst>
                                        </p:cTn>
                                        <p:tgtEl>
                                          <p:spTgt spid="78"/>
                                        </p:tgtEl>
                                        <p:attrNameLst>
                                          <p:attrName>style.visibility</p:attrName>
                                        </p:attrNameLst>
                                      </p:cBhvr>
                                      <p:to>
                                        <p:strVal val="visible"/>
                                      </p:to>
                                    </p:set>
                                    <p:animEffect transition="in" filter="fade">
                                      <p:cBhvr>
                                        <p:cTn id="158" dur="400"/>
                                        <p:tgtEl>
                                          <p:spTgt spid="78"/>
                                        </p:tgtEl>
                                      </p:cBhvr>
                                    </p:animEffect>
                                  </p:childTnLst>
                                </p:cTn>
                              </p:par>
                              <p:par>
                                <p:cTn id="159" presetID="10" presetClass="entr" presetSubtype="0" fill="hold" grpId="0" nodeType="withEffect">
                                  <p:stCondLst>
                                    <p:cond delay="200"/>
                                  </p:stCondLst>
                                  <p:childTnLst>
                                    <p:set>
                                      <p:cBhvr>
                                        <p:cTn id="160" dur="1" fill="hold">
                                          <p:stCondLst>
                                            <p:cond delay="0"/>
                                          </p:stCondLst>
                                        </p:cTn>
                                        <p:tgtEl>
                                          <p:spTgt spid="80"/>
                                        </p:tgtEl>
                                        <p:attrNameLst>
                                          <p:attrName>style.visibility</p:attrName>
                                        </p:attrNameLst>
                                      </p:cBhvr>
                                      <p:to>
                                        <p:strVal val="visible"/>
                                      </p:to>
                                    </p:set>
                                    <p:animEffect transition="in" filter="fade">
                                      <p:cBhvr>
                                        <p:cTn id="161" dur="400"/>
                                        <p:tgtEl>
                                          <p:spTgt spid="80"/>
                                        </p:tgtEl>
                                      </p:cBhvr>
                                    </p:animEffect>
                                  </p:childTnLst>
                                </p:cTn>
                              </p:par>
                              <p:par>
                                <p:cTn id="162" presetID="10" presetClass="entr" presetSubtype="0" fill="hold" grpId="0" nodeType="withEffect">
                                  <p:stCondLst>
                                    <p:cond delay="200"/>
                                  </p:stCondLst>
                                  <p:childTnLst>
                                    <p:set>
                                      <p:cBhvr>
                                        <p:cTn id="163" dur="1" fill="hold">
                                          <p:stCondLst>
                                            <p:cond delay="0"/>
                                          </p:stCondLst>
                                        </p:cTn>
                                        <p:tgtEl>
                                          <p:spTgt spid="86"/>
                                        </p:tgtEl>
                                        <p:attrNameLst>
                                          <p:attrName>style.visibility</p:attrName>
                                        </p:attrNameLst>
                                      </p:cBhvr>
                                      <p:to>
                                        <p:strVal val="visible"/>
                                      </p:to>
                                    </p:set>
                                    <p:animEffect transition="in" filter="fade">
                                      <p:cBhvr>
                                        <p:cTn id="164" dur="400"/>
                                        <p:tgtEl>
                                          <p:spTgt spid="86"/>
                                        </p:tgtEl>
                                      </p:cBhvr>
                                    </p:animEffect>
                                  </p:childTnLst>
                                </p:cTn>
                              </p:par>
                            </p:childTnLst>
                          </p:cTn>
                        </p:par>
                      </p:childTnLst>
                    </p:cTn>
                  </p:par>
                  <p:par>
                    <p:cTn id="223" fill="hold">
                      <p:stCondLst>
                        <p:cond delay="indefinite"/>
                      </p:stCondLst>
                      <p:childTnLst>
                        <p:par>
                          <p:cTn id="224" fill="hold">
                            <p:stCondLst>
                              <p:cond delay="0"/>
                            </p:stCondLst>
                            <p:childTnLst>
                              <p:par>
                                <p:cTn id="165" presetID="10" presetClass="exit" presetSubtype="0" fill="hold" grpId="1" nodeType="clickEffect">
                                  <p:stCondLst>
                                    <p:cond delay="0"/>
                                  </p:stCondLst>
                                  <p:childTnLst>
                                    <p:animEffect transition="out" filter="fade">
                                      <p:cBhvr>
                                        <p:cTn id="166" dur="200"/>
                                        <p:tgtEl>
                                          <p:spTgt spid="14"/>
                                        </p:tgtEl>
                                      </p:cBhvr>
                                    </p:animEffect>
                                    <p:set>
                                      <p:cBhvr>
                                        <p:cTn id="167" dur="1" fill="hold">
                                          <p:stCondLst>
                                            <p:cond delay="199"/>
                                          </p:stCondLst>
                                        </p:cTn>
                                        <p:tgtEl>
                                          <p:spTgt spid="14"/>
                                        </p:tgtEl>
                                        <p:attrNameLst>
                                          <p:attrName>style.visibility</p:attrName>
                                        </p:attrNameLst>
                                      </p:cBhvr>
                                      <p:to>
                                        <p:strVal val="hidden"/>
                                      </p:to>
                                    </p:set>
                                  </p:childTnLst>
                                </p:cTn>
                              </p:par>
                              <p:par>
                                <p:cTn id="168" presetID="10" presetClass="exit" presetSubtype="0" fill="hold" grpId="1" nodeType="withEffect">
                                  <p:stCondLst>
                                    <p:cond delay="0"/>
                                  </p:stCondLst>
                                  <p:childTnLst>
                                    <p:animEffect transition="out" filter="fade">
                                      <p:cBhvr>
                                        <p:cTn id="169" dur="200"/>
                                        <p:tgtEl>
                                          <p:spTgt spid="60"/>
                                        </p:tgtEl>
                                      </p:cBhvr>
                                    </p:animEffect>
                                    <p:set>
                                      <p:cBhvr>
                                        <p:cTn id="170" dur="1" fill="hold">
                                          <p:stCondLst>
                                            <p:cond delay="199"/>
                                          </p:stCondLst>
                                        </p:cTn>
                                        <p:tgtEl>
                                          <p:spTgt spid="60"/>
                                        </p:tgtEl>
                                        <p:attrNameLst>
                                          <p:attrName>style.visibility</p:attrName>
                                        </p:attrNameLst>
                                      </p:cBhvr>
                                      <p:to>
                                        <p:strVal val="hidden"/>
                                      </p:to>
                                    </p:set>
                                  </p:childTnLst>
                                </p:cTn>
                              </p:par>
                              <p:par>
                                <p:cTn id="171" presetID="10" presetClass="exit" presetSubtype="0" fill="hold" grpId="1" nodeType="withEffect">
                                  <p:stCondLst>
                                    <p:cond delay="0"/>
                                  </p:stCondLst>
                                  <p:childTnLst>
                                    <p:animEffect transition="out" filter="fade">
                                      <p:cBhvr>
                                        <p:cTn id="172" dur="200"/>
                                        <p:tgtEl>
                                          <p:spTgt spid="67"/>
                                        </p:tgtEl>
                                      </p:cBhvr>
                                    </p:animEffect>
                                    <p:set>
                                      <p:cBhvr>
                                        <p:cTn id="173" dur="1" fill="hold">
                                          <p:stCondLst>
                                            <p:cond delay="199"/>
                                          </p:stCondLst>
                                        </p:cTn>
                                        <p:tgtEl>
                                          <p:spTgt spid="67"/>
                                        </p:tgtEl>
                                        <p:attrNameLst>
                                          <p:attrName>style.visibility</p:attrName>
                                        </p:attrNameLst>
                                      </p:cBhvr>
                                      <p:to>
                                        <p:strVal val="hidden"/>
                                      </p:to>
                                    </p:set>
                                  </p:childTnLst>
                                </p:cTn>
                              </p:par>
                              <p:par>
                                <p:cTn id="174" presetID="10" presetClass="exit" presetSubtype="0" fill="hold" grpId="1" nodeType="withEffect">
                                  <p:stCondLst>
                                    <p:cond delay="0"/>
                                  </p:stCondLst>
                                  <p:childTnLst>
                                    <p:animEffect transition="out" filter="fade">
                                      <p:cBhvr>
                                        <p:cTn id="175" dur="200"/>
                                        <p:tgtEl>
                                          <p:spTgt spid="69"/>
                                        </p:tgtEl>
                                      </p:cBhvr>
                                    </p:animEffect>
                                    <p:set>
                                      <p:cBhvr>
                                        <p:cTn id="176" dur="1" fill="hold">
                                          <p:stCondLst>
                                            <p:cond delay="199"/>
                                          </p:stCondLst>
                                        </p:cTn>
                                        <p:tgtEl>
                                          <p:spTgt spid="69"/>
                                        </p:tgtEl>
                                        <p:attrNameLst>
                                          <p:attrName>style.visibility</p:attrName>
                                        </p:attrNameLst>
                                      </p:cBhvr>
                                      <p:to>
                                        <p:strVal val="hidden"/>
                                      </p:to>
                                    </p:set>
                                  </p:childTnLst>
                                </p:cTn>
                              </p:par>
                              <p:par>
                                <p:cTn id="177" presetID="10" presetClass="exit" presetSubtype="0" fill="hold" grpId="1" nodeType="withEffect">
                                  <p:stCondLst>
                                    <p:cond delay="0"/>
                                  </p:stCondLst>
                                  <p:childTnLst>
                                    <p:animEffect transition="out" filter="fade">
                                      <p:cBhvr>
                                        <p:cTn id="178" dur="200"/>
                                        <p:tgtEl>
                                          <p:spTgt spid="72"/>
                                        </p:tgtEl>
                                      </p:cBhvr>
                                    </p:animEffect>
                                    <p:set>
                                      <p:cBhvr>
                                        <p:cTn id="179" dur="1" fill="hold">
                                          <p:stCondLst>
                                            <p:cond delay="199"/>
                                          </p:stCondLst>
                                        </p:cTn>
                                        <p:tgtEl>
                                          <p:spTgt spid="72"/>
                                        </p:tgtEl>
                                        <p:attrNameLst>
                                          <p:attrName>style.visibility</p:attrName>
                                        </p:attrNameLst>
                                      </p:cBhvr>
                                      <p:to>
                                        <p:strVal val="hidden"/>
                                      </p:to>
                                    </p:set>
                                  </p:childTnLst>
                                </p:cTn>
                              </p:par>
                              <p:par>
                                <p:cTn id="180" presetID="10" presetClass="exit" presetSubtype="0" fill="hold" grpId="1" nodeType="withEffect">
                                  <p:stCondLst>
                                    <p:cond delay="0"/>
                                  </p:stCondLst>
                                  <p:childTnLst>
                                    <p:animEffect transition="out" filter="fade">
                                      <p:cBhvr>
                                        <p:cTn id="181" dur="200"/>
                                        <p:tgtEl>
                                          <p:spTgt spid="75"/>
                                        </p:tgtEl>
                                      </p:cBhvr>
                                    </p:animEffect>
                                    <p:set>
                                      <p:cBhvr>
                                        <p:cTn id="182" dur="1" fill="hold">
                                          <p:stCondLst>
                                            <p:cond delay="199"/>
                                          </p:stCondLst>
                                        </p:cTn>
                                        <p:tgtEl>
                                          <p:spTgt spid="75"/>
                                        </p:tgtEl>
                                        <p:attrNameLst>
                                          <p:attrName>style.visibility</p:attrName>
                                        </p:attrNameLst>
                                      </p:cBhvr>
                                      <p:to>
                                        <p:strVal val="hidden"/>
                                      </p:to>
                                    </p:set>
                                  </p:childTnLst>
                                </p:cTn>
                              </p:par>
                              <p:par>
                                <p:cTn id="183" presetID="10" presetClass="exit" presetSubtype="0" fill="hold" grpId="1" nodeType="withEffect">
                                  <p:stCondLst>
                                    <p:cond delay="0"/>
                                  </p:stCondLst>
                                  <p:childTnLst>
                                    <p:animEffect transition="out" filter="fade">
                                      <p:cBhvr>
                                        <p:cTn id="184" dur="200"/>
                                        <p:tgtEl>
                                          <p:spTgt spid="78"/>
                                        </p:tgtEl>
                                      </p:cBhvr>
                                    </p:animEffect>
                                    <p:set>
                                      <p:cBhvr>
                                        <p:cTn id="185" dur="1" fill="hold">
                                          <p:stCondLst>
                                            <p:cond delay="199"/>
                                          </p:stCondLst>
                                        </p:cTn>
                                        <p:tgtEl>
                                          <p:spTgt spid="78"/>
                                        </p:tgtEl>
                                        <p:attrNameLst>
                                          <p:attrName>style.visibility</p:attrName>
                                        </p:attrNameLst>
                                      </p:cBhvr>
                                      <p:to>
                                        <p:strVal val="hidden"/>
                                      </p:to>
                                    </p:set>
                                  </p:childTnLst>
                                </p:cTn>
                              </p:par>
                              <p:par>
                                <p:cTn id="186" presetID="10" presetClass="exit" presetSubtype="0" fill="hold" grpId="1" nodeType="withEffect">
                                  <p:stCondLst>
                                    <p:cond delay="0"/>
                                  </p:stCondLst>
                                  <p:childTnLst>
                                    <p:animEffect transition="out" filter="fade">
                                      <p:cBhvr>
                                        <p:cTn id="187" dur="200"/>
                                        <p:tgtEl>
                                          <p:spTgt spid="80"/>
                                        </p:tgtEl>
                                      </p:cBhvr>
                                    </p:animEffect>
                                    <p:set>
                                      <p:cBhvr>
                                        <p:cTn id="188" dur="1" fill="hold">
                                          <p:stCondLst>
                                            <p:cond delay="199"/>
                                          </p:stCondLst>
                                        </p:cTn>
                                        <p:tgtEl>
                                          <p:spTgt spid="80"/>
                                        </p:tgtEl>
                                        <p:attrNameLst>
                                          <p:attrName>style.visibility</p:attrName>
                                        </p:attrNameLst>
                                      </p:cBhvr>
                                      <p:to>
                                        <p:strVal val="hidden"/>
                                      </p:to>
                                    </p:set>
                                  </p:childTnLst>
                                </p:cTn>
                              </p:par>
                              <p:par>
                                <p:cTn id="189" presetID="10" presetClass="exit" presetSubtype="0" fill="hold" grpId="1" nodeType="withEffect">
                                  <p:stCondLst>
                                    <p:cond delay="0"/>
                                  </p:stCondLst>
                                  <p:childTnLst>
                                    <p:animEffect transition="out" filter="fade">
                                      <p:cBhvr>
                                        <p:cTn id="190" dur="200"/>
                                        <p:tgtEl>
                                          <p:spTgt spid="86"/>
                                        </p:tgtEl>
                                      </p:cBhvr>
                                    </p:animEffect>
                                    <p:set>
                                      <p:cBhvr>
                                        <p:cTn id="191" dur="1" fill="hold">
                                          <p:stCondLst>
                                            <p:cond delay="199"/>
                                          </p:stCondLst>
                                        </p:cTn>
                                        <p:tgtEl>
                                          <p:spTgt spid="86"/>
                                        </p:tgtEl>
                                        <p:attrNameLst>
                                          <p:attrName>style.visibility</p:attrName>
                                        </p:attrNameLst>
                                      </p:cBhvr>
                                      <p:to>
                                        <p:strVal val="hidden"/>
                                      </p:to>
                                    </p:set>
                                  </p:childTnLst>
                                </p:cTn>
                              </p:par>
                              <p:par>
                                <p:cTn id="192" presetID="10" presetClass="entr" presetSubtype="0" fill="hold" grpId="0" nodeType="withEffect">
                                  <p:stCondLst>
                                    <p:cond delay="200"/>
                                  </p:stCondLst>
                                  <p:childTnLst>
                                    <p:set>
                                      <p:cBhvr>
                                        <p:cTn id="193" dur="1" fill="hold">
                                          <p:stCondLst>
                                            <p:cond delay="0"/>
                                          </p:stCondLst>
                                        </p:cTn>
                                        <p:tgtEl>
                                          <p:spTgt spid="13"/>
                                        </p:tgtEl>
                                        <p:attrNameLst>
                                          <p:attrName>style.visibility</p:attrName>
                                        </p:attrNameLst>
                                      </p:cBhvr>
                                      <p:to>
                                        <p:strVal val="visible"/>
                                      </p:to>
                                    </p:set>
                                    <p:animEffect transition="in" filter="fade">
                                      <p:cBhvr>
                                        <p:cTn id="194" dur="400"/>
                                        <p:tgtEl>
                                          <p:spTgt spid="13"/>
                                        </p:tgtEl>
                                      </p:cBhvr>
                                    </p:animEffect>
                                  </p:childTnLst>
                                </p:cTn>
                              </p:par>
                              <p:par>
                                <p:cTn id="195" presetID="10" presetClass="entr" presetSubtype="0" fill="hold" grpId="0" nodeType="withEffect">
                                  <p:stCondLst>
                                    <p:cond delay="200"/>
                                  </p:stCondLst>
                                  <p:childTnLst>
                                    <p:set>
                                      <p:cBhvr>
                                        <p:cTn id="196" dur="1" fill="hold">
                                          <p:stCondLst>
                                            <p:cond delay="0"/>
                                          </p:stCondLst>
                                        </p:cTn>
                                        <p:tgtEl>
                                          <p:spTgt spid="59"/>
                                        </p:tgtEl>
                                        <p:attrNameLst>
                                          <p:attrName>style.visibility</p:attrName>
                                        </p:attrNameLst>
                                      </p:cBhvr>
                                      <p:to>
                                        <p:strVal val="visible"/>
                                      </p:to>
                                    </p:set>
                                    <p:animEffect transition="in" filter="fade">
                                      <p:cBhvr>
                                        <p:cTn id="197" dur="400"/>
                                        <p:tgtEl>
                                          <p:spTgt spid="59"/>
                                        </p:tgtEl>
                                      </p:cBhvr>
                                    </p:animEffect>
                                  </p:childTnLst>
                                </p:cTn>
                              </p:par>
                              <p:par>
                                <p:cTn id="198" presetID="10" presetClass="entr" presetSubtype="0" fill="hold" grpId="0" nodeType="withEffect">
                                  <p:stCondLst>
                                    <p:cond delay="200"/>
                                  </p:stCondLst>
                                  <p:childTnLst>
                                    <p:set>
                                      <p:cBhvr>
                                        <p:cTn id="199" dur="1" fill="hold">
                                          <p:stCondLst>
                                            <p:cond delay="0"/>
                                          </p:stCondLst>
                                        </p:cTn>
                                        <p:tgtEl>
                                          <p:spTgt spid="66"/>
                                        </p:tgtEl>
                                        <p:attrNameLst>
                                          <p:attrName>style.visibility</p:attrName>
                                        </p:attrNameLst>
                                      </p:cBhvr>
                                      <p:to>
                                        <p:strVal val="visible"/>
                                      </p:to>
                                    </p:set>
                                    <p:animEffect transition="in" filter="fade">
                                      <p:cBhvr>
                                        <p:cTn id="200" dur="400"/>
                                        <p:tgtEl>
                                          <p:spTgt spid="66"/>
                                        </p:tgtEl>
                                      </p:cBhvr>
                                    </p:animEffect>
                                  </p:childTnLst>
                                </p:cTn>
                              </p:par>
                              <p:par>
                                <p:cTn id="201" presetID="10" presetClass="entr" presetSubtype="0" fill="hold" grpId="0" nodeType="withEffect">
                                  <p:stCondLst>
                                    <p:cond delay="200"/>
                                  </p:stCondLst>
                                  <p:childTnLst>
                                    <p:set>
                                      <p:cBhvr>
                                        <p:cTn id="202" dur="1" fill="hold">
                                          <p:stCondLst>
                                            <p:cond delay="0"/>
                                          </p:stCondLst>
                                        </p:cTn>
                                        <p:tgtEl>
                                          <p:spTgt spid="68"/>
                                        </p:tgtEl>
                                        <p:attrNameLst>
                                          <p:attrName>style.visibility</p:attrName>
                                        </p:attrNameLst>
                                      </p:cBhvr>
                                      <p:to>
                                        <p:strVal val="visible"/>
                                      </p:to>
                                    </p:set>
                                    <p:animEffect transition="in" filter="fade">
                                      <p:cBhvr>
                                        <p:cTn id="203" dur="400"/>
                                        <p:tgtEl>
                                          <p:spTgt spid="68"/>
                                        </p:tgtEl>
                                      </p:cBhvr>
                                    </p:animEffect>
                                  </p:childTnLst>
                                </p:cTn>
                              </p:par>
                              <p:par>
                                <p:cTn id="204" presetID="10" presetClass="entr" presetSubtype="0" fill="hold" grpId="0" nodeType="withEffect">
                                  <p:stCondLst>
                                    <p:cond delay="200"/>
                                  </p:stCondLst>
                                  <p:childTnLst>
                                    <p:set>
                                      <p:cBhvr>
                                        <p:cTn id="205" dur="1" fill="hold">
                                          <p:stCondLst>
                                            <p:cond delay="0"/>
                                          </p:stCondLst>
                                        </p:cTn>
                                        <p:tgtEl>
                                          <p:spTgt spid="70"/>
                                        </p:tgtEl>
                                        <p:attrNameLst>
                                          <p:attrName>style.visibility</p:attrName>
                                        </p:attrNameLst>
                                      </p:cBhvr>
                                      <p:to>
                                        <p:strVal val="visible"/>
                                      </p:to>
                                    </p:set>
                                    <p:animEffect transition="in" filter="fade">
                                      <p:cBhvr>
                                        <p:cTn id="206" dur="400"/>
                                        <p:tgtEl>
                                          <p:spTgt spid="70"/>
                                        </p:tgtEl>
                                      </p:cBhvr>
                                    </p:animEffect>
                                  </p:childTnLst>
                                </p:cTn>
                              </p:par>
                              <p:par>
                                <p:cTn id="207" presetID="10" presetClass="entr" presetSubtype="0" fill="hold" grpId="0" nodeType="withEffect">
                                  <p:stCondLst>
                                    <p:cond delay="200"/>
                                  </p:stCondLst>
                                  <p:childTnLst>
                                    <p:set>
                                      <p:cBhvr>
                                        <p:cTn id="208" dur="1" fill="hold">
                                          <p:stCondLst>
                                            <p:cond delay="0"/>
                                          </p:stCondLst>
                                        </p:cTn>
                                        <p:tgtEl>
                                          <p:spTgt spid="71"/>
                                        </p:tgtEl>
                                        <p:attrNameLst>
                                          <p:attrName>style.visibility</p:attrName>
                                        </p:attrNameLst>
                                      </p:cBhvr>
                                      <p:to>
                                        <p:strVal val="visible"/>
                                      </p:to>
                                    </p:set>
                                    <p:animEffect transition="in" filter="fade">
                                      <p:cBhvr>
                                        <p:cTn id="209" dur="400"/>
                                        <p:tgtEl>
                                          <p:spTgt spid="71"/>
                                        </p:tgtEl>
                                      </p:cBhvr>
                                    </p:animEffect>
                                  </p:childTnLst>
                                </p:cTn>
                              </p:par>
                              <p:par>
                                <p:cTn id="210" presetID="10" presetClass="entr" presetSubtype="0" fill="hold" grpId="0" nodeType="withEffect">
                                  <p:stCondLst>
                                    <p:cond delay="200"/>
                                  </p:stCondLst>
                                  <p:childTnLst>
                                    <p:set>
                                      <p:cBhvr>
                                        <p:cTn id="211" dur="1" fill="hold">
                                          <p:stCondLst>
                                            <p:cond delay="0"/>
                                          </p:stCondLst>
                                        </p:cTn>
                                        <p:tgtEl>
                                          <p:spTgt spid="74"/>
                                        </p:tgtEl>
                                        <p:attrNameLst>
                                          <p:attrName>style.visibility</p:attrName>
                                        </p:attrNameLst>
                                      </p:cBhvr>
                                      <p:to>
                                        <p:strVal val="visible"/>
                                      </p:to>
                                    </p:set>
                                    <p:animEffect transition="in" filter="fade">
                                      <p:cBhvr>
                                        <p:cTn id="212" dur="400"/>
                                        <p:tgtEl>
                                          <p:spTgt spid="74"/>
                                        </p:tgtEl>
                                      </p:cBhvr>
                                    </p:animEffect>
                                  </p:childTnLst>
                                </p:cTn>
                              </p:par>
                              <p:par>
                                <p:cTn id="213" presetID="10" presetClass="entr" presetSubtype="0" fill="hold" grpId="0" nodeType="withEffect">
                                  <p:stCondLst>
                                    <p:cond delay="200"/>
                                  </p:stCondLst>
                                  <p:childTnLst>
                                    <p:set>
                                      <p:cBhvr>
                                        <p:cTn id="214" dur="1" fill="hold">
                                          <p:stCondLst>
                                            <p:cond delay="0"/>
                                          </p:stCondLst>
                                        </p:cTn>
                                        <p:tgtEl>
                                          <p:spTgt spid="77"/>
                                        </p:tgtEl>
                                        <p:attrNameLst>
                                          <p:attrName>style.visibility</p:attrName>
                                        </p:attrNameLst>
                                      </p:cBhvr>
                                      <p:to>
                                        <p:strVal val="visible"/>
                                      </p:to>
                                    </p:set>
                                    <p:animEffect transition="in" filter="fade">
                                      <p:cBhvr>
                                        <p:cTn id="215" dur="400"/>
                                        <p:tgtEl>
                                          <p:spTgt spid="77"/>
                                        </p:tgtEl>
                                      </p:cBhvr>
                                    </p:animEffect>
                                  </p:childTnLst>
                                </p:cTn>
                              </p:par>
                              <p:par>
                                <p:cTn id="216" presetID="10" presetClass="entr" presetSubtype="0" fill="hold" grpId="0" nodeType="withEffect">
                                  <p:stCondLst>
                                    <p:cond delay="200"/>
                                  </p:stCondLst>
                                  <p:childTnLst>
                                    <p:set>
                                      <p:cBhvr>
                                        <p:cTn id="217" dur="1" fill="hold">
                                          <p:stCondLst>
                                            <p:cond delay="0"/>
                                          </p:stCondLst>
                                        </p:cTn>
                                        <p:tgtEl>
                                          <p:spTgt spid="85"/>
                                        </p:tgtEl>
                                        <p:attrNameLst>
                                          <p:attrName>style.visibility</p:attrName>
                                        </p:attrNameLst>
                                      </p:cBhvr>
                                      <p:to>
                                        <p:strVal val="visible"/>
                                      </p:to>
                                    </p:set>
                                    <p:animEffect transition="in" filter="fade">
                                      <p:cBhvr>
                                        <p:cTn id="218" dur="4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8" grpId="0" animBg="1"/>
      <p:bldP spid="59" grpId="0" animBg="1"/>
      <p:bldP spid="60" grpId="0" animBg="1"/>
      <p:bldP spid="60" grpId="1"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Trazabilidad en acción: de una tensión a los datos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1438275"/>
            <a:ext cx="1040130" cy="440626"/>
          </a:xfrm>
          <a:prstGeom prst="roundRect">
            <a:avLst>
              <a:gd name="adj" fmla="val 16572"/>
            </a:avLst>
          </a:prstGeom>
          <a:solidFill>
            <a:srgbClr val="E4F3EA"/>
          </a:solidFill>
          <a:ln w="6350">
            <a:solidFill>
              <a:srgbClr val="2E8B57">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675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2E8B57"/>
                </a:solidFill>
                <a:latin typeface="Calibri"/>
              </a:rPr>
              <a:t>1</a:t>
            </a:r>
          </a:p>
        </p:txBody>
      </p:sp>
      <p:sp>
        <p:nvSpPr>
          <p:cNvPr id="15" name="TextBox 14"/>
          <p:cNvSpPr txBox="1"/>
          <p:nvPr/>
        </p:nvSpPr>
        <p:spPr>
          <a:xfrm>
            <a:off x="66675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2E8B57"/>
                </a:solidFill>
                <a:latin typeface="Calibri"/>
              </a:rPr>
              <a:t>Mapeo</a:t>
            </a:r>
          </a:p>
        </p:txBody>
      </p:sp>
      <p:sp>
        <p:nvSpPr>
          <p:cNvPr id="16" name="Rounded Rectangle 15"/>
          <p:cNvSpPr/>
          <p:nvPr/>
        </p:nvSpPr>
        <p:spPr>
          <a:xfrm>
            <a:off x="1735455" y="1438275"/>
            <a:ext cx="1040130" cy="440626"/>
          </a:xfrm>
          <a:prstGeom prst="roundRect">
            <a:avLst>
              <a:gd name="adj" fmla="val 16572"/>
            </a:avLst>
          </a:prstGeom>
          <a:solidFill>
            <a:srgbClr val="E4F3EA"/>
          </a:solidFill>
          <a:ln w="6350">
            <a:solidFill>
              <a:srgbClr val="2E8B57">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6403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2E8B57"/>
                </a:solidFill>
                <a:latin typeface="Calibri"/>
              </a:rPr>
              <a:t>2</a:t>
            </a:r>
          </a:p>
        </p:txBody>
      </p:sp>
      <p:sp>
        <p:nvSpPr>
          <p:cNvPr id="18" name="TextBox 17"/>
          <p:cNvSpPr txBox="1"/>
          <p:nvPr/>
        </p:nvSpPr>
        <p:spPr>
          <a:xfrm>
            <a:off x="176403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2E8B57"/>
                </a:solidFill>
                <a:latin typeface="Calibri"/>
              </a:rPr>
              <a:t>Jacobiano</a:t>
            </a:r>
          </a:p>
        </p:txBody>
      </p:sp>
      <p:sp>
        <p:nvSpPr>
          <p:cNvPr id="19" name="Rounded Rectangle 18"/>
          <p:cNvSpPr/>
          <p:nvPr/>
        </p:nvSpPr>
        <p:spPr>
          <a:xfrm>
            <a:off x="596900" y="1397000"/>
            <a:ext cx="1122680"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5000" y="1435100"/>
            <a:ext cx="1046480"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75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1</a:t>
            </a:r>
          </a:p>
        </p:txBody>
      </p:sp>
      <p:sp>
        <p:nvSpPr>
          <p:cNvPr id="22" name="TextBox 21"/>
          <p:cNvSpPr txBox="1"/>
          <p:nvPr/>
        </p:nvSpPr>
        <p:spPr>
          <a:xfrm>
            <a:off x="66675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Mapeo</a:t>
            </a:r>
          </a:p>
        </p:txBody>
      </p:sp>
      <p:sp>
        <p:nvSpPr>
          <p:cNvPr id="23" name="Rounded Rectangle 22"/>
          <p:cNvSpPr/>
          <p:nvPr/>
        </p:nvSpPr>
        <p:spPr>
          <a:xfrm>
            <a:off x="1694180" y="1397000"/>
            <a:ext cx="1122680"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32280" y="1435100"/>
            <a:ext cx="1046480"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6403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2</a:t>
            </a:r>
          </a:p>
        </p:txBody>
      </p:sp>
      <p:sp>
        <p:nvSpPr>
          <p:cNvPr id="26" name="TextBox 25"/>
          <p:cNvSpPr txBox="1"/>
          <p:nvPr/>
        </p:nvSpPr>
        <p:spPr>
          <a:xfrm>
            <a:off x="176403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Jacobiano</a:t>
            </a:r>
          </a:p>
        </p:txBody>
      </p:sp>
      <p:sp>
        <p:nvSpPr>
          <p:cNvPr id="27" name="Rounded Rectangle 26"/>
          <p:cNvSpPr/>
          <p:nvPr/>
        </p:nvSpPr>
        <p:spPr>
          <a:xfrm>
            <a:off x="2832672" y="1438275"/>
            <a:ext cx="1040130" cy="440626"/>
          </a:xfrm>
          <a:prstGeom prst="roundRect">
            <a:avLst>
              <a:gd name="adj" fmla="val 16572"/>
            </a:avLst>
          </a:prstGeom>
          <a:solidFill>
            <a:srgbClr val="E4F3EA"/>
          </a:solidFill>
          <a:ln w="6350">
            <a:solidFill>
              <a:srgbClr val="2E8B57">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6124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2E8B57"/>
                </a:solidFill>
                <a:latin typeface="Calibri"/>
              </a:rPr>
              <a:t>3</a:t>
            </a:r>
          </a:p>
        </p:txBody>
      </p:sp>
      <p:sp>
        <p:nvSpPr>
          <p:cNvPr id="29" name="TextBox 28"/>
          <p:cNvSpPr txBox="1"/>
          <p:nvPr/>
        </p:nvSpPr>
        <p:spPr>
          <a:xfrm>
            <a:off x="286124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2E8B57"/>
                </a:solidFill>
                <a:latin typeface="Calibri"/>
              </a:rPr>
              <a:t>Matriz B</a:t>
            </a:r>
          </a:p>
        </p:txBody>
      </p:sp>
      <p:sp>
        <p:nvSpPr>
          <p:cNvPr id="30" name="Rounded Rectangle 29"/>
          <p:cNvSpPr/>
          <p:nvPr/>
        </p:nvSpPr>
        <p:spPr>
          <a:xfrm>
            <a:off x="638175" y="1438275"/>
            <a:ext cx="1040130" cy="440626"/>
          </a:xfrm>
          <a:prstGeom prst="roundRect">
            <a:avLst>
              <a:gd name="adj" fmla="val 165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675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5B6575"/>
                </a:solidFill>
                <a:latin typeface="Calibri"/>
              </a:rPr>
              <a:t>1</a:t>
            </a:r>
          </a:p>
        </p:txBody>
      </p:sp>
      <p:sp>
        <p:nvSpPr>
          <p:cNvPr id="32" name="TextBox 31"/>
          <p:cNvSpPr txBox="1"/>
          <p:nvPr/>
        </p:nvSpPr>
        <p:spPr>
          <a:xfrm>
            <a:off x="66675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5B6575"/>
                </a:solidFill>
                <a:latin typeface="Calibri"/>
              </a:rPr>
              <a:t>Mapeo</a:t>
            </a:r>
          </a:p>
        </p:txBody>
      </p:sp>
      <p:sp>
        <p:nvSpPr>
          <p:cNvPr id="33" name="Rounded Rectangle 32"/>
          <p:cNvSpPr/>
          <p:nvPr/>
        </p:nvSpPr>
        <p:spPr>
          <a:xfrm>
            <a:off x="1735455" y="1438275"/>
            <a:ext cx="1040130" cy="440626"/>
          </a:xfrm>
          <a:prstGeom prst="roundRect">
            <a:avLst>
              <a:gd name="adj" fmla="val 165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6403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5B6575"/>
                </a:solidFill>
                <a:latin typeface="Calibri"/>
              </a:rPr>
              <a:t>2</a:t>
            </a:r>
          </a:p>
        </p:txBody>
      </p:sp>
      <p:sp>
        <p:nvSpPr>
          <p:cNvPr id="35" name="TextBox 34"/>
          <p:cNvSpPr txBox="1"/>
          <p:nvPr/>
        </p:nvSpPr>
        <p:spPr>
          <a:xfrm>
            <a:off x="176403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5B6575"/>
                </a:solidFill>
                <a:latin typeface="Calibri"/>
              </a:rPr>
              <a:t>Jacobiano</a:t>
            </a:r>
          </a:p>
        </p:txBody>
      </p:sp>
      <p:sp>
        <p:nvSpPr>
          <p:cNvPr id="36" name="Rounded Rectangle 35"/>
          <p:cNvSpPr/>
          <p:nvPr/>
        </p:nvSpPr>
        <p:spPr>
          <a:xfrm>
            <a:off x="2791396" y="1397000"/>
            <a:ext cx="1122680"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829496" y="1435100"/>
            <a:ext cx="1046480"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6124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3</a:t>
            </a:r>
          </a:p>
        </p:txBody>
      </p:sp>
      <p:sp>
        <p:nvSpPr>
          <p:cNvPr id="39" name="TextBox 38"/>
          <p:cNvSpPr txBox="1"/>
          <p:nvPr/>
        </p:nvSpPr>
        <p:spPr>
          <a:xfrm>
            <a:off x="286124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Matriz B</a:t>
            </a:r>
          </a:p>
        </p:txBody>
      </p:sp>
      <p:sp>
        <p:nvSpPr>
          <p:cNvPr id="40" name="Rounded Rectangle 39"/>
          <p:cNvSpPr/>
          <p:nvPr/>
        </p:nvSpPr>
        <p:spPr>
          <a:xfrm>
            <a:off x="2832672" y="1438275"/>
            <a:ext cx="1040130" cy="440626"/>
          </a:xfrm>
          <a:prstGeom prst="roundRect">
            <a:avLst>
              <a:gd name="adj" fmla="val 16572"/>
            </a:avLst>
          </a:prstGeom>
          <a:solidFill>
            <a:srgbClr val="E4F3EA"/>
          </a:solidFill>
          <a:ln w="6350">
            <a:solidFill>
              <a:srgbClr val="2E8B57">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6124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2E8B57"/>
                </a:solidFill>
                <a:latin typeface="Calibri"/>
              </a:rPr>
              <a:t>3</a:t>
            </a:r>
          </a:p>
        </p:txBody>
      </p:sp>
      <p:sp>
        <p:nvSpPr>
          <p:cNvPr id="42" name="TextBox 41"/>
          <p:cNvSpPr txBox="1"/>
          <p:nvPr/>
        </p:nvSpPr>
        <p:spPr>
          <a:xfrm>
            <a:off x="286124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2E8B57"/>
                </a:solidFill>
                <a:latin typeface="Calibri"/>
              </a:rPr>
              <a:t>Matriz B</a:t>
            </a:r>
          </a:p>
        </p:txBody>
      </p:sp>
      <p:sp>
        <p:nvSpPr>
          <p:cNvPr id="43" name="Rounded Rectangle 42"/>
          <p:cNvSpPr/>
          <p:nvPr/>
        </p:nvSpPr>
        <p:spPr>
          <a:xfrm>
            <a:off x="3929952" y="1438275"/>
            <a:ext cx="1040130" cy="440626"/>
          </a:xfrm>
          <a:prstGeom prst="roundRect">
            <a:avLst>
              <a:gd name="adj" fmla="val 16572"/>
            </a:avLst>
          </a:prstGeom>
          <a:solidFill>
            <a:srgbClr val="E4F3EA"/>
          </a:solidFill>
          <a:ln w="6350">
            <a:solidFill>
              <a:srgbClr val="2E8B57">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5852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2E8B57"/>
                </a:solidFill>
                <a:latin typeface="Calibri"/>
              </a:rPr>
              <a:t>4</a:t>
            </a:r>
          </a:p>
        </p:txBody>
      </p:sp>
      <p:sp>
        <p:nvSpPr>
          <p:cNvPr id="45" name="TextBox 44"/>
          <p:cNvSpPr txBox="1"/>
          <p:nvPr/>
        </p:nvSpPr>
        <p:spPr>
          <a:xfrm>
            <a:off x="395852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2E8B57"/>
                </a:solidFill>
                <a:latin typeface="Calibri"/>
              </a:rPr>
              <a:t>Matriz D</a:t>
            </a:r>
          </a:p>
        </p:txBody>
      </p:sp>
      <p:sp>
        <p:nvSpPr>
          <p:cNvPr id="46" name="Rounded Rectangle 45"/>
          <p:cNvSpPr/>
          <p:nvPr/>
        </p:nvSpPr>
        <p:spPr>
          <a:xfrm>
            <a:off x="5027232" y="1438275"/>
            <a:ext cx="1040194" cy="440626"/>
          </a:xfrm>
          <a:prstGeom prst="roundRect">
            <a:avLst>
              <a:gd name="adj" fmla="val 16572"/>
            </a:avLst>
          </a:prstGeom>
          <a:solidFill>
            <a:srgbClr val="E4F3EA"/>
          </a:solidFill>
          <a:ln w="6350">
            <a:solidFill>
              <a:srgbClr val="2E8B57">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55806" y="1518984"/>
            <a:ext cx="983044"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2E8B57"/>
                </a:solidFill>
                <a:latin typeface="Calibri"/>
              </a:rPr>
              <a:t>5</a:t>
            </a:r>
          </a:p>
        </p:txBody>
      </p:sp>
      <p:sp>
        <p:nvSpPr>
          <p:cNvPr id="48" name="TextBox 47"/>
          <p:cNvSpPr txBox="1"/>
          <p:nvPr/>
        </p:nvSpPr>
        <p:spPr>
          <a:xfrm>
            <a:off x="5055806" y="1695983"/>
            <a:ext cx="983044"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2E8B57"/>
                </a:solidFill>
                <a:latin typeface="Calibri"/>
              </a:rPr>
              <a:t>Rigidez</a:t>
            </a:r>
          </a:p>
        </p:txBody>
      </p:sp>
      <p:sp>
        <p:nvSpPr>
          <p:cNvPr id="49" name="Rounded Rectangle 48"/>
          <p:cNvSpPr/>
          <p:nvPr/>
        </p:nvSpPr>
        <p:spPr>
          <a:xfrm>
            <a:off x="4985956" y="1397000"/>
            <a:ext cx="1122744"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5024056" y="1435100"/>
            <a:ext cx="1046544"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55806" y="1518984"/>
            <a:ext cx="983044"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5</a:t>
            </a:r>
          </a:p>
        </p:txBody>
      </p:sp>
      <p:sp>
        <p:nvSpPr>
          <p:cNvPr id="52" name="TextBox 51"/>
          <p:cNvSpPr txBox="1"/>
          <p:nvPr/>
        </p:nvSpPr>
        <p:spPr>
          <a:xfrm>
            <a:off x="5055806" y="1695983"/>
            <a:ext cx="983044"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Rigidez</a:t>
            </a:r>
          </a:p>
        </p:txBody>
      </p:sp>
      <p:sp>
        <p:nvSpPr>
          <p:cNvPr id="53" name="Rounded Rectangle 52"/>
          <p:cNvSpPr/>
          <p:nvPr/>
        </p:nvSpPr>
        <p:spPr>
          <a:xfrm>
            <a:off x="2791396" y="1397000"/>
            <a:ext cx="1122680"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829496" y="1435100"/>
            <a:ext cx="1046480"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6124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3</a:t>
            </a:r>
          </a:p>
        </p:txBody>
      </p:sp>
      <p:sp>
        <p:nvSpPr>
          <p:cNvPr id="56" name="TextBox 55"/>
          <p:cNvSpPr txBox="1"/>
          <p:nvPr/>
        </p:nvSpPr>
        <p:spPr>
          <a:xfrm>
            <a:off x="286124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Matriz B</a:t>
            </a:r>
          </a:p>
        </p:txBody>
      </p:sp>
      <p:sp>
        <p:nvSpPr>
          <p:cNvPr id="57" name="Rounded Rectangle 56"/>
          <p:cNvSpPr/>
          <p:nvPr/>
        </p:nvSpPr>
        <p:spPr>
          <a:xfrm>
            <a:off x="3888676" y="1397000"/>
            <a:ext cx="1122680"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3926776" y="1435100"/>
            <a:ext cx="1046480"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95852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4</a:t>
            </a:r>
          </a:p>
        </p:txBody>
      </p:sp>
      <p:sp>
        <p:nvSpPr>
          <p:cNvPr id="60" name="TextBox 59"/>
          <p:cNvSpPr txBox="1"/>
          <p:nvPr/>
        </p:nvSpPr>
        <p:spPr>
          <a:xfrm>
            <a:off x="395852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Matriz D</a:t>
            </a:r>
          </a:p>
        </p:txBody>
      </p:sp>
      <p:sp>
        <p:nvSpPr>
          <p:cNvPr id="61" name="Rounded Rectangle 60"/>
          <p:cNvSpPr/>
          <p:nvPr/>
        </p:nvSpPr>
        <p:spPr>
          <a:xfrm>
            <a:off x="2832672" y="1438275"/>
            <a:ext cx="1040130" cy="440626"/>
          </a:xfrm>
          <a:prstGeom prst="roundRect">
            <a:avLst>
              <a:gd name="adj" fmla="val 165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6124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5B6575"/>
                </a:solidFill>
                <a:latin typeface="Calibri"/>
              </a:rPr>
              <a:t>3</a:t>
            </a:r>
          </a:p>
        </p:txBody>
      </p:sp>
      <p:sp>
        <p:nvSpPr>
          <p:cNvPr id="63" name="TextBox 62"/>
          <p:cNvSpPr txBox="1"/>
          <p:nvPr/>
        </p:nvSpPr>
        <p:spPr>
          <a:xfrm>
            <a:off x="286124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5B6575"/>
                </a:solidFill>
                <a:latin typeface="Calibri"/>
              </a:rPr>
              <a:t>Matriz B</a:t>
            </a:r>
          </a:p>
        </p:txBody>
      </p:sp>
      <p:sp>
        <p:nvSpPr>
          <p:cNvPr id="64" name="Rounded Rectangle 63"/>
          <p:cNvSpPr/>
          <p:nvPr/>
        </p:nvSpPr>
        <p:spPr>
          <a:xfrm>
            <a:off x="3929952" y="1438275"/>
            <a:ext cx="1040130" cy="440626"/>
          </a:xfrm>
          <a:prstGeom prst="roundRect">
            <a:avLst>
              <a:gd name="adj" fmla="val 165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95852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5B6575"/>
                </a:solidFill>
                <a:latin typeface="Calibri"/>
              </a:rPr>
              <a:t>4</a:t>
            </a:r>
          </a:p>
        </p:txBody>
      </p:sp>
      <p:sp>
        <p:nvSpPr>
          <p:cNvPr id="66" name="TextBox 65"/>
          <p:cNvSpPr txBox="1"/>
          <p:nvPr/>
        </p:nvSpPr>
        <p:spPr>
          <a:xfrm>
            <a:off x="395852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5B6575"/>
                </a:solidFill>
                <a:latin typeface="Calibri"/>
              </a:rPr>
              <a:t>Matriz D</a:t>
            </a:r>
          </a:p>
        </p:txBody>
      </p:sp>
      <p:sp>
        <p:nvSpPr>
          <p:cNvPr id="67" name="Rounded Rectangle 66"/>
          <p:cNvSpPr/>
          <p:nvPr/>
        </p:nvSpPr>
        <p:spPr>
          <a:xfrm>
            <a:off x="5027232" y="1438275"/>
            <a:ext cx="1040194" cy="440626"/>
          </a:xfrm>
          <a:prstGeom prst="roundRect">
            <a:avLst>
              <a:gd name="adj" fmla="val 165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55806" y="1518984"/>
            <a:ext cx="983044"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5B6575"/>
                </a:solidFill>
                <a:latin typeface="Calibri"/>
              </a:rPr>
              <a:t>5</a:t>
            </a:r>
          </a:p>
        </p:txBody>
      </p:sp>
      <p:sp>
        <p:nvSpPr>
          <p:cNvPr id="69" name="TextBox 68"/>
          <p:cNvSpPr txBox="1"/>
          <p:nvPr/>
        </p:nvSpPr>
        <p:spPr>
          <a:xfrm>
            <a:off x="5055806" y="1695983"/>
            <a:ext cx="983044"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5B6575"/>
                </a:solidFill>
                <a:latin typeface="Calibri"/>
              </a:rPr>
              <a:t>Rigidez</a:t>
            </a:r>
          </a:p>
        </p:txBody>
      </p:sp>
      <p:sp>
        <p:nvSpPr>
          <p:cNvPr id="70" name="Rounded Rectangle 69"/>
          <p:cNvSpPr/>
          <p:nvPr/>
        </p:nvSpPr>
        <p:spPr>
          <a:xfrm>
            <a:off x="6124575" y="1438275"/>
            <a:ext cx="1040130" cy="440626"/>
          </a:xfrm>
          <a:prstGeom prst="roundRect">
            <a:avLst>
              <a:gd name="adj" fmla="val 16572"/>
            </a:avLst>
          </a:prstGeom>
          <a:solidFill>
            <a:srgbClr val="E4F3EA"/>
          </a:solidFill>
          <a:ln w="6350">
            <a:solidFill>
              <a:srgbClr val="2E8B57">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15315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2E8B57"/>
                </a:solidFill>
                <a:latin typeface="Calibri"/>
              </a:rPr>
              <a:t>6</a:t>
            </a:r>
          </a:p>
        </p:txBody>
      </p:sp>
      <p:sp>
        <p:nvSpPr>
          <p:cNvPr id="72" name="TextBox 71"/>
          <p:cNvSpPr txBox="1"/>
          <p:nvPr/>
        </p:nvSpPr>
        <p:spPr>
          <a:xfrm>
            <a:off x="615315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2E8B57"/>
                </a:solidFill>
                <a:latin typeface="Calibri"/>
              </a:rPr>
              <a:t>Fuerzas</a:t>
            </a:r>
          </a:p>
        </p:txBody>
      </p:sp>
      <p:sp>
        <p:nvSpPr>
          <p:cNvPr id="73" name="Rounded Rectangle 72"/>
          <p:cNvSpPr/>
          <p:nvPr/>
        </p:nvSpPr>
        <p:spPr>
          <a:xfrm>
            <a:off x="7221855" y="1438275"/>
            <a:ext cx="1040130" cy="440626"/>
          </a:xfrm>
          <a:prstGeom prst="roundRect">
            <a:avLst>
              <a:gd name="adj" fmla="val 16572"/>
            </a:avLst>
          </a:prstGeom>
          <a:solidFill>
            <a:srgbClr val="E4F3EA"/>
          </a:solidFill>
          <a:ln w="6350">
            <a:solidFill>
              <a:srgbClr val="2E8B57">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25043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2E8B57"/>
                </a:solidFill>
                <a:latin typeface="Calibri"/>
              </a:rPr>
              <a:t>7</a:t>
            </a:r>
          </a:p>
        </p:txBody>
      </p:sp>
      <p:sp>
        <p:nvSpPr>
          <p:cNvPr id="75" name="TextBox 74"/>
          <p:cNvSpPr txBox="1"/>
          <p:nvPr/>
        </p:nvSpPr>
        <p:spPr>
          <a:xfrm>
            <a:off x="725043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2E8B57"/>
                </a:solidFill>
                <a:latin typeface="Calibri"/>
              </a:rPr>
              <a:t>Ensamblaje</a:t>
            </a:r>
          </a:p>
        </p:txBody>
      </p:sp>
      <p:sp>
        <p:nvSpPr>
          <p:cNvPr id="76" name="Rounded Rectangle 75"/>
          <p:cNvSpPr/>
          <p:nvPr/>
        </p:nvSpPr>
        <p:spPr>
          <a:xfrm>
            <a:off x="7180580" y="1397000"/>
            <a:ext cx="1122680"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7218680" y="1435100"/>
            <a:ext cx="1046480"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25043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7</a:t>
            </a:r>
          </a:p>
        </p:txBody>
      </p:sp>
      <p:sp>
        <p:nvSpPr>
          <p:cNvPr id="79" name="TextBox 78"/>
          <p:cNvSpPr txBox="1"/>
          <p:nvPr/>
        </p:nvSpPr>
        <p:spPr>
          <a:xfrm>
            <a:off x="725043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Ensamblaje</a:t>
            </a:r>
          </a:p>
        </p:txBody>
      </p:sp>
      <p:sp>
        <p:nvSpPr>
          <p:cNvPr id="80" name="Rounded Rectangle 79"/>
          <p:cNvSpPr/>
          <p:nvPr/>
        </p:nvSpPr>
        <p:spPr>
          <a:xfrm>
            <a:off x="6083300" y="1397000"/>
            <a:ext cx="1122680"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6121400" y="1435100"/>
            <a:ext cx="1046480"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5315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6</a:t>
            </a:r>
          </a:p>
        </p:txBody>
      </p:sp>
      <p:sp>
        <p:nvSpPr>
          <p:cNvPr id="83" name="TextBox 82"/>
          <p:cNvSpPr txBox="1"/>
          <p:nvPr/>
        </p:nvSpPr>
        <p:spPr>
          <a:xfrm>
            <a:off x="615315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Fuerzas</a:t>
            </a:r>
          </a:p>
        </p:txBody>
      </p:sp>
      <p:sp>
        <p:nvSpPr>
          <p:cNvPr id="84" name="Rounded Rectangle 83"/>
          <p:cNvSpPr/>
          <p:nvPr/>
        </p:nvSpPr>
        <p:spPr>
          <a:xfrm>
            <a:off x="6124575" y="1438275"/>
            <a:ext cx="1040130" cy="440626"/>
          </a:xfrm>
          <a:prstGeom prst="roundRect">
            <a:avLst>
              <a:gd name="adj" fmla="val 165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15315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5B6575"/>
                </a:solidFill>
                <a:latin typeface="Calibri"/>
              </a:rPr>
              <a:t>6</a:t>
            </a:r>
          </a:p>
        </p:txBody>
      </p:sp>
      <p:sp>
        <p:nvSpPr>
          <p:cNvPr id="86" name="TextBox 85"/>
          <p:cNvSpPr txBox="1"/>
          <p:nvPr/>
        </p:nvSpPr>
        <p:spPr>
          <a:xfrm>
            <a:off x="615315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5B6575"/>
                </a:solidFill>
                <a:latin typeface="Calibri"/>
              </a:rPr>
              <a:t>Fuerzas</a:t>
            </a:r>
          </a:p>
        </p:txBody>
      </p:sp>
      <p:sp>
        <p:nvSpPr>
          <p:cNvPr id="87" name="Rounded Rectangle 86"/>
          <p:cNvSpPr/>
          <p:nvPr/>
        </p:nvSpPr>
        <p:spPr>
          <a:xfrm>
            <a:off x="7221855" y="1438275"/>
            <a:ext cx="1040130" cy="440626"/>
          </a:xfrm>
          <a:prstGeom prst="roundRect">
            <a:avLst>
              <a:gd name="adj" fmla="val 165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250430"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5B6575"/>
                </a:solidFill>
                <a:latin typeface="Calibri"/>
              </a:rPr>
              <a:t>7</a:t>
            </a:r>
          </a:p>
        </p:txBody>
      </p:sp>
      <p:sp>
        <p:nvSpPr>
          <p:cNvPr id="89" name="TextBox 88"/>
          <p:cNvSpPr txBox="1"/>
          <p:nvPr/>
        </p:nvSpPr>
        <p:spPr>
          <a:xfrm>
            <a:off x="7250430"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5B6575"/>
                </a:solidFill>
                <a:latin typeface="Calibri"/>
              </a:rPr>
              <a:t>Ensamblaje</a:t>
            </a:r>
          </a:p>
        </p:txBody>
      </p:sp>
      <p:sp>
        <p:nvSpPr>
          <p:cNvPr id="90" name="Rounded Rectangle 89"/>
          <p:cNvSpPr/>
          <p:nvPr/>
        </p:nvSpPr>
        <p:spPr>
          <a:xfrm>
            <a:off x="8319071" y="1438275"/>
            <a:ext cx="1040130" cy="440626"/>
          </a:xfrm>
          <a:prstGeom prst="roundRect">
            <a:avLst>
              <a:gd name="adj" fmla="val 16572"/>
            </a:avLst>
          </a:prstGeom>
          <a:solidFill>
            <a:srgbClr val="E4F3EA"/>
          </a:solidFill>
          <a:ln w="6350">
            <a:solidFill>
              <a:srgbClr val="2E8B57">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34764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2E8B57"/>
                </a:solidFill>
                <a:latin typeface="Calibri"/>
              </a:rPr>
              <a:t>8</a:t>
            </a:r>
          </a:p>
        </p:txBody>
      </p:sp>
      <p:sp>
        <p:nvSpPr>
          <p:cNvPr id="92" name="TextBox 91"/>
          <p:cNvSpPr txBox="1"/>
          <p:nvPr/>
        </p:nvSpPr>
        <p:spPr>
          <a:xfrm>
            <a:off x="834764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2E8B57"/>
                </a:solidFill>
                <a:latin typeface="Calibri"/>
              </a:rPr>
              <a:t>Solución</a:t>
            </a:r>
          </a:p>
        </p:txBody>
      </p:sp>
      <p:sp>
        <p:nvSpPr>
          <p:cNvPr id="93" name="Rounded Rectangle 92"/>
          <p:cNvSpPr/>
          <p:nvPr/>
        </p:nvSpPr>
        <p:spPr>
          <a:xfrm>
            <a:off x="8277796" y="1397000"/>
            <a:ext cx="1122680"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8315896" y="1435100"/>
            <a:ext cx="1046480"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34764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8</a:t>
            </a:r>
          </a:p>
        </p:txBody>
      </p:sp>
      <p:sp>
        <p:nvSpPr>
          <p:cNvPr id="96" name="TextBox 95"/>
          <p:cNvSpPr txBox="1"/>
          <p:nvPr/>
        </p:nvSpPr>
        <p:spPr>
          <a:xfrm>
            <a:off x="834764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Solución</a:t>
            </a:r>
          </a:p>
        </p:txBody>
      </p:sp>
      <p:sp>
        <p:nvSpPr>
          <p:cNvPr id="97" name="Rounded Rectangle 96"/>
          <p:cNvSpPr/>
          <p:nvPr/>
        </p:nvSpPr>
        <p:spPr>
          <a:xfrm>
            <a:off x="8319071" y="1438275"/>
            <a:ext cx="1040130" cy="440626"/>
          </a:xfrm>
          <a:prstGeom prst="roundRect">
            <a:avLst>
              <a:gd name="adj" fmla="val 165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34764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5B6575"/>
                </a:solidFill>
                <a:latin typeface="Calibri"/>
              </a:rPr>
              <a:t>8</a:t>
            </a:r>
          </a:p>
        </p:txBody>
      </p:sp>
      <p:sp>
        <p:nvSpPr>
          <p:cNvPr id="99" name="TextBox 98"/>
          <p:cNvSpPr txBox="1"/>
          <p:nvPr/>
        </p:nvSpPr>
        <p:spPr>
          <a:xfrm>
            <a:off x="834764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5B6575"/>
                </a:solidFill>
                <a:latin typeface="Calibri"/>
              </a:rPr>
              <a:t>Solución</a:t>
            </a:r>
          </a:p>
        </p:txBody>
      </p:sp>
      <p:sp>
        <p:nvSpPr>
          <p:cNvPr id="100" name="Rounded Rectangle 99"/>
          <p:cNvSpPr/>
          <p:nvPr/>
        </p:nvSpPr>
        <p:spPr>
          <a:xfrm>
            <a:off x="9416352" y="1438275"/>
            <a:ext cx="1040130" cy="440626"/>
          </a:xfrm>
          <a:prstGeom prst="roundRect">
            <a:avLst>
              <a:gd name="adj" fmla="val 16572"/>
            </a:avLst>
          </a:prstGeom>
          <a:solidFill>
            <a:srgbClr val="E4F3EA"/>
          </a:solidFill>
          <a:ln w="6350">
            <a:solidFill>
              <a:srgbClr val="2E8B57">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44492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2E8B57"/>
                </a:solidFill>
                <a:latin typeface="Calibri"/>
              </a:rPr>
              <a:t>9</a:t>
            </a:r>
          </a:p>
        </p:txBody>
      </p:sp>
      <p:sp>
        <p:nvSpPr>
          <p:cNvPr id="102" name="TextBox 101"/>
          <p:cNvSpPr txBox="1"/>
          <p:nvPr/>
        </p:nvSpPr>
        <p:spPr>
          <a:xfrm>
            <a:off x="944492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2E8B57"/>
                </a:solidFill>
                <a:latin typeface="Calibri"/>
              </a:rPr>
              <a:t>Tensiones</a:t>
            </a:r>
          </a:p>
        </p:txBody>
      </p:sp>
      <p:sp>
        <p:nvSpPr>
          <p:cNvPr id="103" name="Rounded Rectangle 102"/>
          <p:cNvSpPr/>
          <p:nvPr/>
        </p:nvSpPr>
        <p:spPr>
          <a:xfrm>
            <a:off x="10472356" y="1397000"/>
            <a:ext cx="1122744"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10510456" y="1435100"/>
            <a:ext cx="1046544"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542206" y="1518984"/>
            <a:ext cx="983044"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a:t>
            </a:r>
          </a:p>
        </p:txBody>
      </p:sp>
      <p:sp>
        <p:nvSpPr>
          <p:cNvPr id="106" name="TextBox 105"/>
          <p:cNvSpPr txBox="1"/>
          <p:nvPr/>
        </p:nvSpPr>
        <p:spPr>
          <a:xfrm>
            <a:off x="10542206" y="1695983"/>
            <a:ext cx="983044"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Datos</a:t>
            </a:r>
          </a:p>
        </p:txBody>
      </p:sp>
      <p:sp>
        <p:nvSpPr>
          <p:cNvPr id="107" name="Rounded Rectangle 106"/>
          <p:cNvSpPr/>
          <p:nvPr/>
        </p:nvSpPr>
        <p:spPr>
          <a:xfrm>
            <a:off x="9375076" y="1397000"/>
            <a:ext cx="1122680" cy="523176"/>
          </a:xfrm>
          <a:prstGeom prst="roundRect">
            <a:avLst>
              <a:gd name="adj" fmla="val 2184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9413176" y="1435100"/>
            <a:ext cx="1046480" cy="446976"/>
          </a:xfrm>
          <a:prstGeom prst="roundRect">
            <a:avLst>
              <a:gd name="adj" fmla="val 17047"/>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44492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9</a:t>
            </a:r>
          </a:p>
        </p:txBody>
      </p:sp>
      <p:sp>
        <p:nvSpPr>
          <p:cNvPr id="110" name="TextBox 109"/>
          <p:cNvSpPr txBox="1"/>
          <p:nvPr/>
        </p:nvSpPr>
        <p:spPr>
          <a:xfrm>
            <a:off x="944492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FFFFFF"/>
                </a:solidFill>
                <a:latin typeface="Calibri"/>
              </a:rPr>
              <a:t>Tensiones</a:t>
            </a:r>
          </a:p>
        </p:txBody>
      </p:sp>
      <p:sp>
        <p:nvSpPr>
          <p:cNvPr id="111" name="Rounded Rectangle 110"/>
          <p:cNvSpPr/>
          <p:nvPr/>
        </p:nvSpPr>
        <p:spPr>
          <a:xfrm>
            <a:off x="9416352" y="1438275"/>
            <a:ext cx="1040130" cy="440626"/>
          </a:xfrm>
          <a:prstGeom prst="roundRect">
            <a:avLst>
              <a:gd name="adj" fmla="val 165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444926" y="1518984"/>
            <a:ext cx="98298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5B6575"/>
                </a:solidFill>
                <a:latin typeface="Calibri"/>
              </a:rPr>
              <a:t>9</a:t>
            </a:r>
          </a:p>
        </p:txBody>
      </p:sp>
      <p:sp>
        <p:nvSpPr>
          <p:cNvPr id="113" name="TextBox 112"/>
          <p:cNvSpPr txBox="1"/>
          <p:nvPr/>
        </p:nvSpPr>
        <p:spPr>
          <a:xfrm>
            <a:off x="9444926" y="1695983"/>
            <a:ext cx="982980"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5B6575"/>
                </a:solidFill>
                <a:latin typeface="Calibri"/>
              </a:rPr>
              <a:t>Tensiones</a:t>
            </a:r>
          </a:p>
        </p:txBody>
      </p:sp>
      <p:sp>
        <p:nvSpPr>
          <p:cNvPr id="114" name="Rounded Rectangle 113"/>
          <p:cNvSpPr/>
          <p:nvPr/>
        </p:nvSpPr>
        <p:spPr>
          <a:xfrm>
            <a:off x="10513632" y="1438275"/>
            <a:ext cx="1040194" cy="440626"/>
          </a:xfrm>
          <a:prstGeom prst="roundRect">
            <a:avLst>
              <a:gd name="adj" fmla="val 16572"/>
            </a:avLst>
          </a:prstGeom>
          <a:solidFill>
            <a:srgbClr val="F6F8FC"/>
          </a:solidFill>
          <a:ln w="6350">
            <a:solidFill>
              <a:srgbClr val="DCE3E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542206" y="1518984"/>
            <a:ext cx="983044"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5B6575"/>
                </a:solidFill>
                <a:latin typeface="Calibri"/>
              </a:rPr>
              <a:t>◉</a:t>
            </a:r>
          </a:p>
        </p:txBody>
      </p:sp>
      <p:sp>
        <p:nvSpPr>
          <p:cNvPr id="116" name="TextBox 115"/>
          <p:cNvSpPr txBox="1"/>
          <p:nvPr/>
        </p:nvSpPr>
        <p:spPr>
          <a:xfrm>
            <a:off x="10542206" y="1695983"/>
            <a:ext cx="983044" cy="116840"/>
          </a:xfrm>
          <a:prstGeom prst="rect">
            <a:avLst/>
          </a:prstGeom>
          <a:noFill/>
        </p:spPr>
        <p:txBody>
          <a:bodyPr wrap="square" lIns="0" rIns="0" tIns="0" bIns="0" anchor="t"/>
          <a:lstStyle/>
          <a:p>
            <a:pPr algn="ctr">
              <a:lnSpc>
                <a:spcPts val="920"/>
              </a:lnSpc>
              <a:spcBef>
                <a:spcPts val="0"/>
              </a:spcBef>
              <a:spcAft>
                <a:spcPts val="0"/>
              </a:spcAft>
            </a:pPr>
            <a:r>
              <a:rPr sz="800" b="1" i="0">
                <a:solidFill>
                  <a:srgbClr val="5B6575"/>
                </a:solidFill>
                <a:latin typeface="Calibri"/>
              </a:rPr>
              <a:t>Datos</a:t>
            </a:r>
          </a:p>
        </p:txBody>
      </p:sp>
      <p:sp>
        <p:nvSpPr>
          <p:cNvPr id="117" name="Rounded Rectangle 116"/>
          <p:cNvSpPr/>
          <p:nvPr/>
        </p:nvSpPr>
        <p:spPr>
          <a:xfrm>
            <a:off x="638175" y="2047875"/>
            <a:ext cx="4438650" cy="3803650"/>
          </a:xfrm>
          <a:prstGeom prst="roundRect">
            <a:avLst>
              <a:gd name="adj" fmla="val 2921"/>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8" name="Picture 117" descr="382fae3e33d851ba.png"/>
          <p:cNvPicPr>
            <a:picLocks noChangeAspect="1"/>
          </p:cNvPicPr>
          <p:nvPr/>
        </p:nvPicPr>
        <p:blipFill>
          <a:blip r:embed="rId2"/>
          <a:stretch>
            <a:fillRect/>
          </a:stretch>
        </p:blipFill>
        <p:spPr>
          <a:xfrm>
            <a:off x="641350" y="2051050"/>
            <a:ext cx="4445000" cy="3810000"/>
          </a:xfrm>
          <a:prstGeom prst="rect">
            <a:avLst/>
          </a:prstGeom>
        </p:spPr>
      </p:pic>
      <p:pic>
        <p:nvPicPr>
          <p:cNvPr id="119" name="Picture 118" descr="e6ac569e728872f7.png"/>
          <p:cNvPicPr>
            <a:picLocks noChangeAspect="1"/>
          </p:cNvPicPr>
          <p:nvPr/>
        </p:nvPicPr>
        <p:blipFill>
          <a:blip r:embed="rId3"/>
          <a:stretch>
            <a:fillRect/>
          </a:stretch>
        </p:blipFill>
        <p:spPr>
          <a:xfrm>
            <a:off x="641350" y="2051050"/>
            <a:ext cx="4445000" cy="3810000"/>
          </a:xfrm>
          <a:prstGeom prst="rect">
            <a:avLst/>
          </a:prstGeom>
        </p:spPr>
      </p:pic>
      <p:pic>
        <p:nvPicPr>
          <p:cNvPr id="120" name="Picture 119" descr="297a62044b4af0b1.png"/>
          <p:cNvPicPr>
            <a:picLocks noChangeAspect="1"/>
          </p:cNvPicPr>
          <p:nvPr/>
        </p:nvPicPr>
        <p:blipFill>
          <a:blip r:embed="rId4"/>
          <a:stretch>
            <a:fillRect/>
          </a:stretch>
        </p:blipFill>
        <p:spPr>
          <a:xfrm>
            <a:off x="641350" y="2051050"/>
            <a:ext cx="4445000" cy="3810000"/>
          </a:xfrm>
          <a:prstGeom prst="rect">
            <a:avLst/>
          </a:prstGeom>
        </p:spPr>
      </p:pic>
      <p:pic>
        <p:nvPicPr>
          <p:cNvPr id="121" name="Picture 120" descr="616969abf44e6348.png"/>
          <p:cNvPicPr>
            <a:picLocks noChangeAspect="1"/>
          </p:cNvPicPr>
          <p:nvPr/>
        </p:nvPicPr>
        <p:blipFill>
          <a:blip r:embed="rId5"/>
          <a:stretch>
            <a:fillRect/>
          </a:stretch>
        </p:blipFill>
        <p:spPr>
          <a:xfrm>
            <a:off x="641350" y="2051050"/>
            <a:ext cx="4445000" cy="3810000"/>
          </a:xfrm>
          <a:prstGeom prst="rect">
            <a:avLst/>
          </a:prstGeom>
        </p:spPr>
      </p:pic>
      <p:pic>
        <p:nvPicPr>
          <p:cNvPr id="122" name="Picture 121" descr="01fb1accc69f1e8f.png"/>
          <p:cNvPicPr>
            <a:picLocks noChangeAspect="1"/>
          </p:cNvPicPr>
          <p:nvPr/>
        </p:nvPicPr>
        <p:blipFill>
          <a:blip r:embed="rId6"/>
          <a:stretch>
            <a:fillRect/>
          </a:stretch>
        </p:blipFill>
        <p:spPr>
          <a:xfrm>
            <a:off x="641350" y="2051050"/>
            <a:ext cx="4445000" cy="3810000"/>
          </a:xfrm>
          <a:prstGeom prst="rect">
            <a:avLst/>
          </a:prstGeom>
        </p:spPr>
      </p:pic>
      <p:pic>
        <p:nvPicPr>
          <p:cNvPr id="123" name="Picture 122" descr="b62aeba3710d5d71.png"/>
          <p:cNvPicPr>
            <a:picLocks noChangeAspect="1"/>
          </p:cNvPicPr>
          <p:nvPr/>
        </p:nvPicPr>
        <p:blipFill>
          <a:blip r:embed="rId7"/>
          <a:stretch>
            <a:fillRect/>
          </a:stretch>
        </p:blipFill>
        <p:spPr>
          <a:xfrm>
            <a:off x="641350" y="2051050"/>
            <a:ext cx="4445000" cy="3810000"/>
          </a:xfrm>
          <a:prstGeom prst="rect">
            <a:avLst/>
          </a:prstGeom>
        </p:spPr>
      </p:pic>
      <p:pic>
        <p:nvPicPr>
          <p:cNvPr id="124" name="Picture 123" descr="297a62044b4af0b1.png"/>
          <p:cNvPicPr>
            <a:picLocks noChangeAspect="1"/>
          </p:cNvPicPr>
          <p:nvPr/>
        </p:nvPicPr>
        <p:blipFill>
          <a:blip r:embed="rId4"/>
          <a:stretch>
            <a:fillRect/>
          </a:stretch>
        </p:blipFill>
        <p:spPr>
          <a:xfrm>
            <a:off x="641350" y="2051050"/>
            <a:ext cx="4445000" cy="3810000"/>
          </a:xfrm>
          <a:prstGeom prst="rect">
            <a:avLst/>
          </a:prstGeom>
        </p:spPr>
      </p:pic>
      <p:pic>
        <p:nvPicPr>
          <p:cNvPr id="125" name="Picture 124" descr="fb7ffb826dc5bcaf.png"/>
          <p:cNvPicPr>
            <a:picLocks noChangeAspect="1"/>
          </p:cNvPicPr>
          <p:nvPr/>
        </p:nvPicPr>
        <p:blipFill>
          <a:blip r:embed="rId8"/>
          <a:stretch>
            <a:fillRect/>
          </a:stretch>
        </p:blipFill>
        <p:spPr>
          <a:xfrm>
            <a:off x="641350" y="2051050"/>
            <a:ext cx="4445000" cy="3810000"/>
          </a:xfrm>
          <a:prstGeom prst="rect">
            <a:avLst/>
          </a:prstGeom>
        </p:spPr>
      </p:pic>
      <p:sp>
        <p:nvSpPr>
          <p:cNvPr id="126" name="Rounded Rectangle 125"/>
          <p:cNvSpPr/>
          <p:nvPr/>
        </p:nvSpPr>
        <p:spPr>
          <a:xfrm>
            <a:off x="5337175" y="2047875"/>
            <a:ext cx="6216650" cy="3803650"/>
          </a:xfrm>
          <a:prstGeom prst="roundRect">
            <a:avLst>
              <a:gd name="adj" fmla="val 292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505450" y="2196172"/>
            <a:ext cx="5997702" cy="162750"/>
          </a:xfrm>
          <a:prstGeom prst="rect">
            <a:avLst/>
          </a:prstGeom>
          <a:noFill/>
        </p:spPr>
        <p:txBody>
          <a:bodyPr wrap="square" lIns="0" rIns="0" tIns="0" bIns="0" anchor="t"/>
          <a:lstStyle/>
          <a:p>
            <a:pPr algn="l">
              <a:lnSpc>
                <a:spcPts val="1282"/>
              </a:lnSpc>
              <a:spcBef>
                <a:spcPts val="0"/>
              </a:spcBef>
              <a:spcAft>
                <a:spcPts val="0"/>
              </a:spcAft>
            </a:pPr>
            <a:r>
              <a:rPr sz="1050" b="0" i="0">
                <a:solidFill>
                  <a:srgbClr val="E8741A"/>
                </a:solidFill>
                <a:latin typeface="Calibri"/>
              </a:rPr>
              <a:t>Los datos del modelo</a:t>
            </a:r>
          </a:p>
        </p:txBody>
      </p:sp>
      <p:pic>
        <p:nvPicPr>
          <p:cNvPr id="128" name="Picture 127" descr="ed38b050da3110b5.png"/>
          <p:cNvPicPr>
            <a:picLocks noChangeAspect="1"/>
          </p:cNvPicPr>
          <p:nvPr/>
        </p:nvPicPr>
        <p:blipFill>
          <a:blip r:embed="rId9"/>
          <a:stretch>
            <a:fillRect/>
          </a:stretch>
        </p:blipFill>
        <p:spPr>
          <a:xfrm>
            <a:off x="5505450" y="2444750"/>
            <a:ext cx="5880100" cy="222250"/>
          </a:xfrm>
          <a:prstGeom prst="rect">
            <a:avLst/>
          </a:prstGeom>
        </p:spPr>
      </p:pic>
      <p:pic>
        <p:nvPicPr>
          <p:cNvPr id="129" name="Picture 128" descr="37d248bc82f7a6f9.png"/>
          <p:cNvPicPr>
            <a:picLocks noChangeAspect="1"/>
          </p:cNvPicPr>
          <p:nvPr/>
        </p:nvPicPr>
        <p:blipFill>
          <a:blip r:embed="rId10"/>
          <a:stretch>
            <a:fillRect/>
          </a:stretch>
        </p:blipFill>
        <p:spPr>
          <a:xfrm>
            <a:off x="5505450" y="2381250"/>
            <a:ext cx="5880100" cy="844550"/>
          </a:xfrm>
          <a:prstGeom prst="rect">
            <a:avLst/>
          </a:prstGeom>
        </p:spPr>
      </p:pic>
      <p:sp>
        <p:nvSpPr>
          <p:cNvPr id="130" name="TextBox 129"/>
          <p:cNvSpPr txBox="1"/>
          <p:nvPr/>
        </p:nvSpPr>
        <p:spPr>
          <a:xfrm>
            <a:off x="5505450" y="3326168"/>
            <a:ext cx="5997702" cy="445770"/>
          </a:xfrm>
          <a:prstGeom prst="rect">
            <a:avLst/>
          </a:prstGeom>
          <a:noFill/>
        </p:spPr>
        <p:txBody>
          <a:bodyPr wrap="square" lIns="0" rIns="0" tIns="0" bIns="0" anchor="t"/>
          <a:lstStyle/>
          <a:p>
            <a:pPr algn="l">
              <a:lnSpc>
                <a:spcPts val="1755"/>
              </a:lnSpc>
              <a:spcBef>
                <a:spcPts val="0"/>
              </a:spcBef>
              <a:spcAft>
                <a:spcPts val="0"/>
              </a:spcAft>
            </a:pPr>
            <a:r>
              <a:rPr sz="1300" b="0" i="0">
                <a:solidFill>
                  <a:srgbClr val="3F4A5A"/>
                </a:solidFill>
                <a:latin typeface="Calibri"/>
              </a:rPr>
              <a:t>Desde el resultado hasta los datos, sin una sola caja negra: esa es la trazabilidad que</a:t>
            </a:r>
            <a:br/>
            <a:r>
              <a:rPr sz="1300" b="0" i="0">
                <a:solidFill>
                  <a:srgbClr val="3F4A5A"/>
                </a:solidFill>
                <a:latin typeface="Calibri"/>
              </a:rPr>
              <a:t>mide la hipótesis. La memoria de cálculo la deja por escrito (Anexo G).</a:t>
            </a:r>
          </a:p>
        </p:txBody>
      </p:sp>
      <p:sp>
        <p:nvSpPr>
          <p:cNvPr id="131" name="TextBox 130"/>
          <p:cNvSpPr txBox="1"/>
          <p:nvPr/>
        </p:nvSpPr>
        <p:spPr>
          <a:xfrm>
            <a:off x="5505450" y="2196172"/>
            <a:ext cx="5997702" cy="162750"/>
          </a:xfrm>
          <a:prstGeom prst="rect">
            <a:avLst/>
          </a:prstGeom>
          <a:noFill/>
        </p:spPr>
        <p:txBody>
          <a:bodyPr wrap="square" lIns="0" rIns="0" tIns="0" bIns="0" anchor="t"/>
          <a:lstStyle/>
          <a:p>
            <a:pPr algn="l">
              <a:lnSpc>
                <a:spcPts val="1282"/>
              </a:lnSpc>
              <a:spcBef>
                <a:spcPts val="0"/>
              </a:spcBef>
              <a:spcAft>
                <a:spcPts val="0"/>
              </a:spcAft>
            </a:pPr>
            <a:r>
              <a:rPr sz="1050" b="0" i="0">
                <a:solidFill>
                  <a:srgbClr val="E8741A"/>
                </a:solidFill>
                <a:latin typeface="Calibri"/>
              </a:rPr>
              <a:t>Etapas 1 y 2 · mapeo isoparamétrico y Jacobiano</a:t>
            </a:r>
          </a:p>
        </p:txBody>
      </p:sp>
      <p:pic>
        <p:nvPicPr>
          <p:cNvPr id="132" name="Picture 131" descr="c5d62f5c97b02b1c.png"/>
          <p:cNvPicPr>
            <a:picLocks noChangeAspect="1"/>
          </p:cNvPicPr>
          <p:nvPr/>
        </p:nvPicPr>
        <p:blipFill>
          <a:blip r:embed="rId11"/>
          <a:stretch>
            <a:fillRect/>
          </a:stretch>
        </p:blipFill>
        <p:spPr>
          <a:xfrm>
            <a:off x="5505450" y="2057400"/>
            <a:ext cx="5880100" cy="825500"/>
          </a:xfrm>
          <a:prstGeom prst="rect">
            <a:avLst/>
          </a:prstGeom>
        </p:spPr>
      </p:pic>
      <p:pic>
        <p:nvPicPr>
          <p:cNvPr id="133" name="Picture 132" descr="1306fc8c9513046f.png"/>
          <p:cNvPicPr>
            <a:picLocks noChangeAspect="1"/>
          </p:cNvPicPr>
          <p:nvPr/>
        </p:nvPicPr>
        <p:blipFill>
          <a:blip r:embed="rId12"/>
          <a:stretch>
            <a:fillRect/>
          </a:stretch>
        </p:blipFill>
        <p:spPr>
          <a:xfrm>
            <a:off x="5505450" y="2571750"/>
            <a:ext cx="5880100" cy="1200150"/>
          </a:xfrm>
          <a:prstGeom prst="rect">
            <a:avLst/>
          </a:prstGeom>
        </p:spPr>
      </p:pic>
      <p:sp>
        <p:nvSpPr>
          <p:cNvPr id="134" name="TextBox 133"/>
          <p:cNvSpPr txBox="1"/>
          <p:nvPr/>
        </p:nvSpPr>
        <p:spPr>
          <a:xfrm>
            <a:off x="5505450" y="3878999"/>
            <a:ext cx="5997702" cy="445770"/>
          </a:xfrm>
          <a:prstGeom prst="rect">
            <a:avLst/>
          </a:prstGeom>
          <a:noFill/>
        </p:spPr>
        <p:txBody>
          <a:bodyPr wrap="square" lIns="0" rIns="0" tIns="0" bIns="0" anchor="t"/>
          <a:lstStyle/>
          <a:p>
            <a:pPr algn="l">
              <a:lnSpc>
                <a:spcPts val="1755"/>
              </a:lnSpc>
              <a:spcBef>
                <a:spcPts val="0"/>
              </a:spcBef>
              <a:spcAft>
                <a:spcPts val="0"/>
              </a:spcAft>
            </a:pPr>
            <a:r>
              <a:rPr sz="1300" b="0" i="0">
                <a:solidFill>
                  <a:srgbClr val="3F4A5A"/>
                </a:solidFill>
                <a:latin typeface="Calibri"/>
              </a:rPr>
              <a:t>Todo empieza en las coordenadas de los nodos del elemento y en las funciones de</a:t>
            </a:r>
            <a:br/>
            <a:r>
              <a:rPr sz="1300" b="0" i="0">
                <a:solidFill>
                  <a:srgbClr val="3F4A5A"/>
                </a:solidFill>
                <a:latin typeface="Calibri"/>
              </a:rPr>
              <a:t>forma evaluadas en el punto de Gauss.</a:t>
            </a:r>
          </a:p>
        </p:txBody>
      </p:sp>
      <p:sp>
        <p:nvSpPr>
          <p:cNvPr id="135" name="TextBox 134"/>
          <p:cNvSpPr txBox="1"/>
          <p:nvPr/>
        </p:nvSpPr>
        <p:spPr>
          <a:xfrm>
            <a:off x="5505450" y="2196172"/>
            <a:ext cx="5997702" cy="162750"/>
          </a:xfrm>
          <a:prstGeom prst="rect">
            <a:avLst/>
          </a:prstGeom>
          <a:noFill/>
        </p:spPr>
        <p:txBody>
          <a:bodyPr wrap="square" lIns="0" rIns="0" tIns="0" bIns="0" anchor="t"/>
          <a:lstStyle/>
          <a:p>
            <a:pPr algn="l">
              <a:lnSpc>
                <a:spcPts val="1282"/>
              </a:lnSpc>
              <a:spcBef>
                <a:spcPts val="0"/>
              </a:spcBef>
              <a:spcAft>
                <a:spcPts val="0"/>
              </a:spcAft>
            </a:pPr>
            <a:r>
              <a:rPr sz="1050" b="0" i="0">
                <a:solidFill>
                  <a:srgbClr val="E8741A"/>
                </a:solidFill>
                <a:latin typeface="Calibri"/>
              </a:rPr>
              <a:t>Etapa 3 · matriz B en el punto de Gauss 2</a:t>
            </a:r>
          </a:p>
        </p:txBody>
      </p:sp>
      <p:pic>
        <p:nvPicPr>
          <p:cNvPr id="136" name="Picture 135" descr="56304a0d25079a6e.png"/>
          <p:cNvPicPr>
            <a:picLocks noChangeAspect="1"/>
          </p:cNvPicPr>
          <p:nvPr/>
        </p:nvPicPr>
        <p:blipFill>
          <a:blip r:embed="rId13"/>
          <a:stretch>
            <a:fillRect/>
          </a:stretch>
        </p:blipFill>
        <p:spPr>
          <a:xfrm>
            <a:off x="5505450" y="2070100"/>
            <a:ext cx="6076950" cy="996950"/>
          </a:xfrm>
          <a:prstGeom prst="rect">
            <a:avLst/>
          </a:prstGeom>
        </p:spPr>
      </p:pic>
      <p:sp>
        <p:nvSpPr>
          <p:cNvPr id="137" name="TextBox 136"/>
          <p:cNvSpPr txBox="1"/>
          <p:nvPr/>
        </p:nvSpPr>
        <p:spPr>
          <a:xfrm>
            <a:off x="5505450" y="3172879"/>
            <a:ext cx="5997702" cy="445770"/>
          </a:xfrm>
          <a:prstGeom prst="rect">
            <a:avLst/>
          </a:prstGeom>
          <a:noFill/>
        </p:spPr>
        <p:txBody>
          <a:bodyPr wrap="square" lIns="0" rIns="0" tIns="0" bIns="0" anchor="t"/>
          <a:lstStyle/>
          <a:p>
            <a:pPr algn="l">
              <a:lnSpc>
                <a:spcPts val="1755"/>
              </a:lnSpc>
              <a:spcBef>
                <a:spcPts val="0"/>
              </a:spcBef>
              <a:spcAft>
                <a:spcPts val="0"/>
              </a:spcAft>
            </a:pPr>
            <a:r>
              <a:rPr sz="1300" b="0" i="0">
                <a:solidFill>
                  <a:srgbClr val="3F4A5A"/>
                </a:solidFill>
                <a:latin typeface="Calibri"/>
              </a:rPr>
              <a:t>B reúne las derivadas físicas de las funciones de forma, obtenidas con la inversa del</a:t>
            </a:r>
            <a:br/>
            <a:r>
              <a:rPr sz="1300" b="0" i="0">
                <a:solidFill>
                  <a:srgbClr val="3F4A5A"/>
                </a:solidFill>
                <a:latin typeface="Calibri"/>
              </a:rPr>
              <a:t>Jacobiano.</a:t>
            </a:r>
          </a:p>
        </p:txBody>
      </p:sp>
      <p:sp>
        <p:nvSpPr>
          <p:cNvPr id="138" name="TextBox 137"/>
          <p:cNvSpPr txBox="1"/>
          <p:nvPr/>
        </p:nvSpPr>
        <p:spPr>
          <a:xfrm>
            <a:off x="5505450" y="2196172"/>
            <a:ext cx="5997702" cy="162750"/>
          </a:xfrm>
          <a:prstGeom prst="rect">
            <a:avLst/>
          </a:prstGeom>
          <a:noFill/>
        </p:spPr>
        <p:txBody>
          <a:bodyPr wrap="square" lIns="0" rIns="0" tIns="0" bIns="0" anchor="t"/>
          <a:lstStyle/>
          <a:p>
            <a:pPr algn="l">
              <a:lnSpc>
                <a:spcPts val="1282"/>
              </a:lnSpc>
              <a:spcBef>
                <a:spcPts val="0"/>
              </a:spcBef>
              <a:spcAft>
                <a:spcPts val="0"/>
              </a:spcAft>
            </a:pPr>
            <a:r>
              <a:rPr sz="1050" b="0" i="0">
                <a:solidFill>
                  <a:srgbClr val="E8741A"/>
                </a:solidFill>
                <a:latin typeface="Calibri"/>
              </a:rPr>
              <a:t>Etapa 5 · rigidez por cuadratura de Gauss</a:t>
            </a:r>
          </a:p>
        </p:txBody>
      </p:sp>
      <p:pic>
        <p:nvPicPr>
          <p:cNvPr id="139" name="Picture 138" descr="95f2ae021465650a.png"/>
          <p:cNvPicPr>
            <a:picLocks noChangeAspect="1"/>
          </p:cNvPicPr>
          <p:nvPr/>
        </p:nvPicPr>
        <p:blipFill>
          <a:blip r:embed="rId14"/>
          <a:stretch>
            <a:fillRect/>
          </a:stretch>
        </p:blipFill>
        <p:spPr>
          <a:xfrm>
            <a:off x="5505450" y="2012950"/>
            <a:ext cx="5880100" cy="984250"/>
          </a:xfrm>
          <a:prstGeom prst="rect">
            <a:avLst/>
          </a:prstGeom>
        </p:spPr>
      </p:pic>
      <p:pic>
        <p:nvPicPr>
          <p:cNvPr id="140" name="Picture 139" descr="8902a296d419dd77.png"/>
          <p:cNvPicPr>
            <a:picLocks noChangeAspect="1"/>
          </p:cNvPicPr>
          <p:nvPr/>
        </p:nvPicPr>
        <p:blipFill>
          <a:blip r:embed="rId15"/>
          <a:stretch>
            <a:fillRect/>
          </a:stretch>
        </p:blipFill>
        <p:spPr>
          <a:xfrm>
            <a:off x="5505450" y="2800350"/>
            <a:ext cx="5880100" cy="514350"/>
          </a:xfrm>
          <a:prstGeom prst="rect">
            <a:avLst/>
          </a:prstGeom>
        </p:spPr>
      </p:pic>
      <p:pic>
        <p:nvPicPr>
          <p:cNvPr id="141" name="Picture 140" descr="533074ccce684426.png"/>
          <p:cNvPicPr>
            <a:picLocks noChangeAspect="1"/>
          </p:cNvPicPr>
          <p:nvPr/>
        </p:nvPicPr>
        <p:blipFill>
          <a:blip r:embed="rId16"/>
          <a:stretch>
            <a:fillRect/>
          </a:stretch>
        </p:blipFill>
        <p:spPr>
          <a:xfrm>
            <a:off x="5505450" y="3098800"/>
            <a:ext cx="5880100" cy="508000"/>
          </a:xfrm>
          <a:prstGeom prst="rect">
            <a:avLst/>
          </a:prstGeom>
        </p:spPr>
      </p:pic>
      <p:sp>
        <p:nvSpPr>
          <p:cNvPr id="142" name="TextBox 141"/>
          <p:cNvSpPr txBox="1"/>
          <p:nvPr/>
        </p:nvSpPr>
        <p:spPr>
          <a:xfrm>
            <a:off x="5505450" y="3713328"/>
            <a:ext cx="5997702" cy="445770"/>
          </a:xfrm>
          <a:prstGeom prst="rect">
            <a:avLst/>
          </a:prstGeom>
          <a:noFill/>
        </p:spPr>
        <p:txBody>
          <a:bodyPr wrap="square" lIns="0" rIns="0" tIns="0" bIns="0" anchor="t"/>
          <a:lstStyle/>
          <a:p>
            <a:pPr algn="l">
              <a:lnSpc>
                <a:spcPts val="1755"/>
              </a:lnSpc>
              <a:spcBef>
                <a:spcPts val="0"/>
              </a:spcBef>
              <a:spcAft>
                <a:spcPts val="0"/>
              </a:spcAft>
            </a:pPr>
            <a:r>
              <a:rPr sz="1300" b="0" i="0">
                <a:solidFill>
                  <a:srgbClr val="3F4A5A"/>
                </a:solidFill>
                <a:latin typeface="Calibri"/>
              </a:rPr>
              <a:t>La rigidez del elemento es la suma de cuatro aportes, uno por punto de Gauss, cada</a:t>
            </a:r>
            <a:br/>
            <a:r>
              <a:rPr sz="1300" b="0" i="0">
                <a:solidFill>
                  <a:srgbClr val="3F4A5A"/>
                </a:solidFill>
                <a:latin typeface="Calibri"/>
              </a:rPr>
              <a:t>uno ponderado por el determinante del Jacobiano.</a:t>
            </a:r>
          </a:p>
        </p:txBody>
      </p:sp>
      <p:sp>
        <p:nvSpPr>
          <p:cNvPr id="143" name="TextBox 142"/>
          <p:cNvSpPr txBox="1"/>
          <p:nvPr/>
        </p:nvSpPr>
        <p:spPr>
          <a:xfrm>
            <a:off x="5505450" y="2196172"/>
            <a:ext cx="5997702" cy="162750"/>
          </a:xfrm>
          <a:prstGeom prst="rect">
            <a:avLst/>
          </a:prstGeom>
          <a:noFill/>
        </p:spPr>
        <p:txBody>
          <a:bodyPr wrap="square" lIns="0" rIns="0" tIns="0" bIns="0" anchor="t"/>
          <a:lstStyle/>
          <a:p>
            <a:pPr algn="l">
              <a:lnSpc>
                <a:spcPts val="1282"/>
              </a:lnSpc>
              <a:spcBef>
                <a:spcPts val="0"/>
              </a:spcBef>
              <a:spcAft>
                <a:spcPts val="0"/>
              </a:spcAft>
            </a:pPr>
            <a:r>
              <a:rPr sz="1050" b="0" i="0">
                <a:solidFill>
                  <a:srgbClr val="E8741A"/>
                </a:solidFill>
                <a:latin typeface="Calibri"/>
              </a:rPr>
              <a:t>Etapa 7 · ensamblaje</a:t>
            </a:r>
          </a:p>
        </p:txBody>
      </p:sp>
      <p:pic>
        <p:nvPicPr>
          <p:cNvPr id="144" name="Picture 143" descr="6d903a74c3f0675b.png"/>
          <p:cNvPicPr>
            <a:picLocks noChangeAspect="1"/>
          </p:cNvPicPr>
          <p:nvPr/>
        </p:nvPicPr>
        <p:blipFill>
          <a:blip r:embed="rId17"/>
          <a:stretch>
            <a:fillRect/>
          </a:stretch>
        </p:blipFill>
        <p:spPr>
          <a:xfrm>
            <a:off x="5505450" y="2063750"/>
            <a:ext cx="5880100" cy="628650"/>
          </a:xfrm>
          <a:prstGeom prst="rect">
            <a:avLst/>
          </a:prstGeom>
        </p:spPr>
      </p:pic>
      <p:sp>
        <p:nvSpPr>
          <p:cNvPr id="145" name="TextBox 144"/>
          <p:cNvSpPr txBox="1"/>
          <p:nvPr/>
        </p:nvSpPr>
        <p:spPr>
          <a:xfrm>
            <a:off x="5505450" y="2780449"/>
            <a:ext cx="5997702" cy="445770"/>
          </a:xfrm>
          <a:prstGeom prst="rect">
            <a:avLst/>
          </a:prstGeom>
          <a:noFill/>
        </p:spPr>
        <p:txBody>
          <a:bodyPr wrap="square" lIns="0" rIns="0" tIns="0" bIns="0" anchor="t"/>
          <a:lstStyle/>
          <a:p>
            <a:pPr algn="l">
              <a:lnSpc>
                <a:spcPts val="1755"/>
              </a:lnSpc>
              <a:spcBef>
                <a:spcPts val="0"/>
              </a:spcBef>
              <a:spcAft>
                <a:spcPts val="0"/>
              </a:spcAft>
            </a:pPr>
            <a:r>
              <a:rPr sz="1300" b="0" i="0">
                <a:solidFill>
                  <a:srgbClr val="3F4A5A"/>
                </a:solidFill>
                <a:latin typeface="Calibri"/>
              </a:rPr>
              <a:t>Cada matriz elemental se suma en las filas y columnas de sus GDL; el nodo 5,</a:t>
            </a:r>
            <a:br/>
            <a:r>
              <a:rPr sz="1300" b="0" i="0">
                <a:solidFill>
                  <a:srgbClr val="3F4A5A"/>
                </a:solidFill>
                <a:latin typeface="Calibri"/>
              </a:rPr>
              <a:t>compartido por los cuatro elementos, acumula cuatro aportes.</a:t>
            </a:r>
          </a:p>
        </p:txBody>
      </p:sp>
      <p:sp>
        <p:nvSpPr>
          <p:cNvPr id="146" name="TextBox 145"/>
          <p:cNvSpPr txBox="1"/>
          <p:nvPr/>
        </p:nvSpPr>
        <p:spPr>
          <a:xfrm>
            <a:off x="5505450" y="2196172"/>
            <a:ext cx="5997702" cy="162750"/>
          </a:xfrm>
          <a:prstGeom prst="rect">
            <a:avLst/>
          </a:prstGeom>
          <a:noFill/>
        </p:spPr>
        <p:txBody>
          <a:bodyPr wrap="square" lIns="0" rIns="0" tIns="0" bIns="0" anchor="t"/>
          <a:lstStyle/>
          <a:p>
            <a:pPr algn="l">
              <a:lnSpc>
                <a:spcPts val="1282"/>
              </a:lnSpc>
              <a:spcBef>
                <a:spcPts val="0"/>
              </a:spcBef>
              <a:spcAft>
                <a:spcPts val="0"/>
              </a:spcAft>
            </a:pPr>
            <a:r>
              <a:rPr sz="1050" b="0" i="0">
                <a:solidFill>
                  <a:srgbClr val="E8741A"/>
                </a:solidFill>
                <a:latin typeface="Calibri"/>
              </a:rPr>
              <a:t>Etapa 6 · el vector de cargas</a:t>
            </a:r>
          </a:p>
        </p:txBody>
      </p:sp>
      <p:pic>
        <p:nvPicPr>
          <p:cNvPr id="147" name="Picture 146" descr="3fcd79e14e40a87d.png"/>
          <p:cNvPicPr>
            <a:picLocks noChangeAspect="1"/>
          </p:cNvPicPr>
          <p:nvPr/>
        </p:nvPicPr>
        <p:blipFill>
          <a:blip r:embed="rId18"/>
          <a:stretch>
            <a:fillRect/>
          </a:stretch>
        </p:blipFill>
        <p:spPr>
          <a:xfrm>
            <a:off x="5505450" y="2082800"/>
            <a:ext cx="5880100" cy="584200"/>
          </a:xfrm>
          <a:prstGeom prst="rect">
            <a:avLst/>
          </a:prstGeom>
        </p:spPr>
      </p:pic>
      <p:sp>
        <p:nvSpPr>
          <p:cNvPr id="148" name="TextBox 147"/>
          <p:cNvSpPr txBox="1"/>
          <p:nvPr/>
        </p:nvSpPr>
        <p:spPr>
          <a:xfrm>
            <a:off x="5505450" y="2774099"/>
            <a:ext cx="5997702" cy="445770"/>
          </a:xfrm>
          <a:prstGeom prst="rect">
            <a:avLst/>
          </a:prstGeom>
          <a:noFill/>
        </p:spPr>
        <p:txBody>
          <a:bodyPr wrap="square" lIns="0" rIns="0" tIns="0" bIns="0" anchor="t"/>
          <a:lstStyle/>
          <a:p>
            <a:pPr algn="l">
              <a:lnSpc>
                <a:spcPts val="1755"/>
              </a:lnSpc>
              <a:spcBef>
                <a:spcPts val="0"/>
              </a:spcBef>
              <a:spcAft>
                <a:spcPts val="0"/>
              </a:spcAft>
            </a:pPr>
            <a:r>
              <a:rPr sz="1300" b="0" i="0">
                <a:solidFill>
                  <a:srgbClr val="3F4A5A"/>
                </a:solidFill>
                <a:latin typeface="Calibri"/>
              </a:rPr>
              <a:t>En este ejemplo la única carga es nodal: entra directo en F. Una carga distribuida</a:t>
            </a:r>
            <a:br/>
            <a:r>
              <a:rPr sz="1300" b="0" i="0">
                <a:solidFill>
                  <a:srgbClr val="3F4A5A"/>
                </a:solidFill>
                <a:latin typeface="Calibri"/>
              </a:rPr>
              <a:t>pasaría antes por las fuerzas nodales equivalentes (módulo M6).</a:t>
            </a:r>
          </a:p>
        </p:txBody>
      </p:sp>
      <p:sp>
        <p:nvSpPr>
          <p:cNvPr id="149" name="TextBox 148"/>
          <p:cNvSpPr txBox="1"/>
          <p:nvPr/>
        </p:nvSpPr>
        <p:spPr>
          <a:xfrm>
            <a:off x="5505450" y="2196172"/>
            <a:ext cx="5997702" cy="162750"/>
          </a:xfrm>
          <a:prstGeom prst="rect">
            <a:avLst/>
          </a:prstGeom>
          <a:noFill/>
        </p:spPr>
        <p:txBody>
          <a:bodyPr wrap="square" lIns="0" rIns="0" tIns="0" bIns="0" anchor="t"/>
          <a:lstStyle/>
          <a:p>
            <a:pPr algn="l">
              <a:lnSpc>
                <a:spcPts val="1282"/>
              </a:lnSpc>
              <a:spcBef>
                <a:spcPts val="0"/>
              </a:spcBef>
              <a:spcAft>
                <a:spcPts val="0"/>
              </a:spcAft>
            </a:pPr>
            <a:r>
              <a:rPr sz="1050" b="0" i="0">
                <a:solidFill>
                  <a:srgbClr val="E8741A"/>
                </a:solidFill>
                <a:latin typeface="Calibri"/>
              </a:rPr>
              <a:t>Etapa 8 · restricciones y solución</a:t>
            </a:r>
          </a:p>
        </p:txBody>
      </p:sp>
      <p:pic>
        <p:nvPicPr>
          <p:cNvPr id="150" name="Picture 149" descr="47c2695d6f7c4dd9.png"/>
          <p:cNvPicPr>
            <a:picLocks noChangeAspect="1"/>
          </p:cNvPicPr>
          <p:nvPr/>
        </p:nvPicPr>
        <p:blipFill>
          <a:blip r:embed="rId19"/>
          <a:stretch>
            <a:fillRect/>
          </a:stretch>
        </p:blipFill>
        <p:spPr>
          <a:xfrm>
            <a:off x="5505450" y="2063750"/>
            <a:ext cx="6686550" cy="654050"/>
          </a:xfrm>
          <a:prstGeom prst="rect">
            <a:avLst/>
          </a:prstGeom>
        </p:spPr>
      </p:pic>
      <p:pic>
        <p:nvPicPr>
          <p:cNvPr id="151" name="Picture 150" descr="3e6e4b329ab750cb.png"/>
          <p:cNvPicPr>
            <a:picLocks noChangeAspect="1"/>
          </p:cNvPicPr>
          <p:nvPr/>
        </p:nvPicPr>
        <p:blipFill>
          <a:blip r:embed="rId20"/>
          <a:stretch>
            <a:fillRect/>
          </a:stretch>
        </p:blipFill>
        <p:spPr>
          <a:xfrm>
            <a:off x="5505450" y="2419350"/>
            <a:ext cx="5880100" cy="590550"/>
          </a:xfrm>
          <a:prstGeom prst="rect">
            <a:avLst/>
          </a:prstGeom>
        </p:spPr>
      </p:pic>
      <p:sp>
        <p:nvSpPr>
          <p:cNvPr id="152" name="TextBox 151"/>
          <p:cNvSpPr txBox="1"/>
          <p:nvPr/>
        </p:nvSpPr>
        <p:spPr>
          <a:xfrm>
            <a:off x="5505450" y="3102013"/>
            <a:ext cx="5997702" cy="445770"/>
          </a:xfrm>
          <a:prstGeom prst="rect">
            <a:avLst/>
          </a:prstGeom>
          <a:noFill/>
        </p:spPr>
        <p:txBody>
          <a:bodyPr wrap="square" lIns="0" rIns="0" tIns="0" bIns="0" anchor="t"/>
          <a:lstStyle/>
          <a:p>
            <a:pPr algn="l">
              <a:lnSpc>
                <a:spcPts val="1755"/>
              </a:lnSpc>
              <a:spcBef>
                <a:spcPts val="0"/>
              </a:spcBef>
              <a:spcAft>
                <a:spcPts val="0"/>
              </a:spcAft>
            </a:pPr>
            <a:r>
              <a:rPr sz="1300" b="0" i="0">
                <a:solidFill>
                  <a:srgbClr val="3F4A5A"/>
                </a:solidFill>
                <a:latin typeface="Calibri"/>
              </a:rPr>
              <a:t>Los ocho desplazamientos del elemento son una parte del vector u, que resuelve el</a:t>
            </a:r>
            <a:br/>
            <a:r>
              <a:rPr sz="1300" b="0" i="0">
                <a:solidFill>
                  <a:srgbClr val="3F4A5A"/>
                </a:solidFill>
                <a:latin typeface="Calibri"/>
              </a:rPr>
              <a:t>sistema reducido una vez impuestos los apoyos en los nodos 1, 3, 6.</a:t>
            </a:r>
          </a:p>
        </p:txBody>
      </p:sp>
      <p:sp>
        <p:nvSpPr>
          <p:cNvPr id="153" name="TextBox 152"/>
          <p:cNvSpPr txBox="1"/>
          <p:nvPr/>
        </p:nvSpPr>
        <p:spPr>
          <a:xfrm>
            <a:off x="5505450" y="2196172"/>
            <a:ext cx="5997702" cy="162750"/>
          </a:xfrm>
          <a:prstGeom prst="rect">
            <a:avLst/>
          </a:prstGeom>
          <a:noFill/>
        </p:spPr>
        <p:txBody>
          <a:bodyPr wrap="square" lIns="0" rIns="0" tIns="0" bIns="0" anchor="t"/>
          <a:lstStyle/>
          <a:p>
            <a:pPr algn="l">
              <a:lnSpc>
                <a:spcPts val="1282"/>
              </a:lnSpc>
              <a:spcBef>
                <a:spcPts val="0"/>
              </a:spcBef>
              <a:spcAft>
                <a:spcPts val="0"/>
              </a:spcAft>
            </a:pPr>
            <a:r>
              <a:rPr sz="1050" b="0" i="0">
                <a:solidFill>
                  <a:srgbClr val="E8741A"/>
                </a:solidFill>
                <a:latin typeface="Calibri"/>
              </a:rPr>
              <a:t>Etapas 3 y 4 · tensión en el punto de Gauss 2</a:t>
            </a:r>
          </a:p>
        </p:txBody>
      </p:sp>
      <p:pic>
        <p:nvPicPr>
          <p:cNvPr id="154" name="Picture 153" descr="3585a3b394bdd0da.png"/>
          <p:cNvPicPr>
            <a:picLocks noChangeAspect="1"/>
          </p:cNvPicPr>
          <p:nvPr/>
        </p:nvPicPr>
        <p:blipFill>
          <a:blip r:embed="rId21"/>
          <a:stretch>
            <a:fillRect/>
          </a:stretch>
        </p:blipFill>
        <p:spPr>
          <a:xfrm>
            <a:off x="5505450" y="2070100"/>
            <a:ext cx="5880100" cy="996950"/>
          </a:xfrm>
          <a:prstGeom prst="rect">
            <a:avLst/>
          </a:prstGeom>
        </p:spPr>
      </p:pic>
      <p:pic>
        <p:nvPicPr>
          <p:cNvPr id="155" name="Picture 154" descr="64cea61cba6b02d1.png"/>
          <p:cNvPicPr>
            <a:picLocks noChangeAspect="1"/>
          </p:cNvPicPr>
          <p:nvPr/>
        </p:nvPicPr>
        <p:blipFill>
          <a:blip r:embed="rId22"/>
          <a:stretch>
            <a:fillRect/>
          </a:stretch>
        </p:blipFill>
        <p:spPr>
          <a:xfrm>
            <a:off x="5505450" y="2774950"/>
            <a:ext cx="5880100" cy="996950"/>
          </a:xfrm>
          <a:prstGeom prst="rect">
            <a:avLst/>
          </a:prstGeom>
        </p:spPr>
      </p:pic>
      <p:sp>
        <p:nvSpPr>
          <p:cNvPr id="156" name="TextBox 155"/>
          <p:cNvSpPr txBox="1"/>
          <p:nvPr/>
        </p:nvSpPr>
        <p:spPr>
          <a:xfrm>
            <a:off x="5505450" y="3878936"/>
            <a:ext cx="5997702" cy="445770"/>
          </a:xfrm>
          <a:prstGeom prst="rect">
            <a:avLst/>
          </a:prstGeom>
          <a:noFill/>
        </p:spPr>
        <p:txBody>
          <a:bodyPr wrap="square" lIns="0" rIns="0" tIns="0" bIns="0" anchor="t"/>
          <a:lstStyle/>
          <a:p>
            <a:pPr algn="l">
              <a:lnSpc>
                <a:spcPts val="1755"/>
              </a:lnSpc>
              <a:spcBef>
                <a:spcPts val="0"/>
              </a:spcBef>
              <a:spcAft>
                <a:spcPts val="0"/>
              </a:spcAft>
            </a:pPr>
            <a:r>
              <a:rPr sz="1300" b="0" i="0">
                <a:solidFill>
                  <a:srgbClr val="3F4A5A"/>
                </a:solidFill>
                <a:latin typeface="Calibri"/>
              </a:rPr>
              <a:t>La tensión en el punto de Gauss sale de multiplicar la matriz constitutiva por la</a:t>
            </a:r>
            <a:br/>
            <a:r>
              <a:rPr sz="1300" b="0" i="0">
                <a:solidFill>
                  <a:srgbClr val="3F4A5A"/>
                </a:solidFill>
                <a:latin typeface="Calibri"/>
              </a:rPr>
              <a:t>deformación, y la deformación, de B por los desplazamientos del elemento.</a:t>
            </a:r>
          </a:p>
        </p:txBody>
      </p:sp>
      <p:sp>
        <p:nvSpPr>
          <p:cNvPr id="157" name="TextBox 156"/>
          <p:cNvSpPr txBox="1"/>
          <p:nvPr/>
        </p:nvSpPr>
        <p:spPr>
          <a:xfrm>
            <a:off x="5505450" y="2196172"/>
            <a:ext cx="5997702" cy="162750"/>
          </a:xfrm>
          <a:prstGeom prst="rect">
            <a:avLst/>
          </a:prstGeom>
          <a:noFill/>
        </p:spPr>
        <p:txBody>
          <a:bodyPr wrap="square" lIns="0" rIns="0" tIns="0" bIns="0" anchor="t"/>
          <a:lstStyle/>
          <a:p>
            <a:pPr algn="l">
              <a:lnSpc>
                <a:spcPts val="1282"/>
              </a:lnSpc>
              <a:spcBef>
                <a:spcPts val="0"/>
              </a:spcBef>
              <a:spcAft>
                <a:spcPts val="0"/>
              </a:spcAft>
            </a:pPr>
            <a:r>
              <a:rPr sz="1050" b="0" i="0">
                <a:solidFill>
                  <a:srgbClr val="E8741A"/>
                </a:solidFill>
                <a:latin typeface="Calibri"/>
              </a:rPr>
              <a:t>Etapa 9 · extrapolación y promedio</a:t>
            </a:r>
          </a:p>
        </p:txBody>
      </p:sp>
      <p:pic>
        <p:nvPicPr>
          <p:cNvPr id="158" name="Picture 157" descr="d7c29cee25d953dc.png"/>
          <p:cNvPicPr>
            <a:picLocks noChangeAspect="1"/>
          </p:cNvPicPr>
          <p:nvPr/>
        </p:nvPicPr>
        <p:blipFill>
          <a:blip r:embed="rId23"/>
          <a:stretch>
            <a:fillRect/>
          </a:stretch>
        </p:blipFill>
        <p:spPr>
          <a:xfrm>
            <a:off x="5505450" y="2082800"/>
            <a:ext cx="5880100" cy="584200"/>
          </a:xfrm>
          <a:prstGeom prst="rect">
            <a:avLst/>
          </a:prstGeom>
        </p:spPr>
      </p:pic>
      <p:pic>
        <p:nvPicPr>
          <p:cNvPr id="159" name="Picture 158" descr="e980a34469fa13d5.png"/>
          <p:cNvPicPr>
            <a:picLocks noChangeAspect="1"/>
          </p:cNvPicPr>
          <p:nvPr/>
        </p:nvPicPr>
        <p:blipFill>
          <a:blip r:embed="rId24"/>
          <a:stretch>
            <a:fillRect/>
          </a:stretch>
        </p:blipFill>
        <p:spPr>
          <a:xfrm>
            <a:off x="5505450" y="2381250"/>
            <a:ext cx="5880100" cy="838200"/>
          </a:xfrm>
          <a:prstGeom prst="rect">
            <a:avLst/>
          </a:prstGeom>
        </p:spPr>
      </p:pic>
      <p:pic>
        <p:nvPicPr>
          <p:cNvPr id="160" name="Picture 159" descr="3667cc4700930632.png"/>
          <p:cNvPicPr>
            <a:picLocks noChangeAspect="1"/>
          </p:cNvPicPr>
          <p:nvPr/>
        </p:nvPicPr>
        <p:blipFill>
          <a:blip r:embed="rId25"/>
          <a:stretch>
            <a:fillRect/>
          </a:stretch>
        </p:blipFill>
        <p:spPr>
          <a:xfrm>
            <a:off x="5505450" y="3016250"/>
            <a:ext cx="5880100" cy="514350"/>
          </a:xfrm>
          <a:prstGeom prst="rect">
            <a:avLst/>
          </a:prstGeom>
        </p:spPr>
      </p:pic>
      <p:sp>
        <p:nvSpPr>
          <p:cNvPr id="161" name="TextBox 160"/>
          <p:cNvSpPr txBox="1"/>
          <p:nvPr/>
        </p:nvSpPr>
        <p:spPr>
          <a:xfrm>
            <a:off x="5505450" y="3633445"/>
            <a:ext cx="5997702" cy="445770"/>
          </a:xfrm>
          <a:prstGeom prst="rect">
            <a:avLst/>
          </a:prstGeom>
          <a:noFill/>
        </p:spPr>
        <p:txBody>
          <a:bodyPr wrap="square" lIns="0" rIns="0" tIns="0" bIns="0" anchor="t"/>
          <a:lstStyle/>
          <a:p>
            <a:pPr algn="l">
              <a:lnSpc>
                <a:spcPts val="1755"/>
              </a:lnSpc>
              <a:spcBef>
                <a:spcPts val="0"/>
              </a:spcBef>
              <a:spcAft>
                <a:spcPts val="0"/>
              </a:spcAft>
            </a:pPr>
            <a:r>
              <a:rPr sz="1300" b="0" i="0">
                <a:solidFill>
                  <a:srgbClr val="3F4A5A"/>
                </a:solidFill>
                <a:latin typeface="Calibri"/>
              </a:rPr>
              <a:t>El nodo 7 pertenece solo a E3: su tensión es la extrapolada desde los cuatro puntos de</a:t>
            </a:r>
            <a:br/>
            <a:r>
              <a:rPr sz="1300" b="0" i="0">
                <a:solidFill>
                  <a:srgbClr val="3F4A5A"/>
                </a:solidFill>
                <a:latin typeface="Calibri"/>
              </a:rPr>
              <a:t>Gauss del elemento, y von Mises se recalcula con las componentes.</a:t>
            </a:r>
          </a:p>
        </p:txBody>
      </p:sp>
      <p:sp>
        <p:nvSpPr>
          <p:cNvPr id="162" name="TextBox 161"/>
          <p:cNvSpPr txBox="1"/>
          <p:nvPr/>
        </p:nvSpPr>
        <p:spPr>
          <a:xfrm>
            <a:off x="5505450" y="2196172"/>
            <a:ext cx="5997702" cy="162750"/>
          </a:xfrm>
          <a:prstGeom prst="rect">
            <a:avLst/>
          </a:prstGeom>
          <a:noFill/>
        </p:spPr>
        <p:txBody>
          <a:bodyPr wrap="square" lIns="0" rIns="0" tIns="0" bIns="0" anchor="t"/>
          <a:lstStyle/>
          <a:p>
            <a:pPr algn="l">
              <a:lnSpc>
                <a:spcPts val="1282"/>
              </a:lnSpc>
              <a:spcBef>
                <a:spcPts val="0"/>
              </a:spcBef>
              <a:spcAft>
                <a:spcPts val="0"/>
              </a:spcAft>
            </a:pPr>
            <a:r>
              <a:rPr sz="1050" b="0" i="0">
                <a:solidFill>
                  <a:srgbClr val="E8741A"/>
                </a:solidFill>
                <a:latin typeface="Calibri"/>
              </a:rPr>
              <a:t>Un resultado del post-proceso</a:t>
            </a:r>
          </a:p>
        </p:txBody>
      </p:sp>
      <p:pic>
        <p:nvPicPr>
          <p:cNvPr id="163" name="Picture 162" descr="3b8cba1cdb9660e2.png"/>
          <p:cNvPicPr>
            <a:picLocks noChangeAspect="1"/>
          </p:cNvPicPr>
          <p:nvPr/>
        </p:nvPicPr>
        <p:blipFill>
          <a:blip r:embed="rId26"/>
          <a:stretch>
            <a:fillRect/>
          </a:stretch>
        </p:blipFill>
        <p:spPr>
          <a:xfrm>
            <a:off x="5505450" y="2159000"/>
            <a:ext cx="5880100" cy="508000"/>
          </a:xfrm>
          <a:prstGeom prst="rect">
            <a:avLst/>
          </a:prstGeom>
        </p:spPr>
      </p:pic>
      <p:sp>
        <p:nvSpPr>
          <p:cNvPr id="164" name="TextBox 163"/>
          <p:cNvSpPr txBox="1"/>
          <p:nvPr/>
        </p:nvSpPr>
        <p:spPr>
          <a:xfrm>
            <a:off x="5505450" y="2774099"/>
            <a:ext cx="5997702" cy="445770"/>
          </a:xfrm>
          <a:prstGeom prst="rect">
            <a:avLst/>
          </a:prstGeom>
          <a:noFill/>
        </p:spPr>
        <p:txBody>
          <a:bodyPr wrap="square" lIns="0" rIns="0" tIns="0" bIns="0" anchor="t"/>
          <a:lstStyle/>
          <a:p>
            <a:pPr algn="l">
              <a:lnSpc>
                <a:spcPts val="1755"/>
              </a:lnSpc>
              <a:spcBef>
                <a:spcPts val="0"/>
              </a:spcBef>
              <a:spcAft>
                <a:spcPts val="0"/>
              </a:spcAft>
            </a:pPr>
            <a:r>
              <a:rPr sz="1300" b="0" i="0">
                <a:solidFill>
                  <a:srgbClr val="3F4A5A"/>
                </a:solidFill>
                <a:latin typeface="Calibri"/>
              </a:rPr>
              <a:t>¿De dónde sale este número? La trazabilidad responde siguiéndolo hacia atrás, etapa</a:t>
            </a:r>
            <a:br/>
            <a:r>
              <a:rPr sz="1300" b="0" i="0">
                <a:solidFill>
                  <a:srgbClr val="3F4A5A"/>
                </a:solidFill>
                <a:latin typeface="Calibri"/>
              </a:rPr>
              <a:t>por etapa, hasta los datos del modelo.</a:t>
            </a:r>
          </a:p>
        </p:txBody>
      </p:sp>
      <p:sp>
        <p:nvSpPr>
          <p:cNvPr id="165" name="Rectangle 164"/>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565150" y="6535420"/>
            <a:ext cx="479196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68" name="TextBox 167"/>
          <p:cNvSpPr txBox="1"/>
          <p:nvPr/>
        </p:nvSpPr>
        <p:spPr>
          <a:xfrm>
            <a:off x="5237734" y="6535420"/>
            <a:ext cx="1716405"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La variable dependiente, en vivo</a:t>
            </a:r>
          </a:p>
        </p:txBody>
      </p:sp>
      <p:sp>
        <p:nvSpPr>
          <p:cNvPr id="169" name="TextBox 168"/>
          <p:cNvSpPr txBox="1"/>
          <p:nvPr/>
        </p:nvSpPr>
        <p:spPr>
          <a:xfrm>
            <a:off x="6834759" y="6535420"/>
            <a:ext cx="4792091"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36</a:t>
            </a:r>
          </a:p>
        </p:txBody>
      </p:sp>
      <p:sp>
        <p:nvSpPr>
          <p:cNvPr id="170" name="Enlace a sep-intro">
            <a:hlinkClick action="ppaction://hlinksldjump" r:id="rId27"/>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Enlace a sep-teoria">
            <a:hlinkClick action="ppaction://hlinksldjump" r:id="rId28"/>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Enlace a sep-diseno">
            <a:hlinkClick action="ppaction://hlinksldjump" r:id="rId29"/>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Enlace a sep-resultados">
            <a:hlinkClick action="ppaction://hlinksldjump" r:id="rId30"/>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Enlace a sep-analisis">
            <a:hlinkClick action="ppaction://hlinksldjump" r:id="rId31"/>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Enlace a sep-conclusiones">
            <a:hlinkClick action="ppaction://hlinksldjump" r:id="rId32"/>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Rounded Rectangle 710">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93" fill="hold">
                      <p:stCondLst>
                        <p:cond delay="indefinite"/>
                      </p:stCondLst>
                      <p:childTnLst>
                        <p:par>
                          <p:cTn id="694" fill="hold">
                            <p:stCondLst>
                              <p:cond delay="0"/>
                            </p:stCondLst>
                            <p:childTnLst>
                              <p:par>
                                <p:cTn id="3" presetID="10" presetClass="exit" presetSubtype="0" fill="hold" grpId="0" nodeType="clickEffect">
                                  <p:stCondLst>
                                    <p:cond delay="0"/>
                                  </p:stCondLst>
                                  <p:childTnLst>
                                    <p:animEffect transition="out" filter="fade">
                                      <p:cBhvr>
                                        <p:cTn id="4" dur="200"/>
                                        <p:tgtEl>
                                          <p:spTgt spid="111"/>
                                        </p:tgtEl>
                                      </p:cBhvr>
                                    </p:animEffect>
                                    <p:set>
                                      <p:cBhvr>
                                        <p:cTn id="5" dur="1" fill="hold">
                                          <p:stCondLst>
                                            <p:cond delay="199"/>
                                          </p:stCondLst>
                                        </p:cTn>
                                        <p:tgtEl>
                                          <p:spTgt spid="111"/>
                                        </p:tgtEl>
                                        <p:attrNameLst>
                                          <p:attrName>style.visibility</p:attrName>
                                        </p:attrNameLst>
                                      </p:cBhvr>
                                      <p:to>
                                        <p:strVal val="hidden"/>
                                      </p:to>
                                    </p:set>
                                  </p:childTnLst>
                                </p:cTn>
                              </p:par>
                              <p:par>
                                <p:cTn id="6" presetID="10" presetClass="exit" presetSubtype="0" fill="hold" grpId="0" nodeType="withEffect">
                                  <p:stCondLst>
                                    <p:cond delay="0"/>
                                  </p:stCondLst>
                                  <p:childTnLst>
                                    <p:animEffect transition="out" filter="fade">
                                      <p:cBhvr>
                                        <p:cTn id="7" dur="200"/>
                                        <p:tgtEl>
                                          <p:spTgt spid="112"/>
                                        </p:tgtEl>
                                      </p:cBhvr>
                                    </p:animEffect>
                                    <p:set>
                                      <p:cBhvr>
                                        <p:cTn id="8" dur="1" fill="hold">
                                          <p:stCondLst>
                                            <p:cond delay="199"/>
                                          </p:stCondLst>
                                        </p:cTn>
                                        <p:tgtEl>
                                          <p:spTgt spid="112"/>
                                        </p:tgtEl>
                                        <p:attrNameLst>
                                          <p:attrName>style.visibility</p:attrName>
                                        </p:attrNameLst>
                                      </p:cBhvr>
                                      <p:to>
                                        <p:strVal val="hidden"/>
                                      </p:to>
                                    </p:set>
                                  </p:childTnLst>
                                </p:cTn>
                              </p:par>
                              <p:par>
                                <p:cTn id="9" presetID="10" presetClass="exit" presetSubtype="0" fill="hold" grpId="0" nodeType="withEffect">
                                  <p:stCondLst>
                                    <p:cond delay="0"/>
                                  </p:stCondLst>
                                  <p:childTnLst>
                                    <p:animEffect transition="out" filter="fade">
                                      <p:cBhvr>
                                        <p:cTn id="10" dur="200"/>
                                        <p:tgtEl>
                                          <p:spTgt spid="113"/>
                                        </p:tgtEl>
                                      </p:cBhvr>
                                    </p:animEffect>
                                    <p:set>
                                      <p:cBhvr>
                                        <p:cTn id="11" dur="1" fill="hold">
                                          <p:stCondLst>
                                            <p:cond delay="199"/>
                                          </p:stCondLst>
                                        </p:cTn>
                                        <p:tgtEl>
                                          <p:spTgt spid="11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200"/>
                                        <p:tgtEl>
                                          <p:spTgt spid="125"/>
                                        </p:tgtEl>
                                      </p:cBhvr>
                                    </p:animEffect>
                                    <p:set>
                                      <p:cBhvr>
                                        <p:cTn id="14" dur="1" fill="hold">
                                          <p:stCondLst>
                                            <p:cond delay="199"/>
                                          </p:stCondLst>
                                        </p:cTn>
                                        <p:tgtEl>
                                          <p:spTgt spid="125"/>
                                        </p:tgtEl>
                                        <p:attrNameLst>
                                          <p:attrName>style.visibility</p:attrName>
                                        </p:attrNameLst>
                                      </p:cBhvr>
                                      <p:to>
                                        <p:strVal val="hidden"/>
                                      </p:to>
                                    </p:set>
                                  </p:childTnLst>
                                </p:cTn>
                              </p:par>
                              <p:par>
                                <p:cTn id="15" presetID="10" presetClass="exit" presetSubtype="0" fill="hold" grpId="0" nodeType="withEffect">
                                  <p:stCondLst>
                                    <p:cond delay="0"/>
                                  </p:stCondLst>
                                  <p:childTnLst>
                                    <p:animEffect transition="out" filter="fade">
                                      <p:cBhvr>
                                        <p:cTn id="16" dur="200"/>
                                        <p:tgtEl>
                                          <p:spTgt spid="162"/>
                                        </p:tgtEl>
                                      </p:cBhvr>
                                    </p:animEffect>
                                    <p:set>
                                      <p:cBhvr>
                                        <p:cTn id="17" dur="1" fill="hold">
                                          <p:stCondLst>
                                            <p:cond delay="199"/>
                                          </p:stCondLst>
                                        </p:cTn>
                                        <p:tgtEl>
                                          <p:spTgt spid="162"/>
                                        </p:tgtEl>
                                        <p:attrNameLst>
                                          <p:attrName>style.visibility</p:attrName>
                                        </p:attrNameLst>
                                      </p:cBhvr>
                                      <p:to>
                                        <p:strVal val="hidden"/>
                                      </p:to>
                                    </p:set>
                                  </p:childTnLst>
                                </p:cTn>
                              </p:par>
                              <p:par>
                                <p:cTn id="18" presetID="10" presetClass="exit" presetSubtype="0" fill="hold" grpId="0" nodeType="withEffect">
                                  <p:stCondLst>
                                    <p:cond delay="0"/>
                                  </p:stCondLst>
                                  <p:childTnLst>
                                    <p:animEffect transition="out" filter="fade">
                                      <p:cBhvr>
                                        <p:cTn id="19" dur="200"/>
                                        <p:tgtEl>
                                          <p:spTgt spid="163"/>
                                        </p:tgtEl>
                                      </p:cBhvr>
                                    </p:animEffect>
                                    <p:set>
                                      <p:cBhvr>
                                        <p:cTn id="20" dur="1" fill="hold">
                                          <p:stCondLst>
                                            <p:cond delay="199"/>
                                          </p:stCondLst>
                                        </p:cTn>
                                        <p:tgtEl>
                                          <p:spTgt spid="163"/>
                                        </p:tgtEl>
                                        <p:attrNameLst>
                                          <p:attrName>style.visibility</p:attrName>
                                        </p:attrNameLst>
                                      </p:cBhvr>
                                      <p:to>
                                        <p:strVal val="hidden"/>
                                      </p:to>
                                    </p:set>
                                  </p:childTnLst>
                                </p:cTn>
                              </p:par>
                              <p:par>
                                <p:cTn id="21" presetID="10" presetClass="exit" presetSubtype="0" fill="hold" grpId="0" nodeType="withEffect">
                                  <p:stCondLst>
                                    <p:cond delay="0"/>
                                  </p:stCondLst>
                                  <p:childTnLst>
                                    <p:animEffect transition="out" filter="fade">
                                      <p:cBhvr>
                                        <p:cTn id="22" dur="200"/>
                                        <p:tgtEl>
                                          <p:spTgt spid="164"/>
                                        </p:tgtEl>
                                      </p:cBhvr>
                                    </p:animEffect>
                                    <p:set>
                                      <p:cBhvr>
                                        <p:cTn id="23" dur="1" fill="hold">
                                          <p:stCondLst>
                                            <p:cond delay="199"/>
                                          </p:stCondLst>
                                        </p:cTn>
                                        <p:tgtEl>
                                          <p:spTgt spid="164"/>
                                        </p:tgtEl>
                                        <p:attrNameLst>
                                          <p:attrName>style.visibility</p:attrName>
                                        </p:attrNameLst>
                                      </p:cBhvr>
                                      <p:to>
                                        <p:strVal val="hidden"/>
                                      </p:to>
                                    </p:set>
                                  </p:childTnLst>
                                </p:cTn>
                              </p:par>
                              <p:par>
                                <p:cTn id="24" presetID="10" presetClass="entr" presetSubtype="0" fill="hold" grpId="0" nodeType="withEffect">
                                  <p:stCondLst>
                                    <p:cond delay="200"/>
                                  </p:stCondLst>
                                  <p:childTnLst>
                                    <p:set>
                                      <p:cBhvr>
                                        <p:cTn id="25" dur="1" fill="hold">
                                          <p:stCondLst>
                                            <p:cond delay="0"/>
                                          </p:stCondLst>
                                        </p:cTn>
                                        <p:tgtEl>
                                          <p:spTgt spid="107"/>
                                        </p:tgtEl>
                                        <p:attrNameLst>
                                          <p:attrName>style.visibility</p:attrName>
                                        </p:attrNameLst>
                                      </p:cBhvr>
                                      <p:to>
                                        <p:strVal val="visible"/>
                                      </p:to>
                                    </p:set>
                                    <p:animEffect transition="in" filter="fade">
                                      <p:cBhvr>
                                        <p:cTn id="26" dur="400"/>
                                        <p:tgtEl>
                                          <p:spTgt spid="107"/>
                                        </p:tgtEl>
                                      </p:cBhvr>
                                    </p:animEffect>
                                  </p:childTnLst>
                                </p:cTn>
                              </p:par>
                              <p:par>
                                <p:cTn id="27" presetID="10" presetClass="entr" presetSubtype="0" fill="hold" grpId="0" nodeType="withEffect">
                                  <p:stCondLst>
                                    <p:cond delay="200"/>
                                  </p:stCondLst>
                                  <p:childTnLst>
                                    <p:set>
                                      <p:cBhvr>
                                        <p:cTn id="28" dur="1" fill="hold">
                                          <p:stCondLst>
                                            <p:cond delay="0"/>
                                          </p:stCondLst>
                                        </p:cTn>
                                        <p:tgtEl>
                                          <p:spTgt spid="108"/>
                                        </p:tgtEl>
                                        <p:attrNameLst>
                                          <p:attrName>style.visibility</p:attrName>
                                        </p:attrNameLst>
                                      </p:cBhvr>
                                      <p:to>
                                        <p:strVal val="visible"/>
                                      </p:to>
                                    </p:set>
                                    <p:animEffect transition="in" filter="fade">
                                      <p:cBhvr>
                                        <p:cTn id="29" dur="400"/>
                                        <p:tgtEl>
                                          <p:spTgt spid="108"/>
                                        </p:tgtEl>
                                      </p:cBhvr>
                                    </p:animEffect>
                                  </p:childTnLst>
                                </p:cTn>
                              </p:par>
                              <p:par>
                                <p:cTn id="30" presetID="10" presetClass="entr" presetSubtype="0" fill="hold" grpId="0" nodeType="withEffect">
                                  <p:stCondLst>
                                    <p:cond delay="200"/>
                                  </p:stCondLst>
                                  <p:childTnLst>
                                    <p:set>
                                      <p:cBhvr>
                                        <p:cTn id="31" dur="1" fill="hold">
                                          <p:stCondLst>
                                            <p:cond delay="0"/>
                                          </p:stCondLst>
                                        </p:cTn>
                                        <p:tgtEl>
                                          <p:spTgt spid="109"/>
                                        </p:tgtEl>
                                        <p:attrNameLst>
                                          <p:attrName>style.visibility</p:attrName>
                                        </p:attrNameLst>
                                      </p:cBhvr>
                                      <p:to>
                                        <p:strVal val="visible"/>
                                      </p:to>
                                    </p:set>
                                    <p:animEffect transition="in" filter="fade">
                                      <p:cBhvr>
                                        <p:cTn id="32" dur="400"/>
                                        <p:tgtEl>
                                          <p:spTgt spid="109"/>
                                        </p:tgtEl>
                                      </p:cBhvr>
                                    </p:animEffect>
                                  </p:childTnLst>
                                </p:cTn>
                              </p:par>
                              <p:par>
                                <p:cTn id="33" presetID="10" presetClass="entr" presetSubtype="0" fill="hold" grpId="0" nodeType="withEffect">
                                  <p:stCondLst>
                                    <p:cond delay="200"/>
                                  </p:stCondLst>
                                  <p:childTnLst>
                                    <p:set>
                                      <p:cBhvr>
                                        <p:cTn id="34" dur="1" fill="hold">
                                          <p:stCondLst>
                                            <p:cond delay="0"/>
                                          </p:stCondLst>
                                        </p:cTn>
                                        <p:tgtEl>
                                          <p:spTgt spid="110"/>
                                        </p:tgtEl>
                                        <p:attrNameLst>
                                          <p:attrName>style.visibility</p:attrName>
                                        </p:attrNameLst>
                                      </p:cBhvr>
                                      <p:to>
                                        <p:strVal val="visible"/>
                                      </p:to>
                                    </p:set>
                                    <p:animEffect transition="in" filter="fade">
                                      <p:cBhvr>
                                        <p:cTn id="35" dur="400"/>
                                        <p:tgtEl>
                                          <p:spTgt spid="110"/>
                                        </p:tgtEl>
                                      </p:cBhvr>
                                    </p:animEffect>
                                  </p:childTnLst>
                                </p:cTn>
                              </p:par>
                              <p:par>
                                <p:cTn id="36" presetID="10" presetClass="entr" presetSubtype="0" fill="hold" grpId="0" nodeType="withEffect">
                                  <p:stCondLst>
                                    <p:cond delay="200"/>
                                  </p:stCondLst>
                                  <p:childTnLst>
                                    <p:set>
                                      <p:cBhvr>
                                        <p:cTn id="37" dur="1" fill="hold">
                                          <p:stCondLst>
                                            <p:cond delay="0"/>
                                          </p:stCondLst>
                                        </p:cTn>
                                        <p:tgtEl>
                                          <p:spTgt spid="124"/>
                                        </p:tgtEl>
                                        <p:attrNameLst>
                                          <p:attrName>style.visibility</p:attrName>
                                        </p:attrNameLst>
                                      </p:cBhvr>
                                      <p:to>
                                        <p:strVal val="visible"/>
                                      </p:to>
                                    </p:set>
                                    <p:animEffect transition="in" filter="fade">
                                      <p:cBhvr>
                                        <p:cTn id="38" dur="400"/>
                                        <p:tgtEl>
                                          <p:spTgt spid="124"/>
                                        </p:tgtEl>
                                      </p:cBhvr>
                                    </p:animEffect>
                                  </p:childTnLst>
                                </p:cTn>
                              </p:par>
                              <p:par>
                                <p:cTn id="39" presetID="10" presetClass="entr" presetSubtype="0" fill="hold" grpId="0" nodeType="withEffect">
                                  <p:stCondLst>
                                    <p:cond delay="200"/>
                                  </p:stCondLst>
                                  <p:childTnLst>
                                    <p:set>
                                      <p:cBhvr>
                                        <p:cTn id="40" dur="1" fill="hold">
                                          <p:stCondLst>
                                            <p:cond delay="0"/>
                                          </p:stCondLst>
                                        </p:cTn>
                                        <p:tgtEl>
                                          <p:spTgt spid="157"/>
                                        </p:tgtEl>
                                        <p:attrNameLst>
                                          <p:attrName>style.visibility</p:attrName>
                                        </p:attrNameLst>
                                      </p:cBhvr>
                                      <p:to>
                                        <p:strVal val="visible"/>
                                      </p:to>
                                    </p:set>
                                    <p:animEffect transition="in" filter="fade">
                                      <p:cBhvr>
                                        <p:cTn id="41" dur="400"/>
                                        <p:tgtEl>
                                          <p:spTgt spid="157"/>
                                        </p:tgtEl>
                                      </p:cBhvr>
                                    </p:animEffect>
                                  </p:childTnLst>
                                </p:cTn>
                              </p:par>
                              <p:par>
                                <p:cTn id="42" presetID="10" presetClass="entr" presetSubtype="0" fill="hold" grpId="0" nodeType="withEffect">
                                  <p:stCondLst>
                                    <p:cond delay="200"/>
                                  </p:stCondLst>
                                  <p:childTnLst>
                                    <p:set>
                                      <p:cBhvr>
                                        <p:cTn id="43" dur="1" fill="hold">
                                          <p:stCondLst>
                                            <p:cond delay="0"/>
                                          </p:stCondLst>
                                        </p:cTn>
                                        <p:tgtEl>
                                          <p:spTgt spid="158"/>
                                        </p:tgtEl>
                                        <p:attrNameLst>
                                          <p:attrName>style.visibility</p:attrName>
                                        </p:attrNameLst>
                                      </p:cBhvr>
                                      <p:to>
                                        <p:strVal val="visible"/>
                                      </p:to>
                                    </p:set>
                                    <p:animEffect transition="in" filter="fade">
                                      <p:cBhvr>
                                        <p:cTn id="44" dur="400"/>
                                        <p:tgtEl>
                                          <p:spTgt spid="158"/>
                                        </p:tgtEl>
                                      </p:cBhvr>
                                    </p:animEffect>
                                  </p:childTnLst>
                                </p:cTn>
                              </p:par>
                              <p:par>
                                <p:cTn id="45" presetID="10" presetClass="entr" presetSubtype="0" fill="hold" grpId="0" nodeType="withEffect">
                                  <p:stCondLst>
                                    <p:cond delay="200"/>
                                  </p:stCondLst>
                                  <p:childTnLst>
                                    <p:set>
                                      <p:cBhvr>
                                        <p:cTn id="46" dur="1" fill="hold">
                                          <p:stCondLst>
                                            <p:cond delay="0"/>
                                          </p:stCondLst>
                                        </p:cTn>
                                        <p:tgtEl>
                                          <p:spTgt spid="159"/>
                                        </p:tgtEl>
                                        <p:attrNameLst>
                                          <p:attrName>style.visibility</p:attrName>
                                        </p:attrNameLst>
                                      </p:cBhvr>
                                      <p:to>
                                        <p:strVal val="visible"/>
                                      </p:to>
                                    </p:set>
                                    <p:animEffect transition="in" filter="fade">
                                      <p:cBhvr>
                                        <p:cTn id="47" dur="400"/>
                                        <p:tgtEl>
                                          <p:spTgt spid="159"/>
                                        </p:tgtEl>
                                      </p:cBhvr>
                                    </p:animEffect>
                                  </p:childTnLst>
                                </p:cTn>
                              </p:par>
                              <p:par>
                                <p:cTn id="48" presetID="10" presetClass="entr" presetSubtype="0" fill="hold" grpId="0" nodeType="withEffect">
                                  <p:stCondLst>
                                    <p:cond delay="200"/>
                                  </p:stCondLst>
                                  <p:childTnLst>
                                    <p:set>
                                      <p:cBhvr>
                                        <p:cTn id="49" dur="1" fill="hold">
                                          <p:stCondLst>
                                            <p:cond delay="0"/>
                                          </p:stCondLst>
                                        </p:cTn>
                                        <p:tgtEl>
                                          <p:spTgt spid="160"/>
                                        </p:tgtEl>
                                        <p:attrNameLst>
                                          <p:attrName>style.visibility</p:attrName>
                                        </p:attrNameLst>
                                      </p:cBhvr>
                                      <p:to>
                                        <p:strVal val="visible"/>
                                      </p:to>
                                    </p:set>
                                    <p:animEffect transition="in" filter="fade">
                                      <p:cBhvr>
                                        <p:cTn id="50" dur="400"/>
                                        <p:tgtEl>
                                          <p:spTgt spid="160"/>
                                        </p:tgtEl>
                                      </p:cBhvr>
                                    </p:animEffect>
                                  </p:childTnLst>
                                </p:cTn>
                              </p:par>
                              <p:par>
                                <p:cTn id="51" presetID="10" presetClass="entr" presetSubtype="0" fill="hold" grpId="0" nodeType="withEffect">
                                  <p:stCondLst>
                                    <p:cond delay="200"/>
                                  </p:stCondLst>
                                  <p:childTnLst>
                                    <p:set>
                                      <p:cBhvr>
                                        <p:cTn id="52" dur="1" fill="hold">
                                          <p:stCondLst>
                                            <p:cond delay="0"/>
                                          </p:stCondLst>
                                        </p:cTn>
                                        <p:tgtEl>
                                          <p:spTgt spid="161"/>
                                        </p:tgtEl>
                                        <p:attrNameLst>
                                          <p:attrName>style.visibility</p:attrName>
                                        </p:attrNameLst>
                                      </p:cBhvr>
                                      <p:to>
                                        <p:strVal val="visible"/>
                                      </p:to>
                                    </p:set>
                                    <p:animEffect transition="in" filter="fade">
                                      <p:cBhvr>
                                        <p:cTn id="53" dur="400"/>
                                        <p:tgtEl>
                                          <p:spTgt spid="161"/>
                                        </p:tgtEl>
                                      </p:cBhvr>
                                    </p:animEffect>
                                  </p:childTnLst>
                                </p:cTn>
                              </p:par>
                            </p:childTnLst>
                          </p:cTn>
                        </p:par>
                      </p:childTnLst>
                    </p:cTn>
                  </p:par>
                  <p:par>
                    <p:cTn id="695" fill="hold">
                      <p:stCondLst>
                        <p:cond delay="indefinite"/>
                      </p:stCondLst>
                      <p:childTnLst>
                        <p:par>
                          <p:cTn id="696" fill="hold">
                            <p:stCondLst>
                              <p:cond delay="0"/>
                            </p:stCondLst>
                            <p:childTnLst>
                              <p:par>
                                <p:cTn id="54" presetID="10" presetClass="exit" presetSubtype="0" fill="hold" grpId="0" nodeType="clickEffect">
                                  <p:stCondLst>
                                    <p:cond delay="0"/>
                                  </p:stCondLst>
                                  <p:childTnLst>
                                    <p:animEffect transition="out" filter="fade">
                                      <p:cBhvr>
                                        <p:cTn id="55" dur="200"/>
                                        <p:tgtEl>
                                          <p:spTgt spid="61"/>
                                        </p:tgtEl>
                                      </p:cBhvr>
                                    </p:animEffect>
                                    <p:set>
                                      <p:cBhvr>
                                        <p:cTn id="56" dur="1" fill="hold">
                                          <p:stCondLst>
                                            <p:cond delay="199"/>
                                          </p:stCondLst>
                                        </p:cTn>
                                        <p:tgtEl>
                                          <p:spTgt spid="61"/>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200"/>
                                        <p:tgtEl>
                                          <p:spTgt spid="62"/>
                                        </p:tgtEl>
                                      </p:cBhvr>
                                    </p:animEffect>
                                    <p:set>
                                      <p:cBhvr>
                                        <p:cTn id="59" dur="1" fill="hold">
                                          <p:stCondLst>
                                            <p:cond delay="199"/>
                                          </p:stCondLst>
                                        </p:cTn>
                                        <p:tgtEl>
                                          <p:spTgt spid="62"/>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200"/>
                                        <p:tgtEl>
                                          <p:spTgt spid="63"/>
                                        </p:tgtEl>
                                      </p:cBhvr>
                                    </p:animEffect>
                                    <p:set>
                                      <p:cBhvr>
                                        <p:cTn id="62" dur="1" fill="hold">
                                          <p:stCondLst>
                                            <p:cond delay="199"/>
                                          </p:stCondLst>
                                        </p:cTn>
                                        <p:tgtEl>
                                          <p:spTgt spid="63"/>
                                        </p:tgtEl>
                                        <p:attrNameLst>
                                          <p:attrName>style.visibility</p:attrName>
                                        </p:attrNameLst>
                                      </p:cBhvr>
                                      <p:to>
                                        <p:strVal val="hidden"/>
                                      </p:to>
                                    </p:set>
                                  </p:childTnLst>
                                </p:cTn>
                              </p:par>
                              <p:par>
                                <p:cTn id="63" presetID="10" presetClass="exit" presetSubtype="0" fill="hold" grpId="0" nodeType="withEffect">
                                  <p:stCondLst>
                                    <p:cond delay="0"/>
                                  </p:stCondLst>
                                  <p:childTnLst>
                                    <p:animEffect transition="out" filter="fade">
                                      <p:cBhvr>
                                        <p:cTn id="64" dur="200"/>
                                        <p:tgtEl>
                                          <p:spTgt spid="64"/>
                                        </p:tgtEl>
                                      </p:cBhvr>
                                    </p:animEffect>
                                    <p:set>
                                      <p:cBhvr>
                                        <p:cTn id="65" dur="1" fill="hold">
                                          <p:stCondLst>
                                            <p:cond delay="199"/>
                                          </p:stCondLst>
                                        </p:cTn>
                                        <p:tgtEl>
                                          <p:spTgt spid="64"/>
                                        </p:tgtEl>
                                        <p:attrNameLst>
                                          <p:attrName>style.visibility</p:attrName>
                                        </p:attrNameLst>
                                      </p:cBhvr>
                                      <p:to>
                                        <p:strVal val="hidden"/>
                                      </p:to>
                                    </p:set>
                                  </p:childTnLst>
                                </p:cTn>
                              </p:par>
                              <p:par>
                                <p:cTn id="66" presetID="10" presetClass="exit" presetSubtype="0" fill="hold" grpId="0" nodeType="withEffect">
                                  <p:stCondLst>
                                    <p:cond delay="0"/>
                                  </p:stCondLst>
                                  <p:childTnLst>
                                    <p:animEffect transition="out" filter="fade">
                                      <p:cBhvr>
                                        <p:cTn id="67" dur="200"/>
                                        <p:tgtEl>
                                          <p:spTgt spid="65"/>
                                        </p:tgtEl>
                                      </p:cBhvr>
                                    </p:animEffect>
                                    <p:set>
                                      <p:cBhvr>
                                        <p:cTn id="68" dur="1" fill="hold">
                                          <p:stCondLst>
                                            <p:cond delay="199"/>
                                          </p:stCondLst>
                                        </p:cTn>
                                        <p:tgtEl>
                                          <p:spTgt spid="65"/>
                                        </p:tgtEl>
                                        <p:attrNameLst>
                                          <p:attrName>style.visibility</p:attrName>
                                        </p:attrNameLst>
                                      </p:cBhvr>
                                      <p:to>
                                        <p:strVal val="hidden"/>
                                      </p:to>
                                    </p:set>
                                  </p:childTnLst>
                                </p:cTn>
                              </p:par>
                              <p:par>
                                <p:cTn id="69" presetID="10" presetClass="exit" presetSubtype="0" fill="hold" grpId="0" nodeType="withEffect">
                                  <p:stCondLst>
                                    <p:cond delay="0"/>
                                  </p:stCondLst>
                                  <p:childTnLst>
                                    <p:animEffect transition="out" filter="fade">
                                      <p:cBhvr>
                                        <p:cTn id="70" dur="200"/>
                                        <p:tgtEl>
                                          <p:spTgt spid="66"/>
                                        </p:tgtEl>
                                      </p:cBhvr>
                                    </p:animEffect>
                                    <p:set>
                                      <p:cBhvr>
                                        <p:cTn id="71" dur="1" fill="hold">
                                          <p:stCondLst>
                                            <p:cond delay="199"/>
                                          </p:stCondLst>
                                        </p:cTn>
                                        <p:tgtEl>
                                          <p:spTgt spid="66"/>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200"/>
                                        <p:tgtEl>
                                          <p:spTgt spid="107"/>
                                        </p:tgtEl>
                                      </p:cBhvr>
                                    </p:animEffect>
                                    <p:set>
                                      <p:cBhvr>
                                        <p:cTn id="74" dur="1" fill="hold">
                                          <p:stCondLst>
                                            <p:cond delay="199"/>
                                          </p:stCondLst>
                                        </p:cTn>
                                        <p:tgtEl>
                                          <p:spTgt spid="107"/>
                                        </p:tgtEl>
                                        <p:attrNameLst>
                                          <p:attrName>style.visibility</p:attrName>
                                        </p:attrNameLst>
                                      </p:cBhvr>
                                      <p:to>
                                        <p:strVal val="hidden"/>
                                      </p:to>
                                    </p:set>
                                  </p:childTnLst>
                                </p:cTn>
                              </p:par>
                              <p:par>
                                <p:cTn id="75" presetID="10" presetClass="exit" presetSubtype="0" fill="hold" grpId="1" nodeType="withEffect">
                                  <p:stCondLst>
                                    <p:cond delay="0"/>
                                  </p:stCondLst>
                                  <p:childTnLst>
                                    <p:animEffect transition="out" filter="fade">
                                      <p:cBhvr>
                                        <p:cTn id="76" dur="200"/>
                                        <p:tgtEl>
                                          <p:spTgt spid="108"/>
                                        </p:tgtEl>
                                      </p:cBhvr>
                                    </p:animEffect>
                                    <p:set>
                                      <p:cBhvr>
                                        <p:cTn id="77" dur="1" fill="hold">
                                          <p:stCondLst>
                                            <p:cond delay="199"/>
                                          </p:stCondLst>
                                        </p:cTn>
                                        <p:tgtEl>
                                          <p:spTgt spid="108"/>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200"/>
                                        <p:tgtEl>
                                          <p:spTgt spid="109"/>
                                        </p:tgtEl>
                                      </p:cBhvr>
                                    </p:animEffect>
                                    <p:set>
                                      <p:cBhvr>
                                        <p:cTn id="80" dur="1" fill="hold">
                                          <p:stCondLst>
                                            <p:cond delay="199"/>
                                          </p:stCondLst>
                                        </p:cTn>
                                        <p:tgtEl>
                                          <p:spTgt spid="109"/>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200"/>
                                        <p:tgtEl>
                                          <p:spTgt spid="110"/>
                                        </p:tgtEl>
                                      </p:cBhvr>
                                    </p:animEffect>
                                    <p:set>
                                      <p:cBhvr>
                                        <p:cTn id="83" dur="1" fill="hold">
                                          <p:stCondLst>
                                            <p:cond delay="199"/>
                                          </p:stCondLst>
                                        </p:cTn>
                                        <p:tgtEl>
                                          <p:spTgt spid="110"/>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200"/>
                                        <p:tgtEl>
                                          <p:spTgt spid="157"/>
                                        </p:tgtEl>
                                      </p:cBhvr>
                                    </p:animEffect>
                                    <p:set>
                                      <p:cBhvr>
                                        <p:cTn id="86" dur="1" fill="hold">
                                          <p:stCondLst>
                                            <p:cond delay="199"/>
                                          </p:stCondLst>
                                        </p:cTn>
                                        <p:tgtEl>
                                          <p:spTgt spid="157"/>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200"/>
                                        <p:tgtEl>
                                          <p:spTgt spid="158"/>
                                        </p:tgtEl>
                                      </p:cBhvr>
                                    </p:animEffect>
                                    <p:set>
                                      <p:cBhvr>
                                        <p:cTn id="89" dur="1" fill="hold">
                                          <p:stCondLst>
                                            <p:cond delay="199"/>
                                          </p:stCondLst>
                                        </p:cTn>
                                        <p:tgtEl>
                                          <p:spTgt spid="158"/>
                                        </p:tgtEl>
                                        <p:attrNameLst>
                                          <p:attrName>style.visibility</p:attrName>
                                        </p:attrNameLst>
                                      </p:cBhvr>
                                      <p:to>
                                        <p:strVal val="hidden"/>
                                      </p:to>
                                    </p:set>
                                  </p:childTnLst>
                                </p:cTn>
                              </p:par>
                              <p:par>
                                <p:cTn id="90" presetID="10" presetClass="exit" presetSubtype="0" fill="hold" grpId="1" nodeType="withEffect">
                                  <p:stCondLst>
                                    <p:cond delay="0"/>
                                  </p:stCondLst>
                                  <p:childTnLst>
                                    <p:animEffect transition="out" filter="fade">
                                      <p:cBhvr>
                                        <p:cTn id="91" dur="200"/>
                                        <p:tgtEl>
                                          <p:spTgt spid="159"/>
                                        </p:tgtEl>
                                      </p:cBhvr>
                                    </p:animEffect>
                                    <p:set>
                                      <p:cBhvr>
                                        <p:cTn id="92" dur="1" fill="hold">
                                          <p:stCondLst>
                                            <p:cond delay="199"/>
                                          </p:stCondLst>
                                        </p:cTn>
                                        <p:tgtEl>
                                          <p:spTgt spid="159"/>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200"/>
                                        <p:tgtEl>
                                          <p:spTgt spid="160"/>
                                        </p:tgtEl>
                                      </p:cBhvr>
                                    </p:animEffect>
                                    <p:set>
                                      <p:cBhvr>
                                        <p:cTn id="95" dur="1" fill="hold">
                                          <p:stCondLst>
                                            <p:cond delay="199"/>
                                          </p:stCondLst>
                                        </p:cTn>
                                        <p:tgtEl>
                                          <p:spTgt spid="160"/>
                                        </p:tgtEl>
                                        <p:attrNameLst>
                                          <p:attrName>style.visibility</p:attrName>
                                        </p:attrNameLst>
                                      </p:cBhvr>
                                      <p:to>
                                        <p:strVal val="hidden"/>
                                      </p:to>
                                    </p:set>
                                  </p:childTnLst>
                                </p:cTn>
                              </p:par>
                              <p:par>
                                <p:cTn id="96" presetID="10" presetClass="exit" presetSubtype="0" fill="hold" grpId="1" nodeType="withEffect">
                                  <p:stCondLst>
                                    <p:cond delay="0"/>
                                  </p:stCondLst>
                                  <p:childTnLst>
                                    <p:animEffect transition="out" filter="fade">
                                      <p:cBhvr>
                                        <p:cTn id="97" dur="200"/>
                                        <p:tgtEl>
                                          <p:spTgt spid="161"/>
                                        </p:tgtEl>
                                      </p:cBhvr>
                                    </p:animEffect>
                                    <p:set>
                                      <p:cBhvr>
                                        <p:cTn id="98" dur="1" fill="hold">
                                          <p:stCondLst>
                                            <p:cond delay="199"/>
                                          </p:stCondLst>
                                        </p:cTn>
                                        <p:tgtEl>
                                          <p:spTgt spid="161"/>
                                        </p:tgtEl>
                                        <p:attrNameLst>
                                          <p:attrName>style.visibility</p:attrName>
                                        </p:attrNameLst>
                                      </p:cBhvr>
                                      <p:to>
                                        <p:strVal val="hidden"/>
                                      </p:to>
                                    </p:set>
                                  </p:childTnLst>
                                </p:cTn>
                              </p:par>
                              <p:par>
                                <p:cTn id="99" presetID="10" presetClass="entr" presetSubtype="0" fill="hold" grpId="0" nodeType="withEffect">
                                  <p:stCondLst>
                                    <p:cond delay="20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400"/>
                                        <p:tgtEl>
                                          <p:spTgt spid="53"/>
                                        </p:tgtEl>
                                      </p:cBhvr>
                                    </p:animEffect>
                                  </p:childTnLst>
                                </p:cTn>
                              </p:par>
                              <p:par>
                                <p:cTn id="102" presetID="10" presetClass="entr" presetSubtype="0" fill="hold" grpId="0" nodeType="withEffect">
                                  <p:stCondLst>
                                    <p:cond delay="20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400"/>
                                        <p:tgtEl>
                                          <p:spTgt spid="54"/>
                                        </p:tgtEl>
                                      </p:cBhvr>
                                    </p:animEffect>
                                  </p:childTnLst>
                                </p:cTn>
                              </p:par>
                              <p:par>
                                <p:cTn id="105" presetID="10" presetClass="entr" presetSubtype="0" fill="hold" grpId="0" nodeType="withEffect">
                                  <p:stCondLst>
                                    <p:cond delay="200"/>
                                  </p:stCondLst>
                                  <p:childTnLst>
                                    <p:set>
                                      <p:cBhvr>
                                        <p:cTn id="106" dur="1" fill="hold">
                                          <p:stCondLst>
                                            <p:cond delay="0"/>
                                          </p:stCondLst>
                                        </p:cTn>
                                        <p:tgtEl>
                                          <p:spTgt spid="55"/>
                                        </p:tgtEl>
                                        <p:attrNameLst>
                                          <p:attrName>style.visibility</p:attrName>
                                        </p:attrNameLst>
                                      </p:cBhvr>
                                      <p:to>
                                        <p:strVal val="visible"/>
                                      </p:to>
                                    </p:set>
                                    <p:animEffect transition="in" filter="fade">
                                      <p:cBhvr>
                                        <p:cTn id="107" dur="400"/>
                                        <p:tgtEl>
                                          <p:spTgt spid="55"/>
                                        </p:tgtEl>
                                      </p:cBhvr>
                                    </p:animEffect>
                                  </p:childTnLst>
                                </p:cTn>
                              </p:par>
                              <p:par>
                                <p:cTn id="108" presetID="10" presetClass="entr" presetSubtype="0" fill="hold" grpId="0" nodeType="withEffect">
                                  <p:stCondLst>
                                    <p:cond delay="200"/>
                                  </p:stCondLst>
                                  <p:childTnLst>
                                    <p:set>
                                      <p:cBhvr>
                                        <p:cTn id="109" dur="1" fill="hold">
                                          <p:stCondLst>
                                            <p:cond delay="0"/>
                                          </p:stCondLst>
                                        </p:cTn>
                                        <p:tgtEl>
                                          <p:spTgt spid="56"/>
                                        </p:tgtEl>
                                        <p:attrNameLst>
                                          <p:attrName>style.visibility</p:attrName>
                                        </p:attrNameLst>
                                      </p:cBhvr>
                                      <p:to>
                                        <p:strVal val="visible"/>
                                      </p:to>
                                    </p:set>
                                    <p:animEffect transition="in" filter="fade">
                                      <p:cBhvr>
                                        <p:cTn id="110" dur="400"/>
                                        <p:tgtEl>
                                          <p:spTgt spid="56"/>
                                        </p:tgtEl>
                                      </p:cBhvr>
                                    </p:animEffect>
                                  </p:childTnLst>
                                </p:cTn>
                              </p:par>
                              <p:par>
                                <p:cTn id="111" presetID="10" presetClass="entr" presetSubtype="0" fill="hold" grpId="0" nodeType="withEffect">
                                  <p:stCondLst>
                                    <p:cond delay="200"/>
                                  </p:stCondLst>
                                  <p:childTnLst>
                                    <p:set>
                                      <p:cBhvr>
                                        <p:cTn id="112" dur="1" fill="hold">
                                          <p:stCondLst>
                                            <p:cond delay="0"/>
                                          </p:stCondLst>
                                        </p:cTn>
                                        <p:tgtEl>
                                          <p:spTgt spid="57"/>
                                        </p:tgtEl>
                                        <p:attrNameLst>
                                          <p:attrName>style.visibility</p:attrName>
                                        </p:attrNameLst>
                                      </p:cBhvr>
                                      <p:to>
                                        <p:strVal val="visible"/>
                                      </p:to>
                                    </p:set>
                                    <p:animEffect transition="in" filter="fade">
                                      <p:cBhvr>
                                        <p:cTn id="113" dur="400"/>
                                        <p:tgtEl>
                                          <p:spTgt spid="57"/>
                                        </p:tgtEl>
                                      </p:cBhvr>
                                    </p:animEffect>
                                  </p:childTnLst>
                                </p:cTn>
                              </p:par>
                              <p:par>
                                <p:cTn id="114" presetID="10" presetClass="entr" presetSubtype="0" fill="hold" grpId="0" nodeType="withEffect">
                                  <p:stCondLst>
                                    <p:cond delay="200"/>
                                  </p:stCondLst>
                                  <p:childTnLst>
                                    <p:set>
                                      <p:cBhvr>
                                        <p:cTn id="115" dur="1" fill="hold">
                                          <p:stCondLst>
                                            <p:cond delay="0"/>
                                          </p:stCondLst>
                                        </p:cTn>
                                        <p:tgtEl>
                                          <p:spTgt spid="58"/>
                                        </p:tgtEl>
                                        <p:attrNameLst>
                                          <p:attrName>style.visibility</p:attrName>
                                        </p:attrNameLst>
                                      </p:cBhvr>
                                      <p:to>
                                        <p:strVal val="visible"/>
                                      </p:to>
                                    </p:set>
                                    <p:animEffect transition="in" filter="fade">
                                      <p:cBhvr>
                                        <p:cTn id="116" dur="400"/>
                                        <p:tgtEl>
                                          <p:spTgt spid="58"/>
                                        </p:tgtEl>
                                      </p:cBhvr>
                                    </p:animEffect>
                                  </p:childTnLst>
                                </p:cTn>
                              </p:par>
                              <p:par>
                                <p:cTn id="117" presetID="10" presetClass="entr" presetSubtype="0" fill="hold" grpId="0" nodeType="withEffect">
                                  <p:stCondLst>
                                    <p:cond delay="200"/>
                                  </p:stCondLst>
                                  <p:childTnLst>
                                    <p:set>
                                      <p:cBhvr>
                                        <p:cTn id="118" dur="1" fill="hold">
                                          <p:stCondLst>
                                            <p:cond delay="0"/>
                                          </p:stCondLst>
                                        </p:cTn>
                                        <p:tgtEl>
                                          <p:spTgt spid="59"/>
                                        </p:tgtEl>
                                        <p:attrNameLst>
                                          <p:attrName>style.visibility</p:attrName>
                                        </p:attrNameLst>
                                      </p:cBhvr>
                                      <p:to>
                                        <p:strVal val="visible"/>
                                      </p:to>
                                    </p:set>
                                    <p:animEffect transition="in" filter="fade">
                                      <p:cBhvr>
                                        <p:cTn id="119" dur="400"/>
                                        <p:tgtEl>
                                          <p:spTgt spid="59"/>
                                        </p:tgtEl>
                                      </p:cBhvr>
                                    </p:animEffect>
                                  </p:childTnLst>
                                </p:cTn>
                              </p:par>
                              <p:par>
                                <p:cTn id="120" presetID="10" presetClass="entr" presetSubtype="0" fill="hold" grpId="0" nodeType="withEffect">
                                  <p:stCondLst>
                                    <p:cond delay="200"/>
                                  </p:stCondLst>
                                  <p:childTnLst>
                                    <p:set>
                                      <p:cBhvr>
                                        <p:cTn id="121" dur="1" fill="hold">
                                          <p:stCondLst>
                                            <p:cond delay="0"/>
                                          </p:stCondLst>
                                        </p:cTn>
                                        <p:tgtEl>
                                          <p:spTgt spid="60"/>
                                        </p:tgtEl>
                                        <p:attrNameLst>
                                          <p:attrName>style.visibility</p:attrName>
                                        </p:attrNameLst>
                                      </p:cBhvr>
                                      <p:to>
                                        <p:strVal val="visible"/>
                                      </p:to>
                                    </p:set>
                                    <p:animEffect transition="in" filter="fade">
                                      <p:cBhvr>
                                        <p:cTn id="122" dur="400"/>
                                        <p:tgtEl>
                                          <p:spTgt spid="60"/>
                                        </p:tgtEl>
                                      </p:cBhvr>
                                    </p:animEffect>
                                  </p:childTnLst>
                                </p:cTn>
                              </p:par>
                              <p:par>
                                <p:cTn id="123" presetID="10" presetClass="entr" presetSubtype="0" fill="hold" grpId="0" nodeType="withEffect">
                                  <p:stCondLst>
                                    <p:cond delay="200"/>
                                  </p:stCondLst>
                                  <p:childTnLst>
                                    <p:set>
                                      <p:cBhvr>
                                        <p:cTn id="124" dur="1" fill="hold">
                                          <p:stCondLst>
                                            <p:cond delay="0"/>
                                          </p:stCondLst>
                                        </p:cTn>
                                        <p:tgtEl>
                                          <p:spTgt spid="100"/>
                                        </p:tgtEl>
                                        <p:attrNameLst>
                                          <p:attrName>style.visibility</p:attrName>
                                        </p:attrNameLst>
                                      </p:cBhvr>
                                      <p:to>
                                        <p:strVal val="visible"/>
                                      </p:to>
                                    </p:set>
                                    <p:animEffect transition="in" filter="fade">
                                      <p:cBhvr>
                                        <p:cTn id="125" dur="400"/>
                                        <p:tgtEl>
                                          <p:spTgt spid="100"/>
                                        </p:tgtEl>
                                      </p:cBhvr>
                                    </p:animEffect>
                                  </p:childTnLst>
                                </p:cTn>
                              </p:par>
                              <p:par>
                                <p:cTn id="126" presetID="10" presetClass="entr" presetSubtype="0" fill="hold" grpId="0" nodeType="withEffect">
                                  <p:stCondLst>
                                    <p:cond delay="200"/>
                                  </p:stCondLst>
                                  <p:childTnLst>
                                    <p:set>
                                      <p:cBhvr>
                                        <p:cTn id="127" dur="1" fill="hold">
                                          <p:stCondLst>
                                            <p:cond delay="0"/>
                                          </p:stCondLst>
                                        </p:cTn>
                                        <p:tgtEl>
                                          <p:spTgt spid="101"/>
                                        </p:tgtEl>
                                        <p:attrNameLst>
                                          <p:attrName>style.visibility</p:attrName>
                                        </p:attrNameLst>
                                      </p:cBhvr>
                                      <p:to>
                                        <p:strVal val="visible"/>
                                      </p:to>
                                    </p:set>
                                    <p:animEffect transition="in" filter="fade">
                                      <p:cBhvr>
                                        <p:cTn id="128" dur="400"/>
                                        <p:tgtEl>
                                          <p:spTgt spid="101"/>
                                        </p:tgtEl>
                                      </p:cBhvr>
                                    </p:animEffect>
                                  </p:childTnLst>
                                </p:cTn>
                              </p:par>
                              <p:par>
                                <p:cTn id="129" presetID="10" presetClass="entr" presetSubtype="0" fill="hold" grpId="0" nodeType="withEffect">
                                  <p:stCondLst>
                                    <p:cond delay="200"/>
                                  </p:stCondLst>
                                  <p:childTnLst>
                                    <p:set>
                                      <p:cBhvr>
                                        <p:cTn id="130" dur="1" fill="hold">
                                          <p:stCondLst>
                                            <p:cond delay="0"/>
                                          </p:stCondLst>
                                        </p:cTn>
                                        <p:tgtEl>
                                          <p:spTgt spid="102"/>
                                        </p:tgtEl>
                                        <p:attrNameLst>
                                          <p:attrName>style.visibility</p:attrName>
                                        </p:attrNameLst>
                                      </p:cBhvr>
                                      <p:to>
                                        <p:strVal val="visible"/>
                                      </p:to>
                                    </p:set>
                                    <p:animEffect transition="in" filter="fade">
                                      <p:cBhvr>
                                        <p:cTn id="131" dur="400"/>
                                        <p:tgtEl>
                                          <p:spTgt spid="102"/>
                                        </p:tgtEl>
                                      </p:cBhvr>
                                    </p:animEffect>
                                  </p:childTnLst>
                                </p:cTn>
                              </p:par>
                              <p:par>
                                <p:cTn id="132" presetID="10" presetClass="entr" presetSubtype="0" fill="hold" grpId="0" nodeType="withEffect">
                                  <p:stCondLst>
                                    <p:cond delay="200"/>
                                  </p:stCondLst>
                                  <p:childTnLst>
                                    <p:set>
                                      <p:cBhvr>
                                        <p:cTn id="133" dur="1" fill="hold">
                                          <p:stCondLst>
                                            <p:cond delay="0"/>
                                          </p:stCondLst>
                                        </p:cTn>
                                        <p:tgtEl>
                                          <p:spTgt spid="153"/>
                                        </p:tgtEl>
                                        <p:attrNameLst>
                                          <p:attrName>style.visibility</p:attrName>
                                        </p:attrNameLst>
                                      </p:cBhvr>
                                      <p:to>
                                        <p:strVal val="visible"/>
                                      </p:to>
                                    </p:set>
                                    <p:animEffect transition="in" filter="fade">
                                      <p:cBhvr>
                                        <p:cTn id="134" dur="400"/>
                                        <p:tgtEl>
                                          <p:spTgt spid="153"/>
                                        </p:tgtEl>
                                      </p:cBhvr>
                                    </p:animEffect>
                                  </p:childTnLst>
                                </p:cTn>
                              </p:par>
                              <p:par>
                                <p:cTn id="135" presetID="10" presetClass="entr" presetSubtype="0" fill="hold" grpId="0" nodeType="withEffect">
                                  <p:stCondLst>
                                    <p:cond delay="200"/>
                                  </p:stCondLst>
                                  <p:childTnLst>
                                    <p:set>
                                      <p:cBhvr>
                                        <p:cTn id="136" dur="1" fill="hold">
                                          <p:stCondLst>
                                            <p:cond delay="0"/>
                                          </p:stCondLst>
                                        </p:cTn>
                                        <p:tgtEl>
                                          <p:spTgt spid="154"/>
                                        </p:tgtEl>
                                        <p:attrNameLst>
                                          <p:attrName>style.visibility</p:attrName>
                                        </p:attrNameLst>
                                      </p:cBhvr>
                                      <p:to>
                                        <p:strVal val="visible"/>
                                      </p:to>
                                    </p:set>
                                    <p:animEffect transition="in" filter="fade">
                                      <p:cBhvr>
                                        <p:cTn id="137" dur="400"/>
                                        <p:tgtEl>
                                          <p:spTgt spid="154"/>
                                        </p:tgtEl>
                                      </p:cBhvr>
                                    </p:animEffect>
                                  </p:childTnLst>
                                </p:cTn>
                              </p:par>
                              <p:par>
                                <p:cTn id="138" presetID="10" presetClass="entr" presetSubtype="0" fill="hold" grpId="0" nodeType="withEffect">
                                  <p:stCondLst>
                                    <p:cond delay="200"/>
                                  </p:stCondLst>
                                  <p:childTnLst>
                                    <p:set>
                                      <p:cBhvr>
                                        <p:cTn id="139" dur="1" fill="hold">
                                          <p:stCondLst>
                                            <p:cond delay="0"/>
                                          </p:stCondLst>
                                        </p:cTn>
                                        <p:tgtEl>
                                          <p:spTgt spid="155"/>
                                        </p:tgtEl>
                                        <p:attrNameLst>
                                          <p:attrName>style.visibility</p:attrName>
                                        </p:attrNameLst>
                                      </p:cBhvr>
                                      <p:to>
                                        <p:strVal val="visible"/>
                                      </p:to>
                                    </p:set>
                                    <p:animEffect transition="in" filter="fade">
                                      <p:cBhvr>
                                        <p:cTn id="140" dur="400"/>
                                        <p:tgtEl>
                                          <p:spTgt spid="155"/>
                                        </p:tgtEl>
                                      </p:cBhvr>
                                    </p:animEffect>
                                  </p:childTnLst>
                                </p:cTn>
                              </p:par>
                              <p:par>
                                <p:cTn id="141" presetID="10" presetClass="entr" presetSubtype="0" fill="hold" grpId="0" nodeType="withEffect">
                                  <p:stCondLst>
                                    <p:cond delay="200"/>
                                  </p:stCondLst>
                                  <p:childTnLst>
                                    <p:set>
                                      <p:cBhvr>
                                        <p:cTn id="142" dur="1" fill="hold">
                                          <p:stCondLst>
                                            <p:cond delay="0"/>
                                          </p:stCondLst>
                                        </p:cTn>
                                        <p:tgtEl>
                                          <p:spTgt spid="156"/>
                                        </p:tgtEl>
                                        <p:attrNameLst>
                                          <p:attrName>style.visibility</p:attrName>
                                        </p:attrNameLst>
                                      </p:cBhvr>
                                      <p:to>
                                        <p:strVal val="visible"/>
                                      </p:to>
                                    </p:set>
                                    <p:animEffect transition="in" filter="fade">
                                      <p:cBhvr>
                                        <p:cTn id="143" dur="400"/>
                                        <p:tgtEl>
                                          <p:spTgt spid="156"/>
                                        </p:tgtEl>
                                      </p:cBhvr>
                                    </p:animEffect>
                                  </p:childTnLst>
                                </p:cTn>
                              </p:par>
                            </p:childTnLst>
                          </p:cTn>
                        </p:par>
                      </p:childTnLst>
                    </p:cTn>
                  </p:par>
                  <p:par>
                    <p:cTn id="697" fill="hold">
                      <p:stCondLst>
                        <p:cond delay="indefinite"/>
                      </p:stCondLst>
                      <p:childTnLst>
                        <p:par>
                          <p:cTn id="698" fill="hold">
                            <p:stCondLst>
                              <p:cond delay="0"/>
                            </p:stCondLst>
                            <p:childTnLst>
                              <p:par>
                                <p:cTn id="144" presetID="10" presetClass="exit" presetSubtype="0" fill="hold" grpId="1" nodeType="clickEffect">
                                  <p:stCondLst>
                                    <p:cond delay="0"/>
                                  </p:stCondLst>
                                  <p:childTnLst>
                                    <p:animEffect transition="out" filter="fade">
                                      <p:cBhvr>
                                        <p:cTn id="145" dur="200"/>
                                        <p:tgtEl>
                                          <p:spTgt spid="53"/>
                                        </p:tgtEl>
                                      </p:cBhvr>
                                    </p:animEffect>
                                    <p:set>
                                      <p:cBhvr>
                                        <p:cTn id="146" dur="1" fill="hold">
                                          <p:stCondLst>
                                            <p:cond delay="199"/>
                                          </p:stCondLst>
                                        </p:cTn>
                                        <p:tgtEl>
                                          <p:spTgt spid="53"/>
                                        </p:tgtEl>
                                        <p:attrNameLst>
                                          <p:attrName>style.visibility</p:attrName>
                                        </p:attrNameLst>
                                      </p:cBhvr>
                                      <p:to>
                                        <p:strVal val="hidden"/>
                                      </p:to>
                                    </p:set>
                                  </p:childTnLst>
                                </p:cTn>
                              </p:par>
                              <p:par>
                                <p:cTn id="147" presetID="10" presetClass="exit" presetSubtype="0" fill="hold" grpId="1" nodeType="withEffect">
                                  <p:stCondLst>
                                    <p:cond delay="0"/>
                                  </p:stCondLst>
                                  <p:childTnLst>
                                    <p:animEffect transition="out" filter="fade">
                                      <p:cBhvr>
                                        <p:cTn id="148" dur="200"/>
                                        <p:tgtEl>
                                          <p:spTgt spid="54"/>
                                        </p:tgtEl>
                                      </p:cBhvr>
                                    </p:animEffect>
                                    <p:set>
                                      <p:cBhvr>
                                        <p:cTn id="149" dur="1" fill="hold">
                                          <p:stCondLst>
                                            <p:cond delay="199"/>
                                          </p:stCondLst>
                                        </p:cTn>
                                        <p:tgtEl>
                                          <p:spTgt spid="54"/>
                                        </p:tgtEl>
                                        <p:attrNameLst>
                                          <p:attrName>style.visibility</p:attrName>
                                        </p:attrNameLst>
                                      </p:cBhvr>
                                      <p:to>
                                        <p:strVal val="hidden"/>
                                      </p:to>
                                    </p:set>
                                  </p:childTnLst>
                                </p:cTn>
                              </p:par>
                              <p:par>
                                <p:cTn id="150" presetID="10" presetClass="exit" presetSubtype="0" fill="hold" grpId="1" nodeType="withEffect">
                                  <p:stCondLst>
                                    <p:cond delay="0"/>
                                  </p:stCondLst>
                                  <p:childTnLst>
                                    <p:animEffect transition="out" filter="fade">
                                      <p:cBhvr>
                                        <p:cTn id="151" dur="200"/>
                                        <p:tgtEl>
                                          <p:spTgt spid="55"/>
                                        </p:tgtEl>
                                      </p:cBhvr>
                                    </p:animEffect>
                                    <p:set>
                                      <p:cBhvr>
                                        <p:cTn id="152" dur="1" fill="hold">
                                          <p:stCondLst>
                                            <p:cond delay="199"/>
                                          </p:stCondLst>
                                        </p:cTn>
                                        <p:tgtEl>
                                          <p:spTgt spid="55"/>
                                        </p:tgtEl>
                                        <p:attrNameLst>
                                          <p:attrName>style.visibility</p:attrName>
                                        </p:attrNameLst>
                                      </p:cBhvr>
                                      <p:to>
                                        <p:strVal val="hidden"/>
                                      </p:to>
                                    </p:set>
                                  </p:childTnLst>
                                </p:cTn>
                              </p:par>
                              <p:par>
                                <p:cTn id="153" presetID="10" presetClass="exit" presetSubtype="0" fill="hold" grpId="1" nodeType="withEffect">
                                  <p:stCondLst>
                                    <p:cond delay="0"/>
                                  </p:stCondLst>
                                  <p:childTnLst>
                                    <p:animEffect transition="out" filter="fade">
                                      <p:cBhvr>
                                        <p:cTn id="154" dur="200"/>
                                        <p:tgtEl>
                                          <p:spTgt spid="56"/>
                                        </p:tgtEl>
                                      </p:cBhvr>
                                    </p:animEffect>
                                    <p:set>
                                      <p:cBhvr>
                                        <p:cTn id="155" dur="1" fill="hold">
                                          <p:stCondLst>
                                            <p:cond delay="199"/>
                                          </p:stCondLst>
                                        </p:cTn>
                                        <p:tgtEl>
                                          <p:spTgt spid="56"/>
                                        </p:tgtEl>
                                        <p:attrNameLst>
                                          <p:attrName>style.visibility</p:attrName>
                                        </p:attrNameLst>
                                      </p:cBhvr>
                                      <p:to>
                                        <p:strVal val="hidden"/>
                                      </p:to>
                                    </p:set>
                                  </p:childTnLst>
                                </p:cTn>
                              </p:par>
                              <p:par>
                                <p:cTn id="156" presetID="10" presetClass="exit" presetSubtype="0" fill="hold" grpId="1" nodeType="withEffect">
                                  <p:stCondLst>
                                    <p:cond delay="0"/>
                                  </p:stCondLst>
                                  <p:childTnLst>
                                    <p:animEffect transition="out" filter="fade">
                                      <p:cBhvr>
                                        <p:cTn id="157" dur="200"/>
                                        <p:tgtEl>
                                          <p:spTgt spid="57"/>
                                        </p:tgtEl>
                                      </p:cBhvr>
                                    </p:animEffect>
                                    <p:set>
                                      <p:cBhvr>
                                        <p:cTn id="158" dur="1" fill="hold">
                                          <p:stCondLst>
                                            <p:cond delay="199"/>
                                          </p:stCondLst>
                                        </p:cTn>
                                        <p:tgtEl>
                                          <p:spTgt spid="57"/>
                                        </p:tgtEl>
                                        <p:attrNameLst>
                                          <p:attrName>style.visibility</p:attrName>
                                        </p:attrNameLst>
                                      </p:cBhvr>
                                      <p:to>
                                        <p:strVal val="hidden"/>
                                      </p:to>
                                    </p:set>
                                  </p:childTnLst>
                                </p:cTn>
                              </p:par>
                              <p:par>
                                <p:cTn id="159" presetID="10" presetClass="exit" presetSubtype="0" fill="hold" grpId="1" nodeType="withEffect">
                                  <p:stCondLst>
                                    <p:cond delay="0"/>
                                  </p:stCondLst>
                                  <p:childTnLst>
                                    <p:animEffect transition="out" filter="fade">
                                      <p:cBhvr>
                                        <p:cTn id="160" dur="200"/>
                                        <p:tgtEl>
                                          <p:spTgt spid="58"/>
                                        </p:tgtEl>
                                      </p:cBhvr>
                                    </p:animEffect>
                                    <p:set>
                                      <p:cBhvr>
                                        <p:cTn id="161" dur="1" fill="hold">
                                          <p:stCondLst>
                                            <p:cond delay="199"/>
                                          </p:stCondLst>
                                        </p:cTn>
                                        <p:tgtEl>
                                          <p:spTgt spid="58"/>
                                        </p:tgtEl>
                                        <p:attrNameLst>
                                          <p:attrName>style.visibility</p:attrName>
                                        </p:attrNameLst>
                                      </p:cBhvr>
                                      <p:to>
                                        <p:strVal val="hidden"/>
                                      </p:to>
                                    </p:set>
                                  </p:childTnLst>
                                </p:cTn>
                              </p:par>
                              <p:par>
                                <p:cTn id="162" presetID="10" presetClass="exit" presetSubtype="0" fill="hold" grpId="1" nodeType="withEffect">
                                  <p:stCondLst>
                                    <p:cond delay="0"/>
                                  </p:stCondLst>
                                  <p:childTnLst>
                                    <p:animEffect transition="out" filter="fade">
                                      <p:cBhvr>
                                        <p:cTn id="163" dur="200"/>
                                        <p:tgtEl>
                                          <p:spTgt spid="59"/>
                                        </p:tgtEl>
                                      </p:cBhvr>
                                    </p:animEffect>
                                    <p:set>
                                      <p:cBhvr>
                                        <p:cTn id="164" dur="1" fill="hold">
                                          <p:stCondLst>
                                            <p:cond delay="199"/>
                                          </p:stCondLst>
                                        </p:cTn>
                                        <p:tgtEl>
                                          <p:spTgt spid="59"/>
                                        </p:tgtEl>
                                        <p:attrNameLst>
                                          <p:attrName>style.visibility</p:attrName>
                                        </p:attrNameLst>
                                      </p:cBhvr>
                                      <p:to>
                                        <p:strVal val="hidden"/>
                                      </p:to>
                                    </p:set>
                                  </p:childTnLst>
                                </p:cTn>
                              </p:par>
                              <p:par>
                                <p:cTn id="165" presetID="10" presetClass="exit" presetSubtype="0" fill="hold" grpId="1" nodeType="withEffect">
                                  <p:stCondLst>
                                    <p:cond delay="0"/>
                                  </p:stCondLst>
                                  <p:childTnLst>
                                    <p:animEffect transition="out" filter="fade">
                                      <p:cBhvr>
                                        <p:cTn id="166" dur="200"/>
                                        <p:tgtEl>
                                          <p:spTgt spid="60"/>
                                        </p:tgtEl>
                                      </p:cBhvr>
                                    </p:animEffect>
                                    <p:set>
                                      <p:cBhvr>
                                        <p:cTn id="167" dur="1" fill="hold">
                                          <p:stCondLst>
                                            <p:cond delay="199"/>
                                          </p:stCondLst>
                                        </p:cTn>
                                        <p:tgtEl>
                                          <p:spTgt spid="60"/>
                                        </p:tgtEl>
                                        <p:attrNameLst>
                                          <p:attrName>style.visibility</p:attrName>
                                        </p:attrNameLst>
                                      </p:cBhvr>
                                      <p:to>
                                        <p:strVal val="hidden"/>
                                      </p:to>
                                    </p:set>
                                  </p:childTnLst>
                                </p:cTn>
                              </p:par>
                              <p:par>
                                <p:cTn id="168" presetID="10" presetClass="exit" presetSubtype="0" fill="hold" grpId="0" nodeType="withEffect">
                                  <p:stCondLst>
                                    <p:cond delay="0"/>
                                  </p:stCondLst>
                                  <p:childTnLst>
                                    <p:animEffect transition="out" filter="fade">
                                      <p:cBhvr>
                                        <p:cTn id="169" dur="200"/>
                                        <p:tgtEl>
                                          <p:spTgt spid="97"/>
                                        </p:tgtEl>
                                      </p:cBhvr>
                                    </p:animEffect>
                                    <p:set>
                                      <p:cBhvr>
                                        <p:cTn id="170" dur="1" fill="hold">
                                          <p:stCondLst>
                                            <p:cond delay="199"/>
                                          </p:stCondLst>
                                        </p:cTn>
                                        <p:tgtEl>
                                          <p:spTgt spid="97"/>
                                        </p:tgtEl>
                                        <p:attrNameLst>
                                          <p:attrName>style.visibility</p:attrName>
                                        </p:attrNameLst>
                                      </p:cBhvr>
                                      <p:to>
                                        <p:strVal val="hidden"/>
                                      </p:to>
                                    </p:set>
                                  </p:childTnLst>
                                </p:cTn>
                              </p:par>
                              <p:par>
                                <p:cTn id="171" presetID="10" presetClass="exit" presetSubtype="0" fill="hold" grpId="0" nodeType="withEffect">
                                  <p:stCondLst>
                                    <p:cond delay="0"/>
                                  </p:stCondLst>
                                  <p:childTnLst>
                                    <p:animEffect transition="out" filter="fade">
                                      <p:cBhvr>
                                        <p:cTn id="172" dur="200"/>
                                        <p:tgtEl>
                                          <p:spTgt spid="98"/>
                                        </p:tgtEl>
                                      </p:cBhvr>
                                    </p:animEffect>
                                    <p:set>
                                      <p:cBhvr>
                                        <p:cTn id="173" dur="1" fill="hold">
                                          <p:stCondLst>
                                            <p:cond delay="199"/>
                                          </p:stCondLst>
                                        </p:cTn>
                                        <p:tgtEl>
                                          <p:spTgt spid="98"/>
                                        </p:tgtEl>
                                        <p:attrNameLst>
                                          <p:attrName>style.visibility</p:attrName>
                                        </p:attrNameLst>
                                      </p:cBhvr>
                                      <p:to>
                                        <p:strVal val="hidden"/>
                                      </p:to>
                                    </p:set>
                                  </p:childTnLst>
                                </p:cTn>
                              </p:par>
                              <p:par>
                                <p:cTn id="174" presetID="10" presetClass="exit" presetSubtype="0" fill="hold" grpId="0" nodeType="withEffect">
                                  <p:stCondLst>
                                    <p:cond delay="0"/>
                                  </p:stCondLst>
                                  <p:childTnLst>
                                    <p:animEffect transition="out" filter="fade">
                                      <p:cBhvr>
                                        <p:cTn id="175" dur="200"/>
                                        <p:tgtEl>
                                          <p:spTgt spid="99"/>
                                        </p:tgtEl>
                                      </p:cBhvr>
                                    </p:animEffect>
                                    <p:set>
                                      <p:cBhvr>
                                        <p:cTn id="176" dur="1" fill="hold">
                                          <p:stCondLst>
                                            <p:cond delay="199"/>
                                          </p:stCondLst>
                                        </p:cTn>
                                        <p:tgtEl>
                                          <p:spTgt spid="99"/>
                                        </p:tgtEl>
                                        <p:attrNameLst>
                                          <p:attrName>style.visibility</p:attrName>
                                        </p:attrNameLst>
                                      </p:cBhvr>
                                      <p:to>
                                        <p:strVal val="hidden"/>
                                      </p:to>
                                    </p:set>
                                  </p:childTnLst>
                                </p:cTn>
                              </p:par>
                              <p:par>
                                <p:cTn id="177" presetID="10" presetClass="exit" presetSubtype="0" fill="hold" grpId="1" nodeType="withEffect">
                                  <p:stCondLst>
                                    <p:cond delay="0"/>
                                  </p:stCondLst>
                                  <p:childTnLst>
                                    <p:animEffect transition="out" filter="fade">
                                      <p:cBhvr>
                                        <p:cTn id="178" dur="200"/>
                                        <p:tgtEl>
                                          <p:spTgt spid="124"/>
                                        </p:tgtEl>
                                      </p:cBhvr>
                                    </p:animEffect>
                                    <p:set>
                                      <p:cBhvr>
                                        <p:cTn id="179" dur="1" fill="hold">
                                          <p:stCondLst>
                                            <p:cond delay="199"/>
                                          </p:stCondLst>
                                        </p:cTn>
                                        <p:tgtEl>
                                          <p:spTgt spid="124"/>
                                        </p:tgtEl>
                                        <p:attrNameLst>
                                          <p:attrName>style.visibility</p:attrName>
                                        </p:attrNameLst>
                                      </p:cBhvr>
                                      <p:to>
                                        <p:strVal val="hidden"/>
                                      </p:to>
                                    </p:set>
                                  </p:childTnLst>
                                </p:cTn>
                              </p:par>
                              <p:par>
                                <p:cTn id="180" presetID="10" presetClass="exit" presetSubtype="0" fill="hold" grpId="1" nodeType="withEffect">
                                  <p:stCondLst>
                                    <p:cond delay="0"/>
                                  </p:stCondLst>
                                  <p:childTnLst>
                                    <p:animEffect transition="out" filter="fade">
                                      <p:cBhvr>
                                        <p:cTn id="181" dur="200"/>
                                        <p:tgtEl>
                                          <p:spTgt spid="153"/>
                                        </p:tgtEl>
                                      </p:cBhvr>
                                    </p:animEffect>
                                    <p:set>
                                      <p:cBhvr>
                                        <p:cTn id="182" dur="1" fill="hold">
                                          <p:stCondLst>
                                            <p:cond delay="199"/>
                                          </p:stCondLst>
                                        </p:cTn>
                                        <p:tgtEl>
                                          <p:spTgt spid="153"/>
                                        </p:tgtEl>
                                        <p:attrNameLst>
                                          <p:attrName>style.visibility</p:attrName>
                                        </p:attrNameLst>
                                      </p:cBhvr>
                                      <p:to>
                                        <p:strVal val="hidden"/>
                                      </p:to>
                                    </p:set>
                                  </p:childTnLst>
                                </p:cTn>
                              </p:par>
                              <p:par>
                                <p:cTn id="183" presetID="10" presetClass="exit" presetSubtype="0" fill="hold" grpId="1" nodeType="withEffect">
                                  <p:stCondLst>
                                    <p:cond delay="0"/>
                                  </p:stCondLst>
                                  <p:childTnLst>
                                    <p:animEffect transition="out" filter="fade">
                                      <p:cBhvr>
                                        <p:cTn id="184" dur="200"/>
                                        <p:tgtEl>
                                          <p:spTgt spid="154"/>
                                        </p:tgtEl>
                                      </p:cBhvr>
                                    </p:animEffect>
                                    <p:set>
                                      <p:cBhvr>
                                        <p:cTn id="185" dur="1" fill="hold">
                                          <p:stCondLst>
                                            <p:cond delay="199"/>
                                          </p:stCondLst>
                                        </p:cTn>
                                        <p:tgtEl>
                                          <p:spTgt spid="154"/>
                                        </p:tgtEl>
                                        <p:attrNameLst>
                                          <p:attrName>style.visibility</p:attrName>
                                        </p:attrNameLst>
                                      </p:cBhvr>
                                      <p:to>
                                        <p:strVal val="hidden"/>
                                      </p:to>
                                    </p:set>
                                  </p:childTnLst>
                                </p:cTn>
                              </p:par>
                              <p:par>
                                <p:cTn id="186" presetID="10" presetClass="exit" presetSubtype="0" fill="hold" grpId="1" nodeType="withEffect">
                                  <p:stCondLst>
                                    <p:cond delay="0"/>
                                  </p:stCondLst>
                                  <p:childTnLst>
                                    <p:animEffect transition="out" filter="fade">
                                      <p:cBhvr>
                                        <p:cTn id="187" dur="200"/>
                                        <p:tgtEl>
                                          <p:spTgt spid="155"/>
                                        </p:tgtEl>
                                      </p:cBhvr>
                                    </p:animEffect>
                                    <p:set>
                                      <p:cBhvr>
                                        <p:cTn id="188" dur="1" fill="hold">
                                          <p:stCondLst>
                                            <p:cond delay="199"/>
                                          </p:stCondLst>
                                        </p:cTn>
                                        <p:tgtEl>
                                          <p:spTgt spid="155"/>
                                        </p:tgtEl>
                                        <p:attrNameLst>
                                          <p:attrName>style.visibility</p:attrName>
                                        </p:attrNameLst>
                                      </p:cBhvr>
                                      <p:to>
                                        <p:strVal val="hidden"/>
                                      </p:to>
                                    </p:set>
                                  </p:childTnLst>
                                </p:cTn>
                              </p:par>
                              <p:par>
                                <p:cTn id="189" presetID="10" presetClass="exit" presetSubtype="0" fill="hold" grpId="1" nodeType="withEffect">
                                  <p:stCondLst>
                                    <p:cond delay="0"/>
                                  </p:stCondLst>
                                  <p:childTnLst>
                                    <p:animEffect transition="out" filter="fade">
                                      <p:cBhvr>
                                        <p:cTn id="190" dur="200"/>
                                        <p:tgtEl>
                                          <p:spTgt spid="156"/>
                                        </p:tgtEl>
                                      </p:cBhvr>
                                    </p:animEffect>
                                    <p:set>
                                      <p:cBhvr>
                                        <p:cTn id="191" dur="1" fill="hold">
                                          <p:stCondLst>
                                            <p:cond delay="199"/>
                                          </p:stCondLst>
                                        </p:cTn>
                                        <p:tgtEl>
                                          <p:spTgt spid="156"/>
                                        </p:tgtEl>
                                        <p:attrNameLst>
                                          <p:attrName>style.visibility</p:attrName>
                                        </p:attrNameLst>
                                      </p:cBhvr>
                                      <p:to>
                                        <p:strVal val="hidden"/>
                                      </p:to>
                                    </p:set>
                                  </p:childTnLst>
                                </p:cTn>
                              </p:par>
                              <p:par>
                                <p:cTn id="192" presetID="10" presetClass="entr" presetSubtype="0" fill="hold" grpId="0" nodeType="withEffect">
                                  <p:stCondLst>
                                    <p:cond delay="200"/>
                                  </p:stCondLst>
                                  <p:childTnLst>
                                    <p:set>
                                      <p:cBhvr>
                                        <p:cTn id="193" dur="1" fill="hold">
                                          <p:stCondLst>
                                            <p:cond delay="0"/>
                                          </p:stCondLst>
                                        </p:cTn>
                                        <p:tgtEl>
                                          <p:spTgt spid="40"/>
                                        </p:tgtEl>
                                        <p:attrNameLst>
                                          <p:attrName>style.visibility</p:attrName>
                                        </p:attrNameLst>
                                      </p:cBhvr>
                                      <p:to>
                                        <p:strVal val="visible"/>
                                      </p:to>
                                    </p:set>
                                    <p:animEffect transition="in" filter="fade">
                                      <p:cBhvr>
                                        <p:cTn id="194" dur="400"/>
                                        <p:tgtEl>
                                          <p:spTgt spid="40"/>
                                        </p:tgtEl>
                                      </p:cBhvr>
                                    </p:animEffect>
                                  </p:childTnLst>
                                </p:cTn>
                              </p:par>
                              <p:par>
                                <p:cTn id="195" presetID="10" presetClass="entr" presetSubtype="0" fill="hold" grpId="0" nodeType="withEffect">
                                  <p:stCondLst>
                                    <p:cond delay="200"/>
                                  </p:stCondLst>
                                  <p:childTnLst>
                                    <p:set>
                                      <p:cBhvr>
                                        <p:cTn id="196" dur="1" fill="hold">
                                          <p:stCondLst>
                                            <p:cond delay="0"/>
                                          </p:stCondLst>
                                        </p:cTn>
                                        <p:tgtEl>
                                          <p:spTgt spid="41"/>
                                        </p:tgtEl>
                                        <p:attrNameLst>
                                          <p:attrName>style.visibility</p:attrName>
                                        </p:attrNameLst>
                                      </p:cBhvr>
                                      <p:to>
                                        <p:strVal val="visible"/>
                                      </p:to>
                                    </p:set>
                                    <p:animEffect transition="in" filter="fade">
                                      <p:cBhvr>
                                        <p:cTn id="197" dur="400"/>
                                        <p:tgtEl>
                                          <p:spTgt spid="41"/>
                                        </p:tgtEl>
                                      </p:cBhvr>
                                    </p:animEffect>
                                  </p:childTnLst>
                                </p:cTn>
                              </p:par>
                              <p:par>
                                <p:cTn id="198" presetID="10" presetClass="entr" presetSubtype="0" fill="hold" grpId="0" nodeType="withEffect">
                                  <p:stCondLst>
                                    <p:cond delay="200"/>
                                  </p:stCondLst>
                                  <p:childTnLst>
                                    <p:set>
                                      <p:cBhvr>
                                        <p:cTn id="199" dur="1" fill="hold">
                                          <p:stCondLst>
                                            <p:cond delay="0"/>
                                          </p:stCondLst>
                                        </p:cTn>
                                        <p:tgtEl>
                                          <p:spTgt spid="42"/>
                                        </p:tgtEl>
                                        <p:attrNameLst>
                                          <p:attrName>style.visibility</p:attrName>
                                        </p:attrNameLst>
                                      </p:cBhvr>
                                      <p:to>
                                        <p:strVal val="visible"/>
                                      </p:to>
                                    </p:set>
                                    <p:animEffect transition="in" filter="fade">
                                      <p:cBhvr>
                                        <p:cTn id="200" dur="400"/>
                                        <p:tgtEl>
                                          <p:spTgt spid="42"/>
                                        </p:tgtEl>
                                      </p:cBhvr>
                                    </p:animEffect>
                                  </p:childTnLst>
                                </p:cTn>
                              </p:par>
                              <p:par>
                                <p:cTn id="201" presetID="10" presetClass="entr" presetSubtype="0" fill="hold" grpId="0" nodeType="withEffect">
                                  <p:stCondLst>
                                    <p:cond delay="200"/>
                                  </p:stCondLst>
                                  <p:childTnLst>
                                    <p:set>
                                      <p:cBhvr>
                                        <p:cTn id="202" dur="1" fill="hold">
                                          <p:stCondLst>
                                            <p:cond delay="0"/>
                                          </p:stCondLst>
                                        </p:cTn>
                                        <p:tgtEl>
                                          <p:spTgt spid="43"/>
                                        </p:tgtEl>
                                        <p:attrNameLst>
                                          <p:attrName>style.visibility</p:attrName>
                                        </p:attrNameLst>
                                      </p:cBhvr>
                                      <p:to>
                                        <p:strVal val="visible"/>
                                      </p:to>
                                    </p:set>
                                    <p:animEffect transition="in" filter="fade">
                                      <p:cBhvr>
                                        <p:cTn id="203" dur="400"/>
                                        <p:tgtEl>
                                          <p:spTgt spid="43"/>
                                        </p:tgtEl>
                                      </p:cBhvr>
                                    </p:animEffect>
                                  </p:childTnLst>
                                </p:cTn>
                              </p:par>
                              <p:par>
                                <p:cTn id="204" presetID="10" presetClass="entr" presetSubtype="0" fill="hold" grpId="0" nodeType="withEffect">
                                  <p:stCondLst>
                                    <p:cond delay="200"/>
                                  </p:stCondLst>
                                  <p:childTnLst>
                                    <p:set>
                                      <p:cBhvr>
                                        <p:cTn id="205" dur="1" fill="hold">
                                          <p:stCondLst>
                                            <p:cond delay="0"/>
                                          </p:stCondLst>
                                        </p:cTn>
                                        <p:tgtEl>
                                          <p:spTgt spid="44"/>
                                        </p:tgtEl>
                                        <p:attrNameLst>
                                          <p:attrName>style.visibility</p:attrName>
                                        </p:attrNameLst>
                                      </p:cBhvr>
                                      <p:to>
                                        <p:strVal val="visible"/>
                                      </p:to>
                                    </p:set>
                                    <p:animEffect transition="in" filter="fade">
                                      <p:cBhvr>
                                        <p:cTn id="206" dur="400"/>
                                        <p:tgtEl>
                                          <p:spTgt spid="44"/>
                                        </p:tgtEl>
                                      </p:cBhvr>
                                    </p:animEffect>
                                  </p:childTnLst>
                                </p:cTn>
                              </p:par>
                              <p:par>
                                <p:cTn id="207" presetID="10" presetClass="entr" presetSubtype="0" fill="hold" grpId="0" nodeType="withEffect">
                                  <p:stCondLst>
                                    <p:cond delay="200"/>
                                  </p:stCondLst>
                                  <p:childTnLst>
                                    <p:set>
                                      <p:cBhvr>
                                        <p:cTn id="208" dur="1" fill="hold">
                                          <p:stCondLst>
                                            <p:cond delay="0"/>
                                          </p:stCondLst>
                                        </p:cTn>
                                        <p:tgtEl>
                                          <p:spTgt spid="45"/>
                                        </p:tgtEl>
                                        <p:attrNameLst>
                                          <p:attrName>style.visibility</p:attrName>
                                        </p:attrNameLst>
                                      </p:cBhvr>
                                      <p:to>
                                        <p:strVal val="visible"/>
                                      </p:to>
                                    </p:set>
                                    <p:animEffect transition="in" filter="fade">
                                      <p:cBhvr>
                                        <p:cTn id="209" dur="400"/>
                                        <p:tgtEl>
                                          <p:spTgt spid="45"/>
                                        </p:tgtEl>
                                      </p:cBhvr>
                                    </p:animEffect>
                                  </p:childTnLst>
                                </p:cTn>
                              </p:par>
                              <p:par>
                                <p:cTn id="210" presetID="10" presetClass="entr" presetSubtype="0" fill="hold" grpId="0" nodeType="withEffect">
                                  <p:stCondLst>
                                    <p:cond delay="200"/>
                                  </p:stCondLst>
                                  <p:childTnLst>
                                    <p:set>
                                      <p:cBhvr>
                                        <p:cTn id="211" dur="1" fill="hold">
                                          <p:stCondLst>
                                            <p:cond delay="0"/>
                                          </p:stCondLst>
                                        </p:cTn>
                                        <p:tgtEl>
                                          <p:spTgt spid="93"/>
                                        </p:tgtEl>
                                        <p:attrNameLst>
                                          <p:attrName>style.visibility</p:attrName>
                                        </p:attrNameLst>
                                      </p:cBhvr>
                                      <p:to>
                                        <p:strVal val="visible"/>
                                      </p:to>
                                    </p:set>
                                    <p:animEffect transition="in" filter="fade">
                                      <p:cBhvr>
                                        <p:cTn id="212" dur="400"/>
                                        <p:tgtEl>
                                          <p:spTgt spid="93"/>
                                        </p:tgtEl>
                                      </p:cBhvr>
                                    </p:animEffect>
                                  </p:childTnLst>
                                </p:cTn>
                              </p:par>
                              <p:par>
                                <p:cTn id="213" presetID="10" presetClass="entr" presetSubtype="0" fill="hold" grpId="0" nodeType="withEffect">
                                  <p:stCondLst>
                                    <p:cond delay="200"/>
                                  </p:stCondLst>
                                  <p:childTnLst>
                                    <p:set>
                                      <p:cBhvr>
                                        <p:cTn id="214" dur="1" fill="hold">
                                          <p:stCondLst>
                                            <p:cond delay="0"/>
                                          </p:stCondLst>
                                        </p:cTn>
                                        <p:tgtEl>
                                          <p:spTgt spid="94"/>
                                        </p:tgtEl>
                                        <p:attrNameLst>
                                          <p:attrName>style.visibility</p:attrName>
                                        </p:attrNameLst>
                                      </p:cBhvr>
                                      <p:to>
                                        <p:strVal val="visible"/>
                                      </p:to>
                                    </p:set>
                                    <p:animEffect transition="in" filter="fade">
                                      <p:cBhvr>
                                        <p:cTn id="215" dur="400"/>
                                        <p:tgtEl>
                                          <p:spTgt spid="94"/>
                                        </p:tgtEl>
                                      </p:cBhvr>
                                    </p:animEffect>
                                  </p:childTnLst>
                                </p:cTn>
                              </p:par>
                              <p:par>
                                <p:cTn id="216" presetID="10" presetClass="entr" presetSubtype="0" fill="hold" grpId="0" nodeType="withEffect">
                                  <p:stCondLst>
                                    <p:cond delay="200"/>
                                  </p:stCondLst>
                                  <p:childTnLst>
                                    <p:set>
                                      <p:cBhvr>
                                        <p:cTn id="217" dur="1" fill="hold">
                                          <p:stCondLst>
                                            <p:cond delay="0"/>
                                          </p:stCondLst>
                                        </p:cTn>
                                        <p:tgtEl>
                                          <p:spTgt spid="95"/>
                                        </p:tgtEl>
                                        <p:attrNameLst>
                                          <p:attrName>style.visibility</p:attrName>
                                        </p:attrNameLst>
                                      </p:cBhvr>
                                      <p:to>
                                        <p:strVal val="visible"/>
                                      </p:to>
                                    </p:set>
                                    <p:animEffect transition="in" filter="fade">
                                      <p:cBhvr>
                                        <p:cTn id="218" dur="400"/>
                                        <p:tgtEl>
                                          <p:spTgt spid="95"/>
                                        </p:tgtEl>
                                      </p:cBhvr>
                                    </p:animEffect>
                                  </p:childTnLst>
                                </p:cTn>
                              </p:par>
                              <p:par>
                                <p:cTn id="219" presetID="10" presetClass="entr" presetSubtype="0" fill="hold" grpId="0" nodeType="withEffect">
                                  <p:stCondLst>
                                    <p:cond delay="200"/>
                                  </p:stCondLst>
                                  <p:childTnLst>
                                    <p:set>
                                      <p:cBhvr>
                                        <p:cTn id="220" dur="1" fill="hold">
                                          <p:stCondLst>
                                            <p:cond delay="0"/>
                                          </p:stCondLst>
                                        </p:cTn>
                                        <p:tgtEl>
                                          <p:spTgt spid="96"/>
                                        </p:tgtEl>
                                        <p:attrNameLst>
                                          <p:attrName>style.visibility</p:attrName>
                                        </p:attrNameLst>
                                      </p:cBhvr>
                                      <p:to>
                                        <p:strVal val="visible"/>
                                      </p:to>
                                    </p:set>
                                    <p:animEffect transition="in" filter="fade">
                                      <p:cBhvr>
                                        <p:cTn id="221" dur="400"/>
                                        <p:tgtEl>
                                          <p:spTgt spid="96"/>
                                        </p:tgtEl>
                                      </p:cBhvr>
                                    </p:animEffect>
                                  </p:childTnLst>
                                </p:cTn>
                              </p:par>
                              <p:par>
                                <p:cTn id="222" presetID="10" presetClass="entr" presetSubtype="0" fill="hold" grpId="0" nodeType="withEffect">
                                  <p:stCondLst>
                                    <p:cond delay="200"/>
                                  </p:stCondLst>
                                  <p:childTnLst>
                                    <p:set>
                                      <p:cBhvr>
                                        <p:cTn id="223" dur="1" fill="hold">
                                          <p:stCondLst>
                                            <p:cond delay="0"/>
                                          </p:stCondLst>
                                        </p:cTn>
                                        <p:tgtEl>
                                          <p:spTgt spid="123"/>
                                        </p:tgtEl>
                                        <p:attrNameLst>
                                          <p:attrName>style.visibility</p:attrName>
                                        </p:attrNameLst>
                                      </p:cBhvr>
                                      <p:to>
                                        <p:strVal val="visible"/>
                                      </p:to>
                                    </p:set>
                                    <p:animEffect transition="in" filter="fade">
                                      <p:cBhvr>
                                        <p:cTn id="224" dur="400"/>
                                        <p:tgtEl>
                                          <p:spTgt spid="123"/>
                                        </p:tgtEl>
                                      </p:cBhvr>
                                    </p:animEffect>
                                  </p:childTnLst>
                                </p:cTn>
                              </p:par>
                              <p:par>
                                <p:cTn id="225" presetID="10" presetClass="entr" presetSubtype="0" fill="hold" grpId="0" nodeType="withEffect">
                                  <p:stCondLst>
                                    <p:cond delay="200"/>
                                  </p:stCondLst>
                                  <p:childTnLst>
                                    <p:set>
                                      <p:cBhvr>
                                        <p:cTn id="226" dur="1" fill="hold">
                                          <p:stCondLst>
                                            <p:cond delay="0"/>
                                          </p:stCondLst>
                                        </p:cTn>
                                        <p:tgtEl>
                                          <p:spTgt spid="149"/>
                                        </p:tgtEl>
                                        <p:attrNameLst>
                                          <p:attrName>style.visibility</p:attrName>
                                        </p:attrNameLst>
                                      </p:cBhvr>
                                      <p:to>
                                        <p:strVal val="visible"/>
                                      </p:to>
                                    </p:set>
                                    <p:animEffect transition="in" filter="fade">
                                      <p:cBhvr>
                                        <p:cTn id="227" dur="400"/>
                                        <p:tgtEl>
                                          <p:spTgt spid="149"/>
                                        </p:tgtEl>
                                      </p:cBhvr>
                                    </p:animEffect>
                                  </p:childTnLst>
                                </p:cTn>
                              </p:par>
                              <p:par>
                                <p:cTn id="228" presetID="10" presetClass="entr" presetSubtype="0" fill="hold" grpId="0" nodeType="withEffect">
                                  <p:stCondLst>
                                    <p:cond delay="200"/>
                                  </p:stCondLst>
                                  <p:childTnLst>
                                    <p:set>
                                      <p:cBhvr>
                                        <p:cTn id="229" dur="1" fill="hold">
                                          <p:stCondLst>
                                            <p:cond delay="0"/>
                                          </p:stCondLst>
                                        </p:cTn>
                                        <p:tgtEl>
                                          <p:spTgt spid="150"/>
                                        </p:tgtEl>
                                        <p:attrNameLst>
                                          <p:attrName>style.visibility</p:attrName>
                                        </p:attrNameLst>
                                      </p:cBhvr>
                                      <p:to>
                                        <p:strVal val="visible"/>
                                      </p:to>
                                    </p:set>
                                    <p:animEffect transition="in" filter="fade">
                                      <p:cBhvr>
                                        <p:cTn id="230" dur="400"/>
                                        <p:tgtEl>
                                          <p:spTgt spid="150"/>
                                        </p:tgtEl>
                                      </p:cBhvr>
                                    </p:animEffect>
                                  </p:childTnLst>
                                </p:cTn>
                              </p:par>
                              <p:par>
                                <p:cTn id="231" presetID="10" presetClass="entr" presetSubtype="0" fill="hold" grpId="0" nodeType="withEffect">
                                  <p:stCondLst>
                                    <p:cond delay="200"/>
                                  </p:stCondLst>
                                  <p:childTnLst>
                                    <p:set>
                                      <p:cBhvr>
                                        <p:cTn id="232" dur="1" fill="hold">
                                          <p:stCondLst>
                                            <p:cond delay="0"/>
                                          </p:stCondLst>
                                        </p:cTn>
                                        <p:tgtEl>
                                          <p:spTgt spid="151"/>
                                        </p:tgtEl>
                                        <p:attrNameLst>
                                          <p:attrName>style.visibility</p:attrName>
                                        </p:attrNameLst>
                                      </p:cBhvr>
                                      <p:to>
                                        <p:strVal val="visible"/>
                                      </p:to>
                                    </p:set>
                                    <p:animEffect transition="in" filter="fade">
                                      <p:cBhvr>
                                        <p:cTn id="233" dur="400"/>
                                        <p:tgtEl>
                                          <p:spTgt spid="151"/>
                                        </p:tgtEl>
                                      </p:cBhvr>
                                    </p:animEffect>
                                  </p:childTnLst>
                                </p:cTn>
                              </p:par>
                              <p:par>
                                <p:cTn id="234" presetID="10" presetClass="entr" presetSubtype="0" fill="hold" grpId="0" nodeType="withEffect">
                                  <p:stCondLst>
                                    <p:cond delay="200"/>
                                  </p:stCondLst>
                                  <p:childTnLst>
                                    <p:set>
                                      <p:cBhvr>
                                        <p:cTn id="235" dur="1" fill="hold">
                                          <p:stCondLst>
                                            <p:cond delay="0"/>
                                          </p:stCondLst>
                                        </p:cTn>
                                        <p:tgtEl>
                                          <p:spTgt spid="152"/>
                                        </p:tgtEl>
                                        <p:attrNameLst>
                                          <p:attrName>style.visibility</p:attrName>
                                        </p:attrNameLst>
                                      </p:cBhvr>
                                      <p:to>
                                        <p:strVal val="visible"/>
                                      </p:to>
                                    </p:set>
                                    <p:animEffect transition="in" filter="fade">
                                      <p:cBhvr>
                                        <p:cTn id="236" dur="400"/>
                                        <p:tgtEl>
                                          <p:spTgt spid="152"/>
                                        </p:tgtEl>
                                      </p:cBhvr>
                                    </p:animEffect>
                                  </p:childTnLst>
                                </p:cTn>
                              </p:par>
                            </p:childTnLst>
                          </p:cTn>
                        </p:par>
                      </p:childTnLst>
                    </p:cTn>
                  </p:par>
                  <p:par>
                    <p:cTn id="699" fill="hold">
                      <p:stCondLst>
                        <p:cond delay="indefinite"/>
                      </p:stCondLst>
                      <p:childTnLst>
                        <p:par>
                          <p:cTn id="700" fill="hold">
                            <p:stCondLst>
                              <p:cond delay="0"/>
                            </p:stCondLst>
                            <p:childTnLst>
                              <p:par>
                                <p:cTn id="237" presetID="10" presetClass="exit" presetSubtype="0" fill="hold" grpId="0" nodeType="clickEffect">
                                  <p:stCondLst>
                                    <p:cond delay="0"/>
                                  </p:stCondLst>
                                  <p:childTnLst>
                                    <p:animEffect transition="out" filter="fade">
                                      <p:cBhvr>
                                        <p:cTn id="238" dur="200"/>
                                        <p:tgtEl>
                                          <p:spTgt spid="84"/>
                                        </p:tgtEl>
                                      </p:cBhvr>
                                    </p:animEffect>
                                    <p:set>
                                      <p:cBhvr>
                                        <p:cTn id="239" dur="1" fill="hold">
                                          <p:stCondLst>
                                            <p:cond delay="199"/>
                                          </p:stCondLst>
                                        </p:cTn>
                                        <p:tgtEl>
                                          <p:spTgt spid="84"/>
                                        </p:tgtEl>
                                        <p:attrNameLst>
                                          <p:attrName>style.visibility</p:attrName>
                                        </p:attrNameLst>
                                      </p:cBhvr>
                                      <p:to>
                                        <p:strVal val="hidden"/>
                                      </p:to>
                                    </p:set>
                                  </p:childTnLst>
                                </p:cTn>
                              </p:par>
                              <p:par>
                                <p:cTn id="240" presetID="10" presetClass="exit" presetSubtype="0" fill="hold" grpId="0" nodeType="withEffect">
                                  <p:stCondLst>
                                    <p:cond delay="0"/>
                                  </p:stCondLst>
                                  <p:childTnLst>
                                    <p:animEffect transition="out" filter="fade">
                                      <p:cBhvr>
                                        <p:cTn id="241" dur="200"/>
                                        <p:tgtEl>
                                          <p:spTgt spid="85"/>
                                        </p:tgtEl>
                                      </p:cBhvr>
                                    </p:animEffect>
                                    <p:set>
                                      <p:cBhvr>
                                        <p:cTn id="242" dur="1" fill="hold">
                                          <p:stCondLst>
                                            <p:cond delay="199"/>
                                          </p:stCondLst>
                                        </p:cTn>
                                        <p:tgtEl>
                                          <p:spTgt spid="85"/>
                                        </p:tgtEl>
                                        <p:attrNameLst>
                                          <p:attrName>style.visibility</p:attrName>
                                        </p:attrNameLst>
                                      </p:cBhvr>
                                      <p:to>
                                        <p:strVal val="hidden"/>
                                      </p:to>
                                    </p:set>
                                  </p:childTnLst>
                                </p:cTn>
                              </p:par>
                              <p:par>
                                <p:cTn id="243" presetID="10" presetClass="exit" presetSubtype="0" fill="hold" grpId="0" nodeType="withEffect">
                                  <p:stCondLst>
                                    <p:cond delay="0"/>
                                  </p:stCondLst>
                                  <p:childTnLst>
                                    <p:animEffect transition="out" filter="fade">
                                      <p:cBhvr>
                                        <p:cTn id="244" dur="200"/>
                                        <p:tgtEl>
                                          <p:spTgt spid="86"/>
                                        </p:tgtEl>
                                      </p:cBhvr>
                                    </p:animEffect>
                                    <p:set>
                                      <p:cBhvr>
                                        <p:cTn id="245" dur="1" fill="hold">
                                          <p:stCondLst>
                                            <p:cond delay="199"/>
                                          </p:stCondLst>
                                        </p:cTn>
                                        <p:tgtEl>
                                          <p:spTgt spid="86"/>
                                        </p:tgtEl>
                                        <p:attrNameLst>
                                          <p:attrName>style.visibility</p:attrName>
                                        </p:attrNameLst>
                                      </p:cBhvr>
                                      <p:to>
                                        <p:strVal val="hidden"/>
                                      </p:to>
                                    </p:set>
                                  </p:childTnLst>
                                </p:cTn>
                              </p:par>
                              <p:par>
                                <p:cTn id="246" presetID="10" presetClass="exit" presetSubtype="0" fill="hold" grpId="1" nodeType="withEffect">
                                  <p:stCondLst>
                                    <p:cond delay="0"/>
                                  </p:stCondLst>
                                  <p:childTnLst>
                                    <p:animEffect transition="out" filter="fade">
                                      <p:cBhvr>
                                        <p:cTn id="247" dur="200"/>
                                        <p:tgtEl>
                                          <p:spTgt spid="93"/>
                                        </p:tgtEl>
                                      </p:cBhvr>
                                    </p:animEffect>
                                    <p:set>
                                      <p:cBhvr>
                                        <p:cTn id="248" dur="1" fill="hold">
                                          <p:stCondLst>
                                            <p:cond delay="199"/>
                                          </p:stCondLst>
                                        </p:cTn>
                                        <p:tgtEl>
                                          <p:spTgt spid="93"/>
                                        </p:tgtEl>
                                        <p:attrNameLst>
                                          <p:attrName>style.visibility</p:attrName>
                                        </p:attrNameLst>
                                      </p:cBhvr>
                                      <p:to>
                                        <p:strVal val="hidden"/>
                                      </p:to>
                                    </p:set>
                                  </p:childTnLst>
                                </p:cTn>
                              </p:par>
                              <p:par>
                                <p:cTn id="249" presetID="10" presetClass="exit" presetSubtype="0" fill="hold" grpId="1" nodeType="withEffect">
                                  <p:stCondLst>
                                    <p:cond delay="0"/>
                                  </p:stCondLst>
                                  <p:childTnLst>
                                    <p:animEffect transition="out" filter="fade">
                                      <p:cBhvr>
                                        <p:cTn id="250" dur="200"/>
                                        <p:tgtEl>
                                          <p:spTgt spid="94"/>
                                        </p:tgtEl>
                                      </p:cBhvr>
                                    </p:animEffect>
                                    <p:set>
                                      <p:cBhvr>
                                        <p:cTn id="251" dur="1" fill="hold">
                                          <p:stCondLst>
                                            <p:cond delay="199"/>
                                          </p:stCondLst>
                                        </p:cTn>
                                        <p:tgtEl>
                                          <p:spTgt spid="94"/>
                                        </p:tgtEl>
                                        <p:attrNameLst>
                                          <p:attrName>style.visibility</p:attrName>
                                        </p:attrNameLst>
                                      </p:cBhvr>
                                      <p:to>
                                        <p:strVal val="hidden"/>
                                      </p:to>
                                    </p:set>
                                  </p:childTnLst>
                                </p:cTn>
                              </p:par>
                              <p:par>
                                <p:cTn id="252" presetID="10" presetClass="exit" presetSubtype="0" fill="hold" grpId="1" nodeType="withEffect">
                                  <p:stCondLst>
                                    <p:cond delay="0"/>
                                  </p:stCondLst>
                                  <p:childTnLst>
                                    <p:animEffect transition="out" filter="fade">
                                      <p:cBhvr>
                                        <p:cTn id="253" dur="200"/>
                                        <p:tgtEl>
                                          <p:spTgt spid="95"/>
                                        </p:tgtEl>
                                      </p:cBhvr>
                                    </p:animEffect>
                                    <p:set>
                                      <p:cBhvr>
                                        <p:cTn id="254" dur="1" fill="hold">
                                          <p:stCondLst>
                                            <p:cond delay="199"/>
                                          </p:stCondLst>
                                        </p:cTn>
                                        <p:tgtEl>
                                          <p:spTgt spid="95"/>
                                        </p:tgtEl>
                                        <p:attrNameLst>
                                          <p:attrName>style.visibility</p:attrName>
                                        </p:attrNameLst>
                                      </p:cBhvr>
                                      <p:to>
                                        <p:strVal val="hidden"/>
                                      </p:to>
                                    </p:set>
                                  </p:childTnLst>
                                </p:cTn>
                              </p:par>
                              <p:par>
                                <p:cTn id="255" presetID="10" presetClass="exit" presetSubtype="0" fill="hold" grpId="1" nodeType="withEffect">
                                  <p:stCondLst>
                                    <p:cond delay="0"/>
                                  </p:stCondLst>
                                  <p:childTnLst>
                                    <p:animEffect transition="out" filter="fade">
                                      <p:cBhvr>
                                        <p:cTn id="256" dur="200"/>
                                        <p:tgtEl>
                                          <p:spTgt spid="96"/>
                                        </p:tgtEl>
                                      </p:cBhvr>
                                    </p:animEffect>
                                    <p:set>
                                      <p:cBhvr>
                                        <p:cTn id="257" dur="1" fill="hold">
                                          <p:stCondLst>
                                            <p:cond delay="199"/>
                                          </p:stCondLst>
                                        </p:cTn>
                                        <p:tgtEl>
                                          <p:spTgt spid="96"/>
                                        </p:tgtEl>
                                        <p:attrNameLst>
                                          <p:attrName>style.visibility</p:attrName>
                                        </p:attrNameLst>
                                      </p:cBhvr>
                                      <p:to>
                                        <p:strVal val="hidden"/>
                                      </p:to>
                                    </p:set>
                                  </p:childTnLst>
                                </p:cTn>
                              </p:par>
                              <p:par>
                                <p:cTn id="258" presetID="10" presetClass="exit" presetSubtype="0" fill="hold" grpId="1" nodeType="withEffect">
                                  <p:stCondLst>
                                    <p:cond delay="0"/>
                                  </p:stCondLst>
                                  <p:childTnLst>
                                    <p:animEffect transition="out" filter="fade">
                                      <p:cBhvr>
                                        <p:cTn id="259" dur="200"/>
                                        <p:tgtEl>
                                          <p:spTgt spid="123"/>
                                        </p:tgtEl>
                                      </p:cBhvr>
                                    </p:animEffect>
                                    <p:set>
                                      <p:cBhvr>
                                        <p:cTn id="260" dur="1" fill="hold">
                                          <p:stCondLst>
                                            <p:cond delay="199"/>
                                          </p:stCondLst>
                                        </p:cTn>
                                        <p:tgtEl>
                                          <p:spTgt spid="123"/>
                                        </p:tgtEl>
                                        <p:attrNameLst>
                                          <p:attrName>style.visibility</p:attrName>
                                        </p:attrNameLst>
                                      </p:cBhvr>
                                      <p:to>
                                        <p:strVal val="hidden"/>
                                      </p:to>
                                    </p:set>
                                  </p:childTnLst>
                                </p:cTn>
                              </p:par>
                              <p:par>
                                <p:cTn id="261" presetID="10" presetClass="exit" presetSubtype="0" fill="hold" grpId="1" nodeType="withEffect">
                                  <p:stCondLst>
                                    <p:cond delay="0"/>
                                  </p:stCondLst>
                                  <p:childTnLst>
                                    <p:animEffect transition="out" filter="fade">
                                      <p:cBhvr>
                                        <p:cTn id="262" dur="200"/>
                                        <p:tgtEl>
                                          <p:spTgt spid="149"/>
                                        </p:tgtEl>
                                      </p:cBhvr>
                                    </p:animEffect>
                                    <p:set>
                                      <p:cBhvr>
                                        <p:cTn id="263" dur="1" fill="hold">
                                          <p:stCondLst>
                                            <p:cond delay="199"/>
                                          </p:stCondLst>
                                        </p:cTn>
                                        <p:tgtEl>
                                          <p:spTgt spid="149"/>
                                        </p:tgtEl>
                                        <p:attrNameLst>
                                          <p:attrName>style.visibility</p:attrName>
                                        </p:attrNameLst>
                                      </p:cBhvr>
                                      <p:to>
                                        <p:strVal val="hidden"/>
                                      </p:to>
                                    </p:set>
                                  </p:childTnLst>
                                </p:cTn>
                              </p:par>
                              <p:par>
                                <p:cTn id="264" presetID="10" presetClass="exit" presetSubtype="0" fill="hold" grpId="1" nodeType="withEffect">
                                  <p:stCondLst>
                                    <p:cond delay="0"/>
                                  </p:stCondLst>
                                  <p:childTnLst>
                                    <p:animEffect transition="out" filter="fade">
                                      <p:cBhvr>
                                        <p:cTn id="265" dur="200"/>
                                        <p:tgtEl>
                                          <p:spTgt spid="150"/>
                                        </p:tgtEl>
                                      </p:cBhvr>
                                    </p:animEffect>
                                    <p:set>
                                      <p:cBhvr>
                                        <p:cTn id="266" dur="1" fill="hold">
                                          <p:stCondLst>
                                            <p:cond delay="199"/>
                                          </p:stCondLst>
                                        </p:cTn>
                                        <p:tgtEl>
                                          <p:spTgt spid="150"/>
                                        </p:tgtEl>
                                        <p:attrNameLst>
                                          <p:attrName>style.visibility</p:attrName>
                                        </p:attrNameLst>
                                      </p:cBhvr>
                                      <p:to>
                                        <p:strVal val="hidden"/>
                                      </p:to>
                                    </p:set>
                                  </p:childTnLst>
                                </p:cTn>
                              </p:par>
                              <p:par>
                                <p:cTn id="267" presetID="10" presetClass="exit" presetSubtype="0" fill="hold" grpId="1" nodeType="withEffect">
                                  <p:stCondLst>
                                    <p:cond delay="0"/>
                                  </p:stCondLst>
                                  <p:childTnLst>
                                    <p:animEffect transition="out" filter="fade">
                                      <p:cBhvr>
                                        <p:cTn id="268" dur="200"/>
                                        <p:tgtEl>
                                          <p:spTgt spid="151"/>
                                        </p:tgtEl>
                                      </p:cBhvr>
                                    </p:animEffect>
                                    <p:set>
                                      <p:cBhvr>
                                        <p:cTn id="269" dur="1" fill="hold">
                                          <p:stCondLst>
                                            <p:cond delay="199"/>
                                          </p:stCondLst>
                                        </p:cTn>
                                        <p:tgtEl>
                                          <p:spTgt spid="151"/>
                                        </p:tgtEl>
                                        <p:attrNameLst>
                                          <p:attrName>style.visibility</p:attrName>
                                        </p:attrNameLst>
                                      </p:cBhvr>
                                      <p:to>
                                        <p:strVal val="hidden"/>
                                      </p:to>
                                    </p:set>
                                  </p:childTnLst>
                                </p:cTn>
                              </p:par>
                              <p:par>
                                <p:cTn id="270" presetID="10" presetClass="exit" presetSubtype="0" fill="hold" grpId="1" nodeType="withEffect">
                                  <p:stCondLst>
                                    <p:cond delay="0"/>
                                  </p:stCondLst>
                                  <p:childTnLst>
                                    <p:animEffect transition="out" filter="fade">
                                      <p:cBhvr>
                                        <p:cTn id="271" dur="200"/>
                                        <p:tgtEl>
                                          <p:spTgt spid="152"/>
                                        </p:tgtEl>
                                      </p:cBhvr>
                                    </p:animEffect>
                                    <p:set>
                                      <p:cBhvr>
                                        <p:cTn id="272" dur="1" fill="hold">
                                          <p:stCondLst>
                                            <p:cond delay="199"/>
                                          </p:stCondLst>
                                        </p:cTn>
                                        <p:tgtEl>
                                          <p:spTgt spid="152"/>
                                        </p:tgtEl>
                                        <p:attrNameLst>
                                          <p:attrName>style.visibility</p:attrName>
                                        </p:attrNameLst>
                                      </p:cBhvr>
                                      <p:to>
                                        <p:strVal val="hidden"/>
                                      </p:to>
                                    </p:set>
                                  </p:childTnLst>
                                </p:cTn>
                              </p:par>
                              <p:par>
                                <p:cTn id="273" presetID="10" presetClass="entr" presetSubtype="0" fill="hold" grpId="0" nodeType="withEffect">
                                  <p:stCondLst>
                                    <p:cond delay="200"/>
                                  </p:stCondLst>
                                  <p:childTnLst>
                                    <p:set>
                                      <p:cBhvr>
                                        <p:cTn id="274" dur="1" fill="hold">
                                          <p:stCondLst>
                                            <p:cond delay="0"/>
                                          </p:stCondLst>
                                        </p:cTn>
                                        <p:tgtEl>
                                          <p:spTgt spid="80"/>
                                        </p:tgtEl>
                                        <p:attrNameLst>
                                          <p:attrName>style.visibility</p:attrName>
                                        </p:attrNameLst>
                                      </p:cBhvr>
                                      <p:to>
                                        <p:strVal val="visible"/>
                                      </p:to>
                                    </p:set>
                                    <p:animEffect transition="in" filter="fade">
                                      <p:cBhvr>
                                        <p:cTn id="275" dur="400"/>
                                        <p:tgtEl>
                                          <p:spTgt spid="80"/>
                                        </p:tgtEl>
                                      </p:cBhvr>
                                    </p:animEffect>
                                  </p:childTnLst>
                                </p:cTn>
                              </p:par>
                              <p:par>
                                <p:cTn id="276" presetID="10" presetClass="entr" presetSubtype="0" fill="hold" grpId="0" nodeType="withEffect">
                                  <p:stCondLst>
                                    <p:cond delay="200"/>
                                  </p:stCondLst>
                                  <p:childTnLst>
                                    <p:set>
                                      <p:cBhvr>
                                        <p:cTn id="277" dur="1" fill="hold">
                                          <p:stCondLst>
                                            <p:cond delay="0"/>
                                          </p:stCondLst>
                                        </p:cTn>
                                        <p:tgtEl>
                                          <p:spTgt spid="81"/>
                                        </p:tgtEl>
                                        <p:attrNameLst>
                                          <p:attrName>style.visibility</p:attrName>
                                        </p:attrNameLst>
                                      </p:cBhvr>
                                      <p:to>
                                        <p:strVal val="visible"/>
                                      </p:to>
                                    </p:set>
                                    <p:animEffect transition="in" filter="fade">
                                      <p:cBhvr>
                                        <p:cTn id="278" dur="400"/>
                                        <p:tgtEl>
                                          <p:spTgt spid="81"/>
                                        </p:tgtEl>
                                      </p:cBhvr>
                                    </p:animEffect>
                                  </p:childTnLst>
                                </p:cTn>
                              </p:par>
                              <p:par>
                                <p:cTn id="279" presetID="10" presetClass="entr" presetSubtype="0" fill="hold" grpId="0" nodeType="withEffect">
                                  <p:stCondLst>
                                    <p:cond delay="200"/>
                                  </p:stCondLst>
                                  <p:childTnLst>
                                    <p:set>
                                      <p:cBhvr>
                                        <p:cTn id="280" dur="1" fill="hold">
                                          <p:stCondLst>
                                            <p:cond delay="0"/>
                                          </p:stCondLst>
                                        </p:cTn>
                                        <p:tgtEl>
                                          <p:spTgt spid="82"/>
                                        </p:tgtEl>
                                        <p:attrNameLst>
                                          <p:attrName>style.visibility</p:attrName>
                                        </p:attrNameLst>
                                      </p:cBhvr>
                                      <p:to>
                                        <p:strVal val="visible"/>
                                      </p:to>
                                    </p:set>
                                    <p:animEffect transition="in" filter="fade">
                                      <p:cBhvr>
                                        <p:cTn id="281" dur="400"/>
                                        <p:tgtEl>
                                          <p:spTgt spid="82"/>
                                        </p:tgtEl>
                                      </p:cBhvr>
                                    </p:animEffect>
                                  </p:childTnLst>
                                </p:cTn>
                              </p:par>
                              <p:par>
                                <p:cTn id="282" presetID="10" presetClass="entr" presetSubtype="0" fill="hold" grpId="0" nodeType="withEffect">
                                  <p:stCondLst>
                                    <p:cond delay="200"/>
                                  </p:stCondLst>
                                  <p:childTnLst>
                                    <p:set>
                                      <p:cBhvr>
                                        <p:cTn id="283" dur="1" fill="hold">
                                          <p:stCondLst>
                                            <p:cond delay="0"/>
                                          </p:stCondLst>
                                        </p:cTn>
                                        <p:tgtEl>
                                          <p:spTgt spid="83"/>
                                        </p:tgtEl>
                                        <p:attrNameLst>
                                          <p:attrName>style.visibility</p:attrName>
                                        </p:attrNameLst>
                                      </p:cBhvr>
                                      <p:to>
                                        <p:strVal val="visible"/>
                                      </p:to>
                                    </p:set>
                                    <p:animEffect transition="in" filter="fade">
                                      <p:cBhvr>
                                        <p:cTn id="284" dur="400"/>
                                        <p:tgtEl>
                                          <p:spTgt spid="83"/>
                                        </p:tgtEl>
                                      </p:cBhvr>
                                    </p:animEffect>
                                  </p:childTnLst>
                                </p:cTn>
                              </p:par>
                              <p:par>
                                <p:cTn id="285" presetID="10" presetClass="entr" presetSubtype="0" fill="hold" grpId="0" nodeType="withEffect">
                                  <p:stCondLst>
                                    <p:cond delay="200"/>
                                  </p:stCondLst>
                                  <p:childTnLst>
                                    <p:set>
                                      <p:cBhvr>
                                        <p:cTn id="286" dur="1" fill="hold">
                                          <p:stCondLst>
                                            <p:cond delay="0"/>
                                          </p:stCondLst>
                                        </p:cTn>
                                        <p:tgtEl>
                                          <p:spTgt spid="90"/>
                                        </p:tgtEl>
                                        <p:attrNameLst>
                                          <p:attrName>style.visibility</p:attrName>
                                        </p:attrNameLst>
                                      </p:cBhvr>
                                      <p:to>
                                        <p:strVal val="visible"/>
                                      </p:to>
                                    </p:set>
                                    <p:animEffect transition="in" filter="fade">
                                      <p:cBhvr>
                                        <p:cTn id="287" dur="400"/>
                                        <p:tgtEl>
                                          <p:spTgt spid="90"/>
                                        </p:tgtEl>
                                      </p:cBhvr>
                                    </p:animEffect>
                                  </p:childTnLst>
                                </p:cTn>
                              </p:par>
                              <p:par>
                                <p:cTn id="288" presetID="10" presetClass="entr" presetSubtype="0" fill="hold" grpId="0" nodeType="withEffect">
                                  <p:stCondLst>
                                    <p:cond delay="200"/>
                                  </p:stCondLst>
                                  <p:childTnLst>
                                    <p:set>
                                      <p:cBhvr>
                                        <p:cTn id="289" dur="1" fill="hold">
                                          <p:stCondLst>
                                            <p:cond delay="0"/>
                                          </p:stCondLst>
                                        </p:cTn>
                                        <p:tgtEl>
                                          <p:spTgt spid="91"/>
                                        </p:tgtEl>
                                        <p:attrNameLst>
                                          <p:attrName>style.visibility</p:attrName>
                                        </p:attrNameLst>
                                      </p:cBhvr>
                                      <p:to>
                                        <p:strVal val="visible"/>
                                      </p:to>
                                    </p:set>
                                    <p:animEffect transition="in" filter="fade">
                                      <p:cBhvr>
                                        <p:cTn id="290" dur="400"/>
                                        <p:tgtEl>
                                          <p:spTgt spid="91"/>
                                        </p:tgtEl>
                                      </p:cBhvr>
                                    </p:animEffect>
                                  </p:childTnLst>
                                </p:cTn>
                              </p:par>
                              <p:par>
                                <p:cTn id="291" presetID="10" presetClass="entr" presetSubtype="0" fill="hold" grpId="0" nodeType="withEffect">
                                  <p:stCondLst>
                                    <p:cond delay="200"/>
                                  </p:stCondLst>
                                  <p:childTnLst>
                                    <p:set>
                                      <p:cBhvr>
                                        <p:cTn id="292" dur="1" fill="hold">
                                          <p:stCondLst>
                                            <p:cond delay="0"/>
                                          </p:stCondLst>
                                        </p:cTn>
                                        <p:tgtEl>
                                          <p:spTgt spid="92"/>
                                        </p:tgtEl>
                                        <p:attrNameLst>
                                          <p:attrName>style.visibility</p:attrName>
                                        </p:attrNameLst>
                                      </p:cBhvr>
                                      <p:to>
                                        <p:strVal val="visible"/>
                                      </p:to>
                                    </p:set>
                                    <p:animEffect transition="in" filter="fade">
                                      <p:cBhvr>
                                        <p:cTn id="293" dur="400"/>
                                        <p:tgtEl>
                                          <p:spTgt spid="92"/>
                                        </p:tgtEl>
                                      </p:cBhvr>
                                    </p:animEffect>
                                  </p:childTnLst>
                                </p:cTn>
                              </p:par>
                              <p:par>
                                <p:cTn id="294" presetID="10" presetClass="entr" presetSubtype="0" fill="hold" grpId="0" nodeType="withEffect">
                                  <p:stCondLst>
                                    <p:cond delay="200"/>
                                  </p:stCondLst>
                                  <p:childTnLst>
                                    <p:set>
                                      <p:cBhvr>
                                        <p:cTn id="295" dur="1" fill="hold">
                                          <p:stCondLst>
                                            <p:cond delay="0"/>
                                          </p:stCondLst>
                                        </p:cTn>
                                        <p:tgtEl>
                                          <p:spTgt spid="122"/>
                                        </p:tgtEl>
                                        <p:attrNameLst>
                                          <p:attrName>style.visibility</p:attrName>
                                        </p:attrNameLst>
                                      </p:cBhvr>
                                      <p:to>
                                        <p:strVal val="visible"/>
                                      </p:to>
                                    </p:set>
                                    <p:animEffect transition="in" filter="fade">
                                      <p:cBhvr>
                                        <p:cTn id="296" dur="400"/>
                                        <p:tgtEl>
                                          <p:spTgt spid="122"/>
                                        </p:tgtEl>
                                      </p:cBhvr>
                                    </p:animEffect>
                                  </p:childTnLst>
                                </p:cTn>
                              </p:par>
                              <p:par>
                                <p:cTn id="297" presetID="10" presetClass="entr" presetSubtype="0" fill="hold" grpId="0" nodeType="withEffect">
                                  <p:stCondLst>
                                    <p:cond delay="200"/>
                                  </p:stCondLst>
                                  <p:childTnLst>
                                    <p:set>
                                      <p:cBhvr>
                                        <p:cTn id="298" dur="1" fill="hold">
                                          <p:stCondLst>
                                            <p:cond delay="0"/>
                                          </p:stCondLst>
                                        </p:cTn>
                                        <p:tgtEl>
                                          <p:spTgt spid="146"/>
                                        </p:tgtEl>
                                        <p:attrNameLst>
                                          <p:attrName>style.visibility</p:attrName>
                                        </p:attrNameLst>
                                      </p:cBhvr>
                                      <p:to>
                                        <p:strVal val="visible"/>
                                      </p:to>
                                    </p:set>
                                    <p:animEffect transition="in" filter="fade">
                                      <p:cBhvr>
                                        <p:cTn id="299" dur="400"/>
                                        <p:tgtEl>
                                          <p:spTgt spid="146"/>
                                        </p:tgtEl>
                                      </p:cBhvr>
                                    </p:animEffect>
                                  </p:childTnLst>
                                </p:cTn>
                              </p:par>
                              <p:par>
                                <p:cTn id="300" presetID="10" presetClass="entr" presetSubtype="0" fill="hold" grpId="0" nodeType="withEffect">
                                  <p:stCondLst>
                                    <p:cond delay="200"/>
                                  </p:stCondLst>
                                  <p:childTnLst>
                                    <p:set>
                                      <p:cBhvr>
                                        <p:cTn id="301" dur="1" fill="hold">
                                          <p:stCondLst>
                                            <p:cond delay="0"/>
                                          </p:stCondLst>
                                        </p:cTn>
                                        <p:tgtEl>
                                          <p:spTgt spid="147"/>
                                        </p:tgtEl>
                                        <p:attrNameLst>
                                          <p:attrName>style.visibility</p:attrName>
                                        </p:attrNameLst>
                                      </p:cBhvr>
                                      <p:to>
                                        <p:strVal val="visible"/>
                                      </p:to>
                                    </p:set>
                                    <p:animEffect transition="in" filter="fade">
                                      <p:cBhvr>
                                        <p:cTn id="302" dur="400"/>
                                        <p:tgtEl>
                                          <p:spTgt spid="147"/>
                                        </p:tgtEl>
                                      </p:cBhvr>
                                    </p:animEffect>
                                  </p:childTnLst>
                                </p:cTn>
                              </p:par>
                              <p:par>
                                <p:cTn id="303" presetID="10" presetClass="entr" presetSubtype="0" fill="hold" grpId="0" nodeType="withEffect">
                                  <p:stCondLst>
                                    <p:cond delay="200"/>
                                  </p:stCondLst>
                                  <p:childTnLst>
                                    <p:set>
                                      <p:cBhvr>
                                        <p:cTn id="304" dur="1" fill="hold">
                                          <p:stCondLst>
                                            <p:cond delay="0"/>
                                          </p:stCondLst>
                                        </p:cTn>
                                        <p:tgtEl>
                                          <p:spTgt spid="148"/>
                                        </p:tgtEl>
                                        <p:attrNameLst>
                                          <p:attrName>style.visibility</p:attrName>
                                        </p:attrNameLst>
                                      </p:cBhvr>
                                      <p:to>
                                        <p:strVal val="visible"/>
                                      </p:to>
                                    </p:set>
                                    <p:animEffect transition="in" filter="fade">
                                      <p:cBhvr>
                                        <p:cTn id="305" dur="400"/>
                                        <p:tgtEl>
                                          <p:spTgt spid="148"/>
                                        </p:tgtEl>
                                      </p:cBhvr>
                                    </p:animEffect>
                                  </p:childTnLst>
                                </p:cTn>
                              </p:par>
                            </p:childTnLst>
                          </p:cTn>
                        </p:par>
                      </p:childTnLst>
                    </p:cTn>
                  </p:par>
                  <p:par>
                    <p:cTn id="701" fill="hold">
                      <p:stCondLst>
                        <p:cond delay="indefinite"/>
                      </p:stCondLst>
                      <p:childTnLst>
                        <p:par>
                          <p:cTn id="702" fill="hold">
                            <p:stCondLst>
                              <p:cond delay="0"/>
                            </p:stCondLst>
                            <p:childTnLst>
                              <p:par>
                                <p:cTn id="306" presetID="10" presetClass="exit" presetSubtype="0" fill="hold" grpId="1" nodeType="clickEffect">
                                  <p:stCondLst>
                                    <p:cond delay="0"/>
                                  </p:stCondLst>
                                  <p:childTnLst>
                                    <p:animEffect transition="out" filter="fade">
                                      <p:cBhvr>
                                        <p:cTn id="307" dur="200"/>
                                        <p:tgtEl>
                                          <p:spTgt spid="80"/>
                                        </p:tgtEl>
                                      </p:cBhvr>
                                    </p:animEffect>
                                    <p:set>
                                      <p:cBhvr>
                                        <p:cTn id="308" dur="1" fill="hold">
                                          <p:stCondLst>
                                            <p:cond delay="199"/>
                                          </p:stCondLst>
                                        </p:cTn>
                                        <p:tgtEl>
                                          <p:spTgt spid="80"/>
                                        </p:tgtEl>
                                        <p:attrNameLst>
                                          <p:attrName>style.visibility</p:attrName>
                                        </p:attrNameLst>
                                      </p:cBhvr>
                                      <p:to>
                                        <p:strVal val="hidden"/>
                                      </p:to>
                                    </p:set>
                                  </p:childTnLst>
                                </p:cTn>
                              </p:par>
                              <p:par>
                                <p:cTn id="309" presetID="10" presetClass="exit" presetSubtype="0" fill="hold" grpId="1" nodeType="withEffect">
                                  <p:stCondLst>
                                    <p:cond delay="0"/>
                                  </p:stCondLst>
                                  <p:childTnLst>
                                    <p:animEffect transition="out" filter="fade">
                                      <p:cBhvr>
                                        <p:cTn id="310" dur="200"/>
                                        <p:tgtEl>
                                          <p:spTgt spid="81"/>
                                        </p:tgtEl>
                                      </p:cBhvr>
                                    </p:animEffect>
                                    <p:set>
                                      <p:cBhvr>
                                        <p:cTn id="311" dur="1" fill="hold">
                                          <p:stCondLst>
                                            <p:cond delay="199"/>
                                          </p:stCondLst>
                                        </p:cTn>
                                        <p:tgtEl>
                                          <p:spTgt spid="81"/>
                                        </p:tgtEl>
                                        <p:attrNameLst>
                                          <p:attrName>style.visibility</p:attrName>
                                        </p:attrNameLst>
                                      </p:cBhvr>
                                      <p:to>
                                        <p:strVal val="hidden"/>
                                      </p:to>
                                    </p:set>
                                  </p:childTnLst>
                                </p:cTn>
                              </p:par>
                              <p:par>
                                <p:cTn id="312" presetID="10" presetClass="exit" presetSubtype="0" fill="hold" grpId="1" nodeType="withEffect">
                                  <p:stCondLst>
                                    <p:cond delay="0"/>
                                  </p:stCondLst>
                                  <p:childTnLst>
                                    <p:animEffect transition="out" filter="fade">
                                      <p:cBhvr>
                                        <p:cTn id="313" dur="200"/>
                                        <p:tgtEl>
                                          <p:spTgt spid="82"/>
                                        </p:tgtEl>
                                      </p:cBhvr>
                                    </p:animEffect>
                                    <p:set>
                                      <p:cBhvr>
                                        <p:cTn id="314" dur="1" fill="hold">
                                          <p:stCondLst>
                                            <p:cond delay="199"/>
                                          </p:stCondLst>
                                        </p:cTn>
                                        <p:tgtEl>
                                          <p:spTgt spid="82"/>
                                        </p:tgtEl>
                                        <p:attrNameLst>
                                          <p:attrName>style.visibility</p:attrName>
                                        </p:attrNameLst>
                                      </p:cBhvr>
                                      <p:to>
                                        <p:strVal val="hidden"/>
                                      </p:to>
                                    </p:set>
                                  </p:childTnLst>
                                </p:cTn>
                              </p:par>
                              <p:par>
                                <p:cTn id="315" presetID="10" presetClass="exit" presetSubtype="0" fill="hold" grpId="1" nodeType="withEffect">
                                  <p:stCondLst>
                                    <p:cond delay="0"/>
                                  </p:stCondLst>
                                  <p:childTnLst>
                                    <p:animEffect transition="out" filter="fade">
                                      <p:cBhvr>
                                        <p:cTn id="316" dur="200"/>
                                        <p:tgtEl>
                                          <p:spTgt spid="83"/>
                                        </p:tgtEl>
                                      </p:cBhvr>
                                    </p:animEffect>
                                    <p:set>
                                      <p:cBhvr>
                                        <p:cTn id="317" dur="1" fill="hold">
                                          <p:stCondLst>
                                            <p:cond delay="199"/>
                                          </p:stCondLst>
                                        </p:cTn>
                                        <p:tgtEl>
                                          <p:spTgt spid="83"/>
                                        </p:tgtEl>
                                        <p:attrNameLst>
                                          <p:attrName>style.visibility</p:attrName>
                                        </p:attrNameLst>
                                      </p:cBhvr>
                                      <p:to>
                                        <p:strVal val="hidden"/>
                                      </p:to>
                                    </p:set>
                                  </p:childTnLst>
                                </p:cTn>
                              </p:par>
                              <p:par>
                                <p:cTn id="318" presetID="10" presetClass="exit" presetSubtype="0" fill="hold" grpId="0" nodeType="withEffect">
                                  <p:stCondLst>
                                    <p:cond delay="0"/>
                                  </p:stCondLst>
                                  <p:childTnLst>
                                    <p:animEffect transition="out" filter="fade">
                                      <p:cBhvr>
                                        <p:cTn id="319" dur="200"/>
                                        <p:tgtEl>
                                          <p:spTgt spid="87"/>
                                        </p:tgtEl>
                                      </p:cBhvr>
                                    </p:animEffect>
                                    <p:set>
                                      <p:cBhvr>
                                        <p:cTn id="320" dur="1" fill="hold">
                                          <p:stCondLst>
                                            <p:cond delay="199"/>
                                          </p:stCondLst>
                                        </p:cTn>
                                        <p:tgtEl>
                                          <p:spTgt spid="87"/>
                                        </p:tgtEl>
                                        <p:attrNameLst>
                                          <p:attrName>style.visibility</p:attrName>
                                        </p:attrNameLst>
                                      </p:cBhvr>
                                      <p:to>
                                        <p:strVal val="hidden"/>
                                      </p:to>
                                    </p:set>
                                  </p:childTnLst>
                                </p:cTn>
                              </p:par>
                              <p:par>
                                <p:cTn id="321" presetID="10" presetClass="exit" presetSubtype="0" fill="hold" grpId="0" nodeType="withEffect">
                                  <p:stCondLst>
                                    <p:cond delay="0"/>
                                  </p:stCondLst>
                                  <p:childTnLst>
                                    <p:animEffect transition="out" filter="fade">
                                      <p:cBhvr>
                                        <p:cTn id="322" dur="200"/>
                                        <p:tgtEl>
                                          <p:spTgt spid="88"/>
                                        </p:tgtEl>
                                      </p:cBhvr>
                                    </p:animEffect>
                                    <p:set>
                                      <p:cBhvr>
                                        <p:cTn id="323" dur="1" fill="hold">
                                          <p:stCondLst>
                                            <p:cond delay="199"/>
                                          </p:stCondLst>
                                        </p:cTn>
                                        <p:tgtEl>
                                          <p:spTgt spid="88"/>
                                        </p:tgtEl>
                                        <p:attrNameLst>
                                          <p:attrName>style.visibility</p:attrName>
                                        </p:attrNameLst>
                                      </p:cBhvr>
                                      <p:to>
                                        <p:strVal val="hidden"/>
                                      </p:to>
                                    </p:set>
                                  </p:childTnLst>
                                </p:cTn>
                              </p:par>
                              <p:par>
                                <p:cTn id="324" presetID="10" presetClass="exit" presetSubtype="0" fill="hold" grpId="0" nodeType="withEffect">
                                  <p:stCondLst>
                                    <p:cond delay="0"/>
                                  </p:stCondLst>
                                  <p:childTnLst>
                                    <p:animEffect transition="out" filter="fade">
                                      <p:cBhvr>
                                        <p:cTn id="325" dur="200"/>
                                        <p:tgtEl>
                                          <p:spTgt spid="89"/>
                                        </p:tgtEl>
                                      </p:cBhvr>
                                    </p:animEffect>
                                    <p:set>
                                      <p:cBhvr>
                                        <p:cTn id="326" dur="1" fill="hold">
                                          <p:stCondLst>
                                            <p:cond delay="199"/>
                                          </p:stCondLst>
                                        </p:cTn>
                                        <p:tgtEl>
                                          <p:spTgt spid="89"/>
                                        </p:tgtEl>
                                        <p:attrNameLst>
                                          <p:attrName>style.visibility</p:attrName>
                                        </p:attrNameLst>
                                      </p:cBhvr>
                                      <p:to>
                                        <p:strVal val="hidden"/>
                                      </p:to>
                                    </p:set>
                                  </p:childTnLst>
                                </p:cTn>
                              </p:par>
                              <p:par>
                                <p:cTn id="327" presetID="10" presetClass="exit" presetSubtype="0" fill="hold" grpId="1" nodeType="withEffect">
                                  <p:stCondLst>
                                    <p:cond delay="0"/>
                                  </p:stCondLst>
                                  <p:childTnLst>
                                    <p:animEffect transition="out" filter="fade">
                                      <p:cBhvr>
                                        <p:cTn id="328" dur="200"/>
                                        <p:tgtEl>
                                          <p:spTgt spid="122"/>
                                        </p:tgtEl>
                                      </p:cBhvr>
                                    </p:animEffect>
                                    <p:set>
                                      <p:cBhvr>
                                        <p:cTn id="329" dur="1" fill="hold">
                                          <p:stCondLst>
                                            <p:cond delay="199"/>
                                          </p:stCondLst>
                                        </p:cTn>
                                        <p:tgtEl>
                                          <p:spTgt spid="122"/>
                                        </p:tgtEl>
                                        <p:attrNameLst>
                                          <p:attrName>style.visibility</p:attrName>
                                        </p:attrNameLst>
                                      </p:cBhvr>
                                      <p:to>
                                        <p:strVal val="hidden"/>
                                      </p:to>
                                    </p:set>
                                  </p:childTnLst>
                                </p:cTn>
                              </p:par>
                              <p:par>
                                <p:cTn id="330" presetID="10" presetClass="exit" presetSubtype="0" fill="hold" grpId="1" nodeType="withEffect">
                                  <p:stCondLst>
                                    <p:cond delay="0"/>
                                  </p:stCondLst>
                                  <p:childTnLst>
                                    <p:animEffect transition="out" filter="fade">
                                      <p:cBhvr>
                                        <p:cTn id="331" dur="200"/>
                                        <p:tgtEl>
                                          <p:spTgt spid="146"/>
                                        </p:tgtEl>
                                      </p:cBhvr>
                                    </p:animEffect>
                                    <p:set>
                                      <p:cBhvr>
                                        <p:cTn id="332" dur="1" fill="hold">
                                          <p:stCondLst>
                                            <p:cond delay="199"/>
                                          </p:stCondLst>
                                        </p:cTn>
                                        <p:tgtEl>
                                          <p:spTgt spid="146"/>
                                        </p:tgtEl>
                                        <p:attrNameLst>
                                          <p:attrName>style.visibility</p:attrName>
                                        </p:attrNameLst>
                                      </p:cBhvr>
                                      <p:to>
                                        <p:strVal val="hidden"/>
                                      </p:to>
                                    </p:set>
                                  </p:childTnLst>
                                </p:cTn>
                              </p:par>
                              <p:par>
                                <p:cTn id="333" presetID="10" presetClass="exit" presetSubtype="0" fill="hold" grpId="1" nodeType="withEffect">
                                  <p:stCondLst>
                                    <p:cond delay="0"/>
                                  </p:stCondLst>
                                  <p:childTnLst>
                                    <p:animEffect transition="out" filter="fade">
                                      <p:cBhvr>
                                        <p:cTn id="334" dur="200"/>
                                        <p:tgtEl>
                                          <p:spTgt spid="147"/>
                                        </p:tgtEl>
                                      </p:cBhvr>
                                    </p:animEffect>
                                    <p:set>
                                      <p:cBhvr>
                                        <p:cTn id="335" dur="1" fill="hold">
                                          <p:stCondLst>
                                            <p:cond delay="199"/>
                                          </p:stCondLst>
                                        </p:cTn>
                                        <p:tgtEl>
                                          <p:spTgt spid="147"/>
                                        </p:tgtEl>
                                        <p:attrNameLst>
                                          <p:attrName>style.visibility</p:attrName>
                                        </p:attrNameLst>
                                      </p:cBhvr>
                                      <p:to>
                                        <p:strVal val="hidden"/>
                                      </p:to>
                                    </p:set>
                                  </p:childTnLst>
                                </p:cTn>
                              </p:par>
                              <p:par>
                                <p:cTn id="336" presetID="10" presetClass="exit" presetSubtype="0" fill="hold" grpId="1" nodeType="withEffect">
                                  <p:stCondLst>
                                    <p:cond delay="0"/>
                                  </p:stCondLst>
                                  <p:childTnLst>
                                    <p:animEffect transition="out" filter="fade">
                                      <p:cBhvr>
                                        <p:cTn id="337" dur="200"/>
                                        <p:tgtEl>
                                          <p:spTgt spid="148"/>
                                        </p:tgtEl>
                                      </p:cBhvr>
                                    </p:animEffect>
                                    <p:set>
                                      <p:cBhvr>
                                        <p:cTn id="338" dur="1" fill="hold">
                                          <p:stCondLst>
                                            <p:cond delay="199"/>
                                          </p:stCondLst>
                                        </p:cTn>
                                        <p:tgtEl>
                                          <p:spTgt spid="148"/>
                                        </p:tgtEl>
                                        <p:attrNameLst>
                                          <p:attrName>style.visibility</p:attrName>
                                        </p:attrNameLst>
                                      </p:cBhvr>
                                      <p:to>
                                        <p:strVal val="hidden"/>
                                      </p:to>
                                    </p:set>
                                  </p:childTnLst>
                                </p:cTn>
                              </p:par>
                              <p:par>
                                <p:cTn id="339" presetID="10" presetClass="entr" presetSubtype="0" fill="hold" grpId="0" nodeType="withEffect">
                                  <p:stCondLst>
                                    <p:cond delay="200"/>
                                  </p:stCondLst>
                                  <p:childTnLst>
                                    <p:set>
                                      <p:cBhvr>
                                        <p:cTn id="340" dur="1" fill="hold">
                                          <p:stCondLst>
                                            <p:cond delay="0"/>
                                          </p:stCondLst>
                                        </p:cTn>
                                        <p:tgtEl>
                                          <p:spTgt spid="70"/>
                                        </p:tgtEl>
                                        <p:attrNameLst>
                                          <p:attrName>style.visibility</p:attrName>
                                        </p:attrNameLst>
                                      </p:cBhvr>
                                      <p:to>
                                        <p:strVal val="visible"/>
                                      </p:to>
                                    </p:set>
                                    <p:animEffect transition="in" filter="fade">
                                      <p:cBhvr>
                                        <p:cTn id="341" dur="400"/>
                                        <p:tgtEl>
                                          <p:spTgt spid="70"/>
                                        </p:tgtEl>
                                      </p:cBhvr>
                                    </p:animEffect>
                                  </p:childTnLst>
                                </p:cTn>
                              </p:par>
                              <p:par>
                                <p:cTn id="342" presetID="10" presetClass="entr" presetSubtype="0" fill="hold" grpId="0" nodeType="withEffect">
                                  <p:stCondLst>
                                    <p:cond delay="200"/>
                                  </p:stCondLst>
                                  <p:childTnLst>
                                    <p:set>
                                      <p:cBhvr>
                                        <p:cTn id="343" dur="1" fill="hold">
                                          <p:stCondLst>
                                            <p:cond delay="0"/>
                                          </p:stCondLst>
                                        </p:cTn>
                                        <p:tgtEl>
                                          <p:spTgt spid="71"/>
                                        </p:tgtEl>
                                        <p:attrNameLst>
                                          <p:attrName>style.visibility</p:attrName>
                                        </p:attrNameLst>
                                      </p:cBhvr>
                                      <p:to>
                                        <p:strVal val="visible"/>
                                      </p:to>
                                    </p:set>
                                    <p:animEffect transition="in" filter="fade">
                                      <p:cBhvr>
                                        <p:cTn id="344" dur="400"/>
                                        <p:tgtEl>
                                          <p:spTgt spid="71"/>
                                        </p:tgtEl>
                                      </p:cBhvr>
                                    </p:animEffect>
                                  </p:childTnLst>
                                </p:cTn>
                              </p:par>
                              <p:par>
                                <p:cTn id="345" presetID="10" presetClass="entr" presetSubtype="0" fill="hold" grpId="0" nodeType="withEffect">
                                  <p:stCondLst>
                                    <p:cond delay="200"/>
                                  </p:stCondLst>
                                  <p:childTnLst>
                                    <p:set>
                                      <p:cBhvr>
                                        <p:cTn id="346" dur="1" fill="hold">
                                          <p:stCondLst>
                                            <p:cond delay="0"/>
                                          </p:stCondLst>
                                        </p:cTn>
                                        <p:tgtEl>
                                          <p:spTgt spid="72"/>
                                        </p:tgtEl>
                                        <p:attrNameLst>
                                          <p:attrName>style.visibility</p:attrName>
                                        </p:attrNameLst>
                                      </p:cBhvr>
                                      <p:to>
                                        <p:strVal val="visible"/>
                                      </p:to>
                                    </p:set>
                                    <p:animEffect transition="in" filter="fade">
                                      <p:cBhvr>
                                        <p:cTn id="347" dur="400"/>
                                        <p:tgtEl>
                                          <p:spTgt spid="72"/>
                                        </p:tgtEl>
                                      </p:cBhvr>
                                    </p:animEffect>
                                  </p:childTnLst>
                                </p:cTn>
                              </p:par>
                              <p:par>
                                <p:cTn id="348" presetID="10" presetClass="entr" presetSubtype="0" fill="hold" grpId="0" nodeType="withEffect">
                                  <p:stCondLst>
                                    <p:cond delay="200"/>
                                  </p:stCondLst>
                                  <p:childTnLst>
                                    <p:set>
                                      <p:cBhvr>
                                        <p:cTn id="349" dur="1" fill="hold">
                                          <p:stCondLst>
                                            <p:cond delay="0"/>
                                          </p:stCondLst>
                                        </p:cTn>
                                        <p:tgtEl>
                                          <p:spTgt spid="76"/>
                                        </p:tgtEl>
                                        <p:attrNameLst>
                                          <p:attrName>style.visibility</p:attrName>
                                        </p:attrNameLst>
                                      </p:cBhvr>
                                      <p:to>
                                        <p:strVal val="visible"/>
                                      </p:to>
                                    </p:set>
                                    <p:animEffect transition="in" filter="fade">
                                      <p:cBhvr>
                                        <p:cTn id="350" dur="400"/>
                                        <p:tgtEl>
                                          <p:spTgt spid="76"/>
                                        </p:tgtEl>
                                      </p:cBhvr>
                                    </p:animEffect>
                                  </p:childTnLst>
                                </p:cTn>
                              </p:par>
                              <p:par>
                                <p:cTn id="351" presetID="10" presetClass="entr" presetSubtype="0" fill="hold" grpId="0" nodeType="withEffect">
                                  <p:stCondLst>
                                    <p:cond delay="200"/>
                                  </p:stCondLst>
                                  <p:childTnLst>
                                    <p:set>
                                      <p:cBhvr>
                                        <p:cTn id="352" dur="1" fill="hold">
                                          <p:stCondLst>
                                            <p:cond delay="0"/>
                                          </p:stCondLst>
                                        </p:cTn>
                                        <p:tgtEl>
                                          <p:spTgt spid="77"/>
                                        </p:tgtEl>
                                        <p:attrNameLst>
                                          <p:attrName>style.visibility</p:attrName>
                                        </p:attrNameLst>
                                      </p:cBhvr>
                                      <p:to>
                                        <p:strVal val="visible"/>
                                      </p:to>
                                    </p:set>
                                    <p:animEffect transition="in" filter="fade">
                                      <p:cBhvr>
                                        <p:cTn id="353" dur="400"/>
                                        <p:tgtEl>
                                          <p:spTgt spid="77"/>
                                        </p:tgtEl>
                                      </p:cBhvr>
                                    </p:animEffect>
                                  </p:childTnLst>
                                </p:cTn>
                              </p:par>
                              <p:par>
                                <p:cTn id="354" presetID="10" presetClass="entr" presetSubtype="0" fill="hold" grpId="0" nodeType="withEffect">
                                  <p:stCondLst>
                                    <p:cond delay="200"/>
                                  </p:stCondLst>
                                  <p:childTnLst>
                                    <p:set>
                                      <p:cBhvr>
                                        <p:cTn id="355" dur="1" fill="hold">
                                          <p:stCondLst>
                                            <p:cond delay="0"/>
                                          </p:stCondLst>
                                        </p:cTn>
                                        <p:tgtEl>
                                          <p:spTgt spid="78"/>
                                        </p:tgtEl>
                                        <p:attrNameLst>
                                          <p:attrName>style.visibility</p:attrName>
                                        </p:attrNameLst>
                                      </p:cBhvr>
                                      <p:to>
                                        <p:strVal val="visible"/>
                                      </p:to>
                                    </p:set>
                                    <p:animEffect transition="in" filter="fade">
                                      <p:cBhvr>
                                        <p:cTn id="356" dur="400"/>
                                        <p:tgtEl>
                                          <p:spTgt spid="78"/>
                                        </p:tgtEl>
                                      </p:cBhvr>
                                    </p:animEffect>
                                  </p:childTnLst>
                                </p:cTn>
                              </p:par>
                              <p:par>
                                <p:cTn id="357" presetID="10" presetClass="entr" presetSubtype="0" fill="hold" grpId="0" nodeType="withEffect">
                                  <p:stCondLst>
                                    <p:cond delay="200"/>
                                  </p:stCondLst>
                                  <p:childTnLst>
                                    <p:set>
                                      <p:cBhvr>
                                        <p:cTn id="358" dur="1" fill="hold">
                                          <p:stCondLst>
                                            <p:cond delay="0"/>
                                          </p:stCondLst>
                                        </p:cTn>
                                        <p:tgtEl>
                                          <p:spTgt spid="79"/>
                                        </p:tgtEl>
                                        <p:attrNameLst>
                                          <p:attrName>style.visibility</p:attrName>
                                        </p:attrNameLst>
                                      </p:cBhvr>
                                      <p:to>
                                        <p:strVal val="visible"/>
                                      </p:to>
                                    </p:set>
                                    <p:animEffect transition="in" filter="fade">
                                      <p:cBhvr>
                                        <p:cTn id="359" dur="400"/>
                                        <p:tgtEl>
                                          <p:spTgt spid="79"/>
                                        </p:tgtEl>
                                      </p:cBhvr>
                                    </p:animEffect>
                                  </p:childTnLst>
                                </p:cTn>
                              </p:par>
                              <p:par>
                                <p:cTn id="360" presetID="10" presetClass="entr" presetSubtype="0" fill="hold" grpId="0" nodeType="withEffect">
                                  <p:stCondLst>
                                    <p:cond delay="200"/>
                                  </p:stCondLst>
                                  <p:childTnLst>
                                    <p:set>
                                      <p:cBhvr>
                                        <p:cTn id="361" dur="1" fill="hold">
                                          <p:stCondLst>
                                            <p:cond delay="0"/>
                                          </p:stCondLst>
                                        </p:cTn>
                                        <p:tgtEl>
                                          <p:spTgt spid="121"/>
                                        </p:tgtEl>
                                        <p:attrNameLst>
                                          <p:attrName>style.visibility</p:attrName>
                                        </p:attrNameLst>
                                      </p:cBhvr>
                                      <p:to>
                                        <p:strVal val="visible"/>
                                      </p:to>
                                    </p:set>
                                    <p:animEffect transition="in" filter="fade">
                                      <p:cBhvr>
                                        <p:cTn id="362" dur="400"/>
                                        <p:tgtEl>
                                          <p:spTgt spid="121"/>
                                        </p:tgtEl>
                                      </p:cBhvr>
                                    </p:animEffect>
                                  </p:childTnLst>
                                </p:cTn>
                              </p:par>
                              <p:par>
                                <p:cTn id="363" presetID="10" presetClass="entr" presetSubtype="0" fill="hold" grpId="0" nodeType="withEffect">
                                  <p:stCondLst>
                                    <p:cond delay="200"/>
                                  </p:stCondLst>
                                  <p:childTnLst>
                                    <p:set>
                                      <p:cBhvr>
                                        <p:cTn id="364" dur="1" fill="hold">
                                          <p:stCondLst>
                                            <p:cond delay="0"/>
                                          </p:stCondLst>
                                        </p:cTn>
                                        <p:tgtEl>
                                          <p:spTgt spid="143"/>
                                        </p:tgtEl>
                                        <p:attrNameLst>
                                          <p:attrName>style.visibility</p:attrName>
                                        </p:attrNameLst>
                                      </p:cBhvr>
                                      <p:to>
                                        <p:strVal val="visible"/>
                                      </p:to>
                                    </p:set>
                                    <p:animEffect transition="in" filter="fade">
                                      <p:cBhvr>
                                        <p:cTn id="365" dur="400"/>
                                        <p:tgtEl>
                                          <p:spTgt spid="143"/>
                                        </p:tgtEl>
                                      </p:cBhvr>
                                    </p:animEffect>
                                  </p:childTnLst>
                                </p:cTn>
                              </p:par>
                              <p:par>
                                <p:cTn id="366" presetID="10" presetClass="entr" presetSubtype="0" fill="hold" grpId="0" nodeType="withEffect">
                                  <p:stCondLst>
                                    <p:cond delay="200"/>
                                  </p:stCondLst>
                                  <p:childTnLst>
                                    <p:set>
                                      <p:cBhvr>
                                        <p:cTn id="367" dur="1" fill="hold">
                                          <p:stCondLst>
                                            <p:cond delay="0"/>
                                          </p:stCondLst>
                                        </p:cTn>
                                        <p:tgtEl>
                                          <p:spTgt spid="144"/>
                                        </p:tgtEl>
                                        <p:attrNameLst>
                                          <p:attrName>style.visibility</p:attrName>
                                        </p:attrNameLst>
                                      </p:cBhvr>
                                      <p:to>
                                        <p:strVal val="visible"/>
                                      </p:to>
                                    </p:set>
                                    <p:animEffect transition="in" filter="fade">
                                      <p:cBhvr>
                                        <p:cTn id="368" dur="400"/>
                                        <p:tgtEl>
                                          <p:spTgt spid="144"/>
                                        </p:tgtEl>
                                      </p:cBhvr>
                                    </p:animEffect>
                                  </p:childTnLst>
                                </p:cTn>
                              </p:par>
                              <p:par>
                                <p:cTn id="369" presetID="10" presetClass="entr" presetSubtype="0" fill="hold" grpId="0" nodeType="withEffect">
                                  <p:stCondLst>
                                    <p:cond delay="200"/>
                                  </p:stCondLst>
                                  <p:childTnLst>
                                    <p:set>
                                      <p:cBhvr>
                                        <p:cTn id="370" dur="1" fill="hold">
                                          <p:stCondLst>
                                            <p:cond delay="0"/>
                                          </p:stCondLst>
                                        </p:cTn>
                                        <p:tgtEl>
                                          <p:spTgt spid="145"/>
                                        </p:tgtEl>
                                        <p:attrNameLst>
                                          <p:attrName>style.visibility</p:attrName>
                                        </p:attrNameLst>
                                      </p:cBhvr>
                                      <p:to>
                                        <p:strVal val="visible"/>
                                      </p:to>
                                    </p:set>
                                    <p:animEffect transition="in" filter="fade">
                                      <p:cBhvr>
                                        <p:cTn id="371" dur="400"/>
                                        <p:tgtEl>
                                          <p:spTgt spid="145"/>
                                        </p:tgtEl>
                                      </p:cBhvr>
                                    </p:animEffect>
                                  </p:childTnLst>
                                </p:cTn>
                              </p:par>
                            </p:childTnLst>
                          </p:cTn>
                        </p:par>
                      </p:childTnLst>
                    </p:cTn>
                  </p:par>
                  <p:par>
                    <p:cTn id="703" fill="hold">
                      <p:stCondLst>
                        <p:cond delay="indefinite"/>
                      </p:stCondLst>
                      <p:childTnLst>
                        <p:par>
                          <p:cTn id="704" fill="hold">
                            <p:stCondLst>
                              <p:cond delay="0"/>
                            </p:stCondLst>
                            <p:childTnLst>
                              <p:par>
                                <p:cTn id="372" presetID="10" presetClass="exit" presetSubtype="0" fill="hold" grpId="0" nodeType="clickEffect">
                                  <p:stCondLst>
                                    <p:cond delay="0"/>
                                  </p:stCondLst>
                                  <p:childTnLst>
                                    <p:animEffect transition="out" filter="fade">
                                      <p:cBhvr>
                                        <p:cTn id="373" dur="200"/>
                                        <p:tgtEl>
                                          <p:spTgt spid="67"/>
                                        </p:tgtEl>
                                      </p:cBhvr>
                                    </p:animEffect>
                                    <p:set>
                                      <p:cBhvr>
                                        <p:cTn id="374" dur="1" fill="hold">
                                          <p:stCondLst>
                                            <p:cond delay="199"/>
                                          </p:stCondLst>
                                        </p:cTn>
                                        <p:tgtEl>
                                          <p:spTgt spid="67"/>
                                        </p:tgtEl>
                                        <p:attrNameLst>
                                          <p:attrName>style.visibility</p:attrName>
                                        </p:attrNameLst>
                                      </p:cBhvr>
                                      <p:to>
                                        <p:strVal val="hidden"/>
                                      </p:to>
                                    </p:set>
                                  </p:childTnLst>
                                </p:cTn>
                              </p:par>
                              <p:par>
                                <p:cTn id="375" presetID="10" presetClass="exit" presetSubtype="0" fill="hold" grpId="0" nodeType="withEffect">
                                  <p:stCondLst>
                                    <p:cond delay="0"/>
                                  </p:stCondLst>
                                  <p:childTnLst>
                                    <p:animEffect transition="out" filter="fade">
                                      <p:cBhvr>
                                        <p:cTn id="376" dur="200"/>
                                        <p:tgtEl>
                                          <p:spTgt spid="68"/>
                                        </p:tgtEl>
                                      </p:cBhvr>
                                    </p:animEffect>
                                    <p:set>
                                      <p:cBhvr>
                                        <p:cTn id="377" dur="1" fill="hold">
                                          <p:stCondLst>
                                            <p:cond delay="199"/>
                                          </p:stCondLst>
                                        </p:cTn>
                                        <p:tgtEl>
                                          <p:spTgt spid="68"/>
                                        </p:tgtEl>
                                        <p:attrNameLst>
                                          <p:attrName>style.visibility</p:attrName>
                                        </p:attrNameLst>
                                      </p:cBhvr>
                                      <p:to>
                                        <p:strVal val="hidden"/>
                                      </p:to>
                                    </p:set>
                                  </p:childTnLst>
                                </p:cTn>
                              </p:par>
                              <p:par>
                                <p:cTn id="378" presetID="10" presetClass="exit" presetSubtype="0" fill="hold" grpId="0" nodeType="withEffect">
                                  <p:stCondLst>
                                    <p:cond delay="0"/>
                                  </p:stCondLst>
                                  <p:childTnLst>
                                    <p:animEffect transition="out" filter="fade">
                                      <p:cBhvr>
                                        <p:cTn id="379" dur="200"/>
                                        <p:tgtEl>
                                          <p:spTgt spid="69"/>
                                        </p:tgtEl>
                                      </p:cBhvr>
                                    </p:animEffect>
                                    <p:set>
                                      <p:cBhvr>
                                        <p:cTn id="380" dur="1" fill="hold">
                                          <p:stCondLst>
                                            <p:cond delay="199"/>
                                          </p:stCondLst>
                                        </p:cTn>
                                        <p:tgtEl>
                                          <p:spTgt spid="69"/>
                                        </p:tgtEl>
                                        <p:attrNameLst>
                                          <p:attrName>style.visibility</p:attrName>
                                        </p:attrNameLst>
                                      </p:cBhvr>
                                      <p:to>
                                        <p:strVal val="hidden"/>
                                      </p:to>
                                    </p:set>
                                  </p:childTnLst>
                                </p:cTn>
                              </p:par>
                              <p:par>
                                <p:cTn id="381" presetID="10" presetClass="exit" presetSubtype="0" fill="hold" grpId="1" nodeType="withEffect">
                                  <p:stCondLst>
                                    <p:cond delay="0"/>
                                  </p:stCondLst>
                                  <p:childTnLst>
                                    <p:animEffect transition="out" filter="fade">
                                      <p:cBhvr>
                                        <p:cTn id="382" dur="200"/>
                                        <p:tgtEl>
                                          <p:spTgt spid="76"/>
                                        </p:tgtEl>
                                      </p:cBhvr>
                                    </p:animEffect>
                                    <p:set>
                                      <p:cBhvr>
                                        <p:cTn id="383" dur="1" fill="hold">
                                          <p:stCondLst>
                                            <p:cond delay="199"/>
                                          </p:stCondLst>
                                        </p:cTn>
                                        <p:tgtEl>
                                          <p:spTgt spid="76"/>
                                        </p:tgtEl>
                                        <p:attrNameLst>
                                          <p:attrName>style.visibility</p:attrName>
                                        </p:attrNameLst>
                                      </p:cBhvr>
                                      <p:to>
                                        <p:strVal val="hidden"/>
                                      </p:to>
                                    </p:set>
                                  </p:childTnLst>
                                </p:cTn>
                              </p:par>
                              <p:par>
                                <p:cTn id="384" presetID="10" presetClass="exit" presetSubtype="0" fill="hold" grpId="1" nodeType="withEffect">
                                  <p:stCondLst>
                                    <p:cond delay="0"/>
                                  </p:stCondLst>
                                  <p:childTnLst>
                                    <p:animEffect transition="out" filter="fade">
                                      <p:cBhvr>
                                        <p:cTn id="385" dur="200"/>
                                        <p:tgtEl>
                                          <p:spTgt spid="77"/>
                                        </p:tgtEl>
                                      </p:cBhvr>
                                    </p:animEffect>
                                    <p:set>
                                      <p:cBhvr>
                                        <p:cTn id="386" dur="1" fill="hold">
                                          <p:stCondLst>
                                            <p:cond delay="199"/>
                                          </p:stCondLst>
                                        </p:cTn>
                                        <p:tgtEl>
                                          <p:spTgt spid="77"/>
                                        </p:tgtEl>
                                        <p:attrNameLst>
                                          <p:attrName>style.visibility</p:attrName>
                                        </p:attrNameLst>
                                      </p:cBhvr>
                                      <p:to>
                                        <p:strVal val="hidden"/>
                                      </p:to>
                                    </p:set>
                                  </p:childTnLst>
                                </p:cTn>
                              </p:par>
                              <p:par>
                                <p:cTn id="387" presetID="10" presetClass="exit" presetSubtype="0" fill="hold" grpId="1" nodeType="withEffect">
                                  <p:stCondLst>
                                    <p:cond delay="0"/>
                                  </p:stCondLst>
                                  <p:childTnLst>
                                    <p:animEffect transition="out" filter="fade">
                                      <p:cBhvr>
                                        <p:cTn id="388" dur="200"/>
                                        <p:tgtEl>
                                          <p:spTgt spid="78"/>
                                        </p:tgtEl>
                                      </p:cBhvr>
                                    </p:animEffect>
                                    <p:set>
                                      <p:cBhvr>
                                        <p:cTn id="389" dur="1" fill="hold">
                                          <p:stCondLst>
                                            <p:cond delay="199"/>
                                          </p:stCondLst>
                                        </p:cTn>
                                        <p:tgtEl>
                                          <p:spTgt spid="78"/>
                                        </p:tgtEl>
                                        <p:attrNameLst>
                                          <p:attrName>style.visibility</p:attrName>
                                        </p:attrNameLst>
                                      </p:cBhvr>
                                      <p:to>
                                        <p:strVal val="hidden"/>
                                      </p:to>
                                    </p:set>
                                  </p:childTnLst>
                                </p:cTn>
                              </p:par>
                              <p:par>
                                <p:cTn id="390" presetID="10" presetClass="exit" presetSubtype="0" fill="hold" grpId="1" nodeType="withEffect">
                                  <p:stCondLst>
                                    <p:cond delay="0"/>
                                  </p:stCondLst>
                                  <p:childTnLst>
                                    <p:animEffect transition="out" filter="fade">
                                      <p:cBhvr>
                                        <p:cTn id="391" dur="200"/>
                                        <p:tgtEl>
                                          <p:spTgt spid="79"/>
                                        </p:tgtEl>
                                      </p:cBhvr>
                                    </p:animEffect>
                                    <p:set>
                                      <p:cBhvr>
                                        <p:cTn id="392" dur="1" fill="hold">
                                          <p:stCondLst>
                                            <p:cond delay="199"/>
                                          </p:stCondLst>
                                        </p:cTn>
                                        <p:tgtEl>
                                          <p:spTgt spid="79"/>
                                        </p:tgtEl>
                                        <p:attrNameLst>
                                          <p:attrName>style.visibility</p:attrName>
                                        </p:attrNameLst>
                                      </p:cBhvr>
                                      <p:to>
                                        <p:strVal val="hidden"/>
                                      </p:to>
                                    </p:set>
                                  </p:childTnLst>
                                </p:cTn>
                              </p:par>
                              <p:par>
                                <p:cTn id="393" presetID="10" presetClass="exit" presetSubtype="0" fill="hold" grpId="1" nodeType="withEffect">
                                  <p:stCondLst>
                                    <p:cond delay="0"/>
                                  </p:stCondLst>
                                  <p:childTnLst>
                                    <p:animEffect transition="out" filter="fade">
                                      <p:cBhvr>
                                        <p:cTn id="394" dur="200"/>
                                        <p:tgtEl>
                                          <p:spTgt spid="121"/>
                                        </p:tgtEl>
                                      </p:cBhvr>
                                    </p:animEffect>
                                    <p:set>
                                      <p:cBhvr>
                                        <p:cTn id="395" dur="1" fill="hold">
                                          <p:stCondLst>
                                            <p:cond delay="199"/>
                                          </p:stCondLst>
                                        </p:cTn>
                                        <p:tgtEl>
                                          <p:spTgt spid="121"/>
                                        </p:tgtEl>
                                        <p:attrNameLst>
                                          <p:attrName>style.visibility</p:attrName>
                                        </p:attrNameLst>
                                      </p:cBhvr>
                                      <p:to>
                                        <p:strVal val="hidden"/>
                                      </p:to>
                                    </p:set>
                                  </p:childTnLst>
                                </p:cTn>
                              </p:par>
                              <p:par>
                                <p:cTn id="396" presetID="10" presetClass="exit" presetSubtype="0" fill="hold" grpId="1" nodeType="withEffect">
                                  <p:stCondLst>
                                    <p:cond delay="0"/>
                                  </p:stCondLst>
                                  <p:childTnLst>
                                    <p:animEffect transition="out" filter="fade">
                                      <p:cBhvr>
                                        <p:cTn id="397" dur="200"/>
                                        <p:tgtEl>
                                          <p:spTgt spid="143"/>
                                        </p:tgtEl>
                                      </p:cBhvr>
                                    </p:animEffect>
                                    <p:set>
                                      <p:cBhvr>
                                        <p:cTn id="398" dur="1" fill="hold">
                                          <p:stCondLst>
                                            <p:cond delay="199"/>
                                          </p:stCondLst>
                                        </p:cTn>
                                        <p:tgtEl>
                                          <p:spTgt spid="143"/>
                                        </p:tgtEl>
                                        <p:attrNameLst>
                                          <p:attrName>style.visibility</p:attrName>
                                        </p:attrNameLst>
                                      </p:cBhvr>
                                      <p:to>
                                        <p:strVal val="hidden"/>
                                      </p:to>
                                    </p:set>
                                  </p:childTnLst>
                                </p:cTn>
                              </p:par>
                              <p:par>
                                <p:cTn id="399" presetID="10" presetClass="exit" presetSubtype="0" fill="hold" grpId="1" nodeType="withEffect">
                                  <p:stCondLst>
                                    <p:cond delay="0"/>
                                  </p:stCondLst>
                                  <p:childTnLst>
                                    <p:animEffect transition="out" filter="fade">
                                      <p:cBhvr>
                                        <p:cTn id="400" dur="200"/>
                                        <p:tgtEl>
                                          <p:spTgt spid="144"/>
                                        </p:tgtEl>
                                      </p:cBhvr>
                                    </p:animEffect>
                                    <p:set>
                                      <p:cBhvr>
                                        <p:cTn id="401" dur="1" fill="hold">
                                          <p:stCondLst>
                                            <p:cond delay="199"/>
                                          </p:stCondLst>
                                        </p:cTn>
                                        <p:tgtEl>
                                          <p:spTgt spid="144"/>
                                        </p:tgtEl>
                                        <p:attrNameLst>
                                          <p:attrName>style.visibility</p:attrName>
                                        </p:attrNameLst>
                                      </p:cBhvr>
                                      <p:to>
                                        <p:strVal val="hidden"/>
                                      </p:to>
                                    </p:set>
                                  </p:childTnLst>
                                </p:cTn>
                              </p:par>
                              <p:par>
                                <p:cTn id="402" presetID="10" presetClass="exit" presetSubtype="0" fill="hold" grpId="1" nodeType="withEffect">
                                  <p:stCondLst>
                                    <p:cond delay="0"/>
                                  </p:stCondLst>
                                  <p:childTnLst>
                                    <p:animEffect transition="out" filter="fade">
                                      <p:cBhvr>
                                        <p:cTn id="403" dur="200"/>
                                        <p:tgtEl>
                                          <p:spTgt spid="145"/>
                                        </p:tgtEl>
                                      </p:cBhvr>
                                    </p:animEffect>
                                    <p:set>
                                      <p:cBhvr>
                                        <p:cTn id="404" dur="1" fill="hold">
                                          <p:stCondLst>
                                            <p:cond delay="199"/>
                                          </p:stCondLst>
                                        </p:cTn>
                                        <p:tgtEl>
                                          <p:spTgt spid="145"/>
                                        </p:tgtEl>
                                        <p:attrNameLst>
                                          <p:attrName>style.visibility</p:attrName>
                                        </p:attrNameLst>
                                      </p:cBhvr>
                                      <p:to>
                                        <p:strVal val="hidden"/>
                                      </p:to>
                                    </p:set>
                                  </p:childTnLst>
                                </p:cTn>
                              </p:par>
                              <p:par>
                                <p:cTn id="405" presetID="10" presetClass="entr" presetSubtype="0" fill="hold" grpId="0" nodeType="withEffect">
                                  <p:stCondLst>
                                    <p:cond delay="200"/>
                                  </p:stCondLst>
                                  <p:childTnLst>
                                    <p:set>
                                      <p:cBhvr>
                                        <p:cTn id="406" dur="1" fill="hold">
                                          <p:stCondLst>
                                            <p:cond delay="0"/>
                                          </p:stCondLst>
                                        </p:cTn>
                                        <p:tgtEl>
                                          <p:spTgt spid="49"/>
                                        </p:tgtEl>
                                        <p:attrNameLst>
                                          <p:attrName>style.visibility</p:attrName>
                                        </p:attrNameLst>
                                      </p:cBhvr>
                                      <p:to>
                                        <p:strVal val="visible"/>
                                      </p:to>
                                    </p:set>
                                    <p:animEffect transition="in" filter="fade">
                                      <p:cBhvr>
                                        <p:cTn id="407" dur="400"/>
                                        <p:tgtEl>
                                          <p:spTgt spid="49"/>
                                        </p:tgtEl>
                                      </p:cBhvr>
                                    </p:animEffect>
                                  </p:childTnLst>
                                </p:cTn>
                              </p:par>
                              <p:par>
                                <p:cTn id="408" presetID="10" presetClass="entr" presetSubtype="0" fill="hold" grpId="0" nodeType="withEffect">
                                  <p:stCondLst>
                                    <p:cond delay="200"/>
                                  </p:stCondLst>
                                  <p:childTnLst>
                                    <p:set>
                                      <p:cBhvr>
                                        <p:cTn id="409" dur="1" fill="hold">
                                          <p:stCondLst>
                                            <p:cond delay="0"/>
                                          </p:stCondLst>
                                        </p:cTn>
                                        <p:tgtEl>
                                          <p:spTgt spid="50"/>
                                        </p:tgtEl>
                                        <p:attrNameLst>
                                          <p:attrName>style.visibility</p:attrName>
                                        </p:attrNameLst>
                                      </p:cBhvr>
                                      <p:to>
                                        <p:strVal val="visible"/>
                                      </p:to>
                                    </p:set>
                                    <p:animEffect transition="in" filter="fade">
                                      <p:cBhvr>
                                        <p:cTn id="410" dur="400"/>
                                        <p:tgtEl>
                                          <p:spTgt spid="50"/>
                                        </p:tgtEl>
                                      </p:cBhvr>
                                    </p:animEffect>
                                  </p:childTnLst>
                                </p:cTn>
                              </p:par>
                              <p:par>
                                <p:cTn id="411" presetID="10" presetClass="entr" presetSubtype="0" fill="hold" grpId="0" nodeType="withEffect">
                                  <p:stCondLst>
                                    <p:cond delay="200"/>
                                  </p:stCondLst>
                                  <p:childTnLst>
                                    <p:set>
                                      <p:cBhvr>
                                        <p:cTn id="412" dur="1" fill="hold">
                                          <p:stCondLst>
                                            <p:cond delay="0"/>
                                          </p:stCondLst>
                                        </p:cTn>
                                        <p:tgtEl>
                                          <p:spTgt spid="51"/>
                                        </p:tgtEl>
                                        <p:attrNameLst>
                                          <p:attrName>style.visibility</p:attrName>
                                        </p:attrNameLst>
                                      </p:cBhvr>
                                      <p:to>
                                        <p:strVal val="visible"/>
                                      </p:to>
                                    </p:set>
                                    <p:animEffect transition="in" filter="fade">
                                      <p:cBhvr>
                                        <p:cTn id="413" dur="400"/>
                                        <p:tgtEl>
                                          <p:spTgt spid="51"/>
                                        </p:tgtEl>
                                      </p:cBhvr>
                                    </p:animEffect>
                                  </p:childTnLst>
                                </p:cTn>
                              </p:par>
                              <p:par>
                                <p:cTn id="414" presetID="10" presetClass="entr" presetSubtype="0" fill="hold" grpId="0" nodeType="withEffect">
                                  <p:stCondLst>
                                    <p:cond delay="200"/>
                                  </p:stCondLst>
                                  <p:childTnLst>
                                    <p:set>
                                      <p:cBhvr>
                                        <p:cTn id="415" dur="1" fill="hold">
                                          <p:stCondLst>
                                            <p:cond delay="0"/>
                                          </p:stCondLst>
                                        </p:cTn>
                                        <p:tgtEl>
                                          <p:spTgt spid="52"/>
                                        </p:tgtEl>
                                        <p:attrNameLst>
                                          <p:attrName>style.visibility</p:attrName>
                                        </p:attrNameLst>
                                      </p:cBhvr>
                                      <p:to>
                                        <p:strVal val="visible"/>
                                      </p:to>
                                    </p:set>
                                    <p:animEffect transition="in" filter="fade">
                                      <p:cBhvr>
                                        <p:cTn id="416" dur="400"/>
                                        <p:tgtEl>
                                          <p:spTgt spid="52"/>
                                        </p:tgtEl>
                                      </p:cBhvr>
                                    </p:animEffect>
                                  </p:childTnLst>
                                </p:cTn>
                              </p:par>
                              <p:par>
                                <p:cTn id="417" presetID="10" presetClass="entr" presetSubtype="0" fill="hold" grpId="0" nodeType="withEffect">
                                  <p:stCondLst>
                                    <p:cond delay="200"/>
                                  </p:stCondLst>
                                  <p:childTnLst>
                                    <p:set>
                                      <p:cBhvr>
                                        <p:cTn id="418" dur="1" fill="hold">
                                          <p:stCondLst>
                                            <p:cond delay="0"/>
                                          </p:stCondLst>
                                        </p:cTn>
                                        <p:tgtEl>
                                          <p:spTgt spid="73"/>
                                        </p:tgtEl>
                                        <p:attrNameLst>
                                          <p:attrName>style.visibility</p:attrName>
                                        </p:attrNameLst>
                                      </p:cBhvr>
                                      <p:to>
                                        <p:strVal val="visible"/>
                                      </p:to>
                                    </p:set>
                                    <p:animEffect transition="in" filter="fade">
                                      <p:cBhvr>
                                        <p:cTn id="419" dur="400"/>
                                        <p:tgtEl>
                                          <p:spTgt spid="73"/>
                                        </p:tgtEl>
                                      </p:cBhvr>
                                    </p:animEffect>
                                  </p:childTnLst>
                                </p:cTn>
                              </p:par>
                              <p:par>
                                <p:cTn id="420" presetID="10" presetClass="entr" presetSubtype="0" fill="hold" grpId="0" nodeType="withEffect">
                                  <p:stCondLst>
                                    <p:cond delay="200"/>
                                  </p:stCondLst>
                                  <p:childTnLst>
                                    <p:set>
                                      <p:cBhvr>
                                        <p:cTn id="421" dur="1" fill="hold">
                                          <p:stCondLst>
                                            <p:cond delay="0"/>
                                          </p:stCondLst>
                                        </p:cTn>
                                        <p:tgtEl>
                                          <p:spTgt spid="74"/>
                                        </p:tgtEl>
                                        <p:attrNameLst>
                                          <p:attrName>style.visibility</p:attrName>
                                        </p:attrNameLst>
                                      </p:cBhvr>
                                      <p:to>
                                        <p:strVal val="visible"/>
                                      </p:to>
                                    </p:set>
                                    <p:animEffect transition="in" filter="fade">
                                      <p:cBhvr>
                                        <p:cTn id="422" dur="400"/>
                                        <p:tgtEl>
                                          <p:spTgt spid="74"/>
                                        </p:tgtEl>
                                      </p:cBhvr>
                                    </p:animEffect>
                                  </p:childTnLst>
                                </p:cTn>
                              </p:par>
                              <p:par>
                                <p:cTn id="423" presetID="10" presetClass="entr" presetSubtype="0" fill="hold" grpId="0" nodeType="withEffect">
                                  <p:stCondLst>
                                    <p:cond delay="200"/>
                                  </p:stCondLst>
                                  <p:childTnLst>
                                    <p:set>
                                      <p:cBhvr>
                                        <p:cTn id="424" dur="1" fill="hold">
                                          <p:stCondLst>
                                            <p:cond delay="0"/>
                                          </p:stCondLst>
                                        </p:cTn>
                                        <p:tgtEl>
                                          <p:spTgt spid="75"/>
                                        </p:tgtEl>
                                        <p:attrNameLst>
                                          <p:attrName>style.visibility</p:attrName>
                                        </p:attrNameLst>
                                      </p:cBhvr>
                                      <p:to>
                                        <p:strVal val="visible"/>
                                      </p:to>
                                    </p:set>
                                    <p:animEffect transition="in" filter="fade">
                                      <p:cBhvr>
                                        <p:cTn id="425" dur="400"/>
                                        <p:tgtEl>
                                          <p:spTgt spid="75"/>
                                        </p:tgtEl>
                                      </p:cBhvr>
                                    </p:animEffect>
                                  </p:childTnLst>
                                </p:cTn>
                              </p:par>
                              <p:par>
                                <p:cTn id="426" presetID="10" presetClass="entr" presetSubtype="0" fill="hold" grpId="0" nodeType="withEffect">
                                  <p:stCondLst>
                                    <p:cond delay="200"/>
                                  </p:stCondLst>
                                  <p:childTnLst>
                                    <p:set>
                                      <p:cBhvr>
                                        <p:cTn id="427" dur="1" fill="hold">
                                          <p:stCondLst>
                                            <p:cond delay="0"/>
                                          </p:stCondLst>
                                        </p:cTn>
                                        <p:tgtEl>
                                          <p:spTgt spid="120"/>
                                        </p:tgtEl>
                                        <p:attrNameLst>
                                          <p:attrName>style.visibility</p:attrName>
                                        </p:attrNameLst>
                                      </p:cBhvr>
                                      <p:to>
                                        <p:strVal val="visible"/>
                                      </p:to>
                                    </p:set>
                                    <p:animEffect transition="in" filter="fade">
                                      <p:cBhvr>
                                        <p:cTn id="428" dur="400"/>
                                        <p:tgtEl>
                                          <p:spTgt spid="120"/>
                                        </p:tgtEl>
                                      </p:cBhvr>
                                    </p:animEffect>
                                  </p:childTnLst>
                                </p:cTn>
                              </p:par>
                              <p:par>
                                <p:cTn id="429" presetID="10" presetClass="entr" presetSubtype="0" fill="hold" grpId="0" nodeType="withEffect">
                                  <p:stCondLst>
                                    <p:cond delay="200"/>
                                  </p:stCondLst>
                                  <p:childTnLst>
                                    <p:set>
                                      <p:cBhvr>
                                        <p:cTn id="430" dur="1" fill="hold">
                                          <p:stCondLst>
                                            <p:cond delay="0"/>
                                          </p:stCondLst>
                                        </p:cTn>
                                        <p:tgtEl>
                                          <p:spTgt spid="138"/>
                                        </p:tgtEl>
                                        <p:attrNameLst>
                                          <p:attrName>style.visibility</p:attrName>
                                        </p:attrNameLst>
                                      </p:cBhvr>
                                      <p:to>
                                        <p:strVal val="visible"/>
                                      </p:to>
                                    </p:set>
                                    <p:animEffect transition="in" filter="fade">
                                      <p:cBhvr>
                                        <p:cTn id="431" dur="400"/>
                                        <p:tgtEl>
                                          <p:spTgt spid="138"/>
                                        </p:tgtEl>
                                      </p:cBhvr>
                                    </p:animEffect>
                                  </p:childTnLst>
                                </p:cTn>
                              </p:par>
                              <p:par>
                                <p:cTn id="432" presetID="10" presetClass="entr" presetSubtype="0" fill="hold" grpId="0" nodeType="withEffect">
                                  <p:stCondLst>
                                    <p:cond delay="200"/>
                                  </p:stCondLst>
                                  <p:childTnLst>
                                    <p:set>
                                      <p:cBhvr>
                                        <p:cTn id="433" dur="1" fill="hold">
                                          <p:stCondLst>
                                            <p:cond delay="0"/>
                                          </p:stCondLst>
                                        </p:cTn>
                                        <p:tgtEl>
                                          <p:spTgt spid="139"/>
                                        </p:tgtEl>
                                        <p:attrNameLst>
                                          <p:attrName>style.visibility</p:attrName>
                                        </p:attrNameLst>
                                      </p:cBhvr>
                                      <p:to>
                                        <p:strVal val="visible"/>
                                      </p:to>
                                    </p:set>
                                    <p:animEffect transition="in" filter="fade">
                                      <p:cBhvr>
                                        <p:cTn id="434" dur="400"/>
                                        <p:tgtEl>
                                          <p:spTgt spid="139"/>
                                        </p:tgtEl>
                                      </p:cBhvr>
                                    </p:animEffect>
                                  </p:childTnLst>
                                </p:cTn>
                              </p:par>
                              <p:par>
                                <p:cTn id="435" presetID="10" presetClass="entr" presetSubtype="0" fill="hold" grpId="0" nodeType="withEffect">
                                  <p:stCondLst>
                                    <p:cond delay="200"/>
                                  </p:stCondLst>
                                  <p:childTnLst>
                                    <p:set>
                                      <p:cBhvr>
                                        <p:cTn id="436" dur="1" fill="hold">
                                          <p:stCondLst>
                                            <p:cond delay="0"/>
                                          </p:stCondLst>
                                        </p:cTn>
                                        <p:tgtEl>
                                          <p:spTgt spid="140"/>
                                        </p:tgtEl>
                                        <p:attrNameLst>
                                          <p:attrName>style.visibility</p:attrName>
                                        </p:attrNameLst>
                                      </p:cBhvr>
                                      <p:to>
                                        <p:strVal val="visible"/>
                                      </p:to>
                                    </p:set>
                                    <p:animEffect transition="in" filter="fade">
                                      <p:cBhvr>
                                        <p:cTn id="437" dur="400"/>
                                        <p:tgtEl>
                                          <p:spTgt spid="140"/>
                                        </p:tgtEl>
                                      </p:cBhvr>
                                    </p:animEffect>
                                  </p:childTnLst>
                                </p:cTn>
                              </p:par>
                              <p:par>
                                <p:cTn id="438" presetID="10" presetClass="entr" presetSubtype="0" fill="hold" grpId="0" nodeType="withEffect">
                                  <p:stCondLst>
                                    <p:cond delay="200"/>
                                  </p:stCondLst>
                                  <p:childTnLst>
                                    <p:set>
                                      <p:cBhvr>
                                        <p:cTn id="439" dur="1" fill="hold">
                                          <p:stCondLst>
                                            <p:cond delay="0"/>
                                          </p:stCondLst>
                                        </p:cTn>
                                        <p:tgtEl>
                                          <p:spTgt spid="141"/>
                                        </p:tgtEl>
                                        <p:attrNameLst>
                                          <p:attrName>style.visibility</p:attrName>
                                        </p:attrNameLst>
                                      </p:cBhvr>
                                      <p:to>
                                        <p:strVal val="visible"/>
                                      </p:to>
                                    </p:set>
                                    <p:animEffect transition="in" filter="fade">
                                      <p:cBhvr>
                                        <p:cTn id="440" dur="400"/>
                                        <p:tgtEl>
                                          <p:spTgt spid="141"/>
                                        </p:tgtEl>
                                      </p:cBhvr>
                                    </p:animEffect>
                                  </p:childTnLst>
                                </p:cTn>
                              </p:par>
                              <p:par>
                                <p:cTn id="441" presetID="10" presetClass="entr" presetSubtype="0" fill="hold" grpId="0" nodeType="withEffect">
                                  <p:stCondLst>
                                    <p:cond delay="200"/>
                                  </p:stCondLst>
                                  <p:childTnLst>
                                    <p:set>
                                      <p:cBhvr>
                                        <p:cTn id="442" dur="1" fill="hold">
                                          <p:stCondLst>
                                            <p:cond delay="0"/>
                                          </p:stCondLst>
                                        </p:cTn>
                                        <p:tgtEl>
                                          <p:spTgt spid="142"/>
                                        </p:tgtEl>
                                        <p:attrNameLst>
                                          <p:attrName>style.visibility</p:attrName>
                                        </p:attrNameLst>
                                      </p:cBhvr>
                                      <p:to>
                                        <p:strVal val="visible"/>
                                      </p:to>
                                    </p:set>
                                    <p:animEffect transition="in" filter="fade">
                                      <p:cBhvr>
                                        <p:cTn id="443" dur="400"/>
                                        <p:tgtEl>
                                          <p:spTgt spid="142"/>
                                        </p:tgtEl>
                                      </p:cBhvr>
                                    </p:animEffect>
                                  </p:childTnLst>
                                </p:cTn>
                              </p:par>
                            </p:childTnLst>
                          </p:cTn>
                        </p:par>
                      </p:childTnLst>
                    </p:cTn>
                  </p:par>
                  <p:par>
                    <p:cTn id="705" fill="hold">
                      <p:stCondLst>
                        <p:cond delay="indefinite"/>
                      </p:stCondLst>
                      <p:childTnLst>
                        <p:par>
                          <p:cTn id="706" fill="hold">
                            <p:stCondLst>
                              <p:cond delay="0"/>
                            </p:stCondLst>
                            <p:childTnLst>
                              <p:par>
                                <p:cTn id="444" presetID="10" presetClass="exit" presetSubtype="0" fill="hold" grpId="1" nodeType="clickEffect">
                                  <p:stCondLst>
                                    <p:cond delay="0"/>
                                  </p:stCondLst>
                                  <p:childTnLst>
                                    <p:animEffect transition="out" filter="fade">
                                      <p:cBhvr>
                                        <p:cTn id="445" dur="200"/>
                                        <p:tgtEl>
                                          <p:spTgt spid="40"/>
                                        </p:tgtEl>
                                      </p:cBhvr>
                                    </p:animEffect>
                                    <p:set>
                                      <p:cBhvr>
                                        <p:cTn id="446" dur="1" fill="hold">
                                          <p:stCondLst>
                                            <p:cond delay="199"/>
                                          </p:stCondLst>
                                        </p:cTn>
                                        <p:tgtEl>
                                          <p:spTgt spid="40"/>
                                        </p:tgtEl>
                                        <p:attrNameLst>
                                          <p:attrName>style.visibility</p:attrName>
                                        </p:attrNameLst>
                                      </p:cBhvr>
                                      <p:to>
                                        <p:strVal val="hidden"/>
                                      </p:to>
                                    </p:set>
                                  </p:childTnLst>
                                </p:cTn>
                              </p:par>
                              <p:par>
                                <p:cTn id="447" presetID="10" presetClass="exit" presetSubtype="0" fill="hold" grpId="1" nodeType="withEffect">
                                  <p:stCondLst>
                                    <p:cond delay="0"/>
                                  </p:stCondLst>
                                  <p:childTnLst>
                                    <p:animEffect transition="out" filter="fade">
                                      <p:cBhvr>
                                        <p:cTn id="448" dur="200"/>
                                        <p:tgtEl>
                                          <p:spTgt spid="41"/>
                                        </p:tgtEl>
                                      </p:cBhvr>
                                    </p:animEffect>
                                    <p:set>
                                      <p:cBhvr>
                                        <p:cTn id="449" dur="1" fill="hold">
                                          <p:stCondLst>
                                            <p:cond delay="199"/>
                                          </p:stCondLst>
                                        </p:cTn>
                                        <p:tgtEl>
                                          <p:spTgt spid="41"/>
                                        </p:tgtEl>
                                        <p:attrNameLst>
                                          <p:attrName>style.visibility</p:attrName>
                                        </p:attrNameLst>
                                      </p:cBhvr>
                                      <p:to>
                                        <p:strVal val="hidden"/>
                                      </p:to>
                                    </p:set>
                                  </p:childTnLst>
                                </p:cTn>
                              </p:par>
                              <p:par>
                                <p:cTn id="450" presetID="10" presetClass="exit" presetSubtype="0" fill="hold" grpId="1" nodeType="withEffect">
                                  <p:stCondLst>
                                    <p:cond delay="0"/>
                                  </p:stCondLst>
                                  <p:childTnLst>
                                    <p:animEffect transition="out" filter="fade">
                                      <p:cBhvr>
                                        <p:cTn id="451" dur="200"/>
                                        <p:tgtEl>
                                          <p:spTgt spid="42"/>
                                        </p:tgtEl>
                                      </p:cBhvr>
                                    </p:animEffect>
                                    <p:set>
                                      <p:cBhvr>
                                        <p:cTn id="452" dur="1" fill="hold">
                                          <p:stCondLst>
                                            <p:cond delay="199"/>
                                          </p:stCondLst>
                                        </p:cTn>
                                        <p:tgtEl>
                                          <p:spTgt spid="42"/>
                                        </p:tgtEl>
                                        <p:attrNameLst>
                                          <p:attrName>style.visibility</p:attrName>
                                        </p:attrNameLst>
                                      </p:cBhvr>
                                      <p:to>
                                        <p:strVal val="hidden"/>
                                      </p:to>
                                    </p:set>
                                  </p:childTnLst>
                                </p:cTn>
                              </p:par>
                              <p:par>
                                <p:cTn id="453" presetID="10" presetClass="exit" presetSubtype="0" fill="hold" grpId="1" nodeType="withEffect">
                                  <p:stCondLst>
                                    <p:cond delay="0"/>
                                  </p:stCondLst>
                                  <p:childTnLst>
                                    <p:animEffect transition="out" filter="fade">
                                      <p:cBhvr>
                                        <p:cTn id="454" dur="200"/>
                                        <p:tgtEl>
                                          <p:spTgt spid="49"/>
                                        </p:tgtEl>
                                      </p:cBhvr>
                                    </p:animEffect>
                                    <p:set>
                                      <p:cBhvr>
                                        <p:cTn id="455" dur="1" fill="hold">
                                          <p:stCondLst>
                                            <p:cond delay="199"/>
                                          </p:stCondLst>
                                        </p:cTn>
                                        <p:tgtEl>
                                          <p:spTgt spid="49"/>
                                        </p:tgtEl>
                                        <p:attrNameLst>
                                          <p:attrName>style.visibility</p:attrName>
                                        </p:attrNameLst>
                                      </p:cBhvr>
                                      <p:to>
                                        <p:strVal val="hidden"/>
                                      </p:to>
                                    </p:set>
                                  </p:childTnLst>
                                </p:cTn>
                              </p:par>
                              <p:par>
                                <p:cTn id="456" presetID="10" presetClass="exit" presetSubtype="0" fill="hold" grpId="1" nodeType="withEffect">
                                  <p:stCondLst>
                                    <p:cond delay="0"/>
                                  </p:stCondLst>
                                  <p:childTnLst>
                                    <p:animEffect transition="out" filter="fade">
                                      <p:cBhvr>
                                        <p:cTn id="457" dur="200"/>
                                        <p:tgtEl>
                                          <p:spTgt spid="50"/>
                                        </p:tgtEl>
                                      </p:cBhvr>
                                    </p:animEffect>
                                    <p:set>
                                      <p:cBhvr>
                                        <p:cTn id="458" dur="1" fill="hold">
                                          <p:stCondLst>
                                            <p:cond delay="199"/>
                                          </p:stCondLst>
                                        </p:cTn>
                                        <p:tgtEl>
                                          <p:spTgt spid="50"/>
                                        </p:tgtEl>
                                        <p:attrNameLst>
                                          <p:attrName>style.visibility</p:attrName>
                                        </p:attrNameLst>
                                      </p:cBhvr>
                                      <p:to>
                                        <p:strVal val="hidden"/>
                                      </p:to>
                                    </p:set>
                                  </p:childTnLst>
                                </p:cTn>
                              </p:par>
                              <p:par>
                                <p:cTn id="459" presetID="10" presetClass="exit" presetSubtype="0" fill="hold" grpId="1" nodeType="withEffect">
                                  <p:stCondLst>
                                    <p:cond delay="0"/>
                                  </p:stCondLst>
                                  <p:childTnLst>
                                    <p:animEffect transition="out" filter="fade">
                                      <p:cBhvr>
                                        <p:cTn id="460" dur="200"/>
                                        <p:tgtEl>
                                          <p:spTgt spid="51"/>
                                        </p:tgtEl>
                                      </p:cBhvr>
                                    </p:animEffect>
                                    <p:set>
                                      <p:cBhvr>
                                        <p:cTn id="461" dur="1" fill="hold">
                                          <p:stCondLst>
                                            <p:cond delay="199"/>
                                          </p:stCondLst>
                                        </p:cTn>
                                        <p:tgtEl>
                                          <p:spTgt spid="51"/>
                                        </p:tgtEl>
                                        <p:attrNameLst>
                                          <p:attrName>style.visibility</p:attrName>
                                        </p:attrNameLst>
                                      </p:cBhvr>
                                      <p:to>
                                        <p:strVal val="hidden"/>
                                      </p:to>
                                    </p:set>
                                  </p:childTnLst>
                                </p:cTn>
                              </p:par>
                              <p:par>
                                <p:cTn id="462" presetID="10" presetClass="exit" presetSubtype="0" fill="hold" grpId="1" nodeType="withEffect">
                                  <p:stCondLst>
                                    <p:cond delay="0"/>
                                  </p:stCondLst>
                                  <p:childTnLst>
                                    <p:animEffect transition="out" filter="fade">
                                      <p:cBhvr>
                                        <p:cTn id="463" dur="200"/>
                                        <p:tgtEl>
                                          <p:spTgt spid="52"/>
                                        </p:tgtEl>
                                      </p:cBhvr>
                                    </p:animEffect>
                                    <p:set>
                                      <p:cBhvr>
                                        <p:cTn id="464" dur="1" fill="hold">
                                          <p:stCondLst>
                                            <p:cond delay="199"/>
                                          </p:stCondLst>
                                        </p:cTn>
                                        <p:tgtEl>
                                          <p:spTgt spid="52"/>
                                        </p:tgtEl>
                                        <p:attrNameLst>
                                          <p:attrName>style.visibility</p:attrName>
                                        </p:attrNameLst>
                                      </p:cBhvr>
                                      <p:to>
                                        <p:strVal val="hidden"/>
                                      </p:to>
                                    </p:set>
                                  </p:childTnLst>
                                </p:cTn>
                              </p:par>
                              <p:par>
                                <p:cTn id="465" presetID="10" presetClass="exit" presetSubtype="0" fill="hold" grpId="1" nodeType="withEffect">
                                  <p:stCondLst>
                                    <p:cond delay="0"/>
                                  </p:stCondLst>
                                  <p:childTnLst>
                                    <p:animEffect transition="out" filter="fade">
                                      <p:cBhvr>
                                        <p:cTn id="466" dur="200"/>
                                        <p:tgtEl>
                                          <p:spTgt spid="138"/>
                                        </p:tgtEl>
                                      </p:cBhvr>
                                    </p:animEffect>
                                    <p:set>
                                      <p:cBhvr>
                                        <p:cTn id="467" dur="1" fill="hold">
                                          <p:stCondLst>
                                            <p:cond delay="199"/>
                                          </p:stCondLst>
                                        </p:cTn>
                                        <p:tgtEl>
                                          <p:spTgt spid="138"/>
                                        </p:tgtEl>
                                        <p:attrNameLst>
                                          <p:attrName>style.visibility</p:attrName>
                                        </p:attrNameLst>
                                      </p:cBhvr>
                                      <p:to>
                                        <p:strVal val="hidden"/>
                                      </p:to>
                                    </p:set>
                                  </p:childTnLst>
                                </p:cTn>
                              </p:par>
                              <p:par>
                                <p:cTn id="468" presetID="10" presetClass="exit" presetSubtype="0" fill="hold" grpId="1" nodeType="withEffect">
                                  <p:stCondLst>
                                    <p:cond delay="0"/>
                                  </p:stCondLst>
                                  <p:childTnLst>
                                    <p:animEffect transition="out" filter="fade">
                                      <p:cBhvr>
                                        <p:cTn id="469" dur="200"/>
                                        <p:tgtEl>
                                          <p:spTgt spid="139"/>
                                        </p:tgtEl>
                                      </p:cBhvr>
                                    </p:animEffect>
                                    <p:set>
                                      <p:cBhvr>
                                        <p:cTn id="470" dur="1" fill="hold">
                                          <p:stCondLst>
                                            <p:cond delay="199"/>
                                          </p:stCondLst>
                                        </p:cTn>
                                        <p:tgtEl>
                                          <p:spTgt spid="139"/>
                                        </p:tgtEl>
                                        <p:attrNameLst>
                                          <p:attrName>style.visibility</p:attrName>
                                        </p:attrNameLst>
                                      </p:cBhvr>
                                      <p:to>
                                        <p:strVal val="hidden"/>
                                      </p:to>
                                    </p:set>
                                  </p:childTnLst>
                                </p:cTn>
                              </p:par>
                              <p:par>
                                <p:cTn id="471" presetID="10" presetClass="exit" presetSubtype="0" fill="hold" grpId="1" nodeType="withEffect">
                                  <p:stCondLst>
                                    <p:cond delay="0"/>
                                  </p:stCondLst>
                                  <p:childTnLst>
                                    <p:animEffect transition="out" filter="fade">
                                      <p:cBhvr>
                                        <p:cTn id="472" dur="200"/>
                                        <p:tgtEl>
                                          <p:spTgt spid="140"/>
                                        </p:tgtEl>
                                      </p:cBhvr>
                                    </p:animEffect>
                                    <p:set>
                                      <p:cBhvr>
                                        <p:cTn id="473" dur="1" fill="hold">
                                          <p:stCondLst>
                                            <p:cond delay="199"/>
                                          </p:stCondLst>
                                        </p:cTn>
                                        <p:tgtEl>
                                          <p:spTgt spid="140"/>
                                        </p:tgtEl>
                                        <p:attrNameLst>
                                          <p:attrName>style.visibility</p:attrName>
                                        </p:attrNameLst>
                                      </p:cBhvr>
                                      <p:to>
                                        <p:strVal val="hidden"/>
                                      </p:to>
                                    </p:set>
                                  </p:childTnLst>
                                </p:cTn>
                              </p:par>
                              <p:par>
                                <p:cTn id="474" presetID="10" presetClass="exit" presetSubtype="0" fill="hold" grpId="1" nodeType="withEffect">
                                  <p:stCondLst>
                                    <p:cond delay="0"/>
                                  </p:stCondLst>
                                  <p:childTnLst>
                                    <p:animEffect transition="out" filter="fade">
                                      <p:cBhvr>
                                        <p:cTn id="475" dur="200"/>
                                        <p:tgtEl>
                                          <p:spTgt spid="141"/>
                                        </p:tgtEl>
                                      </p:cBhvr>
                                    </p:animEffect>
                                    <p:set>
                                      <p:cBhvr>
                                        <p:cTn id="476" dur="1" fill="hold">
                                          <p:stCondLst>
                                            <p:cond delay="199"/>
                                          </p:stCondLst>
                                        </p:cTn>
                                        <p:tgtEl>
                                          <p:spTgt spid="141"/>
                                        </p:tgtEl>
                                        <p:attrNameLst>
                                          <p:attrName>style.visibility</p:attrName>
                                        </p:attrNameLst>
                                      </p:cBhvr>
                                      <p:to>
                                        <p:strVal val="hidden"/>
                                      </p:to>
                                    </p:set>
                                  </p:childTnLst>
                                </p:cTn>
                              </p:par>
                              <p:par>
                                <p:cTn id="477" presetID="10" presetClass="exit" presetSubtype="0" fill="hold" grpId="1" nodeType="withEffect">
                                  <p:stCondLst>
                                    <p:cond delay="0"/>
                                  </p:stCondLst>
                                  <p:childTnLst>
                                    <p:animEffect transition="out" filter="fade">
                                      <p:cBhvr>
                                        <p:cTn id="478" dur="200"/>
                                        <p:tgtEl>
                                          <p:spTgt spid="142"/>
                                        </p:tgtEl>
                                      </p:cBhvr>
                                    </p:animEffect>
                                    <p:set>
                                      <p:cBhvr>
                                        <p:cTn id="479" dur="1" fill="hold">
                                          <p:stCondLst>
                                            <p:cond delay="199"/>
                                          </p:stCondLst>
                                        </p:cTn>
                                        <p:tgtEl>
                                          <p:spTgt spid="142"/>
                                        </p:tgtEl>
                                        <p:attrNameLst>
                                          <p:attrName>style.visibility</p:attrName>
                                        </p:attrNameLst>
                                      </p:cBhvr>
                                      <p:to>
                                        <p:strVal val="hidden"/>
                                      </p:to>
                                    </p:set>
                                  </p:childTnLst>
                                </p:cTn>
                              </p:par>
                              <p:par>
                                <p:cTn id="480" presetID="10" presetClass="entr" presetSubtype="0" fill="hold" grpId="0" nodeType="withEffect">
                                  <p:stCondLst>
                                    <p:cond delay="200"/>
                                  </p:stCondLst>
                                  <p:childTnLst>
                                    <p:set>
                                      <p:cBhvr>
                                        <p:cTn id="481" dur="1" fill="hold">
                                          <p:stCondLst>
                                            <p:cond delay="0"/>
                                          </p:stCondLst>
                                        </p:cTn>
                                        <p:tgtEl>
                                          <p:spTgt spid="36"/>
                                        </p:tgtEl>
                                        <p:attrNameLst>
                                          <p:attrName>style.visibility</p:attrName>
                                        </p:attrNameLst>
                                      </p:cBhvr>
                                      <p:to>
                                        <p:strVal val="visible"/>
                                      </p:to>
                                    </p:set>
                                    <p:animEffect transition="in" filter="fade">
                                      <p:cBhvr>
                                        <p:cTn id="482" dur="400"/>
                                        <p:tgtEl>
                                          <p:spTgt spid="36"/>
                                        </p:tgtEl>
                                      </p:cBhvr>
                                    </p:animEffect>
                                  </p:childTnLst>
                                </p:cTn>
                              </p:par>
                              <p:par>
                                <p:cTn id="483" presetID="10" presetClass="entr" presetSubtype="0" fill="hold" grpId="0" nodeType="withEffect">
                                  <p:stCondLst>
                                    <p:cond delay="200"/>
                                  </p:stCondLst>
                                  <p:childTnLst>
                                    <p:set>
                                      <p:cBhvr>
                                        <p:cTn id="484" dur="1" fill="hold">
                                          <p:stCondLst>
                                            <p:cond delay="0"/>
                                          </p:stCondLst>
                                        </p:cTn>
                                        <p:tgtEl>
                                          <p:spTgt spid="37"/>
                                        </p:tgtEl>
                                        <p:attrNameLst>
                                          <p:attrName>style.visibility</p:attrName>
                                        </p:attrNameLst>
                                      </p:cBhvr>
                                      <p:to>
                                        <p:strVal val="visible"/>
                                      </p:to>
                                    </p:set>
                                    <p:animEffect transition="in" filter="fade">
                                      <p:cBhvr>
                                        <p:cTn id="485" dur="400"/>
                                        <p:tgtEl>
                                          <p:spTgt spid="37"/>
                                        </p:tgtEl>
                                      </p:cBhvr>
                                    </p:animEffect>
                                  </p:childTnLst>
                                </p:cTn>
                              </p:par>
                              <p:par>
                                <p:cTn id="486" presetID="10" presetClass="entr" presetSubtype="0" fill="hold" grpId="0" nodeType="withEffect">
                                  <p:stCondLst>
                                    <p:cond delay="200"/>
                                  </p:stCondLst>
                                  <p:childTnLst>
                                    <p:set>
                                      <p:cBhvr>
                                        <p:cTn id="487" dur="1" fill="hold">
                                          <p:stCondLst>
                                            <p:cond delay="0"/>
                                          </p:stCondLst>
                                        </p:cTn>
                                        <p:tgtEl>
                                          <p:spTgt spid="38"/>
                                        </p:tgtEl>
                                        <p:attrNameLst>
                                          <p:attrName>style.visibility</p:attrName>
                                        </p:attrNameLst>
                                      </p:cBhvr>
                                      <p:to>
                                        <p:strVal val="visible"/>
                                      </p:to>
                                    </p:set>
                                    <p:animEffect transition="in" filter="fade">
                                      <p:cBhvr>
                                        <p:cTn id="488" dur="400"/>
                                        <p:tgtEl>
                                          <p:spTgt spid="38"/>
                                        </p:tgtEl>
                                      </p:cBhvr>
                                    </p:animEffect>
                                  </p:childTnLst>
                                </p:cTn>
                              </p:par>
                              <p:par>
                                <p:cTn id="489" presetID="10" presetClass="entr" presetSubtype="0" fill="hold" grpId="0" nodeType="withEffect">
                                  <p:stCondLst>
                                    <p:cond delay="200"/>
                                  </p:stCondLst>
                                  <p:childTnLst>
                                    <p:set>
                                      <p:cBhvr>
                                        <p:cTn id="490" dur="1" fill="hold">
                                          <p:stCondLst>
                                            <p:cond delay="0"/>
                                          </p:stCondLst>
                                        </p:cTn>
                                        <p:tgtEl>
                                          <p:spTgt spid="39"/>
                                        </p:tgtEl>
                                        <p:attrNameLst>
                                          <p:attrName>style.visibility</p:attrName>
                                        </p:attrNameLst>
                                      </p:cBhvr>
                                      <p:to>
                                        <p:strVal val="visible"/>
                                      </p:to>
                                    </p:set>
                                    <p:animEffect transition="in" filter="fade">
                                      <p:cBhvr>
                                        <p:cTn id="491" dur="400"/>
                                        <p:tgtEl>
                                          <p:spTgt spid="39"/>
                                        </p:tgtEl>
                                      </p:cBhvr>
                                    </p:animEffect>
                                  </p:childTnLst>
                                </p:cTn>
                              </p:par>
                              <p:par>
                                <p:cTn id="492" presetID="10" presetClass="entr" presetSubtype="0" fill="hold" grpId="0" nodeType="withEffect">
                                  <p:stCondLst>
                                    <p:cond delay="200"/>
                                  </p:stCondLst>
                                  <p:childTnLst>
                                    <p:set>
                                      <p:cBhvr>
                                        <p:cTn id="493" dur="1" fill="hold">
                                          <p:stCondLst>
                                            <p:cond delay="0"/>
                                          </p:stCondLst>
                                        </p:cTn>
                                        <p:tgtEl>
                                          <p:spTgt spid="46"/>
                                        </p:tgtEl>
                                        <p:attrNameLst>
                                          <p:attrName>style.visibility</p:attrName>
                                        </p:attrNameLst>
                                      </p:cBhvr>
                                      <p:to>
                                        <p:strVal val="visible"/>
                                      </p:to>
                                    </p:set>
                                    <p:animEffect transition="in" filter="fade">
                                      <p:cBhvr>
                                        <p:cTn id="494" dur="400"/>
                                        <p:tgtEl>
                                          <p:spTgt spid="46"/>
                                        </p:tgtEl>
                                      </p:cBhvr>
                                    </p:animEffect>
                                  </p:childTnLst>
                                </p:cTn>
                              </p:par>
                              <p:par>
                                <p:cTn id="495" presetID="10" presetClass="entr" presetSubtype="0" fill="hold" grpId="0" nodeType="withEffect">
                                  <p:stCondLst>
                                    <p:cond delay="200"/>
                                  </p:stCondLst>
                                  <p:childTnLst>
                                    <p:set>
                                      <p:cBhvr>
                                        <p:cTn id="496" dur="1" fill="hold">
                                          <p:stCondLst>
                                            <p:cond delay="0"/>
                                          </p:stCondLst>
                                        </p:cTn>
                                        <p:tgtEl>
                                          <p:spTgt spid="47"/>
                                        </p:tgtEl>
                                        <p:attrNameLst>
                                          <p:attrName>style.visibility</p:attrName>
                                        </p:attrNameLst>
                                      </p:cBhvr>
                                      <p:to>
                                        <p:strVal val="visible"/>
                                      </p:to>
                                    </p:set>
                                    <p:animEffect transition="in" filter="fade">
                                      <p:cBhvr>
                                        <p:cTn id="497" dur="400"/>
                                        <p:tgtEl>
                                          <p:spTgt spid="47"/>
                                        </p:tgtEl>
                                      </p:cBhvr>
                                    </p:animEffect>
                                  </p:childTnLst>
                                </p:cTn>
                              </p:par>
                              <p:par>
                                <p:cTn id="498" presetID="10" presetClass="entr" presetSubtype="0" fill="hold" grpId="0" nodeType="withEffect">
                                  <p:stCondLst>
                                    <p:cond delay="200"/>
                                  </p:stCondLst>
                                  <p:childTnLst>
                                    <p:set>
                                      <p:cBhvr>
                                        <p:cTn id="499" dur="1" fill="hold">
                                          <p:stCondLst>
                                            <p:cond delay="0"/>
                                          </p:stCondLst>
                                        </p:cTn>
                                        <p:tgtEl>
                                          <p:spTgt spid="48"/>
                                        </p:tgtEl>
                                        <p:attrNameLst>
                                          <p:attrName>style.visibility</p:attrName>
                                        </p:attrNameLst>
                                      </p:cBhvr>
                                      <p:to>
                                        <p:strVal val="visible"/>
                                      </p:to>
                                    </p:set>
                                    <p:animEffect transition="in" filter="fade">
                                      <p:cBhvr>
                                        <p:cTn id="500" dur="400"/>
                                        <p:tgtEl>
                                          <p:spTgt spid="48"/>
                                        </p:tgtEl>
                                      </p:cBhvr>
                                    </p:animEffect>
                                  </p:childTnLst>
                                </p:cTn>
                              </p:par>
                              <p:par>
                                <p:cTn id="501" presetID="10" presetClass="entr" presetSubtype="0" fill="hold" grpId="0" nodeType="withEffect">
                                  <p:stCondLst>
                                    <p:cond delay="200"/>
                                  </p:stCondLst>
                                  <p:childTnLst>
                                    <p:set>
                                      <p:cBhvr>
                                        <p:cTn id="502" dur="1" fill="hold">
                                          <p:stCondLst>
                                            <p:cond delay="0"/>
                                          </p:stCondLst>
                                        </p:cTn>
                                        <p:tgtEl>
                                          <p:spTgt spid="135"/>
                                        </p:tgtEl>
                                        <p:attrNameLst>
                                          <p:attrName>style.visibility</p:attrName>
                                        </p:attrNameLst>
                                      </p:cBhvr>
                                      <p:to>
                                        <p:strVal val="visible"/>
                                      </p:to>
                                    </p:set>
                                    <p:animEffect transition="in" filter="fade">
                                      <p:cBhvr>
                                        <p:cTn id="503" dur="400"/>
                                        <p:tgtEl>
                                          <p:spTgt spid="135"/>
                                        </p:tgtEl>
                                      </p:cBhvr>
                                    </p:animEffect>
                                  </p:childTnLst>
                                </p:cTn>
                              </p:par>
                              <p:par>
                                <p:cTn id="504" presetID="10" presetClass="entr" presetSubtype="0" fill="hold" grpId="0" nodeType="withEffect">
                                  <p:stCondLst>
                                    <p:cond delay="200"/>
                                  </p:stCondLst>
                                  <p:childTnLst>
                                    <p:set>
                                      <p:cBhvr>
                                        <p:cTn id="505" dur="1" fill="hold">
                                          <p:stCondLst>
                                            <p:cond delay="0"/>
                                          </p:stCondLst>
                                        </p:cTn>
                                        <p:tgtEl>
                                          <p:spTgt spid="136"/>
                                        </p:tgtEl>
                                        <p:attrNameLst>
                                          <p:attrName>style.visibility</p:attrName>
                                        </p:attrNameLst>
                                      </p:cBhvr>
                                      <p:to>
                                        <p:strVal val="visible"/>
                                      </p:to>
                                    </p:set>
                                    <p:animEffect transition="in" filter="fade">
                                      <p:cBhvr>
                                        <p:cTn id="506" dur="400"/>
                                        <p:tgtEl>
                                          <p:spTgt spid="136"/>
                                        </p:tgtEl>
                                      </p:cBhvr>
                                    </p:animEffect>
                                  </p:childTnLst>
                                </p:cTn>
                              </p:par>
                              <p:par>
                                <p:cTn id="507" presetID="10" presetClass="entr" presetSubtype="0" fill="hold" grpId="0" nodeType="withEffect">
                                  <p:stCondLst>
                                    <p:cond delay="200"/>
                                  </p:stCondLst>
                                  <p:childTnLst>
                                    <p:set>
                                      <p:cBhvr>
                                        <p:cTn id="508" dur="1" fill="hold">
                                          <p:stCondLst>
                                            <p:cond delay="0"/>
                                          </p:stCondLst>
                                        </p:cTn>
                                        <p:tgtEl>
                                          <p:spTgt spid="137"/>
                                        </p:tgtEl>
                                        <p:attrNameLst>
                                          <p:attrName>style.visibility</p:attrName>
                                        </p:attrNameLst>
                                      </p:cBhvr>
                                      <p:to>
                                        <p:strVal val="visible"/>
                                      </p:to>
                                    </p:set>
                                    <p:animEffect transition="in" filter="fade">
                                      <p:cBhvr>
                                        <p:cTn id="509" dur="400"/>
                                        <p:tgtEl>
                                          <p:spTgt spid="137"/>
                                        </p:tgtEl>
                                      </p:cBhvr>
                                    </p:animEffect>
                                  </p:childTnLst>
                                </p:cTn>
                              </p:par>
                            </p:childTnLst>
                          </p:cTn>
                        </p:par>
                      </p:childTnLst>
                    </p:cTn>
                  </p:par>
                  <p:par>
                    <p:cTn id="707" fill="hold">
                      <p:stCondLst>
                        <p:cond delay="indefinite"/>
                      </p:stCondLst>
                      <p:childTnLst>
                        <p:par>
                          <p:cTn id="708" fill="hold">
                            <p:stCondLst>
                              <p:cond delay="0"/>
                            </p:stCondLst>
                            <p:childTnLst>
                              <p:par>
                                <p:cTn id="510" presetID="10" presetClass="exit" presetSubtype="0" fill="hold" grpId="0" nodeType="clickEffect">
                                  <p:stCondLst>
                                    <p:cond delay="0"/>
                                  </p:stCondLst>
                                  <p:childTnLst>
                                    <p:animEffect transition="out" filter="fade">
                                      <p:cBhvr>
                                        <p:cTn id="511" dur="200"/>
                                        <p:tgtEl>
                                          <p:spTgt spid="30"/>
                                        </p:tgtEl>
                                      </p:cBhvr>
                                    </p:animEffect>
                                    <p:set>
                                      <p:cBhvr>
                                        <p:cTn id="512" dur="1" fill="hold">
                                          <p:stCondLst>
                                            <p:cond delay="199"/>
                                          </p:stCondLst>
                                        </p:cTn>
                                        <p:tgtEl>
                                          <p:spTgt spid="30"/>
                                        </p:tgtEl>
                                        <p:attrNameLst>
                                          <p:attrName>style.visibility</p:attrName>
                                        </p:attrNameLst>
                                      </p:cBhvr>
                                      <p:to>
                                        <p:strVal val="hidden"/>
                                      </p:to>
                                    </p:set>
                                  </p:childTnLst>
                                </p:cTn>
                              </p:par>
                              <p:par>
                                <p:cTn id="513" presetID="10" presetClass="exit" presetSubtype="0" fill="hold" grpId="0" nodeType="withEffect">
                                  <p:stCondLst>
                                    <p:cond delay="0"/>
                                  </p:stCondLst>
                                  <p:childTnLst>
                                    <p:animEffect transition="out" filter="fade">
                                      <p:cBhvr>
                                        <p:cTn id="514" dur="200"/>
                                        <p:tgtEl>
                                          <p:spTgt spid="31"/>
                                        </p:tgtEl>
                                      </p:cBhvr>
                                    </p:animEffect>
                                    <p:set>
                                      <p:cBhvr>
                                        <p:cTn id="515" dur="1" fill="hold">
                                          <p:stCondLst>
                                            <p:cond delay="199"/>
                                          </p:stCondLst>
                                        </p:cTn>
                                        <p:tgtEl>
                                          <p:spTgt spid="31"/>
                                        </p:tgtEl>
                                        <p:attrNameLst>
                                          <p:attrName>style.visibility</p:attrName>
                                        </p:attrNameLst>
                                      </p:cBhvr>
                                      <p:to>
                                        <p:strVal val="hidden"/>
                                      </p:to>
                                    </p:set>
                                  </p:childTnLst>
                                </p:cTn>
                              </p:par>
                              <p:par>
                                <p:cTn id="516" presetID="10" presetClass="exit" presetSubtype="0" fill="hold" grpId="0" nodeType="withEffect">
                                  <p:stCondLst>
                                    <p:cond delay="0"/>
                                  </p:stCondLst>
                                  <p:childTnLst>
                                    <p:animEffect transition="out" filter="fade">
                                      <p:cBhvr>
                                        <p:cTn id="517" dur="200"/>
                                        <p:tgtEl>
                                          <p:spTgt spid="32"/>
                                        </p:tgtEl>
                                      </p:cBhvr>
                                    </p:animEffect>
                                    <p:set>
                                      <p:cBhvr>
                                        <p:cTn id="518" dur="1" fill="hold">
                                          <p:stCondLst>
                                            <p:cond delay="199"/>
                                          </p:stCondLst>
                                        </p:cTn>
                                        <p:tgtEl>
                                          <p:spTgt spid="32"/>
                                        </p:tgtEl>
                                        <p:attrNameLst>
                                          <p:attrName>style.visibility</p:attrName>
                                        </p:attrNameLst>
                                      </p:cBhvr>
                                      <p:to>
                                        <p:strVal val="hidden"/>
                                      </p:to>
                                    </p:set>
                                  </p:childTnLst>
                                </p:cTn>
                              </p:par>
                              <p:par>
                                <p:cTn id="519" presetID="10" presetClass="exit" presetSubtype="0" fill="hold" grpId="0" nodeType="withEffect">
                                  <p:stCondLst>
                                    <p:cond delay="0"/>
                                  </p:stCondLst>
                                  <p:childTnLst>
                                    <p:animEffect transition="out" filter="fade">
                                      <p:cBhvr>
                                        <p:cTn id="520" dur="200"/>
                                        <p:tgtEl>
                                          <p:spTgt spid="33"/>
                                        </p:tgtEl>
                                      </p:cBhvr>
                                    </p:animEffect>
                                    <p:set>
                                      <p:cBhvr>
                                        <p:cTn id="521" dur="1" fill="hold">
                                          <p:stCondLst>
                                            <p:cond delay="199"/>
                                          </p:stCondLst>
                                        </p:cTn>
                                        <p:tgtEl>
                                          <p:spTgt spid="33"/>
                                        </p:tgtEl>
                                        <p:attrNameLst>
                                          <p:attrName>style.visibility</p:attrName>
                                        </p:attrNameLst>
                                      </p:cBhvr>
                                      <p:to>
                                        <p:strVal val="hidden"/>
                                      </p:to>
                                    </p:set>
                                  </p:childTnLst>
                                </p:cTn>
                              </p:par>
                              <p:par>
                                <p:cTn id="522" presetID="10" presetClass="exit" presetSubtype="0" fill="hold" grpId="0" nodeType="withEffect">
                                  <p:stCondLst>
                                    <p:cond delay="0"/>
                                  </p:stCondLst>
                                  <p:childTnLst>
                                    <p:animEffect transition="out" filter="fade">
                                      <p:cBhvr>
                                        <p:cTn id="523" dur="200"/>
                                        <p:tgtEl>
                                          <p:spTgt spid="34"/>
                                        </p:tgtEl>
                                      </p:cBhvr>
                                    </p:animEffect>
                                    <p:set>
                                      <p:cBhvr>
                                        <p:cTn id="524" dur="1" fill="hold">
                                          <p:stCondLst>
                                            <p:cond delay="199"/>
                                          </p:stCondLst>
                                        </p:cTn>
                                        <p:tgtEl>
                                          <p:spTgt spid="34"/>
                                        </p:tgtEl>
                                        <p:attrNameLst>
                                          <p:attrName>style.visibility</p:attrName>
                                        </p:attrNameLst>
                                      </p:cBhvr>
                                      <p:to>
                                        <p:strVal val="hidden"/>
                                      </p:to>
                                    </p:set>
                                  </p:childTnLst>
                                </p:cTn>
                              </p:par>
                              <p:par>
                                <p:cTn id="525" presetID="10" presetClass="exit" presetSubtype="0" fill="hold" grpId="0" nodeType="withEffect">
                                  <p:stCondLst>
                                    <p:cond delay="0"/>
                                  </p:stCondLst>
                                  <p:childTnLst>
                                    <p:animEffect transition="out" filter="fade">
                                      <p:cBhvr>
                                        <p:cTn id="526" dur="200"/>
                                        <p:tgtEl>
                                          <p:spTgt spid="35"/>
                                        </p:tgtEl>
                                      </p:cBhvr>
                                    </p:animEffect>
                                    <p:set>
                                      <p:cBhvr>
                                        <p:cTn id="527" dur="1" fill="hold">
                                          <p:stCondLst>
                                            <p:cond delay="199"/>
                                          </p:stCondLst>
                                        </p:cTn>
                                        <p:tgtEl>
                                          <p:spTgt spid="35"/>
                                        </p:tgtEl>
                                        <p:attrNameLst>
                                          <p:attrName>style.visibility</p:attrName>
                                        </p:attrNameLst>
                                      </p:cBhvr>
                                      <p:to>
                                        <p:strVal val="hidden"/>
                                      </p:to>
                                    </p:set>
                                  </p:childTnLst>
                                </p:cTn>
                              </p:par>
                              <p:par>
                                <p:cTn id="528" presetID="10" presetClass="exit" presetSubtype="0" fill="hold" grpId="1" nodeType="withEffect">
                                  <p:stCondLst>
                                    <p:cond delay="0"/>
                                  </p:stCondLst>
                                  <p:childTnLst>
                                    <p:animEffect transition="out" filter="fade">
                                      <p:cBhvr>
                                        <p:cTn id="529" dur="200"/>
                                        <p:tgtEl>
                                          <p:spTgt spid="36"/>
                                        </p:tgtEl>
                                      </p:cBhvr>
                                    </p:animEffect>
                                    <p:set>
                                      <p:cBhvr>
                                        <p:cTn id="530" dur="1" fill="hold">
                                          <p:stCondLst>
                                            <p:cond delay="199"/>
                                          </p:stCondLst>
                                        </p:cTn>
                                        <p:tgtEl>
                                          <p:spTgt spid="36"/>
                                        </p:tgtEl>
                                        <p:attrNameLst>
                                          <p:attrName>style.visibility</p:attrName>
                                        </p:attrNameLst>
                                      </p:cBhvr>
                                      <p:to>
                                        <p:strVal val="hidden"/>
                                      </p:to>
                                    </p:set>
                                  </p:childTnLst>
                                </p:cTn>
                              </p:par>
                              <p:par>
                                <p:cTn id="531" presetID="10" presetClass="exit" presetSubtype="0" fill="hold" grpId="1" nodeType="withEffect">
                                  <p:stCondLst>
                                    <p:cond delay="0"/>
                                  </p:stCondLst>
                                  <p:childTnLst>
                                    <p:animEffect transition="out" filter="fade">
                                      <p:cBhvr>
                                        <p:cTn id="532" dur="200"/>
                                        <p:tgtEl>
                                          <p:spTgt spid="37"/>
                                        </p:tgtEl>
                                      </p:cBhvr>
                                    </p:animEffect>
                                    <p:set>
                                      <p:cBhvr>
                                        <p:cTn id="533" dur="1" fill="hold">
                                          <p:stCondLst>
                                            <p:cond delay="199"/>
                                          </p:stCondLst>
                                        </p:cTn>
                                        <p:tgtEl>
                                          <p:spTgt spid="37"/>
                                        </p:tgtEl>
                                        <p:attrNameLst>
                                          <p:attrName>style.visibility</p:attrName>
                                        </p:attrNameLst>
                                      </p:cBhvr>
                                      <p:to>
                                        <p:strVal val="hidden"/>
                                      </p:to>
                                    </p:set>
                                  </p:childTnLst>
                                </p:cTn>
                              </p:par>
                              <p:par>
                                <p:cTn id="534" presetID="10" presetClass="exit" presetSubtype="0" fill="hold" grpId="1" nodeType="withEffect">
                                  <p:stCondLst>
                                    <p:cond delay="0"/>
                                  </p:stCondLst>
                                  <p:childTnLst>
                                    <p:animEffect transition="out" filter="fade">
                                      <p:cBhvr>
                                        <p:cTn id="535" dur="200"/>
                                        <p:tgtEl>
                                          <p:spTgt spid="38"/>
                                        </p:tgtEl>
                                      </p:cBhvr>
                                    </p:animEffect>
                                    <p:set>
                                      <p:cBhvr>
                                        <p:cTn id="536" dur="1" fill="hold">
                                          <p:stCondLst>
                                            <p:cond delay="199"/>
                                          </p:stCondLst>
                                        </p:cTn>
                                        <p:tgtEl>
                                          <p:spTgt spid="38"/>
                                        </p:tgtEl>
                                        <p:attrNameLst>
                                          <p:attrName>style.visibility</p:attrName>
                                        </p:attrNameLst>
                                      </p:cBhvr>
                                      <p:to>
                                        <p:strVal val="hidden"/>
                                      </p:to>
                                    </p:set>
                                  </p:childTnLst>
                                </p:cTn>
                              </p:par>
                              <p:par>
                                <p:cTn id="537" presetID="10" presetClass="exit" presetSubtype="0" fill="hold" grpId="1" nodeType="withEffect">
                                  <p:stCondLst>
                                    <p:cond delay="0"/>
                                  </p:stCondLst>
                                  <p:childTnLst>
                                    <p:animEffect transition="out" filter="fade">
                                      <p:cBhvr>
                                        <p:cTn id="538" dur="200"/>
                                        <p:tgtEl>
                                          <p:spTgt spid="39"/>
                                        </p:tgtEl>
                                      </p:cBhvr>
                                    </p:animEffect>
                                    <p:set>
                                      <p:cBhvr>
                                        <p:cTn id="539" dur="1" fill="hold">
                                          <p:stCondLst>
                                            <p:cond delay="199"/>
                                          </p:stCondLst>
                                        </p:cTn>
                                        <p:tgtEl>
                                          <p:spTgt spid="39"/>
                                        </p:tgtEl>
                                        <p:attrNameLst>
                                          <p:attrName>style.visibility</p:attrName>
                                        </p:attrNameLst>
                                      </p:cBhvr>
                                      <p:to>
                                        <p:strVal val="hidden"/>
                                      </p:to>
                                    </p:set>
                                  </p:childTnLst>
                                </p:cTn>
                              </p:par>
                              <p:par>
                                <p:cTn id="540" presetID="10" presetClass="exit" presetSubtype="0" fill="hold" grpId="1" nodeType="withEffect">
                                  <p:stCondLst>
                                    <p:cond delay="0"/>
                                  </p:stCondLst>
                                  <p:childTnLst>
                                    <p:animEffect transition="out" filter="fade">
                                      <p:cBhvr>
                                        <p:cTn id="541" dur="200"/>
                                        <p:tgtEl>
                                          <p:spTgt spid="120"/>
                                        </p:tgtEl>
                                      </p:cBhvr>
                                    </p:animEffect>
                                    <p:set>
                                      <p:cBhvr>
                                        <p:cTn id="542" dur="1" fill="hold">
                                          <p:stCondLst>
                                            <p:cond delay="199"/>
                                          </p:stCondLst>
                                        </p:cTn>
                                        <p:tgtEl>
                                          <p:spTgt spid="120"/>
                                        </p:tgtEl>
                                        <p:attrNameLst>
                                          <p:attrName>style.visibility</p:attrName>
                                        </p:attrNameLst>
                                      </p:cBhvr>
                                      <p:to>
                                        <p:strVal val="hidden"/>
                                      </p:to>
                                    </p:set>
                                  </p:childTnLst>
                                </p:cTn>
                              </p:par>
                              <p:par>
                                <p:cTn id="543" presetID="10" presetClass="exit" presetSubtype="0" fill="hold" grpId="1" nodeType="withEffect">
                                  <p:stCondLst>
                                    <p:cond delay="0"/>
                                  </p:stCondLst>
                                  <p:childTnLst>
                                    <p:animEffect transition="out" filter="fade">
                                      <p:cBhvr>
                                        <p:cTn id="544" dur="200"/>
                                        <p:tgtEl>
                                          <p:spTgt spid="135"/>
                                        </p:tgtEl>
                                      </p:cBhvr>
                                    </p:animEffect>
                                    <p:set>
                                      <p:cBhvr>
                                        <p:cTn id="545" dur="1" fill="hold">
                                          <p:stCondLst>
                                            <p:cond delay="199"/>
                                          </p:stCondLst>
                                        </p:cTn>
                                        <p:tgtEl>
                                          <p:spTgt spid="135"/>
                                        </p:tgtEl>
                                        <p:attrNameLst>
                                          <p:attrName>style.visibility</p:attrName>
                                        </p:attrNameLst>
                                      </p:cBhvr>
                                      <p:to>
                                        <p:strVal val="hidden"/>
                                      </p:to>
                                    </p:set>
                                  </p:childTnLst>
                                </p:cTn>
                              </p:par>
                              <p:par>
                                <p:cTn id="546" presetID="10" presetClass="exit" presetSubtype="0" fill="hold" grpId="1" nodeType="withEffect">
                                  <p:stCondLst>
                                    <p:cond delay="0"/>
                                  </p:stCondLst>
                                  <p:childTnLst>
                                    <p:animEffect transition="out" filter="fade">
                                      <p:cBhvr>
                                        <p:cTn id="547" dur="200"/>
                                        <p:tgtEl>
                                          <p:spTgt spid="136"/>
                                        </p:tgtEl>
                                      </p:cBhvr>
                                    </p:animEffect>
                                    <p:set>
                                      <p:cBhvr>
                                        <p:cTn id="548" dur="1" fill="hold">
                                          <p:stCondLst>
                                            <p:cond delay="199"/>
                                          </p:stCondLst>
                                        </p:cTn>
                                        <p:tgtEl>
                                          <p:spTgt spid="136"/>
                                        </p:tgtEl>
                                        <p:attrNameLst>
                                          <p:attrName>style.visibility</p:attrName>
                                        </p:attrNameLst>
                                      </p:cBhvr>
                                      <p:to>
                                        <p:strVal val="hidden"/>
                                      </p:to>
                                    </p:set>
                                  </p:childTnLst>
                                </p:cTn>
                              </p:par>
                              <p:par>
                                <p:cTn id="549" presetID="10" presetClass="exit" presetSubtype="0" fill="hold" grpId="1" nodeType="withEffect">
                                  <p:stCondLst>
                                    <p:cond delay="0"/>
                                  </p:stCondLst>
                                  <p:childTnLst>
                                    <p:animEffect transition="out" filter="fade">
                                      <p:cBhvr>
                                        <p:cTn id="550" dur="200"/>
                                        <p:tgtEl>
                                          <p:spTgt spid="137"/>
                                        </p:tgtEl>
                                      </p:cBhvr>
                                    </p:animEffect>
                                    <p:set>
                                      <p:cBhvr>
                                        <p:cTn id="551" dur="1" fill="hold">
                                          <p:stCondLst>
                                            <p:cond delay="199"/>
                                          </p:stCondLst>
                                        </p:cTn>
                                        <p:tgtEl>
                                          <p:spTgt spid="137"/>
                                        </p:tgtEl>
                                        <p:attrNameLst>
                                          <p:attrName>style.visibility</p:attrName>
                                        </p:attrNameLst>
                                      </p:cBhvr>
                                      <p:to>
                                        <p:strVal val="hidden"/>
                                      </p:to>
                                    </p:set>
                                  </p:childTnLst>
                                </p:cTn>
                              </p:par>
                              <p:par>
                                <p:cTn id="552" presetID="10" presetClass="entr" presetSubtype="0" fill="hold" grpId="0" nodeType="withEffect">
                                  <p:stCondLst>
                                    <p:cond delay="200"/>
                                  </p:stCondLst>
                                  <p:childTnLst>
                                    <p:set>
                                      <p:cBhvr>
                                        <p:cTn id="553" dur="1" fill="hold">
                                          <p:stCondLst>
                                            <p:cond delay="0"/>
                                          </p:stCondLst>
                                        </p:cTn>
                                        <p:tgtEl>
                                          <p:spTgt spid="19"/>
                                        </p:tgtEl>
                                        <p:attrNameLst>
                                          <p:attrName>style.visibility</p:attrName>
                                        </p:attrNameLst>
                                      </p:cBhvr>
                                      <p:to>
                                        <p:strVal val="visible"/>
                                      </p:to>
                                    </p:set>
                                    <p:animEffect transition="in" filter="fade">
                                      <p:cBhvr>
                                        <p:cTn id="554" dur="400"/>
                                        <p:tgtEl>
                                          <p:spTgt spid="19"/>
                                        </p:tgtEl>
                                      </p:cBhvr>
                                    </p:animEffect>
                                  </p:childTnLst>
                                </p:cTn>
                              </p:par>
                              <p:par>
                                <p:cTn id="555" presetID="10" presetClass="entr" presetSubtype="0" fill="hold" grpId="0" nodeType="withEffect">
                                  <p:stCondLst>
                                    <p:cond delay="200"/>
                                  </p:stCondLst>
                                  <p:childTnLst>
                                    <p:set>
                                      <p:cBhvr>
                                        <p:cTn id="556" dur="1" fill="hold">
                                          <p:stCondLst>
                                            <p:cond delay="0"/>
                                          </p:stCondLst>
                                        </p:cTn>
                                        <p:tgtEl>
                                          <p:spTgt spid="20"/>
                                        </p:tgtEl>
                                        <p:attrNameLst>
                                          <p:attrName>style.visibility</p:attrName>
                                        </p:attrNameLst>
                                      </p:cBhvr>
                                      <p:to>
                                        <p:strVal val="visible"/>
                                      </p:to>
                                    </p:set>
                                    <p:animEffect transition="in" filter="fade">
                                      <p:cBhvr>
                                        <p:cTn id="557" dur="400"/>
                                        <p:tgtEl>
                                          <p:spTgt spid="20"/>
                                        </p:tgtEl>
                                      </p:cBhvr>
                                    </p:animEffect>
                                  </p:childTnLst>
                                </p:cTn>
                              </p:par>
                              <p:par>
                                <p:cTn id="558" presetID="10" presetClass="entr" presetSubtype="0" fill="hold" grpId="0" nodeType="withEffect">
                                  <p:stCondLst>
                                    <p:cond delay="200"/>
                                  </p:stCondLst>
                                  <p:childTnLst>
                                    <p:set>
                                      <p:cBhvr>
                                        <p:cTn id="559" dur="1" fill="hold">
                                          <p:stCondLst>
                                            <p:cond delay="0"/>
                                          </p:stCondLst>
                                        </p:cTn>
                                        <p:tgtEl>
                                          <p:spTgt spid="21"/>
                                        </p:tgtEl>
                                        <p:attrNameLst>
                                          <p:attrName>style.visibility</p:attrName>
                                        </p:attrNameLst>
                                      </p:cBhvr>
                                      <p:to>
                                        <p:strVal val="visible"/>
                                      </p:to>
                                    </p:set>
                                    <p:animEffect transition="in" filter="fade">
                                      <p:cBhvr>
                                        <p:cTn id="560" dur="400"/>
                                        <p:tgtEl>
                                          <p:spTgt spid="21"/>
                                        </p:tgtEl>
                                      </p:cBhvr>
                                    </p:animEffect>
                                  </p:childTnLst>
                                </p:cTn>
                              </p:par>
                              <p:par>
                                <p:cTn id="561" presetID="10" presetClass="entr" presetSubtype="0" fill="hold" grpId="0" nodeType="withEffect">
                                  <p:stCondLst>
                                    <p:cond delay="200"/>
                                  </p:stCondLst>
                                  <p:childTnLst>
                                    <p:set>
                                      <p:cBhvr>
                                        <p:cTn id="562" dur="1" fill="hold">
                                          <p:stCondLst>
                                            <p:cond delay="0"/>
                                          </p:stCondLst>
                                        </p:cTn>
                                        <p:tgtEl>
                                          <p:spTgt spid="22"/>
                                        </p:tgtEl>
                                        <p:attrNameLst>
                                          <p:attrName>style.visibility</p:attrName>
                                        </p:attrNameLst>
                                      </p:cBhvr>
                                      <p:to>
                                        <p:strVal val="visible"/>
                                      </p:to>
                                    </p:set>
                                    <p:animEffect transition="in" filter="fade">
                                      <p:cBhvr>
                                        <p:cTn id="563" dur="400"/>
                                        <p:tgtEl>
                                          <p:spTgt spid="22"/>
                                        </p:tgtEl>
                                      </p:cBhvr>
                                    </p:animEffect>
                                  </p:childTnLst>
                                </p:cTn>
                              </p:par>
                              <p:par>
                                <p:cTn id="564" presetID="10" presetClass="entr" presetSubtype="0" fill="hold" grpId="0" nodeType="withEffect">
                                  <p:stCondLst>
                                    <p:cond delay="200"/>
                                  </p:stCondLst>
                                  <p:childTnLst>
                                    <p:set>
                                      <p:cBhvr>
                                        <p:cTn id="565" dur="1" fill="hold">
                                          <p:stCondLst>
                                            <p:cond delay="0"/>
                                          </p:stCondLst>
                                        </p:cTn>
                                        <p:tgtEl>
                                          <p:spTgt spid="23"/>
                                        </p:tgtEl>
                                        <p:attrNameLst>
                                          <p:attrName>style.visibility</p:attrName>
                                        </p:attrNameLst>
                                      </p:cBhvr>
                                      <p:to>
                                        <p:strVal val="visible"/>
                                      </p:to>
                                    </p:set>
                                    <p:animEffect transition="in" filter="fade">
                                      <p:cBhvr>
                                        <p:cTn id="566" dur="400"/>
                                        <p:tgtEl>
                                          <p:spTgt spid="23"/>
                                        </p:tgtEl>
                                      </p:cBhvr>
                                    </p:animEffect>
                                  </p:childTnLst>
                                </p:cTn>
                              </p:par>
                              <p:par>
                                <p:cTn id="567" presetID="10" presetClass="entr" presetSubtype="0" fill="hold" grpId="0" nodeType="withEffect">
                                  <p:stCondLst>
                                    <p:cond delay="200"/>
                                  </p:stCondLst>
                                  <p:childTnLst>
                                    <p:set>
                                      <p:cBhvr>
                                        <p:cTn id="568" dur="1" fill="hold">
                                          <p:stCondLst>
                                            <p:cond delay="0"/>
                                          </p:stCondLst>
                                        </p:cTn>
                                        <p:tgtEl>
                                          <p:spTgt spid="24"/>
                                        </p:tgtEl>
                                        <p:attrNameLst>
                                          <p:attrName>style.visibility</p:attrName>
                                        </p:attrNameLst>
                                      </p:cBhvr>
                                      <p:to>
                                        <p:strVal val="visible"/>
                                      </p:to>
                                    </p:set>
                                    <p:animEffect transition="in" filter="fade">
                                      <p:cBhvr>
                                        <p:cTn id="569" dur="400"/>
                                        <p:tgtEl>
                                          <p:spTgt spid="24"/>
                                        </p:tgtEl>
                                      </p:cBhvr>
                                    </p:animEffect>
                                  </p:childTnLst>
                                </p:cTn>
                              </p:par>
                              <p:par>
                                <p:cTn id="570" presetID="10" presetClass="entr" presetSubtype="0" fill="hold" grpId="0" nodeType="withEffect">
                                  <p:stCondLst>
                                    <p:cond delay="200"/>
                                  </p:stCondLst>
                                  <p:childTnLst>
                                    <p:set>
                                      <p:cBhvr>
                                        <p:cTn id="571" dur="1" fill="hold">
                                          <p:stCondLst>
                                            <p:cond delay="0"/>
                                          </p:stCondLst>
                                        </p:cTn>
                                        <p:tgtEl>
                                          <p:spTgt spid="25"/>
                                        </p:tgtEl>
                                        <p:attrNameLst>
                                          <p:attrName>style.visibility</p:attrName>
                                        </p:attrNameLst>
                                      </p:cBhvr>
                                      <p:to>
                                        <p:strVal val="visible"/>
                                      </p:to>
                                    </p:set>
                                    <p:animEffect transition="in" filter="fade">
                                      <p:cBhvr>
                                        <p:cTn id="572" dur="400"/>
                                        <p:tgtEl>
                                          <p:spTgt spid="25"/>
                                        </p:tgtEl>
                                      </p:cBhvr>
                                    </p:animEffect>
                                  </p:childTnLst>
                                </p:cTn>
                              </p:par>
                              <p:par>
                                <p:cTn id="573" presetID="10" presetClass="entr" presetSubtype="0" fill="hold" grpId="0" nodeType="withEffect">
                                  <p:stCondLst>
                                    <p:cond delay="200"/>
                                  </p:stCondLst>
                                  <p:childTnLst>
                                    <p:set>
                                      <p:cBhvr>
                                        <p:cTn id="574" dur="1" fill="hold">
                                          <p:stCondLst>
                                            <p:cond delay="0"/>
                                          </p:stCondLst>
                                        </p:cTn>
                                        <p:tgtEl>
                                          <p:spTgt spid="26"/>
                                        </p:tgtEl>
                                        <p:attrNameLst>
                                          <p:attrName>style.visibility</p:attrName>
                                        </p:attrNameLst>
                                      </p:cBhvr>
                                      <p:to>
                                        <p:strVal val="visible"/>
                                      </p:to>
                                    </p:set>
                                    <p:animEffect transition="in" filter="fade">
                                      <p:cBhvr>
                                        <p:cTn id="575" dur="400"/>
                                        <p:tgtEl>
                                          <p:spTgt spid="26"/>
                                        </p:tgtEl>
                                      </p:cBhvr>
                                    </p:animEffect>
                                  </p:childTnLst>
                                </p:cTn>
                              </p:par>
                              <p:par>
                                <p:cTn id="576" presetID="10" presetClass="entr" presetSubtype="0" fill="hold" grpId="0" nodeType="withEffect">
                                  <p:stCondLst>
                                    <p:cond delay="200"/>
                                  </p:stCondLst>
                                  <p:childTnLst>
                                    <p:set>
                                      <p:cBhvr>
                                        <p:cTn id="577" dur="1" fill="hold">
                                          <p:stCondLst>
                                            <p:cond delay="0"/>
                                          </p:stCondLst>
                                        </p:cTn>
                                        <p:tgtEl>
                                          <p:spTgt spid="27"/>
                                        </p:tgtEl>
                                        <p:attrNameLst>
                                          <p:attrName>style.visibility</p:attrName>
                                        </p:attrNameLst>
                                      </p:cBhvr>
                                      <p:to>
                                        <p:strVal val="visible"/>
                                      </p:to>
                                    </p:set>
                                    <p:animEffect transition="in" filter="fade">
                                      <p:cBhvr>
                                        <p:cTn id="578" dur="400"/>
                                        <p:tgtEl>
                                          <p:spTgt spid="27"/>
                                        </p:tgtEl>
                                      </p:cBhvr>
                                    </p:animEffect>
                                  </p:childTnLst>
                                </p:cTn>
                              </p:par>
                              <p:par>
                                <p:cTn id="579" presetID="10" presetClass="entr" presetSubtype="0" fill="hold" grpId="0" nodeType="withEffect">
                                  <p:stCondLst>
                                    <p:cond delay="200"/>
                                  </p:stCondLst>
                                  <p:childTnLst>
                                    <p:set>
                                      <p:cBhvr>
                                        <p:cTn id="580" dur="1" fill="hold">
                                          <p:stCondLst>
                                            <p:cond delay="0"/>
                                          </p:stCondLst>
                                        </p:cTn>
                                        <p:tgtEl>
                                          <p:spTgt spid="28"/>
                                        </p:tgtEl>
                                        <p:attrNameLst>
                                          <p:attrName>style.visibility</p:attrName>
                                        </p:attrNameLst>
                                      </p:cBhvr>
                                      <p:to>
                                        <p:strVal val="visible"/>
                                      </p:to>
                                    </p:set>
                                    <p:animEffect transition="in" filter="fade">
                                      <p:cBhvr>
                                        <p:cTn id="581" dur="400"/>
                                        <p:tgtEl>
                                          <p:spTgt spid="28"/>
                                        </p:tgtEl>
                                      </p:cBhvr>
                                    </p:animEffect>
                                  </p:childTnLst>
                                </p:cTn>
                              </p:par>
                              <p:par>
                                <p:cTn id="582" presetID="10" presetClass="entr" presetSubtype="0" fill="hold" grpId="0" nodeType="withEffect">
                                  <p:stCondLst>
                                    <p:cond delay="200"/>
                                  </p:stCondLst>
                                  <p:childTnLst>
                                    <p:set>
                                      <p:cBhvr>
                                        <p:cTn id="583" dur="1" fill="hold">
                                          <p:stCondLst>
                                            <p:cond delay="0"/>
                                          </p:stCondLst>
                                        </p:cTn>
                                        <p:tgtEl>
                                          <p:spTgt spid="29"/>
                                        </p:tgtEl>
                                        <p:attrNameLst>
                                          <p:attrName>style.visibility</p:attrName>
                                        </p:attrNameLst>
                                      </p:cBhvr>
                                      <p:to>
                                        <p:strVal val="visible"/>
                                      </p:to>
                                    </p:set>
                                    <p:animEffect transition="in" filter="fade">
                                      <p:cBhvr>
                                        <p:cTn id="584" dur="400"/>
                                        <p:tgtEl>
                                          <p:spTgt spid="29"/>
                                        </p:tgtEl>
                                      </p:cBhvr>
                                    </p:animEffect>
                                  </p:childTnLst>
                                </p:cTn>
                              </p:par>
                              <p:par>
                                <p:cTn id="585" presetID="10" presetClass="entr" presetSubtype="0" fill="hold" grpId="0" nodeType="withEffect">
                                  <p:stCondLst>
                                    <p:cond delay="200"/>
                                  </p:stCondLst>
                                  <p:childTnLst>
                                    <p:set>
                                      <p:cBhvr>
                                        <p:cTn id="586" dur="1" fill="hold">
                                          <p:stCondLst>
                                            <p:cond delay="0"/>
                                          </p:stCondLst>
                                        </p:cTn>
                                        <p:tgtEl>
                                          <p:spTgt spid="119"/>
                                        </p:tgtEl>
                                        <p:attrNameLst>
                                          <p:attrName>style.visibility</p:attrName>
                                        </p:attrNameLst>
                                      </p:cBhvr>
                                      <p:to>
                                        <p:strVal val="visible"/>
                                      </p:to>
                                    </p:set>
                                    <p:animEffect transition="in" filter="fade">
                                      <p:cBhvr>
                                        <p:cTn id="587" dur="400"/>
                                        <p:tgtEl>
                                          <p:spTgt spid="119"/>
                                        </p:tgtEl>
                                      </p:cBhvr>
                                    </p:animEffect>
                                  </p:childTnLst>
                                </p:cTn>
                              </p:par>
                              <p:par>
                                <p:cTn id="588" presetID="10" presetClass="entr" presetSubtype="0" fill="hold" grpId="0" nodeType="withEffect">
                                  <p:stCondLst>
                                    <p:cond delay="200"/>
                                  </p:stCondLst>
                                  <p:childTnLst>
                                    <p:set>
                                      <p:cBhvr>
                                        <p:cTn id="589" dur="1" fill="hold">
                                          <p:stCondLst>
                                            <p:cond delay="0"/>
                                          </p:stCondLst>
                                        </p:cTn>
                                        <p:tgtEl>
                                          <p:spTgt spid="131"/>
                                        </p:tgtEl>
                                        <p:attrNameLst>
                                          <p:attrName>style.visibility</p:attrName>
                                        </p:attrNameLst>
                                      </p:cBhvr>
                                      <p:to>
                                        <p:strVal val="visible"/>
                                      </p:to>
                                    </p:set>
                                    <p:animEffect transition="in" filter="fade">
                                      <p:cBhvr>
                                        <p:cTn id="590" dur="400"/>
                                        <p:tgtEl>
                                          <p:spTgt spid="131"/>
                                        </p:tgtEl>
                                      </p:cBhvr>
                                    </p:animEffect>
                                  </p:childTnLst>
                                </p:cTn>
                              </p:par>
                              <p:par>
                                <p:cTn id="591" presetID="10" presetClass="entr" presetSubtype="0" fill="hold" grpId="0" nodeType="withEffect">
                                  <p:stCondLst>
                                    <p:cond delay="200"/>
                                  </p:stCondLst>
                                  <p:childTnLst>
                                    <p:set>
                                      <p:cBhvr>
                                        <p:cTn id="592" dur="1" fill="hold">
                                          <p:stCondLst>
                                            <p:cond delay="0"/>
                                          </p:stCondLst>
                                        </p:cTn>
                                        <p:tgtEl>
                                          <p:spTgt spid="132"/>
                                        </p:tgtEl>
                                        <p:attrNameLst>
                                          <p:attrName>style.visibility</p:attrName>
                                        </p:attrNameLst>
                                      </p:cBhvr>
                                      <p:to>
                                        <p:strVal val="visible"/>
                                      </p:to>
                                    </p:set>
                                    <p:animEffect transition="in" filter="fade">
                                      <p:cBhvr>
                                        <p:cTn id="593" dur="400"/>
                                        <p:tgtEl>
                                          <p:spTgt spid="132"/>
                                        </p:tgtEl>
                                      </p:cBhvr>
                                    </p:animEffect>
                                  </p:childTnLst>
                                </p:cTn>
                              </p:par>
                              <p:par>
                                <p:cTn id="594" presetID="10" presetClass="entr" presetSubtype="0" fill="hold" grpId="0" nodeType="withEffect">
                                  <p:stCondLst>
                                    <p:cond delay="200"/>
                                  </p:stCondLst>
                                  <p:childTnLst>
                                    <p:set>
                                      <p:cBhvr>
                                        <p:cTn id="595" dur="1" fill="hold">
                                          <p:stCondLst>
                                            <p:cond delay="0"/>
                                          </p:stCondLst>
                                        </p:cTn>
                                        <p:tgtEl>
                                          <p:spTgt spid="133"/>
                                        </p:tgtEl>
                                        <p:attrNameLst>
                                          <p:attrName>style.visibility</p:attrName>
                                        </p:attrNameLst>
                                      </p:cBhvr>
                                      <p:to>
                                        <p:strVal val="visible"/>
                                      </p:to>
                                    </p:set>
                                    <p:animEffect transition="in" filter="fade">
                                      <p:cBhvr>
                                        <p:cTn id="596" dur="400"/>
                                        <p:tgtEl>
                                          <p:spTgt spid="133"/>
                                        </p:tgtEl>
                                      </p:cBhvr>
                                    </p:animEffect>
                                  </p:childTnLst>
                                </p:cTn>
                              </p:par>
                              <p:par>
                                <p:cTn id="597" presetID="10" presetClass="entr" presetSubtype="0" fill="hold" grpId="0" nodeType="withEffect">
                                  <p:stCondLst>
                                    <p:cond delay="200"/>
                                  </p:stCondLst>
                                  <p:childTnLst>
                                    <p:set>
                                      <p:cBhvr>
                                        <p:cTn id="598" dur="1" fill="hold">
                                          <p:stCondLst>
                                            <p:cond delay="0"/>
                                          </p:stCondLst>
                                        </p:cTn>
                                        <p:tgtEl>
                                          <p:spTgt spid="134"/>
                                        </p:tgtEl>
                                        <p:attrNameLst>
                                          <p:attrName>style.visibility</p:attrName>
                                        </p:attrNameLst>
                                      </p:cBhvr>
                                      <p:to>
                                        <p:strVal val="visible"/>
                                      </p:to>
                                    </p:set>
                                    <p:animEffect transition="in" filter="fade">
                                      <p:cBhvr>
                                        <p:cTn id="599" dur="400"/>
                                        <p:tgtEl>
                                          <p:spTgt spid="134"/>
                                        </p:tgtEl>
                                      </p:cBhvr>
                                    </p:animEffect>
                                  </p:childTnLst>
                                </p:cTn>
                              </p:par>
                            </p:childTnLst>
                          </p:cTn>
                        </p:par>
                      </p:childTnLst>
                    </p:cTn>
                  </p:par>
                  <p:par>
                    <p:cTn id="709" fill="hold">
                      <p:stCondLst>
                        <p:cond delay="indefinite"/>
                      </p:stCondLst>
                      <p:childTnLst>
                        <p:par>
                          <p:cTn id="710" fill="hold">
                            <p:stCondLst>
                              <p:cond delay="0"/>
                            </p:stCondLst>
                            <p:childTnLst>
                              <p:par>
                                <p:cTn id="600" presetID="10" presetClass="exit" presetSubtype="0" fill="hold" grpId="1" nodeType="clickEffect">
                                  <p:stCondLst>
                                    <p:cond delay="0"/>
                                  </p:stCondLst>
                                  <p:childTnLst>
                                    <p:animEffect transition="out" filter="fade">
                                      <p:cBhvr>
                                        <p:cTn id="601" dur="200"/>
                                        <p:tgtEl>
                                          <p:spTgt spid="19"/>
                                        </p:tgtEl>
                                      </p:cBhvr>
                                    </p:animEffect>
                                    <p:set>
                                      <p:cBhvr>
                                        <p:cTn id="602" dur="1" fill="hold">
                                          <p:stCondLst>
                                            <p:cond delay="199"/>
                                          </p:stCondLst>
                                        </p:cTn>
                                        <p:tgtEl>
                                          <p:spTgt spid="19"/>
                                        </p:tgtEl>
                                        <p:attrNameLst>
                                          <p:attrName>style.visibility</p:attrName>
                                        </p:attrNameLst>
                                      </p:cBhvr>
                                      <p:to>
                                        <p:strVal val="hidden"/>
                                      </p:to>
                                    </p:set>
                                  </p:childTnLst>
                                </p:cTn>
                              </p:par>
                              <p:par>
                                <p:cTn id="603" presetID="10" presetClass="exit" presetSubtype="0" fill="hold" grpId="1" nodeType="withEffect">
                                  <p:stCondLst>
                                    <p:cond delay="0"/>
                                  </p:stCondLst>
                                  <p:childTnLst>
                                    <p:animEffect transition="out" filter="fade">
                                      <p:cBhvr>
                                        <p:cTn id="604" dur="200"/>
                                        <p:tgtEl>
                                          <p:spTgt spid="20"/>
                                        </p:tgtEl>
                                      </p:cBhvr>
                                    </p:animEffect>
                                    <p:set>
                                      <p:cBhvr>
                                        <p:cTn id="605" dur="1" fill="hold">
                                          <p:stCondLst>
                                            <p:cond delay="199"/>
                                          </p:stCondLst>
                                        </p:cTn>
                                        <p:tgtEl>
                                          <p:spTgt spid="20"/>
                                        </p:tgtEl>
                                        <p:attrNameLst>
                                          <p:attrName>style.visibility</p:attrName>
                                        </p:attrNameLst>
                                      </p:cBhvr>
                                      <p:to>
                                        <p:strVal val="hidden"/>
                                      </p:to>
                                    </p:set>
                                  </p:childTnLst>
                                </p:cTn>
                              </p:par>
                              <p:par>
                                <p:cTn id="606" presetID="10" presetClass="exit" presetSubtype="0" fill="hold" grpId="1" nodeType="withEffect">
                                  <p:stCondLst>
                                    <p:cond delay="0"/>
                                  </p:stCondLst>
                                  <p:childTnLst>
                                    <p:animEffect transition="out" filter="fade">
                                      <p:cBhvr>
                                        <p:cTn id="607" dur="200"/>
                                        <p:tgtEl>
                                          <p:spTgt spid="21"/>
                                        </p:tgtEl>
                                      </p:cBhvr>
                                    </p:animEffect>
                                    <p:set>
                                      <p:cBhvr>
                                        <p:cTn id="608" dur="1" fill="hold">
                                          <p:stCondLst>
                                            <p:cond delay="199"/>
                                          </p:stCondLst>
                                        </p:cTn>
                                        <p:tgtEl>
                                          <p:spTgt spid="21"/>
                                        </p:tgtEl>
                                        <p:attrNameLst>
                                          <p:attrName>style.visibility</p:attrName>
                                        </p:attrNameLst>
                                      </p:cBhvr>
                                      <p:to>
                                        <p:strVal val="hidden"/>
                                      </p:to>
                                    </p:set>
                                  </p:childTnLst>
                                </p:cTn>
                              </p:par>
                              <p:par>
                                <p:cTn id="609" presetID="10" presetClass="exit" presetSubtype="0" fill="hold" grpId="1" nodeType="withEffect">
                                  <p:stCondLst>
                                    <p:cond delay="0"/>
                                  </p:stCondLst>
                                  <p:childTnLst>
                                    <p:animEffect transition="out" filter="fade">
                                      <p:cBhvr>
                                        <p:cTn id="610" dur="200"/>
                                        <p:tgtEl>
                                          <p:spTgt spid="22"/>
                                        </p:tgtEl>
                                      </p:cBhvr>
                                    </p:animEffect>
                                    <p:set>
                                      <p:cBhvr>
                                        <p:cTn id="611" dur="1" fill="hold">
                                          <p:stCondLst>
                                            <p:cond delay="199"/>
                                          </p:stCondLst>
                                        </p:cTn>
                                        <p:tgtEl>
                                          <p:spTgt spid="22"/>
                                        </p:tgtEl>
                                        <p:attrNameLst>
                                          <p:attrName>style.visibility</p:attrName>
                                        </p:attrNameLst>
                                      </p:cBhvr>
                                      <p:to>
                                        <p:strVal val="hidden"/>
                                      </p:to>
                                    </p:set>
                                  </p:childTnLst>
                                </p:cTn>
                              </p:par>
                              <p:par>
                                <p:cTn id="612" presetID="10" presetClass="exit" presetSubtype="0" fill="hold" grpId="1" nodeType="withEffect">
                                  <p:stCondLst>
                                    <p:cond delay="0"/>
                                  </p:stCondLst>
                                  <p:childTnLst>
                                    <p:animEffect transition="out" filter="fade">
                                      <p:cBhvr>
                                        <p:cTn id="613" dur="200"/>
                                        <p:tgtEl>
                                          <p:spTgt spid="23"/>
                                        </p:tgtEl>
                                      </p:cBhvr>
                                    </p:animEffect>
                                    <p:set>
                                      <p:cBhvr>
                                        <p:cTn id="614" dur="1" fill="hold">
                                          <p:stCondLst>
                                            <p:cond delay="199"/>
                                          </p:stCondLst>
                                        </p:cTn>
                                        <p:tgtEl>
                                          <p:spTgt spid="23"/>
                                        </p:tgtEl>
                                        <p:attrNameLst>
                                          <p:attrName>style.visibility</p:attrName>
                                        </p:attrNameLst>
                                      </p:cBhvr>
                                      <p:to>
                                        <p:strVal val="hidden"/>
                                      </p:to>
                                    </p:set>
                                  </p:childTnLst>
                                </p:cTn>
                              </p:par>
                              <p:par>
                                <p:cTn id="615" presetID="10" presetClass="exit" presetSubtype="0" fill="hold" grpId="1" nodeType="withEffect">
                                  <p:stCondLst>
                                    <p:cond delay="0"/>
                                  </p:stCondLst>
                                  <p:childTnLst>
                                    <p:animEffect transition="out" filter="fade">
                                      <p:cBhvr>
                                        <p:cTn id="616" dur="200"/>
                                        <p:tgtEl>
                                          <p:spTgt spid="24"/>
                                        </p:tgtEl>
                                      </p:cBhvr>
                                    </p:animEffect>
                                    <p:set>
                                      <p:cBhvr>
                                        <p:cTn id="617" dur="1" fill="hold">
                                          <p:stCondLst>
                                            <p:cond delay="199"/>
                                          </p:stCondLst>
                                        </p:cTn>
                                        <p:tgtEl>
                                          <p:spTgt spid="24"/>
                                        </p:tgtEl>
                                        <p:attrNameLst>
                                          <p:attrName>style.visibility</p:attrName>
                                        </p:attrNameLst>
                                      </p:cBhvr>
                                      <p:to>
                                        <p:strVal val="hidden"/>
                                      </p:to>
                                    </p:set>
                                  </p:childTnLst>
                                </p:cTn>
                              </p:par>
                              <p:par>
                                <p:cTn id="618" presetID="10" presetClass="exit" presetSubtype="0" fill="hold" grpId="1" nodeType="withEffect">
                                  <p:stCondLst>
                                    <p:cond delay="0"/>
                                  </p:stCondLst>
                                  <p:childTnLst>
                                    <p:animEffect transition="out" filter="fade">
                                      <p:cBhvr>
                                        <p:cTn id="619" dur="200"/>
                                        <p:tgtEl>
                                          <p:spTgt spid="25"/>
                                        </p:tgtEl>
                                      </p:cBhvr>
                                    </p:animEffect>
                                    <p:set>
                                      <p:cBhvr>
                                        <p:cTn id="620" dur="1" fill="hold">
                                          <p:stCondLst>
                                            <p:cond delay="199"/>
                                          </p:stCondLst>
                                        </p:cTn>
                                        <p:tgtEl>
                                          <p:spTgt spid="25"/>
                                        </p:tgtEl>
                                        <p:attrNameLst>
                                          <p:attrName>style.visibility</p:attrName>
                                        </p:attrNameLst>
                                      </p:cBhvr>
                                      <p:to>
                                        <p:strVal val="hidden"/>
                                      </p:to>
                                    </p:set>
                                  </p:childTnLst>
                                </p:cTn>
                              </p:par>
                              <p:par>
                                <p:cTn id="621" presetID="10" presetClass="exit" presetSubtype="0" fill="hold" grpId="1" nodeType="withEffect">
                                  <p:stCondLst>
                                    <p:cond delay="0"/>
                                  </p:stCondLst>
                                  <p:childTnLst>
                                    <p:animEffect transition="out" filter="fade">
                                      <p:cBhvr>
                                        <p:cTn id="622" dur="200"/>
                                        <p:tgtEl>
                                          <p:spTgt spid="26"/>
                                        </p:tgtEl>
                                      </p:cBhvr>
                                    </p:animEffect>
                                    <p:set>
                                      <p:cBhvr>
                                        <p:cTn id="623" dur="1" fill="hold">
                                          <p:stCondLst>
                                            <p:cond delay="199"/>
                                          </p:stCondLst>
                                        </p:cTn>
                                        <p:tgtEl>
                                          <p:spTgt spid="26"/>
                                        </p:tgtEl>
                                        <p:attrNameLst>
                                          <p:attrName>style.visibility</p:attrName>
                                        </p:attrNameLst>
                                      </p:cBhvr>
                                      <p:to>
                                        <p:strVal val="hidden"/>
                                      </p:to>
                                    </p:set>
                                  </p:childTnLst>
                                </p:cTn>
                              </p:par>
                              <p:par>
                                <p:cTn id="624" presetID="10" presetClass="exit" presetSubtype="0" fill="hold" grpId="0" nodeType="withEffect">
                                  <p:stCondLst>
                                    <p:cond delay="0"/>
                                  </p:stCondLst>
                                  <p:childTnLst>
                                    <p:animEffect transition="out" filter="fade">
                                      <p:cBhvr>
                                        <p:cTn id="625" dur="200"/>
                                        <p:tgtEl>
                                          <p:spTgt spid="114"/>
                                        </p:tgtEl>
                                      </p:cBhvr>
                                    </p:animEffect>
                                    <p:set>
                                      <p:cBhvr>
                                        <p:cTn id="626" dur="1" fill="hold">
                                          <p:stCondLst>
                                            <p:cond delay="199"/>
                                          </p:stCondLst>
                                        </p:cTn>
                                        <p:tgtEl>
                                          <p:spTgt spid="114"/>
                                        </p:tgtEl>
                                        <p:attrNameLst>
                                          <p:attrName>style.visibility</p:attrName>
                                        </p:attrNameLst>
                                      </p:cBhvr>
                                      <p:to>
                                        <p:strVal val="hidden"/>
                                      </p:to>
                                    </p:set>
                                  </p:childTnLst>
                                </p:cTn>
                              </p:par>
                              <p:par>
                                <p:cTn id="627" presetID="10" presetClass="exit" presetSubtype="0" fill="hold" grpId="0" nodeType="withEffect">
                                  <p:stCondLst>
                                    <p:cond delay="0"/>
                                  </p:stCondLst>
                                  <p:childTnLst>
                                    <p:animEffect transition="out" filter="fade">
                                      <p:cBhvr>
                                        <p:cTn id="628" dur="200"/>
                                        <p:tgtEl>
                                          <p:spTgt spid="115"/>
                                        </p:tgtEl>
                                      </p:cBhvr>
                                    </p:animEffect>
                                    <p:set>
                                      <p:cBhvr>
                                        <p:cTn id="629" dur="1" fill="hold">
                                          <p:stCondLst>
                                            <p:cond delay="199"/>
                                          </p:stCondLst>
                                        </p:cTn>
                                        <p:tgtEl>
                                          <p:spTgt spid="115"/>
                                        </p:tgtEl>
                                        <p:attrNameLst>
                                          <p:attrName>style.visibility</p:attrName>
                                        </p:attrNameLst>
                                      </p:cBhvr>
                                      <p:to>
                                        <p:strVal val="hidden"/>
                                      </p:to>
                                    </p:set>
                                  </p:childTnLst>
                                </p:cTn>
                              </p:par>
                              <p:par>
                                <p:cTn id="630" presetID="10" presetClass="exit" presetSubtype="0" fill="hold" grpId="0" nodeType="withEffect">
                                  <p:stCondLst>
                                    <p:cond delay="0"/>
                                  </p:stCondLst>
                                  <p:childTnLst>
                                    <p:animEffect transition="out" filter="fade">
                                      <p:cBhvr>
                                        <p:cTn id="631" dur="200"/>
                                        <p:tgtEl>
                                          <p:spTgt spid="116"/>
                                        </p:tgtEl>
                                      </p:cBhvr>
                                    </p:animEffect>
                                    <p:set>
                                      <p:cBhvr>
                                        <p:cTn id="632" dur="1" fill="hold">
                                          <p:stCondLst>
                                            <p:cond delay="199"/>
                                          </p:stCondLst>
                                        </p:cTn>
                                        <p:tgtEl>
                                          <p:spTgt spid="116"/>
                                        </p:tgtEl>
                                        <p:attrNameLst>
                                          <p:attrName>style.visibility</p:attrName>
                                        </p:attrNameLst>
                                      </p:cBhvr>
                                      <p:to>
                                        <p:strVal val="hidden"/>
                                      </p:to>
                                    </p:set>
                                  </p:childTnLst>
                                </p:cTn>
                              </p:par>
                              <p:par>
                                <p:cTn id="633" presetID="10" presetClass="exit" presetSubtype="0" fill="hold" grpId="1" nodeType="withEffect">
                                  <p:stCondLst>
                                    <p:cond delay="0"/>
                                  </p:stCondLst>
                                  <p:childTnLst>
                                    <p:animEffect transition="out" filter="fade">
                                      <p:cBhvr>
                                        <p:cTn id="634" dur="200"/>
                                        <p:tgtEl>
                                          <p:spTgt spid="119"/>
                                        </p:tgtEl>
                                      </p:cBhvr>
                                    </p:animEffect>
                                    <p:set>
                                      <p:cBhvr>
                                        <p:cTn id="635" dur="1" fill="hold">
                                          <p:stCondLst>
                                            <p:cond delay="199"/>
                                          </p:stCondLst>
                                        </p:cTn>
                                        <p:tgtEl>
                                          <p:spTgt spid="119"/>
                                        </p:tgtEl>
                                        <p:attrNameLst>
                                          <p:attrName>style.visibility</p:attrName>
                                        </p:attrNameLst>
                                      </p:cBhvr>
                                      <p:to>
                                        <p:strVal val="hidden"/>
                                      </p:to>
                                    </p:set>
                                  </p:childTnLst>
                                </p:cTn>
                              </p:par>
                              <p:par>
                                <p:cTn id="636" presetID="10" presetClass="exit" presetSubtype="0" fill="hold" grpId="1" nodeType="withEffect">
                                  <p:stCondLst>
                                    <p:cond delay="0"/>
                                  </p:stCondLst>
                                  <p:childTnLst>
                                    <p:animEffect transition="out" filter="fade">
                                      <p:cBhvr>
                                        <p:cTn id="637" dur="200"/>
                                        <p:tgtEl>
                                          <p:spTgt spid="131"/>
                                        </p:tgtEl>
                                      </p:cBhvr>
                                    </p:animEffect>
                                    <p:set>
                                      <p:cBhvr>
                                        <p:cTn id="638" dur="1" fill="hold">
                                          <p:stCondLst>
                                            <p:cond delay="199"/>
                                          </p:stCondLst>
                                        </p:cTn>
                                        <p:tgtEl>
                                          <p:spTgt spid="131"/>
                                        </p:tgtEl>
                                        <p:attrNameLst>
                                          <p:attrName>style.visibility</p:attrName>
                                        </p:attrNameLst>
                                      </p:cBhvr>
                                      <p:to>
                                        <p:strVal val="hidden"/>
                                      </p:to>
                                    </p:set>
                                  </p:childTnLst>
                                </p:cTn>
                              </p:par>
                              <p:par>
                                <p:cTn id="639" presetID="10" presetClass="exit" presetSubtype="0" fill="hold" grpId="1" nodeType="withEffect">
                                  <p:stCondLst>
                                    <p:cond delay="0"/>
                                  </p:stCondLst>
                                  <p:childTnLst>
                                    <p:animEffect transition="out" filter="fade">
                                      <p:cBhvr>
                                        <p:cTn id="640" dur="200"/>
                                        <p:tgtEl>
                                          <p:spTgt spid="132"/>
                                        </p:tgtEl>
                                      </p:cBhvr>
                                    </p:animEffect>
                                    <p:set>
                                      <p:cBhvr>
                                        <p:cTn id="641" dur="1" fill="hold">
                                          <p:stCondLst>
                                            <p:cond delay="199"/>
                                          </p:stCondLst>
                                        </p:cTn>
                                        <p:tgtEl>
                                          <p:spTgt spid="132"/>
                                        </p:tgtEl>
                                        <p:attrNameLst>
                                          <p:attrName>style.visibility</p:attrName>
                                        </p:attrNameLst>
                                      </p:cBhvr>
                                      <p:to>
                                        <p:strVal val="hidden"/>
                                      </p:to>
                                    </p:set>
                                  </p:childTnLst>
                                </p:cTn>
                              </p:par>
                              <p:par>
                                <p:cTn id="642" presetID="10" presetClass="exit" presetSubtype="0" fill="hold" grpId="1" nodeType="withEffect">
                                  <p:stCondLst>
                                    <p:cond delay="0"/>
                                  </p:stCondLst>
                                  <p:childTnLst>
                                    <p:animEffect transition="out" filter="fade">
                                      <p:cBhvr>
                                        <p:cTn id="643" dur="200"/>
                                        <p:tgtEl>
                                          <p:spTgt spid="133"/>
                                        </p:tgtEl>
                                      </p:cBhvr>
                                    </p:animEffect>
                                    <p:set>
                                      <p:cBhvr>
                                        <p:cTn id="644" dur="1" fill="hold">
                                          <p:stCondLst>
                                            <p:cond delay="199"/>
                                          </p:stCondLst>
                                        </p:cTn>
                                        <p:tgtEl>
                                          <p:spTgt spid="133"/>
                                        </p:tgtEl>
                                        <p:attrNameLst>
                                          <p:attrName>style.visibility</p:attrName>
                                        </p:attrNameLst>
                                      </p:cBhvr>
                                      <p:to>
                                        <p:strVal val="hidden"/>
                                      </p:to>
                                    </p:set>
                                  </p:childTnLst>
                                </p:cTn>
                              </p:par>
                              <p:par>
                                <p:cTn id="645" presetID="10" presetClass="exit" presetSubtype="0" fill="hold" grpId="1" nodeType="withEffect">
                                  <p:stCondLst>
                                    <p:cond delay="0"/>
                                  </p:stCondLst>
                                  <p:childTnLst>
                                    <p:animEffect transition="out" filter="fade">
                                      <p:cBhvr>
                                        <p:cTn id="646" dur="200"/>
                                        <p:tgtEl>
                                          <p:spTgt spid="134"/>
                                        </p:tgtEl>
                                      </p:cBhvr>
                                    </p:animEffect>
                                    <p:set>
                                      <p:cBhvr>
                                        <p:cTn id="647" dur="1" fill="hold">
                                          <p:stCondLst>
                                            <p:cond delay="199"/>
                                          </p:stCondLst>
                                        </p:cTn>
                                        <p:tgtEl>
                                          <p:spTgt spid="134"/>
                                        </p:tgtEl>
                                        <p:attrNameLst>
                                          <p:attrName>style.visibility</p:attrName>
                                        </p:attrNameLst>
                                      </p:cBhvr>
                                      <p:to>
                                        <p:strVal val="hidden"/>
                                      </p:to>
                                    </p:set>
                                  </p:childTnLst>
                                </p:cTn>
                              </p:par>
                              <p:par>
                                <p:cTn id="648" presetID="10" presetClass="entr" presetSubtype="0" fill="hold" grpId="0" nodeType="withEffect">
                                  <p:stCondLst>
                                    <p:cond delay="200"/>
                                  </p:stCondLst>
                                  <p:childTnLst>
                                    <p:set>
                                      <p:cBhvr>
                                        <p:cTn id="649" dur="1" fill="hold">
                                          <p:stCondLst>
                                            <p:cond delay="0"/>
                                          </p:stCondLst>
                                        </p:cTn>
                                        <p:tgtEl>
                                          <p:spTgt spid="13"/>
                                        </p:tgtEl>
                                        <p:attrNameLst>
                                          <p:attrName>style.visibility</p:attrName>
                                        </p:attrNameLst>
                                      </p:cBhvr>
                                      <p:to>
                                        <p:strVal val="visible"/>
                                      </p:to>
                                    </p:set>
                                    <p:animEffect transition="in" filter="fade">
                                      <p:cBhvr>
                                        <p:cTn id="650" dur="400"/>
                                        <p:tgtEl>
                                          <p:spTgt spid="13"/>
                                        </p:tgtEl>
                                      </p:cBhvr>
                                    </p:animEffect>
                                  </p:childTnLst>
                                </p:cTn>
                              </p:par>
                              <p:par>
                                <p:cTn id="651" presetID="10" presetClass="entr" presetSubtype="0" fill="hold" grpId="0" nodeType="withEffect">
                                  <p:stCondLst>
                                    <p:cond delay="200"/>
                                  </p:stCondLst>
                                  <p:childTnLst>
                                    <p:set>
                                      <p:cBhvr>
                                        <p:cTn id="652" dur="1" fill="hold">
                                          <p:stCondLst>
                                            <p:cond delay="0"/>
                                          </p:stCondLst>
                                        </p:cTn>
                                        <p:tgtEl>
                                          <p:spTgt spid="14"/>
                                        </p:tgtEl>
                                        <p:attrNameLst>
                                          <p:attrName>style.visibility</p:attrName>
                                        </p:attrNameLst>
                                      </p:cBhvr>
                                      <p:to>
                                        <p:strVal val="visible"/>
                                      </p:to>
                                    </p:set>
                                    <p:animEffect transition="in" filter="fade">
                                      <p:cBhvr>
                                        <p:cTn id="653" dur="400"/>
                                        <p:tgtEl>
                                          <p:spTgt spid="14"/>
                                        </p:tgtEl>
                                      </p:cBhvr>
                                    </p:animEffect>
                                  </p:childTnLst>
                                </p:cTn>
                              </p:par>
                              <p:par>
                                <p:cTn id="654" presetID="10" presetClass="entr" presetSubtype="0" fill="hold" grpId="0" nodeType="withEffect">
                                  <p:stCondLst>
                                    <p:cond delay="200"/>
                                  </p:stCondLst>
                                  <p:childTnLst>
                                    <p:set>
                                      <p:cBhvr>
                                        <p:cTn id="655" dur="1" fill="hold">
                                          <p:stCondLst>
                                            <p:cond delay="0"/>
                                          </p:stCondLst>
                                        </p:cTn>
                                        <p:tgtEl>
                                          <p:spTgt spid="15"/>
                                        </p:tgtEl>
                                        <p:attrNameLst>
                                          <p:attrName>style.visibility</p:attrName>
                                        </p:attrNameLst>
                                      </p:cBhvr>
                                      <p:to>
                                        <p:strVal val="visible"/>
                                      </p:to>
                                    </p:set>
                                    <p:animEffect transition="in" filter="fade">
                                      <p:cBhvr>
                                        <p:cTn id="656" dur="400"/>
                                        <p:tgtEl>
                                          <p:spTgt spid="15"/>
                                        </p:tgtEl>
                                      </p:cBhvr>
                                    </p:animEffect>
                                  </p:childTnLst>
                                </p:cTn>
                              </p:par>
                              <p:par>
                                <p:cTn id="657" presetID="10" presetClass="entr" presetSubtype="0" fill="hold" grpId="0" nodeType="withEffect">
                                  <p:stCondLst>
                                    <p:cond delay="200"/>
                                  </p:stCondLst>
                                  <p:childTnLst>
                                    <p:set>
                                      <p:cBhvr>
                                        <p:cTn id="658" dur="1" fill="hold">
                                          <p:stCondLst>
                                            <p:cond delay="0"/>
                                          </p:stCondLst>
                                        </p:cTn>
                                        <p:tgtEl>
                                          <p:spTgt spid="16"/>
                                        </p:tgtEl>
                                        <p:attrNameLst>
                                          <p:attrName>style.visibility</p:attrName>
                                        </p:attrNameLst>
                                      </p:cBhvr>
                                      <p:to>
                                        <p:strVal val="visible"/>
                                      </p:to>
                                    </p:set>
                                    <p:animEffect transition="in" filter="fade">
                                      <p:cBhvr>
                                        <p:cTn id="659" dur="400"/>
                                        <p:tgtEl>
                                          <p:spTgt spid="16"/>
                                        </p:tgtEl>
                                      </p:cBhvr>
                                    </p:animEffect>
                                  </p:childTnLst>
                                </p:cTn>
                              </p:par>
                              <p:par>
                                <p:cTn id="660" presetID="10" presetClass="entr" presetSubtype="0" fill="hold" grpId="0" nodeType="withEffect">
                                  <p:stCondLst>
                                    <p:cond delay="200"/>
                                  </p:stCondLst>
                                  <p:childTnLst>
                                    <p:set>
                                      <p:cBhvr>
                                        <p:cTn id="661" dur="1" fill="hold">
                                          <p:stCondLst>
                                            <p:cond delay="0"/>
                                          </p:stCondLst>
                                        </p:cTn>
                                        <p:tgtEl>
                                          <p:spTgt spid="17"/>
                                        </p:tgtEl>
                                        <p:attrNameLst>
                                          <p:attrName>style.visibility</p:attrName>
                                        </p:attrNameLst>
                                      </p:cBhvr>
                                      <p:to>
                                        <p:strVal val="visible"/>
                                      </p:to>
                                    </p:set>
                                    <p:animEffect transition="in" filter="fade">
                                      <p:cBhvr>
                                        <p:cTn id="662" dur="400"/>
                                        <p:tgtEl>
                                          <p:spTgt spid="17"/>
                                        </p:tgtEl>
                                      </p:cBhvr>
                                    </p:animEffect>
                                  </p:childTnLst>
                                </p:cTn>
                              </p:par>
                              <p:par>
                                <p:cTn id="663" presetID="10" presetClass="entr" presetSubtype="0" fill="hold" grpId="0" nodeType="withEffect">
                                  <p:stCondLst>
                                    <p:cond delay="200"/>
                                  </p:stCondLst>
                                  <p:childTnLst>
                                    <p:set>
                                      <p:cBhvr>
                                        <p:cTn id="664" dur="1" fill="hold">
                                          <p:stCondLst>
                                            <p:cond delay="0"/>
                                          </p:stCondLst>
                                        </p:cTn>
                                        <p:tgtEl>
                                          <p:spTgt spid="18"/>
                                        </p:tgtEl>
                                        <p:attrNameLst>
                                          <p:attrName>style.visibility</p:attrName>
                                        </p:attrNameLst>
                                      </p:cBhvr>
                                      <p:to>
                                        <p:strVal val="visible"/>
                                      </p:to>
                                    </p:set>
                                    <p:animEffect transition="in" filter="fade">
                                      <p:cBhvr>
                                        <p:cTn id="665" dur="400"/>
                                        <p:tgtEl>
                                          <p:spTgt spid="18"/>
                                        </p:tgtEl>
                                      </p:cBhvr>
                                    </p:animEffect>
                                  </p:childTnLst>
                                </p:cTn>
                              </p:par>
                              <p:par>
                                <p:cTn id="666" presetID="10" presetClass="entr" presetSubtype="0" fill="hold" grpId="0" nodeType="withEffect">
                                  <p:stCondLst>
                                    <p:cond delay="200"/>
                                  </p:stCondLst>
                                  <p:childTnLst>
                                    <p:set>
                                      <p:cBhvr>
                                        <p:cTn id="667" dur="1" fill="hold">
                                          <p:stCondLst>
                                            <p:cond delay="0"/>
                                          </p:stCondLst>
                                        </p:cTn>
                                        <p:tgtEl>
                                          <p:spTgt spid="103"/>
                                        </p:tgtEl>
                                        <p:attrNameLst>
                                          <p:attrName>style.visibility</p:attrName>
                                        </p:attrNameLst>
                                      </p:cBhvr>
                                      <p:to>
                                        <p:strVal val="visible"/>
                                      </p:to>
                                    </p:set>
                                    <p:animEffect transition="in" filter="fade">
                                      <p:cBhvr>
                                        <p:cTn id="668" dur="400"/>
                                        <p:tgtEl>
                                          <p:spTgt spid="103"/>
                                        </p:tgtEl>
                                      </p:cBhvr>
                                    </p:animEffect>
                                  </p:childTnLst>
                                </p:cTn>
                              </p:par>
                              <p:par>
                                <p:cTn id="669" presetID="10" presetClass="entr" presetSubtype="0" fill="hold" grpId="0" nodeType="withEffect">
                                  <p:stCondLst>
                                    <p:cond delay="200"/>
                                  </p:stCondLst>
                                  <p:childTnLst>
                                    <p:set>
                                      <p:cBhvr>
                                        <p:cTn id="670" dur="1" fill="hold">
                                          <p:stCondLst>
                                            <p:cond delay="0"/>
                                          </p:stCondLst>
                                        </p:cTn>
                                        <p:tgtEl>
                                          <p:spTgt spid="104"/>
                                        </p:tgtEl>
                                        <p:attrNameLst>
                                          <p:attrName>style.visibility</p:attrName>
                                        </p:attrNameLst>
                                      </p:cBhvr>
                                      <p:to>
                                        <p:strVal val="visible"/>
                                      </p:to>
                                    </p:set>
                                    <p:animEffect transition="in" filter="fade">
                                      <p:cBhvr>
                                        <p:cTn id="671" dur="400"/>
                                        <p:tgtEl>
                                          <p:spTgt spid="104"/>
                                        </p:tgtEl>
                                      </p:cBhvr>
                                    </p:animEffect>
                                  </p:childTnLst>
                                </p:cTn>
                              </p:par>
                              <p:par>
                                <p:cTn id="672" presetID="10" presetClass="entr" presetSubtype="0" fill="hold" grpId="0" nodeType="withEffect">
                                  <p:stCondLst>
                                    <p:cond delay="200"/>
                                  </p:stCondLst>
                                  <p:childTnLst>
                                    <p:set>
                                      <p:cBhvr>
                                        <p:cTn id="673" dur="1" fill="hold">
                                          <p:stCondLst>
                                            <p:cond delay="0"/>
                                          </p:stCondLst>
                                        </p:cTn>
                                        <p:tgtEl>
                                          <p:spTgt spid="105"/>
                                        </p:tgtEl>
                                        <p:attrNameLst>
                                          <p:attrName>style.visibility</p:attrName>
                                        </p:attrNameLst>
                                      </p:cBhvr>
                                      <p:to>
                                        <p:strVal val="visible"/>
                                      </p:to>
                                    </p:set>
                                    <p:animEffect transition="in" filter="fade">
                                      <p:cBhvr>
                                        <p:cTn id="674" dur="400"/>
                                        <p:tgtEl>
                                          <p:spTgt spid="105"/>
                                        </p:tgtEl>
                                      </p:cBhvr>
                                    </p:animEffect>
                                  </p:childTnLst>
                                </p:cTn>
                              </p:par>
                              <p:par>
                                <p:cTn id="675" presetID="10" presetClass="entr" presetSubtype="0" fill="hold" grpId="0" nodeType="withEffect">
                                  <p:stCondLst>
                                    <p:cond delay="200"/>
                                  </p:stCondLst>
                                  <p:childTnLst>
                                    <p:set>
                                      <p:cBhvr>
                                        <p:cTn id="676" dur="1" fill="hold">
                                          <p:stCondLst>
                                            <p:cond delay="0"/>
                                          </p:stCondLst>
                                        </p:cTn>
                                        <p:tgtEl>
                                          <p:spTgt spid="106"/>
                                        </p:tgtEl>
                                        <p:attrNameLst>
                                          <p:attrName>style.visibility</p:attrName>
                                        </p:attrNameLst>
                                      </p:cBhvr>
                                      <p:to>
                                        <p:strVal val="visible"/>
                                      </p:to>
                                    </p:set>
                                    <p:animEffect transition="in" filter="fade">
                                      <p:cBhvr>
                                        <p:cTn id="677" dur="400"/>
                                        <p:tgtEl>
                                          <p:spTgt spid="106"/>
                                        </p:tgtEl>
                                      </p:cBhvr>
                                    </p:animEffect>
                                  </p:childTnLst>
                                </p:cTn>
                              </p:par>
                              <p:par>
                                <p:cTn id="678" presetID="10" presetClass="entr" presetSubtype="0" fill="hold" grpId="0" nodeType="withEffect">
                                  <p:stCondLst>
                                    <p:cond delay="200"/>
                                  </p:stCondLst>
                                  <p:childTnLst>
                                    <p:set>
                                      <p:cBhvr>
                                        <p:cTn id="679" dur="1" fill="hold">
                                          <p:stCondLst>
                                            <p:cond delay="0"/>
                                          </p:stCondLst>
                                        </p:cTn>
                                        <p:tgtEl>
                                          <p:spTgt spid="118"/>
                                        </p:tgtEl>
                                        <p:attrNameLst>
                                          <p:attrName>style.visibility</p:attrName>
                                        </p:attrNameLst>
                                      </p:cBhvr>
                                      <p:to>
                                        <p:strVal val="visible"/>
                                      </p:to>
                                    </p:set>
                                    <p:animEffect transition="in" filter="fade">
                                      <p:cBhvr>
                                        <p:cTn id="680" dur="400"/>
                                        <p:tgtEl>
                                          <p:spTgt spid="118"/>
                                        </p:tgtEl>
                                      </p:cBhvr>
                                    </p:animEffect>
                                  </p:childTnLst>
                                </p:cTn>
                              </p:par>
                              <p:par>
                                <p:cTn id="681" presetID="10" presetClass="entr" presetSubtype="0" fill="hold" grpId="0" nodeType="withEffect">
                                  <p:stCondLst>
                                    <p:cond delay="200"/>
                                  </p:stCondLst>
                                  <p:childTnLst>
                                    <p:set>
                                      <p:cBhvr>
                                        <p:cTn id="682" dur="1" fill="hold">
                                          <p:stCondLst>
                                            <p:cond delay="0"/>
                                          </p:stCondLst>
                                        </p:cTn>
                                        <p:tgtEl>
                                          <p:spTgt spid="127"/>
                                        </p:tgtEl>
                                        <p:attrNameLst>
                                          <p:attrName>style.visibility</p:attrName>
                                        </p:attrNameLst>
                                      </p:cBhvr>
                                      <p:to>
                                        <p:strVal val="visible"/>
                                      </p:to>
                                    </p:set>
                                    <p:animEffect transition="in" filter="fade">
                                      <p:cBhvr>
                                        <p:cTn id="683" dur="400"/>
                                        <p:tgtEl>
                                          <p:spTgt spid="127"/>
                                        </p:tgtEl>
                                      </p:cBhvr>
                                    </p:animEffect>
                                  </p:childTnLst>
                                </p:cTn>
                              </p:par>
                              <p:par>
                                <p:cTn id="684" presetID="10" presetClass="entr" presetSubtype="0" fill="hold" grpId="0" nodeType="withEffect">
                                  <p:stCondLst>
                                    <p:cond delay="200"/>
                                  </p:stCondLst>
                                  <p:childTnLst>
                                    <p:set>
                                      <p:cBhvr>
                                        <p:cTn id="685" dur="1" fill="hold">
                                          <p:stCondLst>
                                            <p:cond delay="0"/>
                                          </p:stCondLst>
                                        </p:cTn>
                                        <p:tgtEl>
                                          <p:spTgt spid="128"/>
                                        </p:tgtEl>
                                        <p:attrNameLst>
                                          <p:attrName>style.visibility</p:attrName>
                                        </p:attrNameLst>
                                      </p:cBhvr>
                                      <p:to>
                                        <p:strVal val="visible"/>
                                      </p:to>
                                    </p:set>
                                    <p:animEffect transition="in" filter="fade">
                                      <p:cBhvr>
                                        <p:cTn id="686" dur="400"/>
                                        <p:tgtEl>
                                          <p:spTgt spid="128"/>
                                        </p:tgtEl>
                                      </p:cBhvr>
                                    </p:animEffect>
                                  </p:childTnLst>
                                </p:cTn>
                              </p:par>
                              <p:par>
                                <p:cTn id="687" presetID="10" presetClass="entr" presetSubtype="0" fill="hold" grpId="0" nodeType="withEffect">
                                  <p:stCondLst>
                                    <p:cond delay="200"/>
                                  </p:stCondLst>
                                  <p:childTnLst>
                                    <p:set>
                                      <p:cBhvr>
                                        <p:cTn id="688" dur="1" fill="hold">
                                          <p:stCondLst>
                                            <p:cond delay="0"/>
                                          </p:stCondLst>
                                        </p:cTn>
                                        <p:tgtEl>
                                          <p:spTgt spid="129"/>
                                        </p:tgtEl>
                                        <p:attrNameLst>
                                          <p:attrName>style.visibility</p:attrName>
                                        </p:attrNameLst>
                                      </p:cBhvr>
                                      <p:to>
                                        <p:strVal val="visible"/>
                                      </p:to>
                                    </p:set>
                                    <p:animEffect transition="in" filter="fade">
                                      <p:cBhvr>
                                        <p:cTn id="689" dur="400"/>
                                        <p:tgtEl>
                                          <p:spTgt spid="129"/>
                                        </p:tgtEl>
                                      </p:cBhvr>
                                    </p:animEffect>
                                  </p:childTnLst>
                                </p:cTn>
                              </p:par>
                              <p:par>
                                <p:cTn id="690" presetID="10" presetClass="entr" presetSubtype="0" fill="hold" grpId="0" nodeType="withEffect">
                                  <p:stCondLst>
                                    <p:cond delay="200"/>
                                  </p:stCondLst>
                                  <p:childTnLst>
                                    <p:set>
                                      <p:cBhvr>
                                        <p:cTn id="691" dur="1" fill="hold">
                                          <p:stCondLst>
                                            <p:cond delay="0"/>
                                          </p:stCondLst>
                                        </p:cTn>
                                        <p:tgtEl>
                                          <p:spTgt spid="130"/>
                                        </p:tgtEl>
                                        <p:attrNameLst>
                                          <p:attrName>style.visibility</p:attrName>
                                        </p:attrNameLst>
                                      </p:cBhvr>
                                      <p:to>
                                        <p:strVal val="visible"/>
                                      </p:to>
                                    </p:set>
                                    <p:animEffect transition="in" filter="fade">
                                      <p:cBhvr>
                                        <p:cTn id="692" dur="4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P spid="43" grpId="0" animBg="1"/>
      <p:bldP spid="44" grpId="0" animBg="1"/>
      <p:bldP spid="45" grpId="0" animBg="1"/>
      <p:bldP spid="46" grpId="0" animBg="1"/>
      <p:bldP spid="47" grpId="0" animBg="1"/>
      <p:bldP spid="48" grpId="0" animBg="1"/>
      <p:bldP spid="49" grpId="0" animBg="1"/>
      <p:bldP spid="49" grpId="1" animBg="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6" grpId="1" animBg="1"/>
      <p:bldP spid="77" grpId="0" animBg="1"/>
      <p:bldP spid="77" grpId="1" animBg="1"/>
      <p:bldP spid="78" grpId="0" animBg="1"/>
      <p:bldP spid="78" grpId="1" animBg="1"/>
      <p:bldP spid="79" grpId="0" animBg="1"/>
      <p:bldP spid="79" grpId="1" animBg="1"/>
      <p:bldP spid="80" grpId="0" animBg="1"/>
      <p:bldP spid="80" grpId="1" animBg="1"/>
      <p:bldP spid="81" grpId="0" animBg="1"/>
      <p:bldP spid="81" grpId="1" animBg="1"/>
      <p:bldP spid="82" grpId="0" animBg="1"/>
      <p:bldP spid="82" grpId="1" animBg="1"/>
      <p:bldP spid="83" grpId="0" animBg="1"/>
      <p:bldP spid="83" grpId="1"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3" grpId="1" animBg="1"/>
      <p:bldP spid="94" grpId="0" animBg="1"/>
      <p:bldP spid="94" grpId="1" animBg="1"/>
      <p:bldP spid="95" grpId="0" animBg="1"/>
      <p:bldP spid="95" grpId="1" animBg="1"/>
      <p:bldP spid="96" grpId="0" animBg="1"/>
      <p:bldP spid="96" grpId="1"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7" grpId="1" animBg="1"/>
      <p:bldP spid="108" grpId="0" animBg="1"/>
      <p:bldP spid="108" grpId="1" animBg="1"/>
      <p:bldP spid="109" grpId="0" animBg="1"/>
      <p:bldP spid="109" grpId="1" animBg="1"/>
      <p:bldP spid="110" grpId="0" animBg="1"/>
      <p:bldP spid="110" grpId="1" animBg="1"/>
      <p:bldP spid="111" grpId="0" animBg="1"/>
      <p:bldP spid="112" grpId="0" animBg="1"/>
      <p:bldP spid="113" grpId="0" animBg="1"/>
      <p:bldP spid="114" grpId="0" animBg="1"/>
      <p:bldP spid="115" grpId="0" animBg="1"/>
      <p:bldP spid="116" grpId="0" animBg="1"/>
      <p:bldP spid="127" grpId="0" animBg="1"/>
      <p:bldP spid="130" grpId="0" animBg="1"/>
      <p:bldP spid="131" grpId="0" animBg="1"/>
      <p:bldP spid="131" grpId="1" animBg="1"/>
      <p:bldP spid="134" grpId="0" animBg="1"/>
      <p:bldP spid="134" grpId="1" animBg="1"/>
      <p:bldP spid="135" grpId="0" animBg="1"/>
      <p:bldP spid="135" grpId="1" animBg="1"/>
      <p:bldP spid="137" grpId="0" animBg="1"/>
      <p:bldP spid="137" grpId="1" animBg="1"/>
      <p:bldP spid="138" grpId="0" animBg="1"/>
      <p:bldP spid="138" grpId="1" animBg="1"/>
      <p:bldP spid="142" grpId="0" animBg="1"/>
      <p:bldP spid="142" grpId="1" animBg="1"/>
      <p:bldP spid="143" grpId="0" animBg="1"/>
      <p:bldP spid="143" grpId="1" animBg="1"/>
      <p:bldP spid="145" grpId="0" animBg="1"/>
      <p:bldP spid="145" grpId="1" animBg="1"/>
      <p:bldP spid="146" grpId="0" animBg="1"/>
      <p:bldP spid="146" grpId="1" animBg="1"/>
      <p:bldP spid="148" grpId="0" animBg="1"/>
      <p:bldP spid="148" grpId="1" animBg="1"/>
      <p:bldP spid="149" grpId="0" animBg="1"/>
      <p:bldP spid="149" grpId="1" animBg="1"/>
      <p:bldP spid="152" grpId="0" animBg="1"/>
      <p:bldP spid="152" grpId="1" animBg="1"/>
      <p:bldP spid="153" grpId="0" animBg="1"/>
      <p:bldP spid="153" grpId="1" animBg="1"/>
      <p:bldP spid="156" grpId="0" animBg="1"/>
      <p:bldP spid="156" grpId="1" animBg="1"/>
      <p:bldP spid="157" grpId="0" animBg="1"/>
      <p:bldP spid="157" grpId="1" animBg="1"/>
      <p:bldP spid="161" grpId="0" animBg="1"/>
      <p:bldP spid="161" grpId="1" animBg="1"/>
      <p:bldP spid="162" grpId="0" animBg="1"/>
      <p:bldP spid="164"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03</a:t>
            </a:r>
          </a:p>
        </p:txBody>
      </p:sp>
      <p:sp>
        <p:nvSpPr>
          <p:cNvPr id="4" name="TextBox 3"/>
          <p:cNvSpPr txBox="1"/>
          <p:nvPr/>
        </p:nvSpPr>
        <p:spPr>
          <a:xfrm>
            <a:off x="898398" y="282141"/>
            <a:ext cx="2469642"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Diseño y desarrollo del modelo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Demostración en vivo con EduFEM</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5150" y="1280096"/>
            <a:ext cx="6210300" cy="72828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5150" y="2002028"/>
            <a:ext cx="62103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5150" y="1381696"/>
            <a:ext cx="406400" cy="406400"/>
          </a:xfrm>
          <a:prstGeom prst="roundRect">
            <a:avLst>
              <a:gd name="adj" fmla="val 2812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750" y="1497394"/>
            <a:ext cx="4572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E8741A"/>
                </a:solidFill>
                <a:latin typeface="Calibri"/>
              </a:rPr>
              <a:t>1</a:t>
            </a:r>
          </a:p>
        </p:txBody>
      </p:sp>
      <p:sp>
        <p:nvSpPr>
          <p:cNvPr id="17" name="TextBox 16"/>
          <p:cNvSpPr txBox="1"/>
          <p:nvPr/>
        </p:nvSpPr>
        <p:spPr>
          <a:xfrm>
            <a:off x="1149350" y="1388123"/>
            <a:ext cx="5738622" cy="277495"/>
          </a:xfrm>
          <a:prstGeom prst="rect">
            <a:avLst/>
          </a:prstGeom>
          <a:noFill/>
        </p:spPr>
        <p:txBody>
          <a:bodyPr wrap="square" lIns="0" rIns="0" tIns="0" bIns="0" anchor="t"/>
          <a:lstStyle/>
          <a:p>
            <a:pPr algn="l">
              <a:lnSpc>
                <a:spcPts val="2185"/>
              </a:lnSpc>
              <a:spcBef>
                <a:spcPts val="0"/>
              </a:spcBef>
              <a:spcAft>
                <a:spcPts val="0"/>
              </a:spcAft>
            </a:pPr>
            <a:r>
              <a:rPr sz="1900" b="1" i="0">
                <a:solidFill>
                  <a:srgbClr val="1F2937"/>
                </a:solidFill>
                <a:latin typeface="Calibri"/>
              </a:rPr>
              <a:t>Cargar el ejemplo canónico</a:t>
            </a:r>
          </a:p>
        </p:txBody>
      </p:sp>
      <p:sp>
        <p:nvSpPr>
          <p:cNvPr id="18" name="TextBox 17"/>
          <p:cNvSpPr txBox="1"/>
          <p:nvPr/>
        </p:nvSpPr>
        <p:spPr>
          <a:xfrm>
            <a:off x="1149350" y="1703833"/>
            <a:ext cx="5738622" cy="193802"/>
          </a:xfrm>
          <a:prstGeom prst="rect">
            <a:avLst/>
          </a:prstGeom>
          <a:noFill/>
        </p:spPr>
        <p:txBody>
          <a:bodyPr wrap="square" lIns="0" rIns="0" tIns="0" bIns="0" anchor="t"/>
          <a:lstStyle/>
          <a:p>
            <a:pPr algn="l">
              <a:lnSpc>
                <a:spcPts val="1526"/>
              </a:lnSpc>
              <a:spcBef>
                <a:spcPts val="0"/>
              </a:spcBef>
              <a:spcAft>
                <a:spcPts val="0"/>
              </a:spcAft>
            </a:pPr>
            <a:r>
              <a:rPr sz="1250" b="0" i="0">
                <a:solidFill>
                  <a:srgbClr val="5B6575"/>
                </a:solidFill>
                <a:latin typeface="Calibri"/>
              </a:rPr>
              <a:t>Ayuda ▸ Cargar ejemplo (Ctrl+E) · 9 nodos, 4 Q4, P = 1000</a:t>
            </a:r>
          </a:p>
        </p:txBody>
      </p:sp>
      <p:sp>
        <p:nvSpPr>
          <p:cNvPr id="19" name="Rectangle 18"/>
          <p:cNvSpPr/>
          <p:nvPr/>
        </p:nvSpPr>
        <p:spPr>
          <a:xfrm>
            <a:off x="565150" y="2008378"/>
            <a:ext cx="6210300" cy="7219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5150" y="2723960"/>
            <a:ext cx="62103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65150" y="2109978"/>
            <a:ext cx="406400" cy="406400"/>
          </a:xfrm>
          <a:prstGeom prst="roundRect">
            <a:avLst>
              <a:gd name="adj" fmla="val 2812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750" y="2225675"/>
            <a:ext cx="4572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E8741A"/>
                </a:solidFill>
                <a:latin typeface="Calibri"/>
              </a:rPr>
              <a:t>2</a:t>
            </a:r>
          </a:p>
        </p:txBody>
      </p:sp>
      <p:sp>
        <p:nvSpPr>
          <p:cNvPr id="23" name="TextBox 22"/>
          <p:cNvSpPr txBox="1"/>
          <p:nvPr/>
        </p:nvSpPr>
        <p:spPr>
          <a:xfrm>
            <a:off x="1149350" y="2116404"/>
            <a:ext cx="5738622" cy="277495"/>
          </a:xfrm>
          <a:prstGeom prst="rect">
            <a:avLst/>
          </a:prstGeom>
          <a:noFill/>
        </p:spPr>
        <p:txBody>
          <a:bodyPr wrap="square" lIns="0" rIns="0" tIns="0" bIns="0" anchor="t"/>
          <a:lstStyle/>
          <a:p>
            <a:pPr algn="l">
              <a:lnSpc>
                <a:spcPts val="2185"/>
              </a:lnSpc>
              <a:spcBef>
                <a:spcPts val="0"/>
              </a:spcBef>
              <a:spcAft>
                <a:spcPts val="0"/>
              </a:spcAft>
            </a:pPr>
            <a:r>
              <a:rPr sz="1900" b="1" i="0">
                <a:solidFill>
                  <a:srgbClr val="1F2937"/>
                </a:solidFill>
                <a:latin typeface="Calibri"/>
              </a:rPr>
              <a:t>Comprobar la salud y resolver</a:t>
            </a:r>
          </a:p>
        </p:txBody>
      </p:sp>
      <p:sp>
        <p:nvSpPr>
          <p:cNvPr id="24" name="TextBox 23"/>
          <p:cNvSpPr txBox="1"/>
          <p:nvPr/>
        </p:nvSpPr>
        <p:spPr>
          <a:xfrm>
            <a:off x="1149350" y="2432115"/>
            <a:ext cx="5738622" cy="193802"/>
          </a:xfrm>
          <a:prstGeom prst="rect">
            <a:avLst/>
          </a:prstGeom>
          <a:noFill/>
        </p:spPr>
        <p:txBody>
          <a:bodyPr wrap="square" lIns="0" rIns="0" tIns="0" bIns="0" anchor="t"/>
          <a:lstStyle/>
          <a:p>
            <a:pPr algn="l">
              <a:lnSpc>
                <a:spcPts val="1526"/>
              </a:lnSpc>
              <a:spcBef>
                <a:spcPts val="0"/>
              </a:spcBef>
              <a:spcAft>
                <a:spcPts val="0"/>
              </a:spcAft>
            </a:pPr>
            <a:r>
              <a:rPr sz="1250" b="0" i="0">
                <a:solidFill>
                  <a:srgbClr val="5B6575"/>
                </a:solidFill>
                <a:latin typeface="Calibri"/>
              </a:rPr>
              <a:t>F5 · el comprobador revisa antes de ensamblar</a:t>
            </a:r>
          </a:p>
        </p:txBody>
      </p:sp>
      <p:sp>
        <p:nvSpPr>
          <p:cNvPr id="25" name="Rectangle 24"/>
          <p:cNvSpPr/>
          <p:nvPr/>
        </p:nvSpPr>
        <p:spPr>
          <a:xfrm>
            <a:off x="565150" y="2730310"/>
            <a:ext cx="6210300" cy="7219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5150" y="3445891"/>
            <a:ext cx="62103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65150" y="2831910"/>
            <a:ext cx="406400" cy="406400"/>
          </a:xfrm>
          <a:prstGeom prst="roundRect">
            <a:avLst>
              <a:gd name="adj" fmla="val 2812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9750" y="2947607"/>
            <a:ext cx="4572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E8741A"/>
                </a:solidFill>
                <a:latin typeface="Calibri"/>
              </a:rPr>
              <a:t>3</a:t>
            </a:r>
          </a:p>
        </p:txBody>
      </p:sp>
      <p:sp>
        <p:nvSpPr>
          <p:cNvPr id="29" name="TextBox 28"/>
          <p:cNvSpPr txBox="1"/>
          <p:nvPr/>
        </p:nvSpPr>
        <p:spPr>
          <a:xfrm>
            <a:off x="1149350" y="2838336"/>
            <a:ext cx="5738622" cy="277495"/>
          </a:xfrm>
          <a:prstGeom prst="rect">
            <a:avLst/>
          </a:prstGeom>
          <a:noFill/>
        </p:spPr>
        <p:txBody>
          <a:bodyPr wrap="square" lIns="0" rIns="0" tIns="0" bIns="0" anchor="t"/>
          <a:lstStyle/>
          <a:p>
            <a:pPr algn="l">
              <a:lnSpc>
                <a:spcPts val="2185"/>
              </a:lnSpc>
              <a:spcBef>
                <a:spcPts val="0"/>
              </a:spcBef>
              <a:spcAft>
                <a:spcPts val="0"/>
              </a:spcAft>
            </a:pPr>
            <a:r>
              <a:rPr sz="1900" b="1" i="0">
                <a:solidFill>
                  <a:srgbClr val="1F2937"/>
                </a:solidFill>
                <a:latin typeface="Calibri"/>
              </a:rPr>
              <a:t>Abrir M3 y M7 sobre E3</a:t>
            </a:r>
          </a:p>
        </p:txBody>
      </p:sp>
      <p:sp>
        <p:nvSpPr>
          <p:cNvPr id="30" name="TextBox 29"/>
          <p:cNvSpPr txBox="1"/>
          <p:nvPr/>
        </p:nvSpPr>
        <p:spPr>
          <a:xfrm>
            <a:off x="1149350" y="3154046"/>
            <a:ext cx="5738622" cy="193802"/>
          </a:xfrm>
          <a:prstGeom prst="rect">
            <a:avLst/>
          </a:prstGeom>
          <a:noFill/>
        </p:spPr>
        <p:txBody>
          <a:bodyPr wrap="square" lIns="0" rIns="0" tIns="0" bIns="0" anchor="t"/>
          <a:lstStyle/>
          <a:p>
            <a:pPr algn="l">
              <a:lnSpc>
                <a:spcPts val="1526"/>
              </a:lnSpc>
              <a:spcBef>
                <a:spcPts val="0"/>
              </a:spcBef>
              <a:spcAft>
                <a:spcPts val="0"/>
              </a:spcAft>
            </a:pPr>
            <a:r>
              <a:rPr sz="1250" b="0" i="0">
                <a:solidFill>
                  <a:srgbClr val="5B6575"/>
                </a:solidFill>
                <a:latin typeface="Calibri"/>
              </a:rPr>
              <a:t>fórmula ↔ valores; filas y columnas de K</a:t>
            </a:r>
          </a:p>
        </p:txBody>
      </p:sp>
      <p:sp>
        <p:nvSpPr>
          <p:cNvPr id="31" name="Rectangle 30"/>
          <p:cNvSpPr/>
          <p:nvPr/>
        </p:nvSpPr>
        <p:spPr>
          <a:xfrm>
            <a:off x="565150" y="3452241"/>
            <a:ext cx="6210300" cy="7219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5150" y="4167822"/>
            <a:ext cx="62103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65150" y="3553841"/>
            <a:ext cx="406400" cy="406400"/>
          </a:xfrm>
          <a:prstGeom prst="roundRect">
            <a:avLst>
              <a:gd name="adj" fmla="val 2812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9750" y="3669538"/>
            <a:ext cx="4572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E8741A"/>
                </a:solidFill>
                <a:latin typeface="Calibri"/>
              </a:rPr>
              <a:t>4</a:t>
            </a:r>
          </a:p>
        </p:txBody>
      </p:sp>
      <p:sp>
        <p:nvSpPr>
          <p:cNvPr id="35" name="TextBox 34"/>
          <p:cNvSpPr txBox="1"/>
          <p:nvPr/>
        </p:nvSpPr>
        <p:spPr>
          <a:xfrm>
            <a:off x="1149350" y="3560267"/>
            <a:ext cx="5738622" cy="277495"/>
          </a:xfrm>
          <a:prstGeom prst="rect">
            <a:avLst/>
          </a:prstGeom>
          <a:noFill/>
        </p:spPr>
        <p:txBody>
          <a:bodyPr wrap="square" lIns="0" rIns="0" tIns="0" bIns="0" anchor="t"/>
          <a:lstStyle/>
          <a:p>
            <a:pPr algn="l">
              <a:lnSpc>
                <a:spcPts val="2185"/>
              </a:lnSpc>
              <a:spcBef>
                <a:spcPts val="0"/>
              </a:spcBef>
              <a:spcAft>
                <a:spcPts val="0"/>
              </a:spcAft>
            </a:pPr>
            <a:r>
              <a:rPr sz="1900" b="1" i="0">
                <a:solidFill>
                  <a:srgbClr val="1F2937"/>
                </a:solidFill>
                <a:latin typeface="Calibri"/>
              </a:rPr>
              <a:t>Sonda en el nodo 7</a:t>
            </a:r>
          </a:p>
        </p:txBody>
      </p:sp>
      <p:sp>
        <p:nvSpPr>
          <p:cNvPr id="36" name="TextBox 35"/>
          <p:cNvSpPr txBox="1"/>
          <p:nvPr/>
        </p:nvSpPr>
        <p:spPr>
          <a:xfrm>
            <a:off x="1149350" y="3875978"/>
            <a:ext cx="5738622" cy="193802"/>
          </a:xfrm>
          <a:prstGeom prst="rect">
            <a:avLst/>
          </a:prstGeom>
          <a:noFill/>
        </p:spPr>
        <p:txBody>
          <a:bodyPr wrap="square" lIns="0" rIns="0" tIns="0" bIns="0" anchor="t"/>
          <a:lstStyle/>
          <a:p>
            <a:pPr algn="l">
              <a:lnSpc>
                <a:spcPts val="1526"/>
              </a:lnSpc>
              <a:spcBef>
                <a:spcPts val="0"/>
              </a:spcBef>
              <a:spcAft>
                <a:spcPts val="0"/>
              </a:spcAft>
            </a:pPr>
            <a:r>
              <a:rPr sz="1250" b="0" i="0">
                <a:solidFill>
                  <a:srgbClr val="5B6575"/>
                </a:solidFill>
                <a:latin typeface="Calibri"/>
              </a:rPr>
              <a:t>crudo y suavizado; círculo de Mohr; reacciones</a:t>
            </a:r>
          </a:p>
        </p:txBody>
      </p:sp>
      <p:sp>
        <p:nvSpPr>
          <p:cNvPr id="37" name="Rectangle 36"/>
          <p:cNvSpPr/>
          <p:nvPr/>
        </p:nvSpPr>
        <p:spPr>
          <a:xfrm>
            <a:off x="565150" y="4174109"/>
            <a:ext cx="6210300" cy="7219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5150" y="4889690"/>
            <a:ext cx="62103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65150" y="4275709"/>
            <a:ext cx="406400" cy="406400"/>
          </a:xfrm>
          <a:prstGeom prst="roundRect">
            <a:avLst>
              <a:gd name="adj" fmla="val 2812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9750" y="4391406"/>
            <a:ext cx="4572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E8741A"/>
                </a:solidFill>
                <a:latin typeface="Calibri"/>
              </a:rPr>
              <a:t>5</a:t>
            </a:r>
          </a:p>
        </p:txBody>
      </p:sp>
      <p:sp>
        <p:nvSpPr>
          <p:cNvPr id="41" name="TextBox 40"/>
          <p:cNvSpPr txBox="1"/>
          <p:nvPr/>
        </p:nvSpPr>
        <p:spPr>
          <a:xfrm>
            <a:off x="1149350" y="4282135"/>
            <a:ext cx="5738622" cy="277495"/>
          </a:xfrm>
          <a:prstGeom prst="rect">
            <a:avLst/>
          </a:prstGeom>
          <a:noFill/>
        </p:spPr>
        <p:txBody>
          <a:bodyPr wrap="square" lIns="0" rIns="0" tIns="0" bIns="0" anchor="t"/>
          <a:lstStyle/>
          <a:p>
            <a:pPr algn="l">
              <a:lnSpc>
                <a:spcPts val="2185"/>
              </a:lnSpc>
              <a:spcBef>
                <a:spcPts val="0"/>
              </a:spcBef>
              <a:spcAft>
                <a:spcPts val="0"/>
              </a:spcAft>
            </a:pPr>
            <a:r>
              <a:rPr sz="1900" b="1" i="0">
                <a:solidFill>
                  <a:srgbClr val="1F2937"/>
                </a:solidFill>
                <a:latin typeface="Calibri"/>
              </a:rPr>
              <a:t>Generar la memoria de cálculo</a:t>
            </a:r>
          </a:p>
        </p:txBody>
      </p:sp>
      <p:sp>
        <p:nvSpPr>
          <p:cNvPr id="42" name="TextBox 41"/>
          <p:cNvSpPr txBox="1"/>
          <p:nvPr/>
        </p:nvSpPr>
        <p:spPr>
          <a:xfrm>
            <a:off x="1149350" y="4597846"/>
            <a:ext cx="5738622" cy="193802"/>
          </a:xfrm>
          <a:prstGeom prst="rect">
            <a:avLst/>
          </a:prstGeom>
          <a:noFill/>
        </p:spPr>
        <p:txBody>
          <a:bodyPr wrap="square" lIns="0" rIns="0" tIns="0" bIns="0" anchor="t"/>
          <a:lstStyle/>
          <a:p>
            <a:pPr algn="l">
              <a:lnSpc>
                <a:spcPts val="1526"/>
              </a:lnSpc>
              <a:spcBef>
                <a:spcPts val="0"/>
              </a:spcBef>
              <a:spcAft>
                <a:spcPts val="0"/>
              </a:spcAft>
            </a:pPr>
            <a:r>
              <a:rPr sz="1250" b="0" i="0">
                <a:solidFill>
                  <a:srgbClr val="5B6575"/>
                </a:solidFill>
                <a:latin typeface="Calibri"/>
              </a:rPr>
              <a:t>PDF con las nueve etapas, sin internet</a:t>
            </a:r>
          </a:p>
        </p:txBody>
      </p:sp>
      <p:sp>
        <p:nvSpPr>
          <p:cNvPr id="43" name="Rounded Rectangle 42"/>
          <p:cNvSpPr/>
          <p:nvPr/>
        </p:nvSpPr>
        <p:spPr>
          <a:xfrm>
            <a:off x="7058025" y="1283272"/>
            <a:ext cx="4565650" cy="2490788"/>
          </a:xfrm>
          <a:prstGeom prst="roundRect">
            <a:avLst>
              <a:gd name="adj" fmla="val 293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77100" y="1483615"/>
            <a:ext cx="42100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Si el equipo de la sala no tiene EduFEM</a:t>
            </a:r>
          </a:p>
        </p:txBody>
      </p:sp>
      <p:sp>
        <p:nvSpPr>
          <p:cNvPr id="45" name="TextBox 44"/>
          <p:cNvSpPr txBox="1"/>
          <p:nvPr/>
        </p:nvSpPr>
        <p:spPr>
          <a:xfrm>
            <a:off x="7277100" y="1743687"/>
            <a:ext cx="4210050" cy="490728"/>
          </a:xfrm>
          <a:prstGeom prst="rect">
            <a:avLst/>
          </a:prstGeom>
          <a:noFill/>
        </p:spPr>
        <p:txBody>
          <a:bodyPr wrap="square" lIns="0" rIns="0" tIns="0" bIns="0" anchor="t"/>
          <a:lstStyle/>
          <a:p>
            <a:pPr algn="l">
              <a:lnSpc>
                <a:spcPts val="1932"/>
              </a:lnSpc>
              <a:spcBef>
                <a:spcPts val="0"/>
              </a:spcBef>
              <a:spcAft>
                <a:spcPts val="0"/>
              </a:spcAft>
            </a:pPr>
            <a:r>
              <a:rPr sz="1400" b="0" i="0">
                <a:solidFill>
                  <a:srgbClr val="1F2937"/>
                </a:solidFill>
                <a:latin typeface="Calibri"/>
              </a:rPr>
              <a:t>Estos laboratorios de la presentación usan la salida real</a:t>
            </a:r>
            <a:br/>
            <a:r>
              <a:rPr sz="1400" b="0" i="0">
                <a:solidFill>
                  <a:srgbClr val="1F2937"/>
                </a:solidFill>
                <a:latin typeface="Calibri"/>
              </a:rPr>
              <a:t>del motor:</a:t>
            </a:r>
          </a:p>
        </p:txBody>
      </p:sp>
      <p:sp>
        <p:nvSpPr>
          <p:cNvPr id="46" name="Rounded Rectangle 45"/>
          <p:cNvSpPr/>
          <p:nvPr/>
        </p:nvSpPr>
        <p:spPr>
          <a:xfrm>
            <a:off x="7280275" y="2358009"/>
            <a:ext cx="1300480" cy="342900"/>
          </a:xfrm>
          <a:prstGeom prst="roundRect">
            <a:avLst>
              <a:gd name="adj" fmla="val 13888"/>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23150" y="2463578"/>
            <a:ext cx="101473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Trazabilidad</a:t>
            </a:r>
          </a:p>
        </p:txBody>
      </p:sp>
      <p:sp>
        <p:nvSpPr>
          <p:cNvPr id="48" name="Rounded Rectangle 47"/>
          <p:cNvSpPr/>
          <p:nvPr/>
        </p:nvSpPr>
        <p:spPr>
          <a:xfrm>
            <a:off x="8676005" y="2358009"/>
            <a:ext cx="1264730" cy="342900"/>
          </a:xfrm>
          <a:prstGeom prst="roundRect">
            <a:avLst>
              <a:gd name="adj" fmla="val 13888"/>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818880" y="2463578"/>
            <a:ext cx="978979"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Ensamblaje</a:t>
            </a:r>
          </a:p>
        </p:txBody>
      </p:sp>
      <p:sp>
        <p:nvSpPr>
          <p:cNvPr id="50" name="Rounded Rectangle 49"/>
          <p:cNvSpPr/>
          <p:nvPr/>
        </p:nvSpPr>
        <p:spPr>
          <a:xfrm>
            <a:off x="7280275" y="2796159"/>
            <a:ext cx="1430147" cy="342900"/>
          </a:xfrm>
          <a:prstGeom prst="roundRect">
            <a:avLst>
              <a:gd name="adj" fmla="val 13888"/>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23150" y="2901728"/>
            <a:ext cx="1144397"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Sonda y Mohr</a:t>
            </a:r>
          </a:p>
        </p:txBody>
      </p:sp>
      <p:sp>
        <p:nvSpPr>
          <p:cNvPr id="52" name="Rounded Rectangle 51"/>
          <p:cNvSpPr/>
          <p:nvPr/>
        </p:nvSpPr>
        <p:spPr>
          <a:xfrm>
            <a:off x="8805672" y="2796159"/>
            <a:ext cx="1803971" cy="342900"/>
          </a:xfrm>
          <a:prstGeom prst="roundRect">
            <a:avLst>
              <a:gd name="adj" fmla="val 13888"/>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948547" y="2901728"/>
            <a:ext cx="1518222"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Membrana de Cook</a:t>
            </a:r>
          </a:p>
        </p:txBody>
      </p:sp>
      <p:sp>
        <p:nvSpPr>
          <p:cNvPr id="54" name="Rounded Rectangle 53"/>
          <p:cNvSpPr/>
          <p:nvPr/>
        </p:nvSpPr>
        <p:spPr>
          <a:xfrm>
            <a:off x="7280275" y="3234309"/>
            <a:ext cx="1163320" cy="342900"/>
          </a:xfrm>
          <a:prstGeom prst="roundRect">
            <a:avLst>
              <a:gd name="adj" fmla="val 13888"/>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23150" y="3339878"/>
            <a:ext cx="87757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Jacobiano</a:t>
            </a:r>
          </a:p>
        </p:txBody>
      </p:sp>
      <p:sp>
        <p:nvSpPr>
          <p:cNvPr id="56" name="Rounded Rectangle 55"/>
          <p:cNvSpPr/>
          <p:nvPr/>
        </p:nvSpPr>
        <p:spPr>
          <a:xfrm>
            <a:off x="7058025" y="3920109"/>
            <a:ext cx="4565650" cy="1186053"/>
          </a:xfrm>
          <a:prstGeom prst="roundRect">
            <a:avLst>
              <a:gd name="adj" fmla="val 615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277100" y="4120453"/>
            <a:ext cx="42100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Instalación</a:t>
            </a:r>
          </a:p>
        </p:txBody>
      </p:sp>
      <p:sp>
        <p:nvSpPr>
          <p:cNvPr id="58" name="TextBox 57"/>
          <p:cNvSpPr txBox="1"/>
          <p:nvPr/>
        </p:nvSpPr>
        <p:spPr>
          <a:xfrm>
            <a:off x="7277100" y="4384383"/>
            <a:ext cx="4210050" cy="525780"/>
          </a:xfrm>
          <a:prstGeom prst="rect">
            <a:avLst/>
          </a:prstGeom>
          <a:noFill/>
        </p:spPr>
        <p:txBody>
          <a:bodyPr wrap="square" lIns="0" rIns="0" tIns="0" bIns="0" anchor="t"/>
          <a:lstStyle/>
          <a:p>
            <a:pPr algn="l">
              <a:lnSpc>
                <a:spcPts val="2070"/>
              </a:lnSpc>
              <a:spcBef>
                <a:spcPts val="0"/>
              </a:spcBef>
              <a:spcAft>
                <a:spcPts val="0"/>
              </a:spcAft>
            </a:pPr>
            <a:r>
              <a:rPr sz="1500" b="0" i="0">
                <a:solidFill>
                  <a:srgbClr val="3F4A5A"/>
                </a:solidFill>
                <a:latin typeface="Calibri"/>
              </a:rPr>
              <a:t>EduFEM-Setup.exe · por usuario, sin permisos de</a:t>
            </a:r>
            <a:br/>
            <a:r>
              <a:rPr sz="1500" b="0" i="0">
                <a:solidFill>
                  <a:srgbClr val="3F4A5A"/>
                </a:solidFill>
                <a:latin typeface="Calibri"/>
              </a:rPr>
              <a:t>administrador, con TeX Live embebido (Anexo A)</a:t>
            </a:r>
          </a:p>
        </p:txBody>
      </p:sp>
      <p:sp>
        <p:nvSpPr>
          <p:cNvPr id="59" name="Rectangle 58"/>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65150" y="6535420"/>
            <a:ext cx="527437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62" name="TextBox 61"/>
          <p:cNvSpPr txBox="1"/>
          <p:nvPr/>
        </p:nvSpPr>
        <p:spPr>
          <a:xfrm>
            <a:off x="5710746" y="6535420"/>
            <a:ext cx="77044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Demostración</a:t>
            </a:r>
          </a:p>
        </p:txBody>
      </p:sp>
      <p:sp>
        <p:nvSpPr>
          <p:cNvPr id="63" name="TextBox 62"/>
          <p:cNvSpPr txBox="1"/>
          <p:nvPr/>
        </p:nvSpPr>
        <p:spPr>
          <a:xfrm>
            <a:off x="6352350" y="6535420"/>
            <a:ext cx="527450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37</a:t>
            </a:r>
          </a:p>
        </p:txBody>
      </p:sp>
      <p:sp>
        <p:nvSpPr>
          <p:cNvPr id="64"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Enlace a sep-diseno">
            <a:hlinkClick action="ppaction://hlinksldjump" r:id="rId4"/>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nlace a sep-resultados">
            <a:hlinkClick action="ppaction://hlinksldjump" r:id="rId5"/>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Enlace a trazabilidad">
            <a:hlinkClick action="ppaction://hlinksldjump" r:id="rId8"/>
          </p:cNvPr>
          <p:cNvSpPr/>
          <p:nvPr/>
        </p:nvSpPr>
        <p:spPr>
          <a:xfrm>
            <a:off x="7277100" y="2354834"/>
            <a:ext cx="130683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Enlace a ensamblaje">
            <a:hlinkClick action="ppaction://hlinksldjump" r:id="rId9"/>
          </p:cNvPr>
          <p:cNvSpPr/>
          <p:nvPr/>
        </p:nvSpPr>
        <p:spPr>
          <a:xfrm>
            <a:off x="8672830" y="2354834"/>
            <a:ext cx="127108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Enlace a postproceso">
            <a:hlinkClick action="ppaction://hlinksldjump" r:id="rId10"/>
          </p:cNvPr>
          <p:cNvSpPr/>
          <p:nvPr/>
        </p:nvSpPr>
        <p:spPr>
          <a:xfrm>
            <a:off x="7277100" y="2792984"/>
            <a:ext cx="1436497"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Enlace a cook">
            <a:hlinkClick action="ppaction://hlinksldjump" r:id="rId11"/>
          </p:cNvPr>
          <p:cNvSpPr/>
          <p:nvPr/>
        </p:nvSpPr>
        <p:spPr>
          <a:xfrm>
            <a:off x="8802497" y="2792984"/>
            <a:ext cx="1810321"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Enlace a jacobiano">
            <a:hlinkClick action="ppaction://hlinksldjump" r:id="rId12"/>
          </p:cNvPr>
          <p:cNvSpPr/>
          <p:nvPr/>
        </p:nvSpPr>
        <p:spPr>
          <a:xfrm>
            <a:off x="7277100" y="3231134"/>
            <a:ext cx="116967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1" fill="hold">
                      <p:stCondLst>
                        <p:cond delay="indefinite"/>
                        <p:cond evt="onBegin" delay="0">
                          <p:tn val="2"/>
                        </p:cond>
                      </p:stCondLst>
                      <p:childTnLst>
                        <p:par>
                          <p:cTn id="142"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23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23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23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23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23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grpId="0" nodeType="withEffect">
                                  <p:stCondLst>
                                    <p:cond delay="23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par>
                                <p:cTn id="39" presetID="10" presetClass="entr" presetSubtype="0" fill="hold" grpId="0" nodeType="withEffect">
                                  <p:stCondLst>
                                    <p:cond delay="34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50"/>
                                        <p:tgtEl>
                                          <p:spTgt spid="25"/>
                                        </p:tgtEl>
                                      </p:cBhvr>
                                    </p:animEffect>
                                  </p:childTnLst>
                                </p:cTn>
                              </p:par>
                              <p:par>
                                <p:cTn id="42" presetID="10" presetClass="entr" presetSubtype="0" fill="hold" grpId="0" nodeType="withEffect">
                                  <p:stCondLst>
                                    <p:cond delay="34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50"/>
                                        <p:tgtEl>
                                          <p:spTgt spid="26"/>
                                        </p:tgtEl>
                                      </p:cBhvr>
                                    </p:animEffect>
                                  </p:childTnLst>
                                </p:cTn>
                              </p:par>
                              <p:par>
                                <p:cTn id="45" presetID="10" presetClass="entr" presetSubtype="0" fill="hold" grpId="0" nodeType="withEffect">
                                  <p:stCondLst>
                                    <p:cond delay="34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50"/>
                                        <p:tgtEl>
                                          <p:spTgt spid="27"/>
                                        </p:tgtEl>
                                      </p:cBhvr>
                                    </p:animEffect>
                                  </p:childTnLst>
                                </p:cTn>
                              </p:par>
                              <p:par>
                                <p:cTn id="48" presetID="10" presetClass="entr" presetSubtype="0" fill="hold" grpId="0" nodeType="withEffect">
                                  <p:stCondLst>
                                    <p:cond delay="34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50"/>
                                        <p:tgtEl>
                                          <p:spTgt spid="28"/>
                                        </p:tgtEl>
                                      </p:cBhvr>
                                    </p:animEffect>
                                  </p:childTnLst>
                                </p:cTn>
                              </p:par>
                              <p:par>
                                <p:cTn id="51" presetID="10" presetClass="entr" presetSubtype="0" fill="hold" grpId="0" nodeType="withEffect">
                                  <p:stCondLst>
                                    <p:cond delay="34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50"/>
                                        <p:tgtEl>
                                          <p:spTgt spid="29"/>
                                        </p:tgtEl>
                                      </p:cBhvr>
                                    </p:animEffect>
                                  </p:childTnLst>
                                </p:cTn>
                              </p:par>
                              <p:par>
                                <p:cTn id="54" presetID="10" presetClass="entr" presetSubtype="0" fill="hold" grpId="0" nodeType="withEffect">
                                  <p:stCondLst>
                                    <p:cond delay="34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50"/>
                                        <p:tgtEl>
                                          <p:spTgt spid="30"/>
                                        </p:tgtEl>
                                      </p:cBhvr>
                                    </p:animEffect>
                                  </p:childTnLst>
                                </p:cTn>
                              </p:par>
                              <p:par>
                                <p:cTn id="57" presetID="10" presetClass="entr" presetSubtype="0" fill="hold" grpId="0" nodeType="withEffect">
                                  <p:stCondLst>
                                    <p:cond delay="45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50"/>
                                        <p:tgtEl>
                                          <p:spTgt spid="31"/>
                                        </p:tgtEl>
                                      </p:cBhvr>
                                    </p:animEffect>
                                  </p:childTnLst>
                                </p:cTn>
                              </p:par>
                              <p:par>
                                <p:cTn id="60" presetID="10" presetClass="entr" presetSubtype="0" fill="hold" grpId="0" nodeType="withEffect">
                                  <p:stCondLst>
                                    <p:cond delay="45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50"/>
                                        <p:tgtEl>
                                          <p:spTgt spid="32"/>
                                        </p:tgtEl>
                                      </p:cBhvr>
                                    </p:animEffect>
                                  </p:childTnLst>
                                </p:cTn>
                              </p:par>
                              <p:par>
                                <p:cTn id="63" presetID="10" presetClass="entr" presetSubtype="0" fill="hold" grpId="0" nodeType="withEffect">
                                  <p:stCondLst>
                                    <p:cond delay="45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50"/>
                                        <p:tgtEl>
                                          <p:spTgt spid="33"/>
                                        </p:tgtEl>
                                      </p:cBhvr>
                                    </p:animEffect>
                                  </p:childTnLst>
                                </p:cTn>
                              </p:par>
                              <p:par>
                                <p:cTn id="66" presetID="10" presetClass="entr" presetSubtype="0" fill="hold" grpId="0" nodeType="withEffect">
                                  <p:stCondLst>
                                    <p:cond delay="45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50"/>
                                        <p:tgtEl>
                                          <p:spTgt spid="34"/>
                                        </p:tgtEl>
                                      </p:cBhvr>
                                    </p:animEffect>
                                  </p:childTnLst>
                                </p:cTn>
                              </p:par>
                              <p:par>
                                <p:cTn id="69" presetID="10" presetClass="entr" presetSubtype="0" fill="hold" grpId="0" nodeType="withEffect">
                                  <p:stCondLst>
                                    <p:cond delay="45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50"/>
                                        <p:tgtEl>
                                          <p:spTgt spid="35"/>
                                        </p:tgtEl>
                                      </p:cBhvr>
                                    </p:animEffect>
                                  </p:childTnLst>
                                </p:cTn>
                              </p:par>
                              <p:par>
                                <p:cTn id="72" presetID="10" presetClass="entr" presetSubtype="0" fill="hold" grpId="0" nodeType="withEffect">
                                  <p:stCondLst>
                                    <p:cond delay="45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50"/>
                                        <p:tgtEl>
                                          <p:spTgt spid="36"/>
                                        </p:tgtEl>
                                      </p:cBhvr>
                                    </p:animEffect>
                                  </p:childTnLst>
                                </p:cTn>
                              </p:par>
                              <p:par>
                                <p:cTn id="75" presetID="10" presetClass="entr" presetSubtype="0" fill="hold" grpId="0" nodeType="withEffect">
                                  <p:stCondLst>
                                    <p:cond delay="56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50"/>
                                        <p:tgtEl>
                                          <p:spTgt spid="37"/>
                                        </p:tgtEl>
                                      </p:cBhvr>
                                    </p:animEffect>
                                  </p:childTnLst>
                                </p:cTn>
                              </p:par>
                              <p:par>
                                <p:cTn id="78" presetID="10" presetClass="entr" presetSubtype="0" fill="hold" grpId="0" nodeType="withEffect">
                                  <p:stCondLst>
                                    <p:cond delay="56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50"/>
                                        <p:tgtEl>
                                          <p:spTgt spid="38"/>
                                        </p:tgtEl>
                                      </p:cBhvr>
                                    </p:animEffect>
                                  </p:childTnLst>
                                </p:cTn>
                              </p:par>
                              <p:par>
                                <p:cTn id="81" presetID="10" presetClass="entr" presetSubtype="0" fill="hold" grpId="0" nodeType="withEffect">
                                  <p:stCondLst>
                                    <p:cond delay="56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50"/>
                                        <p:tgtEl>
                                          <p:spTgt spid="39"/>
                                        </p:tgtEl>
                                      </p:cBhvr>
                                    </p:animEffect>
                                  </p:childTnLst>
                                </p:cTn>
                              </p:par>
                              <p:par>
                                <p:cTn id="84" presetID="10" presetClass="entr" presetSubtype="0" fill="hold" grpId="0" nodeType="withEffect">
                                  <p:stCondLst>
                                    <p:cond delay="56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50"/>
                                        <p:tgtEl>
                                          <p:spTgt spid="40"/>
                                        </p:tgtEl>
                                      </p:cBhvr>
                                    </p:animEffect>
                                  </p:childTnLst>
                                </p:cTn>
                              </p:par>
                              <p:par>
                                <p:cTn id="87" presetID="10" presetClass="entr" presetSubtype="0" fill="hold" grpId="0" nodeType="withEffect">
                                  <p:stCondLst>
                                    <p:cond delay="56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50"/>
                                        <p:tgtEl>
                                          <p:spTgt spid="41"/>
                                        </p:tgtEl>
                                      </p:cBhvr>
                                    </p:animEffect>
                                  </p:childTnLst>
                                </p:cTn>
                              </p:par>
                              <p:par>
                                <p:cTn id="90" presetID="10" presetClass="entr" presetSubtype="0" fill="hold" grpId="0" nodeType="withEffect">
                                  <p:stCondLst>
                                    <p:cond delay="56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50"/>
                                        <p:tgtEl>
                                          <p:spTgt spid="42"/>
                                        </p:tgtEl>
                                      </p:cBhvr>
                                    </p:animEffect>
                                  </p:childTnLst>
                                </p:cTn>
                              </p:par>
                              <p:par>
                                <p:cTn id="93" presetID="10" presetClass="entr" presetSubtype="0" fill="hold" grpId="0" nodeType="withEffect">
                                  <p:stCondLst>
                                    <p:cond delay="34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50"/>
                                        <p:tgtEl>
                                          <p:spTgt spid="43"/>
                                        </p:tgtEl>
                                      </p:cBhvr>
                                    </p:animEffect>
                                  </p:childTnLst>
                                </p:cTn>
                              </p:par>
                              <p:par>
                                <p:cTn id="96" presetID="10" presetClass="entr" presetSubtype="0" fill="hold" grpId="0" nodeType="withEffect">
                                  <p:stCondLst>
                                    <p:cond delay="34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450"/>
                                        <p:tgtEl>
                                          <p:spTgt spid="44"/>
                                        </p:tgtEl>
                                      </p:cBhvr>
                                    </p:animEffect>
                                  </p:childTnLst>
                                </p:cTn>
                              </p:par>
                              <p:par>
                                <p:cTn id="99" presetID="10" presetClass="entr" presetSubtype="0" fill="hold" grpId="0" nodeType="withEffect">
                                  <p:stCondLst>
                                    <p:cond delay="34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450"/>
                                        <p:tgtEl>
                                          <p:spTgt spid="45"/>
                                        </p:tgtEl>
                                      </p:cBhvr>
                                    </p:animEffect>
                                  </p:childTnLst>
                                </p:cTn>
                              </p:par>
                              <p:par>
                                <p:cTn id="102" presetID="10" presetClass="entr" presetSubtype="0" fill="hold" grpId="0" nodeType="withEffect">
                                  <p:stCondLst>
                                    <p:cond delay="34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450"/>
                                        <p:tgtEl>
                                          <p:spTgt spid="46"/>
                                        </p:tgtEl>
                                      </p:cBhvr>
                                    </p:animEffect>
                                  </p:childTnLst>
                                </p:cTn>
                              </p:par>
                              <p:par>
                                <p:cTn id="105" presetID="10" presetClass="entr" presetSubtype="0" fill="hold" grpId="0" nodeType="withEffect">
                                  <p:stCondLst>
                                    <p:cond delay="34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450"/>
                                        <p:tgtEl>
                                          <p:spTgt spid="47"/>
                                        </p:tgtEl>
                                      </p:cBhvr>
                                    </p:animEffect>
                                  </p:childTnLst>
                                </p:cTn>
                              </p:par>
                              <p:par>
                                <p:cTn id="108" presetID="10" presetClass="entr" presetSubtype="0" fill="hold" grpId="0" nodeType="withEffect">
                                  <p:stCondLst>
                                    <p:cond delay="34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450"/>
                                        <p:tgtEl>
                                          <p:spTgt spid="48"/>
                                        </p:tgtEl>
                                      </p:cBhvr>
                                    </p:animEffect>
                                  </p:childTnLst>
                                </p:cTn>
                              </p:par>
                              <p:par>
                                <p:cTn id="111" presetID="10" presetClass="entr" presetSubtype="0" fill="hold" grpId="0" nodeType="withEffect">
                                  <p:stCondLst>
                                    <p:cond delay="34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450"/>
                                        <p:tgtEl>
                                          <p:spTgt spid="49"/>
                                        </p:tgtEl>
                                      </p:cBhvr>
                                    </p:animEffect>
                                  </p:childTnLst>
                                </p:cTn>
                              </p:par>
                              <p:par>
                                <p:cTn id="114" presetID="10" presetClass="entr" presetSubtype="0" fill="hold" grpId="0" nodeType="withEffect">
                                  <p:stCondLst>
                                    <p:cond delay="340"/>
                                  </p:stCondLst>
                                  <p:childTnLst>
                                    <p:set>
                                      <p:cBhvr>
                                        <p:cTn id="115" dur="1" fill="hold">
                                          <p:stCondLst>
                                            <p:cond delay="0"/>
                                          </p:stCondLst>
                                        </p:cTn>
                                        <p:tgtEl>
                                          <p:spTgt spid="50"/>
                                        </p:tgtEl>
                                        <p:attrNameLst>
                                          <p:attrName>style.visibility</p:attrName>
                                        </p:attrNameLst>
                                      </p:cBhvr>
                                      <p:to>
                                        <p:strVal val="visible"/>
                                      </p:to>
                                    </p:set>
                                    <p:animEffect transition="in" filter="fade">
                                      <p:cBhvr>
                                        <p:cTn id="116" dur="450"/>
                                        <p:tgtEl>
                                          <p:spTgt spid="50"/>
                                        </p:tgtEl>
                                      </p:cBhvr>
                                    </p:animEffect>
                                  </p:childTnLst>
                                </p:cTn>
                              </p:par>
                              <p:par>
                                <p:cTn id="117" presetID="10" presetClass="entr" presetSubtype="0" fill="hold" grpId="0" nodeType="withEffect">
                                  <p:stCondLst>
                                    <p:cond delay="340"/>
                                  </p:stCondLst>
                                  <p:childTnLst>
                                    <p:set>
                                      <p:cBhvr>
                                        <p:cTn id="118" dur="1" fill="hold">
                                          <p:stCondLst>
                                            <p:cond delay="0"/>
                                          </p:stCondLst>
                                        </p:cTn>
                                        <p:tgtEl>
                                          <p:spTgt spid="51"/>
                                        </p:tgtEl>
                                        <p:attrNameLst>
                                          <p:attrName>style.visibility</p:attrName>
                                        </p:attrNameLst>
                                      </p:cBhvr>
                                      <p:to>
                                        <p:strVal val="visible"/>
                                      </p:to>
                                    </p:set>
                                    <p:animEffect transition="in" filter="fade">
                                      <p:cBhvr>
                                        <p:cTn id="119" dur="450"/>
                                        <p:tgtEl>
                                          <p:spTgt spid="51"/>
                                        </p:tgtEl>
                                      </p:cBhvr>
                                    </p:animEffect>
                                  </p:childTnLst>
                                </p:cTn>
                              </p:par>
                              <p:par>
                                <p:cTn id="120" presetID="10" presetClass="entr" presetSubtype="0" fill="hold" grpId="0" nodeType="withEffect">
                                  <p:stCondLst>
                                    <p:cond delay="340"/>
                                  </p:stCondLst>
                                  <p:childTnLst>
                                    <p:set>
                                      <p:cBhvr>
                                        <p:cTn id="121" dur="1" fill="hold">
                                          <p:stCondLst>
                                            <p:cond delay="0"/>
                                          </p:stCondLst>
                                        </p:cTn>
                                        <p:tgtEl>
                                          <p:spTgt spid="52"/>
                                        </p:tgtEl>
                                        <p:attrNameLst>
                                          <p:attrName>style.visibility</p:attrName>
                                        </p:attrNameLst>
                                      </p:cBhvr>
                                      <p:to>
                                        <p:strVal val="visible"/>
                                      </p:to>
                                    </p:set>
                                    <p:animEffect transition="in" filter="fade">
                                      <p:cBhvr>
                                        <p:cTn id="122" dur="450"/>
                                        <p:tgtEl>
                                          <p:spTgt spid="52"/>
                                        </p:tgtEl>
                                      </p:cBhvr>
                                    </p:animEffect>
                                  </p:childTnLst>
                                </p:cTn>
                              </p:par>
                              <p:par>
                                <p:cTn id="123" presetID="10" presetClass="entr" presetSubtype="0" fill="hold" grpId="0" nodeType="withEffect">
                                  <p:stCondLst>
                                    <p:cond delay="340"/>
                                  </p:stCondLst>
                                  <p:childTnLst>
                                    <p:set>
                                      <p:cBhvr>
                                        <p:cTn id="124" dur="1" fill="hold">
                                          <p:stCondLst>
                                            <p:cond delay="0"/>
                                          </p:stCondLst>
                                        </p:cTn>
                                        <p:tgtEl>
                                          <p:spTgt spid="53"/>
                                        </p:tgtEl>
                                        <p:attrNameLst>
                                          <p:attrName>style.visibility</p:attrName>
                                        </p:attrNameLst>
                                      </p:cBhvr>
                                      <p:to>
                                        <p:strVal val="visible"/>
                                      </p:to>
                                    </p:set>
                                    <p:animEffect transition="in" filter="fade">
                                      <p:cBhvr>
                                        <p:cTn id="125" dur="450"/>
                                        <p:tgtEl>
                                          <p:spTgt spid="53"/>
                                        </p:tgtEl>
                                      </p:cBhvr>
                                    </p:animEffect>
                                  </p:childTnLst>
                                </p:cTn>
                              </p:par>
                              <p:par>
                                <p:cTn id="126" presetID="10" presetClass="entr" presetSubtype="0" fill="hold" grpId="0" nodeType="withEffect">
                                  <p:stCondLst>
                                    <p:cond delay="340"/>
                                  </p:stCondLst>
                                  <p:childTnLst>
                                    <p:set>
                                      <p:cBhvr>
                                        <p:cTn id="127" dur="1" fill="hold">
                                          <p:stCondLst>
                                            <p:cond delay="0"/>
                                          </p:stCondLst>
                                        </p:cTn>
                                        <p:tgtEl>
                                          <p:spTgt spid="54"/>
                                        </p:tgtEl>
                                        <p:attrNameLst>
                                          <p:attrName>style.visibility</p:attrName>
                                        </p:attrNameLst>
                                      </p:cBhvr>
                                      <p:to>
                                        <p:strVal val="visible"/>
                                      </p:to>
                                    </p:set>
                                    <p:animEffect transition="in" filter="fade">
                                      <p:cBhvr>
                                        <p:cTn id="128" dur="450"/>
                                        <p:tgtEl>
                                          <p:spTgt spid="54"/>
                                        </p:tgtEl>
                                      </p:cBhvr>
                                    </p:animEffect>
                                  </p:childTnLst>
                                </p:cTn>
                              </p:par>
                              <p:par>
                                <p:cTn id="129" presetID="10" presetClass="entr" presetSubtype="0" fill="hold" grpId="0" nodeType="withEffect">
                                  <p:stCondLst>
                                    <p:cond delay="340"/>
                                  </p:stCondLst>
                                  <p:childTnLst>
                                    <p:set>
                                      <p:cBhvr>
                                        <p:cTn id="130" dur="1" fill="hold">
                                          <p:stCondLst>
                                            <p:cond delay="0"/>
                                          </p:stCondLst>
                                        </p:cTn>
                                        <p:tgtEl>
                                          <p:spTgt spid="55"/>
                                        </p:tgtEl>
                                        <p:attrNameLst>
                                          <p:attrName>style.visibility</p:attrName>
                                        </p:attrNameLst>
                                      </p:cBhvr>
                                      <p:to>
                                        <p:strVal val="visible"/>
                                      </p:to>
                                    </p:set>
                                    <p:animEffect transition="in" filter="fade">
                                      <p:cBhvr>
                                        <p:cTn id="131" dur="450"/>
                                        <p:tgtEl>
                                          <p:spTgt spid="55"/>
                                        </p:tgtEl>
                                      </p:cBhvr>
                                    </p:animEffect>
                                  </p:childTnLst>
                                </p:cTn>
                              </p:par>
                              <p:par>
                                <p:cTn id="132" presetID="10" presetClass="entr" presetSubtype="0" fill="hold" grpId="0" nodeType="withEffect">
                                  <p:stCondLst>
                                    <p:cond delay="450"/>
                                  </p:stCondLst>
                                  <p:childTnLst>
                                    <p:set>
                                      <p:cBhvr>
                                        <p:cTn id="133" dur="1" fill="hold">
                                          <p:stCondLst>
                                            <p:cond delay="0"/>
                                          </p:stCondLst>
                                        </p:cTn>
                                        <p:tgtEl>
                                          <p:spTgt spid="56"/>
                                        </p:tgtEl>
                                        <p:attrNameLst>
                                          <p:attrName>style.visibility</p:attrName>
                                        </p:attrNameLst>
                                      </p:cBhvr>
                                      <p:to>
                                        <p:strVal val="visible"/>
                                      </p:to>
                                    </p:set>
                                    <p:animEffect transition="in" filter="fade">
                                      <p:cBhvr>
                                        <p:cTn id="134" dur="450"/>
                                        <p:tgtEl>
                                          <p:spTgt spid="56"/>
                                        </p:tgtEl>
                                      </p:cBhvr>
                                    </p:animEffect>
                                  </p:childTnLst>
                                </p:cTn>
                              </p:par>
                              <p:par>
                                <p:cTn id="135" presetID="10" presetClass="entr" presetSubtype="0" fill="hold" grpId="0" nodeType="withEffect">
                                  <p:stCondLst>
                                    <p:cond delay="450"/>
                                  </p:stCondLst>
                                  <p:childTnLst>
                                    <p:set>
                                      <p:cBhvr>
                                        <p:cTn id="136" dur="1" fill="hold">
                                          <p:stCondLst>
                                            <p:cond delay="0"/>
                                          </p:stCondLst>
                                        </p:cTn>
                                        <p:tgtEl>
                                          <p:spTgt spid="57"/>
                                        </p:tgtEl>
                                        <p:attrNameLst>
                                          <p:attrName>style.visibility</p:attrName>
                                        </p:attrNameLst>
                                      </p:cBhvr>
                                      <p:to>
                                        <p:strVal val="visible"/>
                                      </p:to>
                                    </p:set>
                                    <p:animEffect transition="in" filter="fade">
                                      <p:cBhvr>
                                        <p:cTn id="137" dur="450"/>
                                        <p:tgtEl>
                                          <p:spTgt spid="57"/>
                                        </p:tgtEl>
                                      </p:cBhvr>
                                    </p:animEffect>
                                  </p:childTnLst>
                                </p:cTn>
                              </p:par>
                              <p:par>
                                <p:cTn id="138" presetID="10" presetClass="entr" presetSubtype="0" fill="hold" grpId="0" nodeType="withEffect">
                                  <p:stCondLst>
                                    <p:cond delay="450"/>
                                  </p:stCondLst>
                                  <p:childTnLst>
                                    <p:set>
                                      <p:cBhvr>
                                        <p:cTn id="139" dur="1" fill="hold">
                                          <p:stCondLst>
                                            <p:cond delay="0"/>
                                          </p:stCondLst>
                                        </p:cTn>
                                        <p:tgtEl>
                                          <p:spTgt spid="58"/>
                                        </p:tgtEl>
                                        <p:attrNameLst>
                                          <p:attrName>style.visibility</p:attrName>
                                        </p:attrNameLst>
                                      </p:cBhvr>
                                      <p:to>
                                        <p:strVal val="visible"/>
                                      </p:to>
                                    </p:set>
                                    <p:animEffect transition="in" filter="fade">
                                      <p:cBhvr>
                                        <p:cTn id="140" dur="4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Picture 1"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52500" y="2117280"/>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04</a:t>
            </a:r>
          </a:p>
        </p:txBody>
      </p:sp>
      <p:sp>
        <p:nvSpPr>
          <p:cNvPr id="4" name="Rectangle 3"/>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Presentación de resultados</a:t>
            </a:r>
          </a:p>
        </p:txBody>
      </p:sp>
      <p:sp>
        <p:nvSpPr>
          <p:cNvPr id="7" name="Rectangle 6"/>
          <p:cNvSpPr/>
          <p:nvPr/>
        </p:nvSpPr>
        <p:spPr>
          <a:xfrm>
            <a:off x="3111500" y="2567876"/>
            <a:ext cx="8128000" cy="8685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11500" y="2567876"/>
            <a:ext cx="38100" cy="868553"/>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5200" y="2731668"/>
            <a:ext cx="7888986" cy="62738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La verificación, la consistencia interna, las dos validaciones externas y la</a:t>
            </a:r>
            <a:br/>
            <a:r>
              <a:rPr sz="1900" b="0" i="0">
                <a:solidFill>
                  <a:srgbClr val="C7D2E8"/>
                </a:solidFill>
                <a:latin typeface="Calibri"/>
              </a:rPr>
              <a:t>cobertura del procedimiento y del contenido.</a:t>
            </a:r>
          </a:p>
        </p:txBody>
      </p:sp>
      <p:sp>
        <p:nvSpPr>
          <p:cNvPr id="10" name="Rounded Rectangle 9"/>
          <p:cNvSpPr/>
          <p:nvPr/>
        </p:nvSpPr>
        <p:spPr>
          <a:xfrm>
            <a:off x="95567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96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01</a:t>
            </a:r>
            <a:br/>
            <a:r>
              <a:rPr sz="1100" b="0" i="0">
                <a:solidFill>
                  <a:srgbClr val="E6ECF7"/>
                </a:solidFill>
                <a:latin typeface="Calibri"/>
              </a:rPr>
              <a:t>Introducción</a:t>
            </a:r>
          </a:p>
        </p:txBody>
      </p:sp>
      <p:sp>
        <p:nvSpPr>
          <p:cNvPr id="12" name="Rounded Rectangle 11"/>
          <p:cNvSpPr/>
          <p:nvPr/>
        </p:nvSpPr>
        <p:spPr>
          <a:xfrm>
            <a:off x="268922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02</a:t>
            </a:r>
            <a:br/>
            <a:r>
              <a:rPr sz="1100" b="0" i="0">
                <a:solidFill>
                  <a:srgbClr val="E6ECF7"/>
                </a:solidFill>
                <a:latin typeface="Calibri"/>
              </a:rPr>
              <a:t>Base teórica</a:t>
            </a:r>
          </a:p>
        </p:txBody>
      </p:sp>
      <p:sp>
        <p:nvSpPr>
          <p:cNvPr id="14" name="Rounded Rectangle 13"/>
          <p:cNvSpPr/>
          <p:nvPr/>
        </p:nvSpPr>
        <p:spPr>
          <a:xfrm>
            <a:off x="442277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67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03</a:t>
            </a:r>
            <a:br/>
            <a:r>
              <a:rPr sz="1100" b="0" i="0">
                <a:solidFill>
                  <a:srgbClr val="E6ECF7"/>
                </a:solidFill>
                <a:latin typeface="Calibri"/>
              </a:rPr>
              <a:t>Diseño y desarrollo</a:t>
            </a:r>
          </a:p>
        </p:txBody>
      </p:sp>
      <p:sp>
        <p:nvSpPr>
          <p:cNvPr id="16" name="Rounded Rectangle 15"/>
          <p:cNvSpPr/>
          <p:nvPr/>
        </p:nvSpPr>
        <p:spPr>
          <a:xfrm>
            <a:off x="6153150" y="5671947"/>
            <a:ext cx="1619250" cy="576453"/>
          </a:xfrm>
          <a:prstGeom prst="roundRect">
            <a:avLst>
              <a:gd name="adj" fmla="val 11015"/>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03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04</a:t>
            </a:r>
            <a:br/>
            <a:r>
              <a:rPr sz="1100" b="1" i="0">
                <a:solidFill>
                  <a:srgbClr val="FFFFFF"/>
                </a:solidFill>
                <a:latin typeface="Calibri"/>
              </a:rPr>
              <a:t>Resultados</a:t>
            </a:r>
          </a:p>
        </p:txBody>
      </p:sp>
      <p:sp>
        <p:nvSpPr>
          <p:cNvPr id="18" name="Rounded Rectangle 17"/>
          <p:cNvSpPr/>
          <p:nvPr/>
        </p:nvSpPr>
        <p:spPr>
          <a:xfrm>
            <a:off x="788987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438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05</a:t>
            </a:r>
            <a:br/>
            <a:r>
              <a:rPr sz="1100" b="0" i="0">
                <a:solidFill>
                  <a:srgbClr val="C7D2E8"/>
                </a:solidFill>
                <a:latin typeface="Calibri"/>
              </a:rPr>
              <a:t>Análisis</a:t>
            </a:r>
          </a:p>
        </p:txBody>
      </p:sp>
      <p:sp>
        <p:nvSpPr>
          <p:cNvPr id="20" name="Rounded Rectangle 19"/>
          <p:cNvSpPr/>
          <p:nvPr/>
        </p:nvSpPr>
        <p:spPr>
          <a:xfrm>
            <a:off x="962342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774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06</a:t>
            </a:r>
            <a:br/>
            <a:r>
              <a:rPr sz="1100" b="0" i="0">
                <a:solidFill>
                  <a:srgbClr val="C7D2E8"/>
                </a:solidFill>
                <a:latin typeface="Calibri"/>
              </a:rPr>
              <a:t>Conclusiones</a:t>
            </a:r>
          </a:p>
        </p:txBody>
      </p:sp>
      <p:sp>
        <p:nvSpPr>
          <p:cNvPr id="22" name="Enlace a sep-intro">
            <a:hlinkClick action="ppaction://hlinksldjump" r:id="rId3"/>
          </p:cNvPr>
          <p:cNvSpPr/>
          <p:nvPr/>
        </p:nvSpPr>
        <p:spPr>
          <a:xfrm>
            <a:off x="9525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nlace a sep-teoria">
            <a:hlinkClick action="ppaction://hlinksldjump" r:id="rId4"/>
          </p:cNvPr>
          <p:cNvSpPr/>
          <p:nvPr/>
        </p:nvSpPr>
        <p:spPr>
          <a:xfrm>
            <a:off x="26860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nlace a sep-diseno">
            <a:hlinkClick action="ppaction://hlinksldjump" r:id="rId5"/>
          </p:cNvPr>
          <p:cNvSpPr/>
          <p:nvPr/>
        </p:nvSpPr>
        <p:spPr>
          <a:xfrm>
            <a:off x="44196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nlace a sep-resultados">
            <a:hlinkClick action="ppaction://hlinksldjump" r:id="rId6"/>
          </p:cNvPr>
          <p:cNvSpPr/>
          <p:nvPr/>
        </p:nvSpPr>
        <p:spPr>
          <a:xfrm>
            <a:off x="61531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nlace a sep-analisis">
            <a:hlinkClick action="ppaction://hlinksldjump" r:id="rId7"/>
          </p:cNvPr>
          <p:cNvSpPr/>
          <p:nvPr/>
        </p:nvSpPr>
        <p:spPr>
          <a:xfrm>
            <a:off x="78867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nlace a sep-conclusiones">
            <a:hlinkClick action="ppaction://hlinksldjump" r:id="rId8"/>
          </p:cNvPr>
          <p:cNvSpPr/>
          <p:nvPr/>
        </p:nvSpPr>
        <p:spPr>
          <a:xfrm>
            <a:off x="96202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2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2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5" presetID="10" presetClass="entr" presetSubtype="0" fill="hold" grpId="0" nodeType="withEffect">
                                  <p:stCondLst>
                                    <p:cond delay="34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34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4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4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45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4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45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45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45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04</a:t>
            </a:r>
          </a:p>
        </p:txBody>
      </p:sp>
      <p:sp>
        <p:nvSpPr>
          <p:cNvPr id="4" name="TextBox 3"/>
          <p:cNvSpPr txBox="1"/>
          <p:nvPr/>
        </p:nvSpPr>
        <p:spPr>
          <a:xfrm>
            <a:off x="898398" y="282141"/>
            <a:ext cx="215950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Presentación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Verificación: el error cae con la tasa que predice la teoría</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1598bdee24c80132.png"/>
          <p:cNvPicPr>
            <a:picLocks noChangeAspect="1"/>
          </p:cNvPicPr>
          <p:nvPr/>
        </p:nvPicPr>
        <p:blipFill>
          <a:blip r:embed="rId2"/>
          <a:stretch>
            <a:fillRect/>
          </a:stretch>
        </p:blipFill>
        <p:spPr>
          <a:xfrm>
            <a:off x="635000" y="1435100"/>
            <a:ext cx="6731000" cy="3810000"/>
          </a:xfrm>
          <a:prstGeom prst="rect">
            <a:avLst/>
          </a:prstGeom>
        </p:spPr>
      </p:pic>
      <p:sp>
        <p:nvSpPr>
          <p:cNvPr id="14" name="TextBox 13"/>
          <p:cNvSpPr txBox="1"/>
          <p:nvPr/>
        </p:nvSpPr>
        <p:spPr>
          <a:xfrm>
            <a:off x="567690" y="5274424"/>
            <a:ext cx="686562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3F4A5A"/>
                </a:solidFill>
                <a:latin typeface="Calibri"/>
              </a:rPr>
              <a:t>Norma L² del desplazamiento · Distorsionado · deformación plana</a:t>
            </a:r>
          </a:p>
        </p:txBody>
      </p:sp>
      <p:pic>
        <p:nvPicPr>
          <p:cNvPr id="15" name="Picture 14" descr="2f1ff08f7ab3f7c6.png"/>
          <p:cNvPicPr>
            <a:picLocks noChangeAspect="1"/>
          </p:cNvPicPr>
          <p:nvPr/>
        </p:nvPicPr>
        <p:blipFill>
          <a:blip r:embed="rId3"/>
          <a:stretch>
            <a:fillRect/>
          </a:stretch>
        </p:blipFill>
        <p:spPr>
          <a:xfrm>
            <a:off x="635000" y="1435100"/>
            <a:ext cx="6731000" cy="3810000"/>
          </a:xfrm>
          <a:prstGeom prst="rect">
            <a:avLst/>
          </a:prstGeom>
        </p:spPr>
      </p:pic>
      <p:sp>
        <p:nvSpPr>
          <p:cNvPr id="16" name="TextBox 15"/>
          <p:cNvSpPr txBox="1"/>
          <p:nvPr/>
        </p:nvSpPr>
        <p:spPr>
          <a:xfrm>
            <a:off x="567690" y="5274424"/>
            <a:ext cx="686562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3F4A5A"/>
                </a:solidFill>
                <a:latin typeface="Calibri"/>
              </a:rPr>
              <a:t>Norma L² de la tensión recuperada σ* · Cuadrado · tensión plana ·</a:t>
            </a:r>
            <a:r>
              <a:rPr sz="1200" b="1" i="0">
                <a:solidFill>
                  <a:srgbClr val="5B6575"/>
                </a:solidFill>
                <a:latin typeface="Calibri"/>
              </a:rPr>
              <a:t> se reporta; no es criterio de la hipótesis</a:t>
            </a:r>
          </a:p>
        </p:txBody>
      </p:sp>
      <p:pic>
        <p:nvPicPr>
          <p:cNvPr id="17" name="Picture 16" descr="1f151d785197cfe9.png"/>
          <p:cNvPicPr>
            <a:picLocks noChangeAspect="1"/>
          </p:cNvPicPr>
          <p:nvPr/>
        </p:nvPicPr>
        <p:blipFill>
          <a:blip r:embed="rId4"/>
          <a:stretch>
            <a:fillRect/>
          </a:stretch>
        </p:blipFill>
        <p:spPr>
          <a:xfrm>
            <a:off x="635000" y="1435100"/>
            <a:ext cx="6731000" cy="3810000"/>
          </a:xfrm>
          <a:prstGeom prst="rect">
            <a:avLst/>
          </a:prstGeom>
        </p:spPr>
      </p:pic>
      <p:sp>
        <p:nvSpPr>
          <p:cNvPr id="18" name="TextBox 17"/>
          <p:cNvSpPr txBox="1"/>
          <p:nvPr/>
        </p:nvSpPr>
        <p:spPr>
          <a:xfrm>
            <a:off x="567690" y="5274424"/>
            <a:ext cx="686562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3F4A5A"/>
                </a:solidFill>
                <a:latin typeface="Calibri"/>
              </a:rPr>
              <a:t>Seminorma H¹ del desplazamiento · Cuadrado · tensión plana</a:t>
            </a:r>
          </a:p>
        </p:txBody>
      </p:sp>
      <p:pic>
        <p:nvPicPr>
          <p:cNvPr id="19" name="Picture 18" descr="eebbc59b0cc87472.png"/>
          <p:cNvPicPr>
            <a:picLocks noChangeAspect="1"/>
          </p:cNvPicPr>
          <p:nvPr/>
        </p:nvPicPr>
        <p:blipFill>
          <a:blip r:embed="rId5"/>
          <a:stretch>
            <a:fillRect/>
          </a:stretch>
        </p:blipFill>
        <p:spPr>
          <a:xfrm>
            <a:off x="635000" y="1435100"/>
            <a:ext cx="6731000" cy="3810000"/>
          </a:xfrm>
          <a:prstGeom prst="rect">
            <a:avLst/>
          </a:prstGeom>
        </p:spPr>
      </p:pic>
      <p:sp>
        <p:nvSpPr>
          <p:cNvPr id="20" name="TextBox 19"/>
          <p:cNvSpPr txBox="1"/>
          <p:nvPr/>
        </p:nvSpPr>
        <p:spPr>
          <a:xfrm>
            <a:off x="567690" y="5274424"/>
            <a:ext cx="686562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3F4A5A"/>
                </a:solidFill>
                <a:latin typeface="Calibri"/>
              </a:rPr>
              <a:t>Norma L² del desplazamiento · Cuadrado · tensión plana</a:t>
            </a:r>
          </a:p>
        </p:txBody>
      </p:sp>
      <p:sp>
        <p:nvSpPr>
          <p:cNvPr id="21" name="TextBox 20"/>
          <p:cNvSpPr txBox="1"/>
          <p:nvPr/>
        </p:nvSpPr>
        <p:spPr>
          <a:xfrm>
            <a:off x="7683500" y="1436642"/>
            <a:ext cx="3950970" cy="124016"/>
          </a:xfrm>
          <a:prstGeom prst="rect">
            <a:avLst/>
          </a:prstGeom>
          <a:noFill/>
        </p:spPr>
        <p:txBody>
          <a:bodyPr wrap="square" lIns="0" rIns="0" tIns="0" bIns="0" anchor="t"/>
          <a:lstStyle/>
          <a:p>
            <a:pPr algn="l">
              <a:lnSpc>
                <a:spcPts val="976"/>
              </a:lnSpc>
              <a:spcBef>
                <a:spcPts val="0"/>
              </a:spcBef>
              <a:spcAft>
                <a:spcPts val="0"/>
              </a:spcAft>
            </a:pPr>
            <a:r>
              <a:rPr sz="800" b="0" i="0">
                <a:solidFill>
                  <a:srgbClr val="1F2937"/>
                </a:solidFill>
                <a:latin typeface="Calibri"/>
              </a:rPr>
              <a:t>Tasas asintóticas (N = 16 → 32)</a:t>
            </a:r>
          </a:p>
        </p:txBody>
      </p:sp>
      <p:sp>
        <p:nvSpPr>
          <p:cNvPr id="22" name="Rectangle 21"/>
          <p:cNvSpPr/>
          <p:nvPr/>
        </p:nvSpPr>
        <p:spPr>
          <a:xfrm>
            <a:off x="7683500" y="1606550"/>
            <a:ext cx="73768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3500" y="1955800"/>
            <a:ext cx="73768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21180" y="1606550"/>
            <a:ext cx="1004697"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21180" y="1955800"/>
            <a:ext cx="1004697"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84680" y="1700362"/>
            <a:ext cx="826897"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L²</a:t>
            </a:r>
          </a:p>
        </p:txBody>
      </p:sp>
      <p:sp>
        <p:nvSpPr>
          <p:cNvPr id="27" name="Rectangle 26"/>
          <p:cNvSpPr/>
          <p:nvPr/>
        </p:nvSpPr>
        <p:spPr>
          <a:xfrm>
            <a:off x="9425876" y="1606550"/>
            <a:ext cx="1004697"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425876" y="1955800"/>
            <a:ext cx="1004697"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89376" y="1700362"/>
            <a:ext cx="826897"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H¹</a:t>
            </a:r>
          </a:p>
        </p:txBody>
      </p:sp>
      <p:sp>
        <p:nvSpPr>
          <p:cNvPr id="30" name="Rectangle 29"/>
          <p:cNvSpPr/>
          <p:nvPr/>
        </p:nvSpPr>
        <p:spPr>
          <a:xfrm>
            <a:off x="10430574" y="1606550"/>
            <a:ext cx="112642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430574" y="1955800"/>
            <a:ext cx="11264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94074" y="1700362"/>
            <a:ext cx="94862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σ*</a:t>
            </a:r>
          </a:p>
        </p:txBody>
      </p:sp>
      <p:sp>
        <p:nvSpPr>
          <p:cNvPr id="33" name="Rectangle 32"/>
          <p:cNvSpPr/>
          <p:nvPr/>
        </p:nvSpPr>
        <p:spPr>
          <a:xfrm>
            <a:off x="7683500" y="1974850"/>
            <a:ext cx="737680" cy="5889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83500" y="2557462"/>
            <a:ext cx="7376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97800" y="2150300"/>
            <a:ext cx="559880" cy="238125"/>
          </a:xfrm>
          <a:prstGeom prst="rect">
            <a:avLst/>
          </a:prstGeom>
          <a:noFill/>
        </p:spPr>
        <p:txBody>
          <a:bodyPr wrap="square" lIns="0" rIns="0" tIns="0" bIns="0" anchor="t"/>
          <a:lstStyle/>
          <a:p>
            <a:pPr algn="l">
              <a:lnSpc>
                <a:spcPts val="1875"/>
              </a:lnSpc>
              <a:spcBef>
                <a:spcPts val="0"/>
              </a:spcBef>
              <a:spcAft>
                <a:spcPts val="0"/>
              </a:spcAft>
            </a:pPr>
            <a:r>
              <a:rPr sz="1500" b="1" i="0">
                <a:solidFill>
                  <a:srgbClr val="1F77B4"/>
                </a:solidFill>
                <a:latin typeface="Calibri"/>
              </a:rPr>
              <a:t>Q4</a:t>
            </a:r>
          </a:p>
        </p:txBody>
      </p:sp>
      <p:sp>
        <p:nvSpPr>
          <p:cNvPr id="36" name="Rectangle 35"/>
          <p:cNvSpPr/>
          <p:nvPr/>
        </p:nvSpPr>
        <p:spPr>
          <a:xfrm>
            <a:off x="8421180" y="1974850"/>
            <a:ext cx="1004697" cy="5889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21180" y="2557462"/>
            <a:ext cx="100469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84680" y="2064385"/>
            <a:ext cx="826897" cy="269875"/>
          </a:xfrm>
          <a:prstGeom prst="rect">
            <a:avLst/>
          </a:prstGeom>
          <a:noFill/>
        </p:spPr>
        <p:txBody>
          <a:bodyPr wrap="square" lIns="0" rIns="0" tIns="0" bIns="0" anchor="t"/>
          <a:lstStyle/>
          <a:p>
            <a:pPr algn="r">
              <a:lnSpc>
                <a:spcPts val="2125"/>
              </a:lnSpc>
              <a:spcBef>
                <a:spcPts val="0"/>
              </a:spcBef>
              <a:spcAft>
                <a:spcPts val="0"/>
              </a:spcAft>
            </a:pPr>
            <a:r>
              <a:rPr sz="1700" b="1" i="0">
                <a:solidFill>
                  <a:srgbClr val="1F2937"/>
                </a:solidFill>
                <a:latin typeface="Calibri"/>
              </a:rPr>
              <a:t>2,00</a:t>
            </a:r>
          </a:p>
        </p:txBody>
      </p:sp>
      <p:sp>
        <p:nvSpPr>
          <p:cNvPr id="39" name="TextBox 38"/>
          <p:cNvSpPr txBox="1"/>
          <p:nvPr/>
        </p:nvSpPr>
        <p:spPr>
          <a:xfrm>
            <a:off x="8484680" y="2335562"/>
            <a:ext cx="826897" cy="134938"/>
          </a:xfrm>
          <a:prstGeom prst="rect">
            <a:avLst/>
          </a:prstGeom>
          <a:noFill/>
        </p:spPr>
        <p:txBody>
          <a:bodyPr wrap="square" lIns="0" rIns="0" tIns="0" bIns="0" anchor="t"/>
          <a:lstStyle/>
          <a:p>
            <a:pPr algn="r">
              <a:lnSpc>
                <a:spcPts val="1062"/>
              </a:lnSpc>
              <a:spcBef>
                <a:spcPts val="0"/>
              </a:spcBef>
              <a:spcAft>
                <a:spcPts val="0"/>
              </a:spcAft>
            </a:pPr>
            <a:r>
              <a:rPr sz="850" b="1" i="0">
                <a:solidFill>
                  <a:srgbClr val="5B6575"/>
                </a:solidFill>
                <a:latin typeface="Calibri"/>
              </a:rPr>
              <a:t>teórica 2</a:t>
            </a:r>
          </a:p>
        </p:txBody>
      </p:sp>
      <p:sp>
        <p:nvSpPr>
          <p:cNvPr id="40" name="Rectangle 39"/>
          <p:cNvSpPr/>
          <p:nvPr/>
        </p:nvSpPr>
        <p:spPr>
          <a:xfrm>
            <a:off x="9425876" y="1974850"/>
            <a:ext cx="1004697" cy="5889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25876" y="2557462"/>
            <a:ext cx="100469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89376" y="2064385"/>
            <a:ext cx="826897" cy="269875"/>
          </a:xfrm>
          <a:prstGeom prst="rect">
            <a:avLst/>
          </a:prstGeom>
          <a:noFill/>
        </p:spPr>
        <p:txBody>
          <a:bodyPr wrap="square" lIns="0" rIns="0" tIns="0" bIns="0" anchor="t"/>
          <a:lstStyle/>
          <a:p>
            <a:pPr algn="r">
              <a:lnSpc>
                <a:spcPts val="2125"/>
              </a:lnSpc>
              <a:spcBef>
                <a:spcPts val="0"/>
              </a:spcBef>
              <a:spcAft>
                <a:spcPts val="0"/>
              </a:spcAft>
            </a:pPr>
            <a:r>
              <a:rPr sz="1700" b="1" i="0">
                <a:solidFill>
                  <a:srgbClr val="1F2937"/>
                </a:solidFill>
                <a:latin typeface="Calibri"/>
              </a:rPr>
              <a:t>1,00</a:t>
            </a:r>
          </a:p>
        </p:txBody>
      </p:sp>
      <p:sp>
        <p:nvSpPr>
          <p:cNvPr id="43" name="TextBox 42"/>
          <p:cNvSpPr txBox="1"/>
          <p:nvPr/>
        </p:nvSpPr>
        <p:spPr>
          <a:xfrm>
            <a:off x="9489376" y="2335562"/>
            <a:ext cx="826897" cy="134938"/>
          </a:xfrm>
          <a:prstGeom prst="rect">
            <a:avLst/>
          </a:prstGeom>
          <a:noFill/>
        </p:spPr>
        <p:txBody>
          <a:bodyPr wrap="square" lIns="0" rIns="0" tIns="0" bIns="0" anchor="t"/>
          <a:lstStyle/>
          <a:p>
            <a:pPr algn="r">
              <a:lnSpc>
                <a:spcPts val="1062"/>
              </a:lnSpc>
              <a:spcBef>
                <a:spcPts val="0"/>
              </a:spcBef>
              <a:spcAft>
                <a:spcPts val="0"/>
              </a:spcAft>
            </a:pPr>
            <a:r>
              <a:rPr sz="850" b="1" i="0">
                <a:solidFill>
                  <a:srgbClr val="5B6575"/>
                </a:solidFill>
                <a:latin typeface="Calibri"/>
              </a:rPr>
              <a:t>teórica 1</a:t>
            </a:r>
          </a:p>
        </p:txBody>
      </p:sp>
      <p:sp>
        <p:nvSpPr>
          <p:cNvPr id="44" name="Rectangle 43"/>
          <p:cNvSpPr/>
          <p:nvPr/>
        </p:nvSpPr>
        <p:spPr>
          <a:xfrm>
            <a:off x="10430574" y="1974850"/>
            <a:ext cx="1126426" cy="5889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430574" y="2557462"/>
            <a:ext cx="11264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94074" y="2064385"/>
            <a:ext cx="948626" cy="269875"/>
          </a:xfrm>
          <a:prstGeom prst="rect">
            <a:avLst/>
          </a:prstGeom>
          <a:noFill/>
        </p:spPr>
        <p:txBody>
          <a:bodyPr wrap="square" lIns="0" rIns="0" tIns="0" bIns="0" anchor="t"/>
          <a:lstStyle/>
          <a:p>
            <a:pPr algn="r">
              <a:lnSpc>
                <a:spcPts val="2125"/>
              </a:lnSpc>
              <a:spcBef>
                <a:spcPts val="0"/>
              </a:spcBef>
              <a:spcAft>
                <a:spcPts val="0"/>
              </a:spcAft>
            </a:pPr>
            <a:r>
              <a:rPr sz="1700" b="1" i="0">
                <a:solidFill>
                  <a:srgbClr val="1F2937"/>
                </a:solidFill>
                <a:latin typeface="Calibri"/>
              </a:rPr>
              <a:t>1,53</a:t>
            </a:r>
          </a:p>
        </p:txBody>
      </p:sp>
      <p:sp>
        <p:nvSpPr>
          <p:cNvPr id="47" name="TextBox 46"/>
          <p:cNvSpPr txBox="1"/>
          <p:nvPr/>
        </p:nvSpPr>
        <p:spPr>
          <a:xfrm>
            <a:off x="10494074" y="2064385"/>
            <a:ext cx="948626" cy="269875"/>
          </a:xfrm>
          <a:prstGeom prst="rect">
            <a:avLst/>
          </a:prstGeom>
          <a:noFill/>
        </p:spPr>
        <p:txBody>
          <a:bodyPr wrap="square" lIns="0" rIns="0" tIns="0" bIns="0" anchor="t"/>
          <a:lstStyle/>
          <a:p>
            <a:pPr algn="r">
              <a:lnSpc>
                <a:spcPts val="2125"/>
              </a:lnSpc>
              <a:spcBef>
                <a:spcPts val="0"/>
              </a:spcBef>
              <a:spcAft>
                <a:spcPts val="0"/>
              </a:spcAft>
            </a:pPr>
            <a:r>
              <a:rPr sz="1700" b="1" i="0">
                <a:solidFill>
                  <a:srgbClr val="1F2937"/>
                </a:solidFill>
                <a:latin typeface="Calibri"/>
              </a:rPr>
              <a:t>1,54</a:t>
            </a:r>
          </a:p>
        </p:txBody>
      </p:sp>
      <p:sp>
        <p:nvSpPr>
          <p:cNvPr id="48" name="TextBox 47"/>
          <p:cNvSpPr txBox="1"/>
          <p:nvPr/>
        </p:nvSpPr>
        <p:spPr>
          <a:xfrm>
            <a:off x="10494074" y="2335562"/>
            <a:ext cx="948626" cy="134938"/>
          </a:xfrm>
          <a:prstGeom prst="rect">
            <a:avLst/>
          </a:prstGeom>
          <a:noFill/>
        </p:spPr>
        <p:txBody>
          <a:bodyPr wrap="square" lIns="0" rIns="0" tIns="0" bIns="0" anchor="t"/>
          <a:lstStyle/>
          <a:p>
            <a:pPr algn="r">
              <a:lnSpc>
                <a:spcPts val="1062"/>
              </a:lnSpc>
              <a:spcBef>
                <a:spcPts val="0"/>
              </a:spcBef>
              <a:spcAft>
                <a:spcPts val="0"/>
              </a:spcAft>
            </a:pPr>
            <a:r>
              <a:rPr sz="850" b="1" i="0">
                <a:solidFill>
                  <a:srgbClr val="5B6575"/>
                </a:solidFill>
                <a:latin typeface="Calibri"/>
              </a:rPr>
              <a:t>observada</a:t>
            </a:r>
          </a:p>
        </p:txBody>
      </p:sp>
      <p:sp>
        <p:nvSpPr>
          <p:cNvPr id="49" name="Rectangle 48"/>
          <p:cNvSpPr/>
          <p:nvPr/>
        </p:nvSpPr>
        <p:spPr>
          <a:xfrm>
            <a:off x="7683500" y="2563812"/>
            <a:ext cx="737680" cy="5889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683500" y="3146425"/>
            <a:ext cx="7376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97800" y="2739263"/>
            <a:ext cx="559880" cy="238125"/>
          </a:xfrm>
          <a:prstGeom prst="rect">
            <a:avLst/>
          </a:prstGeom>
          <a:noFill/>
        </p:spPr>
        <p:txBody>
          <a:bodyPr wrap="square" lIns="0" rIns="0" tIns="0" bIns="0" anchor="t"/>
          <a:lstStyle/>
          <a:p>
            <a:pPr algn="l">
              <a:lnSpc>
                <a:spcPts val="1875"/>
              </a:lnSpc>
              <a:spcBef>
                <a:spcPts val="0"/>
              </a:spcBef>
              <a:spcAft>
                <a:spcPts val="0"/>
              </a:spcAft>
            </a:pPr>
            <a:r>
              <a:rPr sz="1500" b="1" i="0">
                <a:solidFill>
                  <a:srgbClr val="FF7F0E"/>
                </a:solidFill>
                <a:latin typeface="Calibri"/>
              </a:rPr>
              <a:t>Q9</a:t>
            </a:r>
          </a:p>
        </p:txBody>
      </p:sp>
      <p:sp>
        <p:nvSpPr>
          <p:cNvPr id="52" name="Rectangle 51"/>
          <p:cNvSpPr/>
          <p:nvPr/>
        </p:nvSpPr>
        <p:spPr>
          <a:xfrm>
            <a:off x="8421180" y="2563812"/>
            <a:ext cx="1004697" cy="5889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421180" y="3146425"/>
            <a:ext cx="100469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84680" y="2653348"/>
            <a:ext cx="826897" cy="269875"/>
          </a:xfrm>
          <a:prstGeom prst="rect">
            <a:avLst/>
          </a:prstGeom>
          <a:noFill/>
        </p:spPr>
        <p:txBody>
          <a:bodyPr wrap="square" lIns="0" rIns="0" tIns="0" bIns="0" anchor="t"/>
          <a:lstStyle/>
          <a:p>
            <a:pPr algn="r">
              <a:lnSpc>
                <a:spcPts val="2125"/>
              </a:lnSpc>
              <a:spcBef>
                <a:spcPts val="0"/>
              </a:spcBef>
              <a:spcAft>
                <a:spcPts val="0"/>
              </a:spcAft>
            </a:pPr>
            <a:r>
              <a:rPr sz="1700" b="1" i="0">
                <a:solidFill>
                  <a:srgbClr val="1F2937"/>
                </a:solidFill>
                <a:latin typeface="Calibri"/>
              </a:rPr>
              <a:t>3,00</a:t>
            </a:r>
          </a:p>
        </p:txBody>
      </p:sp>
      <p:sp>
        <p:nvSpPr>
          <p:cNvPr id="55" name="TextBox 54"/>
          <p:cNvSpPr txBox="1"/>
          <p:nvPr/>
        </p:nvSpPr>
        <p:spPr>
          <a:xfrm>
            <a:off x="8484680" y="2924524"/>
            <a:ext cx="826897" cy="134938"/>
          </a:xfrm>
          <a:prstGeom prst="rect">
            <a:avLst/>
          </a:prstGeom>
          <a:noFill/>
        </p:spPr>
        <p:txBody>
          <a:bodyPr wrap="square" lIns="0" rIns="0" tIns="0" bIns="0" anchor="t"/>
          <a:lstStyle/>
          <a:p>
            <a:pPr algn="r">
              <a:lnSpc>
                <a:spcPts val="1062"/>
              </a:lnSpc>
              <a:spcBef>
                <a:spcPts val="0"/>
              </a:spcBef>
              <a:spcAft>
                <a:spcPts val="0"/>
              </a:spcAft>
            </a:pPr>
            <a:r>
              <a:rPr sz="850" b="1" i="0">
                <a:solidFill>
                  <a:srgbClr val="5B6575"/>
                </a:solidFill>
                <a:latin typeface="Calibri"/>
              </a:rPr>
              <a:t>teórica 3</a:t>
            </a:r>
          </a:p>
        </p:txBody>
      </p:sp>
      <p:sp>
        <p:nvSpPr>
          <p:cNvPr id="56" name="Rectangle 55"/>
          <p:cNvSpPr/>
          <p:nvPr/>
        </p:nvSpPr>
        <p:spPr>
          <a:xfrm>
            <a:off x="9425876" y="2563812"/>
            <a:ext cx="1004697" cy="5889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425876" y="3146425"/>
            <a:ext cx="100469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489376" y="2653348"/>
            <a:ext cx="826897" cy="269875"/>
          </a:xfrm>
          <a:prstGeom prst="rect">
            <a:avLst/>
          </a:prstGeom>
          <a:noFill/>
        </p:spPr>
        <p:txBody>
          <a:bodyPr wrap="square" lIns="0" rIns="0" tIns="0" bIns="0" anchor="t"/>
          <a:lstStyle/>
          <a:p>
            <a:pPr algn="r">
              <a:lnSpc>
                <a:spcPts val="2125"/>
              </a:lnSpc>
              <a:spcBef>
                <a:spcPts val="0"/>
              </a:spcBef>
              <a:spcAft>
                <a:spcPts val="0"/>
              </a:spcAft>
            </a:pPr>
            <a:r>
              <a:rPr sz="1700" b="1" i="0">
                <a:solidFill>
                  <a:srgbClr val="1F2937"/>
                </a:solidFill>
                <a:latin typeface="Calibri"/>
              </a:rPr>
              <a:t>2,00</a:t>
            </a:r>
          </a:p>
        </p:txBody>
      </p:sp>
      <p:sp>
        <p:nvSpPr>
          <p:cNvPr id="59" name="TextBox 58"/>
          <p:cNvSpPr txBox="1"/>
          <p:nvPr/>
        </p:nvSpPr>
        <p:spPr>
          <a:xfrm>
            <a:off x="9489376" y="2924524"/>
            <a:ext cx="826897" cy="134938"/>
          </a:xfrm>
          <a:prstGeom prst="rect">
            <a:avLst/>
          </a:prstGeom>
          <a:noFill/>
        </p:spPr>
        <p:txBody>
          <a:bodyPr wrap="square" lIns="0" rIns="0" tIns="0" bIns="0" anchor="t"/>
          <a:lstStyle/>
          <a:p>
            <a:pPr algn="r">
              <a:lnSpc>
                <a:spcPts val="1062"/>
              </a:lnSpc>
              <a:spcBef>
                <a:spcPts val="0"/>
              </a:spcBef>
              <a:spcAft>
                <a:spcPts val="0"/>
              </a:spcAft>
            </a:pPr>
            <a:r>
              <a:rPr sz="850" b="1" i="0">
                <a:solidFill>
                  <a:srgbClr val="5B6575"/>
                </a:solidFill>
                <a:latin typeface="Calibri"/>
              </a:rPr>
              <a:t>teórica 2</a:t>
            </a:r>
          </a:p>
        </p:txBody>
      </p:sp>
      <p:sp>
        <p:nvSpPr>
          <p:cNvPr id="60" name="Rectangle 59"/>
          <p:cNvSpPr/>
          <p:nvPr/>
        </p:nvSpPr>
        <p:spPr>
          <a:xfrm>
            <a:off x="10430574" y="2563812"/>
            <a:ext cx="1126426" cy="5889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430574" y="3146425"/>
            <a:ext cx="11264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494074" y="2653348"/>
            <a:ext cx="948626" cy="269875"/>
          </a:xfrm>
          <a:prstGeom prst="rect">
            <a:avLst/>
          </a:prstGeom>
          <a:noFill/>
        </p:spPr>
        <p:txBody>
          <a:bodyPr wrap="square" lIns="0" rIns="0" tIns="0" bIns="0" anchor="t"/>
          <a:lstStyle/>
          <a:p>
            <a:pPr algn="r">
              <a:lnSpc>
                <a:spcPts val="2125"/>
              </a:lnSpc>
              <a:spcBef>
                <a:spcPts val="0"/>
              </a:spcBef>
              <a:spcAft>
                <a:spcPts val="0"/>
              </a:spcAft>
            </a:pPr>
            <a:r>
              <a:rPr sz="1700" b="1" i="0">
                <a:solidFill>
                  <a:srgbClr val="1F2937"/>
                </a:solidFill>
                <a:latin typeface="Calibri"/>
              </a:rPr>
              <a:t>2,00</a:t>
            </a:r>
          </a:p>
        </p:txBody>
      </p:sp>
      <p:sp>
        <p:nvSpPr>
          <p:cNvPr id="63" name="TextBox 62"/>
          <p:cNvSpPr txBox="1"/>
          <p:nvPr/>
        </p:nvSpPr>
        <p:spPr>
          <a:xfrm>
            <a:off x="10494074" y="2924524"/>
            <a:ext cx="948626" cy="134938"/>
          </a:xfrm>
          <a:prstGeom prst="rect">
            <a:avLst/>
          </a:prstGeom>
          <a:noFill/>
        </p:spPr>
        <p:txBody>
          <a:bodyPr wrap="square" lIns="0" rIns="0" tIns="0" bIns="0" anchor="t"/>
          <a:lstStyle/>
          <a:p>
            <a:pPr algn="r">
              <a:lnSpc>
                <a:spcPts val="1062"/>
              </a:lnSpc>
              <a:spcBef>
                <a:spcPts val="0"/>
              </a:spcBef>
              <a:spcAft>
                <a:spcPts val="0"/>
              </a:spcAft>
            </a:pPr>
            <a:r>
              <a:rPr sz="850" b="1" i="0">
                <a:solidFill>
                  <a:srgbClr val="5B6575"/>
                </a:solidFill>
                <a:latin typeface="Calibri"/>
              </a:rPr>
              <a:t>observada</a:t>
            </a:r>
          </a:p>
        </p:txBody>
      </p:sp>
      <p:sp>
        <p:nvSpPr>
          <p:cNvPr id="64" name="TextBox 63"/>
          <p:cNvSpPr txBox="1"/>
          <p:nvPr/>
        </p:nvSpPr>
        <p:spPr>
          <a:xfrm>
            <a:off x="7683500" y="3214084"/>
            <a:ext cx="3950970" cy="642938"/>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Tabla 3.1 y Anexo D: las tasas del desplazamiento difieren</a:t>
            </a:r>
            <a:br/>
            <a:r>
              <a:rPr sz="1250" b="0" i="0">
                <a:solidFill>
                  <a:srgbClr val="5B6575"/>
                </a:solidFill>
                <a:latin typeface="Calibri"/>
              </a:rPr>
              <a:t>menos de 0,01 entre las cuatro configuraciones; la de σ* se</a:t>
            </a:r>
            <a:br/>
            <a:r>
              <a:rPr sz="1250" b="0" i="0">
                <a:solidFill>
                  <a:srgbClr val="5B6575"/>
                </a:solidFill>
                <a:latin typeface="Calibri"/>
              </a:rPr>
              <a:t>mantiene cerca de 1,5 (Q4) y de 2 (Q9).</a:t>
            </a:r>
          </a:p>
        </p:txBody>
      </p:sp>
      <p:sp>
        <p:nvSpPr>
          <p:cNvPr id="65" name="Rounded Rectangle 64"/>
          <p:cNvSpPr/>
          <p:nvPr/>
        </p:nvSpPr>
        <p:spPr>
          <a:xfrm>
            <a:off x="7686675" y="4371975"/>
            <a:ext cx="3867150" cy="1492250"/>
          </a:xfrm>
          <a:prstGeom prst="roundRect">
            <a:avLst>
              <a:gd name="adj" fmla="val 5744"/>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bbca4a945c72ed3c.png"/>
          <p:cNvPicPr>
            <a:picLocks noChangeAspect="1"/>
          </p:cNvPicPr>
          <p:nvPr/>
        </p:nvPicPr>
        <p:blipFill>
          <a:blip r:embed="rId6"/>
          <a:stretch>
            <a:fillRect/>
          </a:stretch>
        </p:blipFill>
        <p:spPr>
          <a:xfrm>
            <a:off x="7689850" y="4375150"/>
            <a:ext cx="3873500" cy="1498600"/>
          </a:xfrm>
          <a:prstGeom prst="rect">
            <a:avLst/>
          </a:prstGeom>
        </p:spPr>
      </p:pic>
      <p:sp>
        <p:nvSpPr>
          <p:cNvPr id="67" name="Rounded Rectangle 66"/>
          <p:cNvSpPr/>
          <p:nvPr/>
        </p:nvSpPr>
        <p:spPr>
          <a:xfrm>
            <a:off x="7683500" y="4038600"/>
            <a:ext cx="2458720"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064500" y="4096710"/>
            <a:ext cx="198882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Teórica ± 0,5 · se cumple</a:t>
            </a:r>
          </a:p>
        </p:txBody>
      </p:sp>
      <p:sp>
        <p:nvSpPr>
          <p:cNvPr id="69" name="Oval 68"/>
          <p:cNvSpPr/>
          <p:nvPr/>
        </p:nvSpPr>
        <p:spPr>
          <a:xfrm>
            <a:off x="7772400" y="4098925"/>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47000" y="4135587"/>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71" name="Rectangle 70"/>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65150" y="6535420"/>
            <a:ext cx="477354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74" name="TextBox 73"/>
          <p:cNvSpPr txBox="1"/>
          <p:nvPr/>
        </p:nvSpPr>
        <p:spPr>
          <a:xfrm>
            <a:off x="5219700" y="6535420"/>
            <a:ext cx="175260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3.2 · Tabla 3.1 · Figura 3.1</a:t>
            </a:r>
          </a:p>
        </p:txBody>
      </p:sp>
      <p:sp>
        <p:nvSpPr>
          <p:cNvPr id="75" name="TextBox 74"/>
          <p:cNvSpPr txBox="1"/>
          <p:nvPr/>
        </p:nvSpPr>
        <p:spPr>
          <a:xfrm>
            <a:off x="6853301" y="6535420"/>
            <a:ext cx="477354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39</a:t>
            </a:r>
          </a:p>
        </p:txBody>
      </p:sp>
      <p:sp>
        <p:nvSpPr>
          <p:cNvPr id="76" name="Enlace a sep-intro">
            <a:hlinkClick action="ppaction://hlinksldjump" r:id="rId7"/>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Enlace a sep-teoria">
            <a:hlinkClick action="ppaction://hlinksldjump" r:id="rId8"/>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Enlace a sep-diseno">
            <a:hlinkClick action="ppaction://hlinksldjump" r:id="rId9"/>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Enlace a sep-resultados">
            <a:hlinkClick action="ppaction://hlinksldjump" r:id="rId10"/>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Enlace a sep-analisis">
            <a:hlinkClick action="ppaction://hlinksldjump" r:id="rId11"/>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Enlace a sep-conclusiones">
            <a:hlinkClick action="ppaction://hlinksldjump" r:id="rId12"/>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xit" presetSubtype="0" fill="hold" grpId="0" nodeType="clickEffect">
                                  <p:stCondLst>
                                    <p:cond delay="0"/>
                                  </p:stCondLst>
                                  <p:childTnLst>
                                    <p:animEffect transition="out" filter="fade">
                                      <p:cBhvr>
                                        <p:cTn id="4" dur="200"/>
                                        <p:tgtEl>
                                          <p:spTgt spid="19"/>
                                        </p:tgtEl>
                                      </p:cBhvr>
                                    </p:animEffect>
                                    <p:set>
                                      <p:cBhvr>
                                        <p:cTn id="5" dur="1" fill="hold">
                                          <p:stCondLst>
                                            <p:cond delay="199"/>
                                          </p:stCondLst>
                                        </p:cTn>
                                        <p:tgtEl>
                                          <p:spTgt spid="19"/>
                                        </p:tgtEl>
                                        <p:attrNameLst>
                                          <p:attrName>style.visibility</p:attrName>
                                        </p:attrNameLst>
                                      </p:cBhvr>
                                      <p:to>
                                        <p:strVal val="hidden"/>
                                      </p:to>
                                    </p:set>
                                  </p:childTnLst>
                                </p:cTn>
                              </p:par>
                              <p:par>
                                <p:cTn id="6" presetID="10" presetClass="exit" presetSubtype="0" fill="hold" grpId="0" nodeType="withEffect">
                                  <p:stCondLst>
                                    <p:cond delay="0"/>
                                  </p:stCondLst>
                                  <p:childTnLst>
                                    <p:animEffect transition="out" filter="fade">
                                      <p:cBhvr>
                                        <p:cTn id="7" dur="200"/>
                                        <p:tgtEl>
                                          <p:spTgt spid="20"/>
                                        </p:tgtEl>
                                      </p:cBhvr>
                                    </p:animEffect>
                                    <p:set>
                                      <p:cBhvr>
                                        <p:cTn id="8" dur="1" fill="hold">
                                          <p:stCondLst>
                                            <p:cond delay="199"/>
                                          </p:stCondLst>
                                        </p:cTn>
                                        <p:tgtEl>
                                          <p:spTgt spid="20"/>
                                        </p:tgtEl>
                                        <p:attrNameLst>
                                          <p:attrName>style.visibility</p:attrName>
                                        </p:attrNameLst>
                                      </p:cBhvr>
                                      <p:to>
                                        <p:strVal val="hidden"/>
                                      </p:to>
                                    </p:set>
                                  </p:childTnLst>
                                </p:cTn>
                              </p:par>
                              <p:par>
                                <p:cTn id="9" presetID="10" presetClass="entr" presetSubtype="0" fill="hold" grpId="0" nodeType="withEffect">
                                  <p:stCondLst>
                                    <p:cond delay="2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00"/>
                                        <p:tgtEl>
                                          <p:spTgt spid="18"/>
                                        </p:tgtEl>
                                      </p:cBhvr>
                                    </p:animEffect>
                                  </p:childTnLst>
                                </p:cTn>
                              </p:par>
                            </p:childTnLst>
                          </p:cTn>
                        </p:par>
                      </p:childTnLst>
                    </p:cTn>
                  </p:par>
                  <p:par>
                    <p:cTn id="59" fill="hold">
                      <p:stCondLst>
                        <p:cond delay="indefinite"/>
                      </p:stCondLst>
                      <p:childTnLst>
                        <p:par>
                          <p:cTn id="60" fill="hold">
                            <p:stCondLst>
                              <p:cond delay="0"/>
                            </p:stCondLst>
                            <p:childTnLst>
                              <p:par>
                                <p:cTn id="15" presetID="10" presetClass="exit" presetSubtype="0" fill="hold" grpId="1" nodeType="clickEffect">
                                  <p:stCondLst>
                                    <p:cond delay="0"/>
                                  </p:stCondLst>
                                  <p:childTnLst>
                                    <p:animEffect transition="out" filter="fade">
                                      <p:cBhvr>
                                        <p:cTn id="16" dur="200"/>
                                        <p:tgtEl>
                                          <p:spTgt spid="17"/>
                                        </p:tgtEl>
                                      </p:cBhvr>
                                    </p:animEffect>
                                    <p:set>
                                      <p:cBhvr>
                                        <p:cTn id="17" dur="1" fill="hold">
                                          <p:stCondLst>
                                            <p:cond delay="199"/>
                                          </p:stCondLst>
                                        </p:cTn>
                                        <p:tgtEl>
                                          <p:spTgt spid="17"/>
                                        </p:tgtEl>
                                        <p:attrNameLst>
                                          <p:attrName>style.visibility</p:attrName>
                                        </p:attrNameLst>
                                      </p:cBhvr>
                                      <p:to>
                                        <p:strVal val="hidden"/>
                                      </p:to>
                                    </p:set>
                                  </p:childTnLst>
                                </p:cTn>
                              </p:par>
                              <p:par>
                                <p:cTn id="18" presetID="10" presetClass="exit" presetSubtype="0" fill="hold" grpId="1" nodeType="withEffect">
                                  <p:stCondLst>
                                    <p:cond delay="0"/>
                                  </p:stCondLst>
                                  <p:childTnLst>
                                    <p:animEffect transition="out" filter="fade">
                                      <p:cBhvr>
                                        <p:cTn id="19" dur="200"/>
                                        <p:tgtEl>
                                          <p:spTgt spid="18"/>
                                        </p:tgtEl>
                                      </p:cBhvr>
                                    </p:animEffect>
                                    <p:set>
                                      <p:cBhvr>
                                        <p:cTn id="20" dur="1" fill="hold">
                                          <p:stCondLst>
                                            <p:cond delay="199"/>
                                          </p:stCondLst>
                                        </p:cTn>
                                        <p:tgtEl>
                                          <p:spTgt spid="18"/>
                                        </p:tgtEl>
                                        <p:attrNameLst>
                                          <p:attrName>style.visibility</p:attrName>
                                        </p:attrNameLst>
                                      </p:cBhvr>
                                      <p:to>
                                        <p:strVal val="hidden"/>
                                      </p:to>
                                    </p:set>
                                  </p:childTnLst>
                                </p:cTn>
                              </p:par>
                              <p:par>
                                <p:cTn id="21" presetID="10" presetClass="entr" presetSubtype="0" fill="hold" grpId="0" nodeType="withEffect">
                                  <p:stCondLst>
                                    <p:cond delay="2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grpId="0" nodeType="withEffect">
                                  <p:stCondLst>
                                    <p:cond delay="2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childTnLst>
                          </p:cTn>
                        </p:par>
                      </p:childTnLst>
                    </p:cTn>
                  </p:par>
                  <p:par>
                    <p:cTn id="61" fill="hold">
                      <p:stCondLst>
                        <p:cond delay="indefinite"/>
                      </p:stCondLst>
                      <p:childTnLst>
                        <p:par>
                          <p:cTn id="62" fill="hold">
                            <p:stCondLst>
                              <p:cond delay="0"/>
                            </p:stCondLst>
                            <p:childTnLst>
                              <p:par>
                                <p:cTn id="27" presetID="10" presetClass="exit" presetSubtype="0" fill="hold" grpId="1" nodeType="clickEffect">
                                  <p:stCondLst>
                                    <p:cond delay="0"/>
                                  </p:stCondLst>
                                  <p:childTnLst>
                                    <p:animEffect transition="out" filter="fade">
                                      <p:cBhvr>
                                        <p:cTn id="28" dur="200"/>
                                        <p:tgtEl>
                                          <p:spTgt spid="15"/>
                                        </p:tgtEl>
                                      </p:cBhvr>
                                    </p:animEffect>
                                    <p:set>
                                      <p:cBhvr>
                                        <p:cTn id="29" dur="1" fill="hold">
                                          <p:stCondLst>
                                            <p:cond delay="199"/>
                                          </p:stCondLst>
                                        </p:cTn>
                                        <p:tgtEl>
                                          <p:spTgt spid="15"/>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200"/>
                                        <p:tgtEl>
                                          <p:spTgt spid="16"/>
                                        </p:tgtEl>
                                      </p:cBhvr>
                                    </p:animEffect>
                                    <p:set>
                                      <p:cBhvr>
                                        <p:cTn id="32" dur="1" fill="hold">
                                          <p:stCondLst>
                                            <p:cond delay="199"/>
                                          </p:stCondLst>
                                        </p:cTn>
                                        <p:tgtEl>
                                          <p:spTgt spid="16"/>
                                        </p:tgtEl>
                                        <p:attrNameLst>
                                          <p:attrName>style.visibility</p:attrName>
                                        </p:attrNameLst>
                                      </p:cBhvr>
                                      <p:to>
                                        <p:strVal val="hidden"/>
                                      </p:to>
                                    </p:set>
                                  </p:childTnLst>
                                </p:cTn>
                              </p:par>
                              <p:par>
                                <p:cTn id="33" presetID="10" presetClass="exit" presetSubtype="0" fill="hold" grpId="0" nodeType="withEffect">
                                  <p:stCondLst>
                                    <p:cond delay="0"/>
                                  </p:stCondLst>
                                  <p:childTnLst>
                                    <p:animEffect transition="out" filter="fade">
                                      <p:cBhvr>
                                        <p:cTn id="34" dur="200"/>
                                        <p:tgtEl>
                                          <p:spTgt spid="47"/>
                                        </p:tgtEl>
                                      </p:cBhvr>
                                    </p:animEffect>
                                    <p:set>
                                      <p:cBhvr>
                                        <p:cTn id="35" dur="1" fill="hold">
                                          <p:stCondLst>
                                            <p:cond delay="199"/>
                                          </p:stCondLst>
                                        </p:cTn>
                                        <p:tgtEl>
                                          <p:spTgt spid="47"/>
                                        </p:tgtEl>
                                        <p:attrNameLst>
                                          <p:attrName>style.visibility</p:attrName>
                                        </p:attrNameLst>
                                      </p:cBhvr>
                                      <p:to>
                                        <p:strVal val="hidden"/>
                                      </p:to>
                                    </p:set>
                                  </p:childTnLst>
                                </p:cTn>
                              </p:par>
                              <p:par>
                                <p:cTn id="36" presetID="10" presetClass="entr" presetSubtype="0" fill="hold" grpId="0" nodeType="withEffect">
                                  <p:stCondLst>
                                    <p:cond delay="2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00"/>
                                        <p:tgtEl>
                                          <p:spTgt spid="13"/>
                                        </p:tgtEl>
                                      </p:cBhvr>
                                    </p:animEffect>
                                  </p:childTnLst>
                                </p:cTn>
                              </p:par>
                              <p:par>
                                <p:cTn id="39" presetID="10" presetClass="entr" presetSubtype="0" fill="hold" grpId="0" nodeType="withEffect">
                                  <p:stCondLst>
                                    <p:cond delay="20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00"/>
                                        <p:tgtEl>
                                          <p:spTgt spid="14"/>
                                        </p:tgtEl>
                                      </p:cBhvr>
                                    </p:animEffect>
                                  </p:childTnLst>
                                </p:cTn>
                              </p:par>
                              <p:par>
                                <p:cTn id="42" presetID="10" presetClass="entr" presetSubtype="0" fill="hold" grpId="0" nodeType="withEffect">
                                  <p:stCondLst>
                                    <p:cond delay="200"/>
                                  </p:stCondLst>
                                  <p:childTnLst>
                                    <p:set>
                                      <p:cBhvr>
                                        <p:cTn id="43" dur="1" fill="hold">
                                          <p:stCondLst>
                                            <p:cond delay="0"/>
                                          </p:stCondLst>
                                        </p:cTn>
                                        <p:tgtEl>
                                          <p:spTgt spid="46"/>
                                        </p:tgtEl>
                                        <p:attrNameLst>
                                          <p:attrName>style.visibility</p:attrName>
                                        </p:attrNameLst>
                                      </p:cBhvr>
                                      <p:to>
                                        <p:strVal val="visible"/>
                                      </p:to>
                                    </p:set>
                                    <p:animEffect transition="in" filter="fade">
                                      <p:cBhvr>
                                        <p:cTn id="44" dur="400"/>
                                        <p:tgtEl>
                                          <p:spTgt spid="46"/>
                                        </p:tgtEl>
                                      </p:cBhvr>
                                    </p:animEffect>
                                  </p:childTnLst>
                                </p:cTn>
                              </p:par>
                              <p:par>
                                <p:cTn id="45" presetID="10" presetClass="entr" presetSubtype="0" fill="hold" grpId="0" nodeType="withEffect">
                                  <p:stCondLst>
                                    <p:cond delay="200"/>
                                  </p:stCondLst>
                                  <p:childTnLst>
                                    <p:set>
                                      <p:cBhvr>
                                        <p:cTn id="46" dur="1" fill="hold">
                                          <p:stCondLst>
                                            <p:cond delay="0"/>
                                          </p:stCondLst>
                                        </p:cTn>
                                        <p:tgtEl>
                                          <p:spTgt spid="67"/>
                                        </p:tgtEl>
                                        <p:attrNameLst>
                                          <p:attrName>style.visibility</p:attrName>
                                        </p:attrNameLst>
                                      </p:cBhvr>
                                      <p:to>
                                        <p:strVal val="visible"/>
                                      </p:to>
                                    </p:set>
                                    <p:animEffect transition="in" filter="fade">
                                      <p:cBhvr>
                                        <p:cTn id="47" dur="400"/>
                                        <p:tgtEl>
                                          <p:spTgt spid="67"/>
                                        </p:tgtEl>
                                      </p:cBhvr>
                                    </p:animEffect>
                                  </p:childTnLst>
                                </p:cTn>
                              </p:par>
                              <p:par>
                                <p:cTn id="48" presetID="10" presetClass="entr" presetSubtype="0" fill="hold" grpId="0" nodeType="withEffect">
                                  <p:stCondLst>
                                    <p:cond delay="200"/>
                                  </p:stCondLst>
                                  <p:childTnLst>
                                    <p:set>
                                      <p:cBhvr>
                                        <p:cTn id="49" dur="1" fill="hold">
                                          <p:stCondLst>
                                            <p:cond delay="0"/>
                                          </p:stCondLst>
                                        </p:cTn>
                                        <p:tgtEl>
                                          <p:spTgt spid="68"/>
                                        </p:tgtEl>
                                        <p:attrNameLst>
                                          <p:attrName>style.visibility</p:attrName>
                                        </p:attrNameLst>
                                      </p:cBhvr>
                                      <p:to>
                                        <p:strVal val="visible"/>
                                      </p:to>
                                    </p:set>
                                    <p:animEffect transition="in" filter="fade">
                                      <p:cBhvr>
                                        <p:cTn id="50" dur="400"/>
                                        <p:tgtEl>
                                          <p:spTgt spid="68"/>
                                        </p:tgtEl>
                                      </p:cBhvr>
                                    </p:animEffect>
                                  </p:childTnLst>
                                </p:cTn>
                              </p:par>
                              <p:par>
                                <p:cTn id="51" presetID="10" presetClass="entr" presetSubtype="0" fill="hold" grpId="0" nodeType="withEffect">
                                  <p:stCondLst>
                                    <p:cond delay="200"/>
                                  </p:stCondLst>
                                  <p:childTnLst>
                                    <p:set>
                                      <p:cBhvr>
                                        <p:cTn id="52" dur="1" fill="hold">
                                          <p:stCondLst>
                                            <p:cond delay="0"/>
                                          </p:stCondLst>
                                        </p:cTn>
                                        <p:tgtEl>
                                          <p:spTgt spid="69"/>
                                        </p:tgtEl>
                                        <p:attrNameLst>
                                          <p:attrName>style.visibility</p:attrName>
                                        </p:attrNameLst>
                                      </p:cBhvr>
                                      <p:to>
                                        <p:strVal val="visible"/>
                                      </p:to>
                                    </p:set>
                                    <p:animEffect transition="in" filter="fade">
                                      <p:cBhvr>
                                        <p:cTn id="53" dur="400"/>
                                        <p:tgtEl>
                                          <p:spTgt spid="69"/>
                                        </p:tgtEl>
                                      </p:cBhvr>
                                    </p:animEffect>
                                  </p:childTnLst>
                                </p:cTn>
                              </p:par>
                              <p:par>
                                <p:cTn id="54" presetID="10" presetClass="entr" presetSubtype="0" fill="hold" grpId="0" nodeType="withEffect">
                                  <p:stCondLst>
                                    <p:cond delay="200"/>
                                  </p:stCondLst>
                                  <p:childTnLst>
                                    <p:set>
                                      <p:cBhvr>
                                        <p:cTn id="55" dur="1" fill="hold">
                                          <p:stCondLst>
                                            <p:cond delay="0"/>
                                          </p:stCondLst>
                                        </p:cTn>
                                        <p:tgtEl>
                                          <p:spTgt spid="70"/>
                                        </p:tgtEl>
                                        <p:attrNameLst>
                                          <p:attrName>style.visibility</p:attrName>
                                        </p:attrNameLst>
                                      </p:cBhvr>
                                      <p:to>
                                        <p:strVal val="visible"/>
                                      </p:to>
                                    </p:set>
                                    <p:animEffect transition="in" filter="fade">
                                      <p:cBhvr>
                                        <p:cTn id="56"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6" grpId="1" animBg="1"/>
      <p:bldP spid="18" grpId="0" animBg="1"/>
      <p:bldP spid="18" grpId="1" animBg="1"/>
      <p:bldP spid="20" grpId="0" animBg="1"/>
      <p:bldP spid="46" grpId="0" animBg="1"/>
      <p:bldP spid="47" grpId="0" animBg="1"/>
      <p:bldP spid="67" grpId="0" animBg="1"/>
      <p:bldP spid="68" grpId="0" animBg="1"/>
      <p:bldP spid="69" grpId="0" animBg="1"/>
      <p:bldP spid="70"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04</a:t>
            </a:r>
          </a:p>
        </p:txBody>
      </p:sp>
      <p:sp>
        <p:nvSpPr>
          <p:cNvPr id="4" name="TextBox 3"/>
          <p:cNvSpPr txBox="1"/>
          <p:nvPr/>
        </p:nvSpPr>
        <p:spPr>
          <a:xfrm>
            <a:off x="898398" y="282141"/>
            <a:ext cx="215950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Presentación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Consistencia interna: el modelo no deriva</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1438275"/>
            <a:ext cx="3524250" cy="3686302"/>
          </a:xfrm>
          <a:prstGeom prst="roundRect">
            <a:avLst>
              <a:gd name="adj" fmla="val 20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750" y="1587755"/>
            <a:ext cx="327736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Ciclo de elementos</a:t>
            </a:r>
          </a:p>
        </p:txBody>
      </p:sp>
      <p:sp>
        <p:nvSpPr>
          <p:cNvPr id="15" name="TextBox 14"/>
          <p:cNvSpPr txBox="1"/>
          <p:nvPr/>
        </p:nvSpPr>
        <p:spPr>
          <a:xfrm>
            <a:off x="793750" y="1862929"/>
            <a:ext cx="3277362" cy="234696"/>
          </a:xfrm>
          <a:prstGeom prst="rect">
            <a:avLst/>
          </a:prstGeom>
          <a:noFill/>
        </p:spPr>
        <p:txBody>
          <a:bodyPr wrap="square" lIns="0" rIns="0" tIns="0" bIns="0" anchor="t"/>
          <a:lstStyle/>
          <a:p>
            <a:pPr algn="l">
              <a:lnSpc>
                <a:spcPts val="1848"/>
              </a:lnSpc>
              <a:spcBef>
                <a:spcPts val="0"/>
              </a:spcBef>
              <a:spcAft>
                <a:spcPts val="0"/>
              </a:spcAft>
            </a:pPr>
            <a:r>
              <a:rPr sz="1650" b="1" i="0">
                <a:solidFill>
                  <a:srgbClr val="1B2A4A"/>
                </a:solidFill>
                <a:latin typeface="Calibri"/>
              </a:rPr>
              <a:t>Q4 → Q9 → Q4</a:t>
            </a:r>
          </a:p>
        </p:txBody>
      </p:sp>
      <p:sp>
        <p:nvSpPr>
          <p:cNvPr id="16" name="Rounded Rectangle 15"/>
          <p:cNvSpPr/>
          <p:nvPr/>
        </p:nvSpPr>
        <p:spPr>
          <a:xfrm>
            <a:off x="793750" y="2165032"/>
            <a:ext cx="3213100" cy="1905000"/>
          </a:xfrm>
          <a:prstGeom prst="roundRect">
            <a:avLst>
              <a:gd name="adj" fmla="val 4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d0b9352d24315df.png"/>
          <p:cNvPicPr>
            <a:picLocks noChangeAspect="1"/>
          </p:cNvPicPr>
          <p:nvPr/>
        </p:nvPicPr>
        <p:blipFill>
          <a:blip r:embed="rId2"/>
          <a:stretch>
            <a:fillRect/>
          </a:stretch>
        </p:blipFill>
        <p:spPr>
          <a:xfrm>
            <a:off x="793750" y="2159000"/>
            <a:ext cx="3206750" cy="1911350"/>
          </a:xfrm>
          <a:prstGeom prst="rect">
            <a:avLst/>
          </a:prstGeom>
        </p:spPr>
      </p:pic>
      <p:sp>
        <p:nvSpPr>
          <p:cNvPr id="18" name="TextBox 17"/>
          <p:cNvSpPr txBox="1"/>
          <p:nvPr/>
        </p:nvSpPr>
        <p:spPr>
          <a:xfrm>
            <a:off x="793750" y="4154640"/>
            <a:ext cx="3277362" cy="617220"/>
          </a:xfrm>
          <a:prstGeom prst="rect">
            <a:avLst/>
          </a:prstGeom>
          <a:noFill/>
        </p:spPr>
        <p:txBody>
          <a:bodyPr wrap="square" lIns="0" rIns="0" tIns="0" bIns="0" anchor="t"/>
          <a:lstStyle/>
          <a:p>
            <a:pPr algn="l">
              <a:lnSpc>
                <a:spcPts val="1620"/>
              </a:lnSpc>
              <a:spcBef>
                <a:spcPts val="0"/>
              </a:spcBef>
              <a:spcAft>
                <a:spcPts val="0"/>
              </a:spcAft>
            </a:pPr>
            <a:r>
              <a:rPr sz="1200" b="0" i="0">
                <a:solidFill>
                  <a:srgbClr val="3F4A5A"/>
                </a:solidFill>
                <a:latin typeface="Calibri"/>
              </a:rPr>
              <a:t>Expandir crea 5 nodos por elemento (16 en esta</a:t>
            </a:r>
            <a:br/>
            <a:r>
              <a:rPr sz="1200" b="0" i="0">
                <a:solidFill>
                  <a:srgbClr val="3F4A5A"/>
                </a:solidFill>
                <a:latin typeface="Calibri"/>
              </a:rPr>
              <a:t>malla); reducir los quita.</a:t>
            </a:r>
            <a:br/>
            <a:r>
              <a:rPr sz="1200" b="1" i="0">
                <a:solidFill>
                  <a:srgbClr val="2E8B57"/>
                </a:solidFill>
                <a:latin typeface="Calibri"/>
              </a:rPr>
              <a:t>máx |Δu| &lt; 10⁻⁹</a:t>
            </a:r>
          </a:p>
        </p:txBody>
      </p:sp>
      <p:sp>
        <p:nvSpPr>
          <p:cNvPr id="19" name="Rounded Rectangle 18"/>
          <p:cNvSpPr/>
          <p:nvPr/>
        </p:nvSpPr>
        <p:spPr>
          <a:xfrm>
            <a:off x="4333875" y="1438275"/>
            <a:ext cx="3524250" cy="3686302"/>
          </a:xfrm>
          <a:prstGeom prst="roundRect">
            <a:avLst>
              <a:gd name="adj" fmla="val 20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450" y="1587755"/>
            <a:ext cx="327736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Identidad del nodo</a:t>
            </a:r>
          </a:p>
        </p:txBody>
      </p:sp>
      <p:sp>
        <p:nvSpPr>
          <p:cNvPr id="21" name="TextBox 20"/>
          <p:cNvSpPr txBox="1"/>
          <p:nvPr/>
        </p:nvSpPr>
        <p:spPr>
          <a:xfrm>
            <a:off x="4489450" y="1862929"/>
            <a:ext cx="3277362" cy="234696"/>
          </a:xfrm>
          <a:prstGeom prst="rect">
            <a:avLst/>
          </a:prstGeom>
          <a:noFill/>
        </p:spPr>
        <p:txBody>
          <a:bodyPr wrap="square" lIns="0" rIns="0" tIns="0" bIns="0" anchor="t"/>
          <a:lstStyle/>
          <a:p>
            <a:pPr algn="l">
              <a:lnSpc>
                <a:spcPts val="1848"/>
              </a:lnSpc>
              <a:spcBef>
                <a:spcPts val="0"/>
              </a:spcBef>
              <a:spcAft>
                <a:spcPts val="0"/>
              </a:spcAft>
            </a:pPr>
            <a:r>
              <a:rPr sz="1650" b="1" i="0">
                <a:solidFill>
                  <a:srgbClr val="1B2A4A"/>
                </a:solidFill>
                <a:latin typeface="Calibri"/>
              </a:rPr>
              <a:t>{1, 5, 50, 99} ≡ {1, 2, 3, 4}</a:t>
            </a:r>
          </a:p>
        </p:txBody>
      </p:sp>
      <p:sp>
        <p:nvSpPr>
          <p:cNvPr id="22" name="Rounded Rectangle 21"/>
          <p:cNvSpPr/>
          <p:nvPr/>
        </p:nvSpPr>
        <p:spPr>
          <a:xfrm>
            <a:off x="4489450" y="2165032"/>
            <a:ext cx="3213100" cy="1905000"/>
          </a:xfrm>
          <a:prstGeom prst="roundRect">
            <a:avLst>
              <a:gd name="adj" fmla="val 4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198703f4de1ee72b.png"/>
          <p:cNvPicPr>
            <a:picLocks noChangeAspect="1"/>
          </p:cNvPicPr>
          <p:nvPr/>
        </p:nvPicPr>
        <p:blipFill>
          <a:blip r:embed="rId3"/>
          <a:stretch>
            <a:fillRect/>
          </a:stretch>
        </p:blipFill>
        <p:spPr>
          <a:xfrm>
            <a:off x="4489450" y="2159000"/>
            <a:ext cx="3206750" cy="1911350"/>
          </a:xfrm>
          <a:prstGeom prst="rect">
            <a:avLst/>
          </a:prstGeom>
        </p:spPr>
      </p:pic>
      <p:sp>
        <p:nvSpPr>
          <p:cNvPr id="24" name="TextBox 23"/>
          <p:cNvSpPr txBox="1"/>
          <p:nvPr/>
        </p:nvSpPr>
        <p:spPr>
          <a:xfrm>
            <a:off x="4489450" y="4154640"/>
            <a:ext cx="3277362" cy="617220"/>
          </a:xfrm>
          <a:prstGeom prst="rect">
            <a:avLst/>
          </a:prstGeom>
          <a:noFill/>
        </p:spPr>
        <p:txBody>
          <a:bodyPr wrap="square" lIns="0" rIns="0" tIns="0" bIns="0" anchor="t"/>
          <a:lstStyle/>
          <a:p>
            <a:pPr algn="l">
              <a:lnSpc>
                <a:spcPts val="1620"/>
              </a:lnSpc>
              <a:spcBef>
                <a:spcPts val="0"/>
              </a:spcBef>
              <a:spcAft>
                <a:spcPts val="0"/>
              </a:spcAft>
            </a:pPr>
            <a:r>
              <a:rPr sz="1200" b="0" i="0">
                <a:solidFill>
                  <a:srgbClr val="3F4A5A"/>
                </a:solidFill>
                <a:latin typeface="Calibri"/>
              </a:rPr>
              <a:t>El mismo problema con identificadores no</a:t>
            </a:r>
            <a:br/>
            <a:r>
              <a:rPr sz="1200" b="0" i="0">
                <a:solidFill>
                  <a:srgbClr val="3F4A5A"/>
                </a:solidFill>
                <a:latin typeface="Calibri"/>
              </a:rPr>
              <a:t>contiguos da el mismo resultado.</a:t>
            </a:r>
            <a:br/>
            <a:r>
              <a:rPr sz="1200" b="1" i="0">
                <a:solidFill>
                  <a:srgbClr val="2E8B57"/>
                </a:solidFill>
                <a:latin typeface="Calibri"/>
              </a:rPr>
              <a:t>diferencia &lt; 10⁻⁹</a:t>
            </a:r>
          </a:p>
        </p:txBody>
      </p:sp>
      <p:sp>
        <p:nvSpPr>
          <p:cNvPr id="25" name="Rounded Rectangle 24"/>
          <p:cNvSpPr/>
          <p:nvPr/>
        </p:nvSpPr>
        <p:spPr>
          <a:xfrm>
            <a:off x="8029575" y="1438275"/>
            <a:ext cx="3524250" cy="3686302"/>
          </a:xfrm>
          <a:prstGeom prst="roundRect">
            <a:avLst>
              <a:gd name="adj" fmla="val 207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5150" y="1587755"/>
            <a:ext cx="327736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Intercambio de datos</a:t>
            </a:r>
          </a:p>
        </p:txBody>
      </p:sp>
      <p:sp>
        <p:nvSpPr>
          <p:cNvPr id="27" name="TextBox 26"/>
          <p:cNvSpPr txBox="1"/>
          <p:nvPr/>
        </p:nvSpPr>
        <p:spPr>
          <a:xfrm>
            <a:off x="8185150" y="1862929"/>
            <a:ext cx="3277362" cy="234696"/>
          </a:xfrm>
          <a:prstGeom prst="rect">
            <a:avLst/>
          </a:prstGeom>
          <a:noFill/>
        </p:spPr>
        <p:txBody>
          <a:bodyPr wrap="square" lIns="0" rIns="0" tIns="0" bIns="0" anchor="t"/>
          <a:lstStyle/>
          <a:p>
            <a:pPr algn="l">
              <a:lnSpc>
                <a:spcPts val="1848"/>
              </a:lnSpc>
              <a:spcBef>
                <a:spcPts val="0"/>
              </a:spcBef>
              <a:spcAft>
                <a:spcPts val="0"/>
              </a:spcAft>
            </a:pPr>
            <a:r>
              <a:rPr sz="1650" b="1" i="0">
                <a:solidFill>
                  <a:srgbClr val="1B2A4A"/>
                </a:solidFill>
                <a:latin typeface="Calibri"/>
              </a:rPr>
              <a:t>CSV, DXF y memoria</a:t>
            </a:r>
          </a:p>
        </p:txBody>
      </p:sp>
      <p:sp>
        <p:nvSpPr>
          <p:cNvPr id="28" name="Rounded Rectangle 27"/>
          <p:cNvSpPr/>
          <p:nvPr/>
        </p:nvSpPr>
        <p:spPr>
          <a:xfrm>
            <a:off x="8185150" y="2165032"/>
            <a:ext cx="3213100" cy="1905000"/>
          </a:xfrm>
          <a:prstGeom prst="roundRect">
            <a:avLst>
              <a:gd name="adj" fmla="val 4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9da9310cae727af.png"/>
          <p:cNvPicPr>
            <a:picLocks noChangeAspect="1"/>
          </p:cNvPicPr>
          <p:nvPr/>
        </p:nvPicPr>
        <p:blipFill>
          <a:blip r:embed="rId4"/>
          <a:stretch>
            <a:fillRect/>
          </a:stretch>
        </p:blipFill>
        <p:spPr>
          <a:xfrm>
            <a:off x="8185150" y="2159000"/>
            <a:ext cx="3206750" cy="1911350"/>
          </a:xfrm>
          <a:prstGeom prst="rect">
            <a:avLst/>
          </a:prstGeom>
        </p:spPr>
      </p:pic>
      <p:sp>
        <p:nvSpPr>
          <p:cNvPr id="30" name="TextBox 29"/>
          <p:cNvSpPr txBox="1"/>
          <p:nvPr/>
        </p:nvSpPr>
        <p:spPr>
          <a:xfrm>
            <a:off x="8185150" y="4154640"/>
            <a:ext cx="3277362" cy="822960"/>
          </a:xfrm>
          <a:prstGeom prst="rect">
            <a:avLst/>
          </a:prstGeom>
          <a:noFill/>
        </p:spPr>
        <p:txBody>
          <a:bodyPr wrap="square" lIns="0" rIns="0" tIns="0" bIns="0" anchor="t"/>
          <a:lstStyle/>
          <a:p>
            <a:pPr algn="l">
              <a:lnSpc>
                <a:spcPts val="1620"/>
              </a:lnSpc>
              <a:spcBef>
                <a:spcPts val="0"/>
              </a:spcBef>
              <a:spcAft>
                <a:spcPts val="0"/>
              </a:spcAft>
            </a:pPr>
            <a:r>
              <a:rPr sz="1200" b="0" i="0">
                <a:solidFill>
                  <a:srgbClr val="3F4A5A"/>
                </a:solidFill>
                <a:latin typeface="Calibri"/>
              </a:rPr>
              <a:t>CSV ida y vuelta: 9 nodos, 4 elementos, material,</a:t>
            </a:r>
            <a:br/>
            <a:r>
              <a:rPr sz="1200" b="0" i="0">
                <a:solidFill>
                  <a:srgbClr val="3F4A5A"/>
                </a:solidFill>
                <a:latin typeface="Calibri"/>
              </a:rPr>
              <a:t>cargas y apoyos,</a:t>
            </a:r>
            <a:r>
              <a:rPr sz="1200" b="1" i="0">
                <a:solidFill>
                  <a:srgbClr val="2E8B57"/>
                </a:solidFill>
                <a:latin typeface="Calibri"/>
              </a:rPr>
              <a:t> máx |Δu| &lt; 10⁻¹²</a:t>
            </a:r>
            <a:r>
              <a:rPr sz="1200" b="0" i="0">
                <a:solidFill>
                  <a:srgbClr val="3F4A5A"/>
                </a:solidFill>
                <a:latin typeface="Calibri"/>
              </a:rPr>
              <a:t>. DXF: reimportar</a:t>
            </a:r>
            <a:br/>
            <a:r>
              <a:rPr sz="1200" b="0" i="0">
                <a:solidFill>
                  <a:srgbClr val="3F4A5A"/>
                </a:solidFill>
                <a:latin typeface="Calibri"/>
              </a:rPr>
              <a:t>crea 0 nodos y 0 elementos (6 duplicados</a:t>
            </a:r>
            <a:br/>
            <a:r>
              <a:rPr sz="1200" b="0" i="0">
                <a:solidFill>
                  <a:srgbClr val="3F4A5A"/>
                </a:solidFill>
                <a:latin typeface="Calibri"/>
              </a:rPr>
              <a:t>omitidos).</a:t>
            </a:r>
          </a:p>
        </p:txBody>
      </p:sp>
      <p:sp>
        <p:nvSpPr>
          <p:cNvPr id="31" name="Rounded Rectangle 30"/>
          <p:cNvSpPr/>
          <p:nvPr/>
        </p:nvSpPr>
        <p:spPr>
          <a:xfrm>
            <a:off x="635000" y="5626100"/>
            <a:ext cx="3193732"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6000" y="5684210"/>
            <a:ext cx="272650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Sin pérdida y sin error · se cumple</a:t>
            </a:r>
          </a:p>
        </p:txBody>
      </p:sp>
      <p:sp>
        <p:nvSpPr>
          <p:cNvPr id="33" name="Oval 32"/>
          <p:cNvSpPr/>
          <p:nvPr/>
        </p:nvSpPr>
        <p:spPr>
          <a:xfrm>
            <a:off x="723900" y="5686425"/>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8500" y="5723087"/>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35" name="Rectangle 34"/>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5150" y="6535420"/>
            <a:ext cx="535698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8" name="TextBox 37"/>
          <p:cNvSpPr txBox="1"/>
          <p:nvPr/>
        </p:nvSpPr>
        <p:spPr>
          <a:xfrm>
            <a:off x="5791708" y="6535420"/>
            <a:ext cx="60858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3.3</a:t>
            </a:r>
          </a:p>
        </p:txBody>
      </p:sp>
      <p:sp>
        <p:nvSpPr>
          <p:cNvPr id="39" name="TextBox 38"/>
          <p:cNvSpPr txBox="1"/>
          <p:nvPr/>
        </p:nvSpPr>
        <p:spPr>
          <a:xfrm>
            <a:off x="6269863" y="6535420"/>
            <a:ext cx="535698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40</a:t>
            </a:r>
          </a:p>
        </p:txBody>
      </p:sp>
      <p:sp>
        <p:nvSpPr>
          <p:cNvPr id="40" name="Enlace a sep-intro">
            <a:hlinkClick action="ppaction://hlinksldjump" r:id="rId5"/>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nlace a sep-teoria">
            <a:hlinkClick action="ppaction://hlinksldjump" r:id="rId6"/>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nlace a sep-diseno">
            <a:hlinkClick action="ppaction://hlinksldjump" r:id="rId7"/>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nlace a sep-resultados">
            <a:hlinkClick action="ppaction://hlinksldjump" r:id="rId8"/>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nlace a sep-analisis">
            <a:hlinkClick action="ppaction://hlinksldjump" r:id="rId9"/>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nlace a sep-conclusiones">
            <a:hlinkClick action="ppaction://hlinksldjump" r:id="rId10"/>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9" fill="hold">
                      <p:stCondLst>
                        <p:cond delay="indefinite"/>
                        <p:cond evt="onBegin" delay="0">
                          <p:tn val="2"/>
                        </p:cond>
                      </p:stCondLst>
                      <p:childTnLst>
                        <p:par>
                          <p:cTn id="70"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childTnLst>
                          </p:cTn>
                        </p:par>
                      </p:childTnLst>
                    </p:cTn>
                  </p:par>
                  <p:par>
                    <p:cTn id="71" fill="hold">
                      <p:stCondLst>
                        <p:cond delay="indefinite"/>
                      </p:stCondLst>
                      <p:childTnLst>
                        <p:par>
                          <p:cTn id="72"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childTnLst>
                          </p:cTn>
                        </p:par>
                      </p:childTnLst>
                    </p:cTn>
                  </p:par>
                  <p:par>
                    <p:cTn id="73" fill="hold">
                      <p:stCondLst>
                        <p:cond delay="indefinite"/>
                      </p:stCondLst>
                      <p:childTnLst>
                        <p:par>
                          <p:cTn id="74"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04</a:t>
            </a:r>
          </a:p>
        </p:txBody>
      </p:sp>
      <p:sp>
        <p:nvSpPr>
          <p:cNvPr id="4" name="TextBox 3"/>
          <p:cNvSpPr txBox="1"/>
          <p:nvPr/>
        </p:nvSpPr>
        <p:spPr>
          <a:xfrm>
            <a:off x="898398" y="282141"/>
            <a:ext cx="215950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Presentación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Viga de Timoshenko: analítica, SAP2000 y EduFEM</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1438275"/>
            <a:ext cx="10915650" cy="1898650"/>
          </a:xfrm>
          <a:prstGeom prst="roundRect">
            <a:avLst>
              <a:gd name="adj" fmla="val 5183"/>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f6c9e7934db93b8.png"/>
          <p:cNvPicPr>
            <a:picLocks noChangeAspect="1"/>
          </p:cNvPicPr>
          <p:nvPr/>
        </p:nvPicPr>
        <p:blipFill>
          <a:blip r:embed="rId2"/>
          <a:stretch>
            <a:fillRect/>
          </a:stretch>
        </p:blipFill>
        <p:spPr>
          <a:xfrm>
            <a:off x="641350" y="1441450"/>
            <a:ext cx="10922000" cy="1905000"/>
          </a:xfrm>
          <a:prstGeom prst="rect">
            <a:avLst/>
          </a:prstGeom>
        </p:spPr>
      </p:pic>
      <p:sp>
        <p:nvSpPr>
          <p:cNvPr id="15" name="TextBox 14"/>
          <p:cNvSpPr txBox="1"/>
          <p:nvPr/>
        </p:nvSpPr>
        <p:spPr>
          <a:xfrm>
            <a:off x="635000" y="3383622"/>
            <a:ext cx="11140440"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5B6575"/>
                </a:solidFill>
                <a:latin typeface="Calibri"/>
              </a:rPr>
              <a:t>σx (kgf/cm²)</a:t>
            </a:r>
          </a:p>
        </p:txBody>
      </p:sp>
      <p:sp>
        <p:nvSpPr>
          <p:cNvPr id="16" name="TextBox 15"/>
          <p:cNvSpPr txBox="1"/>
          <p:nvPr/>
        </p:nvSpPr>
        <p:spPr>
          <a:xfrm>
            <a:off x="1403858" y="3383622"/>
            <a:ext cx="421958"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5B6575"/>
                </a:solidFill>
                <a:latin typeface="Calibri"/>
              </a:rPr>
              <a:t>−127,9</a:t>
            </a:r>
          </a:p>
        </p:txBody>
      </p:sp>
      <p:sp>
        <p:nvSpPr>
          <p:cNvPr id="17" name="Rounded Rectangle 16"/>
          <p:cNvSpPr/>
          <p:nvPr/>
        </p:nvSpPr>
        <p:spPr>
          <a:xfrm>
            <a:off x="1863915" y="3416300"/>
            <a:ext cx="2286000" cy="88900"/>
          </a:xfrm>
          <a:prstGeom prst="roundRect">
            <a:avLst>
              <a:gd name="adj" fmla="val 50000"/>
            </a:avLst>
          </a:prstGeom>
          <a:gradFill rotWithShape="1">
            <a:gsLst>
              <a:gs pos="0">
                <a:srgbClr val="000080"/>
              </a:gs>
              <a:gs pos="10000">
                <a:srgbClr val="0000E6"/>
              </a:gs>
              <a:gs pos="20000">
                <a:srgbClr val="004DFF"/>
              </a:gs>
              <a:gs pos="30000">
                <a:srgbClr val="00B3FF"/>
              </a:gs>
              <a:gs pos="40000">
                <a:srgbClr val="1AFFE5"/>
              </a:gs>
              <a:gs pos="50000">
                <a:srgbClr val="80FF80"/>
              </a:gs>
              <a:gs pos="60000">
                <a:srgbClr val="E5FF1A"/>
              </a:gs>
              <a:gs pos="70000">
                <a:srgbClr val="FFB300"/>
              </a:gs>
              <a:gs pos="80000">
                <a:srgbClr val="FF4C00"/>
              </a:gs>
              <a:gs pos="90000">
                <a:srgbClr val="E50000"/>
              </a:gs>
              <a:gs pos="100000">
                <a:srgbClr val="80000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38816" y="3383622"/>
            <a:ext cx="355600"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5B6575"/>
                </a:solidFill>
                <a:latin typeface="Calibri"/>
              </a:rPr>
              <a:t>127,9</a:t>
            </a:r>
          </a:p>
        </p:txBody>
      </p:sp>
      <p:sp>
        <p:nvSpPr>
          <p:cNvPr id="19" name="TextBox 18"/>
          <p:cNvSpPr txBox="1"/>
          <p:nvPr/>
        </p:nvSpPr>
        <p:spPr>
          <a:xfrm>
            <a:off x="8199120" y="3383622"/>
            <a:ext cx="3425000" cy="162750"/>
          </a:xfrm>
          <a:prstGeom prst="rect">
            <a:avLst/>
          </a:prstGeom>
          <a:noFill/>
        </p:spPr>
        <p:txBody>
          <a:bodyPr wrap="square" lIns="0" rIns="0" tIns="0" bIns="0" anchor="t"/>
          <a:lstStyle/>
          <a:p>
            <a:pPr algn="l">
              <a:lnSpc>
                <a:spcPts val="1282"/>
              </a:lnSpc>
              <a:spcBef>
                <a:spcPts val="0"/>
              </a:spcBef>
              <a:spcAft>
                <a:spcPts val="0"/>
              </a:spcAft>
            </a:pPr>
            <a:r>
              <a:rPr sz="1050" b="1" i="0">
                <a:solidFill>
                  <a:srgbClr val="5B6575"/>
                </a:solidFill>
                <a:latin typeface="Calibri"/>
              </a:rPr>
              <a:t>Q9 56 × 8 · 1921 nodos · 3842 GDL · deformada ampliada ×15</a:t>
            </a:r>
          </a:p>
        </p:txBody>
      </p:sp>
      <p:sp>
        <p:nvSpPr>
          <p:cNvPr id="20" name="Rectangle 19"/>
          <p:cNvSpPr/>
          <p:nvPr/>
        </p:nvSpPr>
        <p:spPr>
          <a:xfrm>
            <a:off x="635000" y="3657600"/>
            <a:ext cx="785304"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000" y="4006850"/>
            <a:ext cx="78530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300" y="3751412"/>
            <a:ext cx="607504"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Punto</a:t>
            </a:r>
          </a:p>
        </p:txBody>
      </p:sp>
      <p:sp>
        <p:nvSpPr>
          <p:cNvPr id="23" name="Rectangle 22"/>
          <p:cNvSpPr/>
          <p:nvPr/>
        </p:nvSpPr>
        <p:spPr>
          <a:xfrm>
            <a:off x="1420304" y="3657600"/>
            <a:ext cx="111353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20304" y="4006850"/>
            <a:ext cx="111353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83804" y="3751412"/>
            <a:ext cx="93573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EduFEM</a:t>
            </a:r>
          </a:p>
        </p:txBody>
      </p:sp>
      <p:sp>
        <p:nvSpPr>
          <p:cNvPr id="26" name="Rectangle 25"/>
          <p:cNvSpPr/>
          <p:nvPr/>
        </p:nvSpPr>
        <p:spPr>
          <a:xfrm>
            <a:off x="2533840" y="3657600"/>
            <a:ext cx="111353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33840" y="4006850"/>
            <a:ext cx="111353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97340" y="3751412"/>
            <a:ext cx="93573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Analítica</a:t>
            </a:r>
          </a:p>
        </p:txBody>
      </p:sp>
      <p:sp>
        <p:nvSpPr>
          <p:cNvPr id="29" name="Rectangle 28"/>
          <p:cNvSpPr/>
          <p:nvPr/>
        </p:nvSpPr>
        <p:spPr>
          <a:xfrm>
            <a:off x="3647376" y="3657600"/>
            <a:ext cx="111353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47376" y="4006850"/>
            <a:ext cx="111353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10876" y="3751412"/>
            <a:ext cx="93573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SAP2000</a:t>
            </a:r>
          </a:p>
        </p:txBody>
      </p:sp>
      <p:sp>
        <p:nvSpPr>
          <p:cNvPr id="32" name="Rectangle 31"/>
          <p:cNvSpPr/>
          <p:nvPr/>
        </p:nvSpPr>
        <p:spPr>
          <a:xfrm>
            <a:off x="4760912" y="3657600"/>
            <a:ext cx="112096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60912" y="4006850"/>
            <a:ext cx="112096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24412" y="3751412"/>
            <a:ext cx="94316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Error anal.</a:t>
            </a:r>
          </a:p>
        </p:txBody>
      </p:sp>
      <p:sp>
        <p:nvSpPr>
          <p:cNvPr id="35" name="Rectangle 34"/>
          <p:cNvSpPr/>
          <p:nvPr/>
        </p:nvSpPr>
        <p:spPr>
          <a:xfrm>
            <a:off x="5881878" y="3657600"/>
            <a:ext cx="1103122"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81878" y="4006850"/>
            <a:ext cx="110312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5378" y="3751412"/>
            <a:ext cx="92532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Difer. SAP</a:t>
            </a:r>
          </a:p>
        </p:txBody>
      </p:sp>
      <p:sp>
        <p:nvSpPr>
          <p:cNvPr id="38" name="Rectangle 37"/>
          <p:cNvSpPr/>
          <p:nvPr/>
        </p:nvSpPr>
        <p:spPr>
          <a:xfrm>
            <a:off x="635000" y="4025900"/>
            <a:ext cx="785304"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5000" y="4516438"/>
            <a:ext cx="78530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300" y="4159917"/>
            <a:ext cx="607504" cy="198438"/>
          </a:xfrm>
          <a:prstGeom prst="rect">
            <a:avLst/>
          </a:prstGeom>
          <a:noFill/>
        </p:spPr>
        <p:txBody>
          <a:bodyPr wrap="square" lIns="0" rIns="0" tIns="0" bIns="0" anchor="t"/>
          <a:lstStyle/>
          <a:p>
            <a:pPr algn="l">
              <a:lnSpc>
                <a:spcPts val="1562"/>
              </a:lnSpc>
              <a:spcBef>
                <a:spcPts val="0"/>
              </a:spcBef>
              <a:spcAft>
                <a:spcPts val="0"/>
              </a:spcAft>
            </a:pPr>
            <a:r>
              <a:rPr sz="1250" b="1" i="0">
                <a:solidFill>
                  <a:srgbClr val="1F2937"/>
                </a:solidFill>
                <a:latin typeface="Calibri"/>
              </a:rPr>
              <a:t>A · σ</a:t>
            </a:r>
            <a:r>
              <a:rPr sz="1250" b="1" i="0" baseline="-25000">
                <a:solidFill>
                  <a:srgbClr val="1F2937"/>
                </a:solidFill>
                <a:latin typeface="Calibri"/>
              </a:rPr>
              <a:t>x</a:t>
            </a:r>
          </a:p>
        </p:txBody>
      </p:sp>
      <p:sp>
        <p:nvSpPr>
          <p:cNvPr id="41" name="Rectangle 40"/>
          <p:cNvSpPr/>
          <p:nvPr/>
        </p:nvSpPr>
        <p:spPr>
          <a:xfrm>
            <a:off x="1420304" y="4025900"/>
            <a:ext cx="1113536"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420304" y="4516438"/>
            <a:ext cx="111353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83804" y="4175157"/>
            <a:ext cx="935736" cy="198438"/>
          </a:xfrm>
          <a:prstGeom prst="rect">
            <a:avLst/>
          </a:prstGeom>
          <a:noFill/>
        </p:spPr>
        <p:txBody>
          <a:bodyPr wrap="square" lIns="0" rIns="0" tIns="0" bIns="0" anchor="t"/>
          <a:lstStyle/>
          <a:p>
            <a:pPr algn="r">
              <a:lnSpc>
                <a:spcPts val="1562"/>
              </a:lnSpc>
              <a:spcBef>
                <a:spcPts val="0"/>
              </a:spcBef>
              <a:spcAft>
                <a:spcPts val="0"/>
              </a:spcAft>
            </a:pPr>
            <a:r>
              <a:rPr sz="1250" b="0" i="0">
                <a:solidFill>
                  <a:srgbClr val="1F2937"/>
                </a:solidFill>
                <a:latin typeface="Calibri"/>
              </a:rPr>
              <a:t>127,8825</a:t>
            </a:r>
          </a:p>
        </p:txBody>
      </p:sp>
      <p:sp>
        <p:nvSpPr>
          <p:cNvPr id="44" name="Rectangle 43"/>
          <p:cNvSpPr/>
          <p:nvPr/>
        </p:nvSpPr>
        <p:spPr>
          <a:xfrm>
            <a:off x="2533840" y="4025900"/>
            <a:ext cx="1113536"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33840" y="4516438"/>
            <a:ext cx="111353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97340" y="4175157"/>
            <a:ext cx="935736" cy="198438"/>
          </a:xfrm>
          <a:prstGeom prst="rect">
            <a:avLst/>
          </a:prstGeom>
          <a:noFill/>
        </p:spPr>
        <p:txBody>
          <a:bodyPr wrap="square" lIns="0" rIns="0" tIns="0" bIns="0" anchor="t"/>
          <a:lstStyle/>
          <a:p>
            <a:pPr algn="r">
              <a:lnSpc>
                <a:spcPts val="1562"/>
              </a:lnSpc>
              <a:spcBef>
                <a:spcPts val="0"/>
              </a:spcBef>
              <a:spcAft>
                <a:spcPts val="0"/>
              </a:spcAft>
            </a:pPr>
            <a:r>
              <a:rPr sz="1250" b="0" i="0">
                <a:solidFill>
                  <a:srgbClr val="1F2937"/>
                </a:solidFill>
                <a:latin typeface="Calibri"/>
              </a:rPr>
              <a:t>127,8542</a:t>
            </a:r>
          </a:p>
        </p:txBody>
      </p:sp>
      <p:sp>
        <p:nvSpPr>
          <p:cNvPr id="47" name="Rectangle 46"/>
          <p:cNvSpPr/>
          <p:nvPr/>
        </p:nvSpPr>
        <p:spPr>
          <a:xfrm>
            <a:off x="3647376" y="4025900"/>
            <a:ext cx="1113536"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647376" y="4516438"/>
            <a:ext cx="111353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10876" y="4175157"/>
            <a:ext cx="935736" cy="198438"/>
          </a:xfrm>
          <a:prstGeom prst="rect">
            <a:avLst/>
          </a:prstGeom>
          <a:noFill/>
        </p:spPr>
        <p:txBody>
          <a:bodyPr wrap="square" lIns="0" rIns="0" tIns="0" bIns="0" anchor="t"/>
          <a:lstStyle/>
          <a:p>
            <a:pPr algn="r">
              <a:lnSpc>
                <a:spcPts val="1562"/>
              </a:lnSpc>
              <a:spcBef>
                <a:spcPts val="0"/>
              </a:spcBef>
              <a:spcAft>
                <a:spcPts val="0"/>
              </a:spcAft>
            </a:pPr>
            <a:r>
              <a:rPr sz="1250" b="0" i="0">
                <a:solidFill>
                  <a:srgbClr val="1F2937"/>
                </a:solidFill>
                <a:latin typeface="Calibri"/>
              </a:rPr>
              <a:t>127,8510</a:t>
            </a:r>
          </a:p>
        </p:txBody>
      </p:sp>
      <p:sp>
        <p:nvSpPr>
          <p:cNvPr id="50" name="Rectangle 49"/>
          <p:cNvSpPr/>
          <p:nvPr/>
        </p:nvSpPr>
        <p:spPr>
          <a:xfrm>
            <a:off x="4760912" y="4025900"/>
            <a:ext cx="1120966"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760912" y="4516438"/>
            <a:ext cx="112096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24412" y="4118007"/>
            <a:ext cx="943166" cy="198438"/>
          </a:xfrm>
          <a:prstGeom prst="rect">
            <a:avLst/>
          </a:prstGeom>
          <a:noFill/>
        </p:spPr>
        <p:txBody>
          <a:bodyPr wrap="square" lIns="0" rIns="0" tIns="0" bIns="0" anchor="t"/>
          <a:lstStyle/>
          <a:p>
            <a:pPr algn="r">
              <a:lnSpc>
                <a:spcPts val="1562"/>
              </a:lnSpc>
              <a:spcBef>
                <a:spcPts val="0"/>
              </a:spcBef>
              <a:spcAft>
                <a:spcPts val="0"/>
              </a:spcAft>
            </a:pPr>
            <a:r>
              <a:rPr sz="1250" b="1" i="0">
                <a:solidFill>
                  <a:srgbClr val="2E8B57"/>
                </a:solidFill>
                <a:latin typeface="Calibri"/>
              </a:rPr>
              <a:t>0,0221 %</a:t>
            </a:r>
          </a:p>
        </p:txBody>
      </p:sp>
      <p:sp>
        <p:nvSpPr>
          <p:cNvPr id="53" name="Rounded Rectangle 52"/>
          <p:cNvSpPr/>
          <p:nvPr/>
        </p:nvSpPr>
        <p:spPr>
          <a:xfrm>
            <a:off x="4875212" y="4351338"/>
            <a:ext cx="892366" cy="762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4875212" y="4351338"/>
            <a:ext cx="19622" cy="762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881878" y="4025900"/>
            <a:ext cx="1103122"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881878" y="4516438"/>
            <a:ext cx="11031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5378" y="4118007"/>
            <a:ext cx="925322" cy="198438"/>
          </a:xfrm>
          <a:prstGeom prst="rect">
            <a:avLst/>
          </a:prstGeom>
          <a:noFill/>
        </p:spPr>
        <p:txBody>
          <a:bodyPr wrap="square" lIns="0" rIns="0" tIns="0" bIns="0" anchor="t"/>
          <a:lstStyle/>
          <a:p>
            <a:pPr algn="r">
              <a:lnSpc>
                <a:spcPts val="1562"/>
              </a:lnSpc>
              <a:spcBef>
                <a:spcPts val="0"/>
              </a:spcBef>
              <a:spcAft>
                <a:spcPts val="0"/>
              </a:spcAft>
            </a:pPr>
            <a:r>
              <a:rPr sz="1250" b="1" i="0">
                <a:solidFill>
                  <a:srgbClr val="2E8B57"/>
                </a:solidFill>
                <a:latin typeface="Calibri"/>
              </a:rPr>
              <a:t>0,0246 %</a:t>
            </a:r>
          </a:p>
        </p:txBody>
      </p:sp>
      <p:sp>
        <p:nvSpPr>
          <p:cNvPr id="58" name="Rounded Rectangle 57"/>
          <p:cNvSpPr/>
          <p:nvPr/>
        </p:nvSpPr>
        <p:spPr>
          <a:xfrm>
            <a:off x="5996178" y="4351338"/>
            <a:ext cx="874522" cy="762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996178" y="4351338"/>
            <a:ext cx="21463" cy="762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35000" y="4522788"/>
            <a:ext cx="785304" cy="49688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35000" y="5013325"/>
            <a:ext cx="78530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9300" y="4656804"/>
            <a:ext cx="607504" cy="198438"/>
          </a:xfrm>
          <a:prstGeom prst="rect">
            <a:avLst/>
          </a:prstGeom>
          <a:noFill/>
        </p:spPr>
        <p:txBody>
          <a:bodyPr wrap="square" lIns="0" rIns="0" tIns="0" bIns="0" anchor="t"/>
          <a:lstStyle/>
          <a:p>
            <a:pPr algn="l">
              <a:lnSpc>
                <a:spcPts val="1562"/>
              </a:lnSpc>
              <a:spcBef>
                <a:spcPts val="0"/>
              </a:spcBef>
              <a:spcAft>
                <a:spcPts val="0"/>
              </a:spcAft>
            </a:pPr>
            <a:r>
              <a:rPr sz="1250" b="1" i="0">
                <a:solidFill>
                  <a:srgbClr val="1F2937"/>
                </a:solidFill>
                <a:latin typeface="Calibri"/>
              </a:rPr>
              <a:t>B · σ</a:t>
            </a:r>
            <a:r>
              <a:rPr sz="1250" b="1" i="0" baseline="-25000">
                <a:solidFill>
                  <a:srgbClr val="1F2937"/>
                </a:solidFill>
                <a:latin typeface="Calibri"/>
              </a:rPr>
              <a:t>x</a:t>
            </a:r>
          </a:p>
        </p:txBody>
      </p:sp>
      <p:sp>
        <p:nvSpPr>
          <p:cNvPr id="63" name="Rectangle 62"/>
          <p:cNvSpPr/>
          <p:nvPr/>
        </p:nvSpPr>
        <p:spPr>
          <a:xfrm>
            <a:off x="1420304" y="4522788"/>
            <a:ext cx="1113536" cy="49688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420304" y="5013325"/>
            <a:ext cx="111353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483804" y="4672044"/>
            <a:ext cx="935736" cy="198438"/>
          </a:xfrm>
          <a:prstGeom prst="rect">
            <a:avLst/>
          </a:prstGeom>
          <a:noFill/>
        </p:spPr>
        <p:txBody>
          <a:bodyPr wrap="square" lIns="0" rIns="0" tIns="0" bIns="0" anchor="t"/>
          <a:lstStyle/>
          <a:p>
            <a:pPr algn="r">
              <a:lnSpc>
                <a:spcPts val="1562"/>
              </a:lnSpc>
              <a:spcBef>
                <a:spcPts val="0"/>
              </a:spcBef>
              <a:spcAft>
                <a:spcPts val="0"/>
              </a:spcAft>
            </a:pPr>
            <a:r>
              <a:rPr sz="1250" b="0" i="0">
                <a:solidFill>
                  <a:srgbClr val="1F2937"/>
                </a:solidFill>
                <a:latin typeface="Calibri"/>
              </a:rPr>
              <a:t>−37,3410</a:t>
            </a:r>
          </a:p>
        </p:txBody>
      </p:sp>
      <p:sp>
        <p:nvSpPr>
          <p:cNvPr id="66" name="Rectangle 65"/>
          <p:cNvSpPr/>
          <p:nvPr/>
        </p:nvSpPr>
        <p:spPr>
          <a:xfrm>
            <a:off x="2533840" y="4522788"/>
            <a:ext cx="1113536" cy="49688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33840" y="5013325"/>
            <a:ext cx="111353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597340" y="4672044"/>
            <a:ext cx="935736" cy="198438"/>
          </a:xfrm>
          <a:prstGeom prst="rect">
            <a:avLst/>
          </a:prstGeom>
          <a:noFill/>
        </p:spPr>
        <p:txBody>
          <a:bodyPr wrap="square" lIns="0" rIns="0" tIns="0" bIns="0" anchor="t"/>
          <a:lstStyle/>
          <a:p>
            <a:pPr algn="r">
              <a:lnSpc>
                <a:spcPts val="1562"/>
              </a:lnSpc>
              <a:spcBef>
                <a:spcPts val="0"/>
              </a:spcBef>
              <a:spcAft>
                <a:spcPts val="0"/>
              </a:spcAft>
            </a:pPr>
            <a:r>
              <a:rPr sz="1250" b="0" i="0">
                <a:solidFill>
                  <a:srgbClr val="1F2937"/>
                </a:solidFill>
                <a:latin typeface="Calibri"/>
              </a:rPr>
              <a:t>−37,3255</a:t>
            </a:r>
          </a:p>
        </p:txBody>
      </p:sp>
      <p:sp>
        <p:nvSpPr>
          <p:cNvPr id="69" name="Rectangle 68"/>
          <p:cNvSpPr/>
          <p:nvPr/>
        </p:nvSpPr>
        <p:spPr>
          <a:xfrm>
            <a:off x="3647376" y="4522788"/>
            <a:ext cx="1113536" cy="49688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647376" y="5013325"/>
            <a:ext cx="111353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710876" y="4672044"/>
            <a:ext cx="935736" cy="198438"/>
          </a:xfrm>
          <a:prstGeom prst="rect">
            <a:avLst/>
          </a:prstGeom>
          <a:noFill/>
        </p:spPr>
        <p:txBody>
          <a:bodyPr wrap="square" lIns="0" rIns="0" tIns="0" bIns="0" anchor="t"/>
          <a:lstStyle/>
          <a:p>
            <a:pPr algn="r">
              <a:lnSpc>
                <a:spcPts val="1562"/>
              </a:lnSpc>
              <a:spcBef>
                <a:spcPts val="0"/>
              </a:spcBef>
              <a:spcAft>
                <a:spcPts val="0"/>
              </a:spcAft>
            </a:pPr>
            <a:r>
              <a:rPr sz="1250" b="0" i="0">
                <a:solidFill>
                  <a:srgbClr val="1F2937"/>
                </a:solidFill>
                <a:latin typeface="Calibri"/>
              </a:rPr>
              <a:t>−37,2640</a:t>
            </a:r>
          </a:p>
        </p:txBody>
      </p:sp>
      <p:sp>
        <p:nvSpPr>
          <p:cNvPr id="72" name="Rectangle 71"/>
          <p:cNvSpPr/>
          <p:nvPr/>
        </p:nvSpPr>
        <p:spPr>
          <a:xfrm>
            <a:off x="4760912" y="4522788"/>
            <a:ext cx="1120966" cy="49688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760912" y="5013325"/>
            <a:ext cx="112096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24412" y="4614894"/>
            <a:ext cx="943166" cy="198438"/>
          </a:xfrm>
          <a:prstGeom prst="rect">
            <a:avLst/>
          </a:prstGeom>
          <a:noFill/>
        </p:spPr>
        <p:txBody>
          <a:bodyPr wrap="square" lIns="0" rIns="0" tIns="0" bIns="0" anchor="t"/>
          <a:lstStyle/>
          <a:p>
            <a:pPr algn="r">
              <a:lnSpc>
                <a:spcPts val="1562"/>
              </a:lnSpc>
              <a:spcBef>
                <a:spcPts val="0"/>
              </a:spcBef>
              <a:spcAft>
                <a:spcPts val="0"/>
              </a:spcAft>
            </a:pPr>
            <a:r>
              <a:rPr sz="1250" b="1" i="0">
                <a:solidFill>
                  <a:srgbClr val="2E8B57"/>
                </a:solidFill>
                <a:latin typeface="Calibri"/>
              </a:rPr>
              <a:t>0,0414 %</a:t>
            </a:r>
          </a:p>
        </p:txBody>
      </p:sp>
      <p:sp>
        <p:nvSpPr>
          <p:cNvPr id="75" name="Rounded Rectangle 74"/>
          <p:cNvSpPr/>
          <p:nvPr/>
        </p:nvSpPr>
        <p:spPr>
          <a:xfrm>
            <a:off x="4875212" y="4848225"/>
            <a:ext cx="892366" cy="762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4875212" y="4848225"/>
            <a:ext cx="36894" cy="762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881878" y="4522788"/>
            <a:ext cx="1103122" cy="49688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881878" y="5013325"/>
            <a:ext cx="11031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945378" y="4614894"/>
            <a:ext cx="925322" cy="198438"/>
          </a:xfrm>
          <a:prstGeom prst="rect">
            <a:avLst/>
          </a:prstGeom>
          <a:noFill/>
        </p:spPr>
        <p:txBody>
          <a:bodyPr wrap="square" lIns="0" rIns="0" tIns="0" bIns="0" anchor="t"/>
          <a:lstStyle/>
          <a:p>
            <a:pPr algn="r">
              <a:lnSpc>
                <a:spcPts val="1562"/>
              </a:lnSpc>
              <a:spcBef>
                <a:spcPts val="0"/>
              </a:spcBef>
              <a:spcAft>
                <a:spcPts val="0"/>
              </a:spcAft>
            </a:pPr>
            <a:r>
              <a:rPr sz="1250" b="1" i="0">
                <a:solidFill>
                  <a:srgbClr val="2E8B57"/>
                </a:solidFill>
                <a:latin typeface="Calibri"/>
              </a:rPr>
              <a:t>0,2066 %</a:t>
            </a:r>
          </a:p>
        </p:txBody>
      </p:sp>
      <p:sp>
        <p:nvSpPr>
          <p:cNvPr id="80" name="Rounded Rectangle 79"/>
          <p:cNvSpPr/>
          <p:nvPr/>
        </p:nvSpPr>
        <p:spPr>
          <a:xfrm>
            <a:off x="5996178" y="4848225"/>
            <a:ext cx="874522" cy="762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5996178" y="4848225"/>
            <a:ext cx="180594" cy="762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35000" y="5019675"/>
            <a:ext cx="785304"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5000" y="5510212"/>
            <a:ext cx="78530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49300" y="5153692"/>
            <a:ext cx="607504" cy="198438"/>
          </a:xfrm>
          <a:prstGeom prst="rect">
            <a:avLst/>
          </a:prstGeom>
          <a:noFill/>
        </p:spPr>
        <p:txBody>
          <a:bodyPr wrap="square" lIns="0" rIns="0" tIns="0" bIns="0" anchor="t"/>
          <a:lstStyle/>
          <a:p>
            <a:pPr algn="l">
              <a:lnSpc>
                <a:spcPts val="1562"/>
              </a:lnSpc>
              <a:spcBef>
                <a:spcPts val="0"/>
              </a:spcBef>
              <a:spcAft>
                <a:spcPts val="0"/>
              </a:spcAft>
            </a:pPr>
            <a:r>
              <a:rPr sz="1250" b="1" i="0">
                <a:solidFill>
                  <a:srgbClr val="1F2937"/>
                </a:solidFill>
                <a:latin typeface="Calibri"/>
              </a:rPr>
              <a:t>C · σ</a:t>
            </a:r>
            <a:r>
              <a:rPr sz="1250" b="1" i="0" baseline="-25000">
                <a:solidFill>
                  <a:srgbClr val="1F2937"/>
                </a:solidFill>
                <a:latin typeface="Calibri"/>
              </a:rPr>
              <a:t>x</a:t>
            </a:r>
          </a:p>
        </p:txBody>
      </p:sp>
      <p:sp>
        <p:nvSpPr>
          <p:cNvPr id="85" name="Rectangle 84"/>
          <p:cNvSpPr/>
          <p:nvPr/>
        </p:nvSpPr>
        <p:spPr>
          <a:xfrm>
            <a:off x="1420304" y="5019675"/>
            <a:ext cx="1113536"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420304" y="5510212"/>
            <a:ext cx="111353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483804" y="5168932"/>
            <a:ext cx="935736" cy="198438"/>
          </a:xfrm>
          <a:prstGeom prst="rect">
            <a:avLst/>
          </a:prstGeom>
          <a:noFill/>
        </p:spPr>
        <p:txBody>
          <a:bodyPr wrap="square" lIns="0" rIns="0" tIns="0" bIns="0" anchor="t"/>
          <a:lstStyle/>
          <a:p>
            <a:pPr algn="r">
              <a:lnSpc>
                <a:spcPts val="1562"/>
              </a:lnSpc>
              <a:spcBef>
                <a:spcPts val="0"/>
              </a:spcBef>
              <a:spcAft>
                <a:spcPts val="0"/>
              </a:spcAft>
            </a:pPr>
            <a:r>
              <a:rPr sz="1250" b="0" i="0">
                <a:solidFill>
                  <a:srgbClr val="1F2937"/>
                </a:solidFill>
                <a:latin typeface="Calibri"/>
              </a:rPr>
              <a:t>−31,8077</a:t>
            </a:r>
          </a:p>
        </p:txBody>
      </p:sp>
      <p:sp>
        <p:nvSpPr>
          <p:cNvPr id="88" name="Rectangle 87"/>
          <p:cNvSpPr/>
          <p:nvPr/>
        </p:nvSpPr>
        <p:spPr>
          <a:xfrm>
            <a:off x="2533840" y="5019675"/>
            <a:ext cx="1113536"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2533840" y="5510212"/>
            <a:ext cx="111353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597340" y="5168932"/>
            <a:ext cx="935736" cy="198438"/>
          </a:xfrm>
          <a:prstGeom prst="rect">
            <a:avLst/>
          </a:prstGeom>
          <a:noFill/>
        </p:spPr>
        <p:txBody>
          <a:bodyPr wrap="square" lIns="0" rIns="0" tIns="0" bIns="0" anchor="t"/>
          <a:lstStyle/>
          <a:p>
            <a:pPr algn="r">
              <a:lnSpc>
                <a:spcPts val="1562"/>
              </a:lnSpc>
              <a:spcBef>
                <a:spcPts val="0"/>
              </a:spcBef>
              <a:spcAft>
                <a:spcPts val="0"/>
              </a:spcAft>
            </a:pPr>
            <a:r>
              <a:rPr sz="1250" b="0" i="0">
                <a:solidFill>
                  <a:srgbClr val="1F2937"/>
                </a:solidFill>
                <a:latin typeface="Calibri"/>
              </a:rPr>
              <a:t>−31,7992</a:t>
            </a:r>
          </a:p>
        </p:txBody>
      </p:sp>
      <p:sp>
        <p:nvSpPr>
          <p:cNvPr id="91" name="Rectangle 90"/>
          <p:cNvSpPr/>
          <p:nvPr/>
        </p:nvSpPr>
        <p:spPr>
          <a:xfrm>
            <a:off x="3647376" y="5019675"/>
            <a:ext cx="1113536"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3647376" y="5510212"/>
            <a:ext cx="111353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710876" y="5168932"/>
            <a:ext cx="935736" cy="198438"/>
          </a:xfrm>
          <a:prstGeom prst="rect">
            <a:avLst/>
          </a:prstGeom>
          <a:noFill/>
        </p:spPr>
        <p:txBody>
          <a:bodyPr wrap="square" lIns="0" rIns="0" tIns="0" bIns="0" anchor="t"/>
          <a:lstStyle/>
          <a:p>
            <a:pPr algn="r">
              <a:lnSpc>
                <a:spcPts val="1562"/>
              </a:lnSpc>
              <a:spcBef>
                <a:spcPts val="0"/>
              </a:spcBef>
              <a:spcAft>
                <a:spcPts val="0"/>
              </a:spcAft>
            </a:pPr>
            <a:r>
              <a:rPr sz="1250" b="0" i="0">
                <a:solidFill>
                  <a:srgbClr val="1F2937"/>
                </a:solidFill>
                <a:latin typeface="Calibri"/>
              </a:rPr>
              <a:t>−31,7850</a:t>
            </a:r>
          </a:p>
        </p:txBody>
      </p:sp>
      <p:sp>
        <p:nvSpPr>
          <p:cNvPr id="94" name="Rectangle 93"/>
          <p:cNvSpPr/>
          <p:nvPr/>
        </p:nvSpPr>
        <p:spPr>
          <a:xfrm>
            <a:off x="4760912" y="5019675"/>
            <a:ext cx="1120966"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760912" y="5510212"/>
            <a:ext cx="112096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824412" y="5111782"/>
            <a:ext cx="943166" cy="198438"/>
          </a:xfrm>
          <a:prstGeom prst="rect">
            <a:avLst/>
          </a:prstGeom>
          <a:noFill/>
        </p:spPr>
        <p:txBody>
          <a:bodyPr wrap="square" lIns="0" rIns="0" tIns="0" bIns="0" anchor="t"/>
          <a:lstStyle/>
          <a:p>
            <a:pPr algn="r">
              <a:lnSpc>
                <a:spcPts val="1562"/>
              </a:lnSpc>
              <a:spcBef>
                <a:spcPts val="0"/>
              </a:spcBef>
              <a:spcAft>
                <a:spcPts val="0"/>
              </a:spcAft>
            </a:pPr>
            <a:r>
              <a:rPr sz="1250" b="1" i="0">
                <a:solidFill>
                  <a:srgbClr val="2E8B57"/>
                </a:solidFill>
                <a:latin typeface="Calibri"/>
              </a:rPr>
              <a:t>0,0268 %</a:t>
            </a:r>
          </a:p>
        </p:txBody>
      </p:sp>
      <p:sp>
        <p:nvSpPr>
          <p:cNvPr id="97" name="Rounded Rectangle 96"/>
          <p:cNvSpPr/>
          <p:nvPr/>
        </p:nvSpPr>
        <p:spPr>
          <a:xfrm>
            <a:off x="4875212" y="5345112"/>
            <a:ext cx="892366" cy="762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4875212" y="5345112"/>
            <a:ext cx="23940" cy="762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5881878" y="5019675"/>
            <a:ext cx="1103122" cy="4968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5881878" y="5510212"/>
            <a:ext cx="11031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945378" y="5111782"/>
            <a:ext cx="925322" cy="198438"/>
          </a:xfrm>
          <a:prstGeom prst="rect">
            <a:avLst/>
          </a:prstGeom>
          <a:noFill/>
        </p:spPr>
        <p:txBody>
          <a:bodyPr wrap="square" lIns="0" rIns="0" tIns="0" bIns="0" anchor="t"/>
          <a:lstStyle/>
          <a:p>
            <a:pPr algn="r">
              <a:lnSpc>
                <a:spcPts val="1562"/>
              </a:lnSpc>
              <a:spcBef>
                <a:spcPts val="0"/>
              </a:spcBef>
              <a:spcAft>
                <a:spcPts val="0"/>
              </a:spcAft>
            </a:pPr>
            <a:r>
              <a:rPr sz="1250" b="1" i="0">
                <a:solidFill>
                  <a:srgbClr val="2E8B57"/>
                </a:solidFill>
                <a:latin typeface="Calibri"/>
              </a:rPr>
              <a:t>0,0715 %</a:t>
            </a:r>
          </a:p>
        </p:txBody>
      </p:sp>
      <p:sp>
        <p:nvSpPr>
          <p:cNvPr id="102" name="Rounded Rectangle 101"/>
          <p:cNvSpPr/>
          <p:nvPr/>
        </p:nvSpPr>
        <p:spPr>
          <a:xfrm>
            <a:off x="5996178" y="5345112"/>
            <a:ext cx="874522" cy="762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5996178" y="5345112"/>
            <a:ext cx="62484" cy="762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35000" y="5565172"/>
            <a:ext cx="6477000"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kgf/cm². La barra llena representa el umbral del 1 %. SAP2000 (cáscara) no es el patrón de</a:t>
            </a:r>
            <a:br/>
            <a:r>
              <a:rPr sz="1250" b="0" i="0">
                <a:solidFill>
                  <a:srgbClr val="5B6575"/>
                </a:solidFill>
                <a:latin typeface="Calibri"/>
              </a:rPr>
              <a:t>EduFEM (continuo): por eso «diferencia».</a:t>
            </a:r>
          </a:p>
        </p:txBody>
      </p:sp>
      <p:sp>
        <p:nvSpPr>
          <p:cNvPr id="105" name="TextBox 104"/>
          <p:cNvSpPr txBox="1"/>
          <p:nvPr/>
        </p:nvSpPr>
        <p:spPr>
          <a:xfrm>
            <a:off x="7239000" y="3659142"/>
            <a:ext cx="4404360" cy="124016"/>
          </a:xfrm>
          <a:prstGeom prst="rect">
            <a:avLst/>
          </a:prstGeom>
          <a:noFill/>
        </p:spPr>
        <p:txBody>
          <a:bodyPr wrap="square" lIns="0" rIns="0" tIns="0" bIns="0" anchor="t"/>
          <a:lstStyle/>
          <a:p>
            <a:pPr algn="l">
              <a:lnSpc>
                <a:spcPts val="976"/>
              </a:lnSpc>
              <a:spcBef>
                <a:spcPts val="0"/>
              </a:spcBef>
              <a:spcAft>
                <a:spcPts val="0"/>
              </a:spcAft>
            </a:pPr>
            <a:r>
              <a:rPr sz="800" b="0" i="0">
                <a:solidFill>
                  <a:srgbClr val="1F2937"/>
                </a:solidFill>
                <a:latin typeface="Calibri"/>
              </a:rPr>
              <a:t>Equilibrio global</a:t>
            </a:r>
          </a:p>
        </p:txBody>
      </p:sp>
      <p:sp>
        <p:nvSpPr>
          <p:cNvPr id="106" name="TextBox 105"/>
          <p:cNvSpPr txBox="1"/>
          <p:nvPr/>
        </p:nvSpPr>
        <p:spPr>
          <a:xfrm>
            <a:off x="7239000" y="3872293"/>
            <a:ext cx="4404360" cy="546100"/>
          </a:xfrm>
          <a:prstGeom prst="rect">
            <a:avLst/>
          </a:prstGeom>
          <a:noFill/>
        </p:spPr>
        <p:txBody>
          <a:bodyPr wrap="square" lIns="0" rIns="0" tIns="0" bIns="0" anchor="t"/>
          <a:lstStyle/>
          <a:p>
            <a:pPr algn="l">
              <a:lnSpc>
                <a:spcPts val="4300"/>
              </a:lnSpc>
              <a:spcBef>
                <a:spcPts val="0"/>
              </a:spcBef>
              <a:spcAft>
                <a:spcPts val="0"/>
              </a:spcAft>
            </a:pPr>
            <a:r>
              <a:rPr sz="4300" b="1" i="0">
                <a:solidFill>
                  <a:srgbClr val="2E8B57"/>
                </a:solidFill>
                <a:latin typeface="Calibri"/>
              </a:rPr>
              <a:t>1,7</a:t>
            </a:r>
            <a:r>
              <a:rPr sz="1935" b="1" i="0">
                <a:solidFill>
                  <a:srgbClr val="3F4A5A"/>
                </a:solidFill>
                <a:latin typeface="Calibri"/>
              </a:rPr>
              <a:t>× 10⁻¹³</a:t>
            </a:r>
          </a:p>
        </p:txBody>
      </p:sp>
      <p:sp>
        <p:nvSpPr>
          <p:cNvPr id="107" name="TextBox 106"/>
          <p:cNvSpPr txBox="1"/>
          <p:nvPr/>
        </p:nvSpPr>
        <p:spPr>
          <a:xfrm>
            <a:off x="7239000" y="4416425"/>
            <a:ext cx="4404360" cy="476250"/>
          </a:xfrm>
          <a:prstGeom prst="rect">
            <a:avLst/>
          </a:prstGeom>
          <a:noFill/>
        </p:spPr>
        <p:txBody>
          <a:bodyPr wrap="square" lIns="0" rIns="0" tIns="0" bIns="0" anchor="t"/>
          <a:lstStyle/>
          <a:p>
            <a:pPr algn="l">
              <a:lnSpc>
                <a:spcPts val="1875"/>
              </a:lnSpc>
              <a:spcBef>
                <a:spcPts val="0"/>
              </a:spcBef>
              <a:spcAft>
                <a:spcPts val="0"/>
              </a:spcAft>
            </a:pPr>
            <a:r>
              <a:rPr sz="1500" b="0" i="0">
                <a:solidFill>
                  <a:srgbClr val="3F4A5A"/>
                </a:solidFill>
                <a:latin typeface="Calibri"/>
              </a:rPr>
              <a:t>residuo relativo de ΣR</a:t>
            </a:r>
            <a:r>
              <a:rPr sz="1500" b="0" i="0" baseline="-25000">
                <a:solidFill>
                  <a:srgbClr val="3F4A5A"/>
                </a:solidFill>
                <a:latin typeface="Calibri"/>
              </a:rPr>
              <a:t>y</a:t>
            </a:r>
            <a:r>
              <a:rPr sz="1500" b="0" i="0">
                <a:solidFill>
                  <a:srgbClr val="3F4A5A"/>
                </a:solidFill>
                <a:latin typeface="Calibri"/>
              </a:rPr>
              <a:t> frente a qL = 70 000 kgf (umbral</a:t>
            </a:r>
            <a:br/>
            <a:r>
              <a:rPr sz="1500" b="0" i="0">
                <a:solidFill>
                  <a:srgbClr val="3F4A5A"/>
                </a:solidFill>
                <a:latin typeface="Calibri"/>
              </a:rPr>
              <a:t>10⁻⁸)</a:t>
            </a:r>
          </a:p>
        </p:txBody>
      </p:sp>
      <p:sp>
        <p:nvSpPr>
          <p:cNvPr id="108" name="Rounded Rectangle 107"/>
          <p:cNvSpPr/>
          <p:nvPr/>
        </p:nvSpPr>
        <p:spPr>
          <a:xfrm>
            <a:off x="7239000" y="5065712"/>
            <a:ext cx="1171448"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620000" y="5123823"/>
            <a:ext cx="701548"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σx &lt; 1 %</a:t>
            </a:r>
          </a:p>
        </p:txBody>
      </p:sp>
      <p:sp>
        <p:nvSpPr>
          <p:cNvPr id="110" name="Oval 109"/>
          <p:cNvSpPr/>
          <p:nvPr/>
        </p:nvSpPr>
        <p:spPr>
          <a:xfrm>
            <a:off x="7327900" y="5126038"/>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302500" y="5162700"/>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112" name="Rounded Rectangle 111"/>
          <p:cNvSpPr/>
          <p:nvPr/>
        </p:nvSpPr>
        <p:spPr>
          <a:xfrm>
            <a:off x="8499348" y="5065712"/>
            <a:ext cx="1459230"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880348" y="5123823"/>
            <a:ext cx="98933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flecha &lt; 3 %</a:t>
            </a:r>
          </a:p>
        </p:txBody>
      </p:sp>
      <p:sp>
        <p:nvSpPr>
          <p:cNvPr id="114" name="Oval 113"/>
          <p:cNvSpPr/>
          <p:nvPr/>
        </p:nvSpPr>
        <p:spPr>
          <a:xfrm>
            <a:off x="8588248" y="5126038"/>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562848" y="5162700"/>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116" name="Rounded Rectangle 115"/>
          <p:cNvSpPr/>
          <p:nvPr/>
        </p:nvSpPr>
        <p:spPr>
          <a:xfrm>
            <a:off x="7239000" y="5491162"/>
            <a:ext cx="1624838"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620000" y="5549273"/>
            <a:ext cx="1154938"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residuo &lt; 10⁻⁸</a:t>
            </a:r>
          </a:p>
        </p:txBody>
      </p:sp>
      <p:sp>
        <p:nvSpPr>
          <p:cNvPr id="118" name="Oval 117"/>
          <p:cNvSpPr/>
          <p:nvPr/>
        </p:nvSpPr>
        <p:spPr>
          <a:xfrm>
            <a:off x="7327900" y="5551488"/>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302500" y="5588150"/>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120" name="TextBox 119"/>
          <p:cNvSpPr txBox="1"/>
          <p:nvPr/>
        </p:nvSpPr>
        <p:spPr>
          <a:xfrm>
            <a:off x="7239000" y="3659142"/>
            <a:ext cx="4404360" cy="124016"/>
          </a:xfrm>
          <a:prstGeom prst="rect">
            <a:avLst/>
          </a:prstGeom>
          <a:noFill/>
        </p:spPr>
        <p:txBody>
          <a:bodyPr wrap="square" lIns="0" rIns="0" tIns="0" bIns="0" anchor="t"/>
          <a:lstStyle/>
          <a:p>
            <a:pPr algn="l">
              <a:lnSpc>
                <a:spcPts val="976"/>
              </a:lnSpc>
              <a:spcBef>
                <a:spcPts val="0"/>
              </a:spcBef>
              <a:spcAft>
                <a:spcPts val="0"/>
              </a:spcAft>
            </a:pPr>
            <a:r>
              <a:rPr sz="800" b="0" i="0">
                <a:solidFill>
                  <a:srgbClr val="1F2937"/>
                </a:solidFill>
                <a:latin typeface="Calibri"/>
              </a:rPr>
              <a:t>Flecha en el centro de la luz (Tabla 3.3)</a:t>
            </a:r>
          </a:p>
        </p:txBody>
      </p:sp>
      <p:sp>
        <p:nvSpPr>
          <p:cNvPr id="121" name="TextBox 120"/>
          <p:cNvSpPr txBox="1"/>
          <p:nvPr/>
        </p:nvSpPr>
        <p:spPr>
          <a:xfrm>
            <a:off x="7239000" y="3871074"/>
            <a:ext cx="560070"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1F2937"/>
                </a:solidFill>
                <a:latin typeface="Calibri"/>
              </a:rPr>
              <a:t>EduFEM</a:t>
            </a:r>
          </a:p>
        </p:txBody>
      </p:sp>
      <p:sp>
        <p:nvSpPr>
          <p:cNvPr id="122" name="TextBox 121"/>
          <p:cNvSpPr txBox="1"/>
          <p:nvPr/>
        </p:nvSpPr>
        <p:spPr>
          <a:xfrm>
            <a:off x="10832020" y="3871074"/>
            <a:ext cx="77578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1F2937"/>
                </a:solidFill>
                <a:latin typeface="Calibri"/>
              </a:rPr>
              <a:t>2,03460 cm</a:t>
            </a:r>
          </a:p>
        </p:txBody>
      </p:sp>
      <p:sp>
        <p:nvSpPr>
          <p:cNvPr id="123" name="Rounded Rectangle 122"/>
          <p:cNvSpPr/>
          <p:nvPr/>
        </p:nvSpPr>
        <p:spPr>
          <a:xfrm>
            <a:off x="7239000" y="4089400"/>
            <a:ext cx="4318000" cy="139700"/>
          </a:xfrm>
          <a:prstGeom prst="roundRect">
            <a:avLst>
              <a:gd name="adj" fmla="val 3636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7239000" y="4089400"/>
            <a:ext cx="4183443" cy="139700"/>
          </a:xfrm>
          <a:prstGeom prst="roundRect">
            <a:avLst>
              <a:gd name="adj" fmla="val 3636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239000" y="4321924"/>
            <a:ext cx="2284222"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1F2937"/>
                </a:solidFill>
                <a:latin typeface="Calibri"/>
              </a:rPr>
              <a:t>Analítica con corrección de cortante</a:t>
            </a:r>
          </a:p>
        </p:txBody>
      </p:sp>
      <p:sp>
        <p:nvSpPr>
          <p:cNvPr id="126" name="TextBox 125"/>
          <p:cNvSpPr txBox="1"/>
          <p:nvPr/>
        </p:nvSpPr>
        <p:spPr>
          <a:xfrm>
            <a:off x="10832020" y="4321924"/>
            <a:ext cx="77578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1F2937"/>
                </a:solidFill>
                <a:latin typeface="Calibri"/>
              </a:rPr>
              <a:t>2,02926 cm</a:t>
            </a:r>
          </a:p>
        </p:txBody>
      </p:sp>
      <p:sp>
        <p:nvSpPr>
          <p:cNvPr id="127" name="Rounded Rectangle 126"/>
          <p:cNvSpPr/>
          <p:nvPr/>
        </p:nvSpPr>
        <p:spPr>
          <a:xfrm>
            <a:off x="7239000" y="4540250"/>
            <a:ext cx="4318000" cy="139700"/>
          </a:xfrm>
          <a:prstGeom prst="roundRect">
            <a:avLst>
              <a:gd name="adj" fmla="val 3636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7239000" y="4540250"/>
            <a:ext cx="4172522" cy="139700"/>
          </a:xfrm>
          <a:prstGeom prst="roundRect">
            <a:avLst>
              <a:gd name="adj" fmla="val 36363"/>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239000" y="4677759"/>
            <a:ext cx="4404360"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error</a:t>
            </a:r>
            <a:r>
              <a:rPr sz="1250" b="1" i="0">
                <a:solidFill>
                  <a:srgbClr val="2E8B57"/>
                </a:solidFill>
                <a:latin typeface="Calibri"/>
              </a:rPr>
              <a:t> 0,2633 %</a:t>
            </a:r>
            <a:r>
              <a:rPr sz="1250" b="0" i="0">
                <a:solidFill>
                  <a:srgbClr val="5B6575"/>
                </a:solidFill>
                <a:latin typeface="Calibri"/>
              </a:rPr>
              <a:t> · umbral 3 %</a:t>
            </a:r>
          </a:p>
        </p:txBody>
      </p:sp>
      <p:sp>
        <p:nvSpPr>
          <p:cNvPr id="130" name="TextBox 129"/>
          <p:cNvSpPr txBox="1"/>
          <p:nvPr/>
        </p:nvSpPr>
        <p:spPr>
          <a:xfrm>
            <a:off x="7239000" y="4987087"/>
            <a:ext cx="1838135"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1F2937"/>
                </a:solidFill>
                <a:latin typeface="Calibri"/>
              </a:rPr>
              <a:t>Euler-Bernoulli (sin cortante)</a:t>
            </a:r>
          </a:p>
        </p:txBody>
      </p:sp>
      <p:sp>
        <p:nvSpPr>
          <p:cNvPr id="131" name="TextBox 130"/>
          <p:cNvSpPr txBox="1"/>
          <p:nvPr/>
        </p:nvSpPr>
        <p:spPr>
          <a:xfrm>
            <a:off x="10832020" y="4987087"/>
            <a:ext cx="77578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1F2937"/>
                </a:solidFill>
                <a:latin typeface="Calibri"/>
              </a:rPr>
              <a:t>1,99760 cm</a:t>
            </a:r>
          </a:p>
        </p:txBody>
      </p:sp>
      <p:sp>
        <p:nvSpPr>
          <p:cNvPr id="132" name="Rounded Rectangle 131"/>
          <p:cNvSpPr/>
          <p:nvPr/>
        </p:nvSpPr>
        <p:spPr>
          <a:xfrm>
            <a:off x="7239000" y="5205412"/>
            <a:ext cx="4318000" cy="139700"/>
          </a:xfrm>
          <a:prstGeom prst="roundRect">
            <a:avLst>
              <a:gd name="adj" fmla="val 3636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7239000" y="5205412"/>
            <a:ext cx="4107371" cy="139700"/>
          </a:xfrm>
          <a:prstGeom prst="roundRect">
            <a:avLst>
              <a:gd name="adj" fmla="val 36363"/>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239000" y="5342922"/>
            <a:ext cx="4404360"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el error aparente sería 1,85 %: la referencia debe acompañar al</a:t>
            </a:r>
            <a:br/>
            <a:r>
              <a:rPr sz="1250" b="0" i="0">
                <a:solidFill>
                  <a:srgbClr val="5B6575"/>
                </a:solidFill>
                <a:latin typeface="Calibri"/>
              </a:rPr>
              <a:t>modelo</a:t>
            </a:r>
          </a:p>
        </p:txBody>
      </p:sp>
      <p:pic>
        <p:nvPicPr>
          <p:cNvPr id="135" name="Picture 134" descr="57f2ce56d94d9e2c.png"/>
          <p:cNvPicPr>
            <a:picLocks noChangeAspect="1"/>
          </p:cNvPicPr>
          <p:nvPr/>
        </p:nvPicPr>
        <p:blipFill>
          <a:blip r:embed="rId3"/>
          <a:stretch>
            <a:fillRect/>
          </a:stretch>
        </p:blipFill>
        <p:spPr>
          <a:xfrm>
            <a:off x="7239000" y="3657600"/>
            <a:ext cx="4318000" cy="2349500"/>
          </a:xfrm>
          <a:prstGeom prst="rect">
            <a:avLst/>
          </a:prstGeom>
        </p:spPr>
      </p:pic>
      <p:sp>
        <p:nvSpPr>
          <p:cNvPr id="136" name="Rectangle 135"/>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65150" y="6535420"/>
            <a:ext cx="4911280"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39" name="TextBox 138"/>
          <p:cNvSpPr txBox="1"/>
          <p:nvPr/>
        </p:nvSpPr>
        <p:spPr>
          <a:xfrm>
            <a:off x="5354764" y="6535420"/>
            <a:ext cx="148240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3.4 · Tablas 3.2 y 3.3</a:t>
            </a:r>
          </a:p>
        </p:txBody>
      </p:sp>
      <p:sp>
        <p:nvSpPr>
          <p:cNvPr id="140" name="TextBox 139"/>
          <p:cNvSpPr txBox="1"/>
          <p:nvPr/>
        </p:nvSpPr>
        <p:spPr>
          <a:xfrm>
            <a:off x="6715442" y="6535420"/>
            <a:ext cx="491140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41</a:t>
            </a:r>
          </a:p>
        </p:txBody>
      </p:sp>
      <p:sp>
        <p:nvSpPr>
          <p:cNvPr id="141" name="Enlace a sep-intro">
            <a:hlinkClick action="ppaction://hlinksldjump" r:id="rId4"/>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Enlace a sep-teoria">
            <a:hlinkClick action="ppaction://hlinksldjump" r:id="rId5"/>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Enlace a sep-diseno">
            <a:hlinkClick action="ppaction://hlinksldjump" r:id="rId6"/>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Enlace a sep-resultados">
            <a:hlinkClick action="ppaction://hlinksldjump" r:id="rId7"/>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Enlace a sep-analisis">
            <a:hlinkClick action="ppaction://hlinksldjump" r:id="rId8"/>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Enlace a sep-conclusiones">
            <a:hlinkClick action="ppaction://hlinksldjump" r:id="rId9"/>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Rounded Rectangle 404">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9" fill="hold">
                      <p:stCondLst>
                        <p:cond delay="indefinite"/>
                      </p:stCondLst>
                      <p:childTnLst>
                        <p:par>
                          <p:cTn id="40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400"/>
                                        <p:tgtEl>
                                          <p:spTgt spid="3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400"/>
                                        <p:tgtEl>
                                          <p:spTgt spid="3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400"/>
                                        <p:tgtEl>
                                          <p:spTgt spid="3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00"/>
                                        <p:tgtEl>
                                          <p:spTgt spid="3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400"/>
                                        <p:tgtEl>
                                          <p:spTgt spid="3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400"/>
                                        <p:tgtEl>
                                          <p:spTgt spid="3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400"/>
                                        <p:tgtEl>
                                          <p:spTgt spid="3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400"/>
                                        <p:tgtEl>
                                          <p:spTgt spid="3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4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40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4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4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4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40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40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400"/>
                                        <p:tgtEl>
                                          <p:spTgt spid="4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400"/>
                                        <p:tgtEl>
                                          <p:spTgt spid="4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400"/>
                                        <p:tgtEl>
                                          <p:spTgt spid="5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400"/>
                                        <p:tgtEl>
                                          <p:spTgt spid="5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fade">
                                      <p:cBhvr>
                                        <p:cTn id="101" dur="400"/>
                                        <p:tgtEl>
                                          <p:spTgt spid="5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3"/>
                                        </p:tgtEl>
                                        <p:attrNameLst>
                                          <p:attrName>style.visibility</p:attrName>
                                        </p:attrNameLst>
                                      </p:cBhvr>
                                      <p:to>
                                        <p:strVal val="visible"/>
                                      </p:to>
                                    </p:set>
                                    <p:animEffect transition="in" filter="fade">
                                      <p:cBhvr>
                                        <p:cTn id="104" dur="400"/>
                                        <p:tgtEl>
                                          <p:spTgt spid="5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4"/>
                                        </p:tgtEl>
                                        <p:attrNameLst>
                                          <p:attrName>style.visibility</p:attrName>
                                        </p:attrNameLst>
                                      </p:cBhvr>
                                      <p:to>
                                        <p:strVal val="visible"/>
                                      </p:to>
                                    </p:set>
                                    <p:animEffect transition="in" filter="fade">
                                      <p:cBhvr>
                                        <p:cTn id="107" dur="400"/>
                                        <p:tgtEl>
                                          <p:spTgt spid="5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5"/>
                                        </p:tgtEl>
                                        <p:attrNameLst>
                                          <p:attrName>style.visibility</p:attrName>
                                        </p:attrNameLst>
                                      </p:cBhvr>
                                      <p:to>
                                        <p:strVal val="visible"/>
                                      </p:to>
                                    </p:set>
                                    <p:animEffect transition="in" filter="fade">
                                      <p:cBhvr>
                                        <p:cTn id="110" dur="400"/>
                                        <p:tgtEl>
                                          <p:spTgt spid="55"/>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6"/>
                                        </p:tgtEl>
                                        <p:attrNameLst>
                                          <p:attrName>style.visibility</p:attrName>
                                        </p:attrNameLst>
                                      </p:cBhvr>
                                      <p:to>
                                        <p:strVal val="visible"/>
                                      </p:to>
                                    </p:set>
                                    <p:animEffect transition="in" filter="fade">
                                      <p:cBhvr>
                                        <p:cTn id="113" dur="400"/>
                                        <p:tgtEl>
                                          <p:spTgt spid="56"/>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7"/>
                                        </p:tgtEl>
                                        <p:attrNameLst>
                                          <p:attrName>style.visibility</p:attrName>
                                        </p:attrNameLst>
                                      </p:cBhvr>
                                      <p:to>
                                        <p:strVal val="visible"/>
                                      </p:to>
                                    </p:set>
                                    <p:animEffect transition="in" filter="fade">
                                      <p:cBhvr>
                                        <p:cTn id="116" dur="400"/>
                                        <p:tgtEl>
                                          <p:spTgt spid="57"/>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8"/>
                                        </p:tgtEl>
                                        <p:attrNameLst>
                                          <p:attrName>style.visibility</p:attrName>
                                        </p:attrNameLst>
                                      </p:cBhvr>
                                      <p:to>
                                        <p:strVal val="visible"/>
                                      </p:to>
                                    </p:set>
                                    <p:animEffect transition="in" filter="fade">
                                      <p:cBhvr>
                                        <p:cTn id="119" dur="400"/>
                                        <p:tgtEl>
                                          <p:spTgt spid="58"/>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9"/>
                                        </p:tgtEl>
                                        <p:attrNameLst>
                                          <p:attrName>style.visibility</p:attrName>
                                        </p:attrNameLst>
                                      </p:cBhvr>
                                      <p:to>
                                        <p:strVal val="visible"/>
                                      </p:to>
                                    </p:set>
                                    <p:animEffect transition="in" filter="fade">
                                      <p:cBhvr>
                                        <p:cTn id="122" dur="400"/>
                                        <p:tgtEl>
                                          <p:spTgt spid="59"/>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60"/>
                                        </p:tgtEl>
                                        <p:attrNameLst>
                                          <p:attrName>style.visibility</p:attrName>
                                        </p:attrNameLst>
                                      </p:cBhvr>
                                      <p:to>
                                        <p:strVal val="visible"/>
                                      </p:to>
                                    </p:set>
                                    <p:animEffect transition="in" filter="fade">
                                      <p:cBhvr>
                                        <p:cTn id="125" dur="400"/>
                                        <p:tgtEl>
                                          <p:spTgt spid="60"/>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61"/>
                                        </p:tgtEl>
                                        <p:attrNameLst>
                                          <p:attrName>style.visibility</p:attrName>
                                        </p:attrNameLst>
                                      </p:cBhvr>
                                      <p:to>
                                        <p:strVal val="visible"/>
                                      </p:to>
                                    </p:set>
                                    <p:animEffect transition="in" filter="fade">
                                      <p:cBhvr>
                                        <p:cTn id="128" dur="400"/>
                                        <p:tgtEl>
                                          <p:spTgt spid="61"/>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62"/>
                                        </p:tgtEl>
                                        <p:attrNameLst>
                                          <p:attrName>style.visibility</p:attrName>
                                        </p:attrNameLst>
                                      </p:cBhvr>
                                      <p:to>
                                        <p:strVal val="visible"/>
                                      </p:to>
                                    </p:set>
                                    <p:animEffect transition="in" filter="fade">
                                      <p:cBhvr>
                                        <p:cTn id="131" dur="400"/>
                                        <p:tgtEl>
                                          <p:spTgt spid="62"/>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63"/>
                                        </p:tgtEl>
                                        <p:attrNameLst>
                                          <p:attrName>style.visibility</p:attrName>
                                        </p:attrNameLst>
                                      </p:cBhvr>
                                      <p:to>
                                        <p:strVal val="visible"/>
                                      </p:to>
                                    </p:set>
                                    <p:animEffect transition="in" filter="fade">
                                      <p:cBhvr>
                                        <p:cTn id="134" dur="400"/>
                                        <p:tgtEl>
                                          <p:spTgt spid="63"/>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64"/>
                                        </p:tgtEl>
                                        <p:attrNameLst>
                                          <p:attrName>style.visibility</p:attrName>
                                        </p:attrNameLst>
                                      </p:cBhvr>
                                      <p:to>
                                        <p:strVal val="visible"/>
                                      </p:to>
                                    </p:set>
                                    <p:animEffect transition="in" filter="fade">
                                      <p:cBhvr>
                                        <p:cTn id="137" dur="400"/>
                                        <p:tgtEl>
                                          <p:spTgt spid="64"/>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65"/>
                                        </p:tgtEl>
                                        <p:attrNameLst>
                                          <p:attrName>style.visibility</p:attrName>
                                        </p:attrNameLst>
                                      </p:cBhvr>
                                      <p:to>
                                        <p:strVal val="visible"/>
                                      </p:to>
                                    </p:set>
                                    <p:animEffect transition="in" filter="fade">
                                      <p:cBhvr>
                                        <p:cTn id="140" dur="400"/>
                                        <p:tgtEl>
                                          <p:spTgt spid="65"/>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66"/>
                                        </p:tgtEl>
                                        <p:attrNameLst>
                                          <p:attrName>style.visibility</p:attrName>
                                        </p:attrNameLst>
                                      </p:cBhvr>
                                      <p:to>
                                        <p:strVal val="visible"/>
                                      </p:to>
                                    </p:set>
                                    <p:animEffect transition="in" filter="fade">
                                      <p:cBhvr>
                                        <p:cTn id="143" dur="400"/>
                                        <p:tgtEl>
                                          <p:spTgt spid="66"/>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67"/>
                                        </p:tgtEl>
                                        <p:attrNameLst>
                                          <p:attrName>style.visibility</p:attrName>
                                        </p:attrNameLst>
                                      </p:cBhvr>
                                      <p:to>
                                        <p:strVal val="visible"/>
                                      </p:to>
                                    </p:set>
                                    <p:animEffect transition="in" filter="fade">
                                      <p:cBhvr>
                                        <p:cTn id="146" dur="400"/>
                                        <p:tgtEl>
                                          <p:spTgt spid="67"/>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68"/>
                                        </p:tgtEl>
                                        <p:attrNameLst>
                                          <p:attrName>style.visibility</p:attrName>
                                        </p:attrNameLst>
                                      </p:cBhvr>
                                      <p:to>
                                        <p:strVal val="visible"/>
                                      </p:to>
                                    </p:set>
                                    <p:animEffect transition="in" filter="fade">
                                      <p:cBhvr>
                                        <p:cTn id="149" dur="400"/>
                                        <p:tgtEl>
                                          <p:spTgt spid="68"/>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69"/>
                                        </p:tgtEl>
                                        <p:attrNameLst>
                                          <p:attrName>style.visibility</p:attrName>
                                        </p:attrNameLst>
                                      </p:cBhvr>
                                      <p:to>
                                        <p:strVal val="visible"/>
                                      </p:to>
                                    </p:set>
                                    <p:animEffect transition="in" filter="fade">
                                      <p:cBhvr>
                                        <p:cTn id="152" dur="400"/>
                                        <p:tgtEl>
                                          <p:spTgt spid="69"/>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70"/>
                                        </p:tgtEl>
                                        <p:attrNameLst>
                                          <p:attrName>style.visibility</p:attrName>
                                        </p:attrNameLst>
                                      </p:cBhvr>
                                      <p:to>
                                        <p:strVal val="visible"/>
                                      </p:to>
                                    </p:set>
                                    <p:animEffect transition="in" filter="fade">
                                      <p:cBhvr>
                                        <p:cTn id="155" dur="400"/>
                                        <p:tgtEl>
                                          <p:spTgt spid="70"/>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71"/>
                                        </p:tgtEl>
                                        <p:attrNameLst>
                                          <p:attrName>style.visibility</p:attrName>
                                        </p:attrNameLst>
                                      </p:cBhvr>
                                      <p:to>
                                        <p:strVal val="visible"/>
                                      </p:to>
                                    </p:set>
                                    <p:animEffect transition="in" filter="fade">
                                      <p:cBhvr>
                                        <p:cTn id="158" dur="400"/>
                                        <p:tgtEl>
                                          <p:spTgt spid="71"/>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72"/>
                                        </p:tgtEl>
                                        <p:attrNameLst>
                                          <p:attrName>style.visibility</p:attrName>
                                        </p:attrNameLst>
                                      </p:cBhvr>
                                      <p:to>
                                        <p:strVal val="visible"/>
                                      </p:to>
                                    </p:set>
                                    <p:animEffect transition="in" filter="fade">
                                      <p:cBhvr>
                                        <p:cTn id="161" dur="400"/>
                                        <p:tgtEl>
                                          <p:spTgt spid="72"/>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73"/>
                                        </p:tgtEl>
                                        <p:attrNameLst>
                                          <p:attrName>style.visibility</p:attrName>
                                        </p:attrNameLst>
                                      </p:cBhvr>
                                      <p:to>
                                        <p:strVal val="visible"/>
                                      </p:to>
                                    </p:set>
                                    <p:animEffect transition="in" filter="fade">
                                      <p:cBhvr>
                                        <p:cTn id="164" dur="400"/>
                                        <p:tgtEl>
                                          <p:spTgt spid="73"/>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74"/>
                                        </p:tgtEl>
                                        <p:attrNameLst>
                                          <p:attrName>style.visibility</p:attrName>
                                        </p:attrNameLst>
                                      </p:cBhvr>
                                      <p:to>
                                        <p:strVal val="visible"/>
                                      </p:to>
                                    </p:set>
                                    <p:animEffect transition="in" filter="fade">
                                      <p:cBhvr>
                                        <p:cTn id="167" dur="400"/>
                                        <p:tgtEl>
                                          <p:spTgt spid="74"/>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75"/>
                                        </p:tgtEl>
                                        <p:attrNameLst>
                                          <p:attrName>style.visibility</p:attrName>
                                        </p:attrNameLst>
                                      </p:cBhvr>
                                      <p:to>
                                        <p:strVal val="visible"/>
                                      </p:to>
                                    </p:set>
                                    <p:animEffect transition="in" filter="fade">
                                      <p:cBhvr>
                                        <p:cTn id="170" dur="400"/>
                                        <p:tgtEl>
                                          <p:spTgt spid="75"/>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76"/>
                                        </p:tgtEl>
                                        <p:attrNameLst>
                                          <p:attrName>style.visibility</p:attrName>
                                        </p:attrNameLst>
                                      </p:cBhvr>
                                      <p:to>
                                        <p:strVal val="visible"/>
                                      </p:to>
                                    </p:set>
                                    <p:animEffect transition="in" filter="fade">
                                      <p:cBhvr>
                                        <p:cTn id="173" dur="400"/>
                                        <p:tgtEl>
                                          <p:spTgt spid="76"/>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77"/>
                                        </p:tgtEl>
                                        <p:attrNameLst>
                                          <p:attrName>style.visibility</p:attrName>
                                        </p:attrNameLst>
                                      </p:cBhvr>
                                      <p:to>
                                        <p:strVal val="visible"/>
                                      </p:to>
                                    </p:set>
                                    <p:animEffect transition="in" filter="fade">
                                      <p:cBhvr>
                                        <p:cTn id="176" dur="400"/>
                                        <p:tgtEl>
                                          <p:spTgt spid="77"/>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78"/>
                                        </p:tgtEl>
                                        <p:attrNameLst>
                                          <p:attrName>style.visibility</p:attrName>
                                        </p:attrNameLst>
                                      </p:cBhvr>
                                      <p:to>
                                        <p:strVal val="visible"/>
                                      </p:to>
                                    </p:set>
                                    <p:animEffect transition="in" filter="fade">
                                      <p:cBhvr>
                                        <p:cTn id="179" dur="400"/>
                                        <p:tgtEl>
                                          <p:spTgt spid="78"/>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79"/>
                                        </p:tgtEl>
                                        <p:attrNameLst>
                                          <p:attrName>style.visibility</p:attrName>
                                        </p:attrNameLst>
                                      </p:cBhvr>
                                      <p:to>
                                        <p:strVal val="visible"/>
                                      </p:to>
                                    </p:set>
                                    <p:animEffect transition="in" filter="fade">
                                      <p:cBhvr>
                                        <p:cTn id="182" dur="400"/>
                                        <p:tgtEl>
                                          <p:spTgt spid="79"/>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80"/>
                                        </p:tgtEl>
                                        <p:attrNameLst>
                                          <p:attrName>style.visibility</p:attrName>
                                        </p:attrNameLst>
                                      </p:cBhvr>
                                      <p:to>
                                        <p:strVal val="visible"/>
                                      </p:to>
                                    </p:set>
                                    <p:animEffect transition="in" filter="fade">
                                      <p:cBhvr>
                                        <p:cTn id="185" dur="400"/>
                                        <p:tgtEl>
                                          <p:spTgt spid="80"/>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81"/>
                                        </p:tgtEl>
                                        <p:attrNameLst>
                                          <p:attrName>style.visibility</p:attrName>
                                        </p:attrNameLst>
                                      </p:cBhvr>
                                      <p:to>
                                        <p:strVal val="visible"/>
                                      </p:to>
                                    </p:set>
                                    <p:animEffect transition="in" filter="fade">
                                      <p:cBhvr>
                                        <p:cTn id="188" dur="400"/>
                                        <p:tgtEl>
                                          <p:spTgt spid="81"/>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82"/>
                                        </p:tgtEl>
                                        <p:attrNameLst>
                                          <p:attrName>style.visibility</p:attrName>
                                        </p:attrNameLst>
                                      </p:cBhvr>
                                      <p:to>
                                        <p:strVal val="visible"/>
                                      </p:to>
                                    </p:set>
                                    <p:animEffect transition="in" filter="fade">
                                      <p:cBhvr>
                                        <p:cTn id="191" dur="400"/>
                                        <p:tgtEl>
                                          <p:spTgt spid="82"/>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83"/>
                                        </p:tgtEl>
                                        <p:attrNameLst>
                                          <p:attrName>style.visibility</p:attrName>
                                        </p:attrNameLst>
                                      </p:cBhvr>
                                      <p:to>
                                        <p:strVal val="visible"/>
                                      </p:to>
                                    </p:set>
                                    <p:animEffect transition="in" filter="fade">
                                      <p:cBhvr>
                                        <p:cTn id="194" dur="400"/>
                                        <p:tgtEl>
                                          <p:spTgt spid="83"/>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84"/>
                                        </p:tgtEl>
                                        <p:attrNameLst>
                                          <p:attrName>style.visibility</p:attrName>
                                        </p:attrNameLst>
                                      </p:cBhvr>
                                      <p:to>
                                        <p:strVal val="visible"/>
                                      </p:to>
                                    </p:set>
                                    <p:animEffect transition="in" filter="fade">
                                      <p:cBhvr>
                                        <p:cTn id="197" dur="400"/>
                                        <p:tgtEl>
                                          <p:spTgt spid="84"/>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85"/>
                                        </p:tgtEl>
                                        <p:attrNameLst>
                                          <p:attrName>style.visibility</p:attrName>
                                        </p:attrNameLst>
                                      </p:cBhvr>
                                      <p:to>
                                        <p:strVal val="visible"/>
                                      </p:to>
                                    </p:set>
                                    <p:animEffect transition="in" filter="fade">
                                      <p:cBhvr>
                                        <p:cTn id="200" dur="400"/>
                                        <p:tgtEl>
                                          <p:spTgt spid="85"/>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86"/>
                                        </p:tgtEl>
                                        <p:attrNameLst>
                                          <p:attrName>style.visibility</p:attrName>
                                        </p:attrNameLst>
                                      </p:cBhvr>
                                      <p:to>
                                        <p:strVal val="visible"/>
                                      </p:to>
                                    </p:set>
                                    <p:animEffect transition="in" filter="fade">
                                      <p:cBhvr>
                                        <p:cTn id="203" dur="400"/>
                                        <p:tgtEl>
                                          <p:spTgt spid="86"/>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87"/>
                                        </p:tgtEl>
                                        <p:attrNameLst>
                                          <p:attrName>style.visibility</p:attrName>
                                        </p:attrNameLst>
                                      </p:cBhvr>
                                      <p:to>
                                        <p:strVal val="visible"/>
                                      </p:to>
                                    </p:set>
                                    <p:animEffect transition="in" filter="fade">
                                      <p:cBhvr>
                                        <p:cTn id="206" dur="400"/>
                                        <p:tgtEl>
                                          <p:spTgt spid="87"/>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88"/>
                                        </p:tgtEl>
                                        <p:attrNameLst>
                                          <p:attrName>style.visibility</p:attrName>
                                        </p:attrNameLst>
                                      </p:cBhvr>
                                      <p:to>
                                        <p:strVal val="visible"/>
                                      </p:to>
                                    </p:set>
                                    <p:animEffect transition="in" filter="fade">
                                      <p:cBhvr>
                                        <p:cTn id="209" dur="400"/>
                                        <p:tgtEl>
                                          <p:spTgt spid="88"/>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89"/>
                                        </p:tgtEl>
                                        <p:attrNameLst>
                                          <p:attrName>style.visibility</p:attrName>
                                        </p:attrNameLst>
                                      </p:cBhvr>
                                      <p:to>
                                        <p:strVal val="visible"/>
                                      </p:to>
                                    </p:set>
                                    <p:animEffect transition="in" filter="fade">
                                      <p:cBhvr>
                                        <p:cTn id="212" dur="400"/>
                                        <p:tgtEl>
                                          <p:spTgt spid="89"/>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90"/>
                                        </p:tgtEl>
                                        <p:attrNameLst>
                                          <p:attrName>style.visibility</p:attrName>
                                        </p:attrNameLst>
                                      </p:cBhvr>
                                      <p:to>
                                        <p:strVal val="visible"/>
                                      </p:to>
                                    </p:set>
                                    <p:animEffect transition="in" filter="fade">
                                      <p:cBhvr>
                                        <p:cTn id="215" dur="400"/>
                                        <p:tgtEl>
                                          <p:spTgt spid="90"/>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91"/>
                                        </p:tgtEl>
                                        <p:attrNameLst>
                                          <p:attrName>style.visibility</p:attrName>
                                        </p:attrNameLst>
                                      </p:cBhvr>
                                      <p:to>
                                        <p:strVal val="visible"/>
                                      </p:to>
                                    </p:set>
                                    <p:animEffect transition="in" filter="fade">
                                      <p:cBhvr>
                                        <p:cTn id="218" dur="400"/>
                                        <p:tgtEl>
                                          <p:spTgt spid="91"/>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92"/>
                                        </p:tgtEl>
                                        <p:attrNameLst>
                                          <p:attrName>style.visibility</p:attrName>
                                        </p:attrNameLst>
                                      </p:cBhvr>
                                      <p:to>
                                        <p:strVal val="visible"/>
                                      </p:to>
                                    </p:set>
                                    <p:animEffect transition="in" filter="fade">
                                      <p:cBhvr>
                                        <p:cTn id="221" dur="400"/>
                                        <p:tgtEl>
                                          <p:spTgt spid="92"/>
                                        </p:tgtEl>
                                      </p:cBhvr>
                                    </p:animEffect>
                                  </p:childTnLst>
                                </p:cTn>
                              </p:par>
                              <p:par>
                                <p:cTn id="222" presetID="10" presetClass="entr" presetSubtype="0" fill="hold" grpId="0" nodeType="withEffect">
                                  <p:stCondLst>
                                    <p:cond delay="0"/>
                                  </p:stCondLst>
                                  <p:childTnLst>
                                    <p:set>
                                      <p:cBhvr>
                                        <p:cTn id="223" dur="1" fill="hold">
                                          <p:stCondLst>
                                            <p:cond delay="0"/>
                                          </p:stCondLst>
                                        </p:cTn>
                                        <p:tgtEl>
                                          <p:spTgt spid="93"/>
                                        </p:tgtEl>
                                        <p:attrNameLst>
                                          <p:attrName>style.visibility</p:attrName>
                                        </p:attrNameLst>
                                      </p:cBhvr>
                                      <p:to>
                                        <p:strVal val="visible"/>
                                      </p:to>
                                    </p:set>
                                    <p:animEffect transition="in" filter="fade">
                                      <p:cBhvr>
                                        <p:cTn id="224" dur="400"/>
                                        <p:tgtEl>
                                          <p:spTgt spid="93"/>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94"/>
                                        </p:tgtEl>
                                        <p:attrNameLst>
                                          <p:attrName>style.visibility</p:attrName>
                                        </p:attrNameLst>
                                      </p:cBhvr>
                                      <p:to>
                                        <p:strVal val="visible"/>
                                      </p:to>
                                    </p:set>
                                    <p:animEffect transition="in" filter="fade">
                                      <p:cBhvr>
                                        <p:cTn id="227" dur="400"/>
                                        <p:tgtEl>
                                          <p:spTgt spid="94"/>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95"/>
                                        </p:tgtEl>
                                        <p:attrNameLst>
                                          <p:attrName>style.visibility</p:attrName>
                                        </p:attrNameLst>
                                      </p:cBhvr>
                                      <p:to>
                                        <p:strVal val="visible"/>
                                      </p:to>
                                    </p:set>
                                    <p:animEffect transition="in" filter="fade">
                                      <p:cBhvr>
                                        <p:cTn id="230" dur="400"/>
                                        <p:tgtEl>
                                          <p:spTgt spid="95"/>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96"/>
                                        </p:tgtEl>
                                        <p:attrNameLst>
                                          <p:attrName>style.visibility</p:attrName>
                                        </p:attrNameLst>
                                      </p:cBhvr>
                                      <p:to>
                                        <p:strVal val="visible"/>
                                      </p:to>
                                    </p:set>
                                    <p:animEffect transition="in" filter="fade">
                                      <p:cBhvr>
                                        <p:cTn id="233" dur="400"/>
                                        <p:tgtEl>
                                          <p:spTgt spid="96"/>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97"/>
                                        </p:tgtEl>
                                        <p:attrNameLst>
                                          <p:attrName>style.visibility</p:attrName>
                                        </p:attrNameLst>
                                      </p:cBhvr>
                                      <p:to>
                                        <p:strVal val="visible"/>
                                      </p:to>
                                    </p:set>
                                    <p:animEffect transition="in" filter="fade">
                                      <p:cBhvr>
                                        <p:cTn id="236" dur="400"/>
                                        <p:tgtEl>
                                          <p:spTgt spid="97"/>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98"/>
                                        </p:tgtEl>
                                        <p:attrNameLst>
                                          <p:attrName>style.visibility</p:attrName>
                                        </p:attrNameLst>
                                      </p:cBhvr>
                                      <p:to>
                                        <p:strVal val="visible"/>
                                      </p:to>
                                    </p:set>
                                    <p:animEffect transition="in" filter="fade">
                                      <p:cBhvr>
                                        <p:cTn id="239" dur="400"/>
                                        <p:tgtEl>
                                          <p:spTgt spid="98"/>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99"/>
                                        </p:tgtEl>
                                        <p:attrNameLst>
                                          <p:attrName>style.visibility</p:attrName>
                                        </p:attrNameLst>
                                      </p:cBhvr>
                                      <p:to>
                                        <p:strVal val="visible"/>
                                      </p:to>
                                    </p:set>
                                    <p:animEffect transition="in" filter="fade">
                                      <p:cBhvr>
                                        <p:cTn id="242" dur="400"/>
                                        <p:tgtEl>
                                          <p:spTgt spid="99"/>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100"/>
                                        </p:tgtEl>
                                        <p:attrNameLst>
                                          <p:attrName>style.visibility</p:attrName>
                                        </p:attrNameLst>
                                      </p:cBhvr>
                                      <p:to>
                                        <p:strVal val="visible"/>
                                      </p:to>
                                    </p:set>
                                    <p:animEffect transition="in" filter="fade">
                                      <p:cBhvr>
                                        <p:cTn id="245" dur="400"/>
                                        <p:tgtEl>
                                          <p:spTgt spid="100"/>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101"/>
                                        </p:tgtEl>
                                        <p:attrNameLst>
                                          <p:attrName>style.visibility</p:attrName>
                                        </p:attrNameLst>
                                      </p:cBhvr>
                                      <p:to>
                                        <p:strVal val="visible"/>
                                      </p:to>
                                    </p:set>
                                    <p:animEffect transition="in" filter="fade">
                                      <p:cBhvr>
                                        <p:cTn id="248" dur="400"/>
                                        <p:tgtEl>
                                          <p:spTgt spid="101"/>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102"/>
                                        </p:tgtEl>
                                        <p:attrNameLst>
                                          <p:attrName>style.visibility</p:attrName>
                                        </p:attrNameLst>
                                      </p:cBhvr>
                                      <p:to>
                                        <p:strVal val="visible"/>
                                      </p:to>
                                    </p:set>
                                    <p:animEffect transition="in" filter="fade">
                                      <p:cBhvr>
                                        <p:cTn id="251" dur="400"/>
                                        <p:tgtEl>
                                          <p:spTgt spid="102"/>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103"/>
                                        </p:tgtEl>
                                        <p:attrNameLst>
                                          <p:attrName>style.visibility</p:attrName>
                                        </p:attrNameLst>
                                      </p:cBhvr>
                                      <p:to>
                                        <p:strVal val="visible"/>
                                      </p:to>
                                    </p:set>
                                    <p:animEffect transition="in" filter="fade">
                                      <p:cBhvr>
                                        <p:cTn id="254" dur="400"/>
                                        <p:tgtEl>
                                          <p:spTgt spid="103"/>
                                        </p:tgtEl>
                                      </p:cBhvr>
                                    </p:animEffect>
                                  </p:childTnLst>
                                </p:cTn>
                              </p:par>
                              <p:par>
                                <p:cTn id="255" presetID="10" presetClass="entr" presetSubtype="0" fill="hold" grpId="0" nodeType="withEffect">
                                  <p:stCondLst>
                                    <p:cond delay="0"/>
                                  </p:stCondLst>
                                  <p:childTnLst>
                                    <p:set>
                                      <p:cBhvr>
                                        <p:cTn id="256" dur="1" fill="hold">
                                          <p:stCondLst>
                                            <p:cond delay="0"/>
                                          </p:stCondLst>
                                        </p:cTn>
                                        <p:tgtEl>
                                          <p:spTgt spid="104"/>
                                        </p:tgtEl>
                                        <p:attrNameLst>
                                          <p:attrName>style.visibility</p:attrName>
                                        </p:attrNameLst>
                                      </p:cBhvr>
                                      <p:to>
                                        <p:strVal val="visible"/>
                                      </p:to>
                                    </p:set>
                                    <p:animEffect transition="in" filter="fade">
                                      <p:cBhvr>
                                        <p:cTn id="257" dur="400"/>
                                        <p:tgtEl>
                                          <p:spTgt spid="104"/>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135"/>
                                        </p:tgtEl>
                                        <p:attrNameLst>
                                          <p:attrName>style.visibility</p:attrName>
                                        </p:attrNameLst>
                                      </p:cBhvr>
                                      <p:to>
                                        <p:strVal val="visible"/>
                                      </p:to>
                                    </p:set>
                                    <p:animEffect transition="in" filter="fade">
                                      <p:cBhvr>
                                        <p:cTn id="260" dur="400"/>
                                        <p:tgtEl>
                                          <p:spTgt spid="135"/>
                                        </p:tgtEl>
                                      </p:cBhvr>
                                    </p:animEffect>
                                  </p:childTnLst>
                                </p:cTn>
                              </p:par>
                            </p:childTnLst>
                          </p:cTn>
                        </p:par>
                      </p:childTnLst>
                    </p:cTn>
                  </p:par>
                  <p:par>
                    <p:cTn id="401" fill="hold">
                      <p:stCondLst>
                        <p:cond delay="indefinite"/>
                      </p:stCondLst>
                      <p:childTnLst>
                        <p:par>
                          <p:cTn id="402" fill="hold">
                            <p:stCondLst>
                              <p:cond delay="0"/>
                            </p:stCondLst>
                            <p:childTnLst>
                              <p:par>
                                <p:cTn id="261" presetID="10" presetClass="exit" presetSubtype="0" fill="hold" grpId="1" nodeType="clickEffect">
                                  <p:stCondLst>
                                    <p:cond delay="0"/>
                                  </p:stCondLst>
                                  <p:childTnLst>
                                    <p:animEffect transition="out" filter="fade">
                                      <p:cBhvr>
                                        <p:cTn id="262" dur="200"/>
                                        <p:tgtEl>
                                          <p:spTgt spid="135"/>
                                        </p:tgtEl>
                                      </p:cBhvr>
                                    </p:animEffect>
                                    <p:set>
                                      <p:cBhvr>
                                        <p:cTn id="263" dur="1" fill="hold">
                                          <p:stCondLst>
                                            <p:cond delay="199"/>
                                          </p:stCondLst>
                                        </p:cTn>
                                        <p:tgtEl>
                                          <p:spTgt spid="135"/>
                                        </p:tgtEl>
                                        <p:attrNameLst>
                                          <p:attrName>style.visibility</p:attrName>
                                        </p:attrNameLst>
                                      </p:cBhvr>
                                      <p:to>
                                        <p:strVal val="hidden"/>
                                      </p:to>
                                    </p:set>
                                  </p:childTnLst>
                                </p:cTn>
                              </p:par>
                              <p:par>
                                <p:cTn id="264" presetID="10" presetClass="entr" presetSubtype="0" fill="hold" grpId="0" nodeType="withEffect">
                                  <p:stCondLst>
                                    <p:cond delay="200"/>
                                  </p:stCondLst>
                                  <p:childTnLst>
                                    <p:set>
                                      <p:cBhvr>
                                        <p:cTn id="265" dur="1" fill="hold">
                                          <p:stCondLst>
                                            <p:cond delay="0"/>
                                          </p:stCondLst>
                                        </p:cTn>
                                        <p:tgtEl>
                                          <p:spTgt spid="120"/>
                                        </p:tgtEl>
                                        <p:attrNameLst>
                                          <p:attrName>style.visibility</p:attrName>
                                        </p:attrNameLst>
                                      </p:cBhvr>
                                      <p:to>
                                        <p:strVal val="visible"/>
                                      </p:to>
                                    </p:set>
                                    <p:animEffect transition="in" filter="fade">
                                      <p:cBhvr>
                                        <p:cTn id="266" dur="400"/>
                                        <p:tgtEl>
                                          <p:spTgt spid="120"/>
                                        </p:tgtEl>
                                      </p:cBhvr>
                                    </p:animEffect>
                                  </p:childTnLst>
                                </p:cTn>
                              </p:par>
                              <p:par>
                                <p:cTn id="267" presetID="10" presetClass="entr" presetSubtype="0" fill="hold" grpId="0" nodeType="withEffect">
                                  <p:stCondLst>
                                    <p:cond delay="200"/>
                                  </p:stCondLst>
                                  <p:childTnLst>
                                    <p:set>
                                      <p:cBhvr>
                                        <p:cTn id="268" dur="1" fill="hold">
                                          <p:stCondLst>
                                            <p:cond delay="0"/>
                                          </p:stCondLst>
                                        </p:cTn>
                                        <p:tgtEl>
                                          <p:spTgt spid="121"/>
                                        </p:tgtEl>
                                        <p:attrNameLst>
                                          <p:attrName>style.visibility</p:attrName>
                                        </p:attrNameLst>
                                      </p:cBhvr>
                                      <p:to>
                                        <p:strVal val="visible"/>
                                      </p:to>
                                    </p:set>
                                    <p:animEffect transition="in" filter="fade">
                                      <p:cBhvr>
                                        <p:cTn id="269" dur="400"/>
                                        <p:tgtEl>
                                          <p:spTgt spid="121"/>
                                        </p:tgtEl>
                                      </p:cBhvr>
                                    </p:animEffect>
                                  </p:childTnLst>
                                </p:cTn>
                              </p:par>
                              <p:par>
                                <p:cTn id="270" presetID="10" presetClass="entr" presetSubtype="0" fill="hold" grpId="0" nodeType="withEffect">
                                  <p:stCondLst>
                                    <p:cond delay="200"/>
                                  </p:stCondLst>
                                  <p:childTnLst>
                                    <p:set>
                                      <p:cBhvr>
                                        <p:cTn id="271" dur="1" fill="hold">
                                          <p:stCondLst>
                                            <p:cond delay="0"/>
                                          </p:stCondLst>
                                        </p:cTn>
                                        <p:tgtEl>
                                          <p:spTgt spid="122"/>
                                        </p:tgtEl>
                                        <p:attrNameLst>
                                          <p:attrName>style.visibility</p:attrName>
                                        </p:attrNameLst>
                                      </p:cBhvr>
                                      <p:to>
                                        <p:strVal val="visible"/>
                                      </p:to>
                                    </p:set>
                                    <p:animEffect transition="in" filter="fade">
                                      <p:cBhvr>
                                        <p:cTn id="272" dur="400"/>
                                        <p:tgtEl>
                                          <p:spTgt spid="122"/>
                                        </p:tgtEl>
                                      </p:cBhvr>
                                    </p:animEffect>
                                  </p:childTnLst>
                                </p:cTn>
                              </p:par>
                              <p:par>
                                <p:cTn id="273" presetID="10" presetClass="entr" presetSubtype="0" fill="hold" grpId="0" nodeType="withEffect">
                                  <p:stCondLst>
                                    <p:cond delay="200"/>
                                  </p:stCondLst>
                                  <p:childTnLst>
                                    <p:set>
                                      <p:cBhvr>
                                        <p:cTn id="274" dur="1" fill="hold">
                                          <p:stCondLst>
                                            <p:cond delay="0"/>
                                          </p:stCondLst>
                                        </p:cTn>
                                        <p:tgtEl>
                                          <p:spTgt spid="123"/>
                                        </p:tgtEl>
                                        <p:attrNameLst>
                                          <p:attrName>style.visibility</p:attrName>
                                        </p:attrNameLst>
                                      </p:cBhvr>
                                      <p:to>
                                        <p:strVal val="visible"/>
                                      </p:to>
                                    </p:set>
                                    <p:animEffect transition="in" filter="fade">
                                      <p:cBhvr>
                                        <p:cTn id="275" dur="400"/>
                                        <p:tgtEl>
                                          <p:spTgt spid="123"/>
                                        </p:tgtEl>
                                      </p:cBhvr>
                                    </p:animEffect>
                                  </p:childTnLst>
                                </p:cTn>
                              </p:par>
                              <p:par>
                                <p:cTn id="276" presetID="10" presetClass="entr" presetSubtype="0" fill="hold" grpId="0" nodeType="withEffect">
                                  <p:stCondLst>
                                    <p:cond delay="200"/>
                                  </p:stCondLst>
                                  <p:childTnLst>
                                    <p:set>
                                      <p:cBhvr>
                                        <p:cTn id="277" dur="1" fill="hold">
                                          <p:stCondLst>
                                            <p:cond delay="0"/>
                                          </p:stCondLst>
                                        </p:cTn>
                                        <p:tgtEl>
                                          <p:spTgt spid="124"/>
                                        </p:tgtEl>
                                        <p:attrNameLst>
                                          <p:attrName>style.visibility</p:attrName>
                                        </p:attrNameLst>
                                      </p:cBhvr>
                                      <p:to>
                                        <p:strVal val="visible"/>
                                      </p:to>
                                    </p:set>
                                    <p:animEffect transition="in" filter="fade">
                                      <p:cBhvr>
                                        <p:cTn id="278" dur="400"/>
                                        <p:tgtEl>
                                          <p:spTgt spid="124"/>
                                        </p:tgtEl>
                                      </p:cBhvr>
                                    </p:animEffect>
                                  </p:childTnLst>
                                </p:cTn>
                              </p:par>
                              <p:par>
                                <p:cTn id="279" presetID="10" presetClass="entr" presetSubtype="0" fill="hold" grpId="0" nodeType="withEffect">
                                  <p:stCondLst>
                                    <p:cond delay="200"/>
                                  </p:stCondLst>
                                  <p:childTnLst>
                                    <p:set>
                                      <p:cBhvr>
                                        <p:cTn id="280" dur="1" fill="hold">
                                          <p:stCondLst>
                                            <p:cond delay="0"/>
                                          </p:stCondLst>
                                        </p:cTn>
                                        <p:tgtEl>
                                          <p:spTgt spid="125"/>
                                        </p:tgtEl>
                                        <p:attrNameLst>
                                          <p:attrName>style.visibility</p:attrName>
                                        </p:attrNameLst>
                                      </p:cBhvr>
                                      <p:to>
                                        <p:strVal val="visible"/>
                                      </p:to>
                                    </p:set>
                                    <p:animEffect transition="in" filter="fade">
                                      <p:cBhvr>
                                        <p:cTn id="281" dur="400"/>
                                        <p:tgtEl>
                                          <p:spTgt spid="125"/>
                                        </p:tgtEl>
                                      </p:cBhvr>
                                    </p:animEffect>
                                  </p:childTnLst>
                                </p:cTn>
                              </p:par>
                              <p:par>
                                <p:cTn id="282" presetID="10" presetClass="entr" presetSubtype="0" fill="hold" grpId="0" nodeType="withEffect">
                                  <p:stCondLst>
                                    <p:cond delay="200"/>
                                  </p:stCondLst>
                                  <p:childTnLst>
                                    <p:set>
                                      <p:cBhvr>
                                        <p:cTn id="283" dur="1" fill="hold">
                                          <p:stCondLst>
                                            <p:cond delay="0"/>
                                          </p:stCondLst>
                                        </p:cTn>
                                        <p:tgtEl>
                                          <p:spTgt spid="126"/>
                                        </p:tgtEl>
                                        <p:attrNameLst>
                                          <p:attrName>style.visibility</p:attrName>
                                        </p:attrNameLst>
                                      </p:cBhvr>
                                      <p:to>
                                        <p:strVal val="visible"/>
                                      </p:to>
                                    </p:set>
                                    <p:animEffect transition="in" filter="fade">
                                      <p:cBhvr>
                                        <p:cTn id="284" dur="400"/>
                                        <p:tgtEl>
                                          <p:spTgt spid="126"/>
                                        </p:tgtEl>
                                      </p:cBhvr>
                                    </p:animEffect>
                                  </p:childTnLst>
                                </p:cTn>
                              </p:par>
                              <p:par>
                                <p:cTn id="285" presetID="10" presetClass="entr" presetSubtype="0" fill="hold" grpId="0" nodeType="withEffect">
                                  <p:stCondLst>
                                    <p:cond delay="200"/>
                                  </p:stCondLst>
                                  <p:childTnLst>
                                    <p:set>
                                      <p:cBhvr>
                                        <p:cTn id="286" dur="1" fill="hold">
                                          <p:stCondLst>
                                            <p:cond delay="0"/>
                                          </p:stCondLst>
                                        </p:cTn>
                                        <p:tgtEl>
                                          <p:spTgt spid="127"/>
                                        </p:tgtEl>
                                        <p:attrNameLst>
                                          <p:attrName>style.visibility</p:attrName>
                                        </p:attrNameLst>
                                      </p:cBhvr>
                                      <p:to>
                                        <p:strVal val="visible"/>
                                      </p:to>
                                    </p:set>
                                    <p:animEffect transition="in" filter="fade">
                                      <p:cBhvr>
                                        <p:cTn id="287" dur="400"/>
                                        <p:tgtEl>
                                          <p:spTgt spid="127"/>
                                        </p:tgtEl>
                                      </p:cBhvr>
                                    </p:animEffect>
                                  </p:childTnLst>
                                </p:cTn>
                              </p:par>
                              <p:par>
                                <p:cTn id="288" presetID="10" presetClass="entr" presetSubtype="0" fill="hold" grpId="0" nodeType="withEffect">
                                  <p:stCondLst>
                                    <p:cond delay="200"/>
                                  </p:stCondLst>
                                  <p:childTnLst>
                                    <p:set>
                                      <p:cBhvr>
                                        <p:cTn id="289" dur="1" fill="hold">
                                          <p:stCondLst>
                                            <p:cond delay="0"/>
                                          </p:stCondLst>
                                        </p:cTn>
                                        <p:tgtEl>
                                          <p:spTgt spid="128"/>
                                        </p:tgtEl>
                                        <p:attrNameLst>
                                          <p:attrName>style.visibility</p:attrName>
                                        </p:attrNameLst>
                                      </p:cBhvr>
                                      <p:to>
                                        <p:strVal val="visible"/>
                                      </p:to>
                                    </p:set>
                                    <p:animEffect transition="in" filter="fade">
                                      <p:cBhvr>
                                        <p:cTn id="290" dur="400"/>
                                        <p:tgtEl>
                                          <p:spTgt spid="128"/>
                                        </p:tgtEl>
                                      </p:cBhvr>
                                    </p:animEffect>
                                  </p:childTnLst>
                                </p:cTn>
                              </p:par>
                              <p:par>
                                <p:cTn id="291" presetID="10" presetClass="entr" presetSubtype="0" fill="hold" grpId="0" nodeType="withEffect">
                                  <p:stCondLst>
                                    <p:cond delay="200"/>
                                  </p:stCondLst>
                                  <p:childTnLst>
                                    <p:set>
                                      <p:cBhvr>
                                        <p:cTn id="292" dur="1" fill="hold">
                                          <p:stCondLst>
                                            <p:cond delay="0"/>
                                          </p:stCondLst>
                                        </p:cTn>
                                        <p:tgtEl>
                                          <p:spTgt spid="129"/>
                                        </p:tgtEl>
                                        <p:attrNameLst>
                                          <p:attrName>style.visibility</p:attrName>
                                        </p:attrNameLst>
                                      </p:cBhvr>
                                      <p:to>
                                        <p:strVal val="visible"/>
                                      </p:to>
                                    </p:set>
                                    <p:animEffect transition="in" filter="fade">
                                      <p:cBhvr>
                                        <p:cTn id="293" dur="400"/>
                                        <p:tgtEl>
                                          <p:spTgt spid="129"/>
                                        </p:tgtEl>
                                      </p:cBhvr>
                                    </p:animEffect>
                                  </p:childTnLst>
                                </p:cTn>
                              </p:par>
                              <p:par>
                                <p:cTn id="294" presetID="10" presetClass="entr" presetSubtype="0" fill="hold" grpId="0" nodeType="withEffect">
                                  <p:stCondLst>
                                    <p:cond delay="200"/>
                                  </p:stCondLst>
                                  <p:childTnLst>
                                    <p:set>
                                      <p:cBhvr>
                                        <p:cTn id="295" dur="1" fill="hold">
                                          <p:stCondLst>
                                            <p:cond delay="0"/>
                                          </p:stCondLst>
                                        </p:cTn>
                                        <p:tgtEl>
                                          <p:spTgt spid="130"/>
                                        </p:tgtEl>
                                        <p:attrNameLst>
                                          <p:attrName>style.visibility</p:attrName>
                                        </p:attrNameLst>
                                      </p:cBhvr>
                                      <p:to>
                                        <p:strVal val="visible"/>
                                      </p:to>
                                    </p:set>
                                    <p:animEffect transition="in" filter="fade">
                                      <p:cBhvr>
                                        <p:cTn id="296" dur="400"/>
                                        <p:tgtEl>
                                          <p:spTgt spid="130"/>
                                        </p:tgtEl>
                                      </p:cBhvr>
                                    </p:animEffect>
                                  </p:childTnLst>
                                </p:cTn>
                              </p:par>
                              <p:par>
                                <p:cTn id="297" presetID="10" presetClass="entr" presetSubtype="0" fill="hold" grpId="0" nodeType="withEffect">
                                  <p:stCondLst>
                                    <p:cond delay="200"/>
                                  </p:stCondLst>
                                  <p:childTnLst>
                                    <p:set>
                                      <p:cBhvr>
                                        <p:cTn id="298" dur="1" fill="hold">
                                          <p:stCondLst>
                                            <p:cond delay="0"/>
                                          </p:stCondLst>
                                        </p:cTn>
                                        <p:tgtEl>
                                          <p:spTgt spid="131"/>
                                        </p:tgtEl>
                                        <p:attrNameLst>
                                          <p:attrName>style.visibility</p:attrName>
                                        </p:attrNameLst>
                                      </p:cBhvr>
                                      <p:to>
                                        <p:strVal val="visible"/>
                                      </p:to>
                                    </p:set>
                                    <p:animEffect transition="in" filter="fade">
                                      <p:cBhvr>
                                        <p:cTn id="299" dur="400"/>
                                        <p:tgtEl>
                                          <p:spTgt spid="131"/>
                                        </p:tgtEl>
                                      </p:cBhvr>
                                    </p:animEffect>
                                  </p:childTnLst>
                                </p:cTn>
                              </p:par>
                              <p:par>
                                <p:cTn id="300" presetID="10" presetClass="entr" presetSubtype="0" fill="hold" grpId="0" nodeType="withEffect">
                                  <p:stCondLst>
                                    <p:cond delay="200"/>
                                  </p:stCondLst>
                                  <p:childTnLst>
                                    <p:set>
                                      <p:cBhvr>
                                        <p:cTn id="301" dur="1" fill="hold">
                                          <p:stCondLst>
                                            <p:cond delay="0"/>
                                          </p:stCondLst>
                                        </p:cTn>
                                        <p:tgtEl>
                                          <p:spTgt spid="132"/>
                                        </p:tgtEl>
                                        <p:attrNameLst>
                                          <p:attrName>style.visibility</p:attrName>
                                        </p:attrNameLst>
                                      </p:cBhvr>
                                      <p:to>
                                        <p:strVal val="visible"/>
                                      </p:to>
                                    </p:set>
                                    <p:animEffect transition="in" filter="fade">
                                      <p:cBhvr>
                                        <p:cTn id="302" dur="400"/>
                                        <p:tgtEl>
                                          <p:spTgt spid="132"/>
                                        </p:tgtEl>
                                      </p:cBhvr>
                                    </p:animEffect>
                                  </p:childTnLst>
                                </p:cTn>
                              </p:par>
                              <p:par>
                                <p:cTn id="303" presetID="10" presetClass="entr" presetSubtype="0" fill="hold" grpId="0" nodeType="withEffect">
                                  <p:stCondLst>
                                    <p:cond delay="200"/>
                                  </p:stCondLst>
                                  <p:childTnLst>
                                    <p:set>
                                      <p:cBhvr>
                                        <p:cTn id="304" dur="1" fill="hold">
                                          <p:stCondLst>
                                            <p:cond delay="0"/>
                                          </p:stCondLst>
                                        </p:cTn>
                                        <p:tgtEl>
                                          <p:spTgt spid="133"/>
                                        </p:tgtEl>
                                        <p:attrNameLst>
                                          <p:attrName>style.visibility</p:attrName>
                                        </p:attrNameLst>
                                      </p:cBhvr>
                                      <p:to>
                                        <p:strVal val="visible"/>
                                      </p:to>
                                    </p:set>
                                    <p:animEffect transition="in" filter="fade">
                                      <p:cBhvr>
                                        <p:cTn id="305" dur="400"/>
                                        <p:tgtEl>
                                          <p:spTgt spid="133"/>
                                        </p:tgtEl>
                                      </p:cBhvr>
                                    </p:animEffect>
                                  </p:childTnLst>
                                </p:cTn>
                              </p:par>
                              <p:par>
                                <p:cTn id="306" presetID="10" presetClass="entr" presetSubtype="0" fill="hold" grpId="0" nodeType="withEffect">
                                  <p:stCondLst>
                                    <p:cond delay="200"/>
                                  </p:stCondLst>
                                  <p:childTnLst>
                                    <p:set>
                                      <p:cBhvr>
                                        <p:cTn id="307" dur="1" fill="hold">
                                          <p:stCondLst>
                                            <p:cond delay="0"/>
                                          </p:stCondLst>
                                        </p:cTn>
                                        <p:tgtEl>
                                          <p:spTgt spid="134"/>
                                        </p:tgtEl>
                                        <p:attrNameLst>
                                          <p:attrName>style.visibility</p:attrName>
                                        </p:attrNameLst>
                                      </p:cBhvr>
                                      <p:to>
                                        <p:strVal val="visible"/>
                                      </p:to>
                                    </p:set>
                                    <p:animEffect transition="in" filter="fade">
                                      <p:cBhvr>
                                        <p:cTn id="308" dur="400"/>
                                        <p:tgtEl>
                                          <p:spTgt spid="134"/>
                                        </p:tgtEl>
                                      </p:cBhvr>
                                    </p:animEffect>
                                  </p:childTnLst>
                                </p:cTn>
                              </p:par>
                            </p:childTnLst>
                          </p:cTn>
                        </p:par>
                      </p:childTnLst>
                    </p:cTn>
                  </p:par>
                  <p:par>
                    <p:cTn id="403" fill="hold">
                      <p:stCondLst>
                        <p:cond delay="indefinite"/>
                      </p:stCondLst>
                      <p:childTnLst>
                        <p:par>
                          <p:cTn id="404" fill="hold">
                            <p:stCondLst>
                              <p:cond delay="0"/>
                            </p:stCondLst>
                            <p:childTnLst>
                              <p:par>
                                <p:cTn id="309" presetID="10" presetClass="exit" presetSubtype="0" fill="hold" grpId="1" nodeType="clickEffect">
                                  <p:stCondLst>
                                    <p:cond delay="0"/>
                                  </p:stCondLst>
                                  <p:childTnLst>
                                    <p:animEffect transition="out" filter="fade">
                                      <p:cBhvr>
                                        <p:cTn id="310" dur="200"/>
                                        <p:tgtEl>
                                          <p:spTgt spid="120"/>
                                        </p:tgtEl>
                                      </p:cBhvr>
                                    </p:animEffect>
                                    <p:set>
                                      <p:cBhvr>
                                        <p:cTn id="311" dur="1" fill="hold">
                                          <p:stCondLst>
                                            <p:cond delay="199"/>
                                          </p:stCondLst>
                                        </p:cTn>
                                        <p:tgtEl>
                                          <p:spTgt spid="120"/>
                                        </p:tgtEl>
                                        <p:attrNameLst>
                                          <p:attrName>style.visibility</p:attrName>
                                        </p:attrNameLst>
                                      </p:cBhvr>
                                      <p:to>
                                        <p:strVal val="hidden"/>
                                      </p:to>
                                    </p:set>
                                  </p:childTnLst>
                                </p:cTn>
                              </p:par>
                              <p:par>
                                <p:cTn id="312" presetID="10" presetClass="exit" presetSubtype="0" fill="hold" grpId="1" nodeType="withEffect">
                                  <p:stCondLst>
                                    <p:cond delay="0"/>
                                  </p:stCondLst>
                                  <p:childTnLst>
                                    <p:animEffect transition="out" filter="fade">
                                      <p:cBhvr>
                                        <p:cTn id="313" dur="200"/>
                                        <p:tgtEl>
                                          <p:spTgt spid="121"/>
                                        </p:tgtEl>
                                      </p:cBhvr>
                                    </p:animEffect>
                                    <p:set>
                                      <p:cBhvr>
                                        <p:cTn id="314" dur="1" fill="hold">
                                          <p:stCondLst>
                                            <p:cond delay="199"/>
                                          </p:stCondLst>
                                        </p:cTn>
                                        <p:tgtEl>
                                          <p:spTgt spid="121"/>
                                        </p:tgtEl>
                                        <p:attrNameLst>
                                          <p:attrName>style.visibility</p:attrName>
                                        </p:attrNameLst>
                                      </p:cBhvr>
                                      <p:to>
                                        <p:strVal val="hidden"/>
                                      </p:to>
                                    </p:set>
                                  </p:childTnLst>
                                </p:cTn>
                              </p:par>
                              <p:par>
                                <p:cTn id="315" presetID="10" presetClass="exit" presetSubtype="0" fill="hold" grpId="1" nodeType="withEffect">
                                  <p:stCondLst>
                                    <p:cond delay="0"/>
                                  </p:stCondLst>
                                  <p:childTnLst>
                                    <p:animEffect transition="out" filter="fade">
                                      <p:cBhvr>
                                        <p:cTn id="316" dur="200"/>
                                        <p:tgtEl>
                                          <p:spTgt spid="122"/>
                                        </p:tgtEl>
                                      </p:cBhvr>
                                    </p:animEffect>
                                    <p:set>
                                      <p:cBhvr>
                                        <p:cTn id="317" dur="1" fill="hold">
                                          <p:stCondLst>
                                            <p:cond delay="199"/>
                                          </p:stCondLst>
                                        </p:cTn>
                                        <p:tgtEl>
                                          <p:spTgt spid="122"/>
                                        </p:tgtEl>
                                        <p:attrNameLst>
                                          <p:attrName>style.visibility</p:attrName>
                                        </p:attrNameLst>
                                      </p:cBhvr>
                                      <p:to>
                                        <p:strVal val="hidden"/>
                                      </p:to>
                                    </p:set>
                                  </p:childTnLst>
                                </p:cTn>
                              </p:par>
                              <p:par>
                                <p:cTn id="318" presetID="10" presetClass="exit" presetSubtype="0" fill="hold" grpId="1" nodeType="withEffect">
                                  <p:stCondLst>
                                    <p:cond delay="0"/>
                                  </p:stCondLst>
                                  <p:childTnLst>
                                    <p:animEffect transition="out" filter="fade">
                                      <p:cBhvr>
                                        <p:cTn id="319" dur="200"/>
                                        <p:tgtEl>
                                          <p:spTgt spid="123"/>
                                        </p:tgtEl>
                                      </p:cBhvr>
                                    </p:animEffect>
                                    <p:set>
                                      <p:cBhvr>
                                        <p:cTn id="320" dur="1" fill="hold">
                                          <p:stCondLst>
                                            <p:cond delay="199"/>
                                          </p:stCondLst>
                                        </p:cTn>
                                        <p:tgtEl>
                                          <p:spTgt spid="123"/>
                                        </p:tgtEl>
                                        <p:attrNameLst>
                                          <p:attrName>style.visibility</p:attrName>
                                        </p:attrNameLst>
                                      </p:cBhvr>
                                      <p:to>
                                        <p:strVal val="hidden"/>
                                      </p:to>
                                    </p:set>
                                  </p:childTnLst>
                                </p:cTn>
                              </p:par>
                              <p:par>
                                <p:cTn id="321" presetID="10" presetClass="exit" presetSubtype="0" fill="hold" grpId="1" nodeType="withEffect">
                                  <p:stCondLst>
                                    <p:cond delay="0"/>
                                  </p:stCondLst>
                                  <p:childTnLst>
                                    <p:animEffect transition="out" filter="fade">
                                      <p:cBhvr>
                                        <p:cTn id="322" dur="200"/>
                                        <p:tgtEl>
                                          <p:spTgt spid="124"/>
                                        </p:tgtEl>
                                      </p:cBhvr>
                                    </p:animEffect>
                                    <p:set>
                                      <p:cBhvr>
                                        <p:cTn id="323" dur="1" fill="hold">
                                          <p:stCondLst>
                                            <p:cond delay="199"/>
                                          </p:stCondLst>
                                        </p:cTn>
                                        <p:tgtEl>
                                          <p:spTgt spid="124"/>
                                        </p:tgtEl>
                                        <p:attrNameLst>
                                          <p:attrName>style.visibility</p:attrName>
                                        </p:attrNameLst>
                                      </p:cBhvr>
                                      <p:to>
                                        <p:strVal val="hidden"/>
                                      </p:to>
                                    </p:set>
                                  </p:childTnLst>
                                </p:cTn>
                              </p:par>
                              <p:par>
                                <p:cTn id="324" presetID="10" presetClass="exit" presetSubtype="0" fill="hold" grpId="1" nodeType="withEffect">
                                  <p:stCondLst>
                                    <p:cond delay="0"/>
                                  </p:stCondLst>
                                  <p:childTnLst>
                                    <p:animEffect transition="out" filter="fade">
                                      <p:cBhvr>
                                        <p:cTn id="325" dur="200"/>
                                        <p:tgtEl>
                                          <p:spTgt spid="125"/>
                                        </p:tgtEl>
                                      </p:cBhvr>
                                    </p:animEffect>
                                    <p:set>
                                      <p:cBhvr>
                                        <p:cTn id="326" dur="1" fill="hold">
                                          <p:stCondLst>
                                            <p:cond delay="199"/>
                                          </p:stCondLst>
                                        </p:cTn>
                                        <p:tgtEl>
                                          <p:spTgt spid="125"/>
                                        </p:tgtEl>
                                        <p:attrNameLst>
                                          <p:attrName>style.visibility</p:attrName>
                                        </p:attrNameLst>
                                      </p:cBhvr>
                                      <p:to>
                                        <p:strVal val="hidden"/>
                                      </p:to>
                                    </p:set>
                                  </p:childTnLst>
                                </p:cTn>
                              </p:par>
                              <p:par>
                                <p:cTn id="327" presetID="10" presetClass="exit" presetSubtype="0" fill="hold" grpId="1" nodeType="withEffect">
                                  <p:stCondLst>
                                    <p:cond delay="0"/>
                                  </p:stCondLst>
                                  <p:childTnLst>
                                    <p:animEffect transition="out" filter="fade">
                                      <p:cBhvr>
                                        <p:cTn id="328" dur="200"/>
                                        <p:tgtEl>
                                          <p:spTgt spid="126"/>
                                        </p:tgtEl>
                                      </p:cBhvr>
                                    </p:animEffect>
                                    <p:set>
                                      <p:cBhvr>
                                        <p:cTn id="329" dur="1" fill="hold">
                                          <p:stCondLst>
                                            <p:cond delay="199"/>
                                          </p:stCondLst>
                                        </p:cTn>
                                        <p:tgtEl>
                                          <p:spTgt spid="126"/>
                                        </p:tgtEl>
                                        <p:attrNameLst>
                                          <p:attrName>style.visibility</p:attrName>
                                        </p:attrNameLst>
                                      </p:cBhvr>
                                      <p:to>
                                        <p:strVal val="hidden"/>
                                      </p:to>
                                    </p:set>
                                  </p:childTnLst>
                                </p:cTn>
                              </p:par>
                              <p:par>
                                <p:cTn id="330" presetID="10" presetClass="exit" presetSubtype="0" fill="hold" grpId="1" nodeType="withEffect">
                                  <p:stCondLst>
                                    <p:cond delay="0"/>
                                  </p:stCondLst>
                                  <p:childTnLst>
                                    <p:animEffect transition="out" filter="fade">
                                      <p:cBhvr>
                                        <p:cTn id="331" dur="200"/>
                                        <p:tgtEl>
                                          <p:spTgt spid="127"/>
                                        </p:tgtEl>
                                      </p:cBhvr>
                                    </p:animEffect>
                                    <p:set>
                                      <p:cBhvr>
                                        <p:cTn id="332" dur="1" fill="hold">
                                          <p:stCondLst>
                                            <p:cond delay="199"/>
                                          </p:stCondLst>
                                        </p:cTn>
                                        <p:tgtEl>
                                          <p:spTgt spid="127"/>
                                        </p:tgtEl>
                                        <p:attrNameLst>
                                          <p:attrName>style.visibility</p:attrName>
                                        </p:attrNameLst>
                                      </p:cBhvr>
                                      <p:to>
                                        <p:strVal val="hidden"/>
                                      </p:to>
                                    </p:set>
                                  </p:childTnLst>
                                </p:cTn>
                              </p:par>
                              <p:par>
                                <p:cTn id="333" presetID="10" presetClass="exit" presetSubtype="0" fill="hold" grpId="1" nodeType="withEffect">
                                  <p:stCondLst>
                                    <p:cond delay="0"/>
                                  </p:stCondLst>
                                  <p:childTnLst>
                                    <p:animEffect transition="out" filter="fade">
                                      <p:cBhvr>
                                        <p:cTn id="334" dur="200"/>
                                        <p:tgtEl>
                                          <p:spTgt spid="128"/>
                                        </p:tgtEl>
                                      </p:cBhvr>
                                    </p:animEffect>
                                    <p:set>
                                      <p:cBhvr>
                                        <p:cTn id="335" dur="1" fill="hold">
                                          <p:stCondLst>
                                            <p:cond delay="199"/>
                                          </p:stCondLst>
                                        </p:cTn>
                                        <p:tgtEl>
                                          <p:spTgt spid="128"/>
                                        </p:tgtEl>
                                        <p:attrNameLst>
                                          <p:attrName>style.visibility</p:attrName>
                                        </p:attrNameLst>
                                      </p:cBhvr>
                                      <p:to>
                                        <p:strVal val="hidden"/>
                                      </p:to>
                                    </p:set>
                                  </p:childTnLst>
                                </p:cTn>
                              </p:par>
                              <p:par>
                                <p:cTn id="336" presetID="10" presetClass="exit" presetSubtype="0" fill="hold" grpId="1" nodeType="withEffect">
                                  <p:stCondLst>
                                    <p:cond delay="0"/>
                                  </p:stCondLst>
                                  <p:childTnLst>
                                    <p:animEffect transition="out" filter="fade">
                                      <p:cBhvr>
                                        <p:cTn id="337" dur="200"/>
                                        <p:tgtEl>
                                          <p:spTgt spid="129"/>
                                        </p:tgtEl>
                                      </p:cBhvr>
                                    </p:animEffect>
                                    <p:set>
                                      <p:cBhvr>
                                        <p:cTn id="338" dur="1" fill="hold">
                                          <p:stCondLst>
                                            <p:cond delay="199"/>
                                          </p:stCondLst>
                                        </p:cTn>
                                        <p:tgtEl>
                                          <p:spTgt spid="129"/>
                                        </p:tgtEl>
                                        <p:attrNameLst>
                                          <p:attrName>style.visibility</p:attrName>
                                        </p:attrNameLst>
                                      </p:cBhvr>
                                      <p:to>
                                        <p:strVal val="hidden"/>
                                      </p:to>
                                    </p:set>
                                  </p:childTnLst>
                                </p:cTn>
                              </p:par>
                              <p:par>
                                <p:cTn id="339" presetID="10" presetClass="exit" presetSubtype="0" fill="hold" grpId="1" nodeType="withEffect">
                                  <p:stCondLst>
                                    <p:cond delay="0"/>
                                  </p:stCondLst>
                                  <p:childTnLst>
                                    <p:animEffect transition="out" filter="fade">
                                      <p:cBhvr>
                                        <p:cTn id="340" dur="200"/>
                                        <p:tgtEl>
                                          <p:spTgt spid="130"/>
                                        </p:tgtEl>
                                      </p:cBhvr>
                                    </p:animEffect>
                                    <p:set>
                                      <p:cBhvr>
                                        <p:cTn id="341" dur="1" fill="hold">
                                          <p:stCondLst>
                                            <p:cond delay="199"/>
                                          </p:stCondLst>
                                        </p:cTn>
                                        <p:tgtEl>
                                          <p:spTgt spid="130"/>
                                        </p:tgtEl>
                                        <p:attrNameLst>
                                          <p:attrName>style.visibility</p:attrName>
                                        </p:attrNameLst>
                                      </p:cBhvr>
                                      <p:to>
                                        <p:strVal val="hidden"/>
                                      </p:to>
                                    </p:set>
                                  </p:childTnLst>
                                </p:cTn>
                              </p:par>
                              <p:par>
                                <p:cTn id="342" presetID="10" presetClass="exit" presetSubtype="0" fill="hold" grpId="1" nodeType="withEffect">
                                  <p:stCondLst>
                                    <p:cond delay="0"/>
                                  </p:stCondLst>
                                  <p:childTnLst>
                                    <p:animEffect transition="out" filter="fade">
                                      <p:cBhvr>
                                        <p:cTn id="343" dur="200"/>
                                        <p:tgtEl>
                                          <p:spTgt spid="131"/>
                                        </p:tgtEl>
                                      </p:cBhvr>
                                    </p:animEffect>
                                    <p:set>
                                      <p:cBhvr>
                                        <p:cTn id="344" dur="1" fill="hold">
                                          <p:stCondLst>
                                            <p:cond delay="199"/>
                                          </p:stCondLst>
                                        </p:cTn>
                                        <p:tgtEl>
                                          <p:spTgt spid="131"/>
                                        </p:tgtEl>
                                        <p:attrNameLst>
                                          <p:attrName>style.visibility</p:attrName>
                                        </p:attrNameLst>
                                      </p:cBhvr>
                                      <p:to>
                                        <p:strVal val="hidden"/>
                                      </p:to>
                                    </p:set>
                                  </p:childTnLst>
                                </p:cTn>
                              </p:par>
                              <p:par>
                                <p:cTn id="345" presetID="10" presetClass="exit" presetSubtype="0" fill="hold" grpId="1" nodeType="withEffect">
                                  <p:stCondLst>
                                    <p:cond delay="0"/>
                                  </p:stCondLst>
                                  <p:childTnLst>
                                    <p:animEffect transition="out" filter="fade">
                                      <p:cBhvr>
                                        <p:cTn id="346" dur="200"/>
                                        <p:tgtEl>
                                          <p:spTgt spid="132"/>
                                        </p:tgtEl>
                                      </p:cBhvr>
                                    </p:animEffect>
                                    <p:set>
                                      <p:cBhvr>
                                        <p:cTn id="347" dur="1" fill="hold">
                                          <p:stCondLst>
                                            <p:cond delay="199"/>
                                          </p:stCondLst>
                                        </p:cTn>
                                        <p:tgtEl>
                                          <p:spTgt spid="132"/>
                                        </p:tgtEl>
                                        <p:attrNameLst>
                                          <p:attrName>style.visibility</p:attrName>
                                        </p:attrNameLst>
                                      </p:cBhvr>
                                      <p:to>
                                        <p:strVal val="hidden"/>
                                      </p:to>
                                    </p:set>
                                  </p:childTnLst>
                                </p:cTn>
                              </p:par>
                              <p:par>
                                <p:cTn id="348" presetID="10" presetClass="exit" presetSubtype="0" fill="hold" grpId="1" nodeType="withEffect">
                                  <p:stCondLst>
                                    <p:cond delay="0"/>
                                  </p:stCondLst>
                                  <p:childTnLst>
                                    <p:animEffect transition="out" filter="fade">
                                      <p:cBhvr>
                                        <p:cTn id="349" dur="200"/>
                                        <p:tgtEl>
                                          <p:spTgt spid="133"/>
                                        </p:tgtEl>
                                      </p:cBhvr>
                                    </p:animEffect>
                                    <p:set>
                                      <p:cBhvr>
                                        <p:cTn id="350" dur="1" fill="hold">
                                          <p:stCondLst>
                                            <p:cond delay="199"/>
                                          </p:stCondLst>
                                        </p:cTn>
                                        <p:tgtEl>
                                          <p:spTgt spid="133"/>
                                        </p:tgtEl>
                                        <p:attrNameLst>
                                          <p:attrName>style.visibility</p:attrName>
                                        </p:attrNameLst>
                                      </p:cBhvr>
                                      <p:to>
                                        <p:strVal val="hidden"/>
                                      </p:to>
                                    </p:set>
                                  </p:childTnLst>
                                </p:cTn>
                              </p:par>
                              <p:par>
                                <p:cTn id="351" presetID="10" presetClass="exit" presetSubtype="0" fill="hold" grpId="1" nodeType="withEffect">
                                  <p:stCondLst>
                                    <p:cond delay="0"/>
                                  </p:stCondLst>
                                  <p:childTnLst>
                                    <p:animEffect transition="out" filter="fade">
                                      <p:cBhvr>
                                        <p:cTn id="352" dur="200"/>
                                        <p:tgtEl>
                                          <p:spTgt spid="134"/>
                                        </p:tgtEl>
                                      </p:cBhvr>
                                    </p:animEffect>
                                    <p:set>
                                      <p:cBhvr>
                                        <p:cTn id="353" dur="1" fill="hold">
                                          <p:stCondLst>
                                            <p:cond delay="199"/>
                                          </p:stCondLst>
                                        </p:cTn>
                                        <p:tgtEl>
                                          <p:spTgt spid="134"/>
                                        </p:tgtEl>
                                        <p:attrNameLst>
                                          <p:attrName>style.visibility</p:attrName>
                                        </p:attrNameLst>
                                      </p:cBhvr>
                                      <p:to>
                                        <p:strVal val="hidden"/>
                                      </p:to>
                                    </p:set>
                                  </p:childTnLst>
                                </p:cTn>
                              </p:par>
                              <p:par>
                                <p:cTn id="354" presetID="10" presetClass="entr" presetSubtype="0" fill="hold" grpId="0" nodeType="withEffect">
                                  <p:stCondLst>
                                    <p:cond delay="200"/>
                                  </p:stCondLst>
                                  <p:childTnLst>
                                    <p:set>
                                      <p:cBhvr>
                                        <p:cTn id="355" dur="1" fill="hold">
                                          <p:stCondLst>
                                            <p:cond delay="0"/>
                                          </p:stCondLst>
                                        </p:cTn>
                                        <p:tgtEl>
                                          <p:spTgt spid="105"/>
                                        </p:tgtEl>
                                        <p:attrNameLst>
                                          <p:attrName>style.visibility</p:attrName>
                                        </p:attrNameLst>
                                      </p:cBhvr>
                                      <p:to>
                                        <p:strVal val="visible"/>
                                      </p:to>
                                    </p:set>
                                    <p:animEffect transition="in" filter="fade">
                                      <p:cBhvr>
                                        <p:cTn id="356" dur="400"/>
                                        <p:tgtEl>
                                          <p:spTgt spid="105"/>
                                        </p:tgtEl>
                                      </p:cBhvr>
                                    </p:animEffect>
                                  </p:childTnLst>
                                </p:cTn>
                              </p:par>
                              <p:par>
                                <p:cTn id="357" presetID="10" presetClass="entr" presetSubtype="0" fill="hold" grpId="0" nodeType="withEffect">
                                  <p:stCondLst>
                                    <p:cond delay="200"/>
                                  </p:stCondLst>
                                  <p:childTnLst>
                                    <p:set>
                                      <p:cBhvr>
                                        <p:cTn id="358" dur="1" fill="hold">
                                          <p:stCondLst>
                                            <p:cond delay="0"/>
                                          </p:stCondLst>
                                        </p:cTn>
                                        <p:tgtEl>
                                          <p:spTgt spid="106"/>
                                        </p:tgtEl>
                                        <p:attrNameLst>
                                          <p:attrName>style.visibility</p:attrName>
                                        </p:attrNameLst>
                                      </p:cBhvr>
                                      <p:to>
                                        <p:strVal val="visible"/>
                                      </p:to>
                                    </p:set>
                                    <p:animEffect transition="in" filter="fade">
                                      <p:cBhvr>
                                        <p:cTn id="359" dur="400"/>
                                        <p:tgtEl>
                                          <p:spTgt spid="106"/>
                                        </p:tgtEl>
                                      </p:cBhvr>
                                    </p:animEffect>
                                  </p:childTnLst>
                                </p:cTn>
                              </p:par>
                              <p:par>
                                <p:cTn id="360" presetID="10" presetClass="entr" presetSubtype="0" fill="hold" grpId="0" nodeType="withEffect">
                                  <p:stCondLst>
                                    <p:cond delay="200"/>
                                  </p:stCondLst>
                                  <p:childTnLst>
                                    <p:set>
                                      <p:cBhvr>
                                        <p:cTn id="361" dur="1" fill="hold">
                                          <p:stCondLst>
                                            <p:cond delay="0"/>
                                          </p:stCondLst>
                                        </p:cTn>
                                        <p:tgtEl>
                                          <p:spTgt spid="107"/>
                                        </p:tgtEl>
                                        <p:attrNameLst>
                                          <p:attrName>style.visibility</p:attrName>
                                        </p:attrNameLst>
                                      </p:cBhvr>
                                      <p:to>
                                        <p:strVal val="visible"/>
                                      </p:to>
                                    </p:set>
                                    <p:animEffect transition="in" filter="fade">
                                      <p:cBhvr>
                                        <p:cTn id="362" dur="400"/>
                                        <p:tgtEl>
                                          <p:spTgt spid="107"/>
                                        </p:tgtEl>
                                      </p:cBhvr>
                                    </p:animEffect>
                                  </p:childTnLst>
                                </p:cTn>
                              </p:par>
                              <p:par>
                                <p:cTn id="363" presetID="10" presetClass="entr" presetSubtype="0" fill="hold" grpId="0" nodeType="withEffect">
                                  <p:stCondLst>
                                    <p:cond delay="200"/>
                                  </p:stCondLst>
                                  <p:childTnLst>
                                    <p:set>
                                      <p:cBhvr>
                                        <p:cTn id="364" dur="1" fill="hold">
                                          <p:stCondLst>
                                            <p:cond delay="0"/>
                                          </p:stCondLst>
                                        </p:cTn>
                                        <p:tgtEl>
                                          <p:spTgt spid="108"/>
                                        </p:tgtEl>
                                        <p:attrNameLst>
                                          <p:attrName>style.visibility</p:attrName>
                                        </p:attrNameLst>
                                      </p:cBhvr>
                                      <p:to>
                                        <p:strVal val="visible"/>
                                      </p:to>
                                    </p:set>
                                    <p:animEffect transition="in" filter="fade">
                                      <p:cBhvr>
                                        <p:cTn id="365" dur="400"/>
                                        <p:tgtEl>
                                          <p:spTgt spid="108"/>
                                        </p:tgtEl>
                                      </p:cBhvr>
                                    </p:animEffect>
                                  </p:childTnLst>
                                </p:cTn>
                              </p:par>
                              <p:par>
                                <p:cTn id="366" presetID="10" presetClass="entr" presetSubtype="0" fill="hold" grpId="0" nodeType="withEffect">
                                  <p:stCondLst>
                                    <p:cond delay="200"/>
                                  </p:stCondLst>
                                  <p:childTnLst>
                                    <p:set>
                                      <p:cBhvr>
                                        <p:cTn id="367" dur="1" fill="hold">
                                          <p:stCondLst>
                                            <p:cond delay="0"/>
                                          </p:stCondLst>
                                        </p:cTn>
                                        <p:tgtEl>
                                          <p:spTgt spid="109"/>
                                        </p:tgtEl>
                                        <p:attrNameLst>
                                          <p:attrName>style.visibility</p:attrName>
                                        </p:attrNameLst>
                                      </p:cBhvr>
                                      <p:to>
                                        <p:strVal val="visible"/>
                                      </p:to>
                                    </p:set>
                                    <p:animEffect transition="in" filter="fade">
                                      <p:cBhvr>
                                        <p:cTn id="368" dur="400"/>
                                        <p:tgtEl>
                                          <p:spTgt spid="109"/>
                                        </p:tgtEl>
                                      </p:cBhvr>
                                    </p:animEffect>
                                  </p:childTnLst>
                                </p:cTn>
                              </p:par>
                              <p:par>
                                <p:cTn id="369" presetID="10" presetClass="entr" presetSubtype="0" fill="hold" grpId="0" nodeType="withEffect">
                                  <p:stCondLst>
                                    <p:cond delay="200"/>
                                  </p:stCondLst>
                                  <p:childTnLst>
                                    <p:set>
                                      <p:cBhvr>
                                        <p:cTn id="370" dur="1" fill="hold">
                                          <p:stCondLst>
                                            <p:cond delay="0"/>
                                          </p:stCondLst>
                                        </p:cTn>
                                        <p:tgtEl>
                                          <p:spTgt spid="110"/>
                                        </p:tgtEl>
                                        <p:attrNameLst>
                                          <p:attrName>style.visibility</p:attrName>
                                        </p:attrNameLst>
                                      </p:cBhvr>
                                      <p:to>
                                        <p:strVal val="visible"/>
                                      </p:to>
                                    </p:set>
                                    <p:animEffect transition="in" filter="fade">
                                      <p:cBhvr>
                                        <p:cTn id="371" dur="400"/>
                                        <p:tgtEl>
                                          <p:spTgt spid="110"/>
                                        </p:tgtEl>
                                      </p:cBhvr>
                                    </p:animEffect>
                                  </p:childTnLst>
                                </p:cTn>
                              </p:par>
                              <p:par>
                                <p:cTn id="372" presetID="10" presetClass="entr" presetSubtype="0" fill="hold" grpId="0" nodeType="withEffect">
                                  <p:stCondLst>
                                    <p:cond delay="200"/>
                                  </p:stCondLst>
                                  <p:childTnLst>
                                    <p:set>
                                      <p:cBhvr>
                                        <p:cTn id="373" dur="1" fill="hold">
                                          <p:stCondLst>
                                            <p:cond delay="0"/>
                                          </p:stCondLst>
                                        </p:cTn>
                                        <p:tgtEl>
                                          <p:spTgt spid="111"/>
                                        </p:tgtEl>
                                        <p:attrNameLst>
                                          <p:attrName>style.visibility</p:attrName>
                                        </p:attrNameLst>
                                      </p:cBhvr>
                                      <p:to>
                                        <p:strVal val="visible"/>
                                      </p:to>
                                    </p:set>
                                    <p:animEffect transition="in" filter="fade">
                                      <p:cBhvr>
                                        <p:cTn id="374" dur="400"/>
                                        <p:tgtEl>
                                          <p:spTgt spid="111"/>
                                        </p:tgtEl>
                                      </p:cBhvr>
                                    </p:animEffect>
                                  </p:childTnLst>
                                </p:cTn>
                              </p:par>
                              <p:par>
                                <p:cTn id="375" presetID="10" presetClass="entr" presetSubtype="0" fill="hold" grpId="0" nodeType="withEffect">
                                  <p:stCondLst>
                                    <p:cond delay="200"/>
                                  </p:stCondLst>
                                  <p:childTnLst>
                                    <p:set>
                                      <p:cBhvr>
                                        <p:cTn id="376" dur="1" fill="hold">
                                          <p:stCondLst>
                                            <p:cond delay="0"/>
                                          </p:stCondLst>
                                        </p:cTn>
                                        <p:tgtEl>
                                          <p:spTgt spid="112"/>
                                        </p:tgtEl>
                                        <p:attrNameLst>
                                          <p:attrName>style.visibility</p:attrName>
                                        </p:attrNameLst>
                                      </p:cBhvr>
                                      <p:to>
                                        <p:strVal val="visible"/>
                                      </p:to>
                                    </p:set>
                                    <p:animEffect transition="in" filter="fade">
                                      <p:cBhvr>
                                        <p:cTn id="377" dur="400"/>
                                        <p:tgtEl>
                                          <p:spTgt spid="112"/>
                                        </p:tgtEl>
                                      </p:cBhvr>
                                    </p:animEffect>
                                  </p:childTnLst>
                                </p:cTn>
                              </p:par>
                              <p:par>
                                <p:cTn id="378" presetID="10" presetClass="entr" presetSubtype="0" fill="hold" grpId="0" nodeType="withEffect">
                                  <p:stCondLst>
                                    <p:cond delay="200"/>
                                  </p:stCondLst>
                                  <p:childTnLst>
                                    <p:set>
                                      <p:cBhvr>
                                        <p:cTn id="379" dur="1" fill="hold">
                                          <p:stCondLst>
                                            <p:cond delay="0"/>
                                          </p:stCondLst>
                                        </p:cTn>
                                        <p:tgtEl>
                                          <p:spTgt spid="113"/>
                                        </p:tgtEl>
                                        <p:attrNameLst>
                                          <p:attrName>style.visibility</p:attrName>
                                        </p:attrNameLst>
                                      </p:cBhvr>
                                      <p:to>
                                        <p:strVal val="visible"/>
                                      </p:to>
                                    </p:set>
                                    <p:animEffect transition="in" filter="fade">
                                      <p:cBhvr>
                                        <p:cTn id="380" dur="400"/>
                                        <p:tgtEl>
                                          <p:spTgt spid="113"/>
                                        </p:tgtEl>
                                      </p:cBhvr>
                                    </p:animEffect>
                                  </p:childTnLst>
                                </p:cTn>
                              </p:par>
                              <p:par>
                                <p:cTn id="381" presetID="10" presetClass="entr" presetSubtype="0" fill="hold" grpId="0" nodeType="withEffect">
                                  <p:stCondLst>
                                    <p:cond delay="200"/>
                                  </p:stCondLst>
                                  <p:childTnLst>
                                    <p:set>
                                      <p:cBhvr>
                                        <p:cTn id="382" dur="1" fill="hold">
                                          <p:stCondLst>
                                            <p:cond delay="0"/>
                                          </p:stCondLst>
                                        </p:cTn>
                                        <p:tgtEl>
                                          <p:spTgt spid="114"/>
                                        </p:tgtEl>
                                        <p:attrNameLst>
                                          <p:attrName>style.visibility</p:attrName>
                                        </p:attrNameLst>
                                      </p:cBhvr>
                                      <p:to>
                                        <p:strVal val="visible"/>
                                      </p:to>
                                    </p:set>
                                    <p:animEffect transition="in" filter="fade">
                                      <p:cBhvr>
                                        <p:cTn id="383" dur="400"/>
                                        <p:tgtEl>
                                          <p:spTgt spid="114"/>
                                        </p:tgtEl>
                                      </p:cBhvr>
                                    </p:animEffect>
                                  </p:childTnLst>
                                </p:cTn>
                              </p:par>
                              <p:par>
                                <p:cTn id="384" presetID="10" presetClass="entr" presetSubtype="0" fill="hold" grpId="0" nodeType="withEffect">
                                  <p:stCondLst>
                                    <p:cond delay="200"/>
                                  </p:stCondLst>
                                  <p:childTnLst>
                                    <p:set>
                                      <p:cBhvr>
                                        <p:cTn id="385" dur="1" fill="hold">
                                          <p:stCondLst>
                                            <p:cond delay="0"/>
                                          </p:stCondLst>
                                        </p:cTn>
                                        <p:tgtEl>
                                          <p:spTgt spid="115"/>
                                        </p:tgtEl>
                                        <p:attrNameLst>
                                          <p:attrName>style.visibility</p:attrName>
                                        </p:attrNameLst>
                                      </p:cBhvr>
                                      <p:to>
                                        <p:strVal val="visible"/>
                                      </p:to>
                                    </p:set>
                                    <p:animEffect transition="in" filter="fade">
                                      <p:cBhvr>
                                        <p:cTn id="386" dur="400"/>
                                        <p:tgtEl>
                                          <p:spTgt spid="115"/>
                                        </p:tgtEl>
                                      </p:cBhvr>
                                    </p:animEffect>
                                  </p:childTnLst>
                                </p:cTn>
                              </p:par>
                              <p:par>
                                <p:cTn id="387" presetID="10" presetClass="entr" presetSubtype="0" fill="hold" grpId="0" nodeType="withEffect">
                                  <p:stCondLst>
                                    <p:cond delay="200"/>
                                  </p:stCondLst>
                                  <p:childTnLst>
                                    <p:set>
                                      <p:cBhvr>
                                        <p:cTn id="388" dur="1" fill="hold">
                                          <p:stCondLst>
                                            <p:cond delay="0"/>
                                          </p:stCondLst>
                                        </p:cTn>
                                        <p:tgtEl>
                                          <p:spTgt spid="116"/>
                                        </p:tgtEl>
                                        <p:attrNameLst>
                                          <p:attrName>style.visibility</p:attrName>
                                        </p:attrNameLst>
                                      </p:cBhvr>
                                      <p:to>
                                        <p:strVal val="visible"/>
                                      </p:to>
                                    </p:set>
                                    <p:animEffect transition="in" filter="fade">
                                      <p:cBhvr>
                                        <p:cTn id="389" dur="400"/>
                                        <p:tgtEl>
                                          <p:spTgt spid="116"/>
                                        </p:tgtEl>
                                      </p:cBhvr>
                                    </p:animEffect>
                                  </p:childTnLst>
                                </p:cTn>
                              </p:par>
                              <p:par>
                                <p:cTn id="390" presetID="10" presetClass="entr" presetSubtype="0" fill="hold" grpId="0" nodeType="withEffect">
                                  <p:stCondLst>
                                    <p:cond delay="200"/>
                                  </p:stCondLst>
                                  <p:childTnLst>
                                    <p:set>
                                      <p:cBhvr>
                                        <p:cTn id="391" dur="1" fill="hold">
                                          <p:stCondLst>
                                            <p:cond delay="0"/>
                                          </p:stCondLst>
                                        </p:cTn>
                                        <p:tgtEl>
                                          <p:spTgt spid="117"/>
                                        </p:tgtEl>
                                        <p:attrNameLst>
                                          <p:attrName>style.visibility</p:attrName>
                                        </p:attrNameLst>
                                      </p:cBhvr>
                                      <p:to>
                                        <p:strVal val="visible"/>
                                      </p:to>
                                    </p:set>
                                    <p:animEffect transition="in" filter="fade">
                                      <p:cBhvr>
                                        <p:cTn id="392" dur="400"/>
                                        <p:tgtEl>
                                          <p:spTgt spid="117"/>
                                        </p:tgtEl>
                                      </p:cBhvr>
                                    </p:animEffect>
                                  </p:childTnLst>
                                </p:cTn>
                              </p:par>
                              <p:par>
                                <p:cTn id="393" presetID="10" presetClass="entr" presetSubtype="0" fill="hold" grpId="0" nodeType="withEffect">
                                  <p:stCondLst>
                                    <p:cond delay="200"/>
                                  </p:stCondLst>
                                  <p:childTnLst>
                                    <p:set>
                                      <p:cBhvr>
                                        <p:cTn id="394" dur="1" fill="hold">
                                          <p:stCondLst>
                                            <p:cond delay="0"/>
                                          </p:stCondLst>
                                        </p:cTn>
                                        <p:tgtEl>
                                          <p:spTgt spid="118"/>
                                        </p:tgtEl>
                                        <p:attrNameLst>
                                          <p:attrName>style.visibility</p:attrName>
                                        </p:attrNameLst>
                                      </p:cBhvr>
                                      <p:to>
                                        <p:strVal val="visible"/>
                                      </p:to>
                                    </p:set>
                                    <p:animEffect transition="in" filter="fade">
                                      <p:cBhvr>
                                        <p:cTn id="395" dur="400"/>
                                        <p:tgtEl>
                                          <p:spTgt spid="118"/>
                                        </p:tgtEl>
                                      </p:cBhvr>
                                    </p:animEffect>
                                  </p:childTnLst>
                                </p:cTn>
                              </p:par>
                              <p:par>
                                <p:cTn id="396" presetID="10" presetClass="entr" presetSubtype="0" fill="hold" grpId="0" nodeType="withEffect">
                                  <p:stCondLst>
                                    <p:cond delay="200"/>
                                  </p:stCondLst>
                                  <p:childTnLst>
                                    <p:set>
                                      <p:cBhvr>
                                        <p:cTn id="397" dur="1" fill="hold">
                                          <p:stCondLst>
                                            <p:cond delay="0"/>
                                          </p:stCondLst>
                                        </p:cTn>
                                        <p:tgtEl>
                                          <p:spTgt spid="119"/>
                                        </p:tgtEl>
                                        <p:attrNameLst>
                                          <p:attrName>style.visibility</p:attrName>
                                        </p:attrNameLst>
                                      </p:cBhvr>
                                      <p:to>
                                        <p:strVal val="visible"/>
                                      </p:to>
                                    </p:set>
                                    <p:animEffect transition="in" filter="fade">
                                      <p:cBhvr>
                                        <p:cTn id="398" dur="4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0" grpId="1" animBg="1"/>
      <p:bldP spid="121" grpId="0" animBg="1"/>
      <p:bldP spid="121" grpId="1" animBg="1"/>
      <p:bldP spid="122" grpId="0" animBg="1"/>
      <p:bldP spid="122" grpId="1" animBg="1"/>
      <p:bldP spid="123" grpId="0" animBg="1"/>
      <p:bldP spid="123" grpId="1" animBg="1"/>
      <p:bldP spid="124" grpId="0" animBg="1"/>
      <p:bldP spid="124" grpId="1" animBg="1"/>
      <p:bldP spid="125" grpId="0" animBg="1"/>
      <p:bldP spid="125" grpId="1" animBg="1"/>
      <p:bldP spid="126" grpId="0" animBg="1"/>
      <p:bldP spid="126" grpId="1" animBg="1"/>
      <p:bldP spid="127" grpId="0" animBg="1"/>
      <p:bldP spid="127" grpId="1" animBg="1"/>
      <p:bldP spid="128" grpId="0" animBg="1"/>
      <p:bldP spid="128" grpId="1" animBg="1"/>
      <p:bldP spid="129" grpId="0" animBg="1"/>
      <p:bldP spid="129" grpId="1" animBg="1"/>
      <p:bldP spid="130" grpId="0" animBg="1"/>
      <p:bldP spid="130" grpId="1" animBg="1"/>
      <p:bldP spid="131" grpId="0" animBg="1"/>
      <p:bldP spid="131" grpId="1" animBg="1"/>
      <p:bldP spid="132" grpId="0" animBg="1"/>
      <p:bldP spid="132" grpId="1" animBg="1"/>
      <p:bldP spid="133" grpId="0" animBg="1"/>
      <p:bldP spid="133" grpId="1" animBg="1"/>
      <p:bldP spid="134" grpId="0" animBg="1"/>
      <p:bldP spid="134" grpId="1"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04</a:t>
            </a:r>
          </a:p>
        </p:txBody>
      </p:sp>
      <p:sp>
        <p:nvSpPr>
          <p:cNvPr id="4" name="TextBox 3"/>
          <p:cNvSpPr txBox="1"/>
          <p:nvPr/>
        </p:nvSpPr>
        <p:spPr>
          <a:xfrm>
            <a:off x="898398" y="282141"/>
            <a:ext cx="215950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Presentación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Membrana de Cook: el bloqueo del Q4, a la vista</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1438275"/>
            <a:ext cx="4438650" cy="4057650"/>
          </a:xfrm>
          <a:prstGeom prst="roundRect">
            <a:avLst>
              <a:gd name="adj" fmla="val 2425"/>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6e99a5d2e6db6ec6.png"/>
          <p:cNvPicPr>
            <a:picLocks noChangeAspect="1"/>
          </p:cNvPicPr>
          <p:nvPr/>
        </p:nvPicPr>
        <p:blipFill>
          <a:blip r:embed="rId2"/>
          <a:stretch>
            <a:fillRect/>
          </a:stretch>
        </p:blipFill>
        <p:spPr>
          <a:xfrm>
            <a:off x="641350" y="1441450"/>
            <a:ext cx="4445000" cy="4064000"/>
          </a:xfrm>
          <a:prstGeom prst="rect">
            <a:avLst/>
          </a:prstGeom>
        </p:spPr>
      </p:pic>
      <p:pic>
        <p:nvPicPr>
          <p:cNvPr id="15" name="Picture 14" descr="6701ac797f0d9966.png"/>
          <p:cNvPicPr>
            <a:picLocks noChangeAspect="1"/>
          </p:cNvPicPr>
          <p:nvPr/>
        </p:nvPicPr>
        <p:blipFill>
          <a:blip r:embed="rId3"/>
          <a:stretch>
            <a:fillRect/>
          </a:stretch>
        </p:blipFill>
        <p:spPr>
          <a:xfrm>
            <a:off x="5334000" y="1435100"/>
            <a:ext cx="6223000" cy="2984500"/>
          </a:xfrm>
          <a:prstGeom prst="rect">
            <a:avLst/>
          </a:prstGeom>
        </p:spPr>
      </p:pic>
      <p:sp>
        <p:nvSpPr>
          <p:cNvPr id="16" name="Rounded Rectangle 15"/>
          <p:cNvSpPr/>
          <p:nvPr/>
        </p:nvSpPr>
        <p:spPr>
          <a:xfrm>
            <a:off x="5334000" y="4521200"/>
            <a:ext cx="2561209"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0" y="4579310"/>
            <a:ext cx="2091309"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Q9, N = 8: 0,144 % &lt; 1,5 %</a:t>
            </a:r>
          </a:p>
        </p:txBody>
      </p:sp>
      <p:sp>
        <p:nvSpPr>
          <p:cNvPr id="18" name="Oval 17"/>
          <p:cNvSpPr/>
          <p:nvPr/>
        </p:nvSpPr>
        <p:spPr>
          <a:xfrm>
            <a:off x="5422900" y="4581525"/>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7500" y="4618187"/>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20" name="Rounded Rectangle 19"/>
          <p:cNvSpPr/>
          <p:nvPr/>
        </p:nvSpPr>
        <p:spPr>
          <a:xfrm>
            <a:off x="7984109" y="4521200"/>
            <a:ext cx="2352675"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5109" y="4579310"/>
            <a:ext cx="1882775"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Q4 &lt; Q9 en las 5 mallas</a:t>
            </a:r>
          </a:p>
        </p:txBody>
      </p:sp>
      <p:sp>
        <p:nvSpPr>
          <p:cNvPr id="22" name="Oval 21"/>
          <p:cNvSpPr/>
          <p:nvPr/>
        </p:nvSpPr>
        <p:spPr>
          <a:xfrm>
            <a:off x="8073009" y="4581525"/>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7609" y="4618187"/>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24" name="TextBox 23"/>
          <p:cNvSpPr txBox="1"/>
          <p:nvPr/>
        </p:nvSpPr>
        <p:spPr>
          <a:xfrm>
            <a:off x="5334000" y="4916957"/>
            <a:ext cx="6347460" cy="411480"/>
          </a:xfrm>
          <a:prstGeom prst="rect">
            <a:avLst/>
          </a:prstGeom>
          <a:noFill/>
        </p:spPr>
        <p:txBody>
          <a:bodyPr wrap="square" lIns="0" rIns="0" tIns="0" bIns="0" anchor="t"/>
          <a:lstStyle/>
          <a:p>
            <a:pPr algn="l">
              <a:lnSpc>
                <a:spcPts val="1620"/>
              </a:lnSpc>
              <a:spcBef>
                <a:spcPts val="0"/>
              </a:spcBef>
              <a:spcAft>
                <a:spcPts val="0"/>
              </a:spcAft>
            </a:pPr>
            <a:r>
              <a:rPr sz="1200" b="1" i="0">
                <a:solidFill>
                  <a:srgbClr val="1F2937"/>
                </a:solidFill>
                <a:latin typeface="Calibri"/>
              </a:rPr>
              <a:t>◇ Štembera y Füssl [26, p. 28]</a:t>
            </a:r>
            <a:r>
              <a:rPr sz="1200" b="0" i="0">
                <a:solidFill>
                  <a:srgbClr val="3F4A5A"/>
                </a:solidFill>
                <a:latin typeface="Calibri"/>
              </a:rPr>
              <a:t> publican para su Q4: 11,845 · 18,299 · 22,079 · 23,430 · 23,818 —</a:t>
            </a:r>
            <a:r>
              <a:rPr sz="1200" b="1" i="0">
                <a:solidFill>
                  <a:srgbClr val="1F2937"/>
                </a:solidFill>
                <a:latin typeface="Calibri"/>
              </a:rPr>
              <a:t> los</a:t>
            </a:r>
            <a:br/>
            <a:r>
              <a:rPr sz="1200" b="1" i="0">
                <a:solidFill>
                  <a:srgbClr val="1F2937"/>
                </a:solidFill>
                <a:latin typeface="Calibri"/>
              </a:rPr>
              <a:t>mismos valores que EduFEM</a:t>
            </a:r>
            <a:r>
              <a:rPr sz="1200" b="0" i="0">
                <a:solidFill>
                  <a:srgbClr val="3F4A5A"/>
                </a:solidFill>
                <a:latin typeface="Calibri"/>
              </a:rPr>
              <a:t>, hasta la última cifra.</a:t>
            </a:r>
          </a:p>
        </p:txBody>
      </p:sp>
      <p:pic>
        <p:nvPicPr>
          <p:cNvPr id="25" name="Picture 24" descr="0bd9c5524f80fcd1.png"/>
          <p:cNvPicPr>
            <a:picLocks noChangeAspect="1"/>
          </p:cNvPicPr>
          <p:nvPr/>
        </p:nvPicPr>
        <p:blipFill>
          <a:blip r:embed="rId4"/>
          <a:stretch>
            <a:fillRect/>
          </a:stretch>
        </p:blipFill>
        <p:spPr>
          <a:xfrm>
            <a:off x="641350" y="1441450"/>
            <a:ext cx="4445000" cy="4064000"/>
          </a:xfrm>
          <a:prstGeom prst="rect">
            <a:avLst/>
          </a:prstGeom>
        </p:spPr>
      </p:pic>
      <p:pic>
        <p:nvPicPr>
          <p:cNvPr id="26" name="Picture 25" descr="3390d2ad5fc3dcbc.png"/>
          <p:cNvPicPr>
            <a:picLocks noChangeAspect="1"/>
          </p:cNvPicPr>
          <p:nvPr/>
        </p:nvPicPr>
        <p:blipFill>
          <a:blip r:embed="rId5"/>
          <a:stretch>
            <a:fillRect/>
          </a:stretch>
        </p:blipFill>
        <p:spPr>
          <a:xfrm>
            <a:off x="5334000" y="1435100"/>
            <a:ext cx="6223000" cy="2984500"/>
          </a:xfrm>
          <a:prstGeom prst="rect">
            <a:avLst/>
          </a:prstGeom>
        </p:spPr>
      </p:pic>
      <p:sp>
        <p:nvSpPr>
          <p:cNvPr id="27" name="Rounded Rectangle 26"/>
          <p:cNvSpPr/>
          <p:nvPr/>
        </p:nvSpPr>
        <p:spPr>
          <a:xfrm>
            <a:off x="5334000" y="4521200"/>
            <a:ext cx="6223000" cy="674306"/>
          </a:xfrm>
          <a:prstGeom prst="roundRect">
            <a:avLst>
              <a:gd name="adj" fmla="val 15067"/>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99100" y="4637411"/>
            <a:ext cx="6010656" cy="445770"/>
          </a:xfrm>
          <a:prstGeom prst="rect">
            <a:avLst/>
          </a:prstGeom>
          <a:noFill/>
        </p:spPr>
        <p:txBody>
          <a:bodyPr wrap="square" lIns="0" rIns="0" tIns="0" bIns="0" anchor="t"/>
          <a:lstStyle/>
          <a:p>
            <a:pPr algn="l">
              <a:lnSpc>
                <a:spcPts val="1755"/>
              </a:lnSpc>
              <a:spcBef>
                <a:spcPts val="0"/>
              </a:spcBef>
              <a:spcAft>
                <a:spcPts val="0"/>
              </a:spcAft>
            </a:pPr>
            <a:r>
              <a:rPr sz="1350" b="0" i="0">
                <a:solidFill>
                  <a:srgbClr val="1F2937"/>
                </a:solidFill>
                <a:latin typeface="Calibri"/>
              </a:rPr>
              <a:t>Con</a:t>
            </a:r>
            <a:r>
              <a:rPr sz="1350" b="1" i="0">
                <a:solidFill>
                  <a:srgbClr val="1F2937"/>
                </a:solidFill>
                <a:latin typeface="Calibri"/>
              </a:rPr>
              <a:t> 578 GDL</a:t>
            </a:r>
            <a:r>
              <a:rPr sz="1350" b="0" i="0">
                <a:solidFill>
                  <a:srgbClr val="1F2937"/>
                </a:solidFill>
                <a:latin typeface="Calibri"/>
              </a:rPr>
              <a:t>: Q4 (N = 16)</a:t>
            </a:r>
            <a:r>
              <a:rPr sz="1350" b="1" i="0">
                <a:solidFill>
                  <a:srgbClr val="1F77B4"/>
                </a:solidFill>
                <a:latin typeface="Calibri"/>
              </a:rPr>
              <a:t> −2,210 %</a:t>
            </a:r>
            <a:r>
              <a:rPr sz="1350" b="0" i="0">
                <a:solidFill>
                  <a:srgbClr val="1F2937"/>
                </a:solidFill>
                <a:latin typeface="Calibri"/>
              </a:rPr>
              <a:t> · Q9 (N = 8)</a:t>
            </a:r>
            <a:r>
              <a:rPr sz="1350" b="1" i="0">
                <a:solidFill>
                  <a:srgbClr val="FF7F0E"/>
                </a:solidFill>
                <a:latin typeface="Calibri"/>
              </a:rPr>
              <a:t> −0,144 %</a:t>
            </a:r>
            <a:r>
              <a:rPr sz="1350" b="0" i="0">
                <a:solidFill>
                  <a:srgbClr val="1F2937"/>
                </a:solidFill>
                <a:latin typeface="Calibri"/>
              </a:rPr>
              <a:t>. El error del Q9 es</a:t>
            </a:r>
            <a:r>
              <a:rPr sz="1350" b="1" i="0">
                <a:solidFill>
                  <a:srgbClr val="1F2937"/>
                </a:solidFill>
                <a:latin typeface="Calibri"/>
              </a:rPr>
              <a:t> más de</a:t>
            </a:r>
            <a:br/>
            <a:r>
              <a:rPr sz="1350" b="1" i="0">
                <a:solidFill>
                  <a:srgbClr val="1F2937"/>
                </a:solidFill>
                <a:latin typeface="Calibri"/>
              </a:rPr>
              <a:t>diez veces menor</a:t>
            </a:r>
            <a:r>
              <a:rPr sz="1350" b="0" i="0">
                <a:solidFill>
                  <a:srgbClr val="1F2937"/>
                </a:solidFill>
                <a:latin typeface="Calibri"/>
              </a:rPr>
              <a:t> (12 a 15 veces según la referencia; 13 con 23,965).</a:t>
            </a:r>
          </a:p>
        </p:txBody>
      </p:sp>
      <p:pic>
        <p:nvPicPr>
          <p:cNvPr id="29" name="Picture 28" descr="5d1925228ec7287a.png"/>
          <p:cNvPicPr>
            <a:picLocks noChangeAspect="1"/>
          </p:cNvPicPr>
          <p:nvPr/>
        </p:nvPicPr>
        <p:blipFill>
          <a:blip r:embed="rId6"/>
          <a:stretch>
            <a:fillRect/>
          </a:stretch>
        </p:blipFill>
        <p:spPr>
          <a:xfrm>
            <a:off x="641350" y="1441450"/>
            <a:ext cx="4445000" cy="4064000"/>
          </a:xfrm>
          <a:prstGeom prst="rect">
            <a:avLst/>
          </a:prstGeom>
        </p:spPr>
      </p:pic>
      <p:pic>
        <p:nvPicPr>
          <p:cNvPr id="30" name="Picture 29" descr="178aea884bbb88bb.png"/>
          <p:cNvPicPr>
            <a:picLocks noChangeAspect="1"/>
          </p:cNvPicPr>
          <p:nvPr/>
        </p:nvPicPr>
        <p:blipFill>
          <a:blip r:embed="rId7"/>
          <a:stretch>
            <a:fillRect/>
          </a:stretch>
        </p:blipFill>
        <p:spPr>
          <a:xfrm>
            <a:off x="5334000" y="1435100"/>
            <a:ext cx="6223000" cy="2984500"/>
          </a:xfrm>
          <a:prstGeom prst="rect">
            <a:avLst/>
          </a:prstGeom>
        </p:spPr>
      </p:pic>
      <p:pic>
        <p:nvPicPr>
          <p:cNvPr id="31" name="Picture 30" descr="88619cf9ece43805.png"/>
          <p:cNvPicPr>
            <a:picLocks noChangeAspect="1"/>
          </p:cNvPicPr>
          <p:nvPr/>
        </p:nvPicPr>
        <p:blipFill>
          <a:blip r:embed="rId8"/>
          <a:stretch>
            <a:fillRect/>
          </a:stretch>
        </p:blipFill>
        <p:spPr>
          <a:xfrm>
            <a:off x="641350" y="1441450"/>
            <a:ext cx="4445000" cy="4064000"/>
          </a:xfrm>
          <a:prstGeom prst="rect">
            <a:avLst/>
          </a:prstGeom>
        </p:spPr>
      </p:pic>
      <p:pic>
        <p:nvPicPr>
          <p:cNvPr id="32" name="Picture 31" descr="4987161d491616c0.png"/>
          <p:cNvPicPr>
            <a:picLocks noChangeAspect="1"/>
          </p:cNvPicPr>
          <p:nvPr/>
        </p:nvPicPr>
        <p:blipFill>
          <a:blip r:embed="rId9"/>
          <a:stretch>
            <a:fillRect/>
          </a:stretch>
        </p:blipFill>
        <p:spPr>
          <a:xfrm>
            <a:off x="5334000" y="1435100"/>
            <a:ext cx="6223000" cy="2984500"/>
          </a:xfrm>
          <a:prstGeom prst="rect">
            <a:avLst/>
          </a:prstGeom>
        </p:spPr>
      </p:pic>
      <p:sp>
        <p:nvSpPr>
          <p:cNvPr id="33" name="Rectangle 32"/>
          <p:cNvSpPr/>
          <p:nvPr/>
        </p:nvSpPr>
        <p:spPr>
          <a:xfrm>
            <a:off x="5334000" y="4521200"/>
            <a:ext cx="555244" cy="396176"/>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334000" y="4898326"/>
            <a:ext cx="55524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48300" y="4628919"/>
            <a:ext cx="377444"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N</a:t>
            </a:r>
          </a:p>
        </p:txBody>
      </p:sp>
      <p:sp>
        <p:nvSpPr>
          <p:cNvPr id="36" name="Rectangle 35"/>
          <p:cNvSpPr/>
          <p:nvPr/>
        </p:nvSpPr>
        <p:spPr>
          <a:xfrm>
            <a:off x="5889244" y="4521200"/>
            <a:ext cx="761492" cy="396176"/>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89244" y="4898326"/>
            <a:ext cx="76149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52744" y="4628919"/>
            <a:ext cx="58369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GDL</a:t>
            </a:r>
          </a:p>
        </p:txBody>
      </p:sp>
      <p:sp>
        <p:nvSpPr>
          <p:cNvPr id="39" name="Rectangle 38"/>
          <p:cNvSpPr/>
          <p:nvPr/>
        </p:nvSpPr>
        <p:spPr>
          <a:xfrm>
            <a:off x="6650736" y="4521200"/>
            <a:ext cx="915479" cy="396176"/>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650736" y="4898326"/>
            <a:ext cx="915479"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14236" y="4615012"/>
            <a:ext cx="737680"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Q4 u</a:t>
            </a:r>
            <a:r>
              <a:rPr sz="1100" b="1" i="0" baseline="-25000">
                <a:solidFill>
                  <a:srgbClr val="1B2A4A"/>
                </a:solidFill>
                <a:latin typeface="Calibri"/>
              </a:rPr>
              <a:t>y</a:t>
            </a:r>
          </a:p>
        </p:txBody>
      </p:sp>
      <p:sp>
        <p:nvSpPr>
          <p:cNvPr id="42" name="Rectangle 41"/>
          <p:cNvSpPr/>
          <p:nvPr/>
        </p:nvSpPr>
        <p:spPr>
          <a:xfrm>
            <a:off x="7566216" y="4521200"/>
            <a:ext cx="1208278" cy="396176"/>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566216" y="4898326"/>
            <a:ext cx="120827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29716" y="4628919"/>
            <a:ext cx="1030478"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error</a:t>
            </a:r>
          </a:p>
        </p:txBody>
      </p:sp>
      <p:sp>
        <p:nvSpPr>
          <p:cNvPr id="45" name="Rectangle 44"/>
          <p:cNvSpPr/>
          <p:nvPr/>
        </p:nvSpPr>
        <p:spPr>
          <a:xfrm>
            <a:off x="8774494" y="4521200"/>
            <a:ext cx="761492" cy="396176"/>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774494" y="4898326"/>
            <a:ext cx="76149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837994" y="4628919"/>
            <a:ext cx="58369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GDL</a:t>
            </a:r>
          </a:p>
        </p:txBody>
      </p:sp>
      <p:sp>
        <p:nvSpPr>
          <p:cNvPr id="48" name="Rectangle 47"/>
          <p:cNvSpPr/>
          <p:nvPr/>
        </p:nvSpPr>
        <p:spPr>
          <a:xfrm>
            <a:off x="9535986" y="4521200"/>
            <a:ext cx="915479" cy="396176"/>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535986" y="4898326"/>
            <a:ext cx="915479"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599486" y="4615012"/>
            <a:ext cx="737680"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Q9 u</a:t>
            </a:r>
            <a:r>
              <a:rPr sz="1100" b="1" i="0" baseline="-25000">
                <a:solidFill>
                  <a:srgbClr val="1B2A4A"/>
                </a:solidFill>
                <a:latin typeface="Calibri"/>
              </a:rPr>
              <a:t>y</a:t>
            </a:r>
          </a:p>
        </p:txBody>
      </p:sp>
      <p:sp>
        <p:nvSpPr>
          <p:cNvPr id="51" name="Rectangle 50"/>
          <p:cNvSpPr/>
          <p:nvPr/>
        </p:nvSpPr>
        <p:spPr>
          <a:xfrm>
            <a:off x="10451528" y="4521200"/>
            <a:ext cx="1105472" cy="396176"/>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451528" y="4898326"/>
            <a:ext cx="110547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515028" y="4628919"/>
            <a:ext cx="92767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error</a:t>
            </a:r>
          </a:p>
        </p:txBody>
      </p:sp>
      <p:sp>
        <p:nvSpPr>
          <p:cNvPr id="54" name="Rectangle 53"/>
          <p:cNvSpPr/>
          <p:nvPr/>
        </p:nvSpPr>
        <p:spPr>
          <a:xfrm>
            <a:off x="5334000" y="4917376"/>
            <a:ext cx="555244"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334000" y="5261864"/>
            <a:ext cx="5552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48300" y="5008848"/>
            <a:ext cx="377444" cy="166688"/>
          </a:xfrm>
          <a:prstGeom prst="rect">
            <a:avLst/>
          </a:prstGeom>
          <a:noFill/>
        </p:spPr>
        <p:txBody>
          <a:bodyPr wrap="square" lIns="0" rIns="0" tIns="0" bIns="0" anchor="t"/>
          <a:lstStyle/>
          <a:p>
            <a:pPr algn="l">
              <a:lnSpc>
                <a:spcPts val="1312"/>
              </a:lnSpc>
              <a:spcBef>
                <a:spcPts val="0"/>
              </a:spcBef>
              <a:spcAft>
                <a:spcPts val="0"/>
              </a:spcAft>
            </a:pPr>
            <a:r>
              <a:rPr sz="1050" b="0" i="0">
                <a:solidFill>
                  <a:srgbClr val="1F2937"/>
                </a:solidFill>
                <a:latin typeface="Calibri"/>
              </a:rPr>
              <a:t>2</a:t>
            </a:r>
          </a:p>
        </p:txBody>
      </p:sp>
      <p:sp>
        <p:nvSpPr>
          <p:cNvPr id="57" name="Rectangle 56"/>
          <p:cNvSpPr/>
          <p:nvPr/>
        </p:nvSpPr>
        <p:spPr>
          <a:xfrm>
            <a:off x="5889244" y="4917376"/>
            <a:ext cx="761492"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889244" y="5261864"/>
            <a:ext cx="76149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52744" y="5008848"/>
            <a:ext cx="583692"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18</a:t>
            </a:r>
          </a:p>
        </p:txBody>
      </p:sp>
      <p:sp>
        <p:nvSpPr>
          <p:cNvPr id="60" name="Rectangle 59"/>
          <p:cNvSpPr/>
          <p:nvPr/>
        </p:nvSpPr>
        <p:spPr>
          <a:xfrm>
            <a:off x="6650736" y="4917376"/>
            <a:ext cx="915479"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650736" y="5261864"/>
            <a:ext cx="91547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714236" y="5008848"/>
            <a:ext cx="737680"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11,845</a:t>
            </a:r>
          </a:p>
        </p:txBody>
      </p:sp>
      <p:sp>
        <p:nvSpPr>
          <p:cNvPr id="63" name="Rectangle 62"/>
          <p:cNvSpPr/>
          <p:nvPr/>
        </p:nvSpPr>
        <p:spPr>
          <a:xfrm>
            <a:off x="7566216" y="4917376"/>
            <a:ext cx="1208278"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566216" y="5261864"/>
            <a:ext cx="120827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629716" y="5008848"/>
            <a:ext cx="1030478"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77B4"/>
                </a:solidFill>
                <a:latin typeface="Calibri"/>
              </a:rPr>
              <a:t>−50,563 %</a:t>
            </a:r>
          </a:p>
        </p:txBody>
      </p:sp>
      <p:sp>
        <p:nvSpPr>
          <p:cNvPr id="66" name="Rectangle 65"/>
          <p:cNvSpPr/>
          <p:nvPr/>
        </p:nvSpPr>
        <p:spPr>
          <a:xfrm>
            <a:off x="8774494" y="4917376"/>
            <a:ext cx="761492"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774494" y="5261864"/>
            <a:ext cx="76149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837994" y="5008848"/>
            <a:ext cx="583692"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50</a:t>
            </a:r>
          </a:p>
        </p:txBody>
      </p:sp>
      <p:sp>
        <p:nvSpPr>
          <p:cNvPr id="69" name="Rectangle 68"/>
          <p:cNvSpPr/>
          <p:nvPr/>
        </p:nvSpPr>
        <p:spPr>
          <a:xfrm>
            <a:off x="9535986" y="4917376"/>
            <a:ext cx="915479"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535986" y="5261864"/>
            <a:ext cx="91547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599486" y="5008848"/>
            <a:ext cx="737680"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23,289</a:t>
            </a:r>
          </a:p>
        </p:txBody>
      </p:sp>
      <p:sp>
        <p:nvSpPr>
          <p:cNvPr id="72" name="Rectangle 71"/>
          <p:cNvSpPr/>
          <p:nvPr/>
        </p:nvSpPr>
        <p:spPr>
          <a:xfrm>
            <a:off x="10451528" y="4917376"/>
            <a:ext cx="1105472"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451528" y="5261864"/>
            <a:ext cx="110547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515028" y="5008848"/>
            <a:ext cx="927672"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FF7F0E"/>
                </a:solidFill>
                <a:latin typeface="Calibri"/>
              </a:rPr>
              <a:t>−2,802 %</a:t>
            </a:r>
          </a:p>
        </p:txBody>
      </p:sp>
      <p:sp>
        <p:nvSpPr>
          <p:cNvPr id="75" name="Rectangle 74"/>
          <p:cNvSpPr/>
          <p:nvPr/>
        </p:nvSpPr>
        <p:spPr>
          <a:xfrm>
            <a:off x="5334000" y="5268214"/>
            <a:ext cx="555244"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334000" y="5612702"/>
            <a:ext cx="5552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448300" y="5359686"/>
            <a:ext cx="377444" cy="166688"/>
          </a:xfrm>
          <a:prstGeom prst="rect">
            <a:avLst/>
          </a:prstGeom>
          <a:noFill/>
        </p:spPr>
        <p:txBody>
          <a:bodyPr wrap="square" lIns="0" rIns="0" tIns="0" bIns="0" anchor="t"/>
          <a:lstStyle/>
          <a:p>
            <a:pPr algn="l">
              <a:lnSpc>
                <a:spcPts val="1312"/>
              </a:lnSpc>
              <a:spcBef>
                <a:spcPts val="0"/>
              </a:spcBef>
              <a:spcAft>
                <a:spcPts val="0"/>
              </a:spcAft>
            </a:pPr>
            <a:r>
              <a:rPr sz="1050" b="0" i="0">
                <a:solidFill>
                  <a:srgbClr val="1F2937"/>
                </a:solidFill>
                <a:latin typeface="Calibri"/>
              </a:rPr>
              <a:t>8</a:t>
            </a:r>
          </a:p>
        </p:txBody>
      </p:sp>
      <p:sp>
        <p:nvSpPr>
          <p:cNvPr id="78" name="Rectangle 77"/>
          <p:cNvSpPr/>
          <p:nvPr/>
        </p:nvSpPr>
        <p:spPr>
          <a:xfrm>
            <a:off x="5889244" y="5268214"/>
            <a:ext cx="761492"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5889244" y="5612702"/>
            <a:ext cx="76149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952744" y="5359686"/>
            <a:ext cx="583692"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162</a:t>
            </a:r>
          </a:p>
        </p:txBody>
      </p:sp>
      <p:sp>
        <p:nvSpPr>
          <p:cNvPr id="81" name="Rectangle 80"/>
          <p:cNvSpPr/>
          <p:nvPr/>
        </p:nvSpPr>
        <p:spPr>
          <a:xfrm>
            <a:off x="6650736" y="5268214"/>
            <a:ext cx="915479"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650736" y="5612702"/>
            <a:ext cx="91547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714236" y="5359686"/>
            <a:ext cx="737680"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22,079</a:t>
            </a:r>
          </a:p>
        </p:txBody>
      </p:sp>
      <p:sp>
        <p:nvSpPr>
          <p:cNvPr id="84" name="Rectangle 83"/>
          <p:cNvSpPr/>
          <p:nvPr/>
        </p:nvSpPr>
        <p:spPr>
          <a:xfrm>
            <a:off x="7566216" y="5268214"/>
            <a:ext cx="1208278"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566216" y="5612702"/>
            <a:ext cx="120827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629716" y="5359686"/>
            <a:ext cx="1030478"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77B4"/>
                </a:solidFill>
                <a:latin typeface="Calibri"/>
              </a:rPr>
              <a:t>−7,850 %</a:t>
            </a:r>
          </a:p>
        </p:txBody>
      </p:sp>
      <p:sp>
        <p:nvSpPr>
          <p:cNvPr id="87" name="Rectangle 86"/>
          <p:cNvSpPr/>
          <p:nvPr/>
        </p:nvSpPr>
        <p:spPr>
          <a:xfrm>
            <a:off x="8774494" y="5268214"/>
            <a:ext cx="761492"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8774494" y="5612702"/>
            <a:ext cx="76149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837994" y="5359686"/>
            <a:ext cx="583692"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578</a:t>
            </a:r>
          </a:p>
        </p:txBody>
      </p:sp>
      <p:sp>
        <p:nvSpPr>
          <p:cNvPr id="90" name="Rectangle 89"/>
          <p:cNvSpPr/>
          <p:nvPr/>
        </p:nvSpPr>
        <p:spPr>
          <a:xfrm>
            <a:off x="9535986" y="5268214"/>
            <a:ext cx="915479"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9535986" y="5612702"/>
            <a:ext cx="91547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599486" y="5359686"/>
            <a:ext cx="737680"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23,925</a:t>
            </a:r>
          </a:p>
        </p:txBody>
      </p:sp>
      <p:sp>
        <p:nvSpPr>
          <p:cNvPr id="93" name="Rectangle 92"/>
          <p:cNvSpPr/>
          <p:nvPr/>
        </p:nvSpPr>
        <p:spPr>
          <a:xfrm>
            <a:off x="10451528" y="5268214"/>
            <a:ext cx="1105472"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451528" y="5612702"/>
            <a:ext cx="110547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515028" y="5359686"/>
            <a:ext cx="927672"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FF7F0E"/>
                </a:solidFill>
                <a:latin typeface="Calibri"/>
              </a:rPr>
              <a:t>−0,144 %</a:t>
            </a:r>
          </a:p>
        </p:txBody>
      </p:sp>
      <p:sp>
        <p:nvSpPr>
          <p:cNvPr id="96" name="Rectangle 95"/>
          <p:cNvSpPr/>
          <p:nvPr/>
        </p:nvSpPr>
        <p:spPr>
          <a:xfrm>
            <a:off x="5334000" y="5619052"/>
            <a:ext cx="555244"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334000" y="5963539"/>
            <a:ext cx="5552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448300" y="5710523"/>
            <a:ext cx="377444" cy="166688"/>
          </a:xfrm>
          <a:prstGeom prst="rect">
            <a:avLst/>
          </a:prstGeom>
          <a:noFill/>
        </p:spPr>
        <p:txBody>
          <a:bodyPr wrap="square" lIns="0" rIns="0" tIns="0" bIns="0" anchor="t"/>
          <a:lstStyle/>
          <a:p>
            <a:pPr algn="l">
              <a:lnSpc>
                <a:spcPts val="1312"/>
              </a:lnSpc>
              <a:spcBef>
                <a:spcPts val="0"/>
              </a:spcBef>
              <a:spcAft>
                <a:spcPts val="0"/>
              </a:spcAft>
            </a:pPr>
            <a:r>
              <a:rPr sz="1050" b="0" i="0">
                <a:solidFill>
                  <a:srgbClr val="1F2937"/>
                </a:solidFill>
                <a:latin typeface="Calibri"/>
              </a:rPr>
              <a:t>32</a:t>
            </a:r>
          </a:p>
        </p:txBody>
      </p:sp>
      <p:sp>
        <p:nvSpPr>
          <p:cNvPr id="99" name="Rectangle 98"/>
          <p:cNvSpPr/>
          <p:nvPr/>
        </p:nvSpPr>
        <p:spPr>
          <a:xfrm>
            <a:off x="5889244" y="5619052"/>
            <a:ext cx="761492"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5889244" y="5963539"/>
            <a:ext cx="76149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952744" y="5710523"/>
            <a:ext cx="583692"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2178</a:t>
            </a:r>
          </a:p>
        </p:txBody>
      </p:sp>
      <p:sp>
        <p:nvSpPr>
          <p:cNvPr id="102" name="Rectangle 101"/>
          <p:cNvSpPr/>
          <p:nvPr/>
        </p:nvSpPr>
        <p:spPr>
          <a:xfrm>
            <a:off x="6650736" y="5619052"/>
            <a:ext cx="915479"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650736" y="5963539"/>
            <a:ext cx="91547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714236" y="5710523"/>
            <a:ext cx="737680"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23,818</a:t>
            </a:r>
          </a:p>
        </p:txBody>
      </p:sp>
      <p:sp>
        <p:nvSpPr>
          <p:cNvPr id="105" name="Rectangle 104"/>
          <p:cNvSpPr/>
          <p:nvPr/>
        </p:nvSpPr>
        <p:spPr>
          <a:xfrm>
            <a:off x="7566216" y="5619052"/>
            <a:ext cx="1208278"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566216" y="5963539"/>
            <a:ext cx="120827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629716" y="5710523"/>
            <a:ext cx="1030478"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77B4"/>
                </a:solidFill>
                <a:latin typeface="Calibri"/>
              </a:rPr>
              <a:t>−0,594 %</a:t>
            </a:r>
          </a:p>
        </p:txBody>
      </p:sp>
      <p:sp>
        <p:nvSpPr>
          <p:cNvPr id="108" name="Rectangle 107"/>
          <p:cNvSpPr/>
          <p:nvPr/>
        </p:nvSpPr>
        <p:spPr>
          <a:xfrm>
            <a:off x="8774494" y="5619052"/>
            <a:ext cx="761492"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8774494" y="5963539"/>
            <a:ext cx="76149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837994" y="5710523"/>
            <a:ext cx="583692"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8450</a:t>
            </a:r>
          </a:p>
        </p:txBody>
      </p:sp>
      <p:sp>
        <p:nvSpPr>
          <p:cNvPr id="111" name="Rectangle 110"/>
          <p:cNvSpPr/>
          <p:nvPr/>
        </p:nvSpPr>
        <p:spPr>
          <a:xfrm>
            <a:off x="9535986" y="5619052"/>
            <a:ext cx="915479"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9535986" y="5963539"/>
            <a:ext cx="91547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599486" y="5710523"/>
            <a:ext cx="737680"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23,961</a:t>
            </a:r>
          </a:p>
        </p:txBody>
      </p:sp>
      <p:sp>
        <p:nvSpPr>
          <p:cNvPr id="114" name="Rectangle 113"/>
          <p:cNvSpPr/>
          <p:nvPr/>
        </p:nvSpPr>
        <p:spPr>
          <a:xfrm>
            <a:off x="10451528" y="5619052"/>
            <a:ext cx="1105472"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0451528" y="5963539"/>
            <a:ext cx="110547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0515028" y="5710523"/>
            <a:ext cx="927672"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FF7F0E"/>
                </a:solidFill>
                <a:latin typeface="Calibri"/>
              </a:rPr>
              <a:t>0,003 %</a:t>
            </a:r>
          </a:p>
        </p:txBody>
      </p:sp>
      <p:sp>
        <p:nvSpPr>
          <p:cNvPr id="117" name="Rectangle 11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65150" y="6535420"/>
            <a:ext cx="477354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0" name="TextBox 119"/>
          <p:cNvSpPr txBox="1"/>
          <p:nvPr/>
        </p:nvSpPr>
        <p:spPr>
          <a:xfrm>
            <a:off x="5219700" y="6535420"/>
            <a:ext cx="175260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3.5 · Tabla 3.4 · Figura 3.4</a:t>
            </a:r>
          </a:p>
        </p:txBody>
      </p:sp>
      <p:sp>
        <p:nvSpPr>
          <p:cNvPr id="121" name="TextBox 120"/>
          <p:cNvSpPr txBox="1"/>
          <p:nvPr/>
        </p:nvSpPr>
        <p:spPr>
          <a:xfrm>
            <a:off x="6853301" y="6535420"/>
            <a:ext cx="477354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42</a:t>
            </a:r>
          </a:p>
        </p:txBody>
      </p:sp>
      <p:sp>
        <p:nvSpPr>
          <p:cNvPr id="122" name="Enlace a sep-intro">
            <a:hlinkClick action="ppaction://hlinksldjump" r:id="rId10"/>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Enlace a sep-teoria">
            <a:hlinkClick action="ppaction://hlinksldjump" r:id="rId11"/>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Enlace a sep-diseno">
            <a:hlinkClick action="ppaction://hlinksldjump" r:id="rId12"/>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Enlace a sep-resultados">
            <a:hlinkClick action="ppaction://hlinksldjump" r:id="rId13"/>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Enlace a sep-analisis">
            <a:hlinkClick action="ppaction://hlinksldjump" r:id="rId14"/>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Enlace a sep-conclusiones">
            <a:hlinkClick action="ppaction://hlinksldjump" r:id="rId15"/>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ounded Rectangle 335">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30" fill="hold">
                      <p:stCondLst>
                        <p:cond delay="indefinite"/>
                      </p:stCondLst>
                      <p:childTnLst>
                        <p:par>
                          <p:cTn id="331" fill="hold">
                            <p:stCondLst>
                              <p:cond delay="0"/>
                            </p:stCondLst>
                            <p:childTnLst>
                              <p:par>
                                <p:cTn id="3" presetID="10" presetClass="exit" presetSubtype="0" fill="hold" grpId="0" nodeType="clickEffect">
                                  <p:stCondLst>
                                    <p:cond delay="0"/>
                                  </p:stCondLst>
                                  <p:childTnLst>
                                    <p:animEffect transition="out" filter="fade">
                                      <p:cBhvr>
                                        <p:cTn id="4" dur="200"/>
                                        <p:tgtEl>
                                          <p:spTgt spid="31"/>
                                        </p:tgtEl>
                                      </p:cBhvr>
                                    </p:animEffect>
                                    <p:set>
                                      <p:cBhvr>
                                        <p:cTn id="5" dur="1" fill="hold">
                                          <p:stCondLst>
                                            <p:cond delay="199"/>
                                          </p:stCondLst>
                                        </p:cTn>
                                        <p:tgtEl>
                                          <p:spTgt spid="31"/>
                                        </p:tgtEl>
                                        <p:attrNameLst>
                                          <p:attrName>style.visibility</p:attrName>
                                        </p:attrNameLst>
                                      </p:cBhvr>
                                      <p:to>
                                        <p:strVal val="hidden"/>
                                      </p:to>
                                    </p:set>
                                  </p:childTnLst>
                                </p:cTn>
                              </p:par>
                              <p:par>
                                <p:cTn id="6" presetID="10" presetClass="exit" presetSubtype="0" fill="hold" grpId="0" nodeType="withEffect">
                                  <p:stCondLst>
                                    <p:cond delay="0"/>
                                  </p:stCondLst>
                                  <p:childTnLst>
                                    <p:animEffect transition="out" filter="fade">
                                      <p:cBhvr>
                                        <p:cTn id="7" dur="200"/>
                                        <p:tgtEl>
                                          <p:spTgt spid="32"/>
                                        </p:tgtEl>
                                      </p:cBhvr>
                                    </p:animEffect>
                                    <p:set>
                                      <p:cBhvr>
                                        <p:cTn id="8" dur="1" fill="hold">
                                          <p:stCondLst>
                                            <p:cond delay="199"/>
                                          </p:stCondLst>
                                        </p:cTn>
                                        <p:tgtEl>
                                          <p:spTgt spid="32"/>
                                        </p:tgtEl>
                                        <p:attrNameLst>
                                          <p:attrName>style.visibility</p:attrName>
                                        </p:attrNameLst>
                                      </p:cBhvr>
                                      <p:to>
                                        <p:strVal val="hidden"/>
                                      </p:to>
                                    </p:set>
                                  </p:childTnLst>
                                </p:cTn>
                              </p:par>
                              <p:par>
                                <p:cTn id="9" presetID="10" presetClass="entr" presetSubtype="0" fill="hold" grpId="0" nodeType="withEffect">
                                  <p:stCondLst>
                                    <p:cond delay="2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400"/>
                                        <p:tgtEl>
                                          <p:spTgt spid="29"/>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400"/>
                                        <p:tgtEl>
                                          <p:spTgt spid="30"/>
                                        </p:tgtEl>
                                      </p:cBhvr>
                                    </p:animEffect>
                                  </p:childTnLst>
                                </p:cTn>
                              </p:par>
                            </p:childTnLst>
                          </p:cTn>
                        </p:par>
                      </p:childTnLst>
                    </p:cTn>
                  </p:par>
                  <p:par>
                    <p:cTn id="332" fill="hold">
                      <p:stCondLst>
                        <p:cond delay="indefinite"/>
                      </p:stCondLst>
                      <p:childTnLst>
                        <p:par>
                          <p:cTn id="333" fill="hold">
                            <p:stCondLst>
                              <p:cond delay="0"/>
                            </p:stCondLst>
                            <p:childTnLst>
                              <p:par>
                                <p:cTn id="15" presetID="10" presetClass="exit" presetSubtype="0" fill="hold" grpId="1" nodeType="clickEffect">
                                  <p:stCondLst>
                                    <p:cond delay="0"/>
                                  </p:stCondLst>
                                  <p:childTnLst>
                                    <p:animEffect transition="out" filter="fade">
                                      <p:cBhvr>
                                        <p:cTn id="16" dur="200"/>
                                        <p:tgtEl>
                                          <p:spTgt spid="29"/>
                                        </p:tgtEl>
                                      </p:cBhvr>
                                    </p:animEffect>
                                    <p:set>
                                      <p:cBhvr>
                                        <p:cTn id="17" dur="1" fill="hold">
                                          <p:stCondLst>
                                            <p:cond delay="199"/>
                                          </p:stCondLst>
                                        </p:cTn>
                                        <p:tgtEl>
                                          <p:spTgt spid="29"/>
                                        </p:tgtEl>
                                        <p:attrNameLst>
                                          <p:attrName>style.visibility</p:attrName>
                                        </p:attrNameLst>
                                      </p:cBhvr>
                                      <p:to>
                                        <p:strVal val="hidden"/>
                                      </p:to>
                                    </p:set>
                                  </p:childTnLst>
                                </p:cTn>
                              </p:par>
                              <p:par>
                                <p:cTn id="18" presetID="10" presetClass="exit" presetSubtype="0" fill="hold" grpId="1" nodeType="withEffect">
                                  <p:stCondLst>
                                    <p:cond delay="0"/>
                                  </p:stCondLst>
                                  <p:childTnLst>
                                    <p:animEffect transition="out" filter="fade">
                                      <p:cBhvr>
                                        <p:cTn id="19" dur="200"/>
                                        <p:tgtEl>
                                          <p:spTgt spid="30"/>
                                        </p:tgtEl>
                                      </p:cBhvr>
                                    </p:animEffect>
                                    <p:set>
                                      <p:cBhvr>
                                        <p:cTn id="20" dur="1" fill="hold">
                                          <p:stCondLst>
                                            <p:cond delay="199"/>
                                          </p:stCondLst>
                                        </p:cTn>
                                        <p:tgtEl>
                                          <p:spTgt spid="30"/>
                                        </p:tgtEl>
                                        <p:attrNameLst>
                                          <p:attrName>style.visibility</p:attrName>
                                        </p:attrNameLst>
                                      </p:cBhvr>
                                      <p:to>
                                        <p:strVal val="hidden"/>
                                      </p:to>
                                    </p:set>
                                  </p:childTnLst>
                                </p:cTn>
                              </p:par>
                              <p:par>
                                <p:cTn id="21" presetID="10" presetClass="exit" presetSubtype="0" fill="hold" grpId="0" nodeType="withEffect">
                                  <p:stCondLst>
                                    <p:cond delay="0"/>
                                  </p:stCondLst>
                                  <p:childTnLst>
                                    <p:animEffect transition="out" filter="fade">
                                      <p:cBhvr>
                                        <p:cTn id="22" dur="200"/>
                                        <p:tgtEl>
                                          <p:spTgt spid="33"/>
                                        </p:tgtEl>
                                      </p:cBhvr>
                                    </p:animEffect>
                                    <p:set>
                                      <p:cBhvr>
                                        <p:cTn id="23" dur="1" fill="hold">
                                          <p:stCondLst>
                                            <p:cond delay="199"/>
                                          </p:stCondLst>
                                        </p:cTn>
                                        <p:tgtEl>
                                          <p:spTgt spid="33"/>
                                        </p:tgtEl>
                                        <p:attrNameLst>
                                          <p:attrName>style.visibility</p:attrName>
                                        </p:attrNameLst>
                                      </p:cBhvr>
                                      <p:to>
                                        <p:strVal val="hidden"/>
                                      </p:to>
                                    </p:set>
                                  </p:childTnLst>
                                </p:cTn>
                              </p:par>
                              <p:par>
                                <p:cTn id="24" presetID="10" presetClass="exit" presetSubtype="0" fill="hold" grpId="0" nodeType="withEffect">
                                  <p:stCondLst>
                                    <p:cond delay="0"/>
                                  </p:stCondLst>
                                  <p:childTnLst>
                                    <p:animEffect transition="out" filter="fade">
                                      <p:cBhvr>
                                        <p:cTn id="25" dur="200"/>
                                        <p:tgtEl>
                                          <p:spTgt spid="34"/>
                                        </p:tgtEl>
                                      </p:cBhvr>
                                    </p:animEffect>
                                    <p:set>
                                      <p:cBhvr>
                                        <p:cTn id="26" dur="1" fill="hold">
                                          <p:stCondLst>
                                            <p:cond delay="199"/>
                                          </p:stCondLst>
                                        </p:cTn>
                                        <p:tgtEl>
                                          <p:spTgt spid="34"/>
                                        </p:tgtEl>
                                        <p:attrNameLst>
                                          <p:attrName>style.visibility</p:attrName>
                                        </p:attrNameLst>
                                      </p:cBhvr>
                                      <p:to>
                                        <p:strVal val="hidden"/>
                                      </p:to>
                                    </p:set>
                                  </p:childTnLst>
                                </p:cTn>
                              </p:par>
                              <p:par>
                                <p:cTn id="27" presetID="10" presetClass="exit" presetSubtype="0" fill="hold" grpId="0" nodeType="withEffect">
                                  <p:stCondLst>
                                    <p:cond delay="0"/>
                                  </p:stCondLst>
                                  <p:childTnLst>
                                    <p:animEffect transition="out" filter="fade">
                                      <p:cBhvr>
                                        <p:cTn id="28" dur="200"/>
                                        <p:tgtEl>
                                          <p:spTgt spid="35"/>
                                        </p:tgtEl>
                                      </p:cBhvr>
                                    </p:animEffect>
                                    <p:set>
                                      <p:cBhvr>
                                        <p:cTn id="29" dur="1" fill="hold">
                                          <p:stCondLst>
                                            <p:cond delay="199"/>
                                          </p:stCondLst>
                                        </p:cTn>
                                        <p:tgtEl>
                                          <p:spTgt spid="35"/>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31" dur="200"/>
                                        <p:tgtEl>
                                          <p:spTgt spid="36"/>
                                        </p:tgtEl>
                                      </p:cBhvr>
                                    </p:animEffect>
                                    <p:set>
                                      <p:cBhvr>
                                        <p:cTn id="32" dur="1" fill="hold">
                                          <p:stCondLst>
                                            <p:cond delay="199"/>
                                          </p:stCondLst>
                                        </p:cTn>
                                        <p:tgtEl>
                                          <p:spTgt spid="36"/>
                                        </p:tgtEl>
                                        <p:attrNameLst>
                                          <p:attrName>style.visibility</p:attrName>
                                        </p:attrNameLst>
                                      </p:cBhvr>
                                      <p:to>
                                        <p:strVal val="hidden"/>
                                      </p:to>
                                    </p:set>
                                  </p:childTnLst>
                                </p:cTn>
                              </p:par>
                              <p:par>
                                <p:cTn id="33" presetID="10" presetClass="exit" presetSubtype="0" fill="hold" grpId="0" nodeType="withEffect">
                                  <p:stCondLst>
                                    <p:cond delay="0"/>
                                  </p:stCondLst>
                                  <p:childTnLst>
                                    <p:animEffect transition="out" filter="fade">
                                      <p:cBhvr>
                                        <p:cTn id="34" dur="200"/>
                                        <p:tgtEl>
                                          <p:spTgt spid="37"/>
                                        </p:tgtEl>
                                      </p:cBhvr>
                                    </p:animEffect>
                                    <p:set>
                                      <p:cBhvr>
                                        <p:cTn id="35" dur="1" fill="hold">
                                          <p:stCondLst>
                                            <p:cond delay="199"/>
                                          </p:stCondLst>
                                        </p:cTn>
                                        <p:tgtEl>
                                          <p:spTgt spid="37"/>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200"/>
                                        <p:tgtEl>
                                          <p:spTgt spid="38"/>
                                        </p:tgtEl>
                                      </p:cBhvr>
                                    </p:animEffect>
                                    <p:set>
                                      <p:cBhvr>
                                        <p:cTn id="38" dur="1" fill="hold">
                                          <p:stCondLst>
                                            <p:cond delay="199"/>
                                          </p:stCondLst>
                                        </p:cTn>
                                        <p:tgtEl>
                                          <p:spTgt spid="38"/>
                                        </p:tgtEl>
                                        <p:attrNameLst>
                                          <p:attrName>style.visibility</p:attrName>
                                        </p:attrNameLst>
                                      </p:cBhvr>
                                      <p:to>
                                        <p:strVal val="hidden"/>
                                      </p:to>
                                    </p:set>
                                  </p:childTnLst>
                                </p:cTn>
                              </p:par>
                              <p:par>
                                <p:cTn id="39" presetID="10" presetClass="exit" presetSubtype="0" fill="hold" grpId="0" nodeType="withEffect">
                                  <p:stCondLst>
                                    <p:cond delay="0"/>
                                  </p:stCondLst>
                                  <p:childTnLst>
                                    <p:animEffect transition="out" filter="fade">
                                      <p:cBhvr>
                                        <p:cTn id="40" dur="200"/>
                                        <p:tgtEl>
                                          <p:spTgt spid="39"/>
                                        </p:tgtEl>
                                      </p:cBhvr>
                                    </p:animEffect>
                                    <p:set>
                                      <p:cBhvr>
                                        <p:cTn id="41" dur="1" fill="hold">
                                          <p:stCondLst>
                                            <p:cond delay="199"/>
                                          </p:stCondLst>
                                        </p:cTn>
                                        <p:tgtEl>
                                          <p:spTgt spid="39"/>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200"/>
                                        <p:tgtEl>
                                          <p:spTgt spid="40"/>
                                        </p:tgtEl>
                                      </p:cBhvr>
                                    </p:animEffect>
                                    <p:set>
                                      <p:cBhvr>
                                        <p:cTn id="44" dur="1" fill="hold">
                                          <p:stCondLst>
                                            <p:cond delay="199"/>
                                          </p:stCondLst>
                                        </p:cTn>
                                        <p:tgtEl>
                                          <p:spTgt spid="40"/>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200"/>
                                        <p:tgtEl>
                                          <p:spTgt spid="41"/>
                                        </p:tgtEl>
                                      </p:cBhvr>
                                    </p:animEffect>
                                    <p:set>
                                      <p:cBhvr>
                                        <p:cTn id="47" dur="1" fill="hold">
                                          <p:stCondLst>
                                            <p:cond delay="199"/>
                                          </p:stCondLst>
                                        </p:cTn>
                                        <p:tgtEl>
                                          <p:spTgt spid="41"/>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200"/>
                                        <p:tgtEl>
                                          <p:spTgt spid="42"/>
                                        </p:tgtEl>
                                      </p:cBhvr>
                                    </p:animEffect>
                                    <p:set>
                                      <p:cBhvr>
                                        <p:cTn id="50" dur="1" fill="hold">
                                          <p:stCondLst>
                                            <p:cond delay="199"/>
                                          </p:stCondLst>
                                        </p:cTn>
                                        <p:tgtEl>
                                          <p:spTgt spid="42"/>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200"/>
                                        <p:tgtEl>
                                          <p:spTgt spid="43"/>
                                        </p:tgtEl>
                                      </p:cBhvr>
                                    </p:animEffect>
                                    <p:set>
                                      <p:cBhvr>
                                        <p:cTn id="53" dur="1" fill="hold">
                                          <p:stCondLst>
                                            <p:cond delay="199"/>
                                          </p:stCondLst>
                                        </p:cTn>
                                        <p:tgtEl>
                                          <p:spTgt spid="43"/>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200"/>
                                        <p:tgtEl>
                                          <p:spTgt spid="44"/>
                                        </p:tgtEl>
                                      </p:cBhvr>
                                    </p:animEffect>
                                    <p:set>
                                      <p:cBhvr>
                                        <p:cTn id="56" dur="1" fill="hold">
                                          <p:stCondLst>
                                            <p:cond delay="199"/>
                                          </p:stCondLst>
                                        </p:cTn>
                                        <p:tgtEl>
                                          <p:spTgt spid="44"/>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200"/>
                                        <p:tgtEl>
                                          <p:spTgt spid="45"/>
                                        </p:tgtEl>
                                      </p:cBhvr>
                                    </p:animEffect>
                                    <p:set>
                                      <p:cBhvr>
                                        <p:cTn id="59" dur="1" fill="hold">
                                          <p:stCondLst>
                                            <p:cond delay="199"/>
                                          </p:stCondLst>
                                        </p:cTn>
                                        <p:tgtEl>
                                          <p:spTgt spid="45"/>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200"/>
                                        <p:tgtEl>
                                          <p:spTgt spid="46"/>
                                        </p:tgtEl>
                                      </p:cBhvr>
                                    </p:animEffect>
                                    <p:set>
                                      <p:cBhvr>
                                        <p:cTn id="62" dur="1" fill="hold">
                                          <p:stCondLst>
                                            <p:cond delay="199"/>
                                          </p:stCondLst>
                                        </p:cTn>
                                        <p:tgtEl>
                                          <p:spTgt spid="46"/>
                                        </p:tgtEl>
                                        <p:attrNameLst>
                                          <p:attrName>style.visibility</p:attrName>
                                        </p:attrNameLst>
                                      </p:cBhvr>
                                      <p:to>
                                        <p:strVal val="hidden"/>
                                      </p:to>
                                    </p:set>
                                  </p:childTnLst>
                                </p:cTn>
                              </p:par>
                              <p:par>
                                <p:cTn id="63" presetID="10" presetClass="exit" presetSubtype="0" fill="hold" grpId="0" nodeType="withEffect">
                                  <p:stCondLst>
                                    <p:cond delay="0"/>
                                  </p:stCondLst>
                                  <p:childTnLst>
                                    <p:animEffect transition="out" filter="fade">
                                      <p:cBhvr>
                                        <p:cTn id="64" dur="200"/>
                                        <p:tgtEl>
                                          <p:spTgt spid="47"/>
                                        </p:tgtEl>
                                      </p:cBhvr>
                                    </p:animEffect>
                                    <p:set>
                                      <p:cBhvr>
                                        <p:cTn id="65" dur="1" fill="hold">
                                          <p:stCondLst>
                                            <p:cond delay="199"/>
                                          </p:stCondLst>
                                        </p:cTn>
                                        <p:tgtEl>
                                          <p:spTgt spid="47"/>
                                        </p:tgtEl>
                                        <p:attrNameLst>
                                          <p:attrName>style.visibility</p:attrName>
                                        </p:attrNameLst>
                                      </p:cBhvr>
                                      <p:to>
                                        <p:strVal val="hidden"/>
                                      </p:to>
                                    </p:set>
                                  </p:childTnLst>
                                </p:cTn>
                              </p:par>
                              <p:par>
                                <p:cTn id="66" presetID="10" presetClass="exit" presetSubtype="0" fill="hold" grpId="0" nodeType="withEffect">
                                  <p:stCondLst>
                                    <p:cond delay="0"/>
                                  </p:stCondLst>
                                  <p:childTnLst>
                                    <p:animEffect transition="out" filter="fade">
                                      <p:cBhvr>
                                        <p:cTn id="67" dur="200"/>
                                        <p:tgtEl>
                                          <p:spTgt spid="48"/>
                                        </p:tgtEl>
                                      </p:cBhvr>
                                    </p:animEffect>
                                    <p:set>
                                      <p:cBhvr>
                                        <p:cTn id="68" dur="1" fill="hold">
                                          <p:stCondLst>
                                            <p:cond delay="199"/>
                                          </p:stCondLst>
                                        </p:cTn>
                                        <p:tgtEl>
                                          <p:spTgt spid="48"/>
                                        </p:tgtEl>
                                        <p:attrNameLst>
                                          <p:attrName>style.visibility</p:attrName>
                                        </p:attrNameLst>
                                      </p:cBhvr>
                                      <p:to>
                                        <p:strVal val="hidden"/>
                                      </p:to>
                                    </p:set>
                                  </p:childTnLst>
                                </p:cTn>
                              </p:par>
                              <p:par>
                                <p:cTn id="69" presetID="10" presetClass="exit" presetSubtype="0" fill="hold" grpId="0" nodeType="withEffect">
                                  <p:stCondLst>
                                    <p:cond delay="0"/>
                                  </p:stCondLst>
                                  <p:childTnLst>
                                    <p:animEffect transition="out" filter="fade">
                                      <p:cBhvr>
                                        <p:cTn id="70" dur="200"/>
                                        <p:tgtEl>
                                          <p:spTgt spid="49"/>
                                        </p:tgtEl>
                                      </p:cBhvr>
                                    </p:animEffect>
                                    <p:set>
                                      <p:cBhvr>
                                        <p:cTn id="71" dur="1" fill="hold">
                                          <p:stCondLst>
                                            <p:cond delay="199"/>
                                          </p:stCondLst>
                                        </p:cTn>
                                        <p:tgtEl>
                                          <p:spTgt spid="49"/>
                                        </p:tgtEl>
                                        <p:attrNameLst>
                                          <p:attrName>style.visibility</p:attrName>
                                        </p:attrNameLst>
                                      </p:cBhvr>
                                      <p:to>
                                        <p:strVal val="hidden"/>
                                      </p:to>
                                    </p:set>
                                  </p:childTnLst>
                                </p:cTn>
                              </p:par>
                              <p:par>
                                <p:cTn id="72" presetID="10" presetClass="exit" presetSubtype="0" fill="hold" grpId="0" nodeType="withEffect">
                                  <p:stCondLst>
                                    <p:cond delay="0"/>
                                  </p:stCondLst>
                                  <p:childTnLst>
                                    <p:animEffect transition="out" filter="fade">
                                      <p:cBhvr>
                                        <p:cTn id="73" dur="200"/>
                                        <p:tgtEl>
                                          <p:spTgt spid="50"/>
                                        </p:tgtEl>
                                      </p:cBhvr>
                                    </p:animEffect>
                                    <p:set>
                                      <p:cBhvr>
                                        <p:cTn id="74" dur="1" fill="hold">
                                          <p:stCondLst>
                                            <p:cond delay="199"/>
                                          </p:stCondLst>
                                        </p:cTn>
                                        <p:tgtEl>
                                          <p:spTgt spid="50"/>
                                        </p:tgtEl>
                                        <p:attrNameLst>
                                          <p:attrName>style.visibility</p:attrName>
                                        </p:attrNameLst>
                                      </p:cBhvr>
                                      <p:to>
                                        <p:strVal val="hidden"/>
                                      </p:to>
                                    </p:set>
                                  </p:childTnLst>
                                </p:cTn>
                              </p:par>
                              <p:par>
                                <p:cTn id="75" presetID="10" presetClass="exit" presetSubtype="0" fill="hold" grpId="0" nodeType="withEffect">
                                  <p:stCondLst>
                                    <p:cond delay="0"/>
                                  </p:stCondLst>
                                  <p:childTnLst>
                                    <p:animEffect transition="out" filter="fade">
                                      <p:cBhvr>
                                        <p:cTn id="76" dur="200"/>
                                        <p:tgtEl>
                                          <p:spTgt spid="51"/>
                                        </p:tgtEl>
                                      </p:cBhvr>
                                    </p:animEffect>
                                    <p:set>
                                      <p:cBhvr>
                                        <p:cTn id="77" dur="1" fill="hold">
                                          <p:stCondLst>
                                            <p:cond delay="199"/>
                                          </p:stCondLst>
                                        </p:cTn>
                                        <p:tgtEl>
                                          <p:spTgt spid="51"/>
                                        </p:tgtEl>
                                        <p:attrNameLst>
                                          <p:attrName>style.visibility</p:attrName>
                                        </p:attrNameLst>
                                      </p:cBhvr>
                                      <p:to>
                                        <p:strVal val="hidden"/>
                                      </p:to>
                                    </p:set>
                                  </p:childTnLst>
                                </p:cTn>
                              </p:par>
                              <p:par>
                                <p:cTn id="78" presetID="10" presetClass="exit" presetSubtype="0" fill="hold" grpId="0" nodeType="withEffect">
                                  <p:stCondLst>
                                    <p:cond delay="0"/>
                                  </p:stCondLst>
                                  <p:childTnLst>
                                    <p:animEffect transition="out" filter="fade">
                                      <p:cBhvr>
                                        <p:cTn id="79" dur="200"/>
                                        <p:tgtEl>
                                          <p:spTgt spid="52"/>
                                        </p:tgtEl>
                                      </p:cBhvr>
                                    </p:animEffect>
                                    <p:set>
                                      <p:cBhvr>
                                        <p:cTn id="80" dur="1" fill="hold">
                                          <p:stCondLst>
                                            <p:cond delay="199"/>
                                          </p:stCondLst>
                                        </p:cTn>
                                        <p:tgtEl>
                                          <p:spTgt spid="52"/>
                                        </p:tgtEl>
                                        <p:attrNameLst>
                                          <p:attrName>style.visibility</p:attrName>
                                        </p:attrNameLst>
                                      </p:cBhvr>
                                      <p:to>
                                        <p:strVal val="hidden"/>
                                      </p:to>
                                    </p:set>
                                  </p:childTnLst>
                                </p:cTn>
                              </p:par>
                              <p:par>
                                <p:cTn id="81" presetID="10" presetClass="exit" presetSubtype="0" fill="hold" grpId="0" nodeType="withEffect">
                                  <p:stCondLst>
                                    <p:cond delay="0"/>
                                  </p:stCondLst>
                                  <p:childTnLst>
                                    <p:animEffect transition="out" filter="fade">
                                      <p:cBhvr>
                                        <p:cTn id="82" dur="200"/>
                                        <p:tgtEl>
                                          <p:spTgt spid="53"/>
                                        </p:tgtEl>
                                      </p:cBhvr>
                                    </p:animEffect>
                                    <p:set>
                                      <p:cBhvr>
                                        <p:cTn id="83" dur="1" fill="hold">
                                          <p:stCondLst>
                                            <p:cond delay="199"/>
                                          </p:stCondLst>
                                        </p:cTn>
                                        <p:tgtEl>
                                          <p:spTgt spid="53"/>
                                        </p:tgtEl>
                                        <p:attrNameLst>
                                          <p:attrName>style.visibility</p:attrName>
                                        </p:attrNameLst>
                                      </p:cBhvr>
                                      <p:to>
                                        <p:strVal val="hidden"/>
                                      </p:to>
                                    </p:set>
                                  </p:childTnLst>
                                </p:cTn>
                              </p:par>
                              <p:par>
                                <p:cTn id="84" presetID="10" presetClass="exit" presetSubtype="0" fill="hold" grpId="0" nodeType="withEffect">
                                  <p:stCondLst>
                                    <p:cond delay="0"/>
                                  </p:stCondLst>
                                  <p:childTnLst>
                                    <p:animEffect transition="out" filter="fade">
                                      <p:cBhvr>
                                        <p:cTn id="85" dur="200"/>
                                        <p:tgtEl>
                                          <p:spTgt spid="54"/>
                                        </p:tgtEl>
                                      </p:cBhvr>
                                    </p:animEffect>
                                    <p:set>
                                      <p:cBhvr>
                                        <p:cTn id="86" dur="1" fill="hold">
                                          <p:stCondLst>
                                            <p:cond delay="199"/>
                                          </p:stCondLst>
                                        </p:cTn>
                                        <p:tgtEl>
                                          <p:spTgt spid="54"/>
                                        </p:tgtEl>
                                        <p:attrNameLst>
                                          <p:attrName>style.visibility</p:attrName>
                                        </p:attrNameLst>
                                      </p:cBhvr>
                                      <p:to>
                                        <p:strVal val="hidden"/>
                                      </p:to>
                                    </p:set>
                                  </p:childTnLst>
                                </p:cTn>
                              </p:par>
                              <p:par>
                                <p:cTn id="87" presetID="10" presetClass="exit" presetSubtype="0" fill="hold" grpId="0" nodeType="withEffect">
                                  <p:stCondLst>
                                    <p:cond delay="0"/>
                                  </p:stCondLst>
                                  <p:childTnLst>
                                    <p:animEffect transition="out" filter="fade">
                                      <p:cBhvr>
                                        <p:cTn id="88" dur="200"/>
                                        <p:tgtEl>
                                          <p:spTgt spid="55"/>
                                        </p:tgtEl>
                                      </p:cBhvr>
                                    </p:animEffect>
                                    <p:set>
                                      <p:cBhvr>
                                        <p:cTn id="89" dur="1" fill="hold">
                                          <p:stCondLst>
                                            <p:cond delay="199"/>
                                          </p:stCondLst>
                                        </p:cTn>
                                        <p:tgtEl>
                                          <p:spTgt spid="55"/>
                                        </p:tgtEl>
                                        <p:attrNameLst>
                                          <p:attrName>style.visibility</p:attrName>
                                        </p:attrNameLst>
                                      </p:cBhvr>
                                      <p:to>
                                        <p:strVal val="hidden"/>
                                      </p:to>
                                    </p:set>
                                  </p:childTnLst>
                                </p:cTn>
                              </p:par>
                              <p:par>
                                <p:cTn id="90" presetID="10" presetClass="exit" presetSubtype="0" fill="hold" grpId="0" nodeType="withEffect">
                                  <p:stCondLst>
                                    <p:cond delay="0"/>
                                  </p:stCondLst>
                                  <p:childTnLst>
                                    <p:animEffect transition="out" filter="fade">
                                      <p:cBhvr>
                                        <p:cTn id="91" dur="200"/>
                                        <p:tgtEl>
                                          <p:spTgt spid="56"/>
                                        </p:tgtEl>
                                      </p:cBhvr>
                                    </p:animEffect>
                                    <p:set>
                                      <p:cBhvr>
                                        <p:cTn id="92" dur="1" fill="hold">
                                          <p:stCondLst>
                                            <p:cond delay="199"/>
                                          </p:stCondLst>
                                        </p:cTn>
                                        <p:tgtEl>
                                          <p:spTgt spid="56"/>
                                        </p:tgtEl>
                                        <p:attrNameLst>
                                          <p:attrName>style.visibility</p:attrName>
                                        </p:attrNameLst>
                                      </p:cBhvr>
                                      <p:to>
                                        <p:strVal val="hidden"/>
                                      </p:to>
                                    </p:set>
                                  </p:childTnLst>
                                </p:cTn>
                              </p:par>
                              <p:par>
                                <p:cTn id="93" presetID="10" presetClass="exit" presetSubtype="0" fill="hold" grpId="0" nodeType="withEffect">
                                  <p:stCondLst>
                                    <p:cond delay="0"/>
                                  </p:stCondLst>
                                  <p:childTnLst>
                                    <p:animEffect transition="out" filter="fade">
                                      <p:cBhvr>
                                        <p:cTn id="94" dur="200"/>
                                        <p:tgtEl>
                                          <p:spTgt spid="57"/>
                                        </p:tgtEl>
                                      </p:cBhvr>
                                    </p:animEffect>
                                    <p:set>
                                      <p:cBhvr>
                                        <p:cTn id="95" dur="1" fill="hold">
                                          <p:stCondLst>
                                            <p:cond delay="199"/>
                                          </p:stCondLst>
                                        </p:cTn>
                                        <p:tgtEl>
                                          <p:spTgt spid="57"/>
                                        </p:tgtEl>
                                        <p:attrNameLst>
                                          <p:attrName>style.visibility</p:attrName>
                                        </p:attrNameLst>
                                      </p:cBhvr>
                                      <p:to>
                                        <p:strVal val="hidden"/>
                                      </p:to>
                                    </p:set>
                                  </p:childTnLst>
                                </p:cTn>
                              </p:par>
                              <p:par>
                                <p:cTn id="96" presetID="10" presetClass="exit" presetSubtype="0" fill="hold" grpId="0" nodeType="withEffect">
                                  <p:stCondLst>
                                    <p:cond delay="0"/>
                                  </p:stCondLst>
                                  <p:childTnLst>
                                    <p:animEffect transition="out" filter="fade">
                                      <p:cBhvr>
                                        <p:cTn id="97" dur="200"/>
                                        <p:tgtEl>
                                          <p:spTgt spid="58"/>
                                        </p:tgtEl>
                                      </p:cBhvr>
                                    </p:animEffect>
                                    <p:set>
                                      <p:cBhvr>
                                        <p:cTn id="98" dur="1" fill="hold">
                                          <p:stCondLst>
                                            <p:cond delay="199"/>
                                          </p:stCondLst>
                                        </p:cTn>
                                        <p:tgtEl>
                                          <p:spTgt spid="58"/>
                                        </p:tgtEl>
                                        <p:attrNameLst>
                                          <p:attrName>style.visibility</p:attrName>
                                        </p:attrNameLst>
                                      </p:cBhvr>
                                      <p:to>
                                        <p:strVal val="hidden"/>
                                      </p:to>
                                    </p:set>
                                  </p:childTnLst>
                                </p:cTn>
                              </p:par>
                              <p:par>
                                <p:cTn id="99" presetID="10" presetClass="exit" presetSubtype="0" fill="hold" grpId="0" nodeType="withEffect">
                                  <p:stCondLst>
                                    <p:cond delay="0"/>
                                  </p:stCondLst>
                                  <p:childTnLst>
                                    <p:animEffect transition="out" filter="fade">
                                      <p:cBhvr>
                                        <p:cTn id="100" dur="200"/>
                                        <p:tgtEl>
                                          <p:spTgt spid="59"/>
                                        </p:tgtEl>
                                      </p:cBhvr>
                                    </p:animEffect>
                                    <p:set>
                                      <p:cBhvr>
                                        <p:cTn id="101" dur="1" fill="hold">
                                          <p:stCondLst>
                                            <p:cond delay="199"/>
                                          </p:stCondLst>
                                        </p:cTn>
                                        <p:tgtEl>
                                          <p:spTgt spid="59"/>
                                        </p:tgtEl>
                                        <p:attrNameLst>
                                          <p:attrName>style.visibility</p:attrName>
                                        </p:attrNameLst>
                                      </p:cBhvr>
                                      <p:to>
                                        <p:strVal val="hidden"/>
                                      </p:to>
                                    </p:set>
                                  </p:childTnLst>
                                </p:cTn>
                              </p:par>
                              <p:par>
                                <p:cTn id="102" presetID="10" presetClass="exit" presetSubtype="0" fill="hold" grpId="0" nodeType="withEffect">
                                  <p:stCondLst>
                                    <p:cond delay="0"/>
                                  </p:stCondLst>
                                  <p:childTnLst>
                                    <p:animEffect transition="out" filter="fade">
                                      <p:cBhvr>
                                        <p:cTn id="103" dur="200"/>
                                        <p:tgtEl>
                                          <p:spTgt spid="60"/>
                                        </p:tgtEl>
                                      </p:cBhvr>
                                    </p:animEffect>
                                    <p:set>
                                      <p:cBhvr>
                                        <p:cTn id="104" dur="1" fill="hold">
                                          <p:stCondLst>
                                            <p:cond delay="199"/>
                                          </p:stCondLst>
                                        </p:cTn>
                                        <p:tgtEl>
                                          <p:spTgt spid="60"/>
                                        </p:tgtEl>
                                        <p:attrNameLst>
                                          <p:attrName>style.visibility</p:attrName>
                                        </p:attrNameLst>
                                      </p:cBhvr>
                                      <p:to>
                                        <p:strVal val="hidden"/>
                                      </p:to>
                                    </p:set>
                                  </p:childTnLst>
                                </p:cTn>
                              </p:par>
                              <p:par>
                                <p:cTn id="105" presetID="10" presetClass="exit" presetSubtype="0" fill="hold" grpId="0" nodeType="withEffect">
                                  <p:stCondLst>
                                    <p:cond delay="0"/>
                                  </p:stCondLst>
                                  <p:childTnLst>
                                    <p:animEffect transition="out" filter="fade">
                                      <p:cBhvr>
                                        <p:cTn id="106" dur="200"/>
                                        <p:tgtEl>
                                          <p:spTgt spid="61"/>
                                        </p:tgtEl>
                                      </p:cBhvr>
                                    </p:animEffect>
                                    <p:set>
                                      <p:cBhvr>
                                        <p:cTn id="107" dur="1" fill="hold">
                                          <p:stCondLst>
                                            <p:cond delay="199"/>
                                          </p:stCondLst>
                                        </p:cTn>
                                        <p:tgtEl>
                                          <p:spTgt spid="61"/>
                                        </p:tgtEl>
                                        <p:attrNameLst>
                                          <p:attrName>style.visibility</p:attrName>
                                        </p:attrNameLst>
                                      </p:cBhvr>
                                      <p:to>
                                        <p:strVal val="hidden"/>
                                      </p:to>
                                    </p:set>
                                  </p:childTnLst>
                                </p:cTn>
                              </p:par>
                              <p:par>
                                <p:cTn id="108" presetID="10" presetClass="exit" presetSubtype="0" fill="hold" grpId="0" nodeType="withEffect">
                                  <p:stCondLst>
                                    <p:cond delay="0"/>
                                  </p:stCondLst>
                                  <p:childTnLst>
                                    <p:animEffect transition="out" filter="fade">
                                      <p:cBhvr>
                                        <p:cTn id="109" dur="200"/>
                                        <p:tgtEl>
                                          <p:spTgt spid="62"/>
                                        </p:tgtEl>
                                      </p:cBhvr>
                                    </p:animEffect>
                                    <p:set>
                                      <p:cBhvr>
                                        <p:cTn id="110" dur="1" fill="hold">
                                          <p:stCondLst>
                                            <p:cond delay="199"/>
                                          </p:stCondLst>
                                        </p:cTn>
                                        <p:tgtEl>
                                          <p:spTgt spid="62"/>
                                        </p:tgtEl>
                                        <p:attrNameLst>
                                          <p:attrName>style.visibility</p:attrName>
                                        </p:attrNameLst>
                                      </p:cBhvr>
                                      <p:to>
                                        <p:strVal val="hidden"/>
                                      </p:to>
                                    </p:set>
                                  </p:childTnLst>
                                </p:cTn>
                              </p:par>
                              <p:par>
                                <p:cTn id="111" presetID="10" presetClass="exit" presetSubtype="0" fill="hold" grpId="0" nodeType="withEffect">
                                  <p:stCondLst>
                                    <p:cond delay="0"/>
                                  </p:stCondLst>
                                  <p:childTnLst>
                                    <p:animEffect transition="out" filter="fade">
                                      <p:cBhvr>
                                        <p:cTn id="112" dur="200"/>
                                        <p:tgtEl>
                                          <p:spTgt spid="63"/>
                                        </p:tgtEl>
                                      </p:cBhvr>
                                    </p:animEffect>
                                    <p:set>
                                      <p:cBhvr>
                                        <p:cTn id="113" dur="1" fill="hold">
                                          <p:stCondLst>
                                            <p:cond delay="199"/>
                                          </p:stCondLst>
                                        </p:cTn>
                                        <p:tgtEl>
                                          <p:spTgt spid="63"/>
                                        </p:tgtEl>
                                        <p:attrNameLst>
                                          <p:attrName>style.visibility</p:attrName>
                                        </p:attrNameLst>
                                      </p:cBhvr>
                                      <p:to>
                                        <p:strVal val="hidden"/>
                                      </p:to>
                                    </p:set>
                                  </p:childTnLst>
                                </p:cTn>
                              </p:par>
                              <p:par>
                                <p:cTn id="114" presetID="10" presetClass="exit" presetSubtype="0" fill="hold" grpId="0" nodeType="withEffect">
                                  <p:stCondLst>
                                    <p:cond delay="0"/>
                                  </p:stCondLst>
                                  <p:childTnLst>
                                    <p:animEffect transition="out" filter="fade">
                                      <p:cBhvr>
                                        <p:cTn id="115" dur="200"/>
                                        <p:tgtEl>
                                          <p:spTgt spid="64"/>
                                        </p:tgtEl>
                                      </p:cBhvr>
                                    </p:animEffect>
                                    <p:set>
                                      <p:cBhvr>
                                        <p:cTn id="116" dur="1" fill="hold">
                                          <p:stCondLst>
                                            <p:cond delay="199"/>
                                          </p:stCondLst>
                                        </p:cTn>
                                        <p:tgtEl>
                                          <p:spTgt spid="64"/>
                                        </p:tgtEl>
                                        <p:attrNameLst>
                                          <p:attrName>style.visibility</p:attrName>
                                        </p:attrNameLst>
                                      </p:cBhvr>
                                      <p:to>
                                        <p:strVal val="hidden"/>
                                      </p:to>
                                    </p:set>
                                  </p:childTnLst>
                                </p:cTn>
                              </p:par>
                              <p:par>
                                <p:cTn id="117" presetID="10" presetClass="exit" presetSubtype="0" fill="hold" grpId="0" nodeType="withEffect">
                                  <p:stCondLst>
                                    <p:cond delay="0"/>
                                  </p:stCondLst>
                                  <p:childTnLst>
                                    <p:animEffect transition="out" filter="fade">
                                      <p:cBhvr>
                                        <p:cTn id="118" dur="200"/>
                                        <p:tgtEl>
                                          <p:spTgt spid="65"/>
                                        </p:tgtEl>
                                      </p:cBhvr>
                                    </p:animEffect>
                                    <p:set>
                                      <p:cBhvr>
                                        <p:cTn id="119" dur="1" fill="hold">
                                          <p:stCondLst>
                                            <p:cond delay="199"/>
                                          </p:stCondLst>
                                        </p:cTn>
                                        <p:tgtEl>
                                          <p:spTgt spid="65"/>
                                        </p:tgtEl>
                                        <p:attrNameLst>
                                          <p:attrName>style.visibility</p:attrName>
                                        </p:attrNameLst>
                                      </p:cBhvr>
                                      <p:to>
                                        <p:strVal val="hidden"/>
                                      </p:to>
                                    </p:set>
                                  </p:childTnLst>
                                </p:cTn>
                              </p:par>
                              <p:par>
                                <p:cTn id="120" presetID="10" presetClass="exit" presetSubtype="0" fill="hold" grpId="0" nodeType="withEffect">
                                  <p:stCondLst>
                                    <p:cond delay="0"/>
                                  </p:stCondLst>
                                  <p:childTnLst>
                                    <p:animEffect transition="out" filter="fade">
                                      <p:cBhvr>
                                        <p:cTn id="121" dur="200"/>
                                        <p:tgtEl>
                                          <p:spTgt spid="66"/>
                                        </p:tgtEl>
                                      </p:cBhvr>
                                    </p:animEffect>
                                    <p:set>
                                      <p:cBhvr>
                                        <p:cTn id="122" dur="1" fill="hold">
                                          <p:stCondLst>
                                            <p:cond delay="199"/>
                                          </p:stCondLst>
                                        </p:cTn>
                                        <p:tgtEl>
                                          <p:spTgt spid="66"/>
                                        </p:tgtEl>
                                        <p:attrNameLst>
                                          <p:attrName>style.visibility</p:attrName>
                                        </p:attrNameLst>
                                      </p:cBhvr>
                                      <p:to>
                                        <p:strVal val="hidden"/>
                                      </p:to>
                                    </p:set>
                                  </p:childTnLst>
                                </p:cTn>
                              </p:par>
                              <p:par>
                                <p:cTn id="123" presetID="10" presetClass="exit" presetSubtype="0" fill="hold" grpId="0" nodeType="withEffect">
                                  <p:stCondLst>
                                    <p:cond delay="0"/>
                                  </p:stCondLst>
                                  <p:childTnLst>
                                    <p:animEffect transition="out" filter="fade">
                                      <p:cBhvr>
                                        <p:cTn id="124" dur="200"/>
                                        <p:tgtEl>
                                          <p:spTgt spid="67"/>
                                        </p:tgtEl>
                                      </p:cBhvr>
                                    </p:animEffect>
                                    <p:set>
                                      <p:cBhvr>
                                        <p:cTn id="125" dur="1" fill="hold">
                                          <p:stCondLst>
                                            <p:cond delay="199"/>
                                          </p:stCondLst>
                                        </p:cTn>
                                        <p:tgtEl>
                                          <p:spTgt spid="67"/>
                                        </p:tgtEl>
                                        <p:attrNameLst>
                                          <p:attrName>style.visibility</p:attrName>
                                        </p:attrNameLst>
                                      </p:cBhvr>
                                      <p:to>
                                        <p:strVal val="hidden"/>
                                      </p:to>
                                    </p:set>
                                  </p:childTnLst>
                                </p:cTn>
                              </p:par>
                              <p:par>
                                <p:cTn id="126" presetID="10" presetClass="exit" presetSubtype="0" fill="hold" grpId="0" nodeType="withEffect">
                                  <p:stCondLst>
                                    <p:cond delay="0"/>
                                  </p:stCondLst>
                                  <p:childTnLst>
                                    <p:animEffect transition="out" filter="fade">
                                      <p:cBhvr>
                                        <p:cTn id="127" dur="200"/>
                                        <p:tgtEl>
                                          <p:spTgt spid="68"/>
                                        </p:tgtEl>
                                      </p:cBhvr>
                                    </p:animEffect>
                                    <p:set>
                                      <p:cBhvr>
                                        <p:cTn id="128" dur="1" fill="hold">
                                          <p:stCondLst>
                                            <p:cond delay="199"/>
                                          </p:stCondLst>
                                        </p:cTn>
                                        <p:tgtEl>
                                          <p:spTgt spid="68"/>
                                        </p:tgtEl>
                                        <p:attrNameLst>
                                          <p:attrName>style.visibility</p:attrName>
                                        </p:attrNameLst>
                                      </p:cBhvr>
                                      <p:to>
                                        <p:strVal val="hidden"/>
                                      </p:to>
                                    </p:set>
                                  </p:childTnLst>
                                </p:cTn>
                              </p:par>
                              <p:par>
                                <p:cTn id="129" presetID="10" presetClass="exit" presetSubtype="0" fill="hold" grpId="0" nodeType="withEffect">
                                  <p:stCondLst>
                                    <p:cond delay="0"/>
                                  </p:stCondLst>
                                  <p:childTnLst>
                                    <p:animEffect transition="out" filter="fade">
                                      <p:cBhvr>
                                        <p:cTn id="130" dur="200"/>
                                        <p:tgtEl>
                                          <p:spTgt spid="69"/>
                                        </p:tgtEl>
                                      </p:cBhvr>
                                    </p:animEffect>
                                    <p:set>
                                      <p:cBhvr>
                                        <p:cTn id="131" dur="1" fill="hold">
                                          <p:stCondLst>
                                            <p:cond delay="199"/>
                                          </p:stCondLst>
                                        </p:cTn>
                                        <p:tgtEl>
                                          <p:spTgt spid="69"/>
                                        </p:tgtEl>
                                        <p:attrNameLst>
                                          <p:attrName>style.visibility</p:attrName>
                                        </p:attrNameLst>
                                      </p:cBhvr>
                                      <p:to>
                                        <p:strVal val="hidden"/>
                                      </p:to>
                                    </p:set>
                                  </p:childTnLst>
                                </p:cTn>
                              </p:par>
                              <p:par>
                                <p:cTn id="132" presetID="10" presetClass="exit" presetSubtype="0" fill="hold" grpId="0" nodeType="withEffect">
                                  <p:stCondLst>
                                    <p:cond delay="0"/>
                                  </p:stCondLst>
                                  <p:childTnLst>
                                    <p:animEffect transition="out" filter="fade">
                                      <p:cBhvr>
                                        <p:cTn id="133" dur="200"/>
                                        <p:tgtEl>
                                          <p:spTgt spid="70"/>
                                        </p:tgtEl>
                                      </p:cBhvr>
                                    </p:animEffect>
                                    <p:set>
                                      <p:cBhvr>
                                        <p:cTn id="134" dur="1" fill="hold">
                                          <p:stCondLst>
                                            <p:cond delay="199"/>
                                          </p:stCondLst>
                                        </p:cTn>
                                        <p:tgtEl>
                                          <p:spTgt spid="70"/>
                                        </p:tgtEl>
                                        <p:attrNameLst>
                                          <p:attrName>style.visibility</p:attrName>
                                        </p:attrNameLst>
                                      </p:cBhvr>
                                      <p:to>
                                        <p:strVal val="hidden"/>
                                      </p:to>
                                    </p:set>
                                  </p:childTnLst>
                                </p:cTn>
                              </p:par>
                              <p:par>
                                <p:cTn id="135" presetID="10" presetClass="exit" presetSubtype="0" fill="hold" grpId="0" nodeType="withEffect">
                                  <p:stCondLst>
                                    <p:cond delay="0"/>
                                  </p:stCondLst>
                                  <p:childTnLst>
                                    <p:animEffect transition="out" filter="fade">
                                      <p:cBhvr>
                                        <p:cTn id="136" dur="200"/>
                                        <p:tgtEl>
                                          <p:spTgt spid="71"/>
                                        </p:tgtEl>
                                      </p:cBhvr>
                                    </p:animEffect>
                                    <p:set>
                                      <p:cBhvr>
                                        <p:cTn id="137" dur="1" fill="hold">
                                          <p:stCondLst>
                                            <p:cond delay="199"/>
                                          </p:stCondLst>
                                        </p:cTn>
                                        <p:tgtEl>
                                          <p:spTgt spid="71"/>
                                        </p:tgtEl>
                                        <p:attrNameLst>
                                          <p:attrName>style.visibility</p:attrName>
                                        </p:attrNameLst>
                                      </p:cBhvr>
                                      <p:to>
                                        <p:strVal val="hidden"/>
                                      </p:to>
                                    </p:set>
                                  </p:childTnLst>
                                </p:cTn>
                              </p:par>
                              <p:par>
                                <p:cTn id="138" presetID="10" presetClass="exit" presetSubtype="0" fill="hold" grpId="0" nodeType="withEffect">
                                  <p:stCondLst>
                                    <p:cond delay="0"/>
                                  </p:stCondLst>
                                  <p:childTnLst>
                                    <p:animEffect transition="out" filter="fade">
                                      <p:cBhvr>
                                        <p:cTn id="139" dur="200"/>
                                        <p:tgtEl>
                                          <p:spTgt spid="72"/>
                                        </p:tgtEl>
                                      </p:cBhvr>
                                    </p:animEffect>
                                    <p:set>
                                      <p:cBhvr>
                                        <p:cTn id="140" dur="1" fill="hold">
                                          <p:stCondLst>
                                            <p:cond delay="199"/>
                                          </p:stCondLst>
                                        </p:cTn>
                                        <p:tgtEl>
                                          <p:spTgt spid="72"/>
                                        </p:tgtEl>
                                        <p:attrNameLst>
                                          <p:attrName>style.visibility</p:attrName>
                                        </p:attrNameLst>
                                      </p:cBhvr>
                                      <p:to>
                                        <p:strVal val="hidden"/>
                                      </p:to>
                                    </p:set>
                                  </p:childTnLst>
                                </p:cTn>
                              </p:par>
                              <p:par>
                                <p:cTn id="141" presetID="10" presetClass="exit" presetSubtype="0" fill="hold" grpId="0" nodeType="withEffect">
                                  <p:stCondLst>
                                    <p:cond delay="0"/>
                                  </p:stCondLst>
                                  <p:childTnLst>
                                    <p:animEffect transition="out" filter="fade">
                                      <p:cBhvr>
                                        <p:cTn id="142" dur="200"/>
                                        <p:tgtEl>
                                          <p:spTgt spid="73"/>
                                        </p:tgtEl>
                                      </p:cBhvr>
                                    </p:animEffect>
                                    <p:set>
                                      <p:cBhvr>
                                        <p:cTn id="143" dur="1" fill="hold">
                                          <p:stCondLst>
                                            <p:cond delay="199"/>
                                          </p:stCondLst>
                                        </p:cTn>
                                        <p:tgtEl>
                                          <p:spTgt spid="73"/>
                                        </p:tgtEl>
                                        <p:attrNameLst>
                                          <p:attrName>style.visibility</p:attrName>
                                        </p:attrNameLst>
                                      </p:cBhvr>
                                      <p:to>
                                        <p:strVal val="hidden"/>
                                      </p:to>
                                    </p:set>
                                  </p:childTnLst>
                                </p:cTn>
                              </p:par>
                              <p:par>
                                <p:cTn id="144" presetID="10" presetClass="exit" presetSubtype="0" fill="hold" grpId="0" nodeType="withEffect">
                                  <p:stCondLst>
                                    <p:cond delay="0"/>
                                  </p:stCondLst>
                                  <p:childTnLst>
                                    <p:animEffect transition="out" filter="fade">
                                      <p:cBhvr>
                                        <p:cTn id="145" dur="200"/>
                                        <p:tgtEl>
                                          <p:spTgt spid="74"/>
                                        </p:tgtEl>
                                      </p:cBhvr>
                                    </p:animEffect>
                                    <p:set>
                                      <p:cBhvr>
                                        <p:cTn id="146" dur="1" fill="hold">
                                          <p:stCondLst>
                                            <p:cond delay="199"/>
                                          </p:stCondLst>
                                        </p:cTn>
                                        <p:tgtEl>
                                          <p:spTgt spid="74"/>
                                        </p:tgtEl>
                                        <p:attrNameLst>
                                          <p:attrName>style.visibility</p:attrName>
                                        </p:attrNameLst>
                                      </p:cBhvr>
                                      <p:to>
                                        <p:strVal val="hidden"/>
                                      </p:to>
                                    </p:set>
                                  </p:childTnLst>
                                </p:cTn>
                              </p:par>
                              <p:par>
                                <p:cTn id="147" presetID="10" presetClass="exit" presetSubtype="0" fill="hold" grpId="0" nodeType="withEffect">
                                  <p:stCondLst>
                                    <p:cond delay="0"/>
                                  </p:stCondLst>
                                  <p:childTnLst>
                                    <p:animEffect transition="out" filter="fade">
                                      <p:cBhvr>
                                        <p:cTn id="148" dur="200"/>
                                        <p:tgtEl>
                                          <p:spTgt spid="75"/>
                                        </p:tgtEl>
                                      </p:cBhvr>
                                    </p:animEffect>
                                    <p:set>
                                      <p:cBhvr>
                                        <p:cTn id="149" dur="1" fill="hold">
                                          <p:stCondLst>
                                            <p:cond delay="199"/>
                                          </p:stCondLst>
                                        </p:cTn>
                                        <p:tgtEl>
                                          <p:spTgt spid="75"/>
                                        </p:tgtEl>
                                        <p:attrNameLst>
                                          <p:attrName>style.visibility</p:attrName>
                                        </p:attrNameLst>
                                      </p:cBhvr>
                                      <p:to>
                                        <p:strVal val="hidden"/>
                                      </p:to>
                                    </p:set>
                                  </p:childTnLst>
                                </p:cTn>
                              </p:par>
                              <p:par>
                                <p:cTn id="150" presetID="10" presetClass="exit" presetSubtype="0" fill="hold" grpId="0" nodeType="withEffect">
                                  <p:stCondLst>
                                    <p:cond delay="0"/>
                                  </p:stCondLst>
                                  <p:childTnLst>
                                    <p:animEffect transition="out" filter="fade">
                                      <p:cBhvr>
                                        <p:cTn id="151" dur="200"/>
                                        <p:tgtEl>
                                          <p:spTgt spid="76"/>
                                        </p:tgtEl>
                                      </p:cBhvr>
                                    </p:animEffect>
                                    <p:set>
                                      <p:cBhvr>
                                        <p:cTn id="152" dur="1" fill="hold">
                                          <p:stCondLst>
                                            <p:cond delay="199"/>
                                          </p:stCondLst>
                                        </p:cTn>
                                        <p:tgtEl>
                                          <p:spTgt spid="76"/>
                                        </p:tgtEl>
                                        <p:attrNameLst>
                                          <p:attrName>style.visibility</p:attrName>
                                        </p:attrNameLst>
                                      </p:cBhvr>
                                      <p:to>
                                        <p:strVal val="hidden"/>
                                      </p:to>
                                    </p:set>
                                  </p:childTnLst>
                                </p:cTn>
                              </p:par>
                              <p:par>
                                <p:cTn id="153" presetID="10" presetClass="exit" presetSubtype="0" fill="hold" grpId="0" nodeType="withEffect">
                                  <p:stCondLst>
                                    <p:cond delay="0"/>
                                  </p:stCondLst>
                                  <p:childTnLst>
                                    <p:animEffect transition="out" filter="fade">
                                      <p:cBhvr>
                                        <p:cTn id="154" dur="200"/>
                                        <p:tgtEl>
                                          <p:spTgt spid="77"/>
                                        </p:tgtEl>
                                      </p:cBhvr>
                                    </p:animEffect>
                                    <p:set>
                                      <p:cBhvr>
                                        <p:cTn id="155" dur="1" fill="hold">
                                          <p:stCondLst>
                                            <p:cond delay="199"/>
                                          </p:stCondLst>
                                        </p:cTn>
                                        <p:tgtEl>
                                          <p:spTgt spid="77"/>
                                        </p:tgtEl>
                                        <p:attrNameLst>
                                          <p:attrName>style.visibility</p:attrName>
                                        </p:attrNameLst>
                                      </p:cBhvr>
                                      <p:to>
                                        <p:strVal val="hidden"/>
                                      </p:to>
                                    </p:set>
                                  </p:childTnLst>
                                </p:cTn>
                              </p:par>
                              <p:par>
                                <p:cTn id="156" presetID="10" presetClass="exit" presetSubtype="0" fill="hold" grpId="0" nodeType="withEffect">
                                  <p:stCondLst>
                                    <p:cond delay="0"/>
                                  </p:stCondLst>
                                  <p:childTnLst>
                                    <p:animEffect transition="out" filter="fade">
                                      <p:cBhvr>
                                        <p:cTn id="157" dur="200"/>
                                        <p:tgtEl>
                                          <p:spTgt spid="78"/>
                                        </p:tgtEl>
                                      </p:cBhvr>
                                    </p:animEffect>
                                    <p:set>
                                      <p:cBhvr>
                                        <p:cTn id="158" dur="1" fill="hold">
                                          <p:stCondLst>
                                            <p:cond delay="199"/>
                                          </p:stCondLst>
                                        </p:cTn>
                                        <p:tgtEl>
                                          <p:spTgt spid="78"/>
                                        </p:tgtEl>
                                        <p:attrNameLst>
                                          <p:attrName>style.visibility</p:attrName>
                                        </p:attrNameLst>
                                      </p:cBhvr>
                                      <p:to>
                                        <p:strVal val="hidden"/>
                                      </p:to>
                                    </p:set>
                                  </p:childTnLst>
                                </p:cTn>
                              </p:par>
                              <p:par>
                                <p:cTn id="159" presetID="10" presetClass="exit" presetSubtype="0" fill="hold" grpId="0" nodeType="withEffect">
                                  <p:stCondLst>
                                    <p:cond delay="0"/>
                                  </p:stCondLst>
                                  <p:childTnLst>
                                    <p:animEffect transition="out" filter="fade">
                                      <p:cBhvr>
                                        <p:cTn id="160" dur="200"/>
                                        <p:tgtEl>
                                          <p:spTgt spid="79"/>
                                        </p:tgtEl>
                                      </p:cBhvr>
                                    </p:animEffect>
                                    <p:set>
                                      <p:cBhvr>
                                        <p:cTn id="161" dur="1" fill="hold">
                                          <p:stCondLst>
                                            <p:cond delay="199"/>
                                          </p:stCondLst>
                                        </p:cTn>
                                        <p:tgtEl>
                                          <p:spTgt spid="79"/>
                                        </p:tgtEl>
                                        <p:attrNameLst>
                                          <p:attrName>style.visibility</p:attrName>
                                        </p:attrNameLst>
                                      </p:cBhvr>
                                      <p:to>
                                        <p:strVal val="hidden"/>
                                      </p:to>
                                    </p:set>
                                  </p:childTnLst>
                                </p:cTn>
                              </p:par>
                              <p:par>
                                <p:cTn id="162" presetID="10" presetClass="exit" presetSubtype="0" fill="hold" grpId="0" nodeType="withEffect">
                                  <p:stCondLst>
                                    <p:cond delay="0"/>
                                  </p:stCondLst>
                                  <p:childTnLst>
                                    <p:animEffect transition="out" filter="fade">
                                      <p:cBhvr>
                                        <p:cTn id="163" dur="200"/>
                                        <p:tgtEl>
                                          <p:spTgt spid="80"/>
                                        </p:tgtEl>
                                      </p:cBhvr>
                                    </p:animEffect>
                                    <p:set>
                                      <p:cBhvr>
                                        <p:cTn id="164" dur="1" fill="hold">
                                          <p:stCondLst>
                                            <p:cond delay="199"/>
                                          </p:stCondLst>
                                        </p:cTn>
                                        <p:tgtEl>
                                          <p:spTgt spid="80"/>
                                        </p:tgtEl>
                                        <p:attrNameLst>
                                          <p:attrName>style.visibility</p:attrName>
                                        </p:attrNameLst>
                                      </p:cBhvr>
                                      <p:to>
                                        <p:strVal val="hidden"/>
                                      </p:to>
                                    </p:set>
                                  </p:childTnLst>
                                </p:cTn>
                              </p:par>
                              <p:par>
                                <p:cTn id="165" presetID="10" presetClass="exit" presetSubtype="0" fill="hold" grpId="0" nodeType="withEffect">
                                  <p:stCondLst>
                                    <p:cond delay="0"/>
                                  </p:stCondLst>
                                  <p:childTnLst>
                                    <p:animEffect transition="out" filter="fade">
                                      <p:cBhvr>
                                        <p:cTn id="166" dur="200"/>
                                        <p:tgtEl>
                                          <p:spTgt spid="81"/>
                                        </p:tgtEl>
                                      </p:cBhvr>
                                    </p:animEffect>
                                    <p:set>
                                      <p:cBhvr>
                                        <p:cTn id="167" dur="1" fill="hold">
                                          <p:stCondLst>
                                            <p:cond delay="199"/>
                                          </p:stCondLst>
                                        </p:cTn>
                                        <p:tgtEl>
                                          <p:spTgt spid="81"/>
                                        </p:tgtEl>
                                        <p:attrNameLst>
                                          <p:attrName>style.visibility</p:attrName>
                                        </p:attrNameLst>
                                      </p:cBhvr>
                                      <p:to>
                                        <p:strVal val="hidden"/>
                                      </p:to>
                                    </p:set>
                                  </p:childTnLst>
                                </p:cTn>
                              </p:par>
                              <p:par>
                                <p:cTn id="168" presetID="10" presetClass="exit" presetSubtype="0" fill="hold" grpId="0" nodeType="withEffect">
                                  <p:stCondLst>
                                    <p:cond delay="0"/>
                                  </p:stCondLst>
                                  <p:childTnLst>
                                    <p:animEffect transition="out" filter="fade">
                                      <p:cBhvr>
                                        <p:cTn id="169" dur="200"/>
                                        <p:tgtEl>
                                          <p:spTgt spid="82"/>
                                        </p:tgtEl>
                                      </p:cBhvr>
                                    </p:animEffect>
                                    <p:set>
                                      <p:cBhvr>
                                        <p:cTn id="170" dur="1" fill="hold">
                                          <p:stCondLst>
                                            <p:cond delay="199"/>
                                          </p:stCondLst>
                                        </p:cTn>
                                        <p:tgtEl>
                                          <p:spTgt spid="82"/>
                                        </p:tgtEl>
                                        <p:attrNameLst>
                                          <p:attrName>style.visibility</p:attrName>
                                        </p:attrNameLst>
                                      </p:cBhvr>
                                      <p:to>
                                        <p:strVal val="hidden"/>
                                      </p:to>
                                    </p:set>
                                  </p:childTnLst>
                                </p:cTn>
                              </p:par>
                              <p:par>
                                <p:cTn id="171" presetID="10" presetClass="exit" presetSubtype="0" fill="hold" grpId="0" nodeType="withEffect">
                                  <p:stCondLst>
                                    <p:cond delay="0"/>
                                  </p:stCondLst>
                                  <p:childTnLst>
                                    <p:animEffect transition="out" filter="fade">
                                      <p:cBhvr>
                                        <p:cTn id="172" dur="200"/>
                                        <p:tgtEl>
                                          <p:spTgt spid="83"/>
                                        </p:tgtEl>
                                      </p:cBhvr>
                                    </p:animEffect>
                                    <p:set>
                                      <p:cBhvr>
                                        <p:cTn id="173" dur="1" fill="hold">
                                          <p:stCondLst>
                                            <p:cond delay="199"/>
                                          </p:stCondLst>
                                        </p:cTn>
                                        <p:tgtEl>
                                          <p:spTgt spid="83"/>
                                        </p:tgtEl>
                                        <p:attrNameLst>
                                          <p:attrName>style.visibility</p:attrName>
                                        </p:attrNameLst>
                                      </p:cBhvr>
                                      <p:to>
                                        <p:strVal val="hidden"/>
                                      </p:to>
                                    </p:set>
                                  </p:childTnLst>
                                </p:cTn>
                              </p:par>
                              <p:par>
                                <p:cTn id="174" presetID="10" presetClass="exit" presetSubtype="0" fill="hold" grpId="0" nodeType="withEffect">
                                  <p:stCondLst>
                                    <p:cond delay="0"/>
                                  </p:stCondLst>
                                  <p:childTnLst>
                                    <p:animEffect transition="out" filter="fade">
                                      <p:cBhvr>
                                        <p:cTn id="175" dur="200"/>
                                        <p:tgtEl>
                                          <p:spTgt spid="84"/>
                                        </p:tgtEl>
                                      </p:cBhvr>
                                    </p:animEffect>
                                    <p:set>
                                      <p:cBhvr>
                                        <p:cTn id="176" dur="1" fill="hold">
                                          <p:stCondLst>
                                            <p:cond delay="199"/>
                                          </p:stCondLst>
                                        </p:cTn>
                                        <p:tgtEl>
                                          <p:spTgt spid="84"/>
                                        </p:tgtEl>
                                        <p:attrNameLst>
                                          <p:attrName>style.visibility</p:attrName>
                                        </p:attrNameLst>
                                      </p:cBhvr>
                                      <p:to>
                                        <p:strVal val="hidden"/>
                                      </p:to>
                                    </p:set>
                                  </p:childTnLst>
                                </p:cTn>
                              </p:par>
                              <p:par>
                                <p:cTn id="177" presetID="10" presetClass="exit" presetSubtype="0" fill="hold" grpId="0" nodeType="withEffect">
                                  <p:stCondLst>
                                    <p:cond delay="0"/>
                                  </p:stCondLst>
                                  <p:childTnLst>
                                    <p:animEffect transition="out" filter="fade">
                                      <p:cBhvr>
                                        <p:cTn id="178" dur="200"/>
                                        <p:tgtEl>
                                          <p:spTgt spid="85"/>
                                        </p:tgtEl>
                                      </p:cBhvr>
                                    </p:animEffect>
                                    <p:set>
                                      <p:cBhvr>
                                        <p:cTn id="179" dur="1" fill="hold">
                                          <p:stCondLst>
                                            <p:cond delay="199"/>
                                          </p:stCondLst>
                                        </p:cTn>
                                        <p:tgtEl>
                                          <p:spTgt spid="85"/>
                                        </p:tgtEl>
                                        <p:attrNameLst>
                                          <p:attrName>style.visibility</p:attrName>
                                        </p:attrNameLst>
                                      </p:cBhvr>
                                      <p:to>
                                        <p:strVal val="hidden"/>
                                      </p:to>
                                    </p:set>
                                  </p:childTnLst>
                                </p:cTn>
                              </p:par>
                              <p:par>
                                <p:cTn id="180" presetID="10" presetClass="exit" presetSubtype="0" fill="hold" grpId="0" nodeType="withEffect">
                                  <p:stCondLst>
                                    <p:cond delay="0"/>
                                  </p:stCondLst>
                                  <p:childTnLst>
                                    <p:animEffect transition="out" filter="fade">
                                      <p:cBhvr>
                                        <p:cTn id="181" dur="200"/>
                                        <p:tgtEl>
                                          <p:spTgt spid="86"/>
                                        </p:tgtEl>
                                      </p:cBhvr>
                                    </p:animEffect>
                                    <p:set>
                                      <p:cBhvr>
                                        <p:cTn id="182" dur="1" fill="hold">
                                          <p:stCondLst>
                                            <p:cond delay="199"/>
                                          </p:stCondLst>
                                        </p:cTn>
                                        <p:tgtEl>
                                          <p:spTgt spid="86"/>
                                        </p:tgtEl>
                                        <p:attrNameLst>
                                          <p:attrName>style.visibility</p:attrName>
                                        </p:attrNameLst>
                                      </p:cBhvr>
                                      <p:to>
                                        <p:strVal val="hidden"/>
                                      </p:to>
                                    </p:set>
                                  </p:childTnLst>
                                </p:cTn>
                              </p:par>
                              <p:par>
                                <p:cTn id="183" presetID="10" presetClass="exit" presetSubtype="0" fill="hold" grpId="0" nodeType="withEffect">
                                  <p:stCondLst>
                                    <p:cond delay="0"/>
                                  </p:stCondLst>
                                  <p:childTnLst>
                                    <p:animEffect transition="out" filter="fade">
                                      <p:cBhvr>
                                        <p:cTn id="184" dur="200"/>
                                        <p:tgtEl>
                                          <p:spTgt spid="87"/>
                                        </p:tgtEl>
                                      </p:cBhvr>
                                    </p:animEffect>
                                    <p:set>
                                      <p:cBhvr>
                                        <p:cTn id="185" dur="1" fill="hold">
                                          <p:stCondLst>
                                            <p:cond delay="199"/>
                                          </p:stCondLst>
                                        </p:cTn>
                                        <p:tgtEl>
                                          <p:spTgt spid="87"/>
                                        </p:tgtEl>
                                        <p:attrNameLst>
                                          <p:attrName>style.visibility</p:attrName>
                                        </p:attrNameLst>
                                      </p:cBhvr>
                                      <p:to>
                                        <p:strVal val="hidden"/>
                                      </p:to>
                                    </p:set>
                                  </p:childTnLst>
                                </p:cTn>
                              </p:par>
                              <p:par>
                                <p:cTn id="186" presetID="10" presetClass="exit" presetSubtype="0" fill="hold" grpId="0" nodeType="withEffect">
                                  <p:stCondLst>
                                    <p:cond delay="0"/>
                                  </p:stCondLst>
                                  <p:childTnLst>
                                    <p:animEffect transition="out" filter="fade">
                                      <p:cBhvr>
                                        <p:cTn id="187" dur="200"/>
                                        <p:tgtEl>
                                          <p:spTgt spid="88"/>
                                        </p:tgtEl>
                                      </p:cBhvr>
                                    </p:animEffect>
                                    <p:set>
                                      <p:cBhvr>
                                        <p:cTn id="188" dur="1" fill="hold">
                                          <p:stCondLst>
                                            <p:cond delay="199"/>
                                          </p:stCondLst>
                                        </p:cTn>
                                        <p:tgtEl>
                                          <p:spTgt spid="88"/>
                                        </p:tgtEl>
                                        <p:attrNameLst>
                                          <p:attrName>style.visibility</p:attrName>
                                        </p:attrNameLst>
                                      </p:cBhvr>
                                      <p:to>
                                        <p:strVal val="hidden"/>
                                      </p:to>
                                    </p:set>
                                  </p:childTnLst>
                                </p:cTn>
                              </p:par>
                              <p:par>
                                <p:cTn id="189" presetID="10" presetClass="exit" presetSubtype="0" fill="hold" grpId="0" nodeType="withEffect">
                                  <p:stCondLst>
                                    <p:cond delay="0"/>
                                  </p:stCondLst>
                                  <p:childTnLst>
                                    <p:animEffect transition="out" filter="fade">
                                      <p:cBhvr>
                                        <p:cTn id="190" dur="200"/>
                                        <p:tgtEl>
                                          <p:spTgt spid="89"/>
                                        </p:tgtEl>
                                      </p:cBhvr>
                                    </p:animEffect>
                                    <p:set>
                                      <p:cBhvr>
                                        <p:cTn id="191" dur="1" fill="hold">
                                          <p:stCondLst>
                                            <p:cond delay="199"/>
                                          </p:stCondLst>
                                        </p:cTn>
                                        <p:tgtEl>
                                          <p:spTgt spid="89"/>
                                        </p:tgtEl>
                                        <p:attrNameLst>
                                          <p:attrName>style.visibility</p:attrName>
                                        </p:attrNameLst>
                                      </p:cBhvr>
                                      <p:to>
                                        <p:strVal val="hidden"/>
                                      </p:to>
                                    </p:set>
                                  </p:childTnLst>
                                </p:cTn>
                              </p:par>
                              <p:par>
                                <p:cTn id="192" presetID="10" presetClass="exit" presetSubtype="0" fill="hold" grpId="0" nodeType="withEffect">
                                  <p:stCondLst>
                                    <p:cond delay="0"/>
                                  </p:stCondLst>
                                  <p:childTnLst>
                                    <p:animEffect transition="out" filter="fade">
                                      <p:cBhvr>
                                        <p:cTn id="193" dur="200"/>
                                        <p:tgtEl>
                                          <p:spTgt spid="90"/>
                                        </p:tgtEl>
                                      </p:cBhvr>
                                    </p:animEffect>
                                    <p:set>
                                      <p:cBhvr>
                                        <p:cTn id="194" dur="1" fill="hold">
                                          <p:stCondLst>
                                            <p:cond delay="199"/>
                                          </p:stCondLst>
                                        </p:cTn>
                                        <p:tgtEl>
                                          <p:spTgt spid="90"/>
                                        </p:tgtEl>
                                        <p:attrNameLst>
                                          <p:attrName>style.visibility</p:attrName>
                                        </p:attrNameLst>
                                      </p:cBhvr>
                                      <p:to>
                                        <p:strVal val="hidden"/>
                                      </p:to>
                                    </p:set>
                                  </p:childTnLst>
                                </p:cTn>
                              </p:par>
                              <p:par>
                                <p:cTn id="195" presetID="10" presetClass="exit" presetSubtype="0" fill="hold" grpId="0" nodeType="withEffect">
                                  <p:stCondLst>
                                    <p:cond delay="0"/>
                                  </p:stCondLst>
                                  <p:childTnLst>
                                    <p:animEffect transition="out" filter="fade">
                                      <p:cBhvr>
                                        <p:cTn id="196" dur="200"/>
                                        <p:tgtEl>
                                          <p:spTgt spid="91"/>
                                        </p:tgtEl>
                                      </p:cBhvr>
                                    </p:animEffect>
                                    <p:set>
                                      <p:cBhvr>
                                        <p:cTn id="197" dur="1" fill="hold">
                                          <p:stCondLst>
                                            <p:cond delay="199"/>
                                          </p:stCondLst>
                                        </p:cTn>
                                        <p:tgtEl>
                                          <p:spTgt spid="91"/>
                                        </p:tgtEl>
                                        <p:attrNameLst>
                                          <p:attrName>style.visibility</p:attrName>
                                        </p:attrNameLst>
                                      </p:cBhvr>
                                      <p:to>
                                        <p:strVal val="hidden"/>
                                      </p:to>
                                    </p:set>
                                  </p:childTnLst>
                                </p:cTn>
                              </p:par>
                              <p:par>
                                <p:cTn id="198" presetID="10" presetClass="exit" presetSubtype="0" fill="hold" grpId="0" nodeType="withEffect">
                                  <p:stCondLst>
                                    <p:cond delay="0"/>
                                  </p:stCondLst>
                                  <p:childTnLst>
                                    <p:animEffect transition="out" filter="fade">
                                      <p:cBhvr>
                                        <p:cTn id="199" dur="200"/>
                                        <p:tgtEl>
                                          <p:spTgt spid="92"/>
                                        </p:tgtEl>
                                      </p:cBhvr>
                                    </p:animEffect>
                                    <p:set>
                                      <p:cBhvr>
                                        <p:cTn id="200" dur="1" fill="hold">
                                          <p:stCondLst>
                                            <p:cond delay="199"/>
                                          </p:stCondLst>
                                        </p:cTn>
                                        <p:tgtEl>
                                          <p:spTgt spid="92"/>
                                        </p:tgtEl>
                                        <p:attrNameLst>
                                          <p:attrName>style.visibility</p:attrName>
                                        </p:attrNameLst>
                                      </p:cBhvr>
                                      <p:to>
                                        <p:strVal val="hidden"/>
                                      </p:to>
                                    </p:set>
                                  </p:childTnLst>
                                </p:cTn>
                              </p:par>
                              <p:par>
                                <p:cTn id="201" presetID="10" presetClass="exit" presetSubtype="0" fill="hold" grpId="0" nodeType="withEffect">
                                  <p:stCondLst>
                                    <p:cond delay="0"/>
                                  </p:stCondLst>
                                  <p:childTnLst>
                                    <p:animEffect transition="out" filter="fade">
                                      <p:cBhvr>
                                        <p:cTn id="202" dur="200"/>
                                        <p:tgtEl>
                                          <p:spTgt spid="93"/>
                                        </p:tgtEl>
                                      </p:cBhvr>
                                    </p:animEffect>
                                    <p:set>
                                      <p:cBhvr>
                                        <p:cTn id="203" dur="1" fill="hold">
                                          <p:stCondLst>
                                            <p:cond delay="199"/>
                                          </p:stCondLst>
                                        </p:cTn>
                                        <p:tgtEl>
                                          <p:spTgt spid="93"/>
                                        </p:tgtEl>
                                        <p:attrNameLst>
                                          <p:attrName>style.visibility</p:attrName>
                                        </p:attrNameLst>
                                      </p:cBhvr>
                                      <p:to>
                                        <p:strVal val="hidden"/>
                                      </p:to>
                                    </p:set>
                                  </p:childTnLst>
                                </p:cTn>
                              </p:par>
                              <p:par>
                                <p:cTn id="204" presetID="10" presetClass="exit" presetSubtype="0" fill="hold" grpId="0" nodeType="withEffect">
                                  <p:stCondLst>
                                    <p:cond delay="0"/>
                                  </p:stCondLst>
                                  <p:childTnLst>
                                    <p:animEffect transition="out" filter="fade">
                                      <p:cBhvr>
                                        <p:cTn id="205" dur="200"/>
                                        <p:tgtEl>
                                          <p:spTgt spid="94"/>
                                        </p:tgtEl>
                                      </p:cBhvr>
                                    </p:animEffect>
                                    <p:set>
                                      <p:cBhvr>
                                        <p:cTn id="206" dur="1" fill="hold">
                                          <p:stCondLst>
                                            <p:cond delay="199"/>
                                          </p:stCondLst>
                                        </p:cTn>
                                        <p:tgtEl>
                                          <p:spTgt spid="94"/>
                                        </p:tgtEl>
                                        <p:attrNameLst>
                                          <p:attrName>style.visibility</p:attrName>
                                        </p:attrNameLst>
                                      </p:cBhvr>
                                      <p:to>
                                        <p:strVal val="hidden"/>
                                      </p:to>
                                    </p:set>
                                  </p:childTnLst>
                                </p:cTn>
                              </p:par>
                              <p:par>
                                <p:cTn id="207" presetID="10" presetClass="exit" presetSubtype="0" fill="hold" grpId="0" nodeType="withEffect">
                                  <p:stCondLst>
                                    <p:cond delay="0"/>
                                  </p:stCondLst>
                                  <p:childTnLst>
                                    <p:animEffect transition="out" filter="fade">
                                      <p:cBhvr>
                                        <p:cTn id="208" dur="200"/>
                                        <p:tgtEl>
                                          <p:spTgt spid="95"/>
                                        </p:tgtEl>
                                      </p:cBhvr>
                                    </p:animEffect>
                                    <p:set>
                                      <p:cBhvr>
                                        <p:cTn id="209" dur="1" fill="hold">
                                          <p:stCondLst>
                                            <p:cond delay="199"/>
                                          </p:stCondLst>
                                        </p:cTn>
                                        <p:tgtEl>
                                          <p:spTgt spid="95"/>
                                        </p:tgtEl>
                                        <p:attrNameLst>
                                          <p:attrName>style.visibility</p:attrName>
                                        </p:attrNameLst>
                                      </p:cBhvr>
                                      <p:to>
                                        <p:strVal val="hidden"/>
                                      </p:to>
                                    </p:set>
                                  </p:childTnLst>
                                </p:cTn>
                              </p:par>
                              <p:par>
                                <p:cTn id="210" presetID="10" presetClass="exit" presetSubtype="0" fill="hold" grpId="0" nodeType="withEffect">
                                  <p:stCondLst>
                                    <p:cond delay="0"/>
                                  </p:stCondLst>
                                  <p:childTnLst>
                                    <p:animEffect transition="out" filter="fade">
                                      <p:cBhvr>
                                        <p:cTn id="211" dur="200"/>
                                        <p:tgtEl>
                                          <p:spTgt spid="96"/>
                                        </p:tgtEl>
                                      </p:cBhvr>
                                    </p:animEffect>
                                    <p:set>
                                      <p:cBhvr>
                                        <p:cTn id="212" dur="1" fill="hold">
                                          <p:stCondLst>
                                            <p:cond delay="199"/>
                                          </p:stCondLst>
                                        </p:cTn>
                                        <p:tgtEl>
                                          <p:spTgt spid="96"/>
                                        </p:tgtEl>
                                        <p:attrNameLst>
                                          <p:attrName>style.visibility</p:attrName>
                                        </p:attrNameLst>
                                      </p:cBhvr>
                                      <p:to>
                                        <p:strVal val="hidden"/>
                                      </p:to>
                                    </p:set>
                                  </p:childTnLst>
                                </p:cTn>
                              </p:par>
                              <p:par>
                                <p:cTn id="213" presetID="10" presetClass="exit" presetSubtype="0" fill="hold" grpId="0" nodeType="withEffect">
                                  <p:stCondLst>
                                    <p:cond delay="0"/>
                                  </p:stCondLst>
                                  <p:childTnLst>
                                    <p:animEffect transition="out" filter="fade">
                                      <p:cBhvr>
                                        <p:cTn id="214" dur="200"/>
                                        <p:tgtEl>
                                          <p:spTgt spid="97"/>
                                        </p:tgtEl>
                                      </p:cBhvr>
                                    </p:animEffect>
                                    <p:set>
                                      <p:cBhvr>
                                        <p:cTn id="215" dur="1" fill="hold">
                                          <p:stCondLst>
                                            <p:cond delay="199"/>
                                          </p:stCondLst>
                                        </p:cTn>
                                        <p:tgtEl>
                                          <p:spTgt spid="97"/>
                                        </p:tgtEl>
                                        <p:attrNameLst>
                                          <p:attrName>style.visibility</p:attrName>
                                        </p:attrNameLst>
                                      </p:cBhvr>
                                      <p:to>
                                        <p:strVal val="hidden"/>
                                      </p:to>
                                    </p:set>
                                  </p:childTnLst>
                                </p:cTn>
                              </p:par>
                              <p:par>
                                <p:cTn id="216" presetID="10" presetClass="exit" presetSubtype="0" fill="hold" grpId="0" nodeType="withEffect">
                                  <p:stCondLst>
                                    <p:cond delay="0"/>
                                  </p:stCondLst>
                                  <p:childTnLst>
                                    <p:animEffect transition="out" filter="fade">
                                      <p:cBhvr>
                                        <p:cTn id="217" dur="200"/>
                                        <p:tgtEl>
                                          <p:spTgt spid="98"/>
                                        </p:tgtEl>
                                      </p:cBhvr>
                                    </p:animEffect>
                                    <p:set>
                                      <p:cBhvr>
                                        <p:cTn id="218" dur="1" fill="hold">
                                          <p:stCondLst>
                                            <p:cond delay="199"/>
                                          </p:stCondLst>
                                        </p:cTn>
                                        <p:tgtEl>
                                          <p:spTgt spid="98"/>
                                        </p:tgtEl>
                                        <p:attrNameLst>
                                          <p:attrName>style.visibility</p:attrName>
                                        </p:attrNameLst>
                                      </p:cBhvr>
                                      <p:to>
                                        <p:strVal val="hidden"/>
                                      </p:to>
                                    </p:set>
                                  </p:childTnLst>
                                </p:cTn>
                              </p:par>
                              <p:par>
                                <p:cTn id="219" presetID="10" presetClass="exit" presetSubtype="0" fill="hold" grpId="0" nodeType="withEffect">
                                  <p:stCondLst>
                                    <p:cond delay="0"/>
                                  </p:stCondLst>
                                  <p:childTnLst>
                                    <p:animEffect transition="out" filter="fade">
                                      <p:cBhvr>
                                        <p:cTn id="220" dur="200"/>
                                        <p:tgtEl>
                                          <p:spTgt spid="99"/>
                                        </p:tgtEl>
                                      </p:cBhvr>
                                    </p:animEffect>
                                    <p:set>
                                      <p:cBhvr>
                                        <p:cTn id="221" dur="1" fill="hold">
                                          <p:stCondLst>
                                            <p:cond delay="199"/>
                                          </p:stCondLst>
                                        </p:cTn>
                                        <p:tgtEl>
                                          <p:spTgt spid="99"/>
                                        </p:tgtEl>
                                        <p:attrNameLst>
                                          <p:attrName>style.visibility</p:attrName>
                                        </p:attrNameLst>
                                      </p:cBhvr>
                                      <p:to>
                                        <p:strVal val="hidden"/>
                                      </p:to>
                                    </p:set>
                                  </p:childTnLst>
                                </p:cTn>
                              </p:par>
                              <p:par>
                                <p:cTn id="222" presetID="10" presetClass="exit" presetSubtype="0" fill="hold" grpId="0" nodeType="withEffect">
                                  <p:stCondLst>
                                    <p:cond delay="0"/>
                                  </p:stCondLst>
                                  <p:childTnLst>
                                    <p:animEffect transition="out" filter="fade">
                                      <p:cBhvr>
                                        <p:cTn id="223" dur="200"/>
                                        <p:tgtEl>
                                          <p:spTgt spid="100"/>
                                        </p:tgtEl>
                                      </p:cBhvr>
                                    </p:animEffect>
                                    <p:set>
                                      <p:cBhvr>
                                        <p:cTn id="224" dur="1" fill="hold">
                                          <p:stCondLst>
                                            <p:cond delay="199"/>
                                          </p:stCondLst>
                                        </p:cTn>
                                        <p:tgtEl>
                                          <p:spTgt spid="100"/>
                                        </p:tgtEl>
                                        <p:attrNameLst>
                                          <p:attrName>style.visibility</p:attrName>
                                        </p:attrNameLst>
                                      </p:cBhvr>
                                      <p:to>
                                        <p:strVal val="hidden"/>
                                      </p:to>
                                    </p:set>
                                  </p:childTnLst>
                                </p:cTn>
                              </p:par>
                              <p:par>
                                <p:cTn id="225" presetID="10" presetClass="exit" presetSubtype="0" fill="hold" grpId="0" nodeType="withEffect">
                                  <p:stCondLst>
                                    <p:cond delay="0"/>
                                  </p:stCondLst>
                                  <p:childTnLst>
                                    <p:animEffect transition="out" filter="fade">
                                      <p:cBhvr>
                                        <p:cTn id="226" dur="200"/>
                                        <p:tgtEl>
                                          <p:spTgt spid="101"/>
                                        </p:tgtEl>
                                      </p:cBhvr>
                                    </p:animEffect>
                                    <p:set>
                                      <p:cBhvr>
                                        <p:cTn id="227" dur="1" fill="hold">
                                          <p:stCondLst>
                                            <p:cond delay="199"/>
                                          </p:stCondLst>
                                        </p:cTn>
                                        <p:tgtEl>
                                          <p:spTgt spid="101"/>
                                        </p:tgtEl>
                                        <p:attrNameLst>
                                          <p:attrName>style.visibility</p:attrName>
                                        </p:attrNameLst>
                                      </p:cBhvr>
                                      <p:to>
                                        <p:strVal val="hidden"/>
                                      </p:to>
                                    </p:set>
                                  </p:childTnLst>
                                </p:cTn>
                              </p:par>
                              <p:par>
                                <p:cTn id="228" presetID="10" presetClass="exit" presetSubtype="0" fill="hold" grpId="0" nodeType="withEffect">
                                  <p:stCondLst>
                                    <p:cond delay="0"/>
                                  </p:stCondLst>
                                  <p:childTnLst>
                                    <p:animEffect transition="out" filter="fade">
                                      <p:cBhvr>
                                        <p:cTn id="229" dur="200"/>
                                        <p:tgtEl>
                                          <p:spTgt spid="102"/>
                                        </p:tgtEl>
                                      </p:cBhvr>
                                    </p:animEffect>
                                    <p:set>
                                      <p:cBhvr>
                                        <p:cTn id="230" dur="1" fill="hold">
                                          <p:stCondLst>
                                            <p:cond delay="199"/>
                                          </p:stCondLst>
                                        </p:cTn>
                                        <p:tgtEl>
                                          <p:spTgt spid="102"/>
                                        </p:tgtEl>
                                        <p:attrNameLst>
                                          <p:attrName>style.visibility</p:attrName>
                                        </p:attrNameLst>
                                      </p:cBhvr>
                                      <p:to>
                                        <p:strVal val="hidden"/>
                                      </p:to>
                                    </p:set>
                                  </p:childTnLst>
                                </p:cTn>
                              </p:par>
                              <p:par>
                                <p:cTn id="231" presetID="10" presetClass="exit" presetSubtype="0" fill="hold" grpId="0" nodeType="withEffect">
                                  <p:stCondLst>
                                    <p:cond delay="0"/>
                                  </p:stCondLst>
                                  <p:childTnLst>
                                    <p:animEffect transition="out" filter="fade">
                                      <p:cBhvr>
                                        <p:cTn id="232" dur="200"/>
                                        <p:tgtEl>
                                          <p:spTgt spid="103"/>
                                        </p:tgtEl>
                                      </p:cBhvr>
                                    </p:animEffect>
                                    <p:set>
                                      <p:cBhvr>
                                        <p:cTn id="233" dur="1" fill="hold">
                                          <p:stCondLst>
                                            <p:cond delay="199"/>
                                          </p:stCondLst>
                                        </p:cTn>
                                        <p:tgtEl>
                                          <p:spTgt spid="103"/>
                                        </p:tgtEl>
                                        <p:attrNameLst>
                                          <p:attrName>style.visibility</p:attrName>
                                        </p:attrNameLst>
                                      </p:cBhvr>
                                      <p:to>
                                        <p:strVal val="hidden"/>
                                      </p:to>
                                    </p:set>
                                  </p:childTnLst>
                                </p:cTn>
                              </p:par>
                              <p:par>
                                <p:cTn id="234" presetID="10" presetClass="exit" presetSubtype="0" fill="hold" grpId="0" nodeType="withEffect">
                                  <p:stCondLst>
                                    <p:cond delay="0"/>
                                  </p:stCondLst>
                                  <p:childTnLst>
                                    <p:animEffect transition="out" filter="fade">
                                      <p:cBhvr>
                                        <p:cTn id="235" dur="200"/>
                                        <p:tgtEl>
                                          <p:spTgt spid="104"/>
                                        </p:tgtEl>
                                      </p:cBhvr>
                                    </p:animEffect>
                                    <p:set>
                                      <p:cBhvr>
                                        <p:cTn id="236" dur="1" fill="hold">
                                          <p:stCondLst>
                                            <p:cond delay="199"/>
                                          </p:stCondLst>
                                        </p:cTn>
                                        <p:tgtEl>
                                          <p:spTgt spid="104"/>
                                        </p:tgtEl>
                                        <p:attrNameLst>
                                          <p:attrName>style.visibility</p:attrName>
                                        </p:attrNameLst>
                                      </p:cBhvr>
                                      <p:to>
                                        <p:strVal val="hidden"/>
                                      </p:to>
                                    </p:set>
                                  </p:childTnLst>
                                </p:cTn>
                              </p:par>
                              <p:par>
                                <p:cTn id="237" presetID="10" presetClass="exit" presetSubtype="0" fill="hold" grpId="0" nodeType="withEffect">
                                  <p:stCondLst>
                                    <p:cond delay="0"/>
                                  </p:stCondLst>
                                  <p:childTnLst>
                                    <p:animEffect transition="out" filter="fade">
                                      <p:cBhvr>
                                        <p:cTn id="238" dur="200"/>
                                        <p:tgtEl>
                                          <p:spTgt spid="105"/>
                                        </p:tgtEl>
                                      </p:cBhvr>
                                    </p:animEffect>
                                    <p:set>
                                      <p:cBhvr>
                                        <p:cTn id="239" dur="1" fill="hold">
                                          <p:stCondLst>
                                            <p:cond delay="199"/>
                                          </p:stCondLst>
                                        </p:cTn>
                                        <p:tgtEl>
                                          <p:spTgt spid="105"/>
                                        </p:tgtEl>
                                        <p:attrNameLst>
                                          <p:attrName>style.visibility</p:attrName>
                                        </p:attrNameLst>
                                      </p:cBhvr>
                                      <p:to>
                                        <p:strVal val="hidden"/>
                                      </p:to>
                                    </p:set>
                                  </p:childTnLst>
                                </p:cTn>
                              </p:par>
                              <p:par>
                                <p:cTn id="240" presetID="10" presetClass="exit" presetSubtype="0" fill="hold" grpId="0" nodeType="withEffect">
                                  <p:stCondLst>
                                    <p:cond delay="0"/>
                                  </p:stCondLst>
                                  <p:childTnLst>
                                    <p:animEffect transition="out" filter="fade">
                                      <p:cBhvr>
                                        <p:cTn id="241" dur="200"/>
                                        <p:tgtEl>
                                          <p:spTgt spid="106"/>
                                        </p:tgtEl>
                                      </p:cBhvr>
                                    </p:animEffect>
                                    <p:set>
                                      <p:cBhvr>
                                        <p:cTn id="242" dur="1" fill="hold">
                                          <p:stCondLst>
                                            <p:cond delay="199"/>
                                          </p:stCondLst>
                                        </p:cTn>
                                        <p:tgtEl>
                                          <p:spTgt spid="106"/>
                                        </p:tgtEl>
                                        <p:attrNameLst>
                                          <p:attrName>style.visibility</p:attrName>
                                        </p:attrNameLst>
                                      </p:cBhvr>
                                      <p:to>
                                        <p:strVal val="hidden"/>
                                      </p:to>
                                    </p:set>
                                  </p:childTnLst>
                                </p:cTn>
                              </p:par>
                              <p:par>
                                <p:cTn id="243" presetID="10" presetClass="exit" presetSubtype="0" fill="hold" grpId="0" nodeType="withEffect">
                                  <p:stCondLst>
                                    <p:cond delay="0"/>
                                  </p:stCondLst>
                                  <p:childTnLst>
                                    <p:animEffect transition="out" filter="fade">
                                      <p:cBhvr>
                                        <p:cTn id="244" dur="200"/>
                                        <p:tgtEl>
                                          <p:spTgt spid="107"/>
                                        </p:tgtEl>
                                      </p:cBhvr>
                                    </p:animEffect>
                                    <p:set>
                                      <p:cBhvr>
                                        <p:cTn id="245" dur="1" fill="hold">
                                          <p:stCondLst>
                                            <p:cond delay="199"/>
                                          </p:stCondLst>
                                        </p:cTn>
                                        <p:tgtEl>
                                          <p:spTgt spid="107"/>
                                        </p:tgtEl>
                                        <p:attrNameLst>
                                          <p:attrName>style.visibility</p:attrName>
                                        </p:attrNameLst>
                                      </p:cBhvr>
                                      <p:to>
                                        <p:strVal val="hidden"/>
                                      </p:to>
                                    </p:set>
                                  </p:childTnLst>
                                </p:cTn>
                              </p:par>
                              <p:par>
                                <p:cTn id="246" presetID="10" presetClass="exit" presetSubtype="0" fill="hold" grpId="0" nodeType="withEffect">
                                  <p:stCondLst>
                                    <p:cond delay="0"/>
                                  </p:stCondLst>
                                  <p:childTnLst>
                                    <p:animEffect transition="out" filter="fade">
                                      <p:cBhvr>
                                        <p:cTn id="247" dur="200"/>
                                        <p:tgtEl>
                                          <p:spTgt spid="108"/>
                                        </p:tgtEl>
                                      </p:cBhvr>
                                    </p:animEffect>
                                    <p:set>
                                      <p:cBhvr>
                                        <p:cTn id="248" dur="1" fill="hold">
                                          <p:stCondLst>
                                            <p:cond delay="199"/>
                                          </p:stCondLst>
                                        </p:cTn>
                                        <p:tgtEl>
                                          <p:spTgt spid="108"/>
                                        </p:tgtEl>
                                        <p:attrNameLst>
                                          <p:attrName>style.visibility</p:attrName>
                                        </p:attrNameLst>
                                      </p:cBhvr>
                                      <p:to>
                                        <p:strVal val="hidden"/>
                                      </p:to>
                                    </p:set>
                                  </p:childTnLst>
                                </p:cTn>
                              </p:par>
                              <p:par>
                                <p:cTn id="249" presetID="10" presetClass="exit" presetSubtype="0" fill="hold" grpId="0" nodeType="withEffect">
                                  <p:stCondLst>
                                    <p:cond delay="0"/>
                                  </p:stCondLst>
                                  <p:childTnLst>
                                    <p:animEffect transition="out" filter="fade">
                                      <p:cBhvr>
                                        <p:cTn id="250" dur="200"/>
                                        <p:tgtEl>
                                          <p:spTgt spid="109"/>
                                        </p:tgtEl>
                                      </p:cBhvr>
                                    </p:animEffect>
                                    <p:set>
                                      <p:cBhvr>
                                        <p:cTn id="251" dur="1" fill="hold">
                                          <p:stCondLst>
                                            <p:cond delay="199"/>
                                          </p:stCondLst>
                                        </p:cTn>
                                        <p:tgtEl>
                                          <p:spTgt spid="109"/>
                                        </p:tgtEl>
                                        <p:attrNameLst>
                                          <p:attrName>style.visibility</p:attrName>
                                        </p:attrNameLst>
                                      </p:cBhvr>
                                      <p:to>
                                        <p:strVal val="hidden"/>
                                      </p:to>
                                    </p:set>
                                  </p:childTnLst>
                                </p:cTn>
                              </p:par>
                              <p:par>
                                <p:cTn id="252" presetID="10" presetClass="exit" presetSubtype="0" fill="hold" grpId="0" nodeType="withEffect">
                                  <p:stCondLst>
                                    <p:cond delay="0"/>
                                  </p:stCondLst>
                                  <p:childTnLst>
                                    <p:animEffect transition="out" filter="fade">
                                      <p:cBhvr>
                                        <p:cTn id="253" dur="200"/>
                                        <p:tgtEl>
                                          <p:spTgt spid="110"/>
                                        </p:tgtEl>
                                      </p:cBhvr>
                                    </p:animEffect>
                                    <p:set>
                                      <p:cBhvr>
                                        <p:cTn id="254" dur="1" fill="hold">
                                          <p:stCondLst>
                                            <p:cond delay="199"/>
                                          </p:stCondLst>
                                        </p:cTn>
                                        <p:tgtEl>
                                          <p:spTgt spid="110"/>
                                        </p:tgtEl>
                                        <p:attrNameLst>
                                          <p:attrName>style.visibility</p:attrName>
                                        </p:attrNameLst>
                                      </p:cBhvr>
                                      <p:to>
                                        <p:strVal val="hidden"/>
                                      </p:to>
                                    </p:set>
                                  </p:childTnLst>
                                </p:cTn>
                              </p:par>
                              <p:par>
                                <p:cTn id="255" presetID="10" presetClass="exit" presetSubtype="0" fill="hold" grpId="0" nodeType="withEffect">
                                  <p:stCondLst>
                                    <p:cond delay="0"/>
                                  </p:stCondLst>
                                  <p:childTnLst>
                                    <p:animEffect transition="out" filter="fade">
                                      <p:cBhvr>
                                        <p:cTn id="256" dur="200"/>
                                        <p:tgtEl>
                                          <p:spTgt spid="111"/>
                                        </p:tgtEl>
                                      </p:cBhvr>
                                    </p:animEffect>
                                    <p:set>
                                      <p:cBhvr>
                                        <p:cTn id="257" dur="1" fill="hold">
                                          <p:stCondLst>
                                            <p:cond delay="199"/>
                                          </p:stCondLst>
                                        </p:cTn>
                                        <p:tgtEl>
                                          <p:spTgt spid="111"/>
                                        </p:tgtEl>
                                        <p:attrNameLst>
                                          <p:attrName>style.visibility</p:attrName>
                                        </p:attrNameLst>
                                      </p:cBhvr>
                                      <p:to>
                                        <p:strVal val="hidden"/>
                                      </p:to>
                                    </p:set>
                                  </p:childTnLst>
                                </p:cTn>
                              </p:par>
                              <p:par>
                                <p:cTn id="258" presetID="10" presetClass="exit" presetSubtype="0" fill="hold" grpId="0" nodeType="withEffect">
                                  <p:stCondLst>
                                    <p:cond delay="0"/>
                                  </p:stCondLst>
                                  <p:childTnLst>
                                    <p:animEffect transition="out" filter="fade">
                                      <p:cBhvr>
                                        <p:cTn id="259" dur="200"/>
                                        <p:tgtEl>
                                          <p:spTgt spid="112"/>
                                        </p:tgtEl>
                                      </p:cBhvr>
                                    </p:animEffect>
                                    <p:set>
                                      <p:cBhvr>
                                        <p:cTn id="260" dur="1" fill="hold">
                                          <p:stCondLst>
                                            <p:cond delay="199"/>
                                          </p:stCondLst>
                                        </p:cTn>
                                        <p:tgtEl>
                                          <p:spTgt spid="112"/>
                                        </p:tgtEl>
                                        <p:attrNameLst>
                                          <p:attrName>style.visibility</p:attrName>
                                        </p:attrNameLst>
                                      </p:cBhvr>
                                      <p:to>
                                        <p:strVal val="hidden"/>
                                      </p:to>
                                    </p:set>
                                  </p:childTnLst>
                                </p:cTn>
                              </p:par>
                              <p:par>
                                <p:cTn id="261" presetID="10" presetClass="exit" presetSubtype="0" fill="hold" grpId="0" nodeType="withEffect">
                                  <p:stCondLst>
                                    <p:cond delay="0"/>
                                  </p:stCondLst>
                                  <p:childTnLst>
                                    <p:animEffect transition="out" filter="fade">
                                      <p:cBhvr>
                                        <p:cTn id="262" dur="200"/>
                                        <p:tgtEl>
                                          <p:spTgt spid="113"/>
                                        </p:tgtEl>
                                      </p:cBhvr>
                                    </p:animEffect>
                                    <p:set>
                                      <p:cBhvr>
                                        <p:cTn id="263" dur="1" fill="hold">
                                          <p:stCondLst>
                                            <p:cond delay="199"/>
                                          </p:stCondLst>
                                        </p:cTn>
                                        <p:tgtEl>
                                          <p:spTgt spid="113"/>
                                        </p:tgtEl>
                                        <p:attrNameLst>
                                          <p:attrName>style.visibility</p:attrName>
                                        </p:attrNameLst>
                                      </p:cBhvr>
                                      <p:to>
                                        <p:strVal val="hidden"/>
                                      </p:to>
                                    </p:set>
                                  </p:childTnLst>
                                </p:cTn>
                              </p:par>
                              <p:par>
                                <p:cTn id="264" presetID="10" presetClass="exit" presetSubtype="0" fill="hold" grpId="0" nodeType="withEffect">
                                  <p:stCondLst>
                                    <p:cond delay="0"/>
                                  </p:stCondLst>
                                  <p:childTnLst>
                                    <p:animEffect transition="out" filter="fade">
                                      <p:cBhvr>
                                        <p:cTn id="265" dur="200"/>
                                        <p:tgtEl>
                                          <p:spTgt spid="114"/>
                                        </p:tgtEl>
                                      </p:cBhvr>
                                    </p:animEffect>
                                    <p:set>
                                      <p:cBhvr>
                                        <p:cTn id="266" dur="1" fill="hold">
                                          <p:stCondLst>
                                            <p:cond delay="199"/>
                                          </p:stCondLst>
                                        </p:cTn>
                                        <p:tgtEl>
                                          <p:spTgt spid="114"/>
                                        </p:tgtEl>
                                        <p:attrNameLst>
                                          <p:attrName>style.visibility</p:attrName>
                                        </p:attrNameLst>
                                      </p:cBhvr>
                                      <p:to>
                                        <p:strVal val="hidden"/>
                                      </p:to>
                                    </p:set>
                                  </p:childTnLst>
                                </p:cTn>
                              </p:par>
                              <p:par>
                                <p:cTn id="267" presetID="10" presetClass="exit" presetSubtype="0" fill="hold" grpId="0" nodeType="withEffect">
                                  <p:stCondLst>
                                    <p:cond delay="0"/>
                                  </p:stCondLst>
                                  <p:childTnLst>
                                    <p:animEffect transition="out" filter="fade">
                                      <p:cBhvr>
                                        <p:cTn id="268" dur="200"/>
                                        <p:tgtEl>
                                          <p:spTgt spid="115"/>
                                        </p:tgtEl>
                                      </p:cBhvr>
                                    </p:animEffect>
                                    <p:set>
                                      <p:cBhvr>
                                        <p:cTn id="269" dur="1" fill="hold">
                                          <p:stCondLst>
                                            <p:cond delay="199"/>
                                          </p:stCondLst>
                                        </p:cTn>
                                        <p:tgtEl>
                                          <p:spTgt spid="115"/>
                                        </p:tgtEl>
                                        <p:attrNameLst>
                                          <p:attrName>style.visibility</p:attrName>
                                        </p:attrNameLst>
                                      </p:cBhvr>
                                      <p:to>
                                        <p:strVal val="hidden"/>
                                      </p:to>
                                    </p:set>
                                  </p:childTnLst>
                                </p:cTn>
                              </p:par>
                              <p:par>
                                <p:cTn id="270" presetID="10" presetClass="exit" presetSubtype="0" fill="hold" grpId="0" nodeType="withEffect">
                                  <p:stCondLst>
                                    <p:cond delay="0"/>
                                  </p:stCondLst>
                                  <p:childTnLst>
                                    <p:animEffect transition="out" filter="fade">
                                      <p:cBhvr>
                                        <p:cTn id="271" dur="200"/>
                                        <p:tgtEl>
                                          <p:spTgt spid="116"/>
                                        </p:tgtEl>
                                      </p:cBhvr>
                                    </p:animEffect>
                                    <p:set>
                                      <p:cBhvr>
                                        <p:cTn id="272" dur="1" fill="hold">
                                          <p:stCondLst>
                                            <p:cond delay="199"/>
                                          </p:stCondLst>
                                        </p:cTn>
                                        <p:tgtEl>
                                          <p:spTgt spid="116"/>
                                        </p:tgtEl>
                                        <p:attrNameLst>
                                          <p:attrName>style.visibility</p:attrName>
                                        </p:attrNameLst>
                                      </p:cBhvr>
                                      <p:to>
                                        <p:strVal val="hidden"/>
                                      </p:to>
                                    </p:set>
                                  </p:childTnLst>
                                </p:cTn>
                              </p:par>
                              <p:par>
                                <p:cTn id="273" presetID="10" presetClass="entr" presetSubtype="0" fill="hold" grpId="0" nodeType="withEffect">
                                  <p:stCondLst>
                                    <p:cond delay="200"/>
                                  </p:stCondLst>
                                  <p:childTnLst>
                                    <p:set>
                                      <p:cBhvr>
                                        <p:cTn id="274" dur="1" fill="hold">
                                          <p:stCondLst>
                                            <p:cond delay="0"/>
                                          </p:stCondLst>
                                        </p:cTn>
                                        <p:tgtEl>
                                          <p:spTgt spid="25"/>
                                        </p:tgtEl>
                                        <p:attrNameLst>
                                          <p:attrName>style.visibility</p:attrName>
                                        </p:attrNameLst>
                                      </p:cBhvr>
                                      <p:to>
                                        <p:strVal val="visible"/>
                                      </p:to>
                                    </p:set>
                                    <p:animEffect transition="in" filter="fade">
                                      <p:cBhvr>
                                        <p:cTn id="275" dur="400"/>
                                        <p:tgtEl>
                                          <p:spTgt spid="25"/>
                                        </p:tgtEl>
                                      </p:cBhvr>
                                    </p:animEffect>
                                  </p:childTnLst>
                                </p:cTn>
                              </p:par>
                              <p:par>
                                <p:cTn id="276" presetID="10" presetClass="entr" presetSubtype="0" fill="hold" grpId="0" nodeType="withEffect">
                                  <p:stCondLst>
                                    <p:cond delay="200"/>
                                  </p:stCondLst>
                                  <p:childTnLst>
                                    <p:set>
                                      <p:cBhvr>
                                        <p:cTn id="277" dur="1" fill="hold">
                                          <p:stCondLst>
                                            <p:cond delay="0"/>
                                          </p:stCondLst>
                                        </p:cTn>
                                        <p:tgtEl>
                                          <p:spTgt spid="26"/>
                                        </p:tgtEl>
                                        <p:attrNameLst>
                                          <p:attrName>style.visibility</p:attrName>
                                        </p:attrNameLst>
                                      </p:cBhvr>
                                      <p:to>
                                        <p:strVal val="visible"/>
                                      </p:to>
                                    </p:set>
                                    <p:animEffect transition="in" filter="fade">
                                      <p:cBhvr>
                                        <p:cTn id="278" dur="400"/>
                                        <p:tgtEl>
                                          <p:spTgt spid="26"/>
                                        </p:tgtEl>
                                      </p:cBhvr>
                                    </p:animEffect>
                                  </p:childTnLst>
                                </p:cTn>
                              </p:par>
                              <p:par>
                                <p:cTn id="279" presetID="10" presetClass="entr" presetSubtype="0" fill="hold" grpId="0" nodeType="withEffect">
                                  <p:stCondLst>
                                    <p:cond delay="200"/>
                                  </p:stCondLst>
                                  <p:childTnLst>
                                    <p:set>
                                      <p:cBhvr>
                                        <p:cTn id="280" dur="1" fill="hold">
                                          <p:stCondLst>
                                            <p:cond delay="0"/>
                                          </p:stCondLst>
                                        </p:cTn>
                                        <p:tgtEl>
                                          <p:spTgt spid="27"/>
                                        </p:tgtEl>
                                        <p:attrNameLst>
                                          <p:attrName>style.visibility</p:attrName>
                                        </p:attrNameLst>
                                      </p:cBhvr>
                                      <p:to>
                                        <p:strVal val="visible"/>
                                      </p:to>
                                    </p:set>
                                    <p:animEffect transition="in" filter="fade">
                                      <p:cBhvr>
                                        <p:cTn id="281" dur="400"/>
                                        <p:tgtEl>
                                          <p:spTgt spid="27"/>
                                        </p:tgtEl>
                                      </p:cBhvr>
                                    </p:animEffect>
                                  </p:childTnLst>
                                </p:cTn>
                              </p:par>
                              <p:par>
                                <p:cTn id="282" presetID="10" presetClass="entr" presetSubtype="0" fill="hold" grpId="0" nodeType="withEffect">
                                  <p:stCondLst>
                                    <p:cond delay="200"/>
                                  </p:stCondLst>
                                  <p:childTnLst>
                                    <p:set>
                                      <p:cBhvr>
                                        <p:cTn id="283" dur="1" fill="hold">
                                          <p:stCondLst>
                                            <p:cond delay="0"/>
                                          </p:stCondLst>
                                        </p:cTn>
                                        <p:tgtEl>
                                          <p:spTgt spid="28"/>
                                        </p:tgtEl>
                                        <p:attrNameLst>
                                          <p:attrName>style.visibility</p:attrName>
                                        </p:attrNameLst>
                                      </p:cBhvr>
                                      <p:to>
                                        <p:strVal val="visible"/>
                                      </p:to>
                                    </p:set>
                                    <p:animEffect transition="in" filter="fade">
                                      <p:cBhvr>
                                        <p:cTn id="284" dur="400"/>
                                        <p:tgtEl>
                                          <p:spTgt spid="28"/>
                                        </p:tgtEl>
                                      </p:cBhvr>
                                    </p:animEffect>
                                  </p:childTnLst>
                                </p:cTn>
                              </p:par>
                            </p:childTnLst>
                          </p:cTn>
                        </p:par>
                      </p:childTnLst>
                    </p:cTn>
                  </p:par>
                  <p:par>
                    <p:cTn id="334" fill="hold">
                      <p:stCondLst>
                        <p:cond delay="indefinite"/>
                      </p:stCondLst>
                      <p:childTnLst>
                        <p:par>
                          <p:cTn id="335" fill="hold">
                            <p:stCondLst>
                              <p:cond delay="0"/>
                            </p:stCondLst>
                            <p:childTnLst>
                              <p:par>
                                <p:cTn id="285" presetID="10" presetClass="exit" presetSubtype="0" fill="hold" grpId="1" nodeType="clickEffect">
                                  <p:stCondLst>
                                    <p:cond delay="0"/>
                                  </p:stCondLst>
                                  <p:childTnLst>
                                    <p:animEffect transition="out" filter="fade">
                                      <p:cBhvr>
                                        <p:cTn id="286" dur="200"/>
                                        <p:tgtEl>
                                          <p:spTgt spid="25"/>
                                        </p:tgtEl>
                                      </p:cBhvr>
                                    </p:animEffect>
                                    <p:set>
                                      <p:cBhvr>
                                        <p:cTn id="287" dur="1" fill="hold">
                                          <p:stCondLst>
                                            <p:cond delay="199"/>
                                          </p:stCondLst>
                                        </p:cTn>
                                        <p:tgtEl>
                                          <p:spTgt spid="25"/>
                                        </p:tgtEl>
                                        <p:attrNameLst>
                                          <p:attrName>style.visibility</p:attrName>
                                        </p:attrNameLst>
                                      </p:cBhvr>
                                      <p:to>
                                        <p:strVal val="hidden"/>
                                      </p:to>
                                    </p:set>
                                  </p:childTnLst>
                                </p:cTn>
                              </p:par>
                              <p:par>
                                <p:cTn id="288" presetID="10" presetClass="exit" presetSubtype="0" fill="hold" grpId="1" nodeType="withEffect">
                                  <p:stCondLst>
                                    <p:cond delay="0"/>
                                  </p:stCondLst>
                                  <p:childTnLst>
                                    <p:animEffect transition="out" filter="fade">
                                      <p:cBhvr>
                                        <p:cTn id="289" dur="200"/>
                                        <p:tgtEl>
                                          <p:spTgt spid="26"/>
                                        </p:tgtEl>
                                      </p:cBhvr>
                                    </p:animEffect>
                                    <p:set>
                                      <p:cBhvr>
                                        <p:cTn id="290" dur="1" fill="hold">
                                          <p:stCondLst>
                                            <p:cond delay="199"/>
                                          </p:stCondLst>
                                        </p:cTn>
                                        <p:tgtEl>
                                          <p:spTgt spid="26"/>
                                        </p:tgtEl>
                                        <p:attrNameLst>
                                          <p:attrName>style.visibility</p:attrName>
                                        </p:attrNameLst>
                                      </p:cBhvr>
                                      <p:to>
                                        <p:strVal val="hidden"/>
                                      </p:to>
                                    </p:set>
                                  </p:childTnLst>
                                </p:cTn>
                              </p:par>
                              <p:par>
                                <p:cTn id="291" presetID="10" presetClass="exit" presetSubtype="0" fill="hold" grpId="1" nodeType="withEffect">
                                  <p:stCondLst>
                                    <p:cond delay="0"/>
                                  </p:stCondLst>
                                  <p:childTnLst>
                                    <p:animEffect transition="out" filter="fade">
                                      <p:cBhvr>
                                        <p:cTn id="292" dur="200"/>
                                        <p:tgtEl>
                                          <p:spTgt spid="27"/>
                                        </p:tgtEl>
                                      </p:cBhvr>
                                    </p:animEffect>
                                    <p:set>
                                      <p:cBhvr>
                                        <p:cTn id="293" dur="1" fill="hold">
                                          <p:stCondLst>
                                            <p:cond delay="199"/>
                                          </p:stCondLst>
                                        </p:cTn>
                                        <p:tgtEl>
                                          <p:spTgt spid="27"/>
                                        </p:tgtEl>
                                        <p:attrNameLst>
                                          <p:attrName>style.visibility</p:attrName>
                                        </p:attrNameLst>
                                      </p:cBhvr>
                                      <p:to>
                                        <p:strVal val="hidden"/>
                                      </p:to>
                                    </p:set>
                                  </p:childTnLst>
                                </p:cTn>
                              </p:par>
                              <p:par>
                                <p:cTn id="294" presetID="10" presetClass="exit" presetSubtype="0" fill="hold" grpId="1" nodeType="withEffect">
                                  <p:stCondLst>
                                    <p:cond delay="0"/>
                                  </p:stCondLst>
                                  <p:childTnLst>
                                    <p:animEffect transition="out" filter="fade">
                                      <p:cBhvr>
                                        <p:cTn id="295" dur="200"/>
                                        <p:tgtEl>
                                          <p:spTgt spid="28"/>
                                        </p:tgtEl>
                                      </p:cBhvr>
                                    </p:animEffect>
                                    <p:set>
                                      <p:cBhvr>
                                        <p:cTn id="296" dur="1" fill="hold">
                                          <p:stCondLst>
                                            <p:cond delay="199"/>
                                          </p:stCondLst>
                                        </p:cTn>
                                        <p:tgtEl>
                                          <p:spTgt spid="28"/>
                                        </p:tgtEl>
                                        <p:attrNameLst>
                                          <p:attrName>style.visibility</p:attrName>
                                        </p:attrNameLst>
                                      </p:cBhvr>
                                      <p:to>
                                        <p:strVal val="hidden"/>
                                      </p:to>
                                    </p:set>
                                  </p:childTnLst>
                                </p:cTn>
                              </p:par>
                              <p:par>
                                <p:cTn id="297" presetID="10" presetClass="entr" presetSubtype="0" fill="hold" grpId="0" nodeType="withEffect">
                                  <p:stCondLst>
                                    <p:cond delay="200"/>
                                  </p:stCondLst>
                                  <p:childTnLst>
                                    <p:set>
                                      <p:cBhvr>
                                        <p:cTn id="298" dur="1" fill="hold">
                                          <p:stCondLst>
                                            <p:cond delay="0"/>
                                          </p:stCondLst>
                                        </p:cTn>
                                        <p:tgtEl>
                                          <p:spTgt spid="14"/>
                                        </p:tgtEl>
                                        <p:attrNameLst>
                                          <p:attrName>style.visibility</p:attrName>
                                        </p:attrNameLst>
                                      </p:cBhvr>
                                      <p:to>
                                        <p:strVal val="visible"/>
                                      </p:to>
                                    </p:set>
                                    <p:animEffect transition="in" filter="fade">
                                      <p:cBhvr>
                                        <p:cTn id="299" dur="400"/>
                                        <p:tgtEl>
                                          <p:spTgt spid="14"/>
                                        </p:tgtEl>
                                      </p:cBhvr>
                                    </p:animEffect>
                                  </p:childTnLst>
                                </p:cTn>
                              </p:par>
                              <p:par>
                                <p:cTn id="300" presetID="10" presetClass="entr" presetSubtype="0" fill="hold" grpId="0" nodeType="withEffect">
                                  <p:stCondLst>
                                    <p:cond delay="200"/>
                                  </p:stCondLst>
                                  <p:childTnLst>
                                    <p:set>
                                      <p:cBhvr>
                                        <p:cTn id="301" dur="1" fill="hold">
                                          <p:stCondLst>
                                            <p:cond delay="0"/>
                                          </p:stCondLst>
                                        </p:cTn>
                                        <p:tgtEl>
                                          <p:spTgt spid="15"/>
                                        </p:tgtEl>
                                        <p:attrNameLst>
                                          <p:attrName>style.visibility</p:attrName>
                                        </p:attrNameLst>
                                      </p:cBhvr>
                                      <p:to>
                                        <p:strVal val="visible"/>
                                      </p:to>
                                    </p:set>
                                    <p:animEffect transition="in" filter="fade">
                                      <p:cBhvr>
                                        <p:cTn id="302" dur="400"/>
                                        <p:tgtEl>
                                          <p:spTgt spid="15"/>
                                        </p:tgtEl>
                                      </p:cBhvr>
                                    </p:animEffect>
                                  </p:childTnLst>
                                </p:cTn>
                              </p:par>
                              <p:par>
                                <p:cTn id="303" presetID="10" presetClass="entr" presetSubtype="0" fill="hold" grpId="0" nodeType="withEffect">
                                  <p:stCondLst>
                                    <p:cond delay="200"/>
                                  </p:stCondLst>
                                  <p:childTnLst>
                                    <p:set>
                                      <p:cBhvr>
                                        <p:cTn id="304" dur="1" fill="hold">
                                          <p:stCondLst>
                                            <p:cond delay="0"/>
                                          </p:stCondLst>
                                        </p:cTn>
                                        <p:tgtEl>
                                          <p:spTgt spid="16"/>
                                        </p:tgtEl>
                                        <p:attrNameLst>
                                          <p:attrName>style.visibility</p:attrName>
                                        </p:attrNameLst>
                                      </p:cBhvr>
                                      <p:to>
                                        <p:strVal val="visible"/>
                                      </p:to>
                                    </p:set>
                                    <p:animEffect transition="in" filter="fade">
                                      <p:cBhvr>
                                        <p:cTn id="305" dur="400"/>
                                        <p:tgtEl>
                                          <p:spTgt spid="16"/>
                                        </p:tgtEl>
                                      </p:cBhvr>
                                    </p:animEffect>
                                  </p:childTnLst>
                                </p:cTn>
                              </p:par>
                              <p:par>
                                <p:cTn id="306" presetID="10" presetClass="entr" presetSubtype="0" fill="hold" grpId="0" nodeType="withEffect">
                                  <p:stCondLst>
                                    <p:cond delay="200"/>
                                  </p:stCondLst>
                                  <p:childTnLst>
                                    <p:set>
                                      <p:cBhvr>
                                        <p:cTn id="307" dur="1" fill="hold">
                                          <p:stCondLst>
                                            <p:cond delay="0"/>
                                          </p:stCondLst>
                                        </p:cTn>
                                        <p:tgtEl>
                                          <p:spTgt spid="17"/>
                                        </p:tgtEl>
                                        <p:attrNameLst>
                                          <p:attrName>style.visibility</p:attrName>
                                        </p:attrNameLst>
                                      </p:cBhvr>
                                      <p:to>
                                        <p:strVal val="visible"/>
                                      </p:to>
                                    </p:set>
                                    <p:animEffect transition="in" filter="fade">
                                      <p:cBhvr>
                                        <p:cTn id="308" dur="400"/>
                                        <p:tgtEl>
                                          <p:spTgt spid="17"/>
                                        </p:tgtEl>
                                      </p:cBhvr>
                                    </p:animEffect>
                                  </p:childTnLst>
                                </p:cTn>
                              </p:par>
                              <p:par>
                                <p:cTn id="309" presetID="10" presetClass="entr" presetSubtype="0" fill="hold" grpId="0" nodeType="withEffect">
                                  <p:stCondLst>
                                    <p:cond delay="200"/>
                                  </p:stCondLst>
                                  <p:childTnLst>
                                    <p:set>
                                      <p:cBhvr>
                                        <p:cTn id="310" dur="1" fill="hold">
                                          <p:stCondLst>
                                            <p:cond delay="0"/>
                                          </p:stCondLst>
                                        </p:cTn>
                                        <p:tgtEl>
                                          <p:spTgt spid="18"/>
                                        </p:tgtEl>
                                        <p:attrNameLst>
                                          <p:attrName>style.visibility</p:attrName>
                                        </p:attrNameLst>
                                      </p:cBhvr>
                                      <p:to>
                                        <p:strVal val="visible"/>
                                      </p:to>
                                    </p:set>
                                    <p:animEffect transition="in" filter="fade">
                                      <p:cBhvr>
                                        <p:cTn id="311" dur="400"/>
                                        <p:tgtEl>
                                          <p:spTgt spid="18"/>
                                        </p:tgtEl>
                                      </p:cBhvr>
                                    </p:animEffect>
                                  </p:childTnLst>
                                </p:cTn>
                              </p:par>
                              <p:par>
                                <p:cTn id="312" presetID="10" presetClass="entr" presetSubtype="0" fill="hold" grpId="0" nodeType="withEffect">
                                  <p:stCondLst>
                                    <p:cond delay="200"/>
                                  </p:stCondLst>
                                  <p:childTnLst>
                                    <p:set>
                                      <p:cBhvr>
                                        <p:cTn id="313" dur="1" fill="hold">
                                          <p:stCondLst>
                                            <p:cond delay="0"/>
                                          </p:stCondLst>
                                        </p:cTn>
                                        <p:tgtEl>
                                          <p:spTgt spid="19"/>
                                        </p:tgtEl>
                                        <p:attrNameLst>
                                          <p:attrName>style.visibility</p:attrName>
                                        </p:attrNameLst>
                                      </p:cBhvr>
                                      <p:to>
                                        <p:strVal val="visible"/>
                                      </p:to>
                                    </p:set>
                                    <p:animEffect transition="in" filter="fade">
                                      <p:cBhvr>
                                        <p:cTn id="314" dur="400"/>
                                        <p:tgtEl>
                                          <p:spTgt spid="19"/>
                                        </p:tgtEl>
                                      </p:cBhvr>
                                    </p:animEffect>
                                  </p:childTnLst>
                                </p:cTn>
                              </p:par>
                              <p:par>
                                <p:cTn id="315" presetID="10" presetClass="entr" presetSubtype="0" fill="hold" grpId="0" nodeType="withEffect">
                                  <p:stCondLst>
                                    <p:cond delay="200"/>
                                  </p:stCondLst>
                                  <p:childTnLst>
                                    <p:set>
                                      <p:cBhvr>
                                        <p:cTn id="316" dur="1" fill="hold">
                                          <p:stCondLst>
                                            <p:cond delay="0"/>
                                          </p:stCondLst>
                                        </p:cTn>
                                        <p:tgtEl>
                                          <p:spTgt spid="20"/>
                                        </p:tgtEl>
                                        <p:attrNameLst>
                                          <p:attrName>style.visibility</p:attrName>
                                        </p:attrNameLst>
                                      </p:cBhvr>
                                      <p:to>
                                        <p:strVal val="visible"/>
                                      </p:to>
                                    </p:set>
                                    <p:animEffect transition="in" filter="fade">
                                      <p:cBhvr>
                                        <p:cTn id="317" dur="400"/>
                                        <p:tgtEl>
                                          <p:spTgt spid="20"/>
                                        </p:tgtEl>
                                      </p:cBhvr>
                                    </p:animEffect>
                                  </p:childTnLst>
                                </p:cTn>
                              </p:par>
                              <p:par>
                                <p:cTn id="318" presetID="10" presetClass="entr" presetSubtype="0" fill="hold" grpId="0" nodeType="withEffect">
                                  <p:stCondLst>
                                    <p:cond delay="200"/>
                                  </p:stCondLst>
                                  <p:childTnLst>
                                    <p:set>
                                      <p:cBhvr>
                                        <p:cTn id="319" dur="1" fill="hold">
                                          <p:stCondLst>
                                            <p:cond delay="0"/>
                                          </p:stCondLst>
                                        </p:cTn>
                                        <p:tgtEl>
                                          <p:spTgt spid="21"/>
                                        </p:tgtEl>
                                        <p:attrNameLst>
                                          <p:attrName>style.visibility</p:attrName>
                                        </p:attrNameLst>
                                      </p:cBhvr>
                                      <p:to>
                                        <p:strVal val="visible"/>
                                      </p:to>
                                    </p:set>
                                    <p:animEffect transition="in" filter="fade">
                                      <p:cBhvr>
                                        <p:cTn id="320" dur="400"/>
                                        <p:tgtEl>
                                          <p:spTgt spid="21"/>
                                        </p:tgtEl>
                                      </p:cBhvr>
                                    </p:animEffect>
                                  </p:childTnLst>
                                </p:cTn>
                              </p:par>
                              <p:par>
                                <p:cTn id="321" presetID="10" presetClass="entr" presetSubtype="0" fill="hold" grpId="0" nodeType="withEffect">
                                  <p:stCondLst>
                                    <p:cond delay="200"/>
                                  </p:stCondLst>
                                  <p:childTnLst>
                                    <p:set>
                                      <p:cBhvr>
                                        <p:cTn id="322" dur="1" fill="hold">
                                          <p:stCondLst>
                                            <p:cond delay="0"/>
                                          </p:stCondLst>
                                        </p:cTn>
                                        <p:tgtEl>
                                          <p:spTgt spid="22"/>
                                        </p:tgtEl>
                                        <p:attrNameLst>
                                          <p:attrName>style.visibility</p:attrName>
                                        </p:attrNameLst>
                                      </p:cBhvr>
                                      <p:to>
                                        <p:strVal val="visible"/>
                                      </p:to>
                                    </p:set>
                                    <p:animEffect transition="in" filter="fade">
                                      <p:cBhvr>
                                        <p:cTn id="323" dur="400"/>
                                        <p:tgtEl>
                                          <p:spTgt spid="22"/>
                                        </p:tgtEl>
                                      </p:cBhvr>
                                    </p:animEffect>
                                  </p:childTnLst>
                                </p:cTn>
                              </p:par>
                              <p:par>
                                <p:cTn id="324" presetID="10" presetClass="entr" presetSubtype="0" fill="hold" grpId="0" nodeType="withEffect">
                                  <p:stCondLst>
                                    <p:cond delay="200"/>
                                  </p:stCondLst>
                                  <p:childTnLst>
                                    <p:set>
                                      <p:cBhvr>
                                        <p:cTn id="325" dur="1" fill="hold">
                                          <p:stCondLst>
                                            <p:cond delay="0"/>
                                          </p:stCondLst>
                                        </p:cTn>
                                        <p:tgtEl>
                                          <p:spTgt spid="23"/>
                                        </p:tgtEl>
                                        <p:attrNameLst>
                                          <p:attrName>style.visibility</p:attrName>
                                        </p:attrNameLst>
                                      </p:cBhvr>
                                      <p:to>
                                        <p:strVal val="visible"/>
                                      </p:to>
                                    </p:set>
                                    <p:animEffect transition="in" filter="fade">
                                      <p:cBhvr>
                                        <p:cTn id="326" dur="400"/>
                                        <p:tgtEl>
                                          <p:spTgt spid="23"/>
                                        </p:tgtEl>
                                      </p:cBhvr>
                                    </p:animEffect>
                                  </p:childTnLst>
                                </p:cTn>
                              </p:par>
                              <p:par>
                                <p:cTn id="327" presetID="10" presetClass="entr" presetSubtype="0" fill="hold" grpId="0" nodeType="withEffect">
                                  <p:stCondLst>
                                    <p:cond delay="200"/>
                                  </p:stCondLst>
                                  <p:childTnLst>
                                    <p:set>
                                      <p:cBhvr>
                                        <p:cTn id="328" dur="1" fill="hold">
                                          <p:stCondLst>
                                            <p:cond delay="0"/>
                                          </p:stCondLst>
                                        </p:cTn>
                                        <p:tgtEl>
                                          <p:spTgt spid="24"/>
                                        </p:tgtEl>
                                        <p:attrNameLst>
                                          <p:attrName>style.visibility</p:attrName>
                                        </p:attrNameLst>
                                      </p:cBhvr>
                                      <p:to>
                                        <p:strVal val="visible"/>
                                      </p:to>
                                    </p:set>
                                    <p:animEffect transition="in" filter="fade">
                                      <p:cBhvr>
                                        <p:cTn id="32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7" grpId="0" animBg="1"/>
      <p:bldP spid="27" grpId="1" animBg="1"/>
      <p:bldP spid="28" grpId="0" animBg="1"/>
      <p:bldP spid="28" grpId="1"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04</a:t>
            </a:r>
          </a:p>
        </p:txBody>
      </p:sp>
      <p:sp>
        <p:nvSpPr>
          <p:cNvPr id="4" name="TextBox 3"/>
          <p:cNvSpPr txBox="1"/>
          <p:nvPr/>
        </p:nvSpPr>
        <p:spPr>
          <a:xfrm>
            <a:off x="898398" y="282141"/>
            <a:ext cx="215950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Presentación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Cobertura del procedimiento: las nueve etapas, a la vista</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2635250" cy="1536700"/>
          </a:xfrm>
          <a:prstGeom prst="roundRect">
            <a:avLst>
              <a:gd name="adj" fmla="val 475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300" y="1487488"/>
            <a:ext cx="2324100" cy="609600"/>
          </a:xfrm>
          <a:prstGeom prst="rect">
            <a:avLst/>
          </a:prstGeom>
          <a:noFill/>
        </p:spPr>
        <p:txBody>
          <a:bodyPr wrap="square" lIns="0" rIns="0" tIns="0" bIns="0" anchor="t"/>
          <a:lstStyle/>
          <a:p>
            <a:pPr algn="l">
              <a:lnSpc>
                <a:spcPts val="4800"/>
              </a:lnSpc>
              <a:spcBef>
                <a:spcPts val="0"/>
              </a:spcBef>
              <a:spcAft>
                <a:spcPts val="0"/>
              </a:spcAft>
            </a:pPr>
            <a:r>
              <a:rPr sz="4800" b="1" i="0">
                <a:solidFill>
                  <a:srgbClr val="E8741A"/>
                </a:solidFill>
                <a:latin typeface="Calibri"/>
              </a:rPr>
              <a:t>7</a:t>
            </a:r>
            <a:r>
              <a:rPr sz="2160" b="1" i="0">
                <a:solidFill>
                  <a:srgbClr val="3F4A5A"/>
                </a:solidFill>
                <a:latin typeface="Calibri"/>
              </a:rPr>
              <a:t>de 7</a:t>
            </a:r>
          </a:p>
        </p:txBody>
      </p:sp>
      <p:sp>
        <p:nvSpPr>
          <p:cNvPr id="15" name="TextBox 14"/>
          <p:cNvSpPr txBox="1"/>
          <p:nvPr/>
        </p:nvSpPr>
        <p:spPr>
          <a:xfrm>
            <a:off x="749300" y="2127186"/>
            <a:ext cx="2324100" cy="412750"/>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etapas con</a:t>
            </a:r>
            <a:r>
              <a:rPr sz="1300" b="1" i="0">
                <a:solidFill>
                  <a:srgbClr val="5B6575"/>
                </a:solidFill>
                <a:latin typeface="Calibri"/>
              </a:rPr>
              <a:t> módulo educativo</a:t>
            </a:r>
            <a:br/>
            <a:r>
              <a:rPr sz="1300" b="0" i="0">
                <a:solidFill>
                  <a:srgbClr val="5B6575"/>
                </a:solidFill>
                <a:latin typeface="Calibri"/>
              </a:rPr>
              <a:t>(M1–M7)</a:t>
            </a:r>
          </a:p>
        </p:txBody>
      </p:sp>
      <p:sp>
        <p:nvSpPr>
          <p:cNvPr id="16" name="Rounded Rectangle 15"/>
          <p:cNvSpPr/>
          <p:nvPr/>
        </p:nvSpPr>
        <p:spPr>
          <a:xfrm>
            <a:off x="3375025" y="1283272"/>
            <a:ext cx="2635250" cy="1536700"/>
          </a:xfrm>
          <a:prstGeom prst="roundRect">
            <a:avLst>
              <a:gd name="adj" fmla="val 475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000" y="1487488"/>
            <a:ext cx="2324100" cy="609600"/>
          </a:xfrm>
          <a:prstGeom prst="rect">
            <a:avLst/>
          </a:prstGeom>
          <a:noFill/>
        </p:spPr>
        <p:txBody>
          <a:bodyPr wrap="square" lIns="0" rIns="0" tIns="0" bIns="0" anchor="t"/>
          <a:lstStyle/>
          <a:p>
            <a:pPr algn="l">
              <a:lnSpc>
                <a:spcPts val="4800"/>
              </a:lnSpc>
              <a:spcBef>
                <a:spcPts val="0"/>
              </a:spcBef>
              <a:spcAft>
                <a:spcPts val="0"/>
              </a:spcAft>
            </a:pPr>
            <a:r>
              <a:rPr sz="4800" b="1" i="0">
                <a:solidFill>
                  <a:srgbClr val="E8741A"/>
                </a:solidFill>
                <a:latin typeface="Calibri"/>
              </a:rPr>
              <a:t>9</a:t>
            </a:r>
            <a:r>
              <a:rPr sz="2160" b="1" i="0">
                <a:solidFill>
                  <a:srgbClr val="3F4A5A"/>
                </a:solidFill>
                <a:latin typeface="Calibri"/>
              </a:rPr>
              <a:t>de 9</a:t>
            </a:r>
          </a:p>
        </p:txBody>
      </p:sp>
      <p:sp>
        <p:nvSpPr>
          <p:cNvPr id="18" name="TextBox 17"/>
          <p:cNvSpPr txBox="1"/>
          <p:nvPr/>
        </p:nvSpPr>
        <p:spPr>
          <a:xfrm>
            <a:off x="3556000" y="2127186"/>
            <a:ext cx="2324100" cy="412750"/>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etapas desarrolladas en la</a:t>
            </a:r>
            <a:br/>
            <a:r>
              <a:rPr sz="1300" b="1" i="0">
                <a:solidFill>
                  <a:srgbClr val="5B6575"/>
                </a:solidFill>
                <a:latin typeface="Calibri"/>
              </a:rPr>
              <a:t>memoria de cálculo</a:t>
            </a:r>
          </a:p>
        </p:txBody>
      </p:sp>
      <p:sp>
        <p:nvSpPr>
          <p:cNvPr id="19" name="Rounded Rectangle 18"/>
          <p:cNvSpPr/>
          <p:nvPr/>
        </p:nvSpPr>
        <p:spPr>
          <a:xfrm>
            <a:off x="6181725" y="1283272"/>
            <a:ext cx="2635250" cy="1536700"/>
          </a:xfrm>
          <a:prstGeom prst="roundRect">
            <a:avLst>
              <a:gd name="adj" fmla="val 475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2700" y="1487488"/>
            <a:ext cx="2324100" cy="609600"/>
          </a:xfrm>
          <a:prstGeom prst="rect">
            <a:avLst/>
          </a:prstGeom>
          <a:noFill/>
        </p:spPr>
        <p:txBody>
          <a:bodyPr wrap="square" lIns="0" rIns="0" tIns="0" bIns="0" anchor="t"/>
          <a:lstStyle/>
          <a:p>
            <a:pPr algn="l">
              <a:lnSpc>
                <a:spcPts val="4800"/>
              </a:lnSpc>
              <a:spcBef>
                <a:spcPts val="0"/>
              </a:spcBef>
              <a:spcAft>
                <a:spcPts val="0"/>
              </a:spcAft>
            </a:pPr>
            <a:r>
              <a:rPr sz="4800" b="1" i="0">
                <a:solidFill>
                  <a:srgbClr val="E8741A"/>
                </a:solidFill>
                <a:latin typeface="Calibri"/>
              </a:rPr>
              <a:t>3</a:t>
            </a:r>
            <a:r>
              <a:rPr sz="2160" b="1" i="0">
                <a:solidFill>
                  <a:srgbClr val="3F4A5A"/>
                </a:solidFill>
                <a:latin typeface="Calibri"/>
              </a:rPr>
              <a:t>de 3</a:t>
            </a:r>
          </a:p>
        </p:txBody>
      </p:sp>
      <p:sp>
        <p:nvSpPr>
          <p:cNvPr id="21" name="TextBox 20"/>
          <p:cNvSpPr txBox="1"/>
          <p:nvPr/>
        </p:nvSpPr>
        <p:spPr>
          <a:xfrm>
            <a:off x="6362700" y="2127186"/>
            <a:ext cx="2324100" cy="412750"/>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fases del análisis sobre</a:t>
            </a:r>
            <a:r>
              <a:rPr sz="1300" b="1" i="0">
                <a:solidFill>
                  <a:srgbClr val="5B6575"/>
                </a:solidFill>
                <a:latin typeface="Calibri"/>
              </a:rPr>
              <a:t> un mismo</a:t>
            </a:r>
            <a:br/>
            <a:r>
              <a:rPr sz="1300" b="1" i="0">
                <a:solidFill>
                  <a:srgbClr val="5B6575"/>
                </a:solidFill>
                <a:latin typeface="Calibri"/>
              </a:rPr>
              <a:t>lienzo</a:t>
            </a:r>
          </a:p>
        </p:txBody>
      </p:sp>
      <p:sp>
        <p:nvSpPr>
          <p:cNvPr id="22" name="Rounded Rectangle 21"/>
          <p:cNvSpPr/>
          <p:nvPr/>
        </p:nvSpPr>
        <p:spPr>
          <a:xfrm>
            <a:off x="8988425" y="1283272"/>
            <a:ext cx="2635250" cy="1536700"/>
          </a:xfrm>
          <a:prstGeom prst="roundRect">
            <a:avLst>
              <a:gd name="adj" fmla="val 475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69400" y="1604772"/>
            <a:ext cx="2324100" cy="495300"/>
          </a:xfrm>
          <a:prstGeom prst="rect">
            <a:avLst/>
          </a:prstGeom>
          <a:noFill/>
        </p:spPr>
        <p:txBody>
          <a:bodyPr wrap="square" lIns="0" rIns="0" tIns="0" bIns="0" anchor="t"/>
          <a:lstStyle/>
          <a:p>
            <a:pPr algn="l">
              <a:lnSpc>
                <a:spcPts val="3900"/>
              </a:lnSpc>
              <a:spcBef>
                <a:spcPts val="0"/>
              </a:spcBef>
              <a:spcAft>
                <a:spcPts val="0"/>
              </a:spcAft>
            </a:pPr>
            <a:r>
              <a:rPr sz="3900" b="1" i="0">
                <a:solidFill>
                  <a:srgbClr val="E8741A"/>
                </a:solidFill>
                <a:latin typeface="Calibri"/>
              </a:rPr>
              <a:t>Ambas</a:t>
            </a:r>
          </a:p>
        </p:txBody>
      </p:sp>
      <p:sp>
        <p:nvSpPr>
          <p:cNvPr id="24" name="TextBox 23"/>
          <p:cNvSpPr txBox="1"/>
          <p:nvPr/>
        </p:nvSpPr>
        <p:spPr>
          <a:xfrm>
            <a:off x="9169400" y="2254186"/>
            <a:ext cx="2324100" cy="412750"/>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solución y tensiones, en modo</a:t>
            </a:r>
            <a:br/>
            <a:r>
              <a:rPr sz="1300" b="1" i="0">
                <a:solidFill>
                  <a:srgbClr val="5B6575"/>
                </a:solidFill>
                <a:latin typeface="Calibri"/>
              </a:rPr>
              <a:t>crudo y suavizado</a:t>
            </a:r>
          </a:p>
        </p:txBody>
      </p:sp>
      <p:sp>
        <p:nvSpPr>
          <p:cNvPr id="25" name="Rounded Rectangle 24"/>
          <p:cNvSpPr/>
          <p:nvPr/>
        </p:nvSpPr>
        <p:spPr>
          <a:xfrm>
            <a:off x="568325" y="3004122"/>
            <a:ext cx="11055350" cy="1969580"/>
          </a:xfrm>
          <a:prstGeom prst="roundRect">
            <a:avLst>
              <a:gd name="adj" fmla="val 241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fig_fases_lienzo_ancho.png"/>
          <p:cNvPicPr>
            <a:picLocks noChangeAspect="1"/>
          </p:cNvPicPr>
          <p:nvPr/>
        </p:nvPicPr>
        <p:blipFill>
          <a:blip r:embed="rId2"/>
          <a:srcRect/>
          <a:stretch>
            <a:fillRect/>
          </a:stretch>
        </p:blipFill>
        <p:spPr>
          <a:xfrm>
            <a:off x="571500" y="3007296"/>
            <a:ext cx="11049000" cy="1963230"/>
          </a:xfrm>
          <a:prstGeom prst="rect">
            <a:avLst/>
          </a:prstGeom>
        </p:spPr>
      </p:pic>
      <p:sp>
        <p:nvSpPr>
          <p:cNvPr id="27" name="TextBox 26"/>
          <p:cNvSpPr txBox="1"/>
          <p:nvPr/>
        </p:nvSpPr>
        <p:spPr>
          <a:xfrm>
            <a:off x="565150" y="5050441"/>
            <a:ext cx="11282934"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5B6575"/>
                </a:solidFill>
                <a:latin typeface="Calibri"/>
              </a:rPr>
              <a:t>Pre-proceso, proceso (M3 sobre el elemento seleccionado) y post-proceso (von Mises, reacciones y círculo de Mohr del nodo 7): el mismo lienzo y el mismo modelo.</a:t>
            </a:r>
          </a:p>
        </p:txBody>
      </p:sp>
      <p:sp>
        <p:nvSpPr>
          <p:cNvPr id="28" name="Rounded Rectangle 27"/>
          <p:cNvSpPr/>
          <p:nvPr/>
        </p:nvSpPr>
        <p:spPr>
          <a:xfrm>
            <a:off x="565150" y="5361114"/>
            <a:ext cx="1931988"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6150" y="5419225"/>
            <a:ext cx="1462088"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7 de 7 · se cumple</a:t>
            </a:r>
          </a:p>
        </p:txBody>
      </p:sp>
      <p:sp>
        <p:nvSpPr>
          <p:cNvPr id="30" name="Oval 29"/>
          <p:cNvSpPr/>
          <p:nvPr/>
        </p:nvSpPr>
        <p:spPr>
          <a:xfrm>
            <a:off x="654050" y="5421440"/>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8650" y="5458102"/>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32" name="Rounded Rectangle 31"/>
          <p:cNvSpPr/>
          <p:nvPr/>
        </p:nvSpPr>
        <p:spPr>
          <a:xfrm>
            <a:off x="2586038" y="5361114"/>
            <a:ext cx="1931988"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67038" y="5419225"/>
            <a:ext cx="1462088"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9 de 9 · se cumple</a:t>
            </a:r>
          </a:p>
        </p:txBody>
      </p:sp>
      <p:sp>
        <p:nvSpPr>
          <p:cNvPr id="34" name="Oval 33"/>
          <p:cNvSpPr/>
          <p:nvPr/>
        </p:nvSpPr>
        <p:spPr>
          <a:xfrm>
            <a:off x="2674938" y="5421440"/>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49538" y="5458102"/>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36" name="Rounded Rectangle 35"/>
          <p:cNvSpPr/>
          <p:nvPr/>
        </p:nvSpPr>
        <p:spPr>
          <a:xfrm>
            <a:off x="4606925" y="5361114"/>
            <a:ext cx="1931988"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87925" y="5419225"/>
            <a:ext cx="1462088"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3 de 3 · se cumple</a:t>
            </a:r>
          </a:p>
        </p:txBody>
      </p:sp>
      <p:sp>
        <p:nvSpPr>
          <p:cNvPr id="38" name="Oval 37"/>
          <p:cNvSpPr/>
          <p:nvPr/>
        </p:nvSpPr>
        <p:spPr>
          <a:xfrm>
            <a:off x="4695825" y="5421440"/>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70425" y="5458102"/>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40" name="Rounded Rectangle 39"/>
          <p:cNvSpPr/>
          <p:nvPr/>
        </p:nvSpPr>
        <p:spPr>
          <a:xfrm>
            <a:off x="6627812" y="5361114"/>
            <a:ext cx="2868930" cy="336550"/>
          </a:xfrm>
          <a:prstGeom prst="roundRect">
            <a:avLst>
              <a:gd name="adj" fmla="val 50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08812" y="5419225"/>
            <a:ext cx="239903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2E8B57"/>
                </a:solidFill>
                <a:latin typeface="Calibri"/>
              </a:rPr>
              <a:t>crudo y suavizado · se cumple</a:t>
            </a:r>
          </a:p>
        </p:txBody>
      </p:sp>
      <p:sp>
        <p:nvSpPr>
          <p:cNvPr id="42" name="Oval 41"/>
          <p:cNvSpPr/>
          <p:nvPr/>
        </p:nvSpPr>
        <p:spPr>
          <a:xfrm>
            <a:off x="6716712" y="5421440"/>
            <a:ext cx="215900" cy="2159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91312" y="5458102"/>
            <a:ext cx="2667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a:t>
            </a:r>
          </a:p>
        </p:txBody>
      </p:sp>
      <p:sp>
        <p:nvSpPr>
          <p:cNvPr id="44" name="Rectangle 43"/>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5150" y="6535420"/>
            <a:ext cx="472433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7" name="TextBox 46"/>
          <p:cNvSpPr txBox="1"/>
          <p:nvPr/>
        </p:nvSpPr>
        <p:spPr>
          <a:xfrm>
            <a:off x="5171504" y="6535420"/>
            <a:ext cx="184905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3.6.1 · Tabla 3.6 · Figura 3.5</a:t>
            </a:r>
          </a:p>
        </p:txBody>
      </p:sp>
      <p:sp>
        <p:nvSpPr>
          <p:cNvPr id="48" name="TextBox 47"/>
          <p:cNvSpPr txBox="1"/>
          <p:nvPr/>
        </p:nvSpPr>
        <p:spPr>
          <a:xfrm>
            <a:off x="6902514" y="6535420"/>
            <a:ext cx="472433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43</a:t>
            </a:r>
          </a:p>
        </p:txBody>
      </p:sp>
      <p:sp>
        <p:nvSpPr>
          <p:cNvPr id="49" name="Enlace a sep-intro">
            <a:hlinkClick action="ppaction://hlinksldjump" r:id="rId3"/>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nlace a sep-teoria">
            <a:hlinkClick action="ppaction://hlinksldjump" r:id="rId4"/>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nlace a sep-diseno">
            <a:hlinkClick action="ppaction://hlinksldjump" r:id="rId5"/>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nlace a sep-resultados">
            <a:hlinkClick action="ppaction://hlinksldjump" r:id="rId6"/>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nlace a sep-analisis">
            <a:hlinkClick action="ppaction://hlinksldjump" r:id="rId7"/>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nlace a sep-conclusiones">
            <a:hlinkClick action="ppaction://hlinksldjump" r:id="rId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97"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23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23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34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34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childTnLst>
                          </p:cTn>
                        </p:par>
                      </p:childTnLst>
                    </p:cTn>
                  </p:par>
                  <p:par>
                    <p:cTn id="98" fill="hold">
                      <p:stCondLst>
                        <p:cond delay="indefinite"/>
                      </p:stCondLst>
                      <p:childTnLst>
                        <p:par>
                          <p:cTn id="99"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childTnLst>
                          </p:cTn>
                        </p:par>
                      </p:childTnLst>
                    </p:cTn>
                  </p:par>
                  <p:par>
                    <p:cTn id="100" fill="hold">
                      <p:stCondLst>
                        <p:cond delay="indefinite"/>
                      </p:stCondLst>
                      <p:childTnLst>
                        <p:par>
                          <p:cTn id="101"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00"/>
                                        <p:tgtEl>
                                          <p:spTgt spid="4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04</a:t>
            </a:r>
          </a:p>
        </p:txBody>
      </p:sp>
      <p:sp>
        <p:nvSpPr>
          <p:cNvPr id="4" name="TextBox 3"/>
          <p:cNvSpPr txBox="1"/>
          <p:nvPr/>
        </p:nvSpPr>
        <p:spPr>
          <a:xfrm>
            <a:off x="898398" y="282141"/>
            <a:ext cx="215950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Presentación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Cobertura de contenido: lo que 67 expertos exigen</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000" y="1525542"/>
            <a:ext cx="7189470" cy="124016"/>
          </a:xfrm>
          <a:prstGeom prst="rect">
            <a:avLst/>
          </a:prstGeom>
          <a:noFill/>
        </p:spPr>
        <p:txBody>
          <a:bodyPr wrap="square" lIns="0" rIns="0" tIns="0" bIns="0" anchor="t"/>
          <a:lstStyle/>
          <a:p>
            <a:pPr algn="l">
              <a:lnSpc>
                <a:spcPts val="976"/>
              </a:lnSpc>
              <a:spcBef>
                <a:spcPts val="0"/>
              </a:spcBef>
              <a:spcAft>
                <a:spcPts val="0"/>
              </a:spcAft>
            </a:pPr>
            <a:r>
              <a:rPr sz="800" b="0" i="0">
                <a:solidFill>
                  <a:srgbClr val="1F2937"/>
                </a:solidFill>
                <a:latin typeface="Calibri"/>
              </a:rPr>
              <a:t>Conceptos teóricos · FEM1 a FEM15</a:t>
            </a:r>
          </a:p>
        </p:txBody>
      </p:sp>
      <p:sp>
        <p:nvSpPr>
          <p:cNvPr id="14" name="Rounded Rectangle 13"/>
          <p:cNvSpPr/>
          <p:nvPr/>
        </p:nvSpPr>
        <p:spPr>
          <a:xfrm>
            <a:off x="638175" y="1711325"/>
            <a:ext cx="360362" cy="400050"/>
          </a:xfrm>
          <a:prstGeom prst="roundRect">
            <a:avLst>
              <a:gd name="adj" fmla="val 16740"/>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950" y="186655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FEM1</a:t>
            </a:r>
          </a:p>
        </p:txBody>
      </p:sp>
      <p:sp>
        <p:nvSpPr>
          <p:cNvPr id="16" name="Rounded Rectangle 15"/>
          <p:cNvSpPr/>
          <p:nvPr/>
        </p:nvSpPr>
        <p:spPr>
          <a:xfrm>
            <a:off x="1052512" y="170815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462"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FEM2</a:t>
            </a:r>
          </a:p>
        </p:txBody>
      </p:sp>
      <p:sp>
        <p:nvSpPr>
          <p:cNvPr id="18" name="Rounded Rectangle 17"/>
          <p:cNvSpPr/>
          <p:nvPr/>
        </p:nvSpPr>
        <p:spPr>
          <a:xfrm>
            <a:off x="1055688" y="171132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462"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FEM2</a:t>
            </a:r>
          </a:p>
        </p:txBody>
      </p:sp>
      <p:sp>
        <p:nvSpPr>
          <p:cNvPr id="20" name="Rounded Rectangle 19"/>
          <p:cNvSpPr/>
          <p:nvPr/>
        </p:nvSpPr>
        <p:spPr>
          <a:xfrm>
            <a:off x="1473327" y="1711325"/>
            <a:ext cx="360490" cy="400050"/>
          </a:xfrm>
          <a:prstGeom prst="roundRect">
            <a:avLst>
              <a:gd name="adj" fmla="val 16734"/>
            </a:avLst>
          </a:prstGeom>
          <a:solidFill>
            <a:srgbClr val="FBE9E7"/>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51102"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C0392B"/>
                </a:solidFill>
                <a:latin typeface="Calibri"/>
              </a:rPr>
              <a:t>FEM3</a:t>
            </a:r>
          </a:p>
        </p:txBody>
      </p:sp>
      <p:sp>
        <p:nvSpPr>
          <p:cNvPr id="22" name="Rounded Rectangle 21"/>
          <p:cNvSpPr/>
          <p:nvPr/>
        </p:nvSpPr>
        <p:spPr>
          <a:xfrm>
            <a:off x="1890903" y="171132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68678"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FEM4</a:t>
            </a:r>
          </a:p>
        </p:txBody>
      </p:sp>
      <p:sp>
        <p:nvSpPr>
          <p:cNvPr id="24" name="Rounded Rectangle 23"/>
          <p:cNvSpPr/>
          <p:nvPr/>
        </p:nvSpPr>
        <p:spPr>
          <a:xfrm>
            <a:off x="2308542" y="171132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318"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FEM5</a:t>
            </a:r>
          </a:p>
        </p:txBody>
      </p:sp>
      <p:sp>
        <p:nvSpPr>
          <p:cNvPr id="26" name="Rounded Rectangle 25"/>
          <p:cNvSpPr/>
          <p:nvPr/>
        </p:nvSpPr>
        <p:spPr>
          <a:xfrm>
            <a:off x="2726118" y="171132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03894"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FEM6</a:t>
            </a:r>
          </a:p>
        </p:txBody>
      </p:sp>
      <p:sp>
        <p:nvSpPr>
          <p:cNvPr id="28" name="Rounded Rectangle 27"/>
          <p:cNvSpPr/>
          <p:nvPr/>
        </p:nvSpPr>
        <p:spPr>
          <a:xfrm>
            <a:off x="3143758" y="171132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21533"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FEM7</a:t>
            </a:r>
          </a:p>
        </p:txBody>
      </p:sp>
      <p:sp>
        <p:nvSpPr>
          <p:cNvPr id="30" name="Rounded Rectangle 29"/>
          <p:cNvSpPr/>
          <p:nvPr/>
        </p:nvSpPr>
        <p:spPr>
          <a:xfrm>
            <a:off x="3558159" y="170815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39109"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FEM8</a:t>
            </a:r>
          </a:p>
        </p:txBody>
      </p:sp>
      <p:sp>
        <p:nvSpPr>
          <p:cNvPr id="32" name="Rounded Rectangle 31"/>
          <p:cNvSpPr/>
          <p:nvPr/>
        </p:nvSpPr>
        <p:spPr>
          <a:xfrm>
            <a:off x="3975798" y="170815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56748"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FEM9</a:t>
            </a:r>
          </a:p>
        </p:txBody>
      </p:sp>
      <p:sp>
        <p:nvSpPr>
          <p:cNvPr id="34" name="Rounded Rectangle 33"/>
          <p:cNvSpPr/>
          <p:nvPr/>
        </p:nvSpPr>
        <p:spPr>
          <a:xfrm>
            <a:off x="3561334" y="171132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39109"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FEM8</a:t>
            </a:r>
          </a:p>
        </p:txBody>
      </p:sp>
      <p:sp>
        <p:nvSpPr>
          <p:cNvPr id="36" name="Rounded Rectangle 35"/>
          <p:cNvSpPr/>
          <p:nvPr/>
        </p:nvSpPr>
        <p:spPr>
          <a:xfrm>
            <a:off x="3978974" y="171132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56748"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FEM9</a:t>
            </a:r>
          </a:p>
        </p:txBody>
      </p:sp>
      <p:sp>
        <p:nvSpPr>
          <p:cNvPr id="38" name="Rounded Rectangle 37"/>
          <p:cNvSpPr/>
          <p:nvPr/>
        </p:nvSpPr>
        <p:spPr>
          <a:xfrm>
            <a:off x="4396613" y="171132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4388"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FEM10</a:t>
            </a:r>
          </a:p>
        </p:txBody>
      </p:sp>
      <p:sp>
        <p:nvSpPr>
          <p:cNvPr id="40" name="Rounded Rectangle 39"/>
          <p:cNvSpPr/>
          <p:nvPr/>
        </p:nvSpPr>
        <p:spPr>
          <a:xfrm>
            <a:off x="4814189" y="171132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91964"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FEM11</a:t>
            </a:r>
          </a:p>
        </p:txBody>
      </p:sp>
      <p:sp>
        <p:nvSpPr>
          <p:cNvPr id="42" name="Rounded Rectangle 41"/>
          <p:cNvSpPr/>
          <p:nvPr/>
        </p:nvSpPr>
        <p:spPr>
          <a:xfrm>
            <a:off x="5231828" y="171132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09604"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FEM12</a:t>
            </a:r>
          </a:p>
        </p:txBody>
      </p:sp>
      <p:sp>
        <p:nvSpPr>
          <p:cNvPr id="44" name="Rounded Rectangle 43"/>
          <p:cNvSpPr/>
          <p:nvPr/>
        </p:nvSpPr>
        <p:spPr>
          <a:xfrm>
            <a:off x="5649404" y="171132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27180"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FEM13</a:t>
            </a:r>
          </a:p>
        </p:txBody>
      </p:sp>
      <p:sp>
        <p:nvSpPr>
          <p:cNvPr id="46" name="Rounded Rectangle 45"/>
          <p:cNvSpPr/>
          <p:nvPr/>
        </p:nvSpPr>
        <p:spPr>
          <a:xfrm>
            <a:off x="6067044" y="171132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44819"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FEM14</a:t>
            </a:r>
          </a:p>
        </p:txBody>
      </p:sp>
      <p:sp>
        <p:nvSpPr>
          <p:cNvPr id="48" name="Rounded Rectangle 47"/>
          <p:cNvSpPr/>
          <p:nvPr/>
        </p:nvSpPr>
        <p:spPr>
          <a:xfrm>
            <a:off x="6484620" y="171132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62395"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FEM15</a:t>
            </a:r>
          </a:p>
        </p:txBody>
      </p:sp>
      <p:sp>
        <p:nvSpPr>
          <p:cNvPr id="50" name="Rounded Rectangle 49"/>
          <p:cNvSpPr/>
          <p:nvPr/>
        </p:nvSpPr>
        <p:spPr>
          <a:xfrm>
            <a:off x="638175" y="1711325"/>
            <a:ext cx="360362" cy="400050"/>
          </a:xfrm>
          <a:prstGeom prst="roundRect">
            <a:avLst>
              <a:gd name="adj" fmla="val 167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5950" y="186655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FEM1</a:t>
            </a:r>
          </a:p>
        </p:txBody>
      </p:sp>
      <p:sp>
        <p:nvSpPr>
          <p:cNvPr id="52" name="Rounded Rectangle 51"/>
          <p:cNvSpPr/>
          <p:nvPr/>
        </p:nvSpPr>
        <p:spPr>
          <a:xfrm>
            <a:off x="1055688"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FEM2</a:t>
            </a:r>
          </a:p>
        </p:txBody>
      </p:sp>
      <p:sp>
        <p:nvSpPr>
          <p:cNvPr id="54" name="Rounded Rectangle 53"/>
          <p:cNvSpPr/>
          <p:nvPr/>
        </p:nvSpPr>
        <p:spPr>
          <a:xfrm>
            <a:off x="1473327"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451102"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FEM3</a:t>
            </a:r>
          </a:p>
        </p:txBody>
      </p:sp>
      <p:sp>
        <p:nvSpPr>
          <p:cNvPr id="56" name="Rounded Rectangle 55"/>
          <p:cNvSpPr/>
          <p:nvPr/>
        </p:nvSpPr>
        <p:spPr>
          <a:xfrm>
            <a:off x="1890903"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868678"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FEM4</a:t>
            </a:r>
          </a:p>
        </p:txBody>
      </p:sp>
      <p:sp>
        <p:nvSpPr>
          <p:cNvPr id="58" name="Rounded Rectangle 57"/>
          <p:cNvSpPr/>
          <p:nvPr/>
        </p:nvSpPr>
        <p:spPr>
          <a:xfrm>
            <a:off x="2308542"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86318"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FEM5</a:t>
            </a:r>
          </a:p>
        </p:txBody>
      </p:sp>
      <p:sp>
        <p:nvSpPr>
          <p:cNvPr id="60" name="Rounded Rectangle 59"/>
          <p:cNvSpPr/>
          <p:nvPr/>
        </p:nvSpPr>
        <p:spPr>
          <a:xfrm>
            <a:off x="2726118"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03894"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FEM6</a:t>
            </a:r>
          </a:p>
        </p:txBody>
      </p:sp>
      <p:sp>
        <p:nvSpPr>
          <p:cNvPr id="62" name="Rounded Rectangle 61"/>
          <p:cNvSpPr/>
          <p:nvPr/>
        </p:nvSpPr>
        <p:spPr>
          <a:xfrm>
            <a:off x="3143758"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21533"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FEM7</a:t>
            </a:r>
          </a:p>
        </p:txBody>
      </p:sp>
      <p:sp>
        <p:nvSpPr>
          <p:cNvPr id="64" name="Rounded Rectangle 63"/>
          <p:cNvSpPr/>
          <p:nvPr/>
        </p:nvSpPr>
        <p:spPr>
          <a:xfrm>
            <a:off x="3561334"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39109"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FEM8</a:t>
            </a:r>
          </a:p>
        </p:txBody>
      </p:sp>
      <p:sp>
        <p:nvSpPr>
          <p:cNvPr id="66" name="Rounded Rectangle 65"/>
          <p:cNvSpPr/>
          <p:nvPr/>
        </p:nvSpPr>
        <p:spPr>
          <a:xfrm>
            <a:off x="3978974"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56748"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FEM9</a:t>
            </a:r>
          </a:p>
        </p:txBody>
      </p:sp>
      <p:sp>
        <p:nvSpPr>
          <p:cNvPr id="68" name="Rounded Rectangle 67"/>
          <p:cNvSpPr/>
          <p:nvPr/>
        </p:nvSpPr>
        <p:spPr>
          <a:xfrm>
            <a:off x="4396613"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74388"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FEM10</a:t>
            </a:r>
          </a:p>
        </p:txBody>
      </p:sp>
      <p:sp>
        <p:nvSpPr>
          <p:cNvPr id="70" name="Rounded Rectangle 69"/>
          <p:cNvSpPr/>
          <p:nvPr/>
        </p:nvSpPr>
        <p:spPr>
          <a:xfrm>
            <a:off x="4814189"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91964"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FEM11</a:t>
            </a:r>
          </a:p>
        </p:txBody>
      </p:sp>
      <p:sp>
        <p:nvSpPr>
          <p:cNvPr id="72" name="Rounded Rectangle 71"/>
          <p:cNvSpPr/>
          <p:nvPr/>
        </p:nvSpPr>
        <p:spPr>
          <a:xfrm>
            <a:off x="5231828"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209604"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FEM12</a:t>
            </a:r>
          </a:p>
        </p:txBody>
      </p:sp>
      <p:sp>
        <p:nvSpPr>
          <p:cNvPr id="74" name="Rounded Rectangle 73"/>
          <p:cNvSpPr/>
          <p:nvPr/>
        </p:nvSpPr>
        <p:spPr>
          <a:xfrm>
            <a:off x="5649404"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627180"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FEM13</a:t>
            </a:r>
          </a:p>
        </p:txBody>
      </p:sp>
      <p:sp>
        <p:nvSpPr>
          <p:cNvPr id="76" name="Rounded Rectangle 75"/>
          <p:cNvSpPr/>
          <p:nvPr/>
        </p:nvSpPr>
        <p:spPr>
          <a:xfrm>
            <a:off x="6067044"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044819"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FEM14</a:t>
            </a:r>
          </a:p>
        </p:txBody>
      </p:sp>
      <p:sp>
        <p:nvSpPr>
          <p:cNvPr id="78" name="Rounded Rectangle 77"/>
          <p:cNvSpPr/>
          <p:nvPr/>
        </p:nvSpPr>
        <p:spPr>
          <a:xfrm>
            <a:off x="6484620" y="171132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62395" y="186655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FEM15</a:t>
            </a:r>
          </a:p>
        </p:txBody>
      </p:sp>
      <p:sp>
        <p:nvSpPr>
          <p:cNvPr id="80" name="TextBox 79"/>
          <p:cNvSpPr txBox="1"/>
          <p:nvPr/>
        </p:nvSpPr>
        <p:spPr>
          <a:xfrm>
            <a:off x="635000" y="2204992"/>
            <a:ext cx="7189470" cy="124016"/>
          </a:xfrm>
          <a:prstGeom prst="rect">
            <a:avLst/>
          </a:prstGeom>
          <a:noFill/>
        </p:spPr>
        <p:txBody>
          <a:bodyPr wrap="square" lIns="0" rIns="0" tIns="0" bIns="0" anchor="t"/>
          <a:lstStyle/>
          <a:p>
            <a:pPr algn="l">
              <a:lnSpc>
                <a:spcPts val="976"/>
              </a:lnSpc>
              <a:spcBef>
                <a:spcPts val="0"/>
              </a:spcBef>
              <a:spcAft>
                <a:spcPts val="0"/>
              </a:spcAft>
            </a:pPr>
            <a:r>
              <a:rPr sz="800" b="0" i="0">
                <a:solidFill>
                  <a:srgbClr val="1F2937"/>
                </a:solidFill>
                <a:latin typeface="Calibri"/>
              </a:rPr>
              <a:t>Destrezas prácticas · FEA1 a FEA34</a:t>
            </a:r>
          </a:p>
        </p:txBody>
      </p:sp>
      <p:sp>
        <p:nvSpPr>
          <p:cNvPr id="81" name="Rounded Rectangle 80"/>
          <p:cNvSpPr/>
          <p:nvPr/>
        </p:nvSpPr>
        <p:spPr>
          <a:xfrm>
            <a:off x="638175" y="2390775"/>
            <a:ext cx="360362" cy="400050"/>
          </a:xfrm>
          <a:prstGeom prst="roundRect">
            <a:avLst>
              <a:gd name="adj" fmla="val 16740"/>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5950" y="25460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FEA1</a:t>
            </a:r>
          </a:p>
        </p:txBody>
      </p:sp>
      <p:sp>
        <p:nvSpPr>
          <p:cNvPr id="83" name="Rounded Rectangle 82"/>
          <p:cNvSpPr/>
          <p:nvPr/>
        </p:nvSpPr>
        <p:spPr>
          <a:xfrm>
            <a:off x="1055688" y="23907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33462"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FEA2</a:t>
            </a:r>
          </a:p>
        </p:txBody>
      </p:sp>
      <p:sp>
        <p:nvSpPr>
          <p:cNvPr id="85" name="Rounded Rectangle 84"/>
          <p:cNvSpPr/>
          <p:nvPr/>
        </p:nvSpPr>
        <p:spPr>
          <a:xfrm>
            <a:off x="1473327" y="23907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451102"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FEA3</a:t>
            </a:r>
          </a:p>
        </p:txBody>
      </p:sp>
      <p:sp>
        <p:nvSpPr>
          <p:cNvPr id="87" name="Rounded Rectangle 86"/>
          <p:cNvSpPr/>
          <p:nvPr/>
        </p:nvSpPr>
        <p:spPr>
          <a:xfrm>
            <a:off x="1890903" y="23907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868678"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FEA4</a:t>
            </a:r>
          </a:p>
        </p:txBody>
      </p:sp>
      <p:sp>
        <p:nvSpPr>
          <p:cNvPr id="89" name="Rounded Rectangle 88"/>
          <p:cNvSpPr/>
          <p:nvPr/>
        </p:nvSpPr>
        <p:spPr>
          <a:xfrm>
            <a:off x="2308542" y="23907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286318"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FEA5</a:t>
            </a:r>
          </a:p>
        </p:txBody>
      </p:sp>
      <p:sp>
        <p:nvSpPr>
          <p:cNvPr id="91" name="Rounded Rectangle 90"/>
          <p:cNvSpPr/>
          <p:nvPr/>
        </p:nvSpPr>
        <p:spPr>
          <a:xfrm>
            <a:off x="2726118" y="239077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703894"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FEA6</a:t>
            </a:r>
          </a:p>
        </p:txBody>
      </p:sp>
      <p:sp>
        <p:nvSpPr>
          <p:cNvPr id="93" name="Rounded Rectangle 92"/>
          <p:cNvSpPr/>
          <p:nvPr/>
        </p:nvSpPr>
        <p:spPr>
          <a:xfrm>
            <a:off x="3143758" y="239077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121533"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FEA7</a:t>
            </a:r>
          </a:p>
        </p:txBody>
      </p:sp>
      <p:sp>
        <p:nvSpPr>
          <p:cNvPr id="95" name="Rounded Rectangle 94"/>
          <p:cNvSpPr/>
          <p:nvPr/>
        </p:nvSpPr>
        <p:spPr>
          <a:xfrm>
            <a:off x="3561334" y="239077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539109"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FEA8</a:t>
            </a:r>
          </a:p>
        </p:txBody>
      </p:sp>
      <p:sp>
        <p:nvSpPr>
          <p:cNvPr id="97" name="Rounded Rectangle 96"/>
          <p:cNvSpPr/>
          <p:nvPr/>
        </p:nvSpPr>
        <p:spPr>
          <a:xfrm>
            <a:off x="3978974" y="239077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956748"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FEA9</a:t>
            </a:r>
          </a:p>
        </p:txBody>
      </p:sp>
      <p:sp>
        <p:nvSpPr>
          <p:cNvPr id="99" name="Rounded Rectangle 98"/>
          <p:cNvSpPr/>
          <p:nvPr/>
        </p:nvSpPr>
        <p:spPr>
          <a:xfrm>
            <a:off x="4396613" y="23907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374388"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FEA10</a:t>
            </a:r>
          </a:p>
        </p:txBody>
      </p:sp>
      <p:sp>
        <p:nvSpPr>
          <p:cNvPr id="101" name="Rounded Rectangle 100"/>
          <p:cNvSpPr/>
          <p:nvPr/>
        </p:nvSpPr>
        <p:spPr>
          <a:xfrm>
            <a:off x="4814189" y="23907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791964"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FEA11</a:t>
            </a:r>
          </a:p>
        </p:txBody>
      </p:sp>
      <p:sp>
        <p:nvSpPr>
          <p:cNvPr id="103" name="Rounded Rectangle 102"/>
          <p:cNvSpPr/>
          <p:nvPr/>
        </p:nvSpPr>
        <p:spPr>
          <a:xfrm>
            <a:off x="5231828" y="23907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209604"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FEA12</a:t>
            </a:r>
          </a:p>
        </p:txBody>
      </p:sp>
      <p:sp>
        <p:nvSpPr>
          <p:cNvPr id="105" name="Rounded Rectangle 104"/>
          <p:cNvSpPr/>
          <p:nvPr/>
        </p:nvSpPr>
        <p:spPr>
          <a:xfrm>
            <a:off x="5646230" y="23876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5627180"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FEA13</a:t>
            </a:r>
          </a:p>
        </p:txBody>
      </p:sp>
      <p:sp>
        <p:nvSpPr>
          <p:cNvPr id="107" name="Rounded Rectangle 106"/>
          <p:cNvSpPr/>
          <p:nvPr/>
        </p:nvSpPr>
        <p:spPr>
          <a:xfrm>
            <a:off x="6063869" y="23876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044819"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FEA14</a:t>
            </a:r>
          </a:p>
        </p:txBody>
      </p:sp>
      <p:sp>
        <p:nvSpPr>
          <p:cNvPr id="109" name="Rounded Rectangle 108"/>
          <p:cNvSpPr/>
          <p:nvPr/>
        </p:nvSpPr>
        <p:spPr>
          <a:xfrm>
            <a:off x="6481445" y="23876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462395"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FEA15</a:t>
            </a:r>
          </a:p>
        </p:txBody>
      </p:sp>
      <p:sp>
        <p:nvSpPr>
          <p:cNvPr id="111" name="Rounded Rectangle 110"/>
          <p:cNvSpPr/>
          <p:nvPr/>
        </p:nvSpPr>
        <p:spPr>
          <a:xfrm>
            <a:off x="6899084" y="23876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880034"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FEA16</a:t>
            </a:r>
          </a:p>
        </p:txBody>
      </p:sp>
      <p:sp>
        <p:nvSpPr>
          <p:cNvPr id="113" name="Rounded Rectangle 112"/>
          <p:cNvSpPr/>
          <p:nvPr/>
        </p:nvSpPr>
        <p:spPr>
          <a:xfrm>
            <a:off x="7316660" y="2387600"/>
            <a:ext cx="366712" cy="406400"/>
          </a:xfrm>
          <a:prstGeom prst="roundRect">
            <a:avLst>
              <a:gd name="adj" fmla="val 17316"/>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297610" y="25460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FEA17</a:t>
            </a:r>
          </a:p>
        </p:txBody>
      </p:sp>
      <p:sp>
        <p:nvSpPr>
          <p:cNvPr id="115" name="Rounded Rectangle 114"/>
          <p:cNvSpPr/>
          <p:nvPr/>
        </p:nvSpPr>
        <p:spPr>
          <a:xfrm>
            <a:off x="635000" y="2844800"/>
            <a:ext cx="366712" cy="406400"/>
          </a:xfrm>
          <a:prstGeom prst="roundRect">
            <a:avLst>
              <a:gd name="adj" fmla="val 17316"/>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15950" y="30032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FEA18</a:t>
            </a:r>
          </a:p>
        </p:txBody>
      </p:sp>
      <p:sp>
        <p:nvSpPr>
          <p:cNvPr id="117" name="Rounded Rectangle 116"/>
          <p:cNvSpPr/>
          <p:nvPr/>
        </p:nvSpPr>
        <p:spPr>
          <a:xfrm>
            <a:off x="5649404" y="23907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627180"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FEA13</a:t>
            </a:r>
          </a:p>
        </p:txBody>
      </p:sp>
      <p:sp>
        <p:nvSpPr>
          <p:cNvPr id="119" name="Rounded Rectangle 118"/>
          <p:cNvSpPr/>
          <p:nvPr/>
        </p:nvSpPr>
        <p:spPr>
          <a:xfrm>
            <a:off x="6067044" y="23907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044819"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FEA14</a:t>
            </a:r>
          </a:p>
        </p:txBody>
      </p:sp>
      <p:sp>
        <p:nvSpPr>
          <p:cNvPr id="121" name="Rounded Rectangle 120"/>
          <p:cNvSpPr/>
          <p:nvPr/>
        </p:nvSpPr>
        <p:spPr>
          <a:xfrm>
            <a:off x="6484620" y="23907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462395"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FEA15</a:t>
            </a:r>
          </a:p>
        </p:txBody>
      </p:sp>
      <p:sp>
        <p:nvSpPr>
          <p:cNvPr id="123" name="Rounded Rectangle 122"/>
          <p:cNvSpPr/>
          <p:nvPr/>
        </p:nvSpPr>
        <p:spPr>
          <a:xfrm>
            <a:off x="6902260" y="23907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880034"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FEA16</a:t>
            </a:r>
          </a:p>
        </p:txBody>
      </p:sp>
      <p:sp>
        <p:nvSpPr>
          <p:cNvPr id="125" name="Rounded Rectangle 124"/>
          <p:cNvSpPr/>
          <p:nvPr/>
        </p:nvSpPr>
        <p:spPr>
          <a:xfrm>
            <a:off x="7319836" y="2390775"/>
            <a:ext cx="360362" cy="400050"/>
          </a:xfrm>
          <a:prstGeom prst="roundRect">
            <a:avLst>
              <a:gd name="adj" fmla="val 16740"/>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297610" y="25460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FEA17</a:t>
            </a:r>
          </a:p>
        </p:txBody>
      </p:sp>
      <p:sp>
        <p:nvSpPr>
          <p:cNvPr id="127" name="Rounded Rectangle 126"/>
          <p:cNvSpPr/>
          <p:nvPr/>
        </p:nvSpPr>
        <p:spPr>
          <a:xfrm>
            <a:off x="638175" y="2847975"/>
            <a:ext cx="360362" cy="400050"/>
          </a:xfrm>
          <a:prstGeom prst="roundRect">
            <a:avLst>
              <a:gd name="adj" fmla="val 16740"/>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15950" y="30032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FEA18</a:t>
            </a:r>
          </a:p>
        </p:txBody>
      </p:sp>
      <p:sp>
        <p:nvSpPr>
          <p:cNvPr id="129" name="Rounded Rectangle 128"/>
          <p:cNvSpPr/>
          <p:nvPr/>
        </p:nvSpPr>
        <p:spPr>
          <a:xfrm>
            <a:off x="1055688" y="28479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33462"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FEA19</a:t>
            </a:r>
          </a:p>
        </p:txBody>
      </p:sp>
      <p:sp>
        <p:nvSpPr>
          <p:cNvPr id="131" name="Rounded Rectangle 130"/>
          <p:cNvSpPr/>
          <p:nvPr/>
        </p:nvSpPr>
        <p:spPr>
          <a:xfrm>
            <a:off x="1473327" y="28479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451102"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FEA20</a:t>
            </a:r>
          </a:p>
        </p:txBody>
      </p:sp>
      <p:sp>
        <p:nvSpPr>
          <p:cNvPr id="133" name="Rounded Rectangle 132"/>
          <p:cNvSpPr/>
          <p:nvPr/>
        </p:nvSpPr>
        <p:spPr>
          <a:xfrm>
            <a:off x="1890903" y="284797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868678"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FEA21</a:t>
            </a:r>
          </a:p>
        </p:txBody>
      </p:sp>
      <p:sp>
        <p:nvSpPr>
          <p:cNvPr id="135" name="Rounded Rectangle 134"/>
          <p:cNvSpPr/>
          <p:nvPr/>
        </p:nvSpPr>
        <p:spPr>
          <a:xfrm>
            <a:off x="2308542" y="284797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286318"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FEA22</a:t>
            </a:r>
          </a:p>
        </p:txBody>
      </p:sp>
      <p:sp>
        <p:nvSpPr>
          <p:cNvPr id="137" name="Rounded Rectangle 136"/>
          <p:cNvSpPr/>
          <p:nvPr/>
        </p:nvSpPr>
        <p:spPr>
          <a:xfrm>
            <a:off x="2726118" y="2847975"/>
            <a:ext cx="360490" cy="400050"/>
          </a:xfrm>
          <a:prstGeom prst="roundRect">
            <a:avLst>
              <a:gd name="adj" fmla="val 16734"/>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70389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alpha val="35000"/>
                  </a:srgbClr>
                </a:solidFill>
                <a:latin typeface="Calibri"/>
              </a:rPr>
              <a:t>FEA23</a:t>
            </a:r>
          </a:p>
        </p:txBody>
      </p:sp>
      <p:sp>
        <p:nvSpPr>
          <p:cNvPr id="139" name="Rounded Rectangle 138"/>
          <p:cNvSpPr/>
          <p:nvPr/>
        </p:nvSpPr>
        <p:spPr>
          <a:xfrm>
            <a:off x="3143758" y="28479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121533"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FEA24</a:t>
            </a:r>
          </a:p>
        </p:txBody>
      </p:sp>
      <p:sp>
        <p:nvSpPr>
          <p:cNvPr id="141" name="Rounded Rectangle 140"/>
          <p:cNvSpPr/>
          <p:nvPr/>
        </p:nvSpPr>
        <p:spPr>
          <a:xfrm>
            <a:off x="3561334" y="2847975"/>
            <a:ext cx="360490" cy="400050"/>
          </a:xfrm>
          <a:prstGeom prst="roundRect">
            <a:avLst>
              <a:gd name="adj" fmla="val 16734"/>
            </a:avLst>
          </a:prstGeom>
          <a:solidFill>
            <a:srgbClr val="1F77B4">
              <a:alpha val="12000"/>
            </a:srgbClr>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539109"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1F77B4"/>
                </a:solidFill>
                <a:latin typeface="Calibri"/>
              </a:rPr>
              <a:t>FEA25</a:t>
            </a:r>
          </a:p>
        </p:txBody>
      </p:sp>
      <p:sp>
        <p:nvSpPr>
          <p:cNvPr id="143" name="Rounded Rectangle 142"/>
          <p:cNvSpPr/>
          <p:nvPr/>
        </p:nvSpPr>
        <p:spPr>
          <a:xfrm>
            <a:off x="3975798" y="28448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956748"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FEA26</a:t>
            </a:r>
          </a:p>
        </p:txBody>
      </p:sp>
      <p:sp>
        <p:nvSpPr>
          <p:cNvPr id="145" name="Rounded Rectangle 144"/>
          <p:cNvSpPr/>
          <p:nvPr/>
        </p:nvSpPr>
        <p:spPr>
          <a:xfrm>
            <a:off x="4393438" y="28448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374388"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FEA27</a:t>
            </a:r>
          </a:p>
        </p:txBody>
      </p:sp>
      <p:sp>
        <p:nvSpPr>
          <p:cNvPr id="147" name="Rounded Rectangle 146"/>
          <p:cNvSpPr/>
          <p:nvPr/>
        </p:nvSpPr>
        <p:spPr>
          <a:xfrm>
            <a:off x="4811014" y="28448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479196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FEA28</a:t>
            </a:r>
          </a:p>
        </p:txBody>
      </p:sp>
      <p:sp>
        <p:nvSpPr>
          <p:cNvPr id="149" name="Rounded Rectangle 148"/>
          <p:cNvSpPr/>
          <p:nvPr/>
        </p:nvSpPr>
        <p:spPr>
          <a:xfrm>
            <a:off x="5228654" y="28448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520960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FEA29</a:t>
            </a:r>
          </a:p>
        </p:txBody>
      </p:sp>
      <p:sp>
        <p:nvSpPr>
          <p:cNvPr id="151" name="Rounded Rectangle 150"/>
          <p:cNvSpPr/>
          <p:nvPr/>
        </p:nvSpPr>
        <p:spPr>
          <a:xfrm>
            <a:off x="5646230" y="28448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5627180"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FEA30</a:t>
            </a:r>
          </a:p>
        </p:txBody>
      </p:sp>
      <p:sp>
        <p:nvSpPr>
          <p:cNvPr id="153" name="Rounded Rectangle 152"/>
          <p:cNvSpPr/>
          <p:nvPr/>
        </p:nvSpPr>
        <p:spPr>
          <a:xfrm>
            <a:off x="6063869" y="28448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044819"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FEA31</a:t>
            </a:r>
          </a:p>
        </p:txBody>
      </p:sp>
      <p:sp>
        <p:nvSpPr>
          <p:cNvPr id="155" name="Rounded Rectangle 154"/>
          <p:cNvSpPr/>
          <p:nvPr/>
        </p:nvSpPr>
        <p:spPr>
          <a:xfrm>
            <a:off x="6481445" y="28448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462395"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FEA32</a:t>
            </a:r>
          </a:p>
        </p:txBody>
      </p:sp>
      <p:sp>
        <p:nvSpPr>
          <p:cNvPr id="157" name="Rounded Rectangle 156"/>
          <p:cNvSpPr/>
          <p:nvPr/>
        </p:nvSpPr>
        <p:spPr>
          <a:xfrm>
            <a:off x="6899084" y="2844800"/>
            <a:ext cx="366840" cy="406400"/>
          </a:xfrm>
          <a:prstGeom prst="roundRect">
            <a:avLst>
              <a:gd name="adj" fmla="val 1731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88003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FEA33</a:t>
            </a:r>
          </a:p>
        </p:txBody>
      </p:sp>
      <p:sp>
        <p:nvSpPr>
          <p:cNvPr id="159" name="Rounded Rectangle 158"/>
          <p:cNvSpPr/>
          <p:nvPr/>
        </p:nvSpPr>
        <p:spPr>
          <a:xfrm>
            <a:off x="7316660" y="2844800"/>
            <a:ext cx="366712" cy="406400"/>
          </a:xfrm>
          <a:prstGeom prst="roundRect">
            <a:avLst>
              <a:gd name="adj" fmla="val 17316"/>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7297610" y="30032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FFFFFF"/>
                </a:solidFill>
                <a:latin typeface="Calibri"/>
              </a:rPr>
              <a:t>FEA34</a:t>
            </a:r>
          </a:p>
        </p:txBody>
      </p:sp>
      <p:sp>
        <p:nvSpPr>
          <p:cNvPr id="161" name="Rounded Rectangle 160"/>
          <p:cNvSpPr/>
          <p:nvPr/>
        </p:nvSpPr>
        <p:spPr>
          <a:xfrm>
            <a:off x="3978974" y="28479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3956748"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FEA26</a:t>
            </a:r>
          </a:p>
        </p:txBody>
      </p:sp>
      <p:sp>
        <p:nvSpPr>
          <p:cNvPr id="163" name="Rounded Rectangle 162"/>
          <p:cNvSpPr/>
          <p:nvPr/>
        </p:nvSpPr>
        <p:spPr>
          <a:xfrm>
            <a:off x="4396613" y="28479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4374388"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FEA27</a:t>
            </a:r>
          </a:p>
        </p:txBody>
      </p:sp>
      <p:sp>
        <p:nvSpPr>
          <p:cNvPr id="165" name="Rounded Rectangle 164"/>
          <p:cNvSpPr/>
          <p:nvPr/>
        </p:nvSpPr>
        <p:spPr>
          <a:xfrm>
            <a:off x="4814189" y="28479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479196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FEA28</a:t>
            </a:r>
          </a:p>
        </p:txBody>
      </p:sp>
      <p:sp>
        <p:nvSpPr>
          <p:cNvPr id="167" name="Rounded Rectangle 166"/>
          <p:cNvSpPr/>
          <p:nvPr/>
        </p:nvSpPr>
        <p:spPr>
          <a:xfrm>
            <a:off x="5231828" y="28479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20960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FEA29</a:t>
            </a:r>
          </a:p>
        </p:txBody>
      </p:sp>
      <p:sp>
        <p:nvSpPr>
          <p:cNvPr id="169" name="Rounded Rectangle 168"/>
          <p:cNvSpPr/>
          <p:nvPr/>
        </p:nvSpPr>
        <p:spPr>
          <a:xfrm>
            <a:off x="5649404" y="28479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627180"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FEA30</a:t>
            </a:r>
          </a:p>
        </p:txBody>
      </p:sp>
      <p:sp>
        <p:nvSpPr>
          <p:cNvPr id="171" name="Rounded Rectangle 170"/>
          <p:cNvSpPr/>
          <p:nvPr/>
        </p:nvSpPr>
        <p:spPr>
          <a:xfrm>
            <a:off x="6067044" y="28479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044819"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FEA31</a:t>
            </a:r>
          </a:p>
        </p:txBody>
      </p:sp>
      <p:sp>
        <p:nvSpPr>
          <p:cNvPr id="173" name="Rounded Rectangle 172"/>
          <p:cNvSpPr/>
          <p:nvPr/>
        </p:nvSpPr>
        <p:spPr>
          <a:xfrm>
            <a:off x="6484620" y="28479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6462395"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FEA32</a:t>
            </a:r>
          </a:p>
        </p:txBody>
      </p:sp>
      <p:sp>
        <p:nvSpPr>
          <p:cNvPr id="175" name="Rounded Rectangle 174"/>
          <p:cNvSpPr/>
          <p:nvPr/>
        </p:nvSpPr>
        <p:spPr>
          <a:xfrm>
            <a:off x="6902260" y="2847975"/>
            <a:ext cx="360490" cy="400050"/>
          </a:xfrm>
          <a:prstGeom prst="roundRect">
            <a:avLst>
              <a:gd name="adj" fmla="val 16734"/>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88003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FEA33</a:t>
            </a:r>
          </a:p>
        </p:txBody>
      </p:sp>
      <p:sp>
        <p:nvSpPr>
          <p:cNvPr id="177" name="Rounded Rectangle 176"/>
          <p:cNvSpPr/>
          <p:nvPr/>
        </p:nvSpPr>
        <p:spPr>
          <a:xfrm>
            <a:off x="7319836" y="2847975"/>
            <a:ext cx="360362" cy="400050"/>
          </a:xfrm>
          <a:prstGeom prst="roundRect">
            <a:avLst>
              <a:gd name="adj" fmla="val 16740"/>
            </a:avLst>
          </a:prstGeom>
          <a:solidFill>
            <a:srgbClr val="FDF1E2"/>
          </a:solidFill>
          <a:ln w="6350">
            <a:solidFill>
              <a:srgbClr val="E8741A">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7297610" y="30032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E8741A"/>
                </a:solidFill>
                <a:latin typeface="Calibri"/>
              </a:rPr>
              <a:t>FEA34</a:t>
            </a:r>
          </a:p>
        </p:txBody>
      </p:sp>
      <p:sp>
        <p:nvSpPr>
          <p:cNvPr id="179" name="Rounded Rectangle 178"/>
          <p:cNvSpPr/>
          <p:nvPr/>
        </p:nvSpPr>
        <p:spPr>
          <a:xfrm>
            <a:off x="638175" y="2390775"/>
            <a:ext cx="360362" cy="400050"/>
          </a:xfrm>
          <a:prstGeom prst="roundRect">
            <a:avLst>
              <a:gd name="adj" fmla="val 167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15950" y="25460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a:t>
            </a:r>
          </a:p>
        </p:txBody>
      </p:sp>
      <p:sp>
        <p:nvSpPr>
          <p:cNvPr id="181" name="Rounded Rectangle 180"/>
          <p:cNvSpPr/>
          <p:nvPr/>
        </p:nvSpPr>
        <p:spPr>
          <a:xfrm>
            <a:off x="1055688"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1033462"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a:t>
            </a:r>
          </a:p>
        </p:txBody>
      </p:sp>
      <p:sp>
        <p:nvSpPr>
          <p:cNvPr id="183" name="Rounded Rectangle 182"/>
          <p:cNvSpPr/>
          <p:nvPr/>
        </p:nvSpPr>
        <p:spPr>
          <a:xfrm>
            <a:off x="1473327"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1451102"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FEA3</a:t>
            </a:r>
          </a:p>
        </p:txBody>
      </p:sp>
      <p:sp>
        <p:nvSpPr>
          <p:cNvPr id="185" name="Rounded Rectangle 184"/>
          <p:cNvSpPr/>
          <p:nvPr/>
        </p:nvSpPr>
        <p:spPr>
          <a:xfrm>
            <a:off x="1890903"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868678"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FEA4</a:t>
            </a:r>
          </a:p>
        </p:txBody>
      </p:sp>
      <p:sp>
        <p:nvSpPr>
          <p:cNvPr id="187" name="Rounded Rectangle 186"/>
          <p:cNvSpPr/>
          <p:nvPr/>
        </p:nvSpPr>
        <p:spPr>
          <a:xfrm>
            <a:off x="2308542"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2286318"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FEA5</a:t>
            </a:r>
          </a:p>
        </p:txBody>
      </p:sp>
      <p:sp>
        <p:nvSpPr>
          <p:cNvPr id="189" name="Rounded Rectangle 188"/>
          <p:cNvSpPr/>
          <p:nvPr/>
        </p:nvSpPr>
        <p:spPr>
          <a:xfrm>
            <a:off x="2726118"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2703894"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FEA6</a:t>
            </a:r>
          </a:p>
        </p:txBody>
      </p:sp>
      <p:sp>
        <p:nvSpPr>
          <p:cNvPr id="191" name="Rounded Rectangle 190"/>
          <p:cNvSpPr/>
          <p:nvPr/>
        </p:nvSpPr>
        <p:spPr>
          <a:xfrm>
            <a:off x="3143758"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3121533"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FEA7</a:t>
            </a:r>
          </a:p>
        </p:txBody>
      </p:sp>
      <p:sp>
        <p:nvSpPr>
          <p:cNvPr id="193" name="Rounded Rectangle 192"/>
          <p:cNvSpPr/>
          <p:nvPr/>
        </p:nvSpPr>
        <p:spPr>
          <a:xfrm>
            <a:off x="3561334"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3539109"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FEA8</a:t>
            </a:r>
          </a:p>
        </p:txBody>
      </p:sp>
      <p:sp>
        <p:nvSpPr>
          <p:cNvPr id="195" name="Rounded Rectangle 194"/>
          <p:cNvSpPr/>
          <p:nvPr/>
        </p:nvSpPr>
        <p:spPr>
          <a:xfrm>
            <a:off x="3978974"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3956748"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FEA9</a:t>
            </a:r>
          </a:p>
        </p:txBody>
      </p:sp>
      <p:sp>
        <p:nvSpPr>
          <p:cNvPr id="197" name="Rounded Rectangle 196"/>
          <p:cNvSpPr/>
          <p:nvPr/>
        </p:nvSpPr>
        <p:spPr>
          <a:xfrm>
            <a:off x="4396613"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4374388"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FEA10</a:t>
            </a:r>
          </a:p>
        </p:txBody>
      </p:sp>
      <p:sp>
        <p:nvSpPr>
          <p:cNvPr id="199" name="Rounded Rectangle 198"/>
          <p:cNvSpPr/>
          <p:nvPr/>
        </p:nvSpPr>
        <p:spPr>
          <a:xfrm>
            <a:off x="4814189"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4791964"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FEA11</a:t>
            </a:r>
          </a:p>
        </p:txBody>
      </p:sp>
      <p:sp>
        <p:nvSpPr>
          <p:cNvPr id="201" name="Rounded Rectangle 200"/>
          <p:cNvSpPr/>
          <p:nvPr/>
        </p:nvSpPr>
        <p:spPr>
          <a:xfrm>
            <a:off x="5231828"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5209604"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FEA12</a:t>
            </a:r>
          </a:p>
        </p:txBody>
      </p:sp>
      <p:sp>
        <p:nvSpPr>
          <p:cNvPr id="203" name="Rounded Rectangle 202"/>
          <p:cNvSpPr/>
          <p:nvPr/>
        </p:nvSpPr>
        <p:spPr>
          <a:xfrm>
            <a:off x="5649404"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627180"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FEA13</a:t>
            </a:r>
          </a:p>
        </p:txBody>
      </p:sp>
      <p:sp>
        <p:nvSpPr>
          <p:cNvPr id="205" name="Rounded Rectangle 204"/>
          <p:cNvSpPr/>
          <p:nvPr/>
        </p:nvSpPr>
        <p:spPr>
          <a:xfrm>
            <a:off x="6067044"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044819"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FEA14</a:t>
            </a:r>
          </a:p>
        </p:txBody>
      </p:sp>
      <p:sp>
        <p:nvSpPr>
          <p:cNvPr id="207" name="Rounded Rectangle 206"/>
          <p:cNvSpPr/>
          <p:nvPr/>
        </p:nvSpPr>
        <p:spPr>
          <a:xfrm>
            <a:off x="6484620"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462395"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FEA15</a:t>
            </a:r>
          </a:p>
        </p:txBody>
      </p:sp>
      <p:sp>
        <p:nvSpPr>
          <p:cNvPr id="209" name="Rounded Rectangle 208"/>
          <p:cNvSpPr/>
          <p:nvPr/>
        </p:nvSpPr>
        <p:spPr>
          <a:xfrm>
            <a:off x="6902260" y="23907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6880034" y="25460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FEA16</a:t>
            </a:r>
          </a:p>
        </p:txBody>
      </p:sp>
      <p:sp>
        <p:nvSpPr>
          <p:cNvPr id="211" name="Rounded Rectangle 210"/>
          <p:cNvSpPr/>
          <p:nvPr/>
        </p:nvSpPr>
        <p:spPr>
          <a:xfrm>
            <a:off x="7319836" y="2390775"/>
            <a:ext cx="360362" cy="400050"/>
          </a:xfrm>
          <a:prstGeom prst="roundRect">
            <a:avLst>
              <a:gd name="adj" fmla="val 167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7297610" y="25460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FEA17</a:t>
            </a:r>
          </a:p>
        </p:txBody>
      </p:sp>
      <p:sp>
        <p:nvSpPr>
          <p:cNvPr id="213" name="Rounded Rectangle 212"/>
          <p:cNvSpPr/>
          <p:nvPr/>
        </p:nvSpPr>
        <p:spPr>
          <a:xfrm>
            <a:off x="638175" y="2847975"/>
            <a:ext cx="360362" cy="400050"/>
          </a:xfrm>
          <a:prstGeom prst="roundRect">
            <a:avLst>
              <a:gd name="adj" fmla="val 167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615950" y="30032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FEA18</a:t>
            </a:r>
          </a:p>
        </p:txBody>
      </p:sp>
      <p:sp>
        <p:nvSpPr>
          <p:cNvPr id="215" name="Rounded Rectangle 214"/>
          <p:cNvSpPr/>
          <p:nvPr/>
        </p:nvSpPr>
        <p:spPr>
          <a:xfrm>
            <a:off x="1055688"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1033462"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FEA19</a:t>
            </a:r>
          </a:p>
        </p:txBody>
      </p:sp>
      <p:sp>
        <p:nvSpPr>
          <p:cNvPr id="217" name="Rounded Rectangle 216"/>
          <p:cNvSpPr/>
          <p:nvPr/>
        </p:nvSpPr>
        <p:spPr>
          <a:xfrm>
            <a:off x="1473327"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1451102"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FEA20</a:t>
            </a:r>
          </a:p>
        </p:txBody>
      </p:sp>
      <p:sp>
        <p:nvSpPr>
          <p:cNvPr id="219" name="Rounded Rectangle 218"/>
          <p:cNvSpPr/>
          <p:nvPr/>
        </p:nvSpPr>
        <p:spPr>
          <a:xfrm>
            <a:off x="1890903"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1868678"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FEA21</a:t>
            </a:r>
          </a:p>
        </p:txBody>
      </p:sp>
      <p:sp>
        <p:nvSpPr>
          <p:cNvPr id="221" name="Rounded Rectangle 220"/>
          <p:cNvSpPr/>
          <p:nvPr/>
        </p:nvSpPr>
        <p:spPr>
          <a:xfrm>
            <a:off x="2308542"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2286318"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FEA22</a:t>
            </a:r>
          </a:p>
        </p:txBody>
      </p:sp>
      <p:sp>
        <p:nvSpPr>
          <p:cNvPr id="223" name="Rounded Rectangle 222"/>
          <p:cNvSpPr/>
          <p:nvPr/>
        </p:nvSpPr>
        <p:spPr>
          <a:xfrm>
            <a:off x="2726118"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270389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FEA23</a:t>
            </a:r>
          </a:p>
        </p:txBody>
      </p:sp>
      <p:sp>
        <p:nvSpPr>
          <p:cNvPr id="225" name="Rounded Rectangle 224"/>
          <p:cNvSpPr/>
          <p:nvPr/>
        </p:nvSpPr>
        <p:spPr>
          <a:xfrm>
            <a:off x="3143758"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3121533"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FEA24</a:t>
            </a:r>
          </a:p>
        </p:txBody>
      </p:sp>
      <p:sp>
        <p:nvSpPr>
          <p:cNvPr id="227" name="Rounded Rectangle 226"/>
          <p:cNvSpPr/>
          <p:nvPr/>
        </p:nvSpPr>
        <p:spPr>
          <a:xfrm>
            <a:off x="3561334"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3539109"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FEA25</a:t>
            </a:r>
          </a:p>
        </p:txBody>
      </p:sp>
      <p:sp>
        <p:nvSpPr>
          <p:cNvPr id="229" name="Rounded Rectangle 228"/>
          <p:cNvSpPr/>
          <p:nvPr/>
        </p:nvSpPr>
        <p:spPr>
          <a:xfrm>
            <a:off x="3978974"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3956748"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FEA26</a:t>
            </a:r>
          </a:p>
        </p:txBody>
      </p:sp>
      <p:sp>
        <p:nvSpPr>
          <p:cNvPr id="231" name="Rounded Rectangle 230"/>
          <p:cNvSpPr/>
          <p:nvPr/>
        </p:nvSpPr>
        <p:spPr>
          <a:xfrm>
            <a:off x="4396613"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4374388"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FEA27</a:t>
            </a:r>
          </a:p>
        </p:txBody>
      </p:sp>
      <p:sp>
        <p:nvSpPr>
          <p:cNvPr id="233" name="Rounded Rectangle 232"/>
          <p:cNvSpPr/>
          <p:nvPr/>
        </p:nvSpPr>
        <p:spPr>
          <a:xfrm>
            <a:off x="4814189"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479196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FEA28</a:t>
            </a:r>
          </a:p>
        </p:txBody>
      </p:sp>
      <p:sp>
        <p:nvSpPr>
          <p:cNvPr id="235" name="Rounded Rectangle 234"/>
          <p:cNvSpPr/>
          <p:nvPr/>
        </p:nvSpPr>
        <p:spPr>
          <a:xfrm>
            <a:off x="5231828"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520960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FEA29</a:t>
            </a:r>
          </a:p>
        </p:txBody>
      </p:sp>
      <p:sp>
        <p:nvSpPr>
          <p:cNvPr id="237" name="Rounded Rectangle 236"/>
          <p:cNvSpPr/>
          <p:nvPr/>
        </p:nvSpPr>
        <p:spPr>
          <a:xfrm>
            <a:off x="5649404"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5627180"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FEA30</a:t>
            </a:r>
          </a:p>
        </p:txBody>
      </p:sp>
      <p:sp>
        <p:nvSpPr>
          <p:cNvPr id="239" name="Rounded Rectangle 238"/>
          <p:cNvSpPr/>
          <p:nvPr/>
        </p:nvSpPr>
        <p:spPr>
          <a:xfrm>
            <a:off x="6067044"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6044819"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FEA31</a:t>
            </a:r>
          </a:p>
        </p:txBody>
      </p:sp>
      <p:sp>
        <p:nvSpPr>
          <p:cNvPr id="241" name="Rounded Rectangle 240"/>
          <p:cNvSpPr/>
          <p:nvPr/>
        </p:nvSpPr>
        <p:spPr>
          <a:xfrm>
            <a:off x="6484620"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6462395"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FEA32</a:t>
            </a:r>
          </a:p>
        </p:txBody>
      </p:sp>
      <p:sp>
        <p:nvSpPr>
          <p:cNvPr id="243" name="Rounded Rectangle 242"/>
          <p:cNvSpPr/>
          <p:nvPr/>
        </p:nvSpPr>
        <p:spPr>
          <a:xfrm>
            <a:off x="6902260" y="2847975"/>
            <a:ext cx="360490" cy="400050"/>
          </a:xfrm>
          <a:prstGeom prst="roundRect">
            <a:avLst>
              <a:gd name="adj" fmla="val 16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6880034" y="3003201"/>
            <a:ext cx="404940"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FEA33</a:t>
            </a:r>
          </a:p>
        </p:txBody>
      </p:sp>
      <p:sp>
        <p:nvSpPr>
          <p:cNvPr id="245" name="Rounded Rectangle 244"/>
          <p:cNvSpPr/>
          <p:nvPr/>
        </p:nvSpPr>
        <p:spPr>
          <a:xfrm>
            <a:off x="7319836" y="2847975"/>
            <a:ext cx="360362" cy="400050"/>
          </a:xfrm>
          <a:prstGeom prst="roundRect">
            <a:avLst>
              <a:gd name="adj" fmla="val 167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7297610" y="3003201"/>
            <a:ext cx="404812" cy="107950"/>
          </a:xfrm>
          <a:prstGeom prst="rect">
            <a:avLst/>
          </a:prstGeom>
          <a:noFill/>
        </p:spPr>
        <p:txBody>
          <a:bodyPr wrap="square" lIns="0" rIns="0" tIns="0" bIns="0" anchor="t"/>
          <a:lstStyle/>
          <a:p>
            <a:pPr algn="ctr">
              <a:lnSpc>
                <a:spcPts val="850"/>
              </a:lnSpc>
              <a:spcBef>
                <a:spcPts val="0"/>
              </a:spcBef>
              <a:spcAft>
                <a:spcPts val="0"/>
              </a:spcAft>
            </a:pPr>
            <a:r>
              <a:rPr sz="850" b="1" i="0">
                <a:solidFill>
                  <a:srgbClr val="5B6575"/>
                </a:solidFill>
                <a:latin typeface="Calibri"/>
              </a:rPr>
              <a:t>FEA34</a:t>
            </a:r>
          </a:p>
        </p:txBody>
      </p:sp>
      <p:sp>
        <p:nvSpPr>
          <p:cNvPr id="247" name="TextBox 246"/>
          <p:cNvSpPr txBox="1"/>
          <p:nvPr/>
        </p:nvSpPr>
        <p:spPr>
          <a:xfrm>
            <a:off x="635000" y="3363417"/>
            <a:ext cx="7189470" cy="377190"/>
          </a:xfrm>
          <a:prstGeom prst="rect">
            <a:avLst/>
          </a:prstGeom>
          <a:noFill/>
        </p:spPr>
        <p:txBody>
          <a:bodyPr wrap="square" lIns="0" rIns="0" tIns="0" bIns="0" anchor="t"/>
          <a:lstStyle/>
          <a:p>
            <a:pPr algn="l">
              <a:lnSpc>
                <a:spcPts val="1485"/>
              </a:lnSpc>
              <a:spcBef>
                <a:spcPts val="0"/>
              </a:spcBef>
              <a:spcAft>
                <a:spcPts val="0"/>
              </a:spcAft>
            </a:pPr>
            <a:r>
              <a:rPr sz="1100" b="0" i="0">
                <a:solidFill>
                  <a:srgbClr val="5B6575"/>
                </a:solidFill>
                <a:latin typeface="Calibri"/>
              </a:rPr>
              <a:t>Pérez-Santiago y Campos [3, pp. 1162–1163]: consenso de 67 expertos de la industria y la academia. Ítems traducidos por el</a:t>
            </a:r>
            <a:br/>
            <a:r>
              <a:rPr sz="1100" b="0" i="0">
                <a:solidFill>
                  <a:srgbClr val="5B6575"/>
                </a:solidFill>
                <a:latin typeface="Calibri"/>
              </a:rPr>
              <a:t>autor.</a:t>
            </a:r>
          </a:p>
        </p:txBody>
      </p:sp>
      <p:sp>
        <p:nvSpPr>
          <p:cNvPr id="248" name="Rounded Rectangle 247"/>
          <p:cNvSpPr/>
          <p:nvPr/>
        </p:nvSpPr>
        <p:spPr>
          <a:xfrm>
            <a:off x="7937500" y="1492250"/>
            <a:ext cx="165100" cy="165100"/>
          </a:xfrm>
          <a:prstGeom prst="roundRect">
            <a:avLst>
              <a:gd name="adj" fmla="val 2692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8204200" y="1442606"/>
            <a:ext cx="406400" cy="279082"/>
          </a:xfrm>
          <a:prstGeom prst="rect">
            <a:avLst/>
          </a:prstGeom>
          <a:noFill/>
        </p:spPr>
        <p:txBody>
          <a:bodyPr wrap="square" lIns="0" rIns="0" tIns="0" bIns="0" anchor="t"/>
          <a:lstStyle/>
          <a:p>
            <a:pPr algn="l">
              <a:lnSpc>
                <a:spcPts val="2198"/>
              </a:lnSpc>
              <a:spcBef>
                <a:spcPts val="0"/>
              </a:spcBef>
              <a:spcAft>
                <a:spcPts val="0"/>
              </a:spcAft>
            </a:pPr>
            <a:r>
              <a:rPr sz="1800" b="1" i="0">
                <a:solidFill>
                  <a:srgbClr val="1F2937"/>
                </a:solidFill>
                <a:latin typeface="Calibri"/>
              </a:rPr>
              <a:t>18</a:t>
            </a:r>
          </a:p>
        </p:txBody>
      </p:sp>
      <p:sp>
        <p:nvSpPr>
          <p:cNvPr id="250" name="TextBox 249"/>
          <p:cNvSpPr txBox="1"/>
          <p:nvPr/>
        </p:nvSpPr>
        <p:spPr>
          <a:xfrm>
            <a:off x="8661400" y="1475642"/>
            <a:ext cx="2919984" cy="209296"/>
          </a:xfrm>
          <a:prstGeom prst="rect">
            <a:avLst/>
          </a:prstGeom>
          <a:noFill/>
        </p:spPr>
        <p:txBody>
          <a:bodyPr wrap="square" lIns="0" rIns="0" tIns="0" bIns="0" anchor="t"/>
          <a:lstStyle/>
          <a:p>
            <a:pPr algn="l">
              <a:lnSpc>
                <a:spcPts val="1648"/>
              </a:lnSpc>
              <a:spcBef>
                <a:spcPts val="0"/>
              </a:spcBef>
              <a:spcAft>
                <a:spcPts val="0"/>
              </a:spcAft>
            </a:pPr>
            <a:r>
              <a:rPr sz="1350" b="0" i="0">
                <a:solidFill>
                  <a:srgbClr val="1F2937"/>
                </a:solidFill>
                <a:latin typeface="Calibri"/>
              </a:rPr>
              <a:t>universo: procedimiento y su verificación</a:t>
            </a:r>
          </a:p>
        </p:txBody>
      </p:sp>
      <p:sp>
        <p:nvSpPr>
          <p:cNvPr id="251" name="Rounded Rectangle 250"/>
          <p:cNvSpPr/>
          <p:nvPr/>
        </p:nvSpPr>
        <p:spPr>
          <a:xfrm>
            <a:off x="7937500" y="1911350"/>
            <a:ext cx="165100" cy="165100"/>
          </a:xfrm>
          <a:prstGeom prst="roundRect">
            <a:avLst>
              <a:gd name="adj" fmla="val 26923"/>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8204200" y="1861706"/>
            <a:ext cx="406400" cy="279082"/>
          </a:xfrm>
          <a:prstGeom prst="rect">
            <a:avLst/>
          </a:prstGeom>
          <a:noFill/>
        </p:spPr>
        <p:txBody>
          <a:bodyPr wrap="square" lIns="0" rIns="0" tIns="0" bIns="0" anchor="t"/>
          <a:lstStyle/>
          <a:p>
            <a:pPr algn="l">
              <a:lnSpc>
                <a:spcPts val="2198"/>
              </a:lnSpc>
              <a:spcBef>
                <a:spcPts val="0"/>
              </a:spcBef>
              <a:spcAft>
                <a:spcPts val="0"/>
              </a:spcAft>
            </a:pPr>
            <a:r>
              <a:rPr sz="1800" b="1" i="0">
                <a:solidFill>
                  <a:srgbClr val="1F2937"/>
                </a:solidFill>
                <a:latin typeface="Calibri"/>
              </a:rPr>
              <a:t>12</a:t>
            </a:r>
          </a:p>
        </p:txBody>
      </p:sp>
      <p:sp>
        <p:nvSpPr>
          <p:cNvPr id="253" name="TextBox 252"/>
          <p:cNvSpPr txBox="1"/>
          <p:nvPr/>
        </p:nvSpPr>
        <p:spPr>
          <a:xfrm>
            <a:off x="8661400" y="1894742"/>
            <a:ext cx="1993519" cy="209296"/>
          </a:xfrm>
          <a:prstGeom prst="rect">
            <a:avLst/>
          </a:prstGeom>
          <a:noFill/>
        </p:spPr>
        <p:txBody>
          <a:bodyPr wrap="square" lIns="0" rIns="0" tIns="0" bIns="0" anchor="t"/>
          <a:lstStyle/>
          <a:p>
            <a:pPr algn="l">
              <a:lnSpc>
                <a:spcPts val="1648"/>
              </a:lnSpc>
              <a:spcBef>
                <a:spcPts val="0"/>
              </a:spcBef>
              <a:spcAft>
                <a:spcPts val="0"/>
              </a:spcAft>
            </a:pPr>
            <a:r>
              <a:rPr sz="1350" b="0" i="0">
                <a:solidFill>
                  <a:srgbClr val="1F2937"/>
                </a:solidFill>
                <a:latin typeface="Calibri"/>
              </a:rPr>
              <a:t>anteriores al procedimiento</a:t>
            </a:r>
          </a:p>
        </p:txBody>
      </p:sp>
      <p:sp>
        <p:nvSpPr>
          <p:cNvPr id="254" name="Rounded Rectangle 253"/>
          <p:cNvSpPr/>
          <p:nvPr/>
        </p:nvSpPr>
        <p:spPr>
          <a:xfrm>
            <a:off x="7937500" y="2330450"/>
            <a:ext cx="165100" cy="165100"/>
          </a:xfrm>
          <a:prstGeom prst="roundRect">
            <a:avLst>
              <a:gd name="adj" fmla="val 2692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8204200" y="2280806"/>
            <a:ext cx="406400" cy="279082"/>
          </a:xfrm>
          <a:prstGeom prst="rect">
            <a:avLst/>
          </a:prstGeom>
          <a:noFill/>
        </p:spPr>
        <p:txBody>
          <a:bodyPr wrap="square" lIns="0" rIns="0" tIns="0" bIns="0" anchor="t"/>
          <a:lstStyle/>
          <a:p>
            <a:pPr algn="l">
              <a:lnSpc>
                <a:spcPts val="2198"/>
              </a:lnSpc>
              <a:spcBef>
                <a:spcPts val="0"/>
              </a:spcBef>
              <a:spcAft>
                <a:spcPts val="0"/>
              </a:spcAft>
            </a:pPr>
            <a:r>
              <a:rPr sz="1800" b="1" i="0">
                <a:solidFill>
                  <a:srgbClr val="1F2937"/>
                </a:solidFill>
                <a:latin typeface="Calibri"/>
              </a:rPr>
              <a:t>18</a:t>
            </a:r>
          </a:p>
        </p:txBody>
      </p:sp>
      <p:sp>
        <p:nvSpPr>
          <p:cNvPr id="256" name="TextBox 255"/>
          <p:cNvSpPr txBox="1"/>
          <p:nvPr/>
        </p:nvSpPr>
        <p:spPr>
          <a:xfrm>
            <a:off x="8661400" y="2313842"/>
            <a:ext cx="1984502" cy="209296"/>
          </a:xfrm>
          <a:prstGeom prst="rect">
            <a:avLst/>
          </a:prstGeom>
          <a:noFill/>
        </p:spPr>
        <p:txBody>
          <a:bodyPr wrap="square" lIns="0" rIns="0" tIns="0" bIns="0" anchor="t"/>
          <a:lstStyle/>
          <a:p>
            <a:pPr algn="l">
              <a:lnSpc>
                <a:spcPts val="1648"/>
              </a:lnSpc>
              <a:spcBef>
                <a:spcPts val="0"/>
              </a:spcBef>
              <a:spcAft>
                <a:spcPts val="0"/>
              </a:spcAft>
            </a:pPr>
            <a:r>
              <a:rPr sz="1350" b="0" i="0">
                <a:solidFill>
                  <a:srgbClr val="1F2937"/>
                </a:solidFill>
                <a:latin typeface="Calibri"/>
              </a:rPr>
              <a:t>fuera del alcance disciplinar</a:t>
            </a:r>
          </a:p>
        </p:txBody>
      </p:sp>
      <p:sp>
        <p:nvSpPr>
          <p:cNvPr id="257" name="Rounded Rectangle 256"/>
          <p:cNvSpPr/>
          <p:nvPr/>
        </p:nvSpPr>
        <p:spPr>
          <a:xfrm>
            <a:off x="7937500" y="2749550"/>
            <a:ext cx="165100" cy="165100"/>
          </a:xfrm>
          <a:prstGeom prst="roundRect">
            <a:avLst>
              <a:gd name="adj" fmla="val 26923"/>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8204200" y="2699906"/>
            <a:ext cx="406400" cy="279082"/>
          </a:xfrm>
          <a:prstGeom prst="rect">
            <a:avLst/>
          </a:prstGeom>
          <a:noFill/>
        </p:spPr>
        <p:txBody>
          <a:bodyPr wrap="square" lIns="0" rIns="0" tIns="0" bIns="0" anchor="t"/>
          <a:lstStyle/>
          <a:p>
            <a:pPr algn="l">
              <a:lnSpc>
                <a:spcPts val="2198"/>
              </a:lnSpc>
              <a:spcBef>
                <a:spcPts val="0"/>
              </a:spcBef>
              <a:spcAft>
                <a:spcPts val="0"/>
              </a:spcAft>
            </a:pPr>
            <a:r>
              <a:rPr sz="1800" b="1" i="0">
                <a:solidFill>
                  <a:srgbClr val="1F2937"/>
                </a:solidFill>
                <a:latin typeface="Calibri"/>
              </a:rPr>
              <a:t>1</a:t>
            </a:r>
          </a:p>
        </p:txBody>
      </p:sp>
      <p:sp>
        <p:nvSpPr>
          <p:cNvPr id="259" name="TextBox 258"/>
          <p:cNvSpPr txBox="1"/>
          <p:nvPr/>
        </p:nvSpPr>
        <p:spPr>
          <a:xfrm>
            <a:off x="8661400" y="2732942"/>
            <a:ext cx="2783205" cy="209296"/>
          </a:xfrm>
          <a:prstGeom prst="rect">
            <a:avLst/>
          </a:prstGeom>
          <a:noFill/>
        </p:spPr>
        <p:txBody>
          <a:bodyPr wrap="square" lIns="0" rIns="0" tIns="0" bIns="0" anchor="t"/>
          <a:lstStyle/>
          <a:p>
            <a:pPr algn="l">
              <a:lnSpc>
                <a:spcPts val="1648"/>
              </a:lnSpc>
              <a:spcBef>
                <a:spcPts val="0"/>
              </a:spcBef>
              <a:spcAft>
                <a:spcPts val="0"/>
              </a:spcAft>
            </a:pPr>
            <a:r>
              <a:rPr sz="1350" b="0" i="0">
                <a:solidFill>
                  <a:srgbClr val="1F2937"/>
                </a:solidFill>
                <a:latin typeface="Calibri"/>
              </a:rPr>
              <a:t>no expuesto: FEM3 (deducción teórica)</a:t>
            </a:r>
          </a:p>
        </p:txBody>
      </p:sp>
      <p:sp>
        <p:nvSpPr>
          <p:cNvPr id="260" name="TextBox 259"/>
          <p:cNvSpPr txBox="1"/>
          <p:nvPr/>
        </p:nvSpPr>
        <p:spPr>
          <a:xfrm>
            <a:off x="7937500" y="3086290"/>
            <a:ext cx="3691890" cy="749300"/>
          </a:xfrm>
          <a:prstGeom prst="rect">
            <a:avLst/>
          </a:prstGeom>
          <a:noFill/>
        </p:spPr>
        <p:txBody>
          <a:bodyPr wrap="square" lIns="0" rIns="0" tIns="0" bIns="0" anchor="t"/>
          <a:lstStyle/>
          <a:p>
            <a:pPr algn="l">
              <a:lnSpc>
                <a:spcPts val="5900"/>
              </a:lnSpc>
              <a:spcBef>
                <a:spcPts val="0"/>
              </a:spcBef>
              <a:spcAft>
                <a:spcPts val="0"/>
              </a:spcAft>
            </a:pPr>
            <a:r>
              <a:rPr sz="5900" b="1" i="0">
                <a:solidFill>
                  <a:srgbClr val="2E8B57"/>
                </a:solidFill>
                <a:latin typeface="Calibri"/>
              </a:rPr>
              <a:t>18</a:t>
            </a:r>
            <a:r>
              <a:rPr sz="2655" b="1" i="0">
                <a:solidFill>
                  <a:srgbClr val="3F4A5A"/>
                </a:solidFill>
                <a:latin typeface="Calibri"/>
              </a:rPr>
              <a:t>de 18</a:t>
            </a:r>
          </a:p>
        </p:txBody>
      </p:sp>
      <p:sp>
        <p:nvSpPr>
          <p:cNvPr id="261" name="TextBox 260"/>
          <p:cNvSpPr txBox="1"/>
          <p:nvPr/>
        </p:nvSpPr>
        <p:spPr>
          <a:xfrm>
            <a:off x="7937500" y="3813175"/>
            <a:ext cx="3691890"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3F4A5A"/>
                </a:solidFill>
                <a:latin typeface="Calibri"/>
              </a:rPr>
              <a:t>con instrumento en EduFEM</a:t>
            </a:r>
          </a:p>
        </p:txBody>
      </p:sp>
      <p:sp>
        <p:nvSpPr>
          <p:cNvPr id="262" name="Rounded Rectangle 261"/>
          <p:cNvSpPr/>
          <p:nvPr/>
        </p:nvSpPr>
        <p:spPr>
          <a:xfrm>
            <a:off x="7940675" y="4178300"/>
            <a:ext cx="3613150" cy="1263650"/>
          </a:xfrm>
          <a:prstGeom prst="roundRect">
            <a:avLst>
              <a:gd name="adj" fmla="val 577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8096250" y="4315080"/>
            <a:ext cx="336804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FEA34</a:t>
            </a:r>
          </a:p>
        </p:txBody>
      </p:sp>
      <p:sp>
        <p:nvSpPr>
          <p:cNvPr id="264" name="TextBox 263"/>
          <p:cNvSpPr txBox="1"/>
          <p:nvPr/>
        </p:nvSpPr>
        <p:spPr>
          <a:xfrm>
            <a:off x="8096250" y="4590326"/>
            <a:ext cx="3368040"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Correlacionar con referencias externas</a:t>
            </a:r>
          </a:p>
        </p:txBody>
      </p:sp>
      <p:sp>
        <p:nvSpPr>
          <p:cNvPr id="265" name="TextBox 264"/>
          <p:cNvSpPr txBox="1"/>
          <p:nvPr/>
        </p:nvSpPr>
        <p:spPr>
          <a:xfrm>
            <a:off x="8096250" y="4856996"/>
            <a:ext cx="3368040" cy="420624"/>
          </a:xfrm>
          <a:prstGeom prst="rect">
            <a:avLst/>
          </a:prstGeom>
          <a:noFill/>
        </p:spPr>
        <p:txBody>
          <a:bodyPr wrap="square" lIns="0" rIns="0" tIns="0" bIns="0" anchor="t"/>
          <a:lstStyle/>
          <a:p>
            <a:pPr algn="l">
              <a:lnSpc>
                <a:spcPts val="1656"/>
              </a:lnSpc>
              <a:spcBef>
                <a:spcPts val="0"/>
              </a:spcBef>
              <a:spcAft>
                <a:spcPts val="0"/>
              </a:spcAft>
            </a:pPr>
            <a:r>
              <a:rPr sz="1200" b="1" i="0">
                <a:solidFill>
                  <a:srgbClr val="2E8B57"/>
                </a:solidFill>
                <a:latin typeface="Calibri"/>
              </a:rPr>
              <a:t>Instrumento:</a:t>
            </a:r>
            <a:r>
              <a:rPr sz="1200" b="0" i="0">
                <a:solidFill>
                  <a:srgbClr val="1F2937"/>
                </a:solidFill>
                <a:latin typeface="Calibri"/>
              </a:rPr>
              <a:t> Contraste con la solución analítica y</a:t>
            </a:r>
            <a:br/>
            <a:r>
              <a:rPr sz="1200" b="0" i="0">
                <a:solidFill>
                  <a:srgbClr val="1F2937"/>
                </a:solidFill>
                <a:latin typeface="Calibri"/>
              </a:rPr>
              <a:t>con SAP2000</a:t>
            </a:r>
          </a:p>
        </p:txBody>
      </p:sp>
      <p:sp>
        <p:nvSpPr>
          <p:cNvPr id="266" name="Rounded Rectangle 265"/>
          <p:cNvSpPr/>
          <p:nvPr/>
        </p:nvSpPr>
        <p:spPr>
          <a:xfrm>
            <a:off x="635000" y="4419600"/>
            <a:ext cx="7048500" cy="590550"/>
          </a:xfrm>
          <a:prstGeom prst="roundRect">
            <a:avLst>
              <a:gd name="adj" fmla="val 17204"/>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774700" y="4505801"/>
            <a:ext cx="6904482"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1F2937"/>
                </a:solidFill>
                <a:latin typeface="Calibri"/>
              </a:rPr>
              <a:t>Prueba</a:t>
            </a:r>
            <a:r>
              <a:rPr sz="1250" b="1" i="0">
                <a:solidFill>
                  <a:srgbClr val="1F2937"/>
                </a:solidFill>
                <a:latin typeface="Calibri"/>
              </a:rPr>
              <a:t> cobertura</a:t>
            </a:r>
            <a:r>
              <a:rPr sz="1250" b="0" i="0">
                <a:solidFill>
                  <a:srgbClr val="1F2937"/>
                </a:solidFill>
                <a:latin typeface="Calibri"/>
              </a:rPr>
              <a:t>, no suficiencia ni efecto sobre quien lo usa. Es un</a:t>
            </a:r>
            <a:r>
              <a:rPr sz="1250" b="1" i="0">
                <a:solidFill>
                  <a:srgbClr val="1F2937"/>
                </a:solidFill>
                <a:latin typeface="Calibri"/>
              </a:rPr>
              <a:t> cotejo del autor</a:t>
            </a:r>
            <a:r>
              <a:rPr sz="1250" b="0" i="0">
                <a:solidFill>
                  <a:srgbClr val="1F2937"/>
                </a:solidFill>
                <a:latin typeface="Calibri"/>
              </a:rPr>
              <a:t> con una regla de</a:t>
            </a:r>
            <a:br/>
            <a:r>
              <a:rPr sz="1250" b="0" i="0">
                <a:solidFill>
                  <a:srgbClr val="1F2937"/>
                </a:solidFill>
                <a:latin typeface="Calibri"/>
              </a:rPr>
              <a:t>marcado escrita. FEA18 y FEA30 los ejecuta el usuario sobre su modelo.</a:t>
            </a:r>
          </a:p>
        </p:txBody>
      </p:sp>
      <p:sp>
        <p:nvSpPr>
          <p:cNvPr id="268" name="TextBox 267"/>
          <p:cNvSpPr txBox="1"/>
          <p:nvPr/>
        </p:nvSpPr>
        <p:spPr>
          <a:xfrm>
            <a:off x="8096250" y="4315080"/>
            <a:ext cx="336804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FEM9</a:t>
            </a:r>
          </a:p>
        </p:txBody>
      </p:sp>
      <p:sp>
        <p:nvSpPr>
          <p:cNvPr id="269" name="TextBox 268"/>
          <p:cNvSpPr txBox="1"/>
          <p:nvPr/>
        </p:nvSpPr>
        <p:spPr>
          <a:xfrm>
            <a:off x="8096250" y="4590326"/>
            <a:ext cx="3368040"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Integración numérica de Gauss</a:t>
            </a:r>
          </a:p>
        </p:txBody>
      </p:sp>
      <p:sp>
        <p:nvSpPr>
          <p:cNvPr id="270" name="TextBox 269"/>
          <p:cNvSpPr txBox="1"/>
          <p:nvPr/>
        </p:nvSpPr>
        <p:spPr>
          <a:xfrm>
            <a:off x="8096250" y="4856996"/>
            <a:ext cx="3368040" cy="420624"/>
          </a:xfrm>
          <a:prstGeom prst="rect">
            <a:avLst/>
          </a:prstGeom>
          <a:noFill/>
        </p:spPr>
        <p:txBody>
          <a:bodyPr wrap="square" lIns="0" rIns="0" tIns="0" bIns="0" anchor="t"/>
          <a:lstStyle/>
          <a:p>
            <a:pPr algn="l">
              <a:lnSpc>
                <a:spcPts val="1656"/>
              </a:lnSpc>
              <a:spcBef>
                <a:spcPts val="0"/>
              </a:spcBef>
              <a:spcAft>
                <a:spcPts val="0"/>
              </a:spcAft>
            </a:pPr>
            <a:r>
              <a:rPr sz="1200" b="1" i="0">
                <a:solidFill>
                  <a:srgbClr val="2E8B57"/>
                </a:solidFill>
                <a:latin typeface="Calibri"/>
              </a:rPr>
              <a:t>Instrumento:</a:t>
            </a:r>
            <a:r>
              <a:rPr sz="1200" b="0" i="0">
                <a:solidFill>
                  <a:srgbClr val="1F2937"/>
                </a:solidFill>
                <a:latin typeface="Calibri"/>
              </a:rPr>
              <a:t> M5 (puntos de Gauss variables); sonda</a:t>
            </a:r>
            <a:br/>
            <a:r>
              <a:rPr sz="1200" b="0" i="0">
                <a:solidFill>
                  <a:srgbClr val="1F2937"/>
                </a:solidFill>
                <a:latin typeface="Calibri"/>
              </a:rPr>
              <a:t>del post-proceso</a:t>
            </a:r>
          </a:p>
        </p:txBody>
      </p:sp>
      <p:sp>
        <p:nvSpPr>
          <p:cNvPr id="271" name="Rounded Rectangle 270"/>
          <p:cNvSpPr/>
          <p:nvPr/>
        </p:nvSpPr>
        <p:spPr>
          <a:xfrm>
            <a:off x="7940675" y="3101975"/>
            <a:ext cx="3613150" cy="1263650"/>
          </a:xfrm>
          <a:prstGeom prst="roundRect">
            <a:avLst>
              <a:gd name="adj" fmla="val 577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8096250" y="3225720"/>
            <a:ext cx="3368040" cy="201549"/>
          </a:xfrm>
          <a:prstGeom prst="rect">
            <a:avLst/>
          </a:prstGeom>
          <a:noFill/>
        </p:spPr>
        <p:txBody>
          <a:bodyPr wrap="square" lIns="0" rIns="0" tIns="0" bIns="0" anchor="t"/>
          <a:lstStyle/>
          <a:p>
            <a:pPr algn="l">
              <a:lnSpc>
                <a:spcPts val="1587"/>
              </a:lnSpc>
              <a:spcBef>
                <a:spcPts val="0"/>
              </a:spcBef>
              <a:spcAft>
                <a:spcPts val="0"/>
              </a:spcAft>
            </a:pPr>
            <a:r>
              <a:rPr sz="1150" b="0" i="0">
                <a:solidFill>
                  <a:srgbClr val="5B6575"/>
                </a:solidFill>
                <a:latin typeface="Calibri"/>
              </a:rPr>
              <a:t>Clic en un ítem para ver su instrumento.</a:t>
            </a:r>
          </a:p>
        </p:txBody>
      </p:sp>
      <p:sp>
        <p:nvSpPr>
          <p:cNvPr id="273" name="TextBox 272"/>
          <p:cNvSpPr txBox="1"/>
          <p:nvPr/>
        </p:nvSpPr>
        <p:spPr>
          <a:xfrm>
            <a:off x="7937500" y="1498790"/>
            <a:ext cx="3691890" cy="749300"/>
          </a:xfrm>
          <a:prstGeom prst="rect">
            <a:avLst/>
          </a:prstGeom>
          <a:noFill/>
        </p:spPr>
        <p:txBody>
          <a:bodyPr wrap="square" lIns="0" rIns="0" tIns="0" bIns="0" anchor="t"/>
          <a:lstStyle/>
          <a:p>
            <a:pPr algn="l">
              <a:lnSpc>
                <a:spcPts val="5900"/>
              </a:lnSpc>
              <a:spcBef>
                <a:spcPts val="0"/>
              </a:spcBef>
              <a:spcAft>
                <a:spcPts val="0"/>
              </a:spcAft>
            </a:pPr>
            <a:r>
              <a:rPr sz="5900" b="1" i="0">
                <a:solidFill>
                  <a:srgbClr val="1B2A4A"/>
                </a:solidFill>
                <a:latin typeface="Calibri"/>
              </a:rPr>
              <a:t>49</a:t>
            </a:r>
          </a:p>
        </p:txBody>
      </p:sp>
      <p:sp>
        <p:nvSpPr>
          <p:cNvPr id="274" name="TextBox 273"/>
          <p:cNvSpPr txBox="1"/>
          <p:nvPr/>
        </p:nvSpPr>
        <p:spPr>
          <a:xfrm>
            <a:off x="7937500" y="2225675"/>
            <a:ext cx="3691890"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3F4A5A"/>
                </a:solidFill>
                <a:latin typeface="Calibri"/>
              </a:rPr>
              <a:t>ítems del consenso</a:t>
            </a:r>
          </a:p>
        </p:txBody>
      </p:sp>
      <p:sp>
        <p:nvSpPr>
          <p:cNvPr id="275" name="Rounded Rectangle 274"/>
          <p:cNvSpPr/>
          <p:nvPr/>
        </p:nvSpPr>
        <p:spPr>
          <a:xfrm>
            <a:off x="7940675" y="2590800"/>
            <a:ext cx="3613150" cy="1263650"/>
          </a:xfrm>
          <a:prstGeom prst="roundRect">
            <a:avLst>
              <a:gd name="adj" fmla="val 577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8096250" y="2714545"/>
            <a:ext cx="3368040" cy="201549"/>
          </a:xfrm>
          <a:prstGeom prst="rect">
            <a:avLst/>
          </a:prstGeom>
          <a:noFill/>
        </p:spPr>
        <p:txBody>
          <a:bodyPr wrap="square" lIns="0" rIns="0" tIns="0" bIns="0" anchor="t"/>
          <a:lstStyle/>
          <a:p>
            <a:pPr algn="l">
              <a:lnSpc>
                <a:spcPts val="1587"/>
              </a:lnSpc>
              <a:spcBef>
                <a:spcPts val="0"/>
              </a:spcBef>
              <a:spcAft>
                <a:spcPts val="0"/>
              </a:spcAft>
            </a:pPr>
            <a:r>
              <a:rPr sz="1150" b="0" i="0">
                <a:solidFill>
                  <a:srgbClr val="5B6575"/>
                </a:solidFill>
                <a:latin typeface="Calibri"/>
              </a:rPr>
              <a:t>Clic en un ítem para ver su instrumento.</a:t>
            </a:r>
          </a:p>
        </p:txBody>
      </p:sp>
      <p:sp>
        <p:nvSpPr>
          <p:cNvPr id="277" name="Rectangle 27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80" name="TextBox 279"/>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3.6.2 · Tabla 3.7</a:t>
            </a:r>
          </a:p>
        </p:txBody>
      </p:sp>
      <p:sp>
        <p:nvSpPr>
          <p:cNvPr id="281" name="TextBox 280"/>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44</a:t>
            </a:r>
          </a:p>
        </p:txBody>
      </p:sp>
      <p:sp>
        <p:nvSpPr>
          <p:cNvPr id="282"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Enlace a sep-diseno">
            <a:hlinkClick action="ppaction://hlinksldjump" r:id="rId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Enlace a sep-resultados">
            <a:hlinkClick action="ppaction://hlinksldjump" r:id="rId5"/>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Enlace a sep-analisis">
            <a:hlinkClick action="ppaction://hlinksldjump" r:id="rId6"/>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Rounded Rectangle 914">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09" fill="hold">
                      <p:stCondLst>
                        <p:cond delay="indefinite"/>
                      </p:stCondLst>
                      <p:childTnLst>
                        <p:par>
                          <p:cTn id="910" fill="hold">
                            <p:stCondLst>
                              <p:cond delay="0"/>
                            </p:stCondLst>
                            <p:childTnLst>
                              <p:par>
                                <p:cTn id="3" presetID="10" presetClass="exit" presetSubtype="0" fill="hold" grpId="0" nodeType="clickEffect">
                                  <p:stCondLst>
                                    <p:cond delay="0"/>
                                  </p:stCondLst>
                                  <p:childTnLst>
                                    <p:animEffect transition="out" filter="fade">
                                      <p:cBhvr>
                                        <p:cTn id="4" dur="200"/>
                                        <p:tgtEl>
                                          <p:spTgt spid="50"/>
                                        </p:tgtEl>
                                      </p:cBhvr>
                                    </p:animEffect>
                                    <p:set>
                                      <p:cBhvr>
                                        <p:cTn id="5" dur="1" fill="hold">
                                          <p:stCondLst>
                                            <p:cond delay="199"/>
                                          </p:stCondLst>
                                        </p:cTn>
                                        <p:tgtEl>
                                          <p:spTgt spid="50"/>
                                        </p:tgtEl>
                                        <p:attrNameLst>
                                          <p:attrName>style.visibility</p:attrName>
                                        </p:attrNameLst>
                                      </p:cBhvr>
                                      <p:to>
                                        <p:strVal val="hidden"/>
                                      </p:to>
                                    </p:set>
                                  </p:childTnLst>
                                </p:cTn>
                              </p:par>
                              <p:par>
                                <p:cTn id="6" presetID="10" presetClass="exit" presetSubtype="0" fill="hold" grpId="0" nodeType="withEffect">
                                  <p:stCondLst>
                                    <p:cond delay="0"/>
                                  </p:stCondLst>
                                  <p:childTnLst>
                                    <p:animEffect transition="out" filter="fade">
                                      <p:cBhvr>
                                        <p:cTn id="7" dur="200"/>
                                        <p:tgtEl>
                                          <p:spTgt spid="51"/>
                                        </p:tgtEl>
                                      </p:cBhvr>
                                    </p:animEffect>
                                    <p:set>
                                      <p:cBhvr>
                                        <p:cTn id="8" dur="1" fill="hold">
                                          <p:stCondLst>
                                            <p:cond delay="199"/>
                                          </p:stCondLst>
                                        </p:cTn>
                                        <p:tgtEl>
                                          <p:spTgt spid="51"/>
                                        </p:tgtEl>
                                        <p:attrNameLst>
                                          <p:attrName>style.visibility</p:attrName>
                                        </p:attrNameLst>
                                      </p:cBhvr>
                                      <p:to>
                                        <p:strVal val="hidden"/>
                                      </p:to>
                                    </p:set>
                                  </p:childTnLst>
                                </p:cTn>
                              </p:par>
                              <p:par>
                                <p:cTn id="9" presetID="10" presetClass="exit" presetSubtype="0" fill="hold" grpId="0" nodeType="withEffect">
                                  <p:stCondLst>
                                    <p:cond delay="0"/>
                                  </p:stCondLst>
                                  <p:childTnLst>
                                    <p:animEffect transition="out" filter="fade">
                                      <p:cBhvr>
                                        <p:cTn id="10" dur="200"/>
                                        <p:tgtEl>
                                          <p:spTgt spid="52"/>
                                        </p:tgtEl>
                                      </p:cBhvr>
                                    </p:animEffect>
                                    <p:set>
                                      <p:cBhvr>
                                        <p:cTn id="11" dur="1" fill="hold">
                                          <p:stCondLst>
                                            <p:cond delay="199"/>
                                          </p:stCondLst>
                                        </p:cTn>
                                        <p:tgtEl>
                                          <p:spTgt spid="52"/>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200"/>
                                        <p:tgtEl>
                                          <p:spTgt spid="53"/>
                                        </p:tgtEl>
                                      </p:cBhvr>
                                    </p:animEffect>
                                    <p:set>
                                      <p:cBhvr>
                                        <p:cTn id="14" dur="1" fill="hold">
                                          <p:stCondLst>
                                            <p:cond delay="199"/>
                                          </p:stCondLst>
                                        </p:cTn>
                                        <p:tgtEl>
                                          <p:spTgt spid="53"/>
                                        </p:tgtEl>
                                        <p:attrNameLst>
                                          <p:attrName>style.visibility</p:attrName>
                                        </p:attrNameLst>
                                      </p:cBhvr>
                                      <p:to>
                                        <p:strVal val="hidden"/>
                                      </p:to>
                                    </p:set>
                                  </p:childTnLst>
                                </p:cTn>
                              </p:par>
                              <p:par>
                                <p:cTn id="15" presetID="10" presetClass="exit" presetSubtype="0" fill="hold" grpId="0" nodeType="withEffect">
                                  <p:stCondLst>
                                    <p:cond delay="0"/>
                                  </p:stCondLst>
                                  <p:childTnLst>
                                    <p:animEffect transition="out" filter="fade">
                                      <p:cBhvr>
                                        <p:cTn id="16" dur="200"/>
                                        <p:tgtEl>
                                          <p:spTgt spid="54"/>
                                        </p:tgtEl>
                                      </p:cBhvr>
                                    </p:animEffect>
                                    <p:set>
                                      <p:cBhvr>
                                        <p:cTn id="17" dur="1" fill="hold">
                                          <p:stCondLst>
                                            <p:cond delay="199"/>
                                          </p:stCondLst>
                                        </p:cTn>
                                        <p:tgtEl>
                                          <p:spTgt spid="54"/>
                                        </p:tgtEl>
                                        <p:attrNameLst>
                                          <p:attrName>style.visibility</p:attrName>
                                        </p:attrNameLst>
                                      </p:cBhvr>
                                      <p:to>
                                        <p:strVal val="hidden"/>
                                      </p:to>
                                    </p:set>
                                  </p:childTnLst>
                                </p:cTn>
                              </p:par>
                              <p:par>
                                <p:cTn id="18" presetID="10" presetClass="exit" presetSubtype="0" fill="hold" grpId="0" nodeType="withEffect">
                                  <p:stCondLst>
                                    <p:cond delay="0"/>
                                  </p:stCondLst>
                                  <p:childTnLst>
                                    <p:animEffect transition="out" filter="fade">
                                      <p:cBhvr>
                                        <p:cTn id="19" dur="200"/>
                                        <p:tgtEl>
                                          <p:spTgt spid="55"/>
                                        </p:tgtEl>
                                      </p:cBhvr>
                                    </p:animEffect>
                                    <p:set>
                                      <p:cBhvr>
                                        <p:cTn id="20" dur="1" fill="hold">
                                          <p:stCondLst>
                                            <p:cond delay="199"/>
                                          </p:stCondLst>
                                        </p:cTn>
                                        <p:tgtEl>
                                          <p:spTgt spid="55"/>
                                        </p:tgtEl>
                                        <p:attrNameLst>
                                          <p:attrName>style.visibility</p:attrName>
                                        </p:attrNameLst>
                                      </p:cBhvr>
                                      <p:to>
                                        <p:strVal val="hidden"/>
                                      </p:to>
                                    </p:set>
                                  </p:childTnLst>
                                </p:cTn>
                              </p:par>
                              <p:par>
                                <p:cTn id="21" presetID="10" presetClass="exit" presetSubtype="0" fill="hold" grpId="0" nodeType="withEffect">
                                  <p:stCondLst>
                                    <p:cond delay="0"/>
                                  </p:stCondLst>
                                  <p:childTnLst>
                                    <p:animEffect transition="out" filter="fade">
                                      <p:cBhvr>
                                        <p:cTn id="22" dur="200"/>
                                        <p:tgtEl>
                                          <p:spTgt spid="56"/>
                                        </p:tgtEl>
                                      </p:cBhvr>
                                    </p:animEffect>
                                    <p:set>
                                      <p:cBhvr>
                                        <p:cTn id="23" dur="1" fill="hold">
                                          <p:stCondLst>
                                            <p:cond delay="199"/>
                                          </p:stCondLst>
                                        </p:cTn>
                                        <p:tgtEl>
                                          <p:spTgt spid="56"/>
                                        </p:tgtEl>
                                        <p:attrNameLst>
                                          <p:attrName>style.visibility</p:attrName>
                                        </p:attrNameLst>
                                      </p:cBhvr>
                                      <p:to>
                                        <p:strVal val="hidden"/>
                                      </p:to>
                                    </p:set>
                                  </p:childTnLst>
                                </p:cTn>
                              </p:par>
                              <p:par>
                                <p:cTn id="24" presetID="10" presetClass="exit" presetSubtype="0" fill="hold" grpId="0" nodeType="withEffect">
                                  <p:stCondLst>
                                    <p:cond delay="0"/>
                                  </p:stCondLst>
                                  <p:childTnLst>
                                    <p:animEffect transition="out" filter="fade">
                                      <p:cBhvr>
                                        <p:cTn id="25" dur="200"/>
                                        <p:tgtEl>
                                          <p:spTgt spid="57"/>
                                        </p:tgtEl>
                                      </p:cBhvr>
                                    </p:animEffect>
                                    <p:set>
                                      <p:cBhvr>
                                        <p:cTn id="26" dur="1" fill="hold">
                                          <p:stCondLst>
                                            <p:cond delay="199"/>
                                          </p:stCondLst>
                                        </p:cTn>
                                        <p:tgtEl>
                                          <p:spTgt spid="57"/>
                                        </p:tgtEl>
                                        <p:attrNameLst>
                                          <p:attrName>style.visibility</p:attrName>
                                        </p:attrNameLst>
                                      </p:cBhvr>
                                      <p:to>
                                        <p:strVal val="hidden"/>
                                      </p:to>
                                    </p:set>
                                  </p:childTnLst>
                                </p:cTn>
                              </p:par>
                              <p:par>
                                <p:cTn id="27" presetID="10" presetClass="exit" presetSubtype="0" fill="hold" grpId="0" nodeType="withEffect">
                                  <p:stCondLst>
                                    <p:cond delay="0"/>
                                  </p:stCondLst>
                                  <p:childTnLst>
                                    <p:animEffect transition="out" filter="fade">
                                      <p:cBhvr>
                                        <p:cTn id="28" dur="200"/>
                                        <p:tgtEl>
                                          <p:spTgt spid="58"/>
                                        </p:tgtEl>
                                      </p:cBhvr>
                                    </p:animEffect>
                                    <p:set>
                                      <p:cBhvr>
                                        <p:cTn id="29" dur="1" fill="hold">
                                          <p:stCondLst>
                                            <p:cond delay="199"/>
                                          </p:stCondLst>
                                        </p:cTn>
                                        <p:tgtEl>
                                          <p:spTgt spid="58"/>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31" dur="200"/>
                                        <p:tgtEl>
                                          <p:spTgt spid="59"/>
                                        </p:tgtEl>
                                      </p:cBhvr>
                                    </p:animEffect>
                                    <p:set>
                                      <p:cBhvr>
                                        <p:cTn id="32" dur="1" fill="hold">
                                          <p:stCondLst>
                                            <p:cond delay="199"/>
                                          </p:stCondLst>
                                        </p:cTn>
                                        <p:tgtEl>
                                          <p:spTgt spid="59"/>
                                        </p:tgtEl>
                                        <p:attrNameLst>
                                          <p:attrName>style.visibility</p:attrName>
                                        </p:attrNameLst>
                                      </p:cBhvr>
                                      <p:to>
                                        <p:strVal val="hidden"/>
                                      </p:to>
                                    </p:set>
                                  </p:childTnLst>
                                </p:cTn>
                              </p:par>
                              <p:par>
                                <p:cTn id="33" presetID="10" presetClass="exit" presetSubtype="0" fill="hold" grpId="0" nodeType="withEffect">
                                  <p:stCondLst>
                                    <p:cond delay="0"/>
                                  </p:stCondLst>
                                  <p:childTnLst>
                                    <p:animEffect transition="out" filter="fade">
                                      <p:cBhvr>
                                        <p:cTn id="34" dur="200"/>
                                        <p:tgtEl>
                                          <p:spTgt spid="60"/>
                                        </p:tgtEl>
                                      </p:cBhvr>
                                    </p:animEffect>
                                    <p:set>
                                      <p:cBhvr>
                                        <p:cTn id="35" dur="1" fill="hold">
                                          <p:stCondLst>
                                            <p:cond delay="199"/>
                                          </p:stCondLst>
                                        </p:cTn>
                                        <p:tgtEl>
                                          <p:spTgt spid="60"/>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200"/>
                                        <p:tgtEl>
                                          <p:spTgt spid="61"/>
                                        </p:tgtEl>
                                      </p:cBhvr>
                                    </p:animEffect>
                                    <p:set>
                                      <p:cBhvr>
                                        <p:cTn id="38" dur="1" fill="hold">
                                          <p:stCondLst>
                                            <p:cond delay="199"/>
                                          </p:stCondLst>
                                        </p:cTn>
                                        <p:tgtEl>
                                          <p:spTgt spid="61"/>
                                        </p:tgtEl>
                                        <p:attrNameLst>
                                          <p:attrName>style.visibility</p:attrName>
                                        </p:attrNameLst>
                                      </p:cBhvr>
                                      <p:to>
                                        <p:strVal val="hidden"/>
                                      </p:to>
                                    </p:set>
                                  </p:childTnLst>
                                </p:cTn>
                              </p:par>
                              <p:par>
                                <p:cTn id="39" presetID="10" presetClass="exit" presetSubtype="0" fill="hold" grpId="0" nodeType="withEffect">
                                  <p:stCondLst>
                                    <p:cond delay="0"/>
                                  </p:stCondLst>
                                  <p:childTnLst>
                                    <p:animEffect transition="out" filter="fade">
                                      <p:cBhvr>
                                        <p:cTn id="40" dur="200"/>
                                        <p:tgtEl>
                                          <p:spTgt spid="62"/>
                                        </p:tgtEl>
                                      </p:cBhvr>
                                    </p:animEffect>
                                    <p:set>
                                      <p:cBhvr>
                                        <p:cTn id="41" dur="1" fill="hold">
                                          <p:stCondLst>
                                            <p:cond delay="199"/>
                                          </p:stCondLst>
                                        </p:cTn>
                                        <p:tgtEl>
                                          <p:spTgt spid="62"/>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200"/>
                                        <p:tgtEl>
                                          <p:spTgt spid="63"/>
                                        </p:tgtEl>
                                      </p:cBhvr>
                                    </p:animEffect>
                                    <p:set>
                                      <p:cBhvr>
                                        <p:cTn id="44" dur="1" fill="hold">
                                          <p:stCondLst>
                                            <p:cond delay="199"/>
                                          </p:stCondLst>
                                        </p:cTn>
                                        <p:tgtEl>
                                          <p:spTgt spid="63"/>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200"/>
                                        <p:tgtEl>
                                          <p:spTgt spid="64"/>
                                        </p:tgtEl>
                                      </p:cBhvr>
                                    </p:animEffect>
                                    <p:set>
                                      <p:cBhvr>
                                        <p:cTn id="47" dur="1" fill="hold">
                                          <p:stCondLst>
                                            <p:cond delay="199"/>
                                          </p:stCondLst>
                                        </p:cTn>
                                        <p:tgtEl>
                                          <p:spTgt spid="64"/>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200"/>
                                        <p:tgtEl>
                                          <p:spTgt spid="65"/>
                                        </p:tgtEl>
                                      </p:cBhvr>
                                    </p:animEffect>
                                    <p:set>
                                      <p:cBhvr>
                                        <p:cTn id="50" dur="1" fill="hold">
                                          <p:stCondLst>
                                            <p:cond delay="199"/>
                                          </p:stCondLst>
                                        </p:cTn>
                                        <p:tgtEl>
                                          <p:spTgt spid="65"/>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200"/>
                                        <p:tgtEl>
                                          <p:spTgt spid="66"/>
                                        </p:tgtEl>
                                      </p:cBhvr>
                                    </p:animEffect>
                                    <p:set>
                                      <p:cBhvr>
                                        <p:cTn id="53" dur="1" fill="hold">
                                          <p:stCondLst>
                                            <p:cond delay="199"/>
                                          </p:stCondLst>
                                        </p:cTn>
                                        <p:tgtEl>
                                          <p:spTgt spid="66"/>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200"/>
                                        <p:tgtEl>
                                          <p:spTgt spid="67"/>
                                        </p:tgtEl>
                                      </p:cBhvr>
                                    </p:animEffect>
                                    <p:set>
                                      <p:cBhvr>
                                        <p:cTn id="56" dur="1" fill="hold">
                                          <p:stCondLst>
                                            <p:cond delay="199"/>
                                          </p:stCondLst>
                                        </p:cTn>
                                        <p:tgtEl>
                                          <p:spTgt spid="67"/>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200"/>
                                        <p:tgtEl>
                                          <p:spTgt spid="68"/>
                                        </p:tgtEl>
                                      </p:cBhvr>
                                    </p:animEffect>
                                    <p:set>
                                      <p:cBhvr>
                                        <p:cTn id="59" dur="1" fill="hold">
                                          <p:stCondLst>
                                            <p:cond delay="199"/>
                                          </p:stCondLst>
                                        </p:cTn>
                                        <p:tgtEl>
                                          <p:spTgt spid="68"/>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200"/>
                                        <p:tgtEl>
                                          <p:spTgt spid="69"/>
                                        </p:tgtEl>
                                      </p:cBhvr>
                                    </p:animEffect>
                                    <p:set>
                                      <p:cBhvr>
                                        <p:cTn id="62" dur="1" fill="hold">
                                          <p:stCondLst>
                                            <p:cond delay="199"/>
                                          </p:stCondLst>
                                        </p:cTn>
                                        <p:tgtEl>
                                          <p:spTgt spid="69"/>
                                        </p:tgtEl>
                                        <p:attrNameLst>
                                          <p:attrName>style.visibility</p:attrName>
                                        </p:attrNameLst>
                                      </p:cBhvr>
                                      <p:to>
                                        <p:strVal val="hidden"/>
                                      </p:to>
                                    </p:set>
                                  </p:childTnLst>
                                </p:cTn>
                              </p:par>
                              <p:par>
                                <p:cTn id="63" presetID="10" presetClass="exit" presetSubtype="0" fill="hold" grpId="0" nodeType="withEffect">
                                  <p:stCondLst>
                                    <p:cond delay="0"/>
                                  </p:stCondLst>
                                  <p:childTnLst>
                                    <p:animEffect transition="out" filter="fade">
                                      <p:cBhvr>
                                        <p:cTn id="64" dur="200"/>
                                        <p:tgtEl>
                                          <p:spTgt spid="70"/>
                                        </p:tgtEl>
                                      </p:cBhvr>
                                    </p:animEffect>
                                    <p:set>
                                      <p:cBhvr>
                                        <p:cTn id="65" dur="1" fill="hold">
                                          <p:stCondLst>
                                            <p:cond delay="199"/>
                                          </p:stCondLst>
                                        </p:cTn>
                                        <p:tgtEl>
                                          <p:spTgt spid="70"/>
                                        </p:tgtEl>
                                        <p:attrNameLst>
                                          <p:attrName>style.visibility</p:attrName>
                                        </p:attrNameLst>
                                      </p:cBhvr>
                                      <p:to>
                                        <p:strVal val="hidden"/>
                                      </p:to>
                                    </p:set>
                                  </p:childTnLst>
                                </p:cTn>
                              </p:par>
                              <p:par>
                                <p:cTn id="66" presetID="10" presetClass="exit" presetSubtype="0" fill="hold" grpId="0" nodeType="withEffect">
                                  <p:stCondLst>
                                    <p:cond delay="0"/>
                                  </p:stCondLst>
                                  <p:childTnLst>
                                    <p:animEffect transition="out" filter="fade">
                                      <p:cBhvr>
                                        <p:cTn id="67" dur="200"/>
                                        <p:tgtEl>
                                          <p:spTgt spid="71"/>
                                        </p:tgtEl>
                                      </p:cBhvr>
                                    </p:animEffect>
                                    <p:set>
                                      <p:cBhvr>
                                        <p:cTn id="68" dur="1" fill="hold">
                                          <p:stCondLst>
                                            <p:cond delay="199"/>
                                          </p:stCondLst>
                                        </p:cTn>
                                        <p:tgtEl>
                                          <p:spTgt spid="71"/>
                                        </p:tgtEl>
                                        <p:attrNameLst>
                                          <p:attrName>style.visibility</p:attrName>
                                        </p:attrNameLst>
                                      </p:cBhvr>
                                      <p:to>
                                        <p:strVal val="hidden"/>
                                      </p:to>
                                    </p:set>
                                  </p:childTnLst>
                                </p:cTn>
                              </p:par>
                              <p:par>
                                <p:cTn id="69" presetID="10" presetClass="exit" presetSubtype="0" fill="hold" grpId="0" nodeType="withEffect">
                                  <p:stCondLst>
                                    <p:cond delay="0"/>
                                  </p:stCondLst>
                                  <p:childTnLst>
                                    <p:animEffect transition="out" filter="fade">
                                      <p:cBhvr>
                                        <p:cTn id="70" dur="200"/>
                                        <p:tgtEl>
                                          <p:spTgt spid="72"/>
                                        </p:tgtEl>
                                      </p:cBhvr>
                                    </p:animEffect>
                                    <p:set>
                                      <p:cBhvr>
                                        <p:cTn id="71" dur="1" fill="hold">
                                          <p:stCondLst>
                                            <p:cond delay="199"/>
                                          </p:stCondLst>
                                        </p:cTn>
                                        <p:tgtEl>
                                          <p:spTgt spid="72"/>
                                        </p:tgtEl>
                                        <p:attrNameLst>
                                          <p:attrName>style.visibility</p:attrName>
                                        </p:attrNameLst>
                                      </p:cBhvr>
                                      <p:to>
                                        <p:strVal val="hidden"/>
                                      </p:to>
                                    </p:set>
                                  </p:childTnLst>
                                </p:cTn>
                              </p:par>
                              <p:par>
                                <p:cTn id="72" presetID="10" presetClass="exit" presetSubtype="0" fill="hold" grpId="0" nodeType="withEffect">
                                  <p:stCondLst>
                                    <p:cond delay="0"/>
                                  </p:stCondLst>
                                  <p:childTnLst>
                                    <p:animEffect transition="out" filter="fade">
                                      <p:cBhvr>
                                        <p:cTn id="73" dur="200"/>
                                        <p:tgtEl>
                                          <p:spTgt spid="73"/>
                                        </p:tgtEl>
                                      </p:cBhvr>
                                    </p:animEffect>
                                    <p:set>
                                      <p:cBhvr>
                                        <p:cTn id="74" dur="1" fill="hold">
                                          <p:stCondLst>
                                            <p:cond delay="199"/>
                                          </p:stCondLst>
                                        </p:cTn>
                                        <p:tgtEl>
                                          <p:spTgt spid="73"/>
                                        </p:tgtEl>
                                        <p:attrNameLst>
                                          <p:attrName>style.visibility</p:attrName>
                                        </p:attrNameLst>
                                      </p:cBhvr>
                                      <p:to>
                                        <p:strVal val="hidden"/>
                                      </p:to>
                                    </p:set>
                                  </p:childTnLst>
                                </p:cTn>
                              </p:par>
                              <p:par>
                                <p:cTn id="75" presetID="10" presetClass="exit" presetSubtype="0" fill="hold" grpId="0" nodeType="withEffect">
                                  <p:stCondLst>
                                    <p:cond delay="0"/>
                                  </p:stCondLst>
                                  <p:childTnLst>
                                    <p:animEffect transition="out" filter="fade">
                                      <p:cBhvr>
                                        <p:cTn id="76" dur="200"/>
                                        <p:tgtEl>
                                          <p:spTgt spid="74"/>
                                        </p:tgtEl>
                                      </p:cBhvr>
                                    </p:animEffect>
                                    <p:set>
                                      <p:cBhvr>
                                        <p:cTn id="77" dur="1" fill="hold">
                                          <p:stCondLst>
                                            <p:cond delay="199"/>
                                          </p:stCondLst>
                                        </p:cTn>
                                        <p:tgtEl>
                                          <p:spTgt spid="74"/>
                                        </p:tgtEl>
                                        <p:attrNameLst>
                                          <p:attrName>style.visibility</p:attrName>
                                        </p:attrNameLst>
                                      </p:cBhvr>
                                      <p:to>
                                        <p:strVal val="hidden"/>
                                      </p:to>
                                    </p:set>
                                  </p:childTnLst>
                                </p:cTn>
                              </p:par>
                              <p:par>
                                <p:cTn id="78" presetID="10" presetClass="exit" presetSubtype="0" fill="hold" grpId="0" nodeType="withEffect">
                                  <p:stCondLst>
                                    <p:cond delay="0"/>
                                  </p:stCondLst>
                                  <p:childTnLst>
                                    <p:animEffect transition="out" filter="fade">
                                      <p:cBhvr>
                                        <p:cTn id="79" dur="200"/>
                                        <p:tgtEl>
                                          <p:spTgt spid="75"/>
                                        </p:tgtEl>
                                      </p:cBhvr>
                                    </p:animEffect>
                                    <p:set>
                                      <p:cBhvr>
                                        <p:cTn id="80" dur="1" fill="hold">
                                          <p:stCondLst>
                                            <p:cond delay="199"/>
                                          </p:stCondLst>
                                        </p:cTn>
                                        <p:tgtEl>
                                          <p:spTgt spid="75"/>
                                        </p:tgtEl>
                                        <p:attrNameLst>
                                          <p:attrName>style.visibility</p:attrName>
                                        </p:attrNameLst>
                                      </p:cBhvr>
                                      <p:to>
                                        <p:strVal val="hidden"/>
                                      </p:to>
                                    </p:set>
                                  </p:childTnLst>
                                </p:cTn>
                              </p:par>
                              <p:par>
                                <p:cTn id="81" presetID="10" presetClass="exit" presetSubtype="0" fill="hold" grpId="0" nodeType="withEffect">
                                  <p:stCondLst>
                                    <p:cond delay="0"/>
                                  </p:stCondLst>
                                  <p:childTnLst>
                                    <p:animEffect transition="out" filter="fade">
                                      <p:cBhvr>
                                        <p:cTn id="82" dur="200"/>
                                        <p:tgtEl>
                                          <p:spTgt spid="76"/>
                                        </p:tgtEl>
                                      </p:cBhvr>
                                    </p:animEffect>
                                    <p:set>
                                      <p:cBhvr>
                                        <p:cTn id="83" dur="1" fill="hold">
                                          <p:stCondLst>
                                            <p:cond delay="199"/>
                                          </p:stCondLst>
                                        </p:cTn>
                                        <p:tgtEl>
                                          <p:spTgt spid="76"/>
                                        </p:tgtEl>
                                        <p:attrNameLst>
                                          <p:attrName>style.visibility</p:attrName>
                                        </p:attrNameLst>
                                      </p:cBhvr>
                                      <p:to>
                                        <p:strVal val="hidden"/>
                                      </p:to>
                                    </p:set>
                                  </p:childTnLst>
                                </p:cTn>
                              </p:par>
                              <p:par>
                                <p:cTn id="84" presetID="10" presetClass="exit" presetSubtype="0" fill="hold" grpId="0" nodeType="withEffect">
                                  <p:stCondLst>
                                    <p:cond delay="0"/>
                                  </p:stCondLst>
                                  <p:childTnLst>
                                    <p:animEffect transition="out" filter="fade">
                                      <p:cBhvr>
                                        <p:cTn id="85" dur="200"/>
                                        <p:tgtEl>
                                          <p:spTgt spid="77"/>
                                        </p:tgtEl>
                                      </p:cBhvr>
                                    </p:animEffect>
                                    <p:set>
                                      <p:cBhvr>
                                        <p:cTn id="86" dur="1" fill="hold">
                                          <p:stCondLst>
                                            <p:cond delay="199"/>
                                          </p:stCondLst>
                                        </p:cTn>
                                        <p:tgtEl>
                                          <p:spTgt spid="77"/>
                                        </p:tgtEl>
                                        <p:attrNameLst>
                                          <p:attrName>style.visibility</p:attrName>
                                        </p:attrNameLst>
                                      </p:cBhvr>
                                      <p:to>
                                        <p:strVal val="hidden"/>
                                      </p:to>
                                    </p:set>
                                  </p:childTnLst>
                                </p:cTn>
                              </p:par>
                              <p:par>
                                <p:cTn id="87" presetID="10" presetClass="exit" presetSubtype="0" fill="hold" grpId="0" nodeType="withEffect">
                                  <p:stCondLst>
                                    <p:cond delay="0"/>
                                  </p:stCondLst>
                                  <p:childTnLst>
                                    <p:animEffect transition="out" filter="fade">
                                      <p:cBhvr>
                                        <p:cTn id="88" dur="200"/>
                                        <p:tgtEl>
                                          <p:spTgt spid="78"/>
                                        </p:tgtEl>
                                      </p:cBhvr>
                                    </p:animEffect>
                                    <p:set>
                                      <p:cBhvr>
                                        <p:cTn id="89" dur="1" fill="hold">
                                          <p:stCondLst>
                                            <p:cond delay="199"/>
                                          </p:stCondLst>
                                        </p:cTn>
                                        <p:tgtEl>
                                          <p:spTgt spid="78"/>
                                        </p:tgtEl>
                                        <p:attrNameLst>
                                          <p:attrName>style.visibility</p:attrName>
                                        </p:attrNameLst>
                                      </p:cBhvr>
                                      <p:to>
                                        <p:strVal val="hidden"/>
                                      </p:to>
                                    </p:set>
                                  </p:childTnLst>
                                </p:cTn>
                              </p:par>
                              <p:par>
                                <p:cTn id="90" presetID="10" presetClass="exit" presetSubtype="0" fill="hold" grpId="0" nodeType="withEffect">
                                  <p:stCondLst>
                                    <p:cond delay="0"/>
                                  </p:stCondLst>
                                  <p:childTnLst>
                                    <p:animEffect transition="out" filter="fade">
                                      <p:cBhvr>
                                        <p:cTn id="91" dur="200"/>
                                        <p:tgtEl>
                                          <p:spTgt spid="79"/>
                                        </p:tgtEl>
                                      </p:cBhvr>
                                    </p:animEffect>
                                    <p:set>
                                      <p:cBhvr>
                                        <p:cTn id="92" dur="1" fill="hold">
                                          <p:stCondLst>
                                            <p:cond delay="199"/>
                                          </p:stCondLst>
                                        </p:cTn>
                                        <p:tgtEl>
                                          <p:spTgt spid="79"/>
                                        </p:tgtEl>
                                        <p:attrNameLst>
                                          <p:attrName>style.visibility</p:attrName>
                                        </p:attrNameLst>
                                      </p:cBhvr>
                                      <p:to>
                                        <p:strVal val="hidden"/>
                                      </p:to>
                                    </p:set>
                                  </p:childTnLst>
                                </p:cTn>
                              </p:par>
                              <p:par>
                                <p:cTn id="93" presetID="10" presetClass="exit" presetSubtype="0" fill="hold" grpId="0" nodeType="withEffect">
                                  <p:stCondLst>
                                    <p:cond delay="0"/>
                                  </p:stCondLst>
                                  <p:childTnLst>
                                    <p:animEffect transition="out" filter="fade">
                                      <p:cBhvr>
                                        <p:cTn id="94" dur="200"/>
                                        <p:tgtEl>
                                          <p:spTgt spid="179"/>
                                        </p:tgtEl>
                                      </p:cBhvr>
                                    </p:animEffect>
                                    <p:set>
                                      <p:cBhvr>
                                        <p:cTn id="95" dur="1" fill="hold">
                                          <p:stCondLst>
                                            <p:cond delay="199"/>
                                          </p:stCondLst>
                                        </p:cTn>
                                        <p:tgtEl>
                                          <p:spTgt spid="179"/>
                                        </p:tgtEl>
                                        <p:attrNameLst>
                                          <p:attrName>style.visibility</p:attrName>
                                        </p:attrNameLst>
                                      </p:cBhvr>
                                      <p:to>
                                        <p:strVal val="hidden"/>
                                      </p:to>
                                    </p:set>
                                  </p:childTnLst>
                                </p:cTn>
                              </p:par>
                              <p:par>
                                <p:cTn id="96" presetID="10" presetClass="exit" presetSubtype="0" fill="hold" grpId="0" nodeType="withEffect">
                                  <p:stCondLst>
                                    <p:cond delay="0"/>
                                  </p:stCondLst>
                                  <p:childTnLst>
                                    <p:animEffect transition="out" filter="fade">
                                      <p:cBhvr>
                                        <p:cTn id="97" dur="200"/>
                                        <p:tgtEl>
                                          <p:spTgt spid="180"/>
                                        </p:tgtEl>
                                      </p:cBhvr>
                                    </p:animEffect>
                                    <p:set>
                                      <p:cBhvr>
                                        <p:cTn id="98" dur="1" fill="hold">
                                          <p:stCondLst>
                                            <p:cond delay="199"/>
                                          </p:stCondLst>
                                        </p:cTn>
                                        <p:tgtEl>
                                          <p:spTgt spid="180"/>
                                        </p:tgtEl>
                                        <p:attrNameLst>
                                          <p:attrName>style.visibility</p:attrName>
                                        </p:attrNameLst>
                                      </p:cBhvr>
                                      <p:to>
                                        <p:strVal val="hidden"/>
                                      </p:to>
                                    </p:set>
                                  </p:childTnLst>
                                </p:cTn>
                              </p:par>
                              <p:par>
                                <p:cTn id="99" presetID="10" presetClass="exit" presetSubtype="0" fill="hold" grpId="0" nodeType="withEffect">
                                  <p:stCondLst>
                                    <p:cond delay="0"/>
                                  </p:stCondLst>
                                  <p:childTnLst>
                                    <p:animEffect transition="out" filter="fade">
                                      <p:cBhvr>
                                        <p:cTn id="100" dur="200"/>
                                        <p:tgtEl>
                                          <p:spTgt spid="181"/>
                                        </p:tgtEl>
                                      </p:cBhvr>
                                    </p:animEffect>
                                    <p:set>
                                      <p:cBhvr>
                                        <p:cTn id="101" dur="1" fill="hold">
                                          <p:stCondLst>
                                            <p:cond delay="199"/>
                                          </p:stCondLst>
                                        </p:cTn>
                                        <p:tgtEl>
                                          <p:spTgt spid="181"/>
                                        </p:tgtEl>
                                        <p:attrNameLst>
                                          <p:attrName>style.visibility</p:attrName>
                                        </p:attrNameLst>
                                      </p:cBhvr>
                                      <p:to>
                                        <p:strVal val="hidden"/>
                                      </p:to>
                                    </p:set>
                                  </p:childTnLst>
                                </p:cTn>
                              </p:par>
                              <p:par>
                                <p:cTn id="102" presetID="10" presetClass="exit" presetSubtype="0" fill="hold" grpId="0" nodeType="withEffect">
                                  <p:stCondLst>
                                    <p:cond delay="0"/>
                                  </p:stCondLst>
                                  <p:childTnLst>
                                    <p:animEffect transition="out" filter="fade">
                                      <p:cBhvr>
                                        <p:cTn id="103" dur="200"/>
                                        <p:tgtEl>
                                          <p:spTgt spid="182"/>
                                        </p:tgtEl>
                                      </p:cBhvr>
                                    </p:animEffect>
                                    <p:set>
                                      <p:cBhvr>
                                        <p:cTn id="104" dur="1" fill="hold">
                                          <p:stCondLst>
                                            <p:cond delay="199"/>
                                          </p:stCondLst>
                                        </p:cTn>
                                        <p:tgtEl>
                                          <p:spTgt spid="182"/>
                                        </p:tgtEl>
                                        <p:attrNameLst>
                                          <p:attrName>style.visibility</p:attrName>
                                        </p:attrNameLst>
                                      </p:cBhvr>
                                      <p:to>
                                        <p:strVal val="hidden"/>
                                      </p:to>
                                    </p:set>
                                  </p:childTnLst>
                                </p:cTn>
                              </p:par>
                              <p:par>
                                <p:cTn id="105" presetID="10" presetClass="exit" presetSubtype="0" fill="hold" grpId="0" nodeType="withEffect">
                                  <p:stCondLst>
                                    <p:cond delay="0"/>
                                  </p:stCondLst>
                                  <p:childTnLst>
                                    <p:animEffect transition="out" filter="fade">
                                      <p:cBhvr>
                                        <p:cTn id="106" dur="200"/>
                                        <p:tgtEl>
                                          <p:spTgt spid="183"/>
                                        </p:tgtEl>
                                      </p:cBhvr>
                                    </p:animEffect>
                                    <p:set>
                                      <p:cBhvr>
                                        <p:cTn id="107" dur="1" fill="hold">
                                          <p:stCondLst>
                                            <p:cond delay="199"/>
                                          </p:stCondLst>
                                        </p:cTn>
                                        <p:tgtEl>
                                          <p:spTgt spid="183"/>
                                        </p:tgtEl>
                                        <p:attrNameLst>
                                          <p:attrName>style.visibility</p:attrName>
                                        </p:attrNameLst>
                                      </p:cBhvr>
                                      <p:to>
                                        <p:strVal val="hidden"/>
                                      </p:to>
                                    </p:set>
                                  </p:childTnLst>
                                </p:cTn>
                              </p:par>
                              <p:par>
                                <p:cTn id="108" presetID="10" presetClass="exit" presetSubtype="0" fill="hold" grpId="0" nodeType="withEffect">
                                  <p:stCondLst>
                                    <p:cond delay="0"/>
                                  </p:stCondLst>
                                  <p:childTnLst>
                                    <p:animEffect transition="out" filter="fade">
                                      <p:cBhvr>
                                        <p:cTn id="109" dur="200"/>
                                        <p:tgtEl>
                                          <p:spTgt spid="184"/>
                                        </p:tgtEl>
                                      </p:cBhvr>
                                    </p:animEffect>
                                    <p:set>
                                      <p:cBhvr>
                                        <p:cTn id="110" dur="1" fill="hold">
                                          <p:stCondLst>
                                            <p:cond delay="199"/>
                                          </p:stCondLst>
                                        </p:cTn>
                                        <p:tgtEl>
                                          <p:spTgt spid="184"/>
                                        </p:tgtEl>
                                        <p:attrNameLst>
                                          <p:attrName>style.visibility</p:attrName>
                                        </p:attrNameLst>
                                      </p:cBhvr>
                                      <p:to>
                                        <p:strVal val="hidden"/>
                                      </p:to>
                                    </p:set>
                                  </p:childTnLst>
                                </p:cTn>
                              </p:par>
                              <p:par>
                                <p:cTn id="111" presetID="10" presetClass="exit" presetSubtype="0" fill="hold" grpId="0" nodeType="withEffect">
                                  <p:stCondLst>
                                    <p:cond delay="0"/>
                                  </p:stCondLst>
                                  <p:childTnLst>
                                    <p:animEffect transition="out" filter="fade">
                                      <p:cBhvr>
                                        <p:cTn id="112" dur="200"/>
                                        <p:tgtEl>
                                          <p:spTgt spid="185"/>
                                        </p:tgtEl>
                                      </p:cBhvr>
                                    </p:animEffect>
                                    <p:set>
                                      <p:cBhvr>
                                        <p:cTn id="113" dur="1" fill="hold">
                                          <p:stCondLst>
                                            <p:cond delay="199"/>
                                          </p:stCondLst>
                                        </p:cTn>
                                        <p:tgtEl>
                                          <p:spTgt spid="185"/>
                                        </p:tgtEl>
                                        <p:attrNameLst>
                                          <p:attrName>style.visibility</p:attrName>
                                        </p:attrNameLst>
                                      </p:cBhvr>
                                      <p:to>
                                        <p:strVal val="hidden"/>
                                      </p:to>
                                    </p:set>
                                  </p:childTnLst>
                                </p:cTn>
                              </p:par>
                              <p:par>
                                <p:cTn id="114" presetID="10" presetClass="exit" presetSubtype="0" fill="hold" grpId="0" nodeType="withEffect">
                                  <p:stCondLst>
                                    <p:cond delay="0"/>
                                  </p:stCondLst>
                                  <p:childTnLst>
                                    <p:animEffect transition="out" filter="fade">
                                      <p:cBhvr>
                                        <p:cTn id="115" dur="200"/>
                                        <p:tgtEl>
                                          <p:spTgt spid="186"/>
                                        </p:tgtEl>
                                      </p:cBhvr>
                                    </p:animEffect>
                                    <p:set>
                                      <p:cBhvr>
                                        <p:cTn id="116" dur="1" fill="hold">
                                          <p:stCondLst>
                                            <p:cond delay="199"/>
                                          </p:stCondLst>
                                        </p:cTn>
                                        <p:tgtEl>
                                          <p:spTgt spid="186"/>
                                        </p:tgtEl>
                                        <p:attrNameLst>
                                          <p:attrName>style.visibility</p:attrName>
                                        </p:attrNameLst>
                                      </p:cBhvr>
                                      <p:to>
                                        <p:strVal val="hidden"/>
                                      </p:to>
                                    </p:set>
                                  </p:childTnLst>
                                </p:cTn>
                              </p:par>
                              <p:par>
                                <p:cTn id="117" presetID="10" presetClass="exit" presetSubtype="0" fill="hold" grpId="0" nodeType="withEffect">
                                  <p:stCondLst>
                                    <p:cond delay="0"/>
                                  </p:stCondLst>
                                  <p:childTnLst>
                                    <p:animEffect transition="out" filter="fade">
                                      <p:cBhvr>
                                        <p:cTn id="118" dur="200"/>
                                        <p:tgtEl>
                                          <p:spTgt spid="187"/>
                                        </p:tgtEl>
                                      </p:cBhvr>
                                    </p:animEffect>
                                    <p:set>
                                      <p:cBhvr>
                                        <p:cTn id="119" dur="1" fill="hold">
                                          <p:stCondLst>
                                            <p:cond delay="199"/>
                                          </p:stCondLst>
                                        </p:cTn>
                                        <p:tgtEl>
                                          <p:spTgt spid="187"/>
                                        </p:tgtEl>
                                        <p:attrNameLst>
                                          <p:attrName>style.visibility</p:attrName>
                                        </p:attrNameLst>
                                      </p:cBhvr>
                                      <p:to>
                                        <p:strVal val="hidden"/>
                                      </p:to>
                                    </p:set>
                                  </p:childTnLst>
                                </p:cTn>
                              </p:par>
                              <p:par>
                                <p:cTn id="120" presetID="10" presetClass="exit" presetSubtype="0" fill="hold" grpId="0" nodeType="withEffect">
                                  <p:stCondLst>
                                    <p:cond delay="0"/>
                                  </p:stCondLst>
                                  <p:childTnLst>
                                    <p:animEffect transition="out" filter="fade">
                                      <p:cBhvr>
                                        <p:cTn id="121" dur="200"/>
                                        <p:tgtEl>
                                          <p:spTgt spid="188"/>
                                        </p:tgtEl>
                                      </p:cBhvr>
                                    </p:animEffect>
                                    <p:set>
                                      <p:cBhvr>
                                        <p:cTn id="122" dur="1" fill="hold">
                                          <p:stCondLst>
                                            <p:cond delay="199"/>
                                          </p:stCondLst>
                                        </p:cTn>
                                        <p:tgtEl>
                                          <p:spTgt spid="188"/>
                                        </p:tgtEl>
                                        <p:attrNameLst>
                                          <p:attrName>style.visibility</p:attrName>
                                        </p:attrNameLst>
                                      </p:cBhvr>
                                      <p:to>
                                        <p:strVal val="hidden"/>
                                      </p:to>
                                    </p:set>
                                  </p:childTnLst>
                                </p:cTn>
                              </p:par>
                              <p:par>
                                <p:cTn id="123" presetID="10" presetClass="exit" presetSubtype="0" fill="hold" grpId="0" nodeType="withEffect">
                                  <p:stCondLst>
                                    <p:cond delay="0"/>
                                  </p:stCondLst>
                                  <p:childTnLst>
                                    <p:animEffect transition="out" filter="fade">
                                      <p:cBhvr>
                                        <p:cTn id="124" dur="200"/>
                                        <p:tgtEl>
                                          <p:spTgt spid="189"/>
                                        </p:tgtEl>
                                      </p:cBhvr>
                                    </p:animEffect>
                                    <p:set>
                                      <p:cBhvr>
                                        <p:cTn id="125" dur="1" fill="hold">
                                          <p:stCondLst>
                                            <p:cond delay="199"/>
                                          </p:stCondLst>
                                        </p:cTn>
                                        <p:tgtEl>
                                          <p:spTgt spid="189"/>
                                        </p:tgtEl>
                                        <p:attrNameLst>
                                          <p:attrName>style.visibility</p:attrName>
                                        </p:attrNameLst>
                                      </p:cBhvr>
                                      <p:to>
                                        <p:strVal val="hidden"/>
                                      </p:to>
                                    </p:set>
                                  </p:childTnLst>
                                </p:cTn>
                              </p:par>
                              <p:par>
                                <p:cTn id="126" presetID="10" presetClass="exit" presetSubtype="0" fill="hold" grpId="0" nodeType="withEffect">
                                  <p:stCondLst>
                                    <p:cond delay="0"/>
                                  </p:stCondLst>
                                  <p:childTnLst>
                                    <p:animEffect transition="out" filter="fade">
                                      <p:cBhvr>
                                        <p:cTn id="127" dur="200"/>
                                        <p:tgtEl>
                                          <p:spTgt spid="190"/>
                                        </p:tgtEl>
                                      </p:cBhvr>
                                    </p:animEffect>
                                    <p:set>
                                      <p:cBhvr>
                                        <p:cTn id="128" dur="1" fill="hold">
                                          <p:stCondLst>
                                            <p:cond delay="199"/>
                                          </p:stCondLst>
                                        </p:cTn>
                                        <p:tgtEl>
                                          <p:spTgt spid="190"/>
                                        </p:tgtEl>
                                        <p:attrNameLst>
                                          <p:attrName>style.visibility</p:attrName>
                                        </p:attrNameLst>
                                      </p:cBhvr>
                                      <p:to>
                                        <p:strVal val="hidden"/>
                                      </p:to>
                                    </p:set>
                                  </p:childTnLst>
                                </p:cTn>
                              </p:par>
                              <p:par>
                                <p:cTn id="129" presetID="10" presetClass="exit" presetSubtype="0" fill="hold" grpId="0" nodeType="withEffect">
                                  <p:stCondLst>
                                    <p:cond delay="0"/>
                                  </p:stCondLst>
                                  <p:childTnLst>
                                    <p:animEffect transition="out" filter="fade">
                                      <p:cBhvr>
                                        <p:cTn id="130" dur="200"/>
                                        <p:tgtEl>
                                          <p:spTgt spid="191"/>
                                        </p:tgtEl>
                                      </p:cBhvr>
                                    </p:animEffect>
                                    <p:set>
                                      <p:cBhvr>
                                        <p:cTn id="131" dur="1" fill="hold">
                                          <p:stCondLst>
                                            <p:cond delay="199"/>
                                          </p:stCondLst>
                                        </p:cTn>
                                        <p:tgtEl>
                                          <p:spTgt spid="191"/>
                                        </p:tgtEl>
                                        <p:attrNameLst>
                                          <p:attrName>style.visibility</p:attrName>
                                        </p:attrNameLst>
                                      </p:cBhvr>
                                      <p:to>
                                        <p:strVal val="hidden"/>
                                      </p:to>
                                    </p:set>
                                  </p:childTnLst>
                                </p:cTn>
                              </p:par>
                              <p:par>
                                <p:cTn id="132" presetID="10" presetClass="exit" presetSubtype="0" fill="hold" grpId="0" nodeType="withEffect">
                                  <p:stCondLst>
                                    <p:cond delay="0"/>
                                  </p:stCondLst>
                                  <p:childTnLst>
                                    <p:animEffect transition="out" filter="fade">
                                      <p:cBhvr>
                                        <p:cTn id="133" dur="200"/>
                                        <p:tgtEl>
                                          <p:spTgt spid="192"/>
                                        </p:tgtEl>
                                      </p:cBhvr>
                                    </p:animEffect>
                                    <p:set>
                                      <p:cBhvr>
                                        <p:cTn id="134" dur="1" fill="hold">
                                          <p:stCondLst>
                                            <p:cond delay="199"/>
                                          </p:stCondLst>
                                        </p:cTn>
                                        <p:tgtEl>
                                          <p:spTgt spid="192"/>
                                        </p:tgtEl>
                                        <p:attrNameLst>
                                          <p:attrName>style.visibility</p:attrName>
                                        </p:attrNameLst>
                                      </p:cBhvr>
                                      <p:to>
                                        <p:strVal val="hidden"/>
                                      </p:to>
                                    </p:set>
                                  </p:childTnLst>
                                </p:cTn>
                              </p:par>
                              <p:par>
                                <p:cTn id="135" presetID="10" presetClass="exit" presetSubtype="0" fill="hold" grpId="0" nodeType="withEffect">
                                  <p:stCondLst>
                                    <p:cond delay="0"/>
                                  </p:stCondLst>
                                  <p:childTnLst>
                                    <p:animEffect transition="out" filter="fade">
                                      <p:cBhvr>
                                        <p:cTn id="136" dur="200"/>
                                        <p:tgtEl>
                                          <p:spTgt spid="193"/>
                                        </p:tgtEl>
                                      </p:cBhvr>
                                    </p:animEffect>
                                    <p:set>
                                      <p:cBhvr>
                                        <p:cTn id="137" dur="1" fill="hold">
                                          <p:stCondLst>
                                            <p:cond delay="199"/>
                                          </p:stCondLst>
                                        </p:cTn>
                                        <p:tgtEl>
                                          <p:spTgt spid="193"/>
                                        </p:tgtEl>
                                        <p:attrNameLst>
                                          <p:attrName>style.visibility</p:attrName>
                                        </p:attrNameLst>
                                      </p:cBhvr>
                                      <p:to>
                                        <p:strVal val="hidden"/>
                                      </p:to>
                                    </p:set>
                                  </p:childTnLst>
                                </p:cTn>
                              </p:par>
                              <p:par>
                                <p:cTn id="138" presetID="10" presetClass="exit" presetSubtype="0" fill="hold" grpId="0" nodeType="withEffect">
                                  <p:stCondLst>
                                    <p:cond delay="0"/>
                                  </p:stCondLst>
                                  <p:childTnLst>
                                    <p:animEffect transition="out" filter="fade">
                                      <p:cBhvr>
                                        <p:cTn id="139" dur="200"/>
                                        <p:tgtEl>
                                          <p:spTgt spid="194"/>
                                        </p:tgtEl>
                                      </p:cBhvr>
                                    </p:animEffect>
                                    <p:set>
                                      <p:cBhvr>
                                        <p:cTn id="140" dur="1" fill="hold">
                                          <p:stCondLst>
                                            <p:cond delay="199"/>
                                          </p:stCondLst>
                                        </p:cTn>
                                        <p:tgtEl>
                                          <p:spTgt spid="194"/>
                                        </p:tgtEl>
                                        <p:attrNameLst>
                                          <p:attrName>style.visibility</p:attrName>
                                        </p:attrNameLst>
                                      </p:cBhvr>
                                      <p:to>
                                        <p:strVal val="hidden"/>
                                      </p:to>
                                    </p:set>
                                  </p:childTnLst>
                                </p:cTn>
                              </p:par>
                              <p:par>
                                <p:cTn id="141" presetID="10" presetClass="exit" presetSubtype="0" fill="hold" grpId="0" nodeType="withEffect">
                                  <p:stCondLst>
                                    <p:cond delay="0"/>
                                  </p:stCondLst>
                                  <p:childTnLst>
                                    <p:animEffect transition="out" filter="fade">
                                      <p:cBhvr>
                                        <p:cTn id="142" dur="200"/>
                                        <p:tgtEl>
                                          <p:spTgt spid="195"/>
                                        </p:tgtEl>
                                      </p:cBhvr>
                                    </p:animEffect>
                                    <p:set>
                                      <p:cBhvr>
                                        <p:cTn id="143" dur="1" fill="hold">
                                          <p:stCondLst>
                                            <p:cond delay="199"/>
                                          </p:stCondLst>
                                        </p:cTn>
                                        <p:tgtEl>
                                          <p:spTgt spid="195"/>
                                        </p:tgtEl>
                                        <p:attrNameLst>
                                          <p:attrName>style.visibility</p:attrName>
                                        </p:attrNameLst>
                                      </p:cBhvr>
                                      <p:to>
                                        <p:strVal val="hidden"/>
                                      </p:to>
                                    </p:set>
                                  </p:childTnLst>
                                </p:cTn>
                              </p:par>
                              <p:par>
                                <p:cTn id="144" presetID="10" presetClass="exit" presetSubtype="0" fill="hold" grpId="0" nodeType="withEffect">
                                  <p:stCondLst>
                                    <p:cond delay="0"/>
                                  </p:stCondLst>
                                  <p:childTnLst>
                                    <p:animEffect transition="out" filter="fade">
                                      <p:cBhvr>
                                        <p:cTn id="145" dur="200"/>
                                        <p:tgtEl>
                                          <p:spTgt spid="196"/>
                                        </p:tgtEl>
                                      </p:cBhvr>
                                    </p:animEffect>
                                    <p:set>
                                      <p:cBhvr>
                                        <p:cTn id="146" dur="1" fill="hold">
                                          <p:stCondLst>
                                            <p:cond delay="199"/>
                                          </p:stCondLst>
                                        </p:cTn>
                                        <p:tgtEl>
                                          <p:spTgt spid="196"/>
                                        </p:tgtEl>
                                        <p:attrNameLst>
                                          <p:attrName>style.visibility</p:attrName>
                                        </p:attrNameLst>
                                      </p:cBhvr>
                                      <p:to>
                                        <p:strVal val="hidden"/>
                                      </p:to>
                                    </p:set>
                                  </p:childTnLst>
                                </p:cTn>
                              </p:par>
                              <p:par>
                                <p:cTn id="147" presetID="10" presetClass="exit" presetSubtype="0" fill="hold" grpId="0" nodeType="withEffect">
                                  <p:stCondLst>
                                    <p:cond delay="0"/>
                                  </p:stCondLst>
                                  <p:childTnLst>
                                    <p:animEffect transition="out" filter="fade">
                                      <p:cBhvr>
                                        <p:cTn id="148" dur="200"/>
                                        <p:tgtEl>
                                          <p:spTgt spid="197"/>
                                        </p:tgtEl>
                                      </p:cBhvr>
                                    </p:animEffect>
                                    <p:set>
                                      <p:cBhvr>
                                        <p:cTn id="149" dur="1" fill="hold">
                                          <p:stCondLst>
                                            <p:cond delay="199"/>
                                          </p:stCondLst>
                                        </p:cTn>
                                        <p:tgtEl>
                                          <p:spTgt spid="197"/>
                                        </p:tgtEl>
                                        <p:attrNameLst>
                                          <p:attrName>style.visibility</p:attrName>
                                        </p:attrNameLst>
                                      </p:cBhvr>
                                      <p:to>
                                        <p:strVal val="hidden"/>
                                      </p:to>
                                    </p:set>
                                  </p:childTnLst>
                                </p:cTn>
                              </p:par>
                              <p:par>
                                <p:cTn id="150" presetID="10" presetClass="exit" presetSubtype="0" fill="hold" grpId="0" nodeType="withEffect">
                                  <p:stCondLst>
                                    <p:cond delay="0"/>
                                  </p:stCondLst>
                                  <p:childTnLst>
                                    <p:animEffect transition="out" filter="fade">
                                      <p:cBhvr>
                                        <p:cTn id="151" dur="200"/>
                                        <p:tgtEl>
                                          <p:spTgt spid="198"/>
                                        </p:tgtEl>
                                      </p:cBhvr>
                                    </p:animEffect>
                                    <p:set>
                                      <p:cBhvr>
                                        <p:cTn id="152" dur="1" fill="hold">
                                          <p:stCondLst>
                                            <p:cond delay="199"/>
                                          </p:stCondLst>
                                        </p:cTn>
                                        <p:tgtEl>
                                          <p:spTgt spid="198"/>
                                        </p:tgtEl>
                                        <p:attrNameLst>
                                          <p:attrName>style.visibility</p:attrName>
                                        </p:attrNameLst>
                                      </p:cBhvr>
                                      <p:to>
                                        <p:strVal val="hidden"/>
                                      </p:to>
                                    </p:set>
                                  </p:childTnLst>
                                </p:cTn>
                              </p:par>
                              <p:par>
                                <p:cTn id="153" presetID="10" presetClass="exit" presetSubtype="0" fill="hold" grpId="0" nodeType="withEffect">
                                  <p:stCondLst>
                                    <p:cond delay="0"/>
                                  </p:stCondLst>
                                  <p:childTnLst>
                                    <p:animEffect transition="out" filter="fade">
                                      <p:cBhvr>
                                        <p:cTn id="154" dur="200"/>
                                        <p:tgtEl>
                                          <p:spTgt spid="199"/>
                                        </p:tgtEl>
                                      </p:cBhvr>
                                    </p:animEffect>
                                    <p:set>
                                      <p:cBhvr>
                                        <p:cTn id="155" dur="1" fill="hold">
                                          <p:stCondLst>
                                            <p:cond delay="199"/>
                                          </p:stCondLst>
                                        </p:cTn>
                                        <p:tgtEl>
                                          <p:spTgt spid="199"/>
                                        </p:tgtEl>
                                        <p:attrNameLst>
                                          <p:attrName>style.visibility</p:attrName>
                                        </p:attrNameLst>
                                      </p:cBhvr>
                                      <p:to>
                                        <p:strVal val="hidden"/>
                                      </p:to>
                                    </p:set>
                                  </p:childTnLst>
                                </p:cTn>
                              </p:par>
                              <p:par>
                                <p:cTn id="156" presetID="10" presetClass="exit" presetSubtype="0" fill="hold" grpId="0" nodeType="withEffect">
                                  <p:stCondLst>
                                    <p:cond delay="0"/>
                                  </p:stCondLst>
                                  <p:childTnLst>
                                    <p:animEffect transition="out" filter="fade">
                                      <p:cBhvr>
                                        <p:cTn id="157" dur="200"/>
                                        <p:tgtEl>
                                          <p:spTgt spid="200"/>
                                        </p:tgtEl>
                                      </p:cBhvr>
                                    </p:animEffect>
                                    <p:set>
                                      <p:cBhvr>
                                        <p:cTn id="158" dur="1" fill="hold">
                                          <p:stCondLst>
                                            <p:cond delay="199"/>
                                          </p:stCondLst>
                                        </p:cTn>
                                        <p:tgtEl>
                                          <p:spTgt spid="200"/>
                                        </p:tgtEl>
                                        <p:attrNameLst>
                                          <p:attrName>style.visibility</p:attrName>
                                        </p:attrNameLst>
                                      </p:cBhvr>
                                      <p:to>
                                        <p:strVal val="hidden"/>
                                      </p:to>
                                    </p:set>
                                  </p:childTnLst>
                                </p:cTn>
                              </p:par>
                              <p:par>
                                <p:cTn id="159" presetID="10" presetClass="exit" presetSubtype="0" fill="hold" grpId="0" nodeType="withEffect">
                                  <p:stCondLst>
                                    <p:cond delay="0"/>
                                  </p:stCondLst>
                                  <p:childTnLst>
                                    <p:animEffect transition="out" filter="fade">
                                      <p:cBhvr>
                                        <p:cTn id="160" dur="200"/>
                                        <p:tgtEl>
                                          <p:spTgt spid="201"/>
                                        </p:tgtEl>
                                      </p:cBhvr>
                                    </p:animEffect>
                                    <p:set>
                                      <p:cBhvr>
                                        <p:cTn id="161" dur="1" fill="hold">
                                          <p:stCondLst>
                                            <p:cond delay="199"/>
                                          </p:stCondLst>
                                        </p:cTn>
                                        <p:tgtEl>
                                          <p:spTgt spid="201"/>
                                        </p:tgtEl>
                                        <p:attrNameLst>
                                          <p:attrName>style.visibility</p:attrName>
                                        </p:attrNameLst>
                                      </p:cBhvr>
                                      <p:to>
                                        <p:strVal val="hidden"/>
                                      </p:to>
                                    </p:set>
                                  </p:childTnLst>
                                </p:cTn>
                              </p:par>
                              <p:par>
                                <p:cTn id="162" presetID="10" presetClass="exit" presetSubtype="0" fill="hold" grpId="0" nodeType="withEffect">
                                  <p:stCondLst>
                                    <p:cond delay="0"/>
                                  </p:stCondLst>
                                  <p:childTnLst>
                                    <p:animEffect transition="out" filter="fade">
                                      <p:cBhvr>
                                        <p:cTn id="163" dur="200"/>
                                        <p:tgtEl>
                                          <p:spTgt spid="202"/>
                                        </p:tgtEl>
                                      </p:cBhvr>
                                    </p:animEffect>
                                    <p:set>
                                      <p:cBhvr>
                                        <p:cTn id="164" dur="1" fill="hold">
                                          <p:stCondLst>
                                            <p:cond delay="199"/>
                                          </p:stCondLst>
                                        </p:cTn>
                                        <p:tgtEl>
                                          <p:spTgt spid="202"/>
                                        </p:tgtEl>
                                        <p:attrNameLst>
                                          <p:attrName>style.visibility</p:attrName>
                                        </p:attrNameLst>
                                      </p:cBhvr>
                                      <p:to>
                                        <p:strVal val="hidden"/>
                                      </p:to>
                                    </p:set>
                                  </p:childTnLst>
                                </p:cTn>
                              </p:par>
                              <p:par>
                                <p:cTn id="165" presetID="10" presetClass="exit" presetSubtype="0" fill="hold" grpId="0" nodeType="withEffect">
                                  <p:stCondLst>
                                    <p:cond delay="0"/>
                                  </p:stCondLst>
                                  <p:childTnLst>
                                    <p:animEffect transition="out" filter="fade">
                                      <p:cBhvr>
                                        <p:cTn id="166" dur="200"/>
                                        <p:tgtEl>
                                          <p:spTgt spid="203"/>
                                        </p:tgtEl>
                                      </p:cBhvr>
                                    </p:animEffect>
                                    <p:set>
                                      <p:cBhvr>
                                        <p:cTn id="167" dur="1" fill="hold">
                                          <p:stCondLst>
                                            <p:cond delay="199"/>
                                          </p:stCondLst>
                                        </p:cTn>
                                        <p:tgtEl>
                                          <p:spTgt spid="203"/>
                                        </p:tgtEl>
                                        <p:attrNameLst>
                                          <p:attrName>style.visibility</p:attrName>
                                        </p:attrNameLst>
                                      </p:cBhvr>
                                      <p:to>
                                        <p:strVal val="hidden"/>
                                      </p:to>
                                    </p:set>
                                  </p:childTnLst>
                                </p:cTn>
                              </p:par>
                              <p:par>
                                <p:cTn id="168" presetID="10" presetClass="exit" presetSubtype="0" fill="hold" grpId="0" nodeType="withEffect">
                                  <p:stCondLst>
                                    <p:cond delay="0"/>
                                  </p:stCondLst>
                                  <p:childTnLst>
                                    <p:animEffect transition="out" filter="fade">
                                      <p:cBhvr>
                                        <p:cTn id="169" dur="200"/>
                                        <p:tgtEl>
                                          <p:spTgt spid="204"/>
                                        </p:tgtEl>
                                      </p:cBhvr>
                                    </p:animEffect>
                                    <p:set>
                                      <p:cBhvr>
                                        <p:cTn id="170" dur="1" fill="hold">
                                          <p:stCondLst>
                                            <p:cond delay="199"/>
                                          </p:stCondLst>
                                        </p:cTn>
                                        <p:tgtEl>
                                          <p:spTgt spid="204"/>
                                        </p:tgtEl>
                                        <p:attrNameLst>
                                          <p:attrName>style.visibility</p:attrName>
                                        </p:attrNameLst>
                                      </p:cBhvr>
                                      <p:to>
                                        <p:strVal val="hidden"/>
                                      </p:to>
                                    </p:set>
                                  </p:childTnLst>
                                </p:cTn>
                              </p:par>
                              <p:par>
                                <p:cTn id="171" presetID="10" presetClass="exit" presetSubtype="0" fill="hold" grpId="0" nodeType="withEffect">
                                  <p:stCondLst>
                                    <p:cond delay="0"/>
                                  </p:stCondLst>
                                  <p:childTnLst>
                                    <p:animEffect transition="out" filter="fade">
                                      <p:cBhvr>
                                        <p:cTn id="172" dur="200"/>
                                        <p:tgtEl>
                                          <p:spTgt spid="205"/>
                                        </p:tgtEl>
                                      </p:cBhvr>
                                    </p:animEffect>
                                    <p:set>
                                      <p:cBhvr>
                                        <p:cTn id="173" dur="1" fill="hold">
                                          <p:stCondLst>
                                            <p:cond delay="199"/>
                                          </p:stCondLst>
                                        </p:cTn>
                                        <p:tgtEl>
                                          <p:spTgt spid="205"/>
                                        </p:tgtEl>
                                        <p:attrNameLst>
                                          <p:attrName>style.visibility</p:attrName>
                                        </p:attrNameLst>
                                      </p:cBhvr>
                                      <p:to>
                                        <p:strVal val="hidden"/>
                                      </p:to>
                                    </p:set>
                                  </p:childTnLst>
                                </p:cTn>
                              </p:par>
                              <p:par>
                                <p:cTn id="174" presetID="10" presetClass="exit" presetSubtype="0" fill="hold" grpId="0" nodeType="withEffect">
                                  <p:stCondLst>
                                    <p:cond delay="0"/>
                                  </p:stCondLst>
                                  <p:childTnLst>
                                    <p:animEffect transition="out" filter="fade">
                                      <p:cBhvr>
                                        <p:cTn id="175" dur="200"/>
                                        <p:tgtEl>
                                          <p:spTgt spid="206"/>
                                        </p:tgtEl>
                                      </p:cBhvr>
                                    </p:animEffect>
                                    <p:set>
                                      <p:cBhvr>
                                        <p:cTn id="176" dur="1" fill="hold">
                                          <p:stCondLst>
                                            <p:cond delay="199"/>
                                          </p:stCondLst>
                                        </p:cTn>
                                        <p:tgtEl>
                                          <p:spTgt spid="206"/>
                                        </p:tgtEl>
                                        <p:attrNameLst>
                                          <p:attrName>style.visibility</p:attrName>
                                        </p:attrNameLst>
                                      </p:cBhvr>
                                      <p:to>
                                        <p:strVal val="hidden"/>
                                      </p:to>
                                    </p:set>
                                  </p:childTnLst>
                                </p:cTn>
                              </p:par>
                              <p:par>
                                <p:cTn id="177" presetID="10" presetClass="exit" presetSubtype="0" fill="hold" grpId="0" nodeType="withEffect">
                                  <p:stCondLst>
                                    <p:cond delay="0"/>
                                  </p:stCondLst>
                                  <p:childTnLst>
                                    <p:animEffect transition="out" filter="fade">
                                      <p:cBhvr>
                                        <p:cTn id="178" dur="200"/>
                                        <p:tgtEl>
                                          <p:spTgt spid="207"/>
                                        </p:tgtEl>
                                      </p:cBhvr>
                                    </p:animEffect>
                                    <p:set>
                                      <p:cBhvr>
                                        <p:cTn id="179" dur="1" fill="hold">
                                          <p:stCondLst>
                                            <p:cond delay="199"/>
                                          </p:stCondLst>
                                        </p:cTn>
                                        <p:tgtEl>
                                          <p:spTgt spid="207"/>
                                        </p:tgtEl>
                                        <p:attrNameLst>
                                          <p:attrName>style.visibility</p:attrName>
                                        </p:attrNameLst>
                                      </p:cBhvr>
                                      <p:to>
                                        <p:strVal val="hidden"/>
                                      </p:to>
                                    </p:set>
                                  </p:childTnLst>
                                </p:cTn>
                              </p:par>
                              <p:par>
                                <p:cTn id="180" presetID="10" presetClass="exit" presetSubtype="0" fill="hold" grpId="0" nodeType="withEffect">
                                  <p:stCondLst>
                                    <p:cond delay="0"/>
                                  </p:stCondLst>
                                  <p:childTnLst>
                                    <p:animEffect transition="out" filter="fade">
                                      <p:cBhvr>
                                        <p:cTn id="181" dur="200"/>
                                        <p:tgtEl>
                                          <p:spTgt spid="208"/>
                                        </p:tgtEl>
                                      </p:cBhvr>
                                    </p:animEffect>
                                    <p:set>
                                      <p:cBhvr>
                                        <p:cTn id="182" dur="1" fill="hold">
                                          <p:stCondLst>
                                            <p:cond delay="199"/>
                                          </p:stCondLst>
                                        </p:cTn>
                                        <p:tgtEl>
                                          <p:spTgt spid="208"/>
                                        </p:tgtEl>
                                        <p:attrNameLst>
                                          <p:attrName>style.visibility</p:attrName>
                                        </p:attrNameLst>
                                      </p:cBhvr>
                                      <p:to>
                                        <p:strVal val="hidden"/>
                                      </p:to>
                                    </p:set>
                                  </p:childTnLst>
                                </p:cTn>
                              </p:par>
                              <p:par>
                                <p:cTn id="183" presetID="10" presetClass="exit" presetSubtype="0" fill="hold" grpId="0" nodeType="withEffect">
                                  <p:stCondLst>
                                    <p:cond delay="0"/>
                                  </p:stCondLst>
                                  <p:childTnLst>
                                    <p:animEffect transition="out" filter="fade">
                                      <p:cBhvr>
                                        <p:cTn id="184" dur="200"/>
                                        <p:tgtEl>
                                          <p:spTgt spid="209"/>
                                        </p:tgtEl>
                                      </p:cBhvr>
                                    </p:animEffect>
                                    <p:set>
                                      <p:cBhvr>
                                        <p:cTn id="185" dur="1" fill="hold">
                                          <p:stCondLst>
                                            <p:cond delay="199"/>
                                          </p:stCondLst>
                                        </p:cTn>
                                        <p:tgtEl>
                                          <p:spTgt spid="209"/>
                                        </p:tgtEl>
                                        <p:attrNameLst>
                                          <p:attrName>style.visibility</p:attrName>
                                        </p:attrNameLst>
                                      </p:cBhvr>
                                      <p:to>
                                        <p:strVal val="hidden"/>
                                      </p:to>
                                    </p:set>
                                  </p:childTnLst>
                                </p:cTn>
                              </p:par>
                              <p:par>
                                <p:cTn id="186" presetID="10" presetClass="exit" presetSubtype="0" fill="hold" grpId="0" nodeType="withEffect">
                                  <p:stCondLst>
                                    <p:cond delay="0"/>
                                  </p:stCondLst>
                                  <p:childTnLst>
                                    <p:animEffect transition="out" filter="fade">
                                      <p:cBhvr>
                                        <p:cTn id="187" dur="200"/>
                                        <p:tgtEl>
                                          <p:spTgt spid="210"/>
                                        </p:tgtEl>
                                      </p:cBhvr>
                                    </p:animEffect>
                                    <p:set>
                                      <p:cBhvr>
                                        <p:cTn id="188" dur="1" fill="hold">
                                          <p:stCondLst>
                                            <p:cond delay="199"/>
                                          </p:stCondLst>
                                        </p:cTn>
                                        <p:tgtEl>
                                          <p:spTgt spid="210"/>
                                        </p:tgtEl>
                                        <p:attrNameLst>
                                          <p:attrName>style.visibility</p:attrName>
                                        </p:attrNameLst>
                                      </p:cBhvr>
                                      <p:to>
                                        <p:strVal val="hidden"/>
                                      </p:to>
                                    </p:set>
                                  </p:childTnLst>
                                </p:cTn>
                              </p:par>
                              <p:par>
                                <p:cTn id="189" presetID="10" presetClass="exit" presetSubtype="0" fill="hold" grpId="0" nodeType="withEffect">
                                  <p:stCondLst>
                                    <p:cond delay="0"/>
                                  </p:stCondLst>
                                  <p:childTnLst>
                                    <p:animEffect transition="out" filter="fade">
                                      <p:cBhvr>
                                        <p:cTn id="190" dur="200"/>
                                        <p:tgtEl>
                                          <p:spTgt spid="211"/>
                                        </p:tgtEl>
                                      </p:cBhvr>
                                    </p:animEffect>
                                    <p:set>
                                      <p:cBhvr>
                                        <p:cTn id="191" dur="1" fill="hold">
                                          <p:stCondLst>
                                            <p:cond delay="199"/>
                                          </p:stCondLst>
                                        </p:cTn>
                                        <p:tgtEl>
                                          <p:spTgt spid="211"/>
                                        </p:tgtEl>
                                        <p:attrNameLst>
                                          <p:attrName>style.visibility</p:attrName>
                                        </p:attrNameLst>
                                      </p:cBhvr>
                                      <p:to>
                                        <p:strVal val="hidden"/>
                                      </p:to>
                                    </p:set>
                                  </p:childTnLst>
                                </p:cTn>
                              </p:par>
                              <p:par>
                                <p:cTn id="192" presetID="10" presetClass="exit" presetSubtype="0" fill="hold" grpId="0" nodeType="withEffect">
                                  <p:stCondLst>
                                    <p:cond delay="0"/>
                                  </p:stCondLst>
                                  <p:childTnLst>
                                    <p:animEffect transition="out" filter="fade">
                                      <p:cBhvr>
                                        <p:cTn id="193" dur="200"/>
                                        <p:tgtEl>
                                          <p:spTgt spid="212"/>
                                        </p:tgtEl>
                                      </p:cBhvr>
                                    </p:animEffect>
                                    <p:set>
                                      <p:cBhvr>
                                        <p:cTn id="194" dur="1" fill="hold">
                                          <p:stCondLst>
                                            <p:cond delay="199"/>
                                          </p:stCondLst>
                                        </p:cTn>
                                        <p:tgtEl>
                                          <p:spTgt spid="212"/>
                                        </p:tgtEl>
                                        <p:attrNameLst>
                                          <p:attrName>style.visibility</p:attrName>
                                        </p:attrNameLst>
                                      </p:cBhvr>
                                      <p:to>
                                        <p:strVal val="hidden"/>
                                      </p:to>
                                    </p:set>
                                  </p:childTnLst>
                                </p:cTn>
                              </p:par>
                              <p:par>
                                <p:cTn id="195" presetID="10" presetClass="exit" presetSubtype="0" fill="hold" grpId="0" nodeType="withEffect">
                                  <p:stCondLst>
                                    <p:cond delay="0"/>
                                  </p:stCondLst>
                                  <p:childTnLst>
                                    <p:animEffect transition="out" filter="fade">
                                      <p:cBhvr>
                                        <p:cTn id="196" dur="200"/>
                                        <p:tgtEl>
                                          <p:spTgt spid="213"/>
                                        </p:tgtEl>
                                      </p:cBhvr>
                                    </p:animEffect>
                                    <p:set>
                                      <p:cBhvr>
                                        <p:cTn id="197" dur="1" fill="hold">
                                          <p:stCondLst>
                                            <p:cond delay="199"/>
                                          </p:stCondLst>
                                        </p:cTn>
                                        <p:tgtEl>
                                          <p:spTgt spid="213"/>
                                        </p:tgtEl>
                                        <p:attrNameLst>
                                          <p:attrName>style.visibility</p:attrName>
                                        </p:attrNameLst>
                                      </p:cBhvr>
                                      <p:to>
                                        <p:strVal val="hidden"/>
                                      </p:to>
                                    </p:set>
                                  </p:childTnLst>
                                </p:cTn>
                              </p:par>
                              <p:par>
                                <p:cTn id="198" presetID="10" presetClass="exit" presetSubtype="0" fill="hold" grpId="0" nodeType="withEffect">
                                  <p:stCondLst>
                                    <p:cond delay="0"/>
                                  </p:stCondLst>
                                  <p:childTnLst>
                                    <p:animEffect transition="out" filter="fade">
                                      <p:cBhvr>
                                        <p:cTn id="199" dur="200"/>
                                        <p:tgtEl>
                                          <p:spTgt spid="214"/>
                                        </p:tgtEl>
                                      </p:cBhvr>
                                    </p:animEffect>
                                    <p:set>
                                      <p:cBhvr>
                                        <p:cTn id="200" dur="1" fill="hold">
                                          <p:stCondLst>
                                            <p:cond delay="199"/>
                                          </p:stCondLst>
                                        </p:cTn>
                                        <p:tgtEl>
                                          <p:spTgt spid="214"/>
                                        </p:tgtEl>
                                        <p:attrNameLst>
                                          <p:attrName>style.visibility</p:attrName>
                                        </p:attrNameLst>
                                      </p:cBhvr>
                                      <p:to>
                                        <p:strVal val="hidden"/>
                                      </p:to>
                                    </p:set>
                                  </p:childTnLst>
                                </p:cTn>
                              </p:par>
                              <p:par>
                                <p:cTn id="201" presetID="10" presetClass="exit" presetSubtype="0" fill="hold" grpId="0" nodeType="withEffect">
                                  <p:stCondLst>
                                    <p:cond delay="0"/>
                                  </p:stCondLst>
                                  <p:childTnLst>
                                    <p:animEffect transition="out" filter="fade">
                                      <p:cBhvr>
                                        <p:cTn id="202" dur="200"/>
                                        <p:tgtEl>
                                          <p:spTgt spid="215"/>
                                        </p:tgtEl>
                                      </p:cBhvr>
                                    </p:animEffect>
                                    <p:set>
                                      <p:cBhvr>
                                        <p:cTn id="203" dur="1" fill="hold">
                                          <p:stCondLst>
                                            <p:cond delay="199"/>
                                          </p:stCondLst>
                                        </p:cTn>
                                        <p:tgtEl>
                                          <p:spTgt spid="215"/>
                                        </p:tgtEl>
                                        <p:attrNameLst>
                                          <p:attrName>style.visibility</p:attrName>
                                        </p:attrNameLst>
                                      </p:cBhvr>
                                      <p:to>
                                        <p:strVal val="hidden"/>
                                      </p:to>
                                    </p:set>
                                  </p:childTnLst>
                                </p:cTn>
                              </p:par>
                              <p:par>
                                <p:cTn id="204" presetID="10" presetClass="exit" presetSubtype="0" fill="hold" grpId="0" nodeType="withEffect">
                                  <p:stCondLst>
                                    <p:cond delay="0"/>
                                  </p:stCondLst>
                                  <p:childTnLst>
                                    <p:animEffect transition="out" filter="fade">
                                      <p:cBhvr>
                                        <p:cTn id="205" dur="200"/>
                                        <p:tgtEl>
                                          <p:spTgt spid="216"/>
                                        </p:tgtEl>
                                      </p:cBhvr>
                                    </p:animEffect>
                                    <p:set>
                                      <p:cBhvr>
                                        <p:cTn id="206" dur="1" fill="hold">
                                          <p:stCondLst>
                                            <p:cond delay="199"/>
                                          </p:stCondLst>
                                        </p:cTn>
                                        <p:tgtEl>
                                          <p:spTgt spid="216"/>
                                        </p:tgtEl>
                                        <p:attrNameLst>
                                          <p:attrName>style.visibility</p:attrName>
                                        </p:attrNameLst>
                                      </p:cBhvr>
                                      <p:to>
                                        <p:strVal val="hidden"/>
                                      </p:to>
                                    </p:set>
                                  </p:childTnLst>
                                </p:cTn>
                              </p:par>
                              <p:par>
                                <p:cTn id="207" presetID="10" presetClass="exit" presetSubtype="0" fill="hold" grpId="0" nodeType="withEffect">
                                  <p:stCondLst>
                                    <p:cond delay="0"/>
                                  </p:stCondLst>
                                  <p:childTnLst>
                                    <p:animEffect transition="out" filter="fade">
                                      <p:cBhvr>
                                        <p:cTn id="208" dur="200"/>
                                        <p:tgtEl>
                                          <p:spTgt spid="217"/>
                                        </p:tgtEl>
                                      </p:cBhvr>
                                    </p:animEffect>
                                    <p:set>
                                      <p:cBhvr>
                                        <p:cTn id="209" dur="1" fill="hold">
                                          <p:stCondLst>
                                            <p:cond delay="199"/>
                                          </p:stCondLst>
                                        </p:cTn>
                                        <p:tgtEl>
                                          <p:spTgt spid="217"/>
                                        </p:tgtEl>
                                        <p:attrNameLst>
                                          <p:attrName>style.visibility</p:attrName>
                                        </p:attrNameLst>
                                      </p:cBhvr>
                                      <p:to>
                                        <p:strVal val="hidden"/>
                                      </p:to>
                                    </p:set>
                                  </p:childTnLst>
                                </p:cTn>
                              </p:par>
                              <p:par>
                                <p:cTn id="210" presetID="10" presetClass="exit" presetSubtype="0" fill="hold" grpId="0" nodeType="withEffect">
                                  <p:stCondLst>
                                    <p:cond delay="0"/>
                                  </p:stCondLst>
                                  <p:childTnLst>
                                    <p:animEffect transition="out" filter="fade">
                                      <p:cBhvr>
                                        <p:cTn id="211" dur="200"/>
                                        <p:tgtEl>
                                          <p:spTgt spid="218"/>
                                        </p:tgtEl>
                                      </p:cBhvr>
                                    </p:animEffect>
                                    <p:set>
                                      <p:cBhvr>
                                        <p:cTn id="212" dur="1" fill="hold">
                                          <p:stCondLst>
                                            <p:cond delay="199"/>
                                          </p:stCondLst>
                                        </p:cTn>
                                        <p:tgtEl>
                                          <p:spTgt spid="218"/>
                                        </p:tgtEl>
                                        <p:attrNameLst>
                                          <p:attrName>style.visibility</p:attrName>
                                        </p:attrNameLst>
                                      </p:cBhvr>
                                      <p:to>
                                        <p:strVal val="hidden"/>
                                      </p:to>
                                    </p:set>
                                  </p:childTnLst>
                                </p:cTn>
                              </p:par>
                              <p:par>
                                <p:cTn id="213" presetID="10" presetClass="exit" presetSubtype="0" fill="hold" grpId="0" nodeType="withEffect">
                                  <p:stCondLst>
                                    <p:cond delay="0"/>
                                  </p:stCondLst>
                                  <p:childTnLst>
                                    <p:animEffect transition="out" filter="fade">
                                      <p:cBhvr>
                                        <p:cTn id="214" dur="200"/>
                                        <p:tgtEl>
                                          <p:spTgt spid="219"/>
                                        </p:tgtEl>
                                      </p:cBhvr>
                                    </p:animEffect>
                                    <p:set>
                                      <p:cBhvr>
                                        <p:cTn id="215" dur="1" fill="hold">
                                          <p:stCondLst>
                                            <p:cond delay="199"/>
                                          </p:stCondLst>
                                        </p:cTn>
                                        <p:tgtEl>
                                          <p:spTgt spid="219"/>
                                        </p:tgtEl>
                                        <p:attrNameLst>
                                          <p:attrName>style.visibility</p:attrName>
                                        </p:attrNameLst>
                                      </p:cBhvr>
                                      <p:to>
                                        <p:strVal val="hidden"/>
                                      </p:to>
                                    </p:set>
                                  </p:childTnLst>
                                </p:cTn>
                              </p:par>
                              <p:par>
                                <p:cTn id="216" presetID="10" presetClass="exit" presetSubtype="0" fill="hold" grpId="0" nodeType="withEffect">
                                  <p:stCondLst>
                                    <p:cond delay="0"/>
                                  </p:stCondLst>
                                  <p:childTnLst>
                                    <p:animEffect transition="out" filter="fade">
                                      <p:cBhvr>
                                        <p:cTn id="217" dur="200"/>
                                        <p:tgtEl>
                                          <p:spTgt spid="220"/>
                                        </p:tgtEl>
                                      </p:cBhvr>
                                    </p:animEffect>
                                    <p:set>
                                      <p:cBhvr>
                                        <p:cTn id="218" dur="1" fill="hold">
                                          <p:stCondLst>
                                            <p:cond delay="199"/>
                                          </p:stCondLst>
                                        </p:cTn>
                                        <p:tgtEl>
                                          <p:spTgt spid="220"/>
                                        </p:tgtEl>
                                        <p:attrNameLst>
                                          <p:attrName>style.visibility</p:attrName>
                                        </p:attrNameLst>
                                      </p:cBhvr>
                                      <p:to>
                                        <p:strVal val="hidden"/>
                                      </p:to>
                                    </p:set>
                                  </p:childTnLst>
                                </p:cTn>
                              </p:par>
                              <p:par>
                                <p:cTn id="219" presetID="10" presetClass="exit" presetSubtype="0" fill="hold" grpId="0" nodeType="withEffect">
                                  <p:stCondLst>
                                    <p:cond delay="0"/>
                                  </p:stCondLst>
                                  <p:childTnLst>
                                    <p:animEffect transition="out" filter="fade">
                                      <p:cBhvr>
                                        <p:cTn id="220" dur="200"/>
                                        <p:tgtEl>
                                          <p:spTgt spid="221"/>
                                        </p:tgtEl>
                                      </p:cBhvr>
                                    </p:animEffect>
                                    <p:set>
                                      <p:cBhvr>
                                        <p:cTn id="221" dur="1" fill="hold">
                                          <p:stCondLst>
                                            <p:cond delay="199"/>
                                          </p:stCondLst>
                                        </p:cTn>
                                        <p:tgtEl>
                                          <p:spTgt spid="221"/>
                                        </p:tgtEl>
                                        <p:attrNameLst>
                                          <p:attrName>style.visibility</p:attrName>
                                        </p:attrNameLst>
                                      </p:cBhvr>
                                      <p:to>
                                        <p:strVal val="hidden"/>
                                      </p:to>
                                    </p:set>
                                  </p:childTnLst>
                                </p:cTn>
                              </p:par>
                              <p:par>
                                <p:cTn id="222" presetID="10" presetClass="exit" presetSubtype="0" fill="hold" grpId="0" nodeType="withEffect">
                                  <p:stCondLst>
                                    <p:cond delay="0"/>
                                  </p:stCondLst>
                                  <p:childTnLst>
                                    <p:animEffect transition="out" filter="fade">
                                      <p:cBhvr>
                                        <p:cTn id="223" dur="200"/>
                                        <p:tgtEl>
                                          <p:spTgt spid="222"/>
                                        </p:tgtEl>
                                      </p:cBhvr>
                                    </p:animEffect>
                                    <p:set>
                                      <p:cBhvr>
                                        <p:cTn id="224" dur="1" fill="hold">
                                          <p:stCondLst>
                                            <p:cond delay="199"/>
                                          </p:stCondLst>
                                        </p:cTn>
                                        <p:tgtEl>
                                          <p:spTgt spid="222"/>
                                        </p:tgtEl>
                                        <p:attrNameLst>
                                          <p:attrName>style.visibility</p:attrName>
                                        </p:attrNameLst>
                                      </p:cBhvr>
                                      <p:to>
                                        <p:strVal val="hidden"/>
                                      </p:to>
                                    </p:set>
                                  </p:childTnLst>
                                </p:cTn>
                              </p:par>
                              <p:par>
                                <p:cTn id="225" presetID="10" presetClass="exit" presetSubtype="0" fill="hold" grpId="0" nodeType="withEffect">
                                  <p:stCondLst>
                                    <p:cond delay="0"/>
                                  </p:stCondLst>
                                  <p:childTnLst>
                                    <p:animEffect transition="out" filter="fade">
                                      <p:cBhvr>
                                        <p:cTn id="226" dur="200"/>
                                        <p:tgtEl>
                                          <p:spTgt spid="223"/>
                                        </p:tgtEl>
                                      </p:cBhvr>
                                    </p:animEffect>
                                    <p:set>
                                      <p:cBhvr>
                                        <p:cTn id="227" dur="1" fill="hold">
                                          <p:stCondLst>
                                            <p:cond delay="199"/>
                                          </p:stCondLst>
                                        </p:cTn>
                                        <p:tgtEl>
                                          <p:spTgt spid="223"/>
                                        </p:tgtEl>
                                        <p:attrNameLst>
                                          <p:attrName>style.visibility</p:attrName>
                                        </p:attrNameLst>
                                      </p:cBhvr>
                                      <p:to>
                                        <p:strVal val="hidden"/>
                                      </p:to>
                                    </p:set>
                                  </p:childTnLst>
                                </p:cTn>
                              </p:par>
                              <p:par>
                                <p:cTn id="228" presetID="10" presetClass="exit" presetSubtype="0" fill="hold" grpId="0" nodeType="withEffect">
                                  <p:stCondLst>
                                    <p:cond delay="0"/>
                                  </p:stCondLst>
                                  <p:childTnLst>
                                    <p:animEffect transition="out" filter="fade">
                                      <p:cBhvr>
                                        <p:cTn id="229" dur="200"/>
                                        <p:tgtEl>
                                          <p:spTgt spid="224"/>
                                        </p:tgtEl>
                                      </p:cBhvr>
                                    </p:animEffect>
                                    <p:set>
                                      <p:cBhvr>
                                        <p:cTn id="230" dur="1" fill="hold">
                                          <p:stCondLst>
                                            <p:cond delay="199"/>
                                          </p:stCondLst>
                                        </p:cTn>
                                        <p:tgtEl>
                                          <p:spTgt spid="224"/>
                                        </p:tgtEl>
                                        <p:attrNameLst>
                                          <p:attrName>style.visibility</p:attrName>
                                        </p:attrNameLst>
                                      </p:cBhvr>
                                      <p:to>
                                        <p:strVal val="hidden"/>
                                      </p:to>
                                    </p:set>
                                  </p:childTnLst>
                                </p:cTn>
                              </p:par>
                              <p:par>
                                <p:cTn id="231" presetID="10" presetClass="exit" presetSubtype="0" fill="hold" grpId="0" nodeType="withEffect">
                                  <p:stCondLst>
                                    <p:cond delay="0"/>
                                  </p:stCondLst>
                                  <p:childTnLst>
                                    <p:animEffect transition="out" filter="fade">
                                      <p:cBhvr>
                                        <p:cTn id="232" dur="200"/>
                                        <p:tgtEl>
                                          <p:spTgt spid="225"/>
                                        </p:tgtEl>
                                      </p:cBhvr>
                                    </p:animEffect>
                                    <p:set>
                                      <p:cBhvr>
                                        <p:cTn id="233" dur="1" fill="hold">
                                          <p:stCondLst>
                                            <p:cond delay="199"/>
                                          </p:stCondLst>
                                        </p:cTn>
                                        <p:tgtEl>
                                          <p:spTgt spid="225"/>
                                        </p:tgtEl>
                                        <p:attrNameLst>
                                          <p:attrName>style.visibility</p:attrName>
                                        </p:attrNameLst>
                                      </p:cBhvr>
                                      <p:to>
                                        <p:strVal val="hidden"/>
                                      </p:to>
                                    </p:set>
                                  </p:childTnLst>
                                </p:cTn>
                              </p:par>
                              <p:par>
                                <p:cTn id="234" presetID="10" presetClass="exit" presetSubtype="0" fill="hold" grpId="0" nodeType="withEffect">
                                  <p:stCondLst>
                                    <p:cond delay="0"/>
                                  </p:stCondLst>
                                  <p:childTnLst>
                                    <p:animEffect transition="out" filter="fade">
                                      <p:cBhvr>
                                        <p:cTn id="235" dur="200"/>
                                        <p:tgtEl>
                                          <p:spTgt spid="226"/>
                                        </p:tgtEl>
                                      </p:cBhvr>
                                    </p:animEffect>
                                    <p:set>
                                      <p:cBhvr>
                                        <p:cTn id="236" dur="1" fill="hold">
                                          <p:stCondLst>
                                            <p:cond delay="199"/>
                                          </p:stCondLst>
                                        </p:cTn>
                                        <p:tgtEl>
                                          <p:spTgt spid="226"/>
                                        </p:tgtEl>
                                        <p:attrNameLst>
                                          <p:attrName>style.visibility</p:attrName>
                                        </p:attrNameLst>
                                      </p:cBhvr>
                                      <p:to>
                                        <p:strVal val="hidden"/>
                                      </p:to>
                                    </p:set>
                                  </p:childTnLst>
                                </p:cTn>
                              </p:par>
                              <p:par>
                                <p:cTn id="237" presetID="10" presetClass="exit" presetSubtype="0" fill="hold" grpId="0" nodeType="withEffect">
                                  <p:stCondLst>
                                    <p:cond delay="0"/>
                                  </p:stCondLst>
                                  <p:childTnLst>
                                    <p:animEffect transition="out" filter="fade">
                                      <p:cBhvr>
                                        <p:cTn id="238" dur="200"/>
                                        <p:tgtEl>
                                          <p:spTgt spid="227"/>
                                        </p:tgtEl>
                                      </p:cBhvr>
                                    </p:animEffect>
                                    <p:set>
                                      <p:cBhvr>
                                        <p:cTn id="239" dur="1" fill="hold">
                                          <p:stCondLst>
                                            <p:cond delay="199"/>
                                          </p:stCondLst>
                                        </p:cTn>
                                        <p:tgtEl>
                                          <p:spTgt spid="227"/>
                                        </p:tgtEl>
                                        <p:attrNameLst>
                                          <p:attrName>style.visibility</p:attrName>
                                        </p:attrNameLst>
                                      </p:cBhvr>
                                      <p:to>
                                        <p:strVal val="hidden"/>
                                      </p:to>
                                    </p:set>
                                  </p:childTnLst>
                                </p:cTn>
                              </p:par>
                              <p:par>
                                <p:cTn id="240" presetID="10" presetClass="exit" presetSubtype="0" fill="hold" grpId="0" nodeType="withEffect">
                                  <p:stCondLst>
                                    <p:cond delay="0"/>
                                  </p:stCondLst>
                                  <p:childTnLst>
                                    <p:animEffect transition="out" filter="fade">
                                      <p:cBhvr>
                                        <p:cTn id="241" dur="200"/>
                                        <p:tgtEl>
                                          <p:spTgt spid="228"/>
                                        </p:tgtEl>
                                      </p:cBhvr>
                                    </p:animEffect>
                                    <p:set>
                                      <p:cBhvr>
                                        <p:cTn id="242" dur="1" fill="hold">
                                          <p:stCondLst>
                                            <p:cond delay="199"/>
                                          </p:stCondLst>
                                        </p:cTn>
                                        <p:tgtEl>
                                          <p:spTgt spid="228"/>
                                        </p:tgtEl>
                                        <p:attrNameLst>
                                          <p:attrName>style.visibility</p:attrName>
                                        </p:attrNameLst>
                                      </p:cBhvr>
                                      <p:to>
                                        <p:strVal val="hidden"/>
                                      </p:to>
                                    </p:set>
                                  </p:childTnLst>
                                </p:cTn>
                              </p:par>
                              <p:par>
                                <p:cTn id="243" presetID="10" presetClass="exit" presetSubtype="0" fill="hold" grpId="0" nodeType="withEffect">
                                  <p:stCondLst>
                                    <p:cond delay="0"/>
                                  </p:stCondLst>
                                  <p:childTnLst>
                                    <p:animEffect transition="out" filter="fade">
                                      <p:cBhvr>
                                        <p:cTn id="244" dur="200"/>
                                        <p:tgtEl>
                                          <p:spTgt spid="229"/>
                                        </p:tgtEl>
                                      </p:cBhvr>
                                    </p:animEffect>
                                    <p:set>
                                      <p:cBhvr>
                                        <p:cTn id="245" dur="1" fill="hold">
                                          <p:stCondLst>
                                            <p:cond delay="199"/>
                                          </p:stCondLst>
                                        </p:cTn>
                                        <p:tgtEl>
                                          <p:spTgt spid="229"/>
                                        </p:tgtEl>
                                        <p:attrNameLst>
                                          <p:attrName>style.visibility</p:attrName>
                                        </p:attrNameLst>
                                      </p:cBhvr>
                                      <p:to>
                                        <p:strVal val="hidden"/>
                                      </p:to>
                                    </p:set>
                                  </p:childTnLst>
                                </p:cTn>
                              </p:par>
                              <p:par>
                                <p:cTn id="246" presetID="10" presetClass="exit" presetSubtype="0" fill="hold" grpId="0" nodeType="withEffect">
                                  <p:stCondLst>
                                    <p:cond delay="0"/>
                                  </p:stCondLst>
                                  <p:childTnLst>
                                    <p:animEffect transition="out" filter="fade">
                                      <p:cBhvr>
                                        <p:cTn id="247" dur="200"/>
                                        <p:tgtEl>
                                          <p:spTgt spid="230"/>
                                        </p:tgtEl>
                                      </p:cBhvr>
                                    </p:animEffect>
                                    <p:set>
                                      <p:cBhvr>
                                        <p:cTn id="248" dur="1" fill="hold">
                                          <p:stCondLst>
                                            <p:cond delay="199"/>
                                          </p:stCondLst>
                                        </p:cTn>
                                        <p:tgtEl>
                                          <p:spTgt spid="230"/>
                                        </p:tgtEl>
                                        <p:attrNameLst>
                                          <p:attrName>style.visibility</p:attrName>
                                        </p:attrNameLst>
                                      </p:cBhvr>
                                      <p:to>
                                        <p:strVal val="hidden"/>
                                      </p:to>
                                    </p:set>
                                  </p:childTnLst>
                                </p:cTn>
                              </p:par>
                              <p:par>
                                <p:cTn id="249" presetID="10" presetClass="exit" presetSubtype="0" fill="hold" grpId="0" nodeType="withEffect">
                                  <p:stCondLst>
                                    <p:cond delay="0"/>
                                  </p:stCondLst>
                                  <p:childTnLst>
                                    <p:animEffect transition="out" filter="fade">
                                      <p:cBhvr>
                                        <p:cTn id="250" dur="200"/>
                                        <p:tgtEl>
                                          <p:spTgt spid="231"/>
                                        </p:tgtEl>
                                      </p:cBhvr>
                                    </p:animEffect>
                                    <p:set>
                                      <p:cBhvr>
                                        <p:cTn id="251" dur="1" fill="hold">
                                          <p:stCondLst>
                                            <p:cond delay="199"/>
                                          </p:stCondLst>
                                        </p:cTn>
                                        <p:tgtEl>
                                          <p:spTgt spid="231"/>
                                        </p:tgtEl>
                                        <p:attrNameLst>
                                          <p:attrName>style.visibility</p:attrName>
                                        </p:attrNameLst>
                                      </p:cBhvr>
                                      <p:to>
                                        <p:strVal val="hidden"/>
                                      </p:to>
                                    </p:set>
                                  </p:childTnLst>
                                </p:cTn>
                              </p:par>
                              <p:par>
                                <p:cTn id="252" presetID="10" presetClass="exit" presetSubtype="0" fill="hold" grpId="0" nodeType="withEffect">
                                  <p:stCondLst>
                                    <p:cond delay="0"/>
                                  </p:stCondLst>
                                  <p:childTnLst>
                                    <p:animEffect transition="out" filter="fade">
                                      <p:cBhvr>
                                        <p:cTn id="253" dur="200"/>
                                        <p:tgtEl>
                                          <p:spTgt spid="232"/>
                                        </p:tgtEl>
                                      </p:cBhvr>
                                    </p:animEffect>
                                    <p:set>
                                      <p:cBhvr>
                                        <p:cTn id="254" dur="1" fill="hold">
                                          <p:stCondLst>
                                            <p:cond delay="199"/>
                                          </p:stCondLst>
                                        </p:cTn>
                                        <p:tgtEl>
                                          <p:spTgt spid="232"/>
                                        </p:tgtEl>
                                        <p:attrNameLst>
                                          <p:attrName>style.visibility</p:attrName>
                                        </p:attrNameLst>
                                      </p:cBhvr>
                                      <p:to>
                                        <p:strVal val="hidden"/>
                                      </p:to>
                                    </p:set>
                                  </p:childTnLst>
                                </p:cTn>
                              </p:par>
                              <p:par>
                                <p:cTn id="255" presetID="10" presetClass="exit" presetSubtype="0" fill="hold" grpId="0" nodeType="withEffect">
                                  <p:stCondLst>
                                    <p:cond delay="0"/>
                                  </p:stCondLst>
                                  <p:childTnLst>
                                    <p:animEffect transition="out" filter="fade">
                                      <p:cBhvr>
                                        <p:cTn id="256" dur="200"/>
                                        <p:tgtEl>
                                          <p:spTgt spid="233"/>
                                        </p:tgtEl>
                                      </p:cBhvr>
                                    </p:animEffect>
                                    <p:set>
                                      <p:cBhvr>
                                        <p:cTn id="257" dur="1" fill="hold">
                                          <p:stCondLst>
                                            <p:cond delay="199"/>
                                          </p:stCondLst>
                                        </p:cTn>
                                        <p:tgtEl>
                                          <p:spTgt spid="233"/>
                                        </p:tgtEl>
                                        <p:attrNameLst>
                                          <p:attrName>style.visibility</p:attrName>
                                        </p:attrNameLst>
                                      </p:cBhvr>
                                      <p:to>
                                        <p:strVal val="hidden"/>
                                      </p:to>
                                    </p:set>
                                  </p:childTnLst>
                                </p:cTn>
                              </p:par>
                              <p:par>
                                <p:cTn id="258" presetID="10" presetClass="exit" presetSubtype="0" fill="hold" grpId="0" nodeType="withEffect">
                                  <p:stCondLst>
                                    <p:cond delay="0"/>
                                  </p:stCondLst>
                                  <p:childTnLst>
                                    <p:animEffect transition="out" filter="fade">
                                      <p:cBhvr>
                                        <p:cTn id="259" dur="200"/>
                                        <p:tgtEl>
                                          <p:spTgt spid="234"/>
                                        </p:tgtEl>
                                      </p:cBhvr>
                                    </p:animEffect>
                                    <p:set>
                                      <p:cBhvr>
                                        <p:cTn id="260" dur="1" fill="hold">
                                          <p:stCondLst>
                                            <p:cond delay="199"/>
                                          </p:stCondLst>
                                        </p:cTn>
                                        <p:tgtEl>
                                          <p:spTgt spid="234"/>
                                        </p:tgtEl>
                                        <p:attrNameLst>
                                          <p:attrName>style.visibility</p:attrName>
                                        </p:attrNameLst>
                                      </p:cBhvr>
                                      <p:to>
                                        <p:strVal val="hidden"/>
                                      </p:to>
                                    </p:set>
                                  </p:childTnLst>
                                </p:cTn>
                              </p:par>
                              <p:par>
                                <p:cTn id="261" presetID="10" presetClass="exit" presetSubtype="0" fill="hold" grpId="0" nodeType="withEffect">
                                  <p:stCondLst>
                                    <p:cond delay="0"/>
                                  </p:stCondLst>
                                  <p:childTnLst>
                                    <p:animEffect transition="out" filter="fade">
                                      <p:cBhvr>
                                        <p:cTn id="262" dur="200"/>
                                        <p:tgtEl>
                                          <p:spTgt spid="235"/>
                                        </p:tgtEl>
                                      </p:cBhvr>
                                    </p:animEffect>
                                    <p:set>
                                      <p:cBhvr>
                                        <p:cTn id="263" dur="1" fill="hold">
                                          <p:stCondLst>
                                            <p:cond delay="199"/>
                                          </p:stCondLst>
                                        </p:cTn>
                                        <p:tgtEl>
                                          <p:spTgt spid="235"/>
                                        </p:tgtEl>
                                        <p:attrNameLst>
                                          <p:attrName>style.visibility</p:attrName>
                                        </p:attrNameLst>
                                      </p:cBhvr>
                                      <p:to>
                                        <p:strVal val="hidden"/>
                                      </p:to>
                                    </p:set>
                                  </p:childTnLst>
                                </p:cTn>
                              </p:par>
                              <p:par>
                                <p:cTn id="264" presetID="10" presetClass="exit" presetSubtype="0" fill="hold" grpId="0" nodeType="withEffect">
                                  <p:stCondLst>
                                    <p:cond delay="0"/>
                                  </p:stCondLst>
                                  <p:childTnLst>
                                    <p:animEffect transition="out" filter="fade">
                                      <p:cBhvr>
                                        <p:cTn id="265" dur="200"/>
                                        <p:tgtEl>
                                          <p:spTgt spid="236"/>
                                        </p:tgtEl>
                                      </p:cBhvr>
                                    </p:animEffect>
                                    <p:set>
                                      <p:cBhvr>
                                        <p:cTn id="266" dur="1" fill="hold">
                                          <p:stCondLst>
                                            <p:cond delay="199"/>
                                          </p:stCondLst>
                                        </p:cTn>
                                        <p:tgtEl>
                                          <p:spTgt spid="236"/>
                                        </p:tgtEl>
                                        <p:attrNameLst>
                                          <p:attrName>style.visibility</p:attrName>
                                        </p:attrNameLst>
                                      </p:cBhvr>
                                      <p:to>
                                        <p:strVal val="hidden"/>
                                      </p:to>
                                    </p:set>
                                  </p:childTnLst>
                                </p:cTn>
                              </p:par>
                              <p:par>
                                <p:cTn id="267" presetID="10" presetClass="exit" presetSubtype="0" fill="hold" grpId="0" nodeType="withEffect">
                                  <p:stCondLst>
                                    <p:cond delay="0"/>
                                  </p:stCondLst>
                                  <p:childTnLst>
                                    <p:animEffect transition="out" filter="fade">
                                      <p:cBhvr>
                                        <p:cTn id="268" dur="200"/>
                                        <p:tgtEl>
                                          <p:spTgt spid="237"/>
                                        </p:tgtEl>
                                      </p:cBhvr>
                                    </p:animEffect>
                                    <p:set>
                                      <p:cBhvr>
                                        <p:cTn id="269" dur="1" fill="hold">
                                          <p:stCondLst>
                                            <p:cond delay="199"/>
                                          </p:stCondLst>
                                        </p:cTn>
                                        <p:tgtEl>
                                          <p:spTgt spid="237"/>
                                        </p:tgtEl>
                                        <p:attrNameLst>
                                          <p:attrName>style.visibility</p:attrName>
                                        </p:attrNameLst>
                                      </p:cBhvr>
                                      <p:to>
                                        <p:strVal val="hidden"/>
                                      </p:to>
                                    </p:set>
                                  </p:childTnLst>
                                </p:cTn>
                              </p:par>
                              <p:par>
                                <p:cTn id="270" presetID="10" presetClass="exit" presetSubtype="0" fill="hold" grpId="0" nodeType="withEffect">
                                  <p:stCondLst>
                                    <p:cond delay="0"/>
                                  </p:stCondLst>
                                  <p:childTnLst>
                                    <p:animEffect transition="out" filter="fade">
                                      <p:cBhvr>
                                        <p:cTn id="271" dur="200"/>
                                        <p:tgtEl>
                                          <p:spTgt spid="238"/>
                                        </p:tgtEl>
                                      </p:cBhvr>
                                    </p:animEffect>
                                    <p:set>
                                      <p:cBhvr>
                                        <p:cTn id="272" dur="1" fill="hold">
                                          <p:stCondLst>
                                            <p:cond delay="199"/>
                                          </p:stCondLst>
                                        </p:cTn>
                                        <p:tgtEl>
                                          <p:spTgt spid="238"/>
                                        </p:tgtEl>
                                        <p:attrNameLst>
                                          <p:attrName>style.visibility</p:attrName>
                                        </p:attrNameLst>
                                      </p:cBhvr>
                                      <p:to>
                                        <p:strVal val="hidden"/>
                                      </p:to>
                                    </p:set>
                                  </p:childTnLst>
                                </p:cTn>
                              </p:par>
                              <p:par>
                                <p:cTn id="273" presetID="10" presetClass="exit" presetSubtype="0" fill="hold" grpId="0" nodeType="withEffect">
                                  <p:stCondLst>
                                    <p:cond delay="0"/>
                                  </p:stCondLst>
                                  <p:childTnLst>
                                    <p:animEffect transition="out" filter="fade">
                                      <p:cBhvr>
                                        <p:cTn id="274" dur="200"/>
                                        <p:tgtEl>
                                          <p:spTgt spid="239"/>
                                        </p:tgtEl>
                                      </p:cBhvr>
                                    </p:animEffect>
                                    <p:set>
                                      <p:cBhvr>
                                        <p:cTn id="275" dur="1" fill="hold">
                                          <p:stCondLst>
                                            <p:cond delay="199"/>
                                          </p:stCondLst>
                                        </p:cTn>
                                        <p:tgtEl>
                                          <p:spTgt spid="239"/>
                                        </p:tgtEl>
                                        <p:attrNameLst>
                                          <p:attrName>style.visibility</p:attrName>
                                        </p:attrNameLst>
                                      </p:cBhvr>
                                      <p:to>
                                        <p:strVal val="hidden"/>
                                      </p:to>
                                    </p:set>
                                  </p:childTnLst>
                                </p:cTn>
                              </p:par>
                              <p:par>
                                <p:cTn id="276" presetID="10" presetClass="exit" presetSubtype="0" fill="hold" grpId="0" nodeType="withEffect">
                                  <p:stCondLst>
                                    <p:cond delay="0"/>
                                  </p:stCondLst>
                                  <p:childTnLst>
                                    <p:animEffect transition="out" filter="fade">
                                      <p:cBhvr>
                                        <p:cTn id="277" dur="200"/>
                                        <p:tgtEl>
                                          <p:spTgt spid="240"/>
                                        </p:tgtEl>
                                      </p:cBhvr>
                                    </p:animEffect>
                                    <p:set>
                                      <p:cBhvr>
                                        <p:cTn id="278" dur="1" fill="hold">
                                          <p:stCondLst>
                                            <p:cond delay="199"/>
                                          </p:stCondLst>
                                        </p:cTn>
                                        <p:tgtEl>
                                          <p:spTgt spid="240"/>
                                        </p:tgtEl>
                                        <p:attrNameLst>
                                          <p:attrName>style.visibility</p:attrName>
                                        </p:attrNameLst>
                                      </p:cBhvr>
                                      <p:to>
                                        <p:strVal val="hidden"/>
                                      </p:to>
                                    </p:set>
                                  </p:childTnLst>
                                </p:cTn>
                              </p:par>
                              <p:par>
                                <p:cTn id="279" presetID="10" presetClass="exit" presetSubtype="0" fill="hold" grpId="0" nodeType="withEffect">
                                  <p:stCondLst>
                                    <p:cond delay="0"/>
                                  </p:stCondLst>
                                  <p:childTnLst>
                                    <p:animEffect transition="out" filter="fade">
                                      <p:cBhvr>
                                        <p:cTn id="280" dur="200"/>
                                        <p:tgtEl>
                                          <p:spTgt spid="241"/>
                                        </p:tgtEl>
                                      </p:cBhvr>
                                    </p:animEffect>
                                    <p:set>
                                      <p:cBhvr>
                                        <p:cTn id="281" dur="1" fill="hold">
                                          <p:stCondLst>
                                            <p:cond delay="199"/>
                                          </p:stCondLst>
                                        </p:cTn>
                                        <p:tgtEl>
                                          <p:spTgt spid="241"/>
                                        </p:tgtEl>
                                        <p:attrNameLst>
                                          <p:attrName>style.visibility</p:attrName>
                                        </p:attrNameLst>
                                      </p:cBhvr>
                                      <p:to>
                                        <p:strVal val="hidden"/>
                                      </p:to>
                                    </p:set>
                                  </p:childTnLst>
                                </p:cTn>
                              </p:par>
                              <p:par>
                                <p:cTn id="282" presetID="10" presetClass="exit" presetSubtype="0" fill="hold" grpId="0" nodeType="withEffect">
                                  <p:stCondLst>
                                    <p:cond delay="0"/>
                                  </p:stCondLst>
                                  <p:childTnLst>
                                    <p:animEffect transition="out" filter="fade">
                                      <p:cBhvr>
                                        <p:cTn id="283" dur="200"/>
                                        <p:tgtEl>
                                          <p:spTgt spid="242"/>
                                        </p:tgtEl>
                                      </p:cBhvr>
                                    </p:animEffect>
                                    <p:set>
                                      <p:cBhvr>
                                        <p:cTn id="284" dur="1" fill="hold">
                                          <p:stCondLst>
                                            <p:cond delay="199"/>
                                          </p:stCondLst>
                                        </p:cTn>
                                        <p:tgtEl>
                                          <p:spTgt spid="242"/>
                                        </p:tgtEl>
                                        <p:attrNameLst>
                                          <p:attrName>style.visibility</p:attrName>
                                        </p:attrNameLst>
                                      </p:cBhvr>
                                      <p:to>
                                        <p:strVal val="hidden"/>
                                      </p:to>
                                    </p:set>
                                  </p:childTnLst>
                                </p:cTn>
                              </p:par>
                              <p:par>
                                <p:cTn id="285" presetID="10" presetClass="exit" presetSubtype="0" fill="hold" grpId="0" nodeType="withEffect">
                                  <p:stCondLst>
                                    <p:cond delay="0"/>
                                  </p:stCondLst>
                                  <p:childTnLst>
                                    <p:animEffect transition="out" filter="fade">
                                      <p:cBhvr>
                                        <p:cTn id="286" dur="200"/>
                                        <p:tgtEl>
                                          <p:spTgt spid="243"/>
                                        </p:tgtEl>
                                      </p:cBhvr>
                                    </p:animEffect>
                                    <p:set>
                                      <p:cBhvr>
                                        <p:cTn id="287" dur="1" fill="hold">
                                          <p:stCondLst>
                                            <p:cond delay="199"/>
                                          </p:stCondLst>
                                        </p:cTn>
                                        <p:tgtEl>
                                          <p:spTgt spid="243"/>
                                        </p:tgtEl>
                                        <p:attrNameLst>
                                          <p:attrName>style.visibility</p:attrName>
                                        </p:attrNameLst>
                                      </p:cBhvr>
                                      <p:to>
                                        <p:strVal val="hidden"/>
                                      </p:to>
                                    </p:set>
                                  </p:childTnLst>
                                </p:cTn>
                              </p:par>
                              <p:par>
                                <p:cTn id="288" presetID="10" presetClass="exit" presetSubtype="0" fill="hold" grpId="0" nodeType="withEffect">
                                  <p:stCondLst>
                                    <p:cond delay="0"/>
                                  </p:stCondLst>
                                  <p:childTnLst>
                                    <p:animEffect transition="out" filter="fade">
                                      <p:cBhvr>
                                        <p:cTn id="289" dur="200"/>
                                        <p:tgtEl>
                                          <p:spTgt spid="244"/>
                                        </p:tgtEl>
                                      </p:cBhvr>
                                    </p:animEffect>
                                    <p:set>
                                      <p:cBhvr>
                                        <p:cTn id="290" dur="1" fill="hold">
                                          <p:stCondLst>
                                            <p:cond delay="199"/>
                                          </p:stCondLst>
                                        </p:cTn>
                                        <p:tgtEl>
                                          <p:spTgt spid="244"/>
                                        </p:tgtEl>
                                        <p:attrNameLst>
                                          <p:attrName>style.visibility</p:attrName>
                                        </p:attrNameLst>
                                      </p:cBhvr>
                                      <p:to>
                                        <p:strVal val="hidden"/>
                                      </p:to>
                                    </p:set>
                                  </p:childTnLst>
                                </p:cTn>
                              </p:par>
                              <p:par>
                                <p:cTn id="291" presetID="10" presetClass="exit" presetSubtype="0" fill="hold" grpId="0" nodeType="withEffect">
                                  <p:stCondLst>
                                    <p:cond delay="0"/>
                                  </p:stCondLst>
                                  <p:childTnLst>
                                    <p:animEffect transition="out" filter="fade">
                                      <p:cBhvr>
                                        <p:cTn id="292" dur="200"/>
                                        <p:tgtEl>
                                          <p:spTgt spid="245"/>
                                        </p:tgtEl>
                                      </p:cBhvr>
                                    </p:animEffect>
                                    <p:set>
                                      <p:cBhvr>
                                        <p:cTn id="293" dur="1" fill="hold">
                                          <p:stCondLst>
                                            <p:cond delay="199"/>
                                          </p:stCondLst>
                                        </p:cTn>
                                        <p:tgtEl>
                                          <p:spTgt spid="245"/>
                                        </p:tgtEl>
                                        <p:attrNameLst>
                                          <p:attrName>style.visibility</p:attrName>
                                        </p:attrNameLst>
                                      </p:cBhvr>
                                      <p:to>
                                        <p:strVal val="hidden"/>
                                      </p:to>
                                    </p:set>
                                  </p:childTnLst>
                                </p:cTn>
                              </p:par>
                              <p:par>
                                <p:cTn id="294" presetID="10" presetClass="exit" presetSubtype="0" fill="hold" grpId="0" nodeType="withEffect">
                                  <p:stCondLst>
                                    <p:cond delay="0"/>
                                  </p:stCondLst>
                                  <p:childTnLst>
                                    <p:animEffect transition="out" filter="fade">
                                      <p:cBhvr>
                                        <p:cTn id="295" dur="200"/>
                                        <p:tgtEl>
                                          <p:spTgt spid="246"/>
                                        </p:tgtEl>
                                      </p:cBhvr>
                                    </p:animEffect>
                                    <p:set>
                                      <p:cBhvr>
                                        <p:cTn id="296" dur="1" fill="hold">
                                          <p:stCondLst>
                                            <p:cond delay="199"/>
                                          </p:stCondLst>
                                        </p:cTn>
                                        <p:tgtEl>
                                          <p:spTgt spid="246"/>
                                        </p:tgtEl>
                                        <p:attrNameLst>
                                          <p:attrName>style.visibility</p:attrName>
                                        </p:attrNameLst>
                                      </p:cBhvr>
                                      <p:to>
                                        <p:strVal val="hidden"/>
                                      </p:to>
                                    </p:set>
                                  </p:childTnLst>
                                </p:cTn>
                              </p:par>
                              <p:par>
                                <p:cTn id="297" presetID="10" presetClass="exit" presetSubtype="0" fill="hold" grpId="0" nodeType="withEffect">
                                  <p:stCondLst>
                                    <p:cond delay="0"/>
                                  </p:stCondLst>
                                  <p:childTnLst>
                                    <p:animEffect transition="out" filter="fade">
                                      <p:cBhvr>
                                        <p:cTn id="298" dur="200"/>
                                        <p:tgtEl>
                                          <p:spTgt spid="273"/>
                                        </p:tgtEl>
                                      </p:cBhvr>
                                    </p:animEffect>
                                    <p:set>
                                      <p:cBhvr>
                                        <p:cTn id="299" dur="1" fill="hold">
                                          <p:stCondLst>
                                            <p:cond delay="199"/>
                                          </p:stCondLst>
                                        </p:cTn>
                                        <p:tgtEl>
                                          <p:spTgt spid="273"/>
                                        </p:tgtEl>
                                        <p:attrNameLst>
                                          <p:attrName>style.visibility</p:attrName>
                                        </p:attrNameLst>
                                      </p:cBhvr>
                                      <p:to>
                                        <p:strVal val="hidden"/>
                                      </p:to>
                                    </p:set>
                                  </p:childTnLst>
                                </p:cTn>
                              </p:par>
                              <p:par>
                                <p:cTn id="300" presetID="10" presetClass="exit" presetSubtype="0" fill="hold" grpId="0" nodeType="withEffect">
                                  <p:stCondLst>
                                    <p:cond delay="0"/>
                                  </p:stCondLst>
                                  <p:childTnLst>
                                    <p:animEffect transition="out" filter="fade">
                                      <p:cBhvr>
                                        <p:cTn id="301" dur="200"/>
                                        <p:tgtEl>
                                          <p:spTgt spid="274"/>
                                        </p:tgtEl>
                                      </p:cBhvr>
                                    </p:animEffect>
                                    <p:set>
                                      <p:cBhvr>
                                        <p:cTn id="302" dur="1" fill="hold">
                                          <p:stCondLst>
                                            <p:cond delay="199"/>
                                          </p:stCondLst>
                                        </p:cTn>
                                        <p:tgtEl>
                                          <p:spTgt spid="274"/>
                                        </p:tgtEl>
                                        <p:attrNameLst>
                                          <p:attrName>style.visibility</p:attrName>
                                        </p:attrNameLst>
                                      </p:cBhvr>
                                      <p:to>
                                        <p:strVal val="hidden"/>
                                      </p:to>
                                    </p:set>
                                  </p:childTnLst>
                                </p:cTn>
                              </p:par>
                              <p:par>
                                <p:cTn id="303" presetID="10" presetClass="exit" presetSubtype="0" fill="hold" grpId="0" nodeType="withEffect">
                                  <p:stCondLst>
                                    <p:cond delay="0"/>
                                  </p:stCondLst>
                                  <p:childTnLst>
                                    <p:animEffect transition="out" filter="fade">
                                      <p:cBhvr>
                                        <p:cTn id="304" dur="200"/>
                                        <p:tgtEl>
                                          <p:spTgt spid="275"/>
                                        </p:tgtEl>
                                      </p:cBhvr>
                                    </p:animEffect>
                                    <p:set>
                                      <p:cBhvr>
                                        <p:cTn id="305" dur="1" fill="hold">
                                          <p:stCondLst>
                                            <p:cond delay="199"/>
                                          </p:stCondLst>
                                        </p:cTn>
                                        <p:tgtEl>
                                          <p:spTgt spid="275"/>
                                        </p:tgtEl>
                                        <p:attrNameLst>
                                          <p:attrName>style.visibility</p:attrName>
                                        </p:attrNameLst>
                                      </p:cBhvr>
                                      <p:to>
                                        <p:strVal val="hidden"/>
                                      </p:to>
                                    </p:set>
                                  </p:childTnLst>
                                </p:cTn>
                              </p:par>
                              <p:par>
                                <p:cTn id="306" presetID="10" presetClass="exit" presetSubtype="0" fill="hold" grpId="0" nodeType="withEffect">
                                  <p:stCondLst>
                                    <p:cond delay="0"/>
                                  </p:stCondLst>
                                  <p:childTnLst>
                                    <p:animEffect transition="out" filter="fade">
                                      <p:cBhvr>
                                        <p:cTn id="307" dur="200"/>
                                        <p:tgtEl>
                                          <p:spTgt spid="276"/>
                                        </p:tgtEl>
                                      </p:cBhvr>
                                    </p:animEffect>
                                    <p:set>
                                      <p:cBhvr>
                                        <p:cTn id="308" dur="1" fill="hold">
                                          <p:stCondLst>
                                            <p:cond delay="199"/>
                                          </p:stCondLst>
                                        </p:cTn>
                                        <p:tgtEl>
                                          <p:spTgt spid="276"/>
                                        </p:tgtEl>
                                        <p:attrNameLst>
                                          <p:attrName>style.visibility</p:attrName>
                                        </p:attrNameLst>
                                      </p:cBhvr>
                                      <p:to>
                                        <p:strVal val="hidden"/>
                                      </p:to>
                                    </p:set>
                                  </p:childTnLst>
                                </p:cTn>
                              </p:par>
                              <p:par>
                                <p:cTn id="309" presetID="10" presetClass="entr" presetSubtype="0" fill="hold" grpId="0" nodeType="withEffect">
                                  <p:stCondLst>
                                    <p:cond delay="200"/>
                                  </p:stCondLst>
                                  <p:childTnLst>
                                    <p:set>
                                      <p:cBhvr>
                                        <p:cTn id="310" dur="1" fill="hold">
                                          <p:stCondLst>
                                            <p:cond delay="0"/>
                                          </p:stCondLst>
                                        </p:cTn>
                                        <p:tgtEl>
                                          <p:spTgt spid="14"/>
                                        </p:tgtEl>
                                        <p:attrNameLst>
                                          <p:attrName>style.visibility</p:attrName>
                                        </p:attrNameLst>
                                      </p:cBhvr>
                                      <p:to>
                                        <p:strVal val="visible"/>
                                      </p:to>
                                    </p:set>
                                    <p:animEffect transition="in" filter="fade">
                                      <p:cBhvr>
                                        <p:cTn id="311" dur="400"/>
                                        <p:tgtEl>
                                          <p:spTgt spid="14"/>
                                        </p:tgtEl>
                                      </p:cBhvr>
                                    </p:animEffect>
                                  </p:childTnLst>
                                </p:cTn>
                              </p:par>
                              <p:par>
                                <p:cTn id="312" presetID="10" presetClass="entr" presetSubtype="0" fill="hold" grpId="0" nodeType="withEffect">
                                  <p:stCondLst>
                                    <p:cond delay="200"/>
                                  </p:stCondLst>
                                  <p:childTnLst>
                                    <p:set>
                                      <p:cBhvr>
                                        <p:cTn id="313" dur="1" fill="hold">
                                          <p:stCondLst>
                                            <p:cond delay="0"/>
                                          </p:stCondLst>
                                        </p:cTn>
                                        <p:tgtEl>
                                          <p:spTgt spid="15"/>
                                        </p:tgtEl>
                                        <p:attrNameLst>
                                          <p:attrName>style.visibility</p:attrName>
                                        </p:attrNameLst>
                                      </p:cBhvr>
                                      <p:to>
                                        <p:strVal val="visible"/>
                                      </p:to>
                                    </p:set>
                                    <p:animEffect transition="in" filter="fade">
                                      <p:cBhvr>
                                        <p:cTn id="314" dur="400"/>
                                        <p:tgtEl>
                                          <p:spTgt spid="15"/>
                                        </p:tgtEl>
                                      </p:cBhvr>
                                    </p:animEffect>
                                  </p:childTnLst>
                                </p:cTn>
                              </p:par>
                              <p:par>
                                <p:cTn id="315" presetID="10" presetClass="entr" presetSubtype="0" fill="hold" grpId="0" nodeType="withEffect">
                                  <p:stCondLst>
                                    <p:cond delay="200"/>
                                  </p:stCondLst>
                                  <p:childTnLst>
                                    <p:set>
                                      <p:cBhvr>
                                        <p:cTn id="316" dur="1" fill="hold">
                                          <p:stCondLst>
                                            <p:cond delay="0"/>
                                          </p:stCondLst>
                                        </p:cTn>
                                        <p:tgtEl>
                                          <p:spTgt spid="18"/>
                                        </p:tgtEl>
                                        <p:attrNameLst>
                                          <p:attrName>style.visibility</p:attrName>
                                        </p:attrNameLst>
                                      </p:cBhvr>
                                      <p:to>
                                        <p:strVal val="visible"/>
                                      </p:to>
                                    </p:set>
                                    <p:animEffect transition="in" filter="fade">
                                      <p:cBhvr>
                                        <p:cTn id="317" dur="400"/>
                                        <p:tgtEl>
                                          <p:spTgt spid="18"/>
                                        </p:tgtEl>
                                      </p:cBhvr>
                                    </p:animEffect>
                                  </p:childTnLst>
                                </p:cTn>
                              </p:par>
                              <p:par>
                                <p:cTn id="318" presetID="10" presetClass="entr" presetSubtype="0" fill="hold" grpId="0" nodeType="withEffect">
                                  <p:stCondLst>
                                    <p:cond delay="200"/>
                                  </p:stCondLst>
                                  <p:childTnLst>
                                    <p:set>
                                      <p:cBhvr>
                                        <p:cTn id="319" dur="1" fill="hold">
                                          <p:stCondLst>
                                            <p:cond delay="0"/>
                                          </p:stCondLst>
                                        </p:cTn>
                                        <p:tgtEl>
                                          <p:spTgt spid="19"/>
                                        </p:tgtEl>
                                        <p:attrNameLst>
                                          <p:attrName>style.visibility</p:attrName>
                                        </p:attrNameLst>
                                      </p:cBhvr>
                                      <p:to>
                                        <p:strVal val="visible"/>
                                      </p:to>
                                    </p:set>
                                    <p:animEffect transition="in" filter="fade">
                                      <p:cBhvr>
                                        <p:cTn id="320" dur="400"/>
                                        <p:tgtEl>
                                          <p:spTgt spid="19"/>
                                        </p:tgtEl>
                                      </p:cBhvr>
                                    </p:animEffect>
                                  </p:childTnLst>
                                </p:cTn>
                              </p:par>
                              <p:par>
                                <p:cTn id="321" presetID="10" presetClass="entr" presetSubtype="0" fill="hold" grpId="0" nodeType="withEffect">
                                  <p:stCondLst>
                                    <p:cond delay="200"/>
                                  </p:stCondLst>
                                  <p:childTnLst>
                                    <p:set>
                                      <p:cBhvr>
                                        <p:cTn id="322" dur="1" fill="hold">
                                          <p:stCondLst>
                                            <p:cond delay="0"/>
                                          </p:stCondLst>
                                        </p:cTn>
                                        <p:tgtEl>
                                          <p:spTgt spid="20"/>
                                        </p:tgtEl>
                                        <p:attrNameLst>
                                          <p:attrName>style.visibility</p:attrName>
                                        </p:attrNameLst>
                                      </p:cBhvr>
                                      <p:to>
                                        <p:strVal val="visible"/>
                                      </p:to>
                                    </p:set>
                                    <p:animEffect transition="in" filter="fade">
                                      <p:cBhvr>
                                        <p:cTn id="323" dur="400"/>
                                        <p:tgtEl>
                                          <p:spTgt spid="20"/>
                                        </p:tgtEl>
                                      </p:cBhvr>
                                    </p:animEffect>
                                  </p:childTnLst>
                                </p:cTn>
                              </p:par>
                              <p:par>
                                <p:cTn id="324" presetID="10" presetClass="entr" presetSubtype="0" fill="hold" grpId="0" nodeType="withEffect">
                                  <p:stCondLst>
                                    <p:cond delay="200"/>
                                  </p:stCondLst>
                                  <p:childTnLst>
                                    <p:set>
                                      <p:cBhvr>
                                        <p:cTn id="325" dur="1" fill="hold">
                                          <p:stCondLst>
                                            <p:cond delay="0"/>
                                          </p:stCondLst>
                                        </p:cTn>
                                        <p:tgtEl>
                                          <p:spTgt spid="21"/>
                                        </p:tgtEl>
                                        <p:attrNameLst>
                                          <p:attrName>style.visibility</p:attrName>
                                        </p:attrNameLst>
                                      </p:cBhvr>
                                      <p:to>
                                        <p:strVal val="visible"/>
                                      </p:to>
                                    </p:set>
                                    <p:animEffect transition="in" filter="fade">
                                      <p:cBhvr>
                                        <p:cTn id="326" dur="400"/>
                                        <p:tgtEl>
                                          <p:spTgt spid="21"/>
                                        </p:tgtEl>
                                      </p:cBhvr>
                                    </p:animEffect>
                                  </p:childTnLst>
                                </p:cTn>
                              </p:par>
                              <p:par>
                                <p:cTn id="327" presetID="10" presetClass="entr" presetSubtype="0" fill="hold" grpId="0" nodeType="withEffect">
                                  <p:stCondLst>
                                    <p:cond delay="200"/>
                                  </p:stCondLst>
                                  <p:childTnLst>
                                    <p:set>
                                      <p:cBhvr>
                                        <p:cTn id="328" dur="1" fill="hold">
                                          <p:stCondLst>
                                            <p:cond delay="0"/>
                                          </p:stCondLst>
                                        </p:cTn>
                                        <p:tgtEl>
                                          <p:spTgt spid="22"/>
                                        </p:tgtEl>
                                        <p:attrNameLst>
                                          <p:attrName>style.visibility</p:attrName>
                                        </p:attrNameLst>
                                      </p:cBhvr>
                                      <p:to>
                                        <p:strVal val="visible"/>
                                      </p:to>
                                    </p:set>
                                    <p:animEffect transition="in" filter="fade">
                                      <p:cBhvr>
                                        <p:cTn id="329" dur="400"/>
                                        <p:tgtEl>
                                          <p:spTgt spid="22"/>
                                        </p:tgtEl>
                                      </p:cBhvr>
                                    </p:animEffect>
                                  </p:childTnLst>
                                </p:cTn>
                              </p:par>
                              <p:par>
                                <p:cTn id="330" presetID="10" presetClass="entr" presetSubtype="0" fill="hold" grpId="0" nodeType="withEffect">
                                  <p:stCondLst>
                                    <p:cond delay="200"/>
                                  </p:stCondLst>
                                  <p:childTnLst>
                                    <p:set>
                                      <p:cBhvr>
                                        <p:cTn id="331" dur="1" fill="hold">
                                          <p:stCondLst>
                                            <p:cond delay="0"/>
                                          </p:stCondLst>
                                        </p:cTn>
                                        <p:tgtEl>
                                          <p:spTgt spid="23"/>
                                        </p:tgtEl>
                                        <p:attrNameLst>
                                          <p:attrName>style.visibility</p:attrName>
                                        </p:attrNameLst>
                                      </p:cBhvr>
                                      <p:to>
                                        <p:strVal val="visible"/>
                                      </p:to>
                                    </p:set>
                                    <p:animEffect transition="in" filter="fade">
                                      <p:cBhvr>
                                        <p:cTn id="332" dur="400"/>
                                        <p:tgtEl>
                                          <p:spTgt spid="23"/>
                                        </p:tgtEl>
                                      </p:cBhvr>
                                    </p:animEffect>
                                  </p:childTnLst>
                                </p:cTn>
                              </p:par>
                              <p:par>
                                <p:cTn id="333" presetID="10" presetClass="entr" presetSubtype="0" fill="hold" grpId="0" nodeType="withEffect">
                                  <p:stCondLst>
                                    <p:cond delay="200"/>
                                  </p:stCondLst>
                                  <p:childTnLst>
                                    <p:set>
                                      <p:cBhvr>
                                        <p:cTn id="334" dur="1" fill="hold">
                                          <p:stCondLst>
                                            <p:cond delay="0"/>
                                          </p:stCondLst>
                                        </p:cTn>
                                        <p:tgtEl>
                                          <p:spTgt spid="24"/>
                                        </p:tgtEl>
                                        <p:attrNameLst>
                                          <p:attrName>style.visibility</p:attrName>
                                        </p:attrNameLst>
                                      </p:cBhvr>
                                      <p:to>
                                        <p:strVal val="visible"/>
                                      </p:to>
                                    </p:set>
                                    <p:animEffect transition="in" filter="fade">
                                      <p:cBhvr>
                                        <p:cTn id="335" dur="400"/>
                                        <p:tgtEl>
                                          <p:spTgt spid="24"/>
                                        </p:tgtEl>
                                      </p:cBhvr>
                                    </p:animEffect>
                                  </p:childTnLst>
                                </p:cTn>
                              </p:par>
                              <p:par>
                                <p:cTn id="336" presetID="10" presetClass="entr" presetSubtype="0" fill="hold" grpId="0" nodeType="withEffect">
                                  <p:stCondLst>
                                    <p:cond delay="200"/>
                                  </p:stCondLst>
                                  <p:childTnLst>
                                    <p:set>
                                      <p:cBhvr>
                                        <p:cTn id="337" dur="1" fill="hold">
                                          <p:stCondLst>
                                            <p:cond delay="0"/>
                                          </p:stCondLst>
                                        </p:cTn>
                                        <p:tgtEl>
                                          <p:spTgt spid="25"/>
                                        </p:tgtEl>
                                        <p:attrNameLst>
                                          <p:attrName>style.visibility</p:attrName>
                                        </p:attrNameLst>
                                      </p:cBhvr>
                                      <p:to>
                                        <p:strVal val="visible"/>
                                      </p:to>
                                    </p:set>
                                    <p:animEffect transition="in" filter="fade">
                                      <p:cBhvr>
                                        <p:cTn id="338" dur="400"/>
                                        <p:tgtEl>
                                          <p:spTgt spid="25"/>
                                        </p:tgtEl>
                                      </p:cBhvr>
                                    </p:animEffect>
                                  </p:childTnLst>
                                </p:cTn>
                              </p:par>
                              <p:par>
                                <p:cTn id="339" presetID="10" presetClass="entr" presetSubtype="0" fill="hold" grpId="0" nodeType="withEffect">
                                  <p:stCondLst>
                                    <p:cond delay="200"/>
                                  </p:stCondLst>
                                  <p:childTnLst>
                                    <p:set>
                                      <p:cBhvr>
                                        <p:cTn id="340" dur="1" fill="hold">
                                          <p:stCondLst>
                                            <p:cond delay="0"/>
                                          </p:stCondLst>
                                        </p:cTn>
                                        <p:tgtEl>
                                          <p:spTgt spid="26"/>
                                        </p:tgtEl>
                                        <p:attrNameLst>
                                          <p:attrName>style.visibility</p:attrName>
                                        </p:attrNameLst>
                                      </p:cBhvr>
                                      <p:to>
                                        <p:strVal val="visible"/>
                                      </p:to>
                                    </p:set>
                                    <p:animEffect transition="in" filter="fade">
                                      <p:cBhvr>
                                        <p:cTn id="341" dur="400"/>
                                        <p:tgtEl>
                                          <p:spTgt spid="26"/>
                                        </p:tgtEl>
                                      </p:cBhvr>
                                    </p:animEffect>
                                  </p:childTnLst>
                                </p:cTn>
                              </p:par>
                              <p:par>
                                <p:cTn id="342" presetID="10" presetClass="entr" presetSubtype="0" fill="hold" grpId="0" nodeType="withEffect">
                                  <p:stCondLst>
                                    <p:cond delay="200"/>
                                  </p:stCondLst>
                                  <p:childTnLst>
                                    <p:set>
                                      <p:cBhvr>
                                        <p:cTn id="343" dur="1" fill="hold">
                                          <p:stCondLst>
                                            <p:cond delay="0"/>
                                          </p:stCondLst>
                                        </p:cTn>
                                        <p:tgtEl>
                                          <p:spTgt spid="27"/>
                                        </p:tgtEl>
                                        <p:attrNameLst>
                                          <p:attrName>style.visibility</p:attrName>
                                        </p:attrNameLst>
                                      </p:cBhvr>
                                      <p:to>
                                        <p:strVal val="visible"/>
                                      </p:to>
                                    </p:set>
                                    <p:animEffect transition="in" filter="fade">
                                      <p:cBhvr>
                                        <p:cTn id="344" dur="400"/>
                                        <p:tgtEl>
                                          <p:spTgt spid="27"/>
                                        </p:tgtEl>
                                      </p:cBhvr>
                                    </p:animEffect>
                                  </p:childTnLst>
                                </p:cTn>
                              </p:par>
                              <p:par>
                                <p:cTn id="345" presetID="10" presetClass="entr" presetSubtype="0" fill="hold" grpId="0" nodeType="withEffect">
                                  <p:stCondLst>
                                    <p:cond delay="200"/>
                                  </p:stCondLst>
                                  <p:childTnLst>
                                    <p:set>
                                      <p:cBhvr>
                                        <p:cTn id="346" dur="1" fill="hold">
                                          <p:stCondLst>
                                            <p:cond delay="0"/>
                                          </p:stCondLst>
                                        </p:cTn>
                                        <p:tgtEl>
                                          <p:spTgt spid="28"/>
                                        </p:tgtEl>
                                        <p:attrNameLst>
                                          <p:attrName>style.visibility</p:attrName>
                                        </p:attrNameLst>
                                      </p:cBhvr>
                                      <p:to>
                                        <p:strVal val="visible"/>
                                      </p:to>
                                    </p:set>
                                    <p:animEffect transition="in" filter="fade">
                                      <p:cBhvr>
                                        <p:cTn id="347" dur="400"/>
                                        <p:tgtEl>
                                          <p:spTgt spid="28"/>
                                        </p:tgtEl>
                                      </p:cBhvr>
                                    </p:animEffect>
                                  </p:childTnLst>
                                </p:cTn>
                              </p:par>
                              <p:par>
                                <p:cTn id="348" presetID="10" presetClass="entr" presetSubtype="0" fill="hold" grpId="0" nodeType="withEffect">
                                  <p:stCondLst>
                                    <p:cond delay="200"/>
                                  </p:stCondLst>
                                  <p:childTnLst>
                                    <p:set>
                                      <p:cBhvr>
                                        <p:cTn id="349" dur="1" fill="hold">
                                          <p:stCondLst>
                                            <p:cond delay="0"/>
                                          </p:stCondLst>
                                        </p:cTn>
                                        <p:tgtEl>
                                          <p:spTgt spid="29"/>
                                        </p:tgtEl>
                                        <p:attrNameLst>
                                          <p:attrName>style.visibility</p:attrName>
                                        </p:attrNameLst>
                                      </p:cBhvr>
                                      <p:to>
                                        <p:strVal val="visible"/>
                                      </p:to>
                                    </p:set>
                                    <p:animEffect transition="in" filter="fade">
                                      <p:cBhvr>
                                        <p:cTn id="350" dur="400"/>
                                        <p:tgtEl>
                                          <p:spTgt spid="29"/>
                                        </p:tgtEl>
                                      </p:cBhvr>
                                    </p:animEffect>
                                  </p:childTnLst>
                                </p:cTn>
                              </p:par>
                              <p:par>
                                <p:cTn id="351" presetID="10" presetClass="entr" presetSubtype="0" fill="hold" grpId="0" nodeType="withEffect">
                                  <p:stCondLst>
                                    <p:cond delay="200"/>
                                  </p:stCondLst>
                                  <p:childTnLst>
                                    <p:set>
                                      <p:cBhvr>
                                        <p:cTn id="352" dur="1" fill="hold">
                                          <p:stCondLst>
                                            <p:cond delay="0"/>
                                          </p:stCondLst>
                                        </p:cTn>
                                        <p:tgtEl>
                                          <p:spTgt spid="34"/>
                                        </p:tgtEl>
                                        <p:attrNameLst>
                                          <p:attrName>style.visibility</p:attrName>
                                        </p:attrNameLst>
                                      </p:cBhvr>
                                      <p:to>
                                        <p:strVal val="visible"/>
                                      </p:to>
                                    </p:set>
                                    <p:animEffect transition="in" filter="fade">
                                      <p:cBhvr>
                                        <p:cTn id="353" dur="400"/>
                                        <p:tgtEl>
                                          <p:spTgt spid="34"/>
                                        </p:tgtEl>
                                      </p:cBhvr>
                                    </p:animEffect>
                                  </p:childTnLst>
                                </p:cTn>
                              </p:par>
                              <p:par>
                                <p:cTn id="354" presetID="10" presetClass="entr" presetSubtype="0" fill="hold" grpId="0" nodeType="withEffect">
                                  <p:stCondLst>
                                    <p:cond delay="200"/>
                                  </p:stCondLst>
                                  <p:childTnLst>
                                    <p:set>
                                      <p:cBhvr>
                                        <p:cTn id="355" dur="1" fill="hold">
                                          <p:stCondLst>
                                            <p:cond delay="0"/>
                                          </p:stCondLst>
                                        </p:cTn>
                                        <p:tgtEl>
                                          <p:spTgt spid="35"/>
                                        </p:tgtEl>
                                        <p:attrNameLst>
                                          <p:attrName>style.visibility</p:attrName>
                                        </p:attrNameLst>
                                      </p:cBhvr>
                                      <p:to>
                                        <p:strVal val="visible"/>
                                      </p:to>
                                    </p:set>
                                    <p:animEffect transition="in" filter="fade">
                                      <p:cBhvr>
                                        <p:cTn id="356" dur="400"/>
                                        <p:tgtEl>
                                          <p:spTgt spid="35"/>
                                        </p:tgtEl>
                                      </p:cBhvr>
                                    </p:animEffect>
                                  </p:childTnLst>
                                </p:cTn>
                              </p:par>
                              <p:par>
                                <p:cTn id="357" presetID="10" presetClass="entr" presetSubtype="0" fill="hold" grpId="0" nodeType="withEffect">
                                  <p:stCondLst>
                                    <p:cond delay="200"/>
                                  </p:stCondLst>
                                  <p:childTnLst>
                                    <p:set>
                                      <p:cBhvr>
                                        <p:cTn id="358" dur="1" fill="hold">
                                          <p:stCondLst>
                                            <p:cond delay="0"/>
                                          </p:stCondLst>
                                        </p:cTn>
                                        <p:tgtEl>
                                          <p:spTgt spid="36"/>
                                        </p:tgtEl>
                                        <p:attrNameLst>
                                          <p:attrName>style.visibility</p:attrName>
                                        </p:attrNameLst>
                                      </p:cBhvr>
                                      <p:to>
                                        <p:strVal val="visible"/>
                                      </p:to>
                                    </p:set>
                                    <p:animEffect transition="in" filter="fade">
                                      <p:cBhvr>
                                        <p:cTn id="359" dur="400"/>
                                        <p:tgtEl>
                                          <p:spTgt spid="36"/>
                                        </p:tgtEl>
                                      </p:cBhvr>
                                    </p:animEffect>
                                  </p:childTnLst>
                                </p:cTn>
                              </p:par>
                              <p:par>
                                <p:cTn id="360" presetID="10" presetClass="entr" presetSubtype="0" fill="hold" grpId="0" nodeType="withEffect">
                                  <p:stCondLst>
                                    <p:cond delay="200"/>
                                  </p:stCondLst>
                                  <p:childTnLst>
                                    <p:set>
                                      <p:cBhvr>
                                        <p:cTn id="361" dur="1" fill="hold">
                                          <p:stCondLst>
                                            <p:cond delay="0"/>
                                          </p:stCondLst>
                                        </p:cTn>
                                        <p:tgtEl>
                                          <p:spTgt spid="37"/>
                                        </p:tgtEl>
                                        <p:attrNameLst>
                                          <p:attrName>style.visibility</p:attrName>
                                        </p:attrNameLst>
                                      </p:cBhvr>
                                      <p:to>
                                        <p:strVal val="visible"/>
                                      </p:to>
                                    </p:set>
                                    <p:animEffect transition="in" filter="fade">
                                      <p:cBhvr>
                                        <p:cTn id="362" dur="400"/>
                                        <p:tgtEl>
                                          <p:spTgt spid="37"/>
                                        </p:tgtEl>
                                      </p:cBhvr>
                                    </p:animEffect>
                                  </p:childTnLst>
                                </p:cTn>
                              </p:par>
                              <p:par>
                                <p:cTn id="363" presetID="10" presetClass="entr" presetSubtype="0" fill="hold" grpId="0" nodeType="withEffect">
                                  <p:stCondLst>
                                    <p:cond delay="200"/>
                                  </p:stCondLst>
                                  <p:childTnLst>
                                    <p:set>
                                      <p:cBhvr>
                                        <p:cTn id="364" dur="1" fill="hold">
                                          <p:stCondLst>
                                            <p:cond delay="0"/>
                                          </p:stCondLst>
                                        </p:cTn>
                                        <p:tgtEl>
                                          <p:spTgt spid="38"/>
                                        </p:tgtEl>
                                        <p:attrNameLst>
                                          <p:attrName>style.visibility</p:attrName>
                                        </p:attrNameLst>
                                      </p:cBhvr>
                                      <p:to>
                                        <p:strVal val="visible"/>
                                      </p:to>
                                    </p:set>
                                    <p:animEffect transition="in" filter="fade">
                                      <p:cBhvr>
                                        <p:cTn id="365" dur="400"/>
                                        <p:tgtEl>
                                          <p:spTgt spid="38"/>
                                        </p:tgtEl>
                                      </p:cBhvr>
                                    </p:animEffect>
                                  </p:childTnLst>
                                </p:cTn>
                              </p:par>
                              <p:par>
                                <p:cTn id="366" presetID="10" presetClass="entr" presetSubtype="0" fill="hold" grpId="0" nodeType="withEffect">
                                  <p:stCondLst>
                                    <p:cond delay="200"/>
                                  </p:stCondLst>
                                  <p:childTnLst>
                                    <p:set>
                                      <p:cBhvr>
                                        <p:cTn id="367" dur="1" fill="hold">
                                          <p:stCondLst>
                                            <p:cond delay="0"/>
                                          </p:stCondLst>
                                        </p:cTn>
                                        <p:tgtEl>
                                          <p:spTgt spid="39"/>
                                        </p:tgtEl>
                                        <p:attrNameLst>
                                          <p:attrName>style.visibility</p:attrName>
                                        </p:attrNameLst>
                                      </p:cBhvr>
                                      <p:to>
                                        <p:strVal val="visible"/>
                                      </p:to>
                                    </p:set>
                                    <p:animEffect transition="in" filter="fade">
                                      <p:cBhvr>
                                        <p:cTn id="368" dur="400"/>
                                        <p:tgtEl>
                                          <p:spTgt spid="39"/>
                                        </p:tgtEl>
                                      </p:cBhvr>
                                    </p:animEffect>
                                  </p:childTnLst>
                                </p:cTn>
                              </p:par>
                              <p:par>
                                <p:cTn id="369" presetID="10" presetClass="entr" presetSubtype="0" fill="hold" grpId="0" nodeType="withEffect">
                                  <p:stCondLst>
                                    <p:cond delay="200"/>
                                  </p:stCondLst>
                                  <p:childTnLst>
                                    <p:set>
                                      <p:cBhvr>
                                        <p:cTn id="370" dur="1" fill="hold">
                                          <p:stCondLst>
                                            <p:cond delay="0"/>
                                          </p:stCondLst>
                                        </p:cTn>
                                        <p:tgtEl>
                                          <p:spTgt spid="40"/>
                                        </p:tgtEl>
                                        <p:attrNameLst>
                                          <p:attrName>style.visibility</p:attrName>
                                        </p:attrNameLst>
                                      </p:cBhvr>
                                      <p:to>
                                        <p:strVal val="visible"/>
                                      </p:to>
                                    </p:set>
                                    <p:animEffect transition="in" filter="fade">
                                      <p:cBhvr>
                                        <p:cTn id="371" dur="400"/>
                                        <p:tgtEl>
                                          <p:spTgt spid="40"/>
                                        </p:tgtEl>
                                      </p:cBhvr>
                                    </p:animEffect>
                                  </p:childTnLst>
                                </p:cTn>
                              </p:par>
                              <p:par>
                                <p:cTn id="372" presetID="10" presetClass="entr" presetSubtype="0" fill="hold" grpId="0" nodeType="withEffect">
                                  <p:stCondLst>
                                    <p:cond delay="200"/>
                                  </p:stCondLst>
                                  <p:childTnLst>
                                    <p:set>
                                      <p:cBhvr>
                                        <p:cTn id="373" dur="1" fill="hold">
                                          <p:stCondLst>
                                            <p:cond delay="0"/>
                                          </p:stCondLst>
                                        </p:cTn>
                                        <p:tgtEl>
                                          <p:spTgt spid="41"/>
                                        </p:tgtEl>
                                        <p:attrNameLst>
                                          <p:attrName>style.visibility</p:attrName>
                                        </p:attrNameLst>
                                      </p:cBhvr>
                                      <p:to>
                                        <p:strVal val="visible"/>
                                      </p:to>
                                    </p:set>
                                    <p:animEffect transition="in" filter="fade">
                                      <p:cBhvr>
                                        <p:cTn id="374" dur="400"/>
                                        <p:tgtEl>
                                          <p:spTgt spid="41"/>
                                        </p:tgtEl>
                                      </p:cBhvr>
                                    </p:animEffect>
                                  </p:childTnLst>
                                </p:cTn>
                              </p:par>
                              <p:par>
                                <p:cTn id="375" presetID="10" presetClass="entr" presetSubtype="0" fill="hold" grpId="0" nodeType="withEffect">
                                  <p:stCondLst>
                                    <p:cond delay="200"/>
                                  </p:stCondLst>
                                  <p:childTnLst>
                                    <p:set>
                                      <p:cBhvr>
                                        <p:cTn id="376" dur="1" fill="hold">
                                          <p:stCondLst>
                                            <p:cond delay="0"/>
                                          </p:stCondLst>
                                        </p:cTn>
                                        <p:tgtEl>
                                          <p:spTgt spid="42"/>
                                        </p:tgtEl>
                                        <p:attrNameLst>
                                          <p:attrName>style.visibility</p:attrName>
                                        </p:attrNameLst>
                                      </p:cBhvr>
                                      <p:to>
                                        <p:strVal val="visible"/>
                                      </p:to>
                                    </p:set>
                                    <p:animEffect transition="in" filter="fade">
                                      <p:cBhvr>
                                        <p:cTn id="377" dur="400"/>
                                        <p:tgtEl>
                                          <p:spTgt spid="42"/>
                                        </p:tgtEl>
                                      </p:cBhvr>
                                    </p:animEffect>
                                  </p:childTnLst>
                                </p:cTn>
                              </p:par>
                              <p:par>
                                <p:cTn id="378" presetID="10" presetClass="entr" presetSubtype="0" fill="hold" grpId="0" nodeType="withEffect">
                                  <p:stCondLst>
                                    <p:cond delay="200"/>
                                  </p:stCondLst>
                                  <p:childTnLst>
                                    <p:set>
                                      <p:cBhvr>
                                        <p:cTn id="379" dur="1" fill="hold">
                                          <p:stCondLst>
                                            <p:cond delay="0"/>
                                          </p:stCondLst>
                                        </p:cTn>
                                        <p:tgtEl>
                                          <p:spTgt spid="43"/>
                                        </p:tgtEl>
                                        <p:attrNameLst>
                                          <p:attrName>style.visibility</p:attrName>
                                        </p:attrNameLst>
                                      </p:cBhvr>
                                      <p:to>
                                        <p:strVal val="visible"/>
                                      </p:to>
                                    </p:set>
                                    <p:animEffect transition="in" filter="fade">
                                      <p:cBhvr>
                                        <p:cTn id="380" dur="400"/>
                                        <p:tgtEl>
                                          <p:spTgt spid="43"/>
                                        </p:tgtEl>
                                      </p:cBhvr>
                                    </p:animEffect>
                                  </p:childTnLst>
                                </p:cTn>
                              </p:par>
                              <p:par>
                                <p:cTn id="381" presetID="10" presetClass="entr" presetSubtype="0" fill="hold" grpId="0" nodeType="withEffect">
                                  <p:stCondLst>
                                    <p:cond delay="200"/>
                                  </p:stCondLst>
                                  <p:childTnLst>
                                    <p:set>
                                      <p:cBhvr>
                                        <p:cTn id="382" dur="1" fill="hold">
                                          <p:stCondLst>
                                            <p:cond delay="0"/>
                                          </p:stCondLst>
                                        </p:cTn>
                                        <p:tgtEl>
                                          <p:spTgt spid="44"/>
                                        </p:tgtEl>
                                        <p:attrNameLst>
                                          <p:attrName>style.visibility</p:attrName>
                                        </p:attrNameLst>
                                      </p:cBhvr>
                                      <p:to>
                                        <p:strVal val="visible"/>
                                      </p:to>
                                    </p:set>
                                    <p:animEffect transition="in" filter="fade">
                                      <p:cBhvr>
                                        <p:cTn id="383" dur="400"/>
                                        <p:tgtEl>
                                          <p:spTgt spid="44"/>
                                        </p:tgtEl>
                                      </p:cBhvr>
                                    </p:animEffect>
                                  </p:childTnLst>
                                </p:cTn>
                              </p:par>
                              <p:par>
                                <p:cTn id="384" presetID="10" presetClass="entr" presetSubtype="0" fill="hold" grpId="0" nodeType="withEffect">
                                  <p:stCondLst>
                                    <p:cond delay="200"/>
                                  </p:stCondLst>
                                  <p:childTnLst>
                                    <p:set>
                                      <p:cBhvr>
                                        <p:cTn id="385" dur="1" fill="hold">
                                          <p:stCondLst>
                                            <p:cond delay="0"/>
                                          </p:stCondLst>
                                        </p:cTn>
                                        <p:tgtEl>
                                          <p:spTgt spid="45"/>
                                        </p:tgtEl>
                                        <p:attrNameLst>
                                          <p:attrName>style.visibility</p:attrName>
                                        </p:attrNameLst>
                                      </p:cBhvr>
                                      <p:to>
                                        <p:strVal val="visible"/>
                                      </p:to>
                                    </p:set>
                                    <p:animEffect transition="in" filter="fade">
                                      <p:cBhvr>
                                        <p:cTn id="386" dur="400"/>
                                        <p:tgtEl>
                                          <p:spTgt spid="45"/>
                                        </p:tgtEl>
                                      </p:cBhvr>
                                    </p:animEffect>
                                  </p:childTnLst>
                                </p:cTn>
                              </p:par>
                              <p:par>
                                <p:cTn id="387" presetID="10" presetClass="entr" presetSubtype="0" fill="hold" grpId="0" nodeType="withEffect">
                                  <p:stCondLst>
                                    <p:cond delay="200"/>
                                  </p:stCondLst>
                                  <p:childTnLst>
                                    <p:set>
                                      <p:cBhvr>
                                        <p:cTn id="388" dur="1" fill="hold">
                                          <p:stCondLst>
                                            <p:cond delay="0"/>
                                          </p:stCondLst>
                                        </p:cTn>
                                        <p:tgtEl>
                                          <p:spTgt spid="46"/>
                                        </p:tgtEl>
                                        <p:attrNameLst>
                                          <p:attrName>style.visibility</p:attrName>
                                        </p:attrNameLst>
                                      </p:cBhvr>
                                      <p:to>
                                        <p:strVal val="visible"/>
                                      </p:to>
                                    </p:set>
                                    <p:animEffect transition="in" filter="fade">
                                      <p:cBhvr>
                                        <p:cTn id="389" dur="400"/>
                                        <p:tgtEl>
                                          <p:spTgt spid="46"/>
                                        </p:tgtEl>
                                      </p:cBhvr>
                                    </p:animEffect>
                                  </p:childTnLst>
                                </p:cTn>
                              </p:par>
                              <p:par>
                                <p:cTn id="390" presetID="10" presetClass="entr" presetSubtype="0" fill="hold" grpId="0" nodeType="withEffect">
                                  <p:stCondLst>
                                    <p:cond delay="200"/>
                                  </p:stCondLst>
                                  <p:childTnLst>
                                    <p:set>
                                      <p:cBhvr>
                                        <p:cTn id="391" dur="1" fill="hold">
                                          <p:stCondLst>
                                            <p:cond delay="0"/>
                                          </p:stCondLst>
                                        </p:cTn>
                                        <p:tgtEl>
                                          <p:spTgt spid="47"/>
                                        </p:tgtEl>
                                        <p:attrNameLst>
                                          <p:attrName>style.visibility</p:attrName>
                                        </p:attrNameLst>
                                      </p:cBhvr>
                                      <p:to>
                                        <p:strVal val="visible"/>
                                      </p:to>
                                    </p:set>
                                    <p:animEffect transition="in" filter="fade">
                                      <p:cBhvr>
                                        <p:cTn id="392" dur="400"/>
                                        <p:tgtEl>
                                          <p:spTgt spid="47"/>
                                        </p:tgtEl>
                                      </p:cBhvr>
                                    </p:animEffect>
                                  </p:childTnLst>
                                </p:cTn>
                              </p:par>
                              <p:par>
                                <p:cTn id="393" presetID="10" presetClass="entr" presetSubtype="0" fill="hold" grpId="0" nodeType="withEffect">
                                  <p:stCondLst>
                                    <p:cond delay="200"/>
                                  </p:stCondLst>
                                  <p:childTnLst>
                                    <p:set>
                                      <p:cBhvr>
                                        <p:cTn id="394" dur="1" fill="hold">
                                          <p:stCondLst>
                                            <p:cond delay="0"/>
                                          </p:stCondLst>
                                        </p:cTn>
                                        <p:tgtEl>
                                          <p:spTgt spid="48"/>
                                        </p:tgtEl>
                                        <p:attrNameLst>
                                          <p:attrName>style.visibility</p:attrName>
                                        </p:attrNameLst>
                                      </p:cBhvr>
                                      <p:to>
                                        <p:strVal val="visible"/>
                                      </p:to>
                                    </p:set>
                                    <p:animEffect transition="in" filter="fade">
                                      <p:cBhvr>
                                        <p:cTn id="395" dur="400"/>
                                        <p:tgtEl>
                                          <p:spTgt spid="48"/>
                                        </p:tgtEl>
                                      </p:cBhvr>
                                    </p:animEffect>
                                  </p:childTnLst>
                                </p:cTn>
                              </p:par>
                              <p:par>
                                <p:cTn id="396" presetID="10" presetClass="entr" presetSubtype="0" fill="hold" grpId="0" nodeType="withEffect">
                                  <p:stCondLst>
                                    <p:cond delay="200"/>
                                  </p:stCondLst>
                                  <p:childTnLst>
                                    <p:set>
                                      <p:cBhvr>
                                        <p:cTn id="397" dur="1" fill="hold">
                                          <p:stCondLst>
                                            <p:cond delay="0"/>
                                          </p:stCondLst>
                                        </p:cTn>
                                        <p:tgtEl>
                                          <p:spTgt spid="49"/>
                                        </p:tgtEl>
                                        <p:attrNameLst>
                                          <p:attrName>style.visibility</p:attrName>
                                        </p:attrNameLst>
                                      </p:cBhvr>
                                      <p:to>
                                        <p:strVal val="visible"/>
                                      </p:to>
                                    </p:set>
                                    <p:animEffect transition="in" filter="fade">
                                      <p:cBhvr>
                                        <p:cTn id="398" dur="400"/>
                                        <p:tgtEl>
                                          <p:spTgt spid="49"/>
                                        </p:tgtEl>
                                      </p:cBhvr>
                                    </p:animEffect>
                                  </p:childTnLst>
                                </p:cTn>
                              </p:par>
                              <p:par>
                                <p:cTn id="399" presetID="10" presetClass="entr" presetSubtype="0" fill="hold" grpId="0" nodeType="withEffect">
                                  <p:stCondLst>
                                    <p:cond delay="200"/>
                                  </p:stCondLst>
                                  <p:childTnLst>
                                    <p:set>
                                      <p:cBhvr>
                                        <p:cTn id="400" dur="1" fill="hold">
                                          <p:stCondLst>
                                            <p:cond delay="0"/>
                                          </p:stCondLst>
                                        </p:cTn>
                                        <p:tgtEl>
                                          <p:spTgt spid="81"/>
                                        </p:tgtEl>
                                        <p:attrNameLst>
                                          <p:attrName>style.visibility</p:attrName>
                                        </p:attrNameLst>
                                      </p:cBhvr>
                                      <p:to>
                                        <p:strVal val="visible"/>
                                      </p:to>
                                    </p:set>
                                    <p:animEffect transition="in" filter="fade">
                                      <p:cBhvr>
                                        <p:cTn id="401" dur="400"/>
                                        <p:tgtEl>
                                          <p:spTgt spid="81"/>
                                        </p:tgtEl>
                                      </p:cBhvr>
                                    </p:animEffect>
                                  </p:childTnLst>
                                </p:cTn>
                              </p:par>
                              <p:par>
                                <p:cTn id="402" presetID="10" presetClass="entr" presetSubtype="0" fill="hold" grpId="0" nodeType="withEffect">
                                  <p:stCondLst>
                                    <p:cond delay="200"/>
                                  </p:stCondLst>
                                  <p:childTnLst>
                                    <p:set>
                                      <p:cBhvr>
                                        <p:cTn id="403" dur="1" fill="hold">
                                          <p:stCondLst>
                                            <p:cond delay="0"/>
                                          </p:stCondLst>
                                        </p:cTn>
                                        <p:tgtEl>
                                          <p:spTgt spid="82"/>
                                        </p:tgtEl>
                                        <p:attrNameLst>
                                          <p:attrName>style.visibility</p:attrName>
                                        </p:attrNameLst>
                                      </p:cBhvr>
                                      <p:to>
                                        <p:strVal val="visible"/>
                                      </p:to>
                                    </p:set>
                                    <p:animEffect transition="in" filter="fade">
                                      <p:cBhvr>
                                        <p:cTn id="404" dur="400"/>
                                        <p:tgtEl>
                                          <p:spTgt spid="82"/>
                                        </p:tgtEl>
                                      </p:cBhvr>
                                    </p:animEffect>
                                  </p:childTnLst>
                                </p:cTn>
                              </p:par>
                              <p:par>
                                <p:cTn id="405" presetID="10" presetClass="entr" presetSubtype="0" fill="hold" grpId="0" nodeType="withEffect">
                                  <p:stCondLst>
                                    <p:cond delay="200"/>
                                  </p:stCondLst>
                                  <p:childTnLst>
                                    <p:set>
                                      <p:cBhvr>
                                        <p:cTn id="406" dur="1" fill="hold">
                                          <p:stCondLst>
                                            <p:cond delay="0"/>
                                          </p:stCondLst>
                                        </p:cTn>
                                        <p:tgtEl>
                                          <p:spTgt spid="83"/>
                                        </p:tgtEl>
                                        <p:attrNameLst>
                                          <p:attrName>style.visibility</p:attrName>
                                        </p:attrNameLst>
                                      </p:cBhvr>
                                      <p:to>
                                        <p:strVal val="visible"/>
                                      </p:to>
                                    </p:set>
                                    <p:animEffect transition="in" filter="fade">
                                      <p:cBhvr>
                                        <p:cTn id="407" dur="400"/>
                                        <p:tgtEl>
                                          <p:spTgt spid="83"/>
                                        </p:tgtEl>
                                      </p:cBhvr>
                                    </p:animEffect>
                                  </p:childTnLst>
                                </p:cTn>
                              </p:par>
                              <p:par>
                                <p:cTn id="408" presetID="10" presetClass="entr" presetSubtype="0" fill="hold" grpId="0" nodeType="withEffect">
                                  <p:stCondLst>
                                    <p:cond delay="200"/>
                                  </p:stCondLst>
                                  <p:childTnLst>
                                    <p:set>
                                      <p:cBhvr>
                                        <p:cTn id="409" dur="1" fill="hold">
                                          <p:stCondLst>
                                            <p:cond delay="0"/>
                                          </p:stCondLst>
                                        </p:cTn>
                                        <p:tgtEl>
                                          <p:spTgt spid="84"/>
                                        </p:tgtEl>
                                        <p:attrNameLst>
                                          <p:attrName>style.visibility</p:attrName>
                                        </p:attrNameLst>
                                      </p:cBhvr>
                                      <p:to>
                                        <p:strVal val="visible"/>
                                      </p:to>
                                    </p:set>
                                    <p:animEffect transition="in" filter="fade">
                                      <p:cBhvr>
                                        <p:cTn id="410" dur="400"/>
                                        <p:tgtEl>
                                          <p:spTgt spid="84"/>
                                        </p:tgtEl>
                                      </p:cBhvr>
                                    </p:animEffect>
                                  </p:childTnLst>
                                </p:cTn>
                              </p:par>
                              <p:par>
                                <p:cTn id="411" presetID="10" presetClass="entr" presetSubtype="0" fill="hold" grpId="0" nodeType="withEffect">
                                  <p:stCondLst>
                                    <p:cond delay="200"/>
                                  </p:stCondLst>
                                  <p:childTnLst>
                                    <p:set>
                                      <p:cBhvr>
                                        <p:cTn id="412" dur="1" fill="hold">
                                          <p:stCondLst>
                                            <p:cond delay="0"/>
                                          </p:stCondLst>
                                        </p:cTn>
                                        <p:tgtEl>
                                          <p:spTgt spid="85"/>
                                        </p:tgtEl>
                                        <p:attrNameLst>
                                          <p:attrName>style.visibility</p:attrName>
                                        </p:attrNameLst>
                                      </p:cBhvr>
                                      <p:to>
                                        <p:strVal val="visible"/>
                                      </p:to>
                                    </p:set>
                                    <p:animEffect transition="in" filter="fade">
                                      <p:cBhvr>
                                        <p:cTn id="413" dur="400"/>
                                        <p:tgtEl>
                                          <p:spTgt spid="85"/>
                                        </p:tgtEl>
                                      </p:cBhvr>
                                    </p:animEffect>
                                  </p:childTnLst>
                                </p:cTn>
                              </p:par>
                              <p:par>
                                <p:cTn id="414" presetID="10" presetClass="entr" presetSubtype="0" fill="hold" grpId="0" nodeType="withEffect">
                                  <p:stCondLst>
                                    <p:cond delay="200"/>
                                  </p:stCondLst>
                                  <p:childTnLst>
                                    <p:set>
                                      <p:cBhvr>
                                        <p:cTn id="415" dur="1" fill="hold">
                                          <p:stCondLst>
                                            <p:cond delay="0"/>
                                          </p:stCondLst>
                                        </p:cTn>
                                        <p:tgtEl>
                                          <p:spTgt spid="86"/>
                                        </p:tgtEl>
                                        <p:attrNameLst>
                                          <p:attrName>style.visibility</p:attrName>
                                        </p:attrNameLst>
                                      </p:cBhvr>
                                      <p:to>
                                        <p:strVal val="visible"/>
                                      </p:to>
                                    </p:set>
                                    <p:animEffect transition="in" filter="fade">
                                      <p:cBhvr>
                                        <p:cTn id="416" dur="400"/>
                                        <p:tgtEl>
                                          <p:spTgt spid="86"/>
                                        </p:tgtEl>
                                      </p:cBhvr>
                                    </p:animEffect>
                                  </p:childTnLst>
                                </p:cTn>
                              </p:par>
                              <p:par>
                                <p:cTn id="417" presetID="10" presetClass="entr" presetSubtype="0" fill="hold" grpId="0" nodeType="withEffect">
                                  <p:stCondLst>
                                    <p:cond delay="200"/>
                                  </p:stCondLst>
                                  <p:childTnLst>
                                    <p:set>
                                      <p:cBhvr>
                                        <p:cTn id="418" dur="1" fill="hold">
                                          <p:stCondLst>
                                            <p:cond delay="0"/>
                                          </p:stCondLst>
                                        </p:cTn>
                                        <p:tgtEl>
                                          <p:spTgt spid="87"/>
                                        </p:tgtEl>
                                        <p:attrNameLst>
                                          <p:attrName>style.visibility</p:attrName>
                                        </p:attrNameLst>
                                      </p:cBhvr>
                                      <p:to>
                                        <p:strVal val="visible"/>
                                      </p:to>
                                    </p:set>
                                    <p:animEffect transition="in" filter="fade">
                                      <p:cBhvr>
                                        <p:cTn id="419" dur="400"/>
                                        <p:tgtEl>
                                          <p:spTgt spid="87"/>
                                        </p:tgtEl>
                                      </p:cBhvr>
                                    </p:animEffect>
                                  </p:childTnLst>
                                </p:cTn>
                              </p:par>
                              <p:par>
                                <p:cTn id="420" presetID="10" presetClass="entr" presetSubtype="0" fill="hold" grpId="0" nodeType="withEffect">
                                  <p:stCondLst>
                                    <p:cond delay="200"/>
                                  </p:stCondLst>
                                  <p:childTnLst>
                                    <p:set>
                                      <p:cBhvr>
                                        <p:cTn id="421" dur="1" fill="hold">
                                          <p:stCondLst>
                                            <p:cond delay="0"/>
                                          </p:stCondLst>
                                        </p:cTn>
                                        <p:tgtEl>
                                          <p:spTgt spid="88"/>
                                        </p:tgtEl>
                                        <p:attrNameLst>
                                          <p:attrName>style.visibility</p:attrName>
                                        </p:attrNameLst>
                                      </p:cBhvr>
                                      <p:to>
                                        <p:strVal val="visible"/>
                                      </p:to>
                                    </p:set>
                                    <p:animEffect transition="in" filter="fade">
                                      <p:cBhvr>
                                        <p:cTn id="422" dur="400"/>
                                        <p:tgtEl>
                                          <p:spTgt spid="88"/>
                                        </p:tgtEl>
                                      </p:cBhvr>
                                    </p:animEffect>
                                  </p:childTnLst>
                                </p:cTn>
                              </p:par>
                              <p:par>
                                <p:cTn id="423" presetID="10" presetClass="entr" presetSubtype="0" fill="hold" grpId="0" nodeType="withEffect">
                                  <p:stCondLst>
                                    <p:cond delay="200"/>
                                  </p:stCondLst>
                                  <p:childTnLst>
                                    <p:set>
                                      <p:cBhvr>
                                        <p:cTn id="424" dur="1" fill="hold">
                                          <p:stCondLst>
                                            <p:cond delay="0"/>
                                          </p:stCondLst>
                                        </p:cTn>
                                        <p:tgtEl>
                                          <p:spTgt spid="89"/>
                                        </p:tgtEl>
                                        <p:attrNameLst>
                                          <p:attrName>style.visibility</p:attrName>
                                        </p:attrNameLst>
                                      </p:cBhvr>
                                      <p:to>
                                        <p:strVal val="visible"/>
                                      </p:to>
                                    </p:set>
                                    <p:animEffect transition="in" filter="fade">
                                      <p:cBhvr>
                                        <p:cTn id="425" dur="400"/>
                                        <p:tgtEl>
                                          <p:spTgt spid="89"/>
                                        </p:tgtEl>
                                      </p:cBhvr>
                                    </p:animEffect>
                                  </p:childTnLst>
                                </p:cTn>
                              </p:par>
                              <p:par>
                                <p:cTn id="426" presetID="10" presetClass="entr" presetSubtype="0" fill="hold" grpId="0" nodeType="withEffect">
                                  <p:stCondLst>
                                    <p:cond delay="200"/>
                                  </p:stCondLst>
                                  <p:childTnLst>
                                    <p:set>
                                      <p:cBhvr>
                                        <p:cTn id="427" dur="1" fill="hold">
                                          <p:stCondLst>
                                            <p:cond delay="0"/>
                                          </p:stCondLst>
                                        </p:cTn>
                                        <p:tgtEl>
                                          <p:spTgt spid="90"/>
                                        </p:tgtEl>
                                        <p:attrNameLst>
                                          <p:attrName>style.visibility</p:attrName>
                                        </p:attrNameLst>
                                      </p:cBhvr>
                                      <p:to>
                                        <p:strVal val="visible"/>
                                      </p:to>
                                    </p:set>
                                    <p:animEffect transition="in" filter="fade">
                                      <p:cBhvr>
                                        <p:cTn id="428" dur="400"/>
                                        <p:tgtEl>
                                          <p:spTgt spid="90"/>
                                        </p:tgtEl>
                                      </p:cBhvr>
                                    </p:animEffect>
                                  </p:childTnLst>
                                </p:cTn>
                              </p:par>
                              <p:par>
                                <p:cTn id="429" presetID="10" presetClass="entr" presetSubtype="0" fill="hold" grpId="0" nodeType="withEffect">
                                  <p:stCondLst>
                                    <p:cond delay="200"/>
                                  </p:stCondLst>
                                  <p:childTnLst>
                                    <p:set>
                                      <p:cBhvr>
                                        <p:cTn id="430" dur="1" fill="hold">
                                          <p:stCondLst>
                                            <p:cond delay="0"/>
                                          </p:stCondLst>
                                        </p:cTn>
                                        <p:tgtEl>
                                          <p:spTgt spid="91"/>
                                        </p:tgtEl>
                                        <p:attrNameLst>
                                          <p:attrName>style.visibility</p:attrName>
                                        </p:attrNameLst>
                                      </p:cBhvr>
                                      <p:to>
                                        <p:strVal val="visible"/>
                                      </p:to>
                                    </p:set>
                                    <p:animEffect transition="in" filter="fade">
                                      <p:cBhvr>
                                        <p:cTn id="431" dur="400"/>
                                        <p:tgtEl>
                                          <p:spTgt spid="91"/>
                                        </p:tgtEl>
                                      </p:cBhvr>
                                    </p:animEffect>
                                  </p:childTnLst>
                                </p:cTn>
                              </p:par>
                              <p:par>
                                <p:cTn id="432" presetID="10" presetClass="entr" presetSubtype="0" fill="hold" grpId="0" nodeType="withEffect">
                                  <p:stCondLst>
                                    <p:cond delay="200"/>
                                  </p:stCondLst>
                                  <p:childTnLst>
                                    <p:set>
                                      <p:cBhvr>
                                        <p:cTn id="433" dur="1" fill="hold">
                                          <p:stCondLst>
                                            <p:cond delay="0"/>
                                          </p:stCondLst>
                                        </p:cTn>
                                        <p:tgtEl>
                                          <p:spTgt spid="92"/>
                                        </p:tgtEl>
                                        <p:attrNameLst>
                                          <p:attrName>style.visibility</p:attrName>
                                        </p:attrNameLst>
                                      </p:cBhvr>
                                      <p:to>
                                        <p:strVal val="visible"/>
                                      </p:to>
                                    </p:set>
                                    <p:animEffect transition="in" filter="fade">
                                      <p:cBhvr>
                                        <p:cTn id="434" dur="400"/>
                                        <p:tgtEl>
                                          <p:spTgt spid="92"/>
                                        </p:tgtEl>
                                      </p:cBhvr>
                                    </p:animEffect>
                                  </p:childTnLst>
                                </p:cTn>
                              </p:par>
                              <p:par>
                                <p:cTn id="435" presetID="10" presetClass="entr" presetSubtype="0" fill="hold" grpId="0" nodeType="withEffect">
                                  <p:stCondLst>
                                    <p:cond delay="200"/>
                                  </p:stCondLst>
                                  <p:childTnLst>
                                    <p:set>
                                      <p:cBhvr>
                                        <p:cTn id="436" dur="1" fill="hold">
                                          <p:stCondLst>
                                            <p:cond delay="0"/>
                                          </p:stCondLst>
                                        </p:cTn>
                                        <p:tgtEl>
                                          <p:spTgt spid="93"/>
                                        </p:tgtEl>
                                        <p:attrNameLst>
                                          <p:attrName>style.visibility</p:attrName>
                                        </p:attrNameLst>
                                      </p:cBhvr>
                                      <p:to>
                                        <p:strVal val="visible"/>
                                      </p:to>
                                    </p:set>
                                    <p:animEffect transition="in" filter="fade">
                                      <p:cBhvr>
                                        <p:cTn id="437" dur="400"/>
                                        <p:tgtEl>
                                          <p:spTgt spid="93"/>
                                        </p:tgtEl>
                                      </p:cBhvr>
                                    </p:animEffect>
                                  </p:childTnLst>
                                </p:cTn>
                              </p:par>
                              <p:par>
                                <p:cTn id="438" presetID="10" presetClass="entr" presetSubtype="0" fill="hold" grpId="0" nodeType="withEffect">
                                  <p:stCondLst>
                                    <p:cond delay="200"/>
                                  </p:stCondLst>
                                  <p:childTnLst>
                                    <p:set>
                                      <p:cBhvr>
                                        <p:cTn id="439" dur="1" fill="hold">
                                          <p:stCondLst>
                                            <p:cond delay="0"/>
                                          </p:stCondLst>
                                        </p:cTn>
                                        <p:tgtEl>
                                          <p:spTgt spid="94"/>
                                        </p:tgtEl>
                                        <p:attrNameLst>
                                          <p:attrName>style.visibility</p:attrName>
                                        </p:attrNameLst>
                                      </p:cBhvr>
                                      <p:to>
                                        <p:strVal val="visible"/>
                                      </p:to>
                                    </p:set>
                                    <p:animEffect transition="in" filter="fade">
                                      <p:cBhvr>
                                        <p:cTn id="440" dur="400"/>
                                        <p:tgtEl>
                                          <p:spTgt spid="94"/>
                                        </p:tgtEl>
                                      </p:cBhvr>
                                    </p:animEffect>
                                  </p:childTnLst>
                                </p:cTn>
                              </p:par>
                              <p:par>
                                <p:cTn id="441" presetID="10" presetClass="entr" presetSubtype="0" fill="hold" grpId="0" nodeType="withEffect">
                                  <p:stCondLst>
                                    <p:cond delay="200"/>
                                  </p:stCondLst>
                                  <p:childTnLst>
                                    <p:set>
                                      <p:cBhvr>
                                        <p:cTn id="442" dur="1" fill="hold">
                                          <p:stCondLst>
                                            <p:cond delay="0"/>
                                          </p:stCondLst>
                                        </p:cTn>
                                        <p:tgtEl>
                                          <p:spTgt spid="95"/>
                                        </p:tgtEl>
                                        <p:attrNameLst>
                                          <p:attrName>style.visibility</p:attrName>
                                        </p:attrNameLst>
                                      </p:cBhvr>
                                      <p:to>
                                        <p:strVal val="visible"/>
                                      </p:to>
                                    </p:set>
                                    <p:animEffect transition="in" filter="fade">
                                      <p:cBhvr>
                                        <p:cTn id="443" dur="400"/>
                                        <p:tgtEl>
                                          <p:spTgt spid="95"/>
                                        </p:tgtEl>
                                      </p:cBhvr>
                                    </p:animEffect>
                                  </p:childTnLst>
                                </p:cTn>
                              </p:par>
                              <p:par>
                                <p:cTn id="444" presetID="10" presetClass="entr" presetSubtype="0" fill="hold" grpId="0" nodeType="withEffect">
                                  <p:stCondLst>
                                    <p:cond delay="200"/>
                                  </p:stCondLst>
                                  <p:childTnLst>
                                    <p:set>
                                      <p:cBhvr>
                                        <p:cTn id="445" dur="1" fill="hold">
                                          <p:stCondLst>
                                            <p:cond delay="0"/>
                                          </p:stCondLst>
                                        </p:cTn>
                                        <p:tgtEl>
                                          <p:spTgt spid="96"/>
                                        </p:tgtEl>
                                        <p:attrNameLst>
                                          <p:attrName>style.visibility</p:attrName>
                                        </p:attrNameLst>
                                      </p:cBhvr>
                                      <p:to>
                                        <p:strVal val="visible"/>
                                      </p:to>
                                    </p:set>
                                    <p:animEffect transition="in" filter="fade">
                                      <p:cBhvr>
                                        <p:cTn id="446" dur="400"/>
                                        <p:tgtEl>
                                          <p:spTgt spid="96"/>
                                        </p:tgtEl>
                                      </p:cBhvr>
                                    </p:animEffect>
                                  </p:childTnLst>
                                </p:cTn>
                              </p:par>
                              <p:par>
                                <p:cTn id="447" presetID="10" presetClass="entr" presetSubtype="0" fill="hold" grpId="0" nodeType="withEffect">
                                  <p:stCondLst>
                                    <p:cond delay="200"/>
                                  </p:stCondLst>
                                  <p:childTnLst>
                                    <p:set>
                                      <p:cBhvr>
                                        <p:cTn id="448" dur="1" fill="hold">
                                          <p:stCondLst>
                                            <p:cond delay="0"/>
                                          </p:stCondLst>
                                        </p:cTn>
                                        <p:tgtEl>
                                          <p:spTgt spid="97"/>
                                        </p:tgtEl>
                                        <p:attrNameLst>
                                          <p:attrName>style.visibility</p:attrName>
                                        </p:attrNameLst>
                                      </p:cBhvr>
                                      <p:to>
                                        <p:strVal val="visible"/>
                                      </p:to>
                                    </p:set>
                                    <p:animEffect transition="in" filter="fade">
                                      <p:cBhvr>
                                        <p:cTn id="449" dur="400"/>
                                        <p:tgtEl>
                                          <p:spTgt spid="97"/>
                                        </p:tgtEl>
                                      </p:cBhvr>
                                    </p:animEffect>
                                  </p:childTnLst>
                                </p:cTn>
                              </p:par>
                              <p:par>
                                <p:cTn id="450" presetID="10" presetClass="entr" presetSubtype="0" fill="hold" grpId="0" nodeType="withEffect">
                                  <p:stCondLst>
                                    <p:cond delay="200"/>
                                  </p:stCondLst>
                                  <p:childTnLst>
                                    <p:set>
                                      <p:cBhvr>
                                        <p:cTn id="451" dur="1" fill="hold">
                                          <p:stCondLst>
                                            <p:cond delay="0"/>
                                          </p:stCondLst>
                                        </p:cTn>
                                        <p:tgtEl>
                                          <p:spTgt spid="98"/>
                                        </p:tgtEl>
                                        <p:attrNameLst>
                                          <p:attrName>style.visibility</p:attrName>
                                        </p:attrNameLst>
                                      </p:cBhvr>
                                      <p:to>
                                        <p:strVal val="visible"/>
                                      </p:to>
                                    </p:set>
                                    <p:animEffect transition="in" filter="fade">
                                      <p:cBhvr>
                                        <p:cTn id="452" dur="400"/>
                                        <p:tgtEl>
                                          <p:spTgt spid="98"/>
                                        </p:tgtEl>
                                      </p:cBhvr>
                                    </p:animEffect>
                                  </p:childTnLst>
                                </p:cTn>
                              </p:par>
                              <p:par>
                                <p:cTn id="453" presetID="10" presetClass="entr" presetSubtype="0" fill="hold" grpId="0" nodeType="withEffect">
                                  <p:stCondLst>
                                    <p:cond delay="200"/>
                                  </p:stCondLst>
                                  <p:childTnLst>
                                    <p:set>
                                      <p:cBhvr>
                                        <p:cTn id="454" dur="1" fill="hold">
                                          <p:stCondLst>
                                            <p:cond delay="0"/>
                                          </p:stCondLst>
                                        </p:cTn>
                                        <p:tgtEl>
                                          <p:spTgt spid="99"/>
                                        </p:tgtEl>
                                        <p:attrNameLst>
                                          <p:attrName>style.visibility</p:attrName>
                                        </p:attrNameLst>
                                      </p:cBhvr>
                                      <p:to>
                                        <p:strVal val="visible"/>
                                      </p:to>
                                    </p:set>
                                    <p:animEffect transition="in" filter="fade">
                                      <p:cBhvr>
                                        <p:cTn id="455" dur="400"/>
                                        <p:tgtEl>
                                          <p:spTgt spid="99"/>
                                        </p:tgtEl>
                                      </p:cBhvr>
                                    </p:animEffect>
                                  </p:childTnLst>
                                </p:cTn>
                              </p:par>
                              <p:par>
                                <p:cTn id="456" presetID="10" presetClass="entr" presetSubtype="0" fill="hold" grpId="0" nodeType="withEffect">
                                  <p:stCondLst>
                                    <p:cond delay="200"/>
                                  </p:stCondLst>
                                  <p:childTnLst>
                                    <p:set>
                                      <p:cBhvr>
                                        <p:cTn id="457" dur="1" fill="hold">
                                          <p:stCondLst>
                                            <p:cond delay="0"/>
                                          </p:stCondLst>
                                        </p:cTn>
                                        <p:tgtEl>
                                          <p:spTgt spid="100"/>
                                        </p:tgtEl>
                                        <p:attrNameLst>
                                          <p:attrName>style.visibility</p:attrName>
                                        </p:attrNameLst>
                                      </p:cBhvr>
                                      <p:to>
                                        <p:strVal val="visible"/>
                                      </p:to>
                                    </p:set>
                                    <p:animEffect transition="in" filter="fade">
                                      <p:cBhvr>
                                        <p:cTn id="458" dur="400"/>
                                        <p:tgtEl>
                                          <p:spTgt spid="100"/>
                                        </p:tgtEl>
                                      </p:cBhvr>
                                    </p:animEffect>
                                  </p:childTnLst>
                                </p:cTn>
                              </p:par>
                              <p:par>
                                <p:cTn id="459" presetID="10" presetClass="entr" presetSubtype="0" fill="hold" grpId="0" nodeType="withEffect">
                                  <p:stCondLst>
                                    <p:cond delay="200"/>
                                  </p:stCondLst>
                                  <p:childTnLst>
                                    <p:set>
                                      <p:cBhvr>
                                        <p:cTn id="460" dur="1" fill="hold">
                                          <p:stCondLst>
                                            <p:cond delay="0"/>
                                          </p:stCondLst>
                                        </p:cTn>
                                        <p:tgtEl>
                                          <p:spTgt spid="101"/>
                                        </p:tgtEl>
                                        <p:attrNameLst>
                                          <p:attrName>style.visibility</p:attrName>
                                        </p:attrNameLst>
                                      </p:cBhvr>
                                      <p:to>
                                        <p:strVal val="visible"/>
                                      </p:to>
                                    </p:set>
                                    <p:animEffect transition="in" filter="fade">
                                      <p:cBhvr>
                                        <p:cTn id="461" dur="400"/>
                                        <p:tgtEl>
                                          <p:spTgt spid="101"/>
                                        </p:tgtEl>
                                      </p:cBhvr>
                                    </p:animEffect>
                                  </p:childTnLst>
                                </p:cTn>
                              </p:par>
                              <p:par>
                                <p:cTn id="462" presetID="10" presetClass="entr" presetSubtype="0" fill="hold" grpId="0" nodeType="withEffect">
                                  <p:stCondLst>
                                    <p:cond delay="200"/>
                                  </p:stCondLst>
                                  <p:childTnLst>
                                    <p:set>
                                      <p:cBhvr>
                                        <p:cTn id="463" dur="1" fill="hold">
                                          <p:stCondLst>
                                            <p:cond delay="0"/>
                                          </p:stCondLst>
                                        </p:cTn>
                                        <p:tgtEl>
                                          <p:spTgt spid="102"/>
                                        </p:tgtEl>
                                        <p:attrNameLst>
                                          <p:attrName>style.visibility</p:attrName>
                                        </p:attrNameLst>
                                      </p:cBhvr>
                                      <p:to>
                                        <p:strVal val="visible"/>
                                      </p:to>
                                    </p:set>
                                    <p:animEffect transition="in" filter="fade">
                                      <p:cBhvr>
                                        <p:cTn id="464" dur="400"/>
                                        <p:tgtEl>
                                          <p:spTgt spid="102"/>
                                        </p:tgtEl>
                                      </p:cBhvr>
                                    </p:animEffect>
                                  </p:childTnLst>
                                </p:cTn>
                              </p:par>
                              <p:par>
                                <p:cTn id="465" presetID="10" presetClass="entr" presetSubtype="0" fill="hold" grpId="0" nodeType="withEffect">
                                  <p:stCondLst>
                                    <p:cond delay="200"/>
                                  </p:stCondLst>
                                  <p:childTnLst>
                                    <p:set>
                                      <p:cBhvr>
                                        <p:cTn id="466" dur="1" fill="hold">
                                          <p:stCondLst>
                                            <p:cond delay="0"/>
                                          </p:stCondLst>
                                        </p:cTn>
                                        <p:tgtEl>
                                          <p:spTgt spid="103"/>
                                        </p:tgtEl>
                                        <p:attrNameLst>
                                          <p:attrName>style.visibility</p:attrName>
                                        </p:attrNameLst>
                                      </p:cBhvr>
                                      <p:to>
                                        <p:strVal val="visible"/>
                                      </p:to>
                                    </p:set>
                                    <p:animEffect transition="in" filter="fade">
                                      <p:cBhvr>
                                        <p:cTn id="467" dur="400"/>
                                        <p:tgtEl>
                                          <p:spTgt spid="103"/>
                                        </p:tgtEl>
                                      </p:cBhvr>
                                    </p:animEffect>
                                  </p:childTnLst>
                                </p:cTn>
                              </p:par>
                              <p:par>
                                <p:cTn id="468" presetID="10" presetClass="entr" presetSubtype="0" fill="hold" grpId="0" nodeType="withEffect">
                                  <p:stCondLst>
                                    <p:cond delay="200"/>
                                  </p:stCondLst>
                                  <p:childTnLst>
                                    <p:set>
                                      <p:cBhvr>
                                        <p:cTn id="469" dur="1" fill="hold">
                                          <p:stCondLst>
                                            <p:cond delay="0"/>
                                          </p:stCondLst>
                                        </p:cTn>
                                        <p:tgtEl>
                                          <p:spTgt spid="104"/>
                                        </p:tgtEl>
                                        <p:attrNameLst>
                                          <p:attrName>style.visibility</p:attrName>
                                        </p:attrNameLst>
                                      </p:cBhvr>
                                      <p:to>
                                        <p:strVal val="visible"/>
                                      </p:to>
                                    </p:set>
                                    <p:animEffect transition="in" filter="fade">
                                      <p:cBhvr>
                                        <p:cTn id="470" dur="400"/>
                                        <p:tgtEl>
                                          <p:spTgt spid="104"/>
                                        </p:tgtEl>
                                      </p:cBhvr>
                                    </p:animEffect>
                                  </p:childTnLst>
                                </p:cTn>
                              </p:par>
                              <p:par>
                                <p:cTn id="471" presetID="10" presetClass="entr" presetSubtype="0" fill="hold" grpId="0" nodeType="withEffect">
                                  <p:stCondLst>
                                    <p:cond delay="200"/>
                                  </p:stCondLst>
                                  <p:childTnLst>
                                    <p:set>
                                      <p:cBhvr>
                                        <p:cTn id="472" dur="1" fill="hold">
                                          <p:stCondLst>
                                            <p:cond delay="0"/>
                                          </p:stCondLst>
                                        </p:cTn>
                                        <p:tgtEl>
                                          <p:spTgt spid="117"/>
                                        </p:tgtEl>
                                        <p:attrNameLst>
                                          <p:attrName>style.visibility</p:attrName>
                                        </p:attrNameLst>
                                      </p:cBhvr>
                                      <p:to>
                                        <p:strVal val="visible"/>
                                      </p:to>
                                    </p:set>
                                    <p:animEffect transition="in" filter="fade">
                                      <p:cBhvr>
                                        <p:cTn id="473" dur="400"/>
                                        <p:tgtEl>
                                          <p:spTgt spid="117"/>
                                        </p:tgtEl>
                                      </p:cBhvr>
                                    </p:animEffect>
                                  </p:childTnLst>
                                </p:cTn>
                              </p:par>
                              <p:par>
                                <p:cTn id="474" presetID="10" presetClass="entr" presetSubtype="0" fill="hold" grpId="0" nodeType="withEffect">
                                  <p:stCondLst>
                                    <p:cond delay="200"/>
                                  </p:stCondLst>
                                  <p:childTnLst>
                                    <p:set>
                                      <p:cBhvr>
                                        <p:cTn id="475" dur="1" fill="hold">
                                          <p:stCondLst>
                                            <p:cond delay="0"/>
                                          </p:stCondLst>
                                        </p:cTn>
                                        <p:tgtEl>
                                          <p:spTgt spid="118"/>
                                        </p:tgtEl>
                                        <p:attrNameLst>
                                          <p:attrName>style.visibility</p:attrName>
                                        </p:attrNameLst>
                                      </p:cBhvr>
                                      <p:to>
                                        <p:strVal val="visible"/>
                                      </p:to>
                                    </p:set>
                                    <p:animEffect transition="in" filter="fade">
                                      <p:cBhvr>
                                        <p:cTn id="476" dur="400"/>
                                        <p:tgtEl>
                                          <p:spTgt spid="118"/>
                                        </p:tgtEl>
                                      </p:cBhvr>
                                    </p:animEffect>
                                  </p:childTnLst>
                                </p:cTn>
                              </p:par>
                              <p:par>
                                <p:cTn id="477" presetID="10" presetClass="entr" presetSubtype="0" fill="hold" grpId="0" nodeType="withEffect">
                                  <p:stCondLst>
                                    <p:cond delay="200"/>
                                  </p:stCondLst>
                                  <p:childTnLst>
                                    <p:set>
                                      <p:cBhvr>
                                        <p:cTn id="478" dur="1" fill="hold">
                                          <p:stCondLst>
                                            <p:cond delay="0"/>
                                          </p:stCondLst>
                                        </p:cTn>
                                        <p:tgtEl>
                                          <p:spTgt spid="119"/>
                                        </p:tgtEl>
                                        <p:attrNameLst>
                                          <p:attrName>style.visibility</p:attrName>
                                        </p:attrNameLst>
                                      </p:cBhvr>
                                      <p:to>
                                        <p:strVal val="visible"/>
                                      </p:to>
                                    </p:set>
                                    <p:animEffect transition="in" filter="fade">
                                      <p:cBhvr>
                                        <p:cTn id="479" dur="400"/>
                                        <p:tgtEl>
                                          <p:spTgt spid="119"/>
                                        </p:tgtEl>
                                      </p:cBhvr>
                                    </p:animEffect>
                                  </p:childTnLst>
                                </p:cTn>
                              </p:par>
                              <p:par>
                                <p:cTn id="480" presetID="10" presetClass="entr" presetSubtype="0" fill="hold" grpId="0" nodeType="withEffect">
                                  <p:stCondLst>
                                    <p:cond delay="200"/>
                                  </p:stCondLst>
                                  <p:childTnLst>
                                    <p:set>
                                      <p:cBhvr>
                                        <p:cTn id="481" dur="1" fill="hold">
                                          <p:stCondLst>
                                            <p:cond delay="0"/>
                                          </p:stCondLst>
                                        </p:cTn>
                                        <p:tgtEl>
                                          <p:spTgt spid="120"/>
                                        </p:tgtEl>
                                        <p:attrNameLst>
                                          <p:attrName>style.visibility</p:attrName>
                                        </p:attrNameLst>
                                      </p:cBhvr>
                                      <p:to>
                                        <p:strVal val="visible"/>
                                      </p:to>
                                    </p:set>
                                    <p:animEffect transition="in" filter="fade">
                                      <p:cBhvr>
                                        <p:cTn id="482" dur="400"/>
                                        <p:tgtEl>
                                          <p:spTgt spid="120"/>
                                        </p:tgtEl>
                                      </p:cBhvr>
                                    </p:animEffect>
                                  </p:childTnLst>
                                </p:cTn>
                              </p:par>
                              <p:par>
                                <p:cTn id="483" presetID="10" presetClass="entr" presetSubtype="0" fill="hold" grpId="0" nodeType="withEffect">
                                  <p:stCondLst>
                                    <p:cond delay="200"/>
                                  </p:stCondLst>
                                  <p:childTnLst>
                                    <p:set>
                                      <p:cBhvr>
                                        <p:cTn id="484" dur="1" fill="hold">
                                          <p:stCondLst>
                                            <p:cond delay="0"/>
                                          </p:stCondLst>
                                        </p:cTn>
                                        <p:tgtEl>
                                          <p:spTgt spid="121"/>
                                        </p:tgtEl>
                                        <p:attrNameLst>
                                          <p:attrName>style.visibility</p:attrName>
                                        </p:attrNameLst>
                                      </p:cBhvr>
                                      <p:to>
                                        <p:strVal val="visible"/>
                                      </p:to>
                                    </p:set>
                                    <p:animEffect transition="in" filter="fade">
                                      <p:cBhvr>
                                        <p:cTn id="485" dur="400"/>
                                        <p:tgtEl>
                                          <p:spTgt spid="121"/>
                                        </p:tgtEl>
                                      </p:cBhvr>
                                    </p:animEffect>
                                  </p:childTnLst>
                                </p:cTn>
                              </p:par>
                              <p:par>
                                <p:cTn id="486" presetID="10" presetClass="entr" presetSubtype="0" fill="hold" grpId="0" nodeType="withEffect">
                                  <p:stCondLst>
                                    <p:cond delay="200"/>
                                  </p:stCondLst>
                                  <p:childTnLst>
                                    <p:set>
                                      <p:cBhvr>
                                        <p:cTn id="487" dur="1" fill="hold">
                                          <p:stCondLst>
                                            <p:cond delay="0"/>
                                          </p:stCondLst>
                                        </p:cTn>
                                        <p:tgtEl>
                                          <p:spTgt spid="122"/>
                                        </p:tgtEl>
                                        <p:attrNameLst>
                                          <p:attrName>style.visibility</p:attrName>
                                        </p:attrNameLst>
                                      </p:cBhvr>
                                      <p:to>
                                        <p:strVal val="visible"/>
                                      </p:to>
                                    </p:set>
                                    <p:animEffect transition="in" filter="fade">
                                      <p:cBhvr>
                                        <p:cTn id="488" dur="400"/>
                                        <p:tgtEl>
                                          <p:spTgt spid="122"/>
                                        </p:tgtEl>
                                      </p:cBhvr>
                                    </p:animEffect>
                                  </p:childTnLst>
                                </p:cTn>
                              </p:par>
                              <p:par>
                                <p:cTn id="489" presetID="10" presetClass="entr" presetSubtype="0" fill="hold" grpId="0" nodeType="withEffect">
                                  <p:stCondLst>
                                    <p:cond delay="200"/>
                                  </p:stCondLst>
                                  <p:childTnLst>
                                    <p:set>
                                      <p:cBhvr>
                                        <p:cTn id="490" dur="1" fill="hold">
                                          <p:stCondLst>
                                            <p:cond delay="0"/>
                                          </p:stCondLst>
                                        </p:cTn>
                                        <p:tgtEl>
                                          <p:spTgt spid="123"/>
                                        </p:tgtEl>
                                        <p:attrNameLst>
                                          <p:attrName>style.visibility</p:attrName>
                                        </p:attrNameLst>
                                      </p:cBhvr>
                                      <p:to>
                                        <p:strVal val="visible"/>
                                      </p:to>
                                    </p:set>
                                    <p:animEffect transition="in" filter="fade">
                                      <p:cBhvr>
                                        <p:cTn id="491" dur="400"/>
                                        <p:tgtEl>
                                          <p:spTgt spid="123"/>
                                        </p:tgtEl>
                                      </p:cBhvr>
                                    </p:animEffect>
                                  </p:childTnLst>
                                </p:cTn>
                              </p:par>
                              <p:par>
                                <p:cTn id="492" presetID="10" presetClass="entr" presetSubtype="0" fill="hold" grpId="0" nodeType="withEffect">
                                  <p:stCondLst>
                                    <p:cond delay="200"/>
                                  </p:stCondLst>
                                  <p:childTnLst>
                                    <p:set>
                                      <p:cBhvr>
                                        <p:cTn id="493" dur="1" fill="hold">
                                          <p:stCondLst>
                                            <p:cond delay="0"/>
                                          </p:stCondLst>
                                        </p:cTn>
                                        <p:tgtEl>
                                          <p:spTgt spid="124"/>
                                        </p:tgtEl>
                                        <p:attrNameLst>
                                          <p:attrName>style.visibility</p:attrName>
                                        </p:attrNameLst>
                                      </p:cBhvr>
                                      <p:to>
                                        <p:strVal val="visible"/>
                                      </p:to>
                                    </p:set>
                                    <p:animEffect transition="in" filter="fade">
                                      <p:cBhvr>
                                        <p:cTn id="494" dur="400"/>
                                        <p:tgtEl>
                                          <p:spTgt spid="124"/>
                                        </p:tgtEl>
                                      </p:cBhvr>
                                    </p:animEffect>
                                  </p:childTnLst>
                                </p:cTn>
                              </p:par>
                              <p:par>
                                <p:cTn id="495" presetID="10" presetClass="entr" presetSubtype="0" fill="hold" grpId="0" nodeType="withEffect">
                                  <p:stCondLst>
                                    <p:cond delay="200"/>
                                  </p:stCondLst>
                                  <p:childTnLst>
                                    <p:set>
                                      <p:cBhvr>
                                        <p:cTn id="496" dur="1" fill="hold">
                                          <p:stCondLst>
                                            <p:cond delay="0"/>
                                          </p:stCondLst>
                                        </p:cTn>
                                        <p:tgtEl>
                                          <p:spTgt spid="125"/>
                                        </p:tgtEl>
                                        <p:attrNameLst>
                                          <p:attrName>style.visibility</p:attrName>
                                        </p:attrNameLst>
                                      </p:cBhvr>
                                      <p:to>
                                        <p:strVal val="visible"/>
                                      </p:to>
                                    </p:set>
                                    <p:animEffect transition="in" filter="fade">
                                      <p:cBhvr>
                                        <p:cTn id="497" dur="400"/>
                                        <p:tgtEl>
                                          <p:spTgt spid="125"/>
                                        </p:tgtEl>
                                      </p:cBhvr>
                                    </p:animEffect>
                                  </p:childTnLst>
                                </p:cTn>
                              </p:par>
                              <p:par>
                                <p:cTn id="498" presetID="10" presetClass="entr" presetSubtype="0" fill="hold" grpId="0" nodeType="withEffect">
                                  <p:stCondLst>
                                    <p:cond delay="200"/>
                                  </p:stCondLst>
                                  <p:childTnLst>
                                    <p:set>
                                      <p:cBhvr>
                                        <p:cTn id="499" dur="1" fill="hold">
                                          <p:stCondLst>
                                            <p:cond delay="0"/>
                                          </p:stCondLst>
                                        </p:cTn>
                                        <p:tgtEl>
                                          <p:spTgt spid="126"/>
                                        </p:tgtEl>
                                        <p:attrNameLst>
                                          <p:attrName>style.visibility</p:attrName>
                                        </p:attrNameLst>
                                      </p:cBhvr>
                                      <p:to>
                                        <p:strVal val="visible"/>
                                      </p:to>
                                    </p:set>
                                    <p:animEffect transition="in" filter="fade">
                                      <p:cBhvr>
                                        <p:cTn id="500" dur="400"/>
                                        <p:tgtEl>
                                          <p:spTgt spid="126"/>
                                        </p:tgtEl>
                                      </p:cBhvr>
                                    </p:animEffect>
                                  </p:childTnLst>
                                </p:cTn>
                              </p:par>
                              <p:par>
                                <p:cTn id="501" presetID="10" presetClass="entr" presetSubtype="0" fill="hold" grpId="0" nodeType="withEffect">
                                  <p:stCondLst>
                                    <p:cond delay="200"/>
                                  </p:stCondLst>
                                  <p:childTnLst>
                                    <p:set>
                                      <p:cBhvr>
                                        <p:cTn id="502" dur="1" fill="hold">
                                          <p:stCondLst>
                                            <p:cond delay="0"/>
                                          </p:stCondLst>
                                        </p:cTn>
                                        <p:tgtEl>
                                          <p:spTgt spid="127"/>
                                        </p:tgtEl>
                                        <p:attrNameLst>
                                          <p:attrName>style.visibility</p:attrName>
                                        </p:attrNameLst>
                                      </p:cBhvr>
                                      <p:to>
                                        <p:strVal val="visible"/>
                                      </p:to>
                                    </p:set>
                                    <p:animEffect transition="in" filter="fade">
                                      <p:cBhvr>
                                        <p:cTn id="503" dur="400"/>
                                        <p:tgtEl>
                                          <p:spTgt spid="127"/>
                                        </p:tgtEl>
                                      </p:cBhvr>
                                    </p:animEffect>
                                  </p:childTnLst>
                                </p:cTn>
                              </p:par>
                              <p:par>
                                <p:cTn id="504" presetID="10" presetClass="entr" presetSubtype="0" fill="hold" grpId="0" nodeType="withEffect">
                                  <p:stCondLst>
                                    <p:cond delay="200"/>
                                  </p:stCondLst>
                                  <p:childTnLst>
                                    <p:set>
                                      <p:cBhvr>
                                        <p:cTn id="505" dur="1" fill="hold">
                                          <p:stCondLst>
                                            <p:cond delay="0"/>
                                          </p:stCondLst>
                                        </p:cTn>
                                        <p:tgtEl>
                                          <p:spTgt spid="128"/>
                                        </p:tgtEl>
                                        <p:attrNameLst>
                                          <p:attrName>style.visibility</p:attrName>
                                        </p:attrNameLst>
                                      </p:cBhvr>
                                      <p:to>
                                        <p:strVal val="visible"/>
                                      </p:to>
                                    </p:set>
                                    <p:animEffect transition="in" filter="fade">
                                      <p:cBhvr>
                                        <p:cTn id="506" dur="400"/>
                                        <p:tgtEl>
                                          <p:spTgt spid="128"/>
                                        </p:tgtEl>
                                      </p:cBhvr>
                                    </p:animEffect>
                                  </p:childTnLst>
                                </p:cTn>
                              </p:par>
                              <p:par>
                                <p:cTn id="507" presetID="10" presetClass="entr" presetSubtype="0" fill="hold" grpId="0" nodeType="withEffect">
                                  <p:stCondLst>
                                    <p:cond delay="200"/>
                                  </p:stCondLst>
                                  <p:childTnLst>
                                    <p:set>
                                      <p:cBhvr>
                                        <p:cTn id="508" dur="1" fill="hold">
                                          <p:stCondLst>
                                            <p:cond delay="0"/>
                                          </p:stCondLst>
                                        </p:cTn>
                                        <p:tgtEl>
                                          <p:spTgt spid="129"/>
                                        </p:tgtEl>
                                        <p:attrNameLst>
                                          <p:attrName>style.visibility</p:attrName>
                                        </p:attrNameLst>
                                      </p:cBhvr>
                                      <p:to>
                                        <p:strVal val="visible"/>
                                      </p:to>
                                    </p:set>
                                    <p:animEffect transition="in" filter="fade">
                                      <p:cBhvr>
                                        <p:cTn id="509" dur="400"/>
                                        <p:tgtEl>
                                          <p:spTgt spid="129"/>
                                        </p:tgtEl>
                                      </p:cBhvr>
                                    </p:animEffect>
                                  </p:childTnLst>
                                </p:cTn>
                              </p:par>
                              <p:par>
                                <p:cTn id="510" presetID="10" presetClass="entr" presetSubtype="0" fill="hold" grpId="0" nodeType="withEffect">
                                  <p:stCondLst>
                                    <p:cond delay="200"/>
                                  </p:stCondLst>
                                  <p:childTnLst>
                                    <p:set>
                                      <p:cBhvr>
                                        <p:cTn id="511" dur="1" fill="hold">
                                          <p:stCondLst>
                                            <p:cond delay="0"/>
                                          </p:stCondLst>
                                        </p:cTn>
                                        <p:tgtEl>
                                          <p:spTgt spid="130"/>
                                        </p:tgtEl>
                                        <p:attrNameLst>
                                          <p:attrName>style.visibility</p:attrName>
                                        </p:attrNameLst>
                                      </p:cBhvr>
                                      <p:to>
                                        <p:strVal val="visible"/>
                                      </p:to>
                                    </p:set>
                                    <p:animEffect transition="in" filter="fade">
                                      <p:cBhvr>
                                        <p:cTn id="512" dur="400"/>
                                        <p:tgtEl>
                                          <p:spTgt spid="130"/>
                                        </p:tgtEl>
                                      </p:cBhvr>
                                    </p:animEffect>
                                  </p:childTnLst>
                                </p:cTn>
                              </p:par>
                              <p:par>
                                <p:cTn id="513" presetID="10" presetClass="entr" presetSubtype="0" fill="hold" grpId="0" nodeType="withEffect">
                                  <p:stCondLst>
                                    <p:cond delay="200"/>
                                  </p:stCondLst>
                                  <p:childTnLst>
                                    <p:set>
                                      <p:cBhvr>
                                        <p:cTn id="514" dur="1" fill="hold">
                                          <p:stCondLst>
                                            <p:cond delay="0"/>
                                          </p:stCondLst>
                                        </p:cTn>
                                        <p:tgtEl>
                                          <p:spTgt spid="131"/>
                                        </p:tgtEl>
                                        <p:attrNameLst>
                                          <p:attrName>style.visibility</p:attrName>
                                        </p:attrNameLst>
                                      </p:cBhvr>
                                      <p:to>
                                        <p:strVal val="visible"/>
                                      </p:to>
                                    </p:set>
                                    <p:animEffect transition="in" filter="fade">
                                      <p:cBhvr>
                                        <p:cTn id="515" dur="400"/>
                                        <p:tgtEl>
                                          <p:spTgt spid="131"/>
                                        </p:tgtEl>
                                      </p:cBhvr>
                                    </p:animEffect>
                                  </p:childTnLst>
                                </p:cTn>
                              </p:par>
                              <p:par>
                                <p:cTn id="516" presetID="10" presetClass="entr" presetSubtype="0" fill="hold" grpId="0" nodeType="withEffect">
                                  <p:stCondLst>
                                    <p:cond delay="200"/>
                                  </p:stCondLst>
                                  <p:childTnLst>
                                    <p:set>
                                      <p:cBhvr>
                                        <p:cTn id="517" dur="1" fill="hold">
                                          <p:stCondLst>
                                            <p:cond delay="0"/>
                                          </p:stCondLst>
                                        </p:cTn>
                                        <p:tgtEl>
                                          <p:spTgt spid="132"/>
                                        </p:tgtEl>
                                        <p:attrNameLst>
                                          <p:attrName>style.visibility</p:attrName>
                                        </p:attrNameLst>
                                      </p:cBhvr>
                                      <p:to>
                                        <p:strVal val="visible"/>
                                      </p:to>
                                    </p:set>
                                    <p:animEffect transition="in" filter="fade">
                                      <p:cBhvr>
                                        <p:cTn id="518" dur="400"/>
                                        <p:tgtEl>
                                          <p:spTgt spid="132"/>
                                        </p:tgtEl>
                                      </p:cBhvr>
                                    </p:animEffect>
                                  </p:childTnLst>
                                </p:cTn>
                              </p:par>
                              <p:par>
                                <p:cTn id="519" presetID="10" presetClass="entr" presetSubtype="0" fill="hold" grpId="0" nodeType="withEffect">
                                  <p:stCondLst>
                                    <p:cond delay="200"/>
                                  </p:stCondLst>
                                  <p:childTnLst>
                                    <p:set>
                                      <p:cBhvr>
                                        <p:cTn id="520" dur="1" fill="hold">
                                          <p:stCondLst>
                                            <p:cond delay="0"/>
                                          </p:stCondLst>
                                        </p:cTn>
                                        <p:tgtEl>
                                          <p:spTgt spid="133"/>
                                        </p:tgtEl>
                                        <p:attrNameLst>
                                          <p:attrName>style.visibility</p:attrName>
                                        </p:attrNameLst>
                                      </p:cBhvr>
                                      <p:to>
                                        <p:strVal val="visible"/>
                                      </p:to>
                                    </p:set>
                                    <p:animEffect transition="in" filter="fade">
                                      <p:cBhvr>
                                        <p:cTn id="521" dur="400"/>
                                        <p:tgtEl>
                                          <p:spTgt spid="133"/>
                                        </p:tgtEl>
                                      </p:cBhvr>
                                    </p:animEffect>
                                  </p:childTnLst>
                                </p:cTn>
                              </p:par>
                              <p:par>
                                <p:cTn id="522" presetID="10" presetClass="entr" presetSubtype="0" fill="hold" grpId="0" nodeType="withEffect">
                                  <p:stCondLst>
                                    <p:cond delay="200"/>
                                  </p:stCondLst>
                                  <p:childTnLst>
                                    <p:set>
                                      <p:cBhvr>
                                        <p:cTn id="523" dur="1" fill="hold">
                                          <p:stCondLst>
                                            <p:cond delay="0"/>
                                          </p:stCondLst>
                                        </p:cTn>
                                        <p:tgtEl>
                                          <p:spTgt spid="134"/>
                                        </p:tgtEl>
                                        <p:attrNameLst>
                                          <p:attrName>style.visibility</p:attrName>
                                        </p:attrNameLst>
                                      </p:cBhvr>
                                      <p:to>
                                        <p:strVal val="visible"/>
                                      </p:to>
                                    </p:set>
                                    <p:animEffect transition="in" filter="fade">
                                      <p:cBhvr>
                                        <p:cTn id="524" dur="400"/>
                                        <p:tgtEl>
                                          <p:spTgt spid="134"/>
                                        </p:tgtEl>
                                      </p:cBhvr>
                                    </p:animEffect>
                                  </p:childTnLst>
                                </p:cTn>
                              </p:par>
                              <p:par>
                                <p:cTn id="525" presetID="10" presetClass="entr" presetSubtype="0" fill="hold" grpId="0" nodeType="withEffect">
                                  <p:stCondLst>
                                    <p:cond delay="200"/>
                                  </p:stCondLst>
                                  <p:childTnLst>
                                    <p:set>
                                      <p:cBhvr>
                                        <p:cTn id="526" dur="1" fill="hold">
                                          <p:stCondLst>
                                            <p:cond delay="0"/>
                                          </p:stCondLst>
                                        </p:cTn>
                                        <p:tgtEl>
                                          <p:spTgt spid="135"/>
                                        </p:tgtEl>
                                        <p:attrNameLst>
                                          <p:attrName>style.visibility</p:attrName>
                                        </p:attrNameLst>
                                      </p:cBhvr>
                                      <p:to>
                                        <p:strVal val="visible"/>
                                      </p:to>
                                    </p:set>
                                    <p:animEffect transition="in" filter="fade">
                                      <p:cBhvr>
                                        <p:cTn id="527" dur="400"/>
                                        <p:tgtEl>
                                          <p:spTgt spid="135"/>
                                        </p:tgtEl>
                                      </p:cBhvr>
                                    </p:animEffect>
                                  </p:childTnLst>
                                </p:cTn>
                              </p:par>
                              <p:par>
                                <p:cTn id="528" presetID="10" presetClass="entr" presetSubtype="0" fill="hold" grpId="0" nodeType="withEffect">
                                  <p:stCondLst>
                                    <p:cond delay="200"/>
                                  </p:stCondLst>
                                  <p:childTnLst>
                                    <p:set>
                                      <p:cBhvr>
                                        <p:cTn id="529" dur="1" fill="hold">
                                          <p:stCondLst>
                                            <p:cond delay="0"/>
                                          </p:stCondLst>
                                        </p:cTn>
                                        <p:tgtEl>
                                          <p:spTgt spid="136"/>
                                        </p:tgtEl>
                                        <p:attrNameLst>
                                          <p:attrName>style.visibility</p:attrName>
                                        </p:attrNameLst>
                                      </p:cBhvr>
                                      <p:to>
                                        <p:strVal val="visible"/>
                                      </p:to>
                                    </p:set>
                                    <p:animEffect transition="in" filter="fade">
                                      <p:cBhvr>
                                        <p:cTn id="530" dur="400"/>
                                        <p:tgtEl>
                                          <p:spTgt spid="136"/>
                                        </p:tgtEl>
                                      </p:cBhvr>
                                    </p:animEffect>
                                  </p:childTnLst>
                                </p:cTn>
                              </p:par>
                              <p:par>
                                <p:cTn id="531" presetID="10" presetClass="entr" presetSubtype="0" fill="hold" grpId="0" nodeType="withEffect">
                                  <p:stCondLst>
                                    <p:cond delay="200"/>
                                  </p:stCondLst>
                                  <p:childTnLst>
                                    <p:set>
                                      <p:cBhvr>
                                        <p:cTn id="532" dur="1" fill="hold">
                                          <p:stCondLst>
                                            <p:cond delay="0"/>
                                          </p:stCondLst>
                                        </p:cTn>
                                        <p:tgtEl>
                                          <p:spTgt spid="137"/>
                                        </p:tgtEl>
                                        <p:attrNameLst>
                                          <p:attrName>style.visibility</p:attrName>
                                        </p:attrNameLst>
                                      </p:cBhvr>
                                      <p:to>
                                        <p:strVal val="visible"/>
                                      </p:to>
                                    </p:set>
                                    <p:animEffect transition="in" filter="fade">
                                      <p:cBhvr>
                                        <p:cTn id="533" dur="400"/>
                                        <p:tgtEl>
                                          <p:spTgt spid="137"/>
                                        </p:tgtEl>
                                      </p:cBhvr>
                                    </p:animEffect>
                                  </p:childTnLst>
                                </p:cTn>
                              </p:par>
                              <p:par>
                                <p:cTn id="534" presetID="10" presetClass="entr" presetSubtype="0" fill="hold" grpId="0" nodeType="withEffect">
                                  <p:stCondLst>
                                    <p:cond delay="200"/>
                                  </p:stCondLst>
                                  <p:childTnLst>
                                    <p:set>
                                      <p:cBhvr>
                                        <p:cTn id="535" dur="1" fill="hold">
                                          <p:stCondLst>
                                            <p:cond delay="0"/>
                                          </p:stCondLst>
                                        </p:cTn>
                                        <p:tgtEl>
                                          <p:spTgt spid="138"/>
                                        </p:tgtEl>
                                        <p:attrNameLst>
                                          <p:attrName>style.visibility</p:attrName>
                                        </p:attrNameLst>
                                      </p:cBhvr>
                                      <p:to>
                                        <p:strVal val="visible"/>
                                      </p:to>
                                    </p:set>
                                    <p:animEffect transition="in" filter="fade">
                                      <p:cBhvr>
                                        <p:cTn id="536" dur="400"/>
                                        <p:tgtEl>
                                          <p:spTgt spid="138"/>
                                        </p:tgtEl>
                                      </p:cBhvr>
                                    </p:animEffect>
                                  </p:childTnLst>
                                </p:cTn>
                              </p:par>
                              <p:par>
                                <p:cTn id="537" presetID="10" presetClass="entr" presetSubtype="0" fill="hold" grpId="0" nodeType="withEffect">
                                  <p:stCondLst>
                                    <p:cond delay="200"/>
                                  </p:stCondLst>
                                  <p:childTnLst>
                                    <p:set>
                                      <p:cBhvr>
                                        <p:cTn id="538" dur="1" fill="hold">
                                          <p:stCondLst>
                                            <p:cond delay="0"/>
                                          </p:stCondLst>
                                        </p:cTn>
                                        <p:tgtEl>
                                          <p:spTgt spid="139"/>
                                        </p:tgtEl>
                                        <p:attrNameLst>
                                          <p:attrName>style.visibility</p:attrName>
                                        </p:attrNameLst>
                                      </p:cBhvr>
                                      <p:to>
                                        <p:strVal val="visible"/>
                                      </p:to>
                                    </p:set>
                                    <p:animEffect transition="in" filter="fade">
                                      <p:cBhvr>
                                        <p:cTn id="539" dur="400"/>
                                        <p:tgtEl>
                                          <p:spTgt spid="139"/>
                                        </p:tgtEl>
                                      </p:cBhvr>
                                    </p:animEffect>
                                  </p:childTnLst>
                                </p:cTn>
                              </p:par>
                              <p:par>
                                <p:cTn id="540" presetID="10" presetClass="entr" presetSubtype="0" fill="hold" grpId="0" nodeType="withEffect">
                                  <p:stCondLst>
                                    <p:cond delay="200"/>
                                  </p:stCondLst>
                                  <p:childTnLst>
                                    <p:set>
                                      <p:cBhvr>
                                        <p:cTn id="541" dur="1" fill="hold">
                                          <p:stCondLst>
                                            <p:cond delay="0"/>
                                          </p:stCondLst>
                                        </p:cTn>
                                        <p:tgtEl>
                                          <p:spTgt spid="140"/>
                                        </p:tgtEl>
                                        <p:attrNameLst>
                                          <p:attrName>style.visibility</p:attrName>
                                        </p:attrNameLst>
                                      </p:cBhvr>
                                      <p:to>
                                        <p:strVal val="visible"/>
                                      </p:to>
                                    </p:set>
                                    <p:animEffect transition="in" filter="fade">
                                      <p:cBhvr>
                                        <p:cTn id="542" dur="400"/>
                                        <p:tgtEl>
                                          <p:spTgt spid="140"/>
                                        </p:tgtEl>
                                      </p:cBhvr>
                                    </p:animEffect>
                                  </p:childTnLst>
                                </p:cTn>
                              </p:par>
                              <p:par>
                                <p:cTn id="543" presetID="10" presetClass="entr" presetSubtype="0" fill="hold" grpId="0" nodeType="withEffect">
                                  <p:stCondLst>
                                    <p:cond delay="200"/>
                                  </p:stCondLst>
                                  <p:childTnLst>
                                    <p:set>
                                      <p:cBhvr>
                                        <p:cTn id="544" dur="1" fill="hold">
                                          <p:stCondLst>
                                            <p:cond delay="0"/>
                                          </p:stCondLst>
                                        </p:cTn>
                                        <p:tgtEl>
                                          <p:spTgt spid="141"/>
                                        </p:tgtEl>
                                        <p:attrNameLst>
                                          <p:attrName>style.visibility</p:attrName>
                                        </p:attrNameLst>
                                      </p:cBhvr>
                                      <p:to>
                                        <p:strVal val="visible"/>
                                      </p:to>
                                    </p:set>
                                    <p:animEffect transition="in" filter="fade">
                                      <p:cBhvr>
                                        <p:cTn id="545" dur="400"/>
                                        <p:tgtEl>
                                          <p:spTgt spid="141"/>
                                        </p:tgtEl>
                                      </p:cBhvr>
                                    </p:animEffect>
                                  </p:childTnLst>
                                </p:cTn>
                              </p:par>
                              <p:par>
                                <p:cTn id="546" presetID="10" presetClass="entr" presetSubtype="0" fill="hold" grpId="0" nodeType="withEffect">
                                  <p:stCondLst>
                                    <p:cond delay="200"/>
                                  </p:stCondLst>
                                  <p:childTnLst>
                                    <p:set>
                                      <p:cBhvr>
                                        <p:cTn id="547" dur="1" fill="hold">
                                          <p:stCondLst>
                                            <p:cond delay="0"/>
                                          </p:stCondLst>
                                        </p:cTn>
                                        <p:tgtEl>
                                          <p:spTgt spid="142"/>
                                        </p:tgtEl>
                                        <p:attrNameLst>
                                          <p:attrName>style.visibility</p:attrName>
                                        </p:attrNameLst>
                                      </p:cBhvr>
                                      <p:to>
                                        <p:strVal val="visible"/>
                                      </p:to>
                                    </p:set>
                                    <p:animEffect transition="in" filter="fade">
                                      <p:cBhvr>
                                        <p:cTn id="548" dur="400"/>
                                        <p:tgtEl>
                                          <p:spTgt spid="142"/>
                                        </p:tgtEl>
                                      </p:cBhvr>
                                    </p:animEffect>
                                  </p:childTnLst>
                                </p:cTn>
                              </p:par>
                              <p:par>
                                <p:cTn id="549" presetID="10" presetClass="entr" presetSubtype="0" fill="hold" grpId="0" nodeType="withEffect">
                                  <p:stCondLst>
                                    <p:cond delay="200"/>
                                  </p:stCondLst>
                                  <p:childTnLst>
                                    <p:set>
                                      <p:cBhvr>
                                        <p:cTn id="550" dur="1" fill="hold">
                                          <p:stCondLst>
                                            <p:cond delay="0"/>
                                          </p:stCondLst>
                                        </p:cTn>
                                        <p:tgtEl>
                                          <p:spTgt spid="161"/>
                                        </p:tgtEl>
                                        <p:attrNameLst>
                                          <p:attrName>style.visibility</p:attrName>
                                        </p:attrNameLst>
                                      </p:cBhvr>
                                      <p:to>
                                        <p:strVal val="visible"/>
                                      </p:to>
                                    </p:set>
                                    <p:animEffect transition="in" filter="fade">
                                      <p:cBhvr>
                                        <p:cTn id="551" dur="400"/>
                                        <p:tgtEl>
                                          <p:spTgt spid="161"/>
                                        </p:tgtEl>
                                      </p:cBhvr>
                                    </p:animEffect>
                                  </p:childTnLst>
                                </p:cTn>
                              </p:par>
                              <p:par>
                                <p:cTn id="552" presetID="10" presetClass="entr" presetSubtype="0" fill="hold" grpId="0" nodeType="withEffect">
                                  <p:stCondLst>
                                    <p:cond delay="200"/>
                                  </p:stCondLst>
                                  <p:childTnLst>
                                    <p:set>
                                      <p:cBhvr>
                                        <p:cTn id="553" dur="1" fill="hold">
                                          <p:stCondLst>
                                            <p:cond delay="0"/>
                                          </p:stCondLst>
                                        </p:cTn>
                                        <p:tgtEl>
                                          <p:spTgt spid="162"/>
                                        </p:tgtEl>
                                        <p:attrNameLst>
                                          <p:attrName>style.visibility</p:attrName>
                                        </p:attrNameLst>
                                      </p:cBhvr>
                                      <p:to>
                                        <p:strVal val="visible"/>
                                      </p:to>
                                    </p:set>
                                    <p:animEffect transition="in" filter="fade">
                                      <p:cBhvr>
                                        <p:cTn id="554" dur="400"/>
                                        <p:tgtEl>
                                          <p:spTgt spid="162"/>
                                        </p:tgtEl>
                                      </p:cBhvr>
                                    </p:animEffect>
                                  </p:childTnLst>
                                </p:cTn>
                              </p:par>
                              <p:par>
                                <p:cTn id="555" presetID="10" presetClass="entr" presetSubtype="0" fill="hold" grpId="0" nodeType="withEffect">
                                  <p:stCondLst>
                                    <p:cond delay="200"/>
                                  </p:stCondLst>
                                  <p:childTnLst>
                                    <p:set>
                                      <p:cBhvr>
                                        <p:cTn id="556" dur="1" fill="hold">
                                          <p:stCondLst>
                                            <p:cond delay="0"/>
                                          </p:stCondLst>
                                        </p:cTn>
                                        <p:tgtEl>
                                          <p:spTgt spid="163"/>
                                        </p:tgtEl>
                                        <p:attrNameLst>
                                          <p:attrName>style.visibility</p:attrName>
                                        </p:attrNameLst>
                                      </p:cBhvr>
                                      <p:to>
                                        <p:strVal val="visible"/>
                                      </p:to>
                                    </p:set>
                                    <p:animEffect transition="in" filter="fade">
                                      <p:cBhvr>
                                        <p:cTn id="557" dur="400"/>
                                        <p:tgtEl>
                                          <p:spTgt spid="163"/>
                                        </p:tgtEl>
                                      </p:cBhvr>
                                    </p:animEffect>
                                  </p:childTnLst>
                                </p:cTn>
                              </p:par>
                              <p:par>
                                <p:cTn id="558" presetID="10" presetClass="entr" presetSubtype="0" fill="hold" grpId="0" nodeType="withEffect">
                                  <p:stCondLst>
                                    <p:cond delay="200"/>
                                  </p:stCondLst>
                                  <p:childTnLst>
                                    <p:set>
                                      <p:cBhvr>
                                        <p:cTn id="559" dur="1" fill="hold">
                                          <p:stCondLst>
                                            <p:cond delay="0"/>
                                          </p:stCondLst>
                                        </p:cTn>
                                        <p:tgtEl>
                                          <p:spTgt spid="164"/>
                                        </p:tgtEl>
                                        <p:attrNameLst>
                                          <p:attrName>style.visibility</p:attrName>
                                        </p:attrNameLst>
                                      </p:cBhvr>
                                      <p:to>
                                        <p:strVal val="visible"/>
                                      </p:to>
                                    </p:set>
                                    <p:animEffect transition="in" filter="fade">
                                      <p:cBhvr>
                                        <p:cTn id="560" dur="400"/>
                                        <p:tgtEl>
                                          <p:spTgt spid="164"/>
                                        </p:tgtEl>
                                      </p:cBhvr>
                                    </p:animEffect>
                                  </p:childTnLst>
                                </p:cTn>
                              </p:par>
                              <p:par>
                                <p:cTn id="561" presetID="10" presetClass="entr" presetSubtype="0" fill="hold" grpId="0" nodeType="withEffect">
                                  <p:stCondLst>
                                    <p:cond delay="200"/>
                                  </p:stCondLst>
                                  <p:childTnLst>
                                    <p:set>
                                      <p:cBhvr>
                                        <p:cTn id="562" dur="1" fill="hold">
                                          <p:stCondLst>
                                            <p:cond delay="0"/>
                                          </p:stCondLst>
                                        </p:cTn>
                                        <p:tgtEl>
                                          <p:spTgt spid="165"/>
                                        </p:tgtEl>
                                        <p:attrNameLst>
                                          <p:attrName>style.visibility</p:attrName>
                                        </p:attrNameLst>
                                      </p:cBhvr>
                                      <p:to>
                                        <p:strVal val="visible"/>
                                      </p:to>
                                    </p:set>
                                    <p:animEffect transition="in" filter="fade">
                                      <p:cBhvr>
                                        <p:cTn id="563" dur="400"/>
                                        <p:tgtEl>
                                          <p:spTgt spid="165"/>
                                        </p:tgtEl>
                                      </p:cBhvr>
                                    </p:animEffect>
                                  </p:childTnLst>
                                </p:cTn>
                              </p:par>
                              <p:par>
                                <p:cTn id="564" presetID="10" presetClass="entr" presetSubtype="0" fill="hold" grpId="0" nodeType="withEffect">
                                  <p:stCondLst>
                                    <p:cond delay="200"/>
                                  </p:stCondLst>
                                  <p:childTnLst>
                                    <p:set>
                                      <p:cBhvr>
                                        <p:cTn id="565" dur="1" fill="hold">
                                          <p:stCondLst>
                                            <p:cond delay="0"/>
                                          </p:stCondLst>
                                        </p:cTn>
                                        <p:tgtEl>
                                          <p:spTgt spid="166"/>
                                        </p:tgtEl>
                                        <p:attrNameLst>
                                          <p:attrName>style.visibility</p:attrName>
                                        </p:attrNameLst>
                                      </p:cBhvr>
                                      <p:to>
                                        <p:strVal val="visible"/>
                                      </p:to>
                                    </p:set>
                                    <p:animEffect transition="in" filter="fade">
                                      <p:cBhvr>
                                        <p:cTn id="566" dur="400"/>
                                        <p:tgtEl>
                                          <p:spTgt spid="166"/>
                                        </p:tgtEl>
                                      </p:cBhvr>
                                    </p:animEffect>
                                  </p:childTnLst>
                                </p:cTn>
                              </p:par>
                              <p:par>
                                <p:cTn id="567" presetID="10" presetClass="entr" presetSubtype="0" fill="hold" grpId="0" nodeType="withEffect">
                                  <p:stCondLst>
                                    <p:cond delay="200"/>
                                  </p:stCondLst>
                                  <p:childTnLst>
                                    <p:set>
                                      <p:cBhvr>
                                        <p:cTn id="568" dur="1" fill="hold">
                                          <p:stCondLst>
                                            <p:cond delay="0"/>
                                          </p:stCondLst>
                                        </p:cTn>
                                        <p:tgtEl>
                                          <p:spTgt spid="167"/>
                                        </p:tgtEl>
                                        <p:attrNameLst>
                                          <p:attrName>style.visibility</p:attrName>
                                        </p:attrNameLst>
                                      </p:cBhvr>
                                      <p:to>
                                        <p:strVal val="visible"/>
                                      </p:to>
                                    </p:set>
                                    <p:animEffect transition="in" filter="fade">
                                      <p:cBhvr>
                                        <p:cTn id="569" dur="400"/>
                                        <p:tgtEl>
                                          <p:spTgt spid="167"/>
                                        </p:tgtEl>
                                      </p:cBhvr>
                                    </p:animEffect>
                                  </p:childTnLst>
                                </p:cTn>
                              </p:par>
                              <p:par>
                                <p:cTn id="570" presetID="10" presetClass="entr" presetSubtype="0" fill="hold" grpId="0" nodeType="withEffect">
                                  <p:stCondLst>
                                    <p:cond delay="200"/>
                                  </p:stCondLst>
                                  <p:childTnLst>
                                    <p:set>
                                      <p:cBhvr>
                                        <p:cTn id="571" dur="1" fill="hold">
                                          <p:stCondLst>
                                            <p:cond delay="0"/>
                                          </p:stCondLst>
                                        </p:cTn>
                                        <p:tgtEl>
                                          <p:spTgt spid="168"/>
                                        </p:tgtEl>
                                        <p:attrNameLst>
                                          <p:attrName>style.visibility</p:attrName>
                                        </p:attrNameLst>
                                      </p:cBhvr>
                                      <p:to>
                                        <p:strVal val="visible"/>
                                      </p:to>
                                    </p:set>
                                    <p:animEffect transition="in" filter="fade">
                                      <p:cBhvr>
                                        <p:cTn id="572" dur="400"/>
                                        <p:tgtEl>
                                          <p:spTgt spid="168"/>
                                        </p:tgtEl>
                                      </p:cBhvr>
                                    </p:animEffect>
                                  </p:childTnLst>
                                </p:cTn>
                              </p:par>
                              <p:par>
                                <p:cTn id="573" presetID="10" presetClass="entr" presetSubtype="0" fill="hold" grpId="0" nodeType="withEffect">
                                  <p:stCondLst>
                                    <p:cond delay="200"/>
                                  </p:stCondLst>
                                  <p:childTnLst>
                                    <p:set>
                                      <p:cBhvr>
                                        <p:cTn id="574" dur="1" fill="hold">
                                          <p:stCondLst>
                                            <p:cond delay="0"/>
                                          </p:stCondLst>
                                        </p:cTn>
                                        <p:tgtEl>
                                          <p:spTgt spid="169"/>
                                        </p:tgtEl>
                                        <p:attrNameLst>
                                          <p:attrName>style.visibility</p:attrName>
                                        </p:attrNameLst>
                                      </p:cBhvr>
                                      <p:to>
                                        <p:strVal val="visible"/>
                                      </p:to>
                                    </p:set>
                                    <p:animEffect transition="in" filter="fade">
                                      <p:cBhvr>
                                        <p:cTn id="575" dur="400"/>
                                        <p:tgtEl>
                                          <p:spTgt spid="169"/>
                                        </p:tgtEl>
                                      </p:cBhvr>
                                    </p:animEffect>
                                  </p:childTnLst>
                                </p:cTn>
                              </p:par>
                              <p:par>
                                <p:cTn id="576" presetID="10" presetClass="entr" presetSubtype="0" fill="hold" grpId="0" nodeType="withEffect">
                                  <p:stCondLst>
                                    <p:cond delay="200"/>
                                  </p:stCondLst>
                                  <p:childTnLst>
                                    <p:set>
                                      <p:cBhvr>
                                        <p:cTn id="577" dur="1" fill="hold">
                                          <p:stCondLst>
                                            <p:cond delay="0"/>
                                          </p:stCondLst>
                                        </p:cTn>
                                        <p:tgtEl>
                                          <p:spTgt spid="170"/>
                                        </p:tgtEl>
                                        <p:attrNameLst>
                                          <p:attrName>style.visibility</p:attrName>
                                        </p:attrNameLst>
                                      </p:cBhvr>
                                      <p:to>
                                        <p:strVal val="visible"/>
                                      </p:to>
                                    </p:set>
                                    <p:animEffect transition="in" filter="fade">
                                      <p:cBhvr>
                                        <p:cTn id="578" dur="400"/>
                                        <p:tgtEl>
                                          <p:spTgt spid="170"/>
                                        </p:tgtEl>
                                      </p:cBhvr>
                                    </p:animEffect>
                                  </p:childTnLst>
                                </p:cTn>
                              </p:par>
                              <p:par>
                                <p:cTn id="579" presetID="10" presetClass="entr" presetSubtype="0" fill="hold" grpId="0" nodeType="withEffect">
                                  <p:stCondLst>
                                    <p:cond delay="200"/>
                                  </p:stCondLst>
                                  <p:childTnLst>
                                    <p:set>
                                      <p:cBhvr>
                                        <p:cTn id="580" dur="1" fill="hold">
                                          <p:stCondLst>
                                            <p:cond delay="0"/>
                                          </p:stCondLst>
                                        </p:cTn>
                                        <p:tgtEl>
                                          <p:spTgt spid="171"/>
                                        </p:tgtEl>
                                        <p:attrNameLst>
                                          <p:attrName>style.visibility</p:attrName>
                                        </p:attrNameLst>
                                      </p:cBhvr>
                                      <p:to>
                                        <p:strVal val="visible"/>
                                      </p:to>
                                    </p:set>
                                    <p:animEffect transition="in" filter="fade">
                                      <p:cBhvr>
                                        <p:cTn id="581" dur="400"/>
                                        <p:tgtEl>
                                          <p:spTgt spid="171"/>
                                        </p:tgtEl>
                                      </p:cBhvr>
                                    </p:animEffect>
                                  </p:childTnLst>
                                </p:cTn>
                              </p:par>
                              <p:par>
                                <p:cTn id="582" presetID="10" presetClass="entr" presetSubtype="0" fill="hold" grpId="0" nodeType="withEffect">
                                  <p:stCondLst>
                                    <p:cond delay="200"/>
                                  </p:stCondLst>
                                  <p:childTnLst>
                                    <p:set>
                                      <p:cBhvr>
                                        <p:cTn id="583" dur="1" fill="hold">
                                          <p:stCondLst>
                                            <p:cond delay="0"/>
                                          </p:stCondLst>
                                        </p:cTn>
                                        <p:tgtEl>
                                          <p:spTgt spid="172"/>
                                        </p:tgtEl>
                                        <p:attrNameLst>
                                          <p:attrName>style.visibility</p:attrName>
                                        </p:attrNameLst>
                                      </p:cBhvr>
                                      <p:to>
                                        <p:strVal val="visible"/>
                                      </p:to>
                                    </p:set>
                                    <p:animEffect transition="in" filter="fade">
                                      <p:cBhvr>
                                        <p:cTn id="584" dur="400"/>
                                        <p:tgtEl>
                                          <p:spTgt spid="172"/>
                                        </p:tgtEl>
                                      </p:cBhvr>
                                    </p:animEffect>
                                  </p:childTnLst>
                                </p:cTn>
                              </p:par>
                              <p:par>
                                <p:cTn id="585" presetID="10" presetClass="entr" presetSubtype="0" fill="hold" grpId="0" nodeType="withEffect">
                                  <p:stCondLst>
                                    <p:cond delay="200"/>
                                  </p:stCondLst>
                                  <p:childTnLst>
                                    <p:set>
                                      <p:cBhvr>
                                        <p:cTn id="586" dur="1" fill="hold">
                                          <p:stCondLst>
                                            <p:cond delay="0"/>
                                          </p:stCondLst>
                                        </p:cTn>
                                        <p:tgtEl>
                                          <p:spTgt spid="173"/>
                                        </p:tgtEl>
                                        <p:attrNameLst>
                                          <p:attrName>style.visibility</p:attrName>
                                        </p:attrNameLst>
                                      </p:cBhvr>
                                      <p:to>
                                        <p:strVal val="visible"/>
                                      </p:to>
                                    </p:set>
                                    <p:animEffect transition="in" filter="fade">
                                      <p:cBhvr>
                                        <p:cTn id="587" dur="400"/>
                                        <p:tgtEl>
                                          <p:spTgt spid="173"/>
                                        </p:tgtEl>
                                      </p:cBhvr>
                                    </p:animEffect>
                                  </p:childTnLst>
                                </p:cTn>
                              </p:par>
                              <p:par>
                                <p:cTn id="588" presetID="10" presetClass="entr" presetSubtype="0" fill="hold" grpId="0" nodeType="withEffect">
                                  <p:stCondLst>
                                    <p:cond delay="200"/>
                                  </p:stCondLst>
                                  <p:childTnLst>
                                    <p:set>
                                      <p:cBhvr>
                                        <p:cTn id="589" dur="1" fill="hold">
                                          <p:stCondLst>
                                            <p:cond delay="0"/>
                                          </p:stCondLst>
                                        </p:cTn>
                                        <p:tgtEl>
                                          <p:spTgt spid="174"/>
                                        </p:tgtEl>
                                        <p:attrNameLst>
                                          <p:attrName>style.visibility</p:attrName>
                                        </p:attrNameLst>
                                      </p:cBhvr>
                                      <p:to>
                                        <p:strVal val="visible"/>
                                      </p:to>
                                    </p:set>
                                    <p:animEffect transition="in" filter="fade">
                                      <p:cBhvr>
                                        <p:cTn id="590" dur="400"/>
                                        <p:tgtEl>
                                          <p:spTgt spid="174"/>
                                        </p:tgtEl>
                                      </p:cBhvr>
                                    </p:animEffect>
                                  </p:childTnLst>
                                </p:cTn>
                              </p:par>
                              <p:par>
                                <p:cTn id="591" presetID="10" presetClass="entr" presetSubtype="0" fill="hold" grpId="0" nodeType="withEffect">
                                  <p:stCondLst>
                                    <p:cond delay="200"/>
                                  </p:stCondLst>
                                  <p:childTnLst>
                                    <p:set>
                                      <p:cBhvr>
                                        <p:cTn id="592" dur="1" fill="hold">
                                          <p:stCondLst>
                                            <p:cond delay="0"/>
                                          </p:stCondLst>
                                        </p:cTn>
                                        <p:tgtEl>
                                          <p:spTgt spid="175"/>
                                        </p:tgtEl>
                                        <p:attrNameLst>
                                          <p:attrName>style.visibility</p:attrName>
                                        </p:attrNameLst>
                                      </p:cBhvr>
                                      <p:to>
                                        <p:strVal val="visible"/>
                                      </p:to>
                                    </p:set>
                                    <p:animEffect transition="in" filter="fade">
                                      <p:cBhvr>
                                        <p:cTn id="593" dur="400"/>
                                        <p:tgtEl>
                                          <p:spTgt spid="175"/>
                                        </p:tgtEl>
                                      </p:cBhvr>
                                    </p:animEffect>
                                  </p:childTnLst>
                                </p:cTn>
                              </p:par>
                              <p:par>
                                <p:cTn id="594" presetID="10" presetClass="entr" presetSubtype="0" fill="hold" grpId="0" nodeType="withEffect">
                                  <p:stCondLst>
                                    <p:cond delay="200"/>
                                  </p:stCondLst>
                                  <p:childTnLst>
                                    <p:set>
                                      <p:cBhvr>
                                        <p:cTn id="595" dur="1" fill="hold">
                                          <p:stCondLst>
                                            <p:cond delay="0"/>
                                          </p:stCondLst>
                                        </p:cTn>
                                        <p:tgtEl>
                                          <p:spTgt spid="176"/>
                                        </p:tgtEl>
                                        <p:attrNameLst>
                                          <p:attrName>style.visibility</p:attrName>
                                        </p:attrNameLst>
                                      </p:cBhvr>
                                      <p:to>
                                        <p:strVal val="visible"/>
                                      </p:to>
                                    </p:set>
                                    <p:animEffect transition="in" filter="fade">
                                      <p:cBhvr>
                                        <p:cTn id="596" dur="400"/>
                                        <p:tgtEl>
                                          <p:spTgt spid="176"/>
                                        </p:tgtEl>
                                      </p:cBhvr>
                                    </p:animEffect>
                                  </p:childTnLst>
                                </p:cTn>
                              </p:par>
                              <p:par>
                                <p:cTn id="597" presetID="10" presetClass="entr" presetSubtype="0" fill="hold" grpId="0" nodeType="withEffect">
                                  <p:stCondLst>
                                    <p:cond delay="200"/>
                                  </p:stCondLst>
                                  <p:childTnLst>
                                    <p:set>
                                      <p:cBhvr>
                                        <p:cTn id="598" dur="1" fill="hold">
                                          <p:stCondLst>
                                            <p:cond delay="0"/>
                                          </p:stCondLst>
                                        </p:cTn>
                                        <p:tgtEl>
                                          <p:spTgt spid="177"/>
                                        </p:tgtEl>
                                        <p:attrNameLst>
                                          <p:attrName>style.visibility</p:attrName>
                                        </p:attrNameLst>
                                      </p:cBhvr>
                                      <p:to>
                                        <p:strVal val="visible"/>
                                      </p:to>
                                    </p:set>
                                    <p:animEffect transition="in" filter="fade">
                                      <p:cBhvr>
                                        <p:cTn id="599" dur="400"/>
                                        <p:tgtEl>
                                          <p:spTgt spid="177"/>
                                        </p:tgtEl>
                                      </p:cBhvr>
                                    </p:animEffect>
                                  </p:childTnLst>
                                </p:cTn>
                              </p:par>
                              <p:par>
                                <p:cTn id="600" presetID="10" presetClass="entr" presetSubtype="0" fill="hold" grpId="0" nodeType="withEffect">
                                  <p:stCondLst>
                                    <p:cond delay="200"/>
                                  </p:stCondLst>
                                  <p:childTnLst>
                                    <p:set>
                                      <p:cBhvr>
                                        <p:cTn id="601" dur="1" fill="hold">
                                          <p:stCondLst>
                                            <p:cond delay="0"/>
                                          </p:stCondLst>
                                        </p:cTn>
                                        <p:tgtEl>
                                          <p:spTgt spid="178"/>
                                        </p:tgtEl>
                                        <p:attrNameLst>
                                          <p:attrName>style.visibility</p:attrName>
                                        </p:attrNameLst>
                                      </p:cBhvr>
                                      <p:to>
                                        <p:strVal val="visible"/>
                                      </p:to>
                                    </p:set>
                                    <p:animEffect transition="in" filter="fade">
                                      <p:cBhvr>
                                        <p:cTn id="602" dur="400"/>
                                        <p:tgtEl>
                                          <p:spTgt spid="178"/>
                                        </p:tgtEl>
                                      </p:cBhvr>
                                    </p:animEffect>
                                  </p:childTnLst>
                                </p:cTn>
                              </p:par>
                              <p:par>
                                <p:cTn id="603" presetID="10" presetClass="entr" presetSubtype="0" fill="hold" grpId="0" nodeType="withEffect">
                                  <p:stCondLst>
                                    <p:cond delay="200"/>
                                  </p:stCondLst>
                                  <p:childTnLst>
                                    <p:set>
                                      <p:cBhvr>
                                        <p:cTn id="604" dur="1" fill="hold">
                                          <p:stCondLst>
                                            <p:cond delay="0"/>
                                          </p:stCondLst>
                                        </p:cTn>
                                        <p:tgtEl>
                                          <p:spTgt spid="248"/>
                                        </p:tgtEl>
                                        <p:attrNameLst>
                                          <p:attrName>style.visibility</p:attrName>
                                        </p:attrNameLst>
                                      </p:cBhvr>
                                      <p:to>
                                        <p:strVal val="visible"/>
                                      </p:to>
                                    </p:set>
                                    <p:animEffect transition="in" filter="fade">
                                      <p:cBhvr>
                                        <p:cTn id="605" dur="400"/>
                                        <p:tgtEl>
                                          <p:spTgt spid="248"/>
                                        </p:tgtEl>
                                      </p:cBhvr>
                                    </p:animEffect>
                                  </p:childTnLst>
                                </p:cTn>
                              </p:par>
                              <p:par>
                                <p:cTn id="606" presetID="10" presetClass="entr" presetSubtype="0" fill="hold" grpId="0" nodeType="withEffect">
                                  <p:stCondLst>
                                    <p:cond delay="200"/>
                                  </p:stCondLst>
                                  <p:childTnLst>
                                    <p:set>
                                      <p:cBhvr>
                                        <p:cTn id="607" dur="1" fill="hold">
                                          <p:stCondLst>
                                            <p:cond delay="0"/>
                                          </p:stCondLst>
                                        </p:cTn>
                                        <p:tgtEl>
                                          <p:spTgt spid="249"/>
                                        </p:tgtEl>
                                        <p:attrNameLst>
                                          <p:attrName>style.visibility</p:attrName>
                                        </p:attrNameLst>
                                      </p:cBhvr>
                                      <p:to>
                                        <p:strVal val="visible"/>
                                      </p:to>
                                    </p:set>
                                    <p:animEffect transition="in" filter="fade">
                                      <p:cBhvr>
                                        <p:cTn id="608" dur="400"/>
                                        <p:tgtEl>
                                          <p:spTgt spid="249"/>
                                        </p:tgtEl>
                                      </p:cBhvr>
                                    </p:animEffect>
                                  </p:childTnLst>
                                </p:cTn>
                              </p:par>
                              <p:par>
                                <p:cTn id="609" presetID="10" presetClass="entr" presetSubtype="0" fill="hold" grpId="0" nodeType="withEffect">
                                  <p:stCondLst>
                                    <p:cond delay="200"/>
                                  </p:stCondLst>
                                  <p:childTnLst>
                                    <p:set>
                                      <p:cBhvr>
                                        <p:cTn id="610" dur="1" fill="hold">
                                          <p:stCondLst>
                                            <p:cond delay="0"/>
                                          </p:stCondLst>
                                        </p:cTn>
                                        <p:tgtEl>
                                          <p:spTgt spid="250"/>
                                        </p:tgtEl>
                                        <p:attrNameLst>
                                          <p:attrName>style.visibility</p:attrName>
                                        </p:attrNameLst>
                                      </p:cBhvr>
                                      <p:to>
                                        <p:strVal val="visible"/>
                                      </p:to>
                                    </p:set>
                                    <p:animEffect transition="in" filter="fade">
                                      <p:cBhvr>
                                        <p:cTn id="611" dur="400"/>
                                        <p:tgtEl>
                                          <p:spTgt spid="250"/>
                                        </p:tgtEl>
                                      </p:cBhvr>
                                    </p:animEffect>
                                  </p:childTnLst>
                                </p:cTn>
                              </p:par>
                              <p:par>
                                <p:cTn id="612" presetID="10" presetClass="entr" presetSubtype="0" fill="hold" grpId="0" nodeType="withEffect">
                                  <p:stCondLst>
                                    <p:cond delay="200"/>
                                  </p:stCondLst>
                                  <p:childTnLst>
                                    <p:set>
                                      <p:cBhvr>
                                        <p:cTn id="613" dur="1" fill="hold">
                                          <p:stCondLst>
                                            <p:cond delay="0"/>
                                          </p:stCondLst>
                                        </p:cTn>
                                        <p:tgtEl>
                                          <p:spTgt spid="251"/>
                                        </p:tgtEl>
                                        <p:attrNameLst>
                                          <p:attrName>style.visibility</p:attrName>
                                        </p:attrNameLst>
                                      </p:cBhvr>
                                      <p:to>
                                        <p:strVal val="visible"/>
                                      </p:to>
                                    </p:set>
                                    <p:animEffect transition="in" filter="fade">
                                      <p:cBhvr>
                                        <p:cTn id="614" dur="400"/>
                                        <p:tgtEl>
                                          <p:spTgt spid="251"/>
                                        </p:tgtEl>
                                      </p:cBhvr>
                                    </p:animEffect>
                                  </p:childTnLst>
                                </p:cTn>
                              </p:par>
                              <p:par>
                                <p:cTn id="615" presetID="10" presetClass="entr" presetSubtype="0" fill="hold" grpId="0" nodeType="withEffect">
                                  <p:stCondLst>
                                    <p:cond delay="200"/>
                                  </p:stCondLst>
                                  <p:childTnLst>
                                    <p:set>
                                      <p:cBhvr>
                                        <p:cTn id="616" dur="1" fill="hold">
                                          <p:stCondLst>
                                            <p:cond delay="0"/>
                                          </p:stCondLst>
                                        </p:cTn>
                                        <p:tgtEl>
                                          <p:spTgt spid="252"/>
                                        </p:tgtEl>
                                        <p:attrNameLst>
                                          <p:attrName>style.visibility</p:attrName>
                                        </p:attrNameLst>
                                      </p:cBhvr>
                                      <p:to>
                                        <p:strVal val="visible"/>
                                      </p:to>
                                    </p:set>
                                    <p:animEffect transition="in" filter="fade">
                                      <p:cBhvr>
                                        <p:cTn id="617" dur="400"/>
                                        <p:tgtEl>
                                          <p:spTgt spid="252"/>
                                        </p:tgtEl>
                                      </p:cBhvr>
                                    </p:animEffect>
                                  </p:childTnLst>
                                </p:cTn>
                              </p:par>
                              <p:par>
                                <p:cTn id="618" presetID="10" presetClass="entr" presetSubtype="0" fill="hold" grpId="0" nodeType="withEffect">
                                  <p:stCondLst>
                                    <p:cond delay="200"/>
                                  </p:stCondLst>
                                  <p:childTnLst>
                                    <p:set>
                                      <p:cBhvr>
                                        <p:cTn id="619" dur="1" fill="hold">
                                          <p:stCondLst>
                                            <p:cond delay="0"/>
                                          </p:stCondLst>
                                        </p:cTn>
                                        <p:tgtEl>
                                          <p:spTgt spid="253"/>
                                        </p:tgtEl>
                                        <p:attrNameLst>
                                          <p:attrName>style.visibility</p:attrName>
                                        </p:attrNameLst>
                                      </p:cBhvr>
                                      <p:to>
                                        <p:strVal val="visible"/>
                                      </p:to>
                                    </p:set>
                                    <p:animEffect transition="in" filter="fade">
                                      <p:cBhvr>
                                        <p:cTn id="620" dur="400"/>
                                        <p:tgtEl>
                                          <p:spTgt spid="253"/>
                                        </p:tgtEl>
                                      </p:cBhvr>
                                    </p:animEffect>
                                  </p:childTnLst>
                                </p:cTn>
                              </p:par>
                              <p:par>
                                <p:cTn id="621" presetID="10" presetClass="entr" presetSubtype="0" fill="hold" grpId="0" nodeType="withEffect">
                                  <p:stCondLst>
                                    <p:cond delay="200"/>
                                  </p:stCondLst>
                                  <p:childTnLst>
                                    <p:set>
                                      <p:cBhvr>
                                        <p:cTn id="622" dur="1" fill="hold">
                                          <p:stCondLst>
                                            <p:cond delay="0"/>
                                          </p:stCondLst>
                                        </p:cTn>
                                        <p:tgtEl>
                                          <p:spTgt spid="254"/>
                                        </p:tgtEl>
                                        <p:attrNameLst>
                                          <p:attrName>style.visibility</p:attrName>
                                        </p:attrNameLst>
                                      </p:cBhvr>
                                      <p:to>
                                        <p:strVal val="visible"/>
                                      </p:to>
                                    </p:set>
                                    <p:animEffect transition="in" filter="fade">
                                      <p:cBhvr>
                                        <p:cTn id="623" dur="400"/>
                                        <p:tgtEl>
                                          <p:spTgt spid="254"/>
                                        </p:tgtEl>
                                      </p:cBhvr>
                                    </p:animEffect>
                                  </p:childTnLst>
                                </p:cTn>
                              </p:par>
                              <p:par>
                                <p:cTn id="624" presetID="10" presetClass="entr" presetSubtype="0" fill="hold" grpId="0" nodeType="withEffect">
                                  <p:stCondLst>
                                    <p:cond delay="200"/>
                                  </p:stCondLst>
                                  <p:childTnLst>
                                    <p:set>
                                      <p:cBhvr>
                                        <p:cTn id="625" dur="1" fill="hold">
                                          <p:stCondLst>
                                            <p:cond delay="0"/>
                                          </p:stCondLst>
                                        </p:cTn>
                                        <p:tgtEl>
                                          <p:spTgt spid="255"/>
                                        </p:tgtEl>
                                        <p:attrNameLst>
                                          <p:attrName>style.visibility</p:attrName>
                                        </p:attrNameLst>
                                      </p:cBhvr>
                                      <p:to>
                                        <p:strVal val="visible"/>
                                      </p:to>
                                    </p:set>
                                    <p:animEffect transition="in" filter="fade">
                                      <p:cBhvr>
                                        <p:cTn id="626" dur="400"/>
                                        <p:tgtEl>
                                          <p:spTgt spid="255"/>
                                        </p:tgtEl>
                                      </p:cBhvr>
                                    </p:animEffect>
                                  </p:childTnLst>
                                </p:cTn>
                              </p:par>
                              <p:par>
                                <p:cTn id="627" presetID="10" presetClass="entr" presetSubtype="0" fill="hold" grpId="0" nodeType="withEffect">
                                  <p:stCondLst>
                                    <p:cond delay="200"/>
                                  </p:stCondLst>
                                  <p:childTnLst>
                                    <p:set>
                                      <p:cBhvr>
                                        <p:cTn id="628" dur="1" fill="hold">
                                          <p:stCondLst>
                                            <p:cond delay="0"/>
                                          </p:stCondLst>
                                        </p:cTn>
                                        <p:tgtEl>
                                          <p:spTgt spid="256"/>
                                        </p:tgtEl>
                                        <p:attrNameLst>
                                          <p:attrName>style.visibility</p:attrName>
                                        </p:attrNameLst>
                                      </p:cBhvr>
                                      <p:to>
                                        <p:strVal val="visible"/>
                                      </p:to>
                                    </p:set>
                                    <p:animEffect transition="in" filter="fade">
                                      <p:cBhvr>
                                        <p:cTn id="629" dur="400"/>
                                        <p:tgtEl>
                                          <p:spTgt spid="256"/>
                                        </p:tgtEl>
                                      </p:cBhvr>
                                    </p:animEffect>
                                  </p:childTnLst>
                                </p:cTn>
                              </p:par>
                              <p:par>
                                <p:cTn id="630" presetID="10" presetClass="entr" presetSubtype="0" fill="hold" grpId="0" nodeType="withEffect">
                                  <p:stCondLst>
                                    <p:cond delay="200"/>
                                  </p:stCondLst>
                                  <p:childTnLst>
                                    <p:set>
                                      <p:cBhvr>
                                        <p:cTn id="631" dur="1" fill="hold">
                                          <p:stCondLst>
                                            <p:cond delay="0"/>
                                          </p:stCondLst>
                                        </p:cTn>
                                        <p:tgtEl>
                                          <p:spTgt spid="257"/>
                                        </p:tgtEl>
                                        <p:attrNameLst>
                                          <p:attrName>style.visibility</p:attrName>
                                        </p:attrNameLst>
                                      </p:cBhvr>
                                      <p:to>
                                        <p:strVal val="visible"/>
                                      </p:to>
                                    </p:set>
                                    <p:animEffect transition="in" filter="fade">
                                      <p:cBhvr>
                                        <p:cTn id="632" dur="400"/>
                                        <p:tgtEl>
                                          <p:spTgt spid="257"/>
                                        </p:tgtEl>
                                      </p:cBhvr>
                                    </p:animEffect>
                                  </p:childTnLst>
                                </p:cTn>
                              </p:par>
                              <p:par>
                                <p:cTn id="633" presetID="10" presetClass="entr" presetSubtype="0" fill="hold" grpId="0" nodeType="withEffect">
                                  <p:stCondLst>
                                    <p:cond delay="200"/>
                                  </p:stCondLst>
                                  <p:childTnLst>
                                    <p:set>
                                      <p:cBhvr>
                                        <p:cTn id="634" dur="1" fill="hold">
                                          <p:stCondLst>
                                            <p:cond delay="0"/>
                                          </p:stCondLst>
                                        </p:cTn>
                                        <p:tgtEl>
                                          <p:spTgt spid="258"/>
                                        </p:tgtEl>
                                        <p:attrNameLst>
                                          <p:attrName>style.visibility</p:attrName>
                                        </p:attrNameLst>
                                      </p:cBhvr>
                                      <p:to>
                                        <p:strVal val="visible"/>
                                      </p:to>
                                    </p:set>
                                    <p:animEffect transition="in" filter="fade">
                                      <p:cBhvr>
                                        <p:cTn id="635" dur="400"/>
                                        <p:tgtEl>
                                          <p:spTgt spid="258"/>
                                        </p:tgtEl>
                                      </p:cBhvr>
                                    </p:animEffect>
                                  </p:childTnLst>
                                </p:cTn>
                              </p:par>
                              <p:par>
                                <p:cTn id="636" presetID="10" presetClass="entr" presetSubtype="0" fill="hold" grpId="0" nodeType="withEffect">
                                  <p:stCondLst>
                                    <p:cond delay="200"/>
                                  </p:stCondLst>
                                  <p:childTnLst>
                                    <p:set>
                                      <p:cBhvr>
                                        <p:cTn id="637" dur="1" fill="hold">
                                          <p:stCondLst>
                                            <p:cond delay="0"/>
                                          </p:stCondLst>
                                        </p:cTn>
                                        <p:tgtEl>
                                          <p:spTgt spid="259"/>
                                        </p:tgtEl>
                                        <p:attrNameLst>
                                          <p:attrName>style.visibility</p:attrName>
                                        </p:attrNameLst>
                                      </p:cBhvr>
                                      <p:to>
                                        <p:strVal val="visible"/>
                                      </p:to>
                                    </p:set>
                                    <p:animEffect transition="in" filter="fade">
                                      <p:cBhvr>
                                        <p:cTn id="638" dur="400"/>
                                        <p:tgtEl>
                                          <p:spTgt spid="259"/>
                                        </p:tgtEl>
                                      </p:cBhvr>
                                    </p:animEffect>
                                  </p:childTnLst>
                                </p:cTn>
                              </p:par>
                              <p:par>
                                <p:cTn id="639" presetID="10" presetClass="entr" presetSubtype="0" fill="hold" grpId="0" nodeType="withEffect">
                                  <p:stCondLst>
                                    <p:cond delay="200"/>
                                  </p:stCondLst>
                                  <p:childTnLst>
                                    <p:set>
                                      <p:cBhvr>
                                        <p:cTn id="640" dur="1" fill="hold">
                                          <p:stCondLst>
                                            <p:cond delay="0"/>
                                          </p:stCondLst>
                                        </p:cTn>
                                        <p:tgtEl>
                                          <p:spTgt spid="271"/>
                                        </p:tgtEl>
                                        <p:attrNameLst>
                                          <p:attrName>style.visibility</p:attrName>
                                        </p:attrNameLst>
                                      </p:cBhvr>
                                      <p:to>
                                        <p:strVal val="visible"/>
                                      </p:to>
                                    </p:set>
                                    <p:animEffect transition="in" filter="fade">
                                      <p:cBhvr>
                                        <p:cTn id="641" dur="400"/>
                                        <p:tgtEl>
                                          <p:spTgt spid="271"/>
                                        </p:tgtEl>
                                      </p:cBhvr>
                                    </p:animEffect>
                                  </p:childTnLst>
                                </p:cTn>
                              </p:par>
                              <p:par>
                                <p:cTn id="642" presetID="10" presetClass="entr" presetSubtype="0" fill="hold" grpId="0" nodeType="withEffect">
                                  <p:stCondLst>
                                    <p:cond delay="200"/>
                                  </p:stCondLst>
                                  <p:childTnLst>
                                    <p:set>
                                      <p:cBhvr>
                                        <p:cTn id="643" dur="1" fill="hold">
                                          <p:stCondLst>
                                            <p:cond delay="0"/>
                                          </p:stCondLst>
                                        </p:cTn>
                                        <p:tgtEl>
                                          <p:spTgt spid="272"/>
                                        </p:tgtEl>
                                        <p:attrNameLst>
                                          <p:attrName>style.visibility</p:attrName>
                                        </p:attrNameLst>
                                      </p:cBhvr>
                                      <p:to>
                                        <p:strVal val="visible"/>
                                      </p:to>
                                    </p:set>
                                    <p:animEffect transition="in" filter="fade">
                                      <p:cBhvr>
                                        <p:cTn id="644" dur="400"/>
                                        <p:tgtEl>
                                          <p:spTgt spid="272"/>
                                        </p:tgtEl>
                                      </p:cBhvr>
                                    </p:animEffect>
                                  </p:childTnLst>
                                </p:cTn>
                              </p:par>
                            </p:childTnLst>
                          </p:cTn>
                        </p:par>
                      </p:childTnLst>
                    </p:cTn>
                  </p:par>
                  <p:par>
                    <p:cTn id="911" fill="hold">
                      <p:stCondLst>
                        <p:cond delay="indefinite"/>
                      </p:stCondLst>
                      <p:childTnLst>
                        <p:par>
                          <p:cTn id="912" fill="hold">
                            <p:stCondLst>
                              <p:cond delay="0"/>
                            </p:stCondLst>
                            <p:childTnLst>
                              <p:par>
                                <p:cTn id="645" presetID="10" presetClass="exit" presetSubtype="0" fill="hold" grpId="1" nodeType="clickEffect">
                                  <p:stCondLst>
                                    <p:cond delay="0"/>
                                  </p:stCondLst>
                                  <p:childTnLst>
                                    <p:animEffect transition="out" filter="fade">
                                      <p:cBhvr>
                                        <p:cTn id="646" dur="200"/>
                                        <p:tgtEl>
                                          <p:spTgt spid="18"/>
                                        </p:tgtEl>
                                      </p:cBhvr>
                                    </p:animEffect>
                                    <p:set>
                                      <p:cBhvr>
                                        <p:cTn id="647" dur="1" fill="hold">
                                          <p:stCondLst>
                                            <p:cond delay="199"/>
                                          </p:stCondLst>
                                        </p:cTn>
                                        <p:tgtEl>
                                          <p:spTgt spid="18"/>
                                        </p:tgtEl>
                                        <p:attrNameLst>
                                          <p:attrName>style.visibility</p:attrName>
                                        </p:attrNameLst>
                                      </p:cBhvr>
                                      <p:to>
                                        <p:strVal val="hidden"/>
                                      </p:to>
                                    </p:set>
                                  </p:childTnLst>
                                </p:cTn>
                              </p:par>
                              <p:par>
                                <p:cTn id="648" presetID="10" presetClass="exit" presetSubtype="0" fill="hold" grpId="1" nodeType="withEffect">
                                  <p:stCondLst>
                                    <p:cond delay="0"/>
                                  </p:stCondLst>
                                  <p:childTnLst>
                                    <p:animEffect transition="out" filter="fade">
                                      <p:cBhvr>
                                        <p:cTn id="649" dur="200"/>
                                        <p:tgtEl>
                                          <p:spTgt spid="19"/>
                                        </p:tgtEl>
                                      </p:cBhvr>
                                    </p:animEffect>
                                    <p:set>
                                      <p:cBhvr>
                                        <p:cTn id="650" dur="1" fill="hold">
                                          <p:stCondLst>
                                            <p:cond delay="199"/>
                                          </p:stCondLst>
                                        </p:cTn>
                                        <p:tgtEl>
                                          <p:spTgt spid="19"/>
                                        </p:tgtEl>
                                        <p:attrNameLst>
                                          <p:attrName>style.visibility</p:attrName>
                                        </p:attrNameLst>
                                      </p:cBhvr>
                                      <p:to>
                                        <p:strVal val="hidden"/>
                                      </p:to>
                                    </p:set>
                                  </p:childTnLst>
                                </p:cTn>
                              </p:par>
                              <p:par>
                                <p:cTn id="651" presetID="10" presetClass="exit" presetSubtype="0" fill="hold" grpId="1" nodeType="withEffect">
                                  <p:stCondLst>
                                    <p:cond delay="0"/>
                                  </p:stCondLst>
                                  <p:childTnLst>
                                    <p:animEffect transition="out" filter="fade">
                                      <p:cBhvr>
                                        <p:cTn id="652" dur="200"/>
                                        <p:tgtEl>
                                          <p:spTgt spid="34"/>
                                        </p:tgtEl>
                                      </p:cBhvr>
                                    </p:animEffect>
                                    <p:set>
                                      <p:cBhvr>
                                        <p:cTn id="653" dur="1" fill="hold">
                                          <p:stCondLst>
                                            <p:cond delay="199"/>
                                          </p:stCondLst>
                                        </p:cTn>
                                        <p:tgtEl>
                                          <p:spTgt spid="34"/>
                                        </p:tgtEl>
                                        <p:attrNameLst>
                                          <p:attrName>style.visibility</p:attrName>
                                        </p:attrNameLst>
                                      </p:cBhvr>
                                      <p:to>
                                        <p:strVal val="hidden"/>
                                      </p:to>
                                    </p:set>
                                  </p:childTnLst>
                                </p:cTn>
                              </p:par>
                              <p:par>
                                <p:cTn id="654" presetID="10" presetClass="exit" presetSubtype="0" fill="hold" grpId="1" nodeType="withEffect">
                                  <p:stCondLst>
                                    <p:cond delay="0"/>
                                  </p:stCondLst>
                                  <p:childTnLst>
                                    <p:animEffect transition="out" filter="fade">
                                      <p:cBhvr>
                                        <p:cTn id="655" dur="200"/>
                                        <p:tgtEl>
                                          <p:spTgt spid="35"/>
                                        </p:tgtEl>
                                      </p:cBhvr>
                                    </p:animEffect>
                                    <p:set>
                                      <p:cBhvr>
                                        <p:cTn id="656" dur="1" fill="hold">
                                          <p:stCondLst>
                                            <p:cond delay="199"/>
                                          </p:stCondLst>
                                        </p:cTn>
                                        <p:tgtEl>
                                          <p:spTgt spid="35"/>
                                        </p:tgtEl>
                                        <p:attrNameLst>
                                          <p:attrName>style.visibility</p:attrName>
                                        </p:attrNameLst>
                                      </p:cBhvr>
                                      <p:to>
                                        <p:strVal val="hidden"/>
                                      </p:to>
                                    </p:set>
                                  </p:childTnLst>
                                </p:cTn>
                              </p:par>
                              <p:par>
                                <p:cTn id="657" presetID="10" presetClass="exit" presetSubtype="0" fill="hold" grpId="1" nodeType="withEffect">
                                  <p:stCondLst>
                                    <p:cond delay="0"/>
                                  </p:stCondLst>
                                  <p:childTnLst>
                                    <p:animEffect transition="out" filter="fade">
                                      <p:cBhvr>
                                        <p:cTn id="658" dur="200"/>
                                        <p:tgtEl>
                                          <p:spTgt spid="36"/>
                                        </p:tgtEl>
                                      </p:cBhvr>
                                    </p:animEffect>
                                    <p:set>
                                      <p:cBhvr>
                                        <p:cTn id="659" dur="1" fill="hold">
                                          <p:stCondLst>
                                            <p:cond delay="199"/>
                                          </p:stCondLst>
                                        </p:cTn>
                                        <p:tgtEl>
                                          <p:spTgt spid="36"/>
                                        </p:tgtEl>
                                        <p:attrNameLst>
                                          <p:attrName>style.visibility</p:attrName>
                                        </p:attrNameLst>
                                      </p:cBhvr>
                                      <p:to>
                                        <p:strVal val="hidden"/>
                                      </p:to>
                                    </p:set>
                                  </p:childTnLst>
                                </p:cTn>
                              </p:par>
                              <p:par>
                                <p:cTn id="660" presetID="10" presetClass="exit" presetSubtype="0" fill="hold" grpId="1" nodeType="withEffect">
                                  <p:stCondLst>
                                    <p:cond delay="0"/>
                                  </p:stCondLst>
                                  <p:childTnLst>
                                    <p:animEffect transition="out" filter="fade">
                                      <p:cBhvr>
                                        <p:cTn id="661" dur="200"/>
                                        <p:tgtEl>
                                          <p:spTgt spid="37"/>
                                        </p:tgtEl>
                                      </p:cBhvr>
                                    </p:animEffect>
                                    <p:set>
                                      <p:cBhvr>
                                        <p:cTn id="662" dur="1" fill="hold">
                                          <p:stCondLst>
                                            <p:cond delay="199"/>
                                          </p:stCondLst>
                                        </p:cTn>
                                        <p:tgtEl>
                                          <p:spTgt spid="37"/>
                                        </p:tgtEl>
                                        <p:attrNameLst>
                                          <p:attrName>style.visibility</p:attrName>
                                        </p:attrNameLst>
                                      </p:cBhvr>
                                      <p:to>
                                        <p:strVal val="hidden"/>
                                      </p:to>
                                    </p:set>
                                  </p:childTnLst>
                                </p:cTn>
                              </p:par>
                              <p:par>
                                <p:cTn id="663" presetID="10" presetClass="exit" presetSubtype="0" fill="hold" grpId="1" nodeType="withEffect">
                                  <p:stCondLst>
                                    <p:cond delay="0"/>
                                  </p:stCondLst>
                                  <p:childTnLst>
                                    <p:animEffect transition="out" filter="fade">
                                      <p:cBhvr>
                                        <p:cTn id="664" dur="200"/>
                                        <p:tgtEl>
                                          <p:spTgt spid="117"/>
                                        </p:tgtEl>
                                      </p:cBhvr>
                                    </p:animEffect>
                                    <p:set>
                                      <p:cBhvr>
                                        <p:cTn id="665" dur="1" fill="hold">
                                          <p:stCondLst>
                                            <p:cond delay="199"/>
                                          </p:stCondLst>
                                        </p:cTn>
                                        <p:tgtEl>
                                          <p:spTgt spid="117"/>
                                        </p:tgtEl>
                                        <p:attrNameLst>
                                          <p:attrName>style.visibility</p:attrName>
                                        </p:attrNameLst>
                                      </p:cBhvr>
                                      <p:to>
                                        <p:strVal val="hidden"/>
                                      </p:to>
                                    </p:set>
                                  </p:childTnLst>
                                </p:cTn>
                              </p:par>
                              <p:par>
                                <p:cTn id="666" presetID="10" presetClass="exit" presetSubtype="0" fill="hold" grpId="1" nodeType="withEffect">
                                  <p:stCondLst>
                                    <p:cond delay="0"/>
                                  </p:stCondLst>
                                  <p:childTnLst>
                                    <p:animEffect transition="out" filter="fade">
                                      <p:cBhvr>
                                        <p:cTn id="667" dur="200"/>
                                        <p:tgtEl>
                                          <p:spTgt spid="118"/>
                                        </p:tgtEl>
                                      </p:cBhvr>
                                    </p:animEffect>
                                    <p:set>
                                      <p:cBhvr>
                                        <p:cTn id="668" dur="1" fill="hold">
                                          <p:stCondLst>
                                            <p:cond delay="199"/>
                                          </p:stCondLst>
                                        </p:cTn>
                                        <p:tgtEl>
                                          <p:spTgt spid="118"/>
                                        </p:tgtEl>
                                        <p:attrNameLst>
                                          <p:attrName>style.visibility</p:attrName>
                                        </p:attrNameLst>
                                      </p:cBhvr>
                                      <p:to>
                                        <p:strVal val="hidden"/>
                                      </p:to>
                                    </p:set>
                                  </p:childTnLst>
                                </p:cTn>
                              </p:par>
                              <p:par>
                                <p:cTn id="669" presetID="10" presetClass="exit" presetSubtype="0" fill="hold" grpId="1" nodeType="withEffect">
                                  <p:stCondLst>
                                    <p:cond delay="0"/>
                                  </p:stCondLst>
                                  <p:childTnLst>
                                    <p:animEffect transition="out" filter="fade">
                                      <p:cBhvr>
                                        <p:cTn id="670" dur="200"/>
                                        <p:tgtEl>
                                          <p:spTgt spid="119"/>
                                        </p:tgtEl>
                                      </p:cBhvr>
                                    </p:animEffect>
                                    <p:set>
                                      <p:cBhvr>
                                        <p:cTn id="671" dur="1" fill="hold">
                                          <p:stCondLst>
                                            <p:cond delay="199"/>
                                          </p:stCondLst>
                                        </p:cTn>
                                        <p:tgtEl>
                                          <p:spTgt spid="119"/>
                                        </p:tgtEl>
                                        <p:attrNameLst>
                                          <p:attrName>style.visibility</p:attrName>
                                        </p:attrNameLst>
                                      </p:cBhvr>
                                      <p:to>
                                        <p:strVal val="hidden"/>
                                      </p:to>
                                    </p:set>
                                  </p:childTnLst>
                                </p:cTn>
                              </p:par>
                              <p:par>
                                <p:cTn id="672" presetID="10" presetClass="exit" presetSubtype="0" fill="hold" grpId="1" nodeType="withEffect">
                                  <p:stCondLst>
                                    <p:cond delay="0"/>
                                  </p:stCondLst>
                                  <p:childTnLst>
                                    <p:animEffect transition="out" filter="fade">
                                      <p:cBhvr>
                                        <p:cTn id="673" dur="200"/>
                                        <p:tgtEl>
                                          <p:spTgt spid="120"/>
                                        </p:tgtEl>
                                      </p:cBhvr>
                                    </p:animEffect>
                                    <p:set>
                                      <p:cBhvr>
                                        <p:cTn id="674" dur="1" fill="hold">
                                          <p:stCondLst>
                                            <p:cond delay="199"/>
                                          </p:stCondLst>
                                        </p:cTn>
                                        <p:tgtEl>
                                          <p:spTgt spid="120"/>
                                        </p:tgtEl>
                                        <p:attrNameLst>
                                          <p:attrName>style.visibility</p:attrName>
                                        </p:attrNameLst>
                                      </p:cBhvr>
                                      <p:to>
                                        <p:strVal val="hidden"/>
                                      </p:to>
                                    </p:set>
                                  </p:childTnLst>
                                </p:cTn>
                              </p:par>
                              <p:par>
                                <p:cTn id="675" presetID="10" presetClass="exit" presetSubtype="0" fill="hold" grpId="1" nodeType="withEffect">
                                  <p:stCondLst>
                                    <p:cond delay="0"/>
                                  </p:stCondLst>
                                  <p:childTnLst>
                                    <p:animEffect transition="out" filter="fade">
                                      <p:cBhvr>
                                        <p:cTn id="676" dur="200"/>
                                        <p:tgtEl>
                                          <p:spTgt spid="121"/>
                                        </p:tgtEl>
                                      </p:cBhvr>
                                    </p:animEffect>
                                    <p:set>
                                      <p:cBhvr>
                                        <p:cTn id="677" dur="1" fill="hold">
                                          <p:stCondLst>
                                            <p:cond delay="199"/>
                                          </p:stCondLst>
                                        </p:cTn>
                                        <p:tgtEl>
                                          <p:spTgt spid="121"/>
                                        </p:tgtEl>
                                        <p:attrNameLst>
                                          <p:attrName>style.visibility</p:attrName>
                                        </p:attrNameLst>
                                      </p:cBhvr>
                                      <p:to>
                                        <p:strVal val="hidden"/>
                                      </p:to>
                                    </p:set>
                                  </p:childTnLst>
                                </p:cTn>
                              </p:par>
                              <p:par>
                                <p:cTn id="678" presetID="10" presetClass="exit" presetSubtype="0" fill="hold" grpId="1" nodeType="withEffect">
                                  <p:stCondLst>
                                    <p:cond delay="0"/>
                                  </p:stCondLst>
                                  <p:childTnLst>
                                    <p:animEffect transition="out" filter="fade">
                                      <p:cBhvr>
                                        <p:cTn id="679" dur="200"/>
                                        <p:tgtEl>
                                          <p:spTgt spid="122"/>
                                        </p:tgtEl>
                                      </p:cBhvr>
                                    </p:animEffect>
                                    <p:set>
                                      <p:cBhvr>
                                        <p:cTn id="680" dur="1" fill="hold">
                                          <p:stCondLst>
                                            <p:cond delay="199"/>
                                          </p:stCondLst>
                                        </p:cTn>
                                        <p:tgtEl>
                                          <p:spTgt spid="122"/>
                                        </p:tgtEl>
                                        <p:attrNameLst>
                                          <p:attrName>style.visibility</p:attrName>
                                        </p:attrNameLst>
                                      </p:cBhvr>
                                      <p:to>
                                        <p:strVal val="hidden"/>
                                      </p:to>
                                    </p:set>
                                  </p:childTnLst>
                                </p:cTn>
                              </p:par>
                              <p:par>
                                <p:cTn id="681" presetID="10" presetClass="exit" presetSubtype="0" fill="hold" grpId="1" nodeType="withEffect">
                                  <p:stCondLst>
                                    <p:cond delay="0"/>
                                  </p:stCondLst>
                                  <p:childTnLst>
                                    <p:animEffect transition="out" filter="fade">
                                      <p:cBhvr>
                                        <p:cTn id="682" dur="200"/>
                                        <p:tgtEl>
                                          <p:spTgt spid="123"/>
                                        </p:tgtEl>
                                      </p:cBhvr>
                                    </p:animEffect>
                                    <p:set>
                                      <p:cBhvr>
                                        <p:cTn id="683" dur="1" fill="hold">
                                          <p:stCondLst>
                                            <p:cond delay="199"/>
                                          </p:stCondLst>
                                        </p:cTn>
                                        <p:tgtEl>
                                          <p:spTgt spid="123"/>
                                        </p:tgtEl>
                                        <p:attrNameLst>
                                          <p:attrName>style.visibility</p:attrName>
                                        </p:attrNameLst>
                                      </p:cBhvr>
                                      <p:to>
                                        <p:strVal val="hidden"/>
                                      </p:to>
                                    </p:set>
                                  </p:childTnLst>
                                </p:cTn>
                              </p:par>
                              <p:par>
                                <p:cTn id="684" presetID="10" presetClass="exit" presetSubtype="0" fill="hold" grpId="1" nodeType="withEffect">
                                  <p:stCondLst>
                                    <p:cond delay="0"/>
                                  </p:stCondLst>
                                  <p:childTnLst>
                                    <p:animEffect transition="out" filter="fade">
                                      <p:cBhvr>
                                        <p:cTn id="685" dur="200"/>
                                        <p:tgtEl>
                                          <p:spTgt spid="124"/>
                                        </p:tgtEl>
                                      </p:cBhvr>
                                    </p:animEffect>
                                    <p:set>
                                      <p:cBhvr>
                                        <p:cTn id="686" dur="1" fill="hold">
                                          <p:stCondLst>
                                            <p:cond delay="199"/>
                                          </p:stCondLst>
                                        </p:cTn>
                                        <p:tgtEl>
                                          <p:spTgt spid="124"/>
                                        </p:tgtEl>
                                        <p:attrNameLst>
                                          <p:attrName>style.visibility</p:attrName>
                                        </p:attrNameLst>
                                      </p:cBhvr>
                                      <p:to>
                                        <p:strVal val="hidden"/>
                                      </p:to>
                                    </p:set>
                                  </p:childTnLst>
                                </p:cTn>
                              </p:par>
                              <p:par>
                                <p:cTn id="687" presetID="10" presetClass="exit" presetSubtype="0" fill="hold" grpId="1" nodeType="withEffect">
                                  <p:stCondLst>
                                    <p:cond delay="0"/>
                                  </p:stCondLst>
                                  <p:childTnLst>
                                    <p:animEffect transition="out" filter="fade">
                                      <p:cBhvr>
                                        <p:cTn id="688" dur="200"/>
                                        <p:tgtEl>
                                          <p:spTgt spid="125"/>
                                        </p:tgtEl>
                                      </p:cBhvr>
                                    </p:animEffect>
                                    <p:set>
                                      <p:cBhvr>
                                        <p:cTn id="689" dur="1" fill="hold">
                                          <p:stCondLst>
                                            <p:cond delay="199"/>
                                          </p:stCondLst>
                                        </p:cTn>
                                        <p:tgtEl>
                                          <p:spTgt spid="125"/>
                                        </p:tgtEl>
                                        <p:attrNameLst>
                                          <p:attrName>style.visibility</p:attrName>
                                        </p:attrNameLst>
                                      </p:cBhvr>
                                      <p:to>
                                        <p:strVal val="hidden"/>
                                      </p:to>
                                    </p:set>
                                  </p:childTnLst>
                                </p:cTn>
                              </p:par>
                              <p:par>
                                <p:cTn id="690" presetID="10" presetClass="exit" presetSubtype="0" fill="hold" grpId="1" nodeType="withEffect">
                                  <p:stCondLst>
                                    <p:cond delay="0"/>
                                  </p:stCondLst>
                                  <p:childTnLst>
                                    <p:animEffect transition="out" filter="fade">
                                      <p:cBhvr>
                                        <p:cTn id="691" dur="200"/>
                                        <p:tgtEl>
                                          <p:spTgt spid="126"/>
                                        </p:tgtEl>
                                      </p:cBhvr>
                                    </p:animEffect>
                                    <p:set>
                                      <p:cBhvr>
                                        <p:cTn id="692" dur="1" fill="hold">
                                          <p:stCondLst>
                                            <p:cond delay="199"/>
                                          </p:stCondLst>
                                        </p:cTn>
                                        <p:tgtEl>
                                          <p:spTgt spid="126"/>
                                        </p:tgtEl>
                                        <p:attrNameLst>
                                          <p:attrName>style.visibility</p:attrName>
                                        </p:attrNameLst>
                                      </p:cBhvr>
                                      <p:to>
                                        <p:strVal val="hidden"/>
                                      </p:to>
                                    </p:set>
                                  </p:childTnLst>
                                </p:cTn>
                              </p:par>
                              <p:par>
                                <p:cTn id="693" presetID="10" presetClass="exit" presetSubtype="0" fill="hold" grpId="1" nodeType="withEffect">
                                  <p:stCondLst>
                                    <p:cond delay="0"/>
                                  </p:stCondLst>
                                  <p:childTnLst>
                                    <p:animEffect transition="out" filter="fade">
                                      <p:cBhvr>
                                        <p:cTn id="694" dur="200"/>
                                        <p:tgtEl>
                                          <p:spTgt spid="127"/>
                                        </p:tgtEl>
                                      </p:cBhvr>
                                    </p:animEffect>
                                    <p:set>
                                      <p:cBhvr>
                                        <p:cTn id="695" dur="1" fill="hold">
                                          <p:stCondLst>
                                            <p:cond delay="199"/>
                                          </p:stCondLst>
                                        </p:cTn>
                                        <p:tgtEl>
                                          <p:spTgt spid="127"/>
                                        </p:tgtEl>
                                        <p:attrNameLst>
                                          <p:attrName>style.visibility</p:attrName>
                                        </p:attrNameLst>
                                      </p:cBhvr>
                                      <p:to>
                                        <p:strVal val="hidden"/>
                                      </p:to>
                                    </p:set>
                                  </p:childTnLst>
                                </p:cTn>
                              </p:par>
                              <p:par>
                                <p:cTn id="696" presetID="10" presetClass="exit" presetSubtype="0" fill="hold" grpId="1" nodeType="withEffect">
                                  <p:stCondLst>
                                    <p:cond delay="0"/>
                                  </p:stCondLst>
                                  <p:childTnLst>
                                    <p:animEffect transition="out" filter="fade">
                                      <p:cBhvr>
                                        <p:cTn id="697" dur="200"/>
                                        <p:tgtEl>
                                          <p:spTgt spid="128"/>
                                        </p:tgtEl>
                                      </p:cBhvr>
                                    </p:animEffect>
                                    <p:set>
                                      <p:cBhvr>
                                        <p:cTn id="698" dur="1" fill="hold">
                                          <p:stCondLst>
                                            <p:cond delay="199"/>
                                          </p:stCondLst>
                                        </p:cTn>
                                        <p:tgtEl>
                                          <p:spTgt spid="128"/>
                                        </p:tgtEl>
                                        <p:attrNameLst>
                                          <p:attrName>style.visibility</p:attrName>
                                        </p:attrNameLst>
                                      </p:cBhvr>
                                      <p:to>
                                        <p:strVal val="hidden"/>
                                      </p:to>
                                    </p:set>
                                  </p:childTnLst>
                                </p:cTn>
                              </p:par>
                              <p:par>
                                <p:cTn id="699" presetID="10" presetClass="exit" presetSubtype="0" fill="hold" grpId="1" nodeType="withEffect">
                                  <p:stCondLst>
                                    <p:cond delay="0"/>
                                  </p:stCondLst>
                                  <p:childTnLst>
                                    <p:animEffect transition="out" filter="fade">
                                      <p:cBhvr>
                                        <p:cTn id="700" dur="200"/>
                                        <p:tgtEl>
                                          <p:spTgt spid="161"/>
                                        </p:tgtEl>
                                      </p:cBhvr>
                                    </p:animEffect>
                                    <p:set>
                                      <p:cBhvr>
                                        <p:cTn id="701" dur="1" fill="hold">
                                          <p:stCondLst>
                                            <p:cond delay="199"/>
                                          </p:stCondLst>
                                        </p:cTn>
                                        <p:tgtEl>
                                          <p:spTgt spid="161"/>
                                        </p:tgtEl>
                                        <p:attrNameLst>
                                          <p:attrName>style.visibility</p:attrName>
                                        </p:attrNameLst>
                                      </p:cBhvr>
                                      <p:to>
                                        <p:strVal val="hidden"/>
                                      </p:to>
                                    </p:set>
                                  </p:childTnLst>
                                </p:cTn>
                              </p:par>
                              <p:par>
                                <p:cTn id="702" presetID="10" presetClass="exit" presetSubtype="0" fill="hold" grpId="1" nodeType="withEffect">
                                  <p:stCondLst>
                                    <p:cond delay="0"/>
                                  </p:stCondLst>
                                  <p:childTnLst>
                                    <p:animEffect transition="out" filter="fade">
                                      <p:cBhvr>
                                        <p:cTn id="703" dur="200"/>
                                        <p:tgtEl>
                                          <p:spTgt spid="162"/>
                                        </p:tgtEl>
                                      </p:cBhvr>
                                    </p:animEffect>
                                    <p:set>
                                      <p:cBhvr>
                                        <p:cTn id="704" dur="1" fill="hold">
                                          <p:stCondLst>
                                            <p:cond delay="199"/>
                                          </p:stCondLst>
                                        </p:cTn>
                                        <p:tgtEl>
                                          <p:spTgt spid="162"/>
                                        </p:tgtEl>
                                        <p:attrNameLst>
                                          <p:attrName>style.visibility</p:attrName>
                                        </p:attrNameLst>
                                      </p:cBhvr>
                                      <p:to>
                                        <p:strVal val="hidden"/>
                                      </p:to>
                                    </p:set>
                                  </p:childTnLst>
                                </p:cTn>
                              </p:par>
                              <p:par>
                                <p:cTn id="705" presetID="10" presetClass="exit" presetSubtype="0" fill="hold" grpId="1" nodeType="withEffect">
                                  <p:stCondLst>
                                    <p:cond delay="0"/>
                                  </p:stCondLst>
                                  <p:childTnLst>
                                    <p:animEffect transition="out" filter="fade">
                                      <p:cBhvr>
                                        <p:cTn id="706" dur="200"/>
                                        <p:tgtEl>
                                          <p:spTgt spid="163"/>
                                        </p:tgtEl>
                                      </p:cBhvr>
                                    </p:animEffect>
                                    <p:set>
                                      <p:cBhvr>
                                        <p:cTn id="707" dur="1" fill="hold">
                                          <p:stCondLst>
                                            <p:cond delay="199"/>
                                          </p:stCondLst>
                                        </p:cTn>
                                        <p:tgtEl>
                                          <p:spTgt spid="163"/>
                                        </p:tgtEl>
                                        <p:attrNameLst>
                                          <p:attrName>style.visibility</p:attrName>
                                        </p:attrNameLst>
                                      </p:cBhvr>
                                      <p:to>
                                        <p:strVal val="hidden"/>
                                      </p:to>
                                    </p:set>
                                  </p:childTnLst>
                                </p:cTn>
                              </p:par>
                              <p:par>
                                <p:cTn id="708" presetID="10" presetClass="exit" presetSubtype="0" fill="hold" grpId="1" nodeType="withEffect">
                                  <p:stCondLst>
                                    <p:cond delay="0"/>
                                  </p:stCondLst>
                                  <p:childTnLst>
                                    <p:animEffect transition="out" filter="fade">
                                      <p:cBhvr>
                                        <p:cTn id="709" dur="200"/>
                                        <p:tgtEl>
                                          <p:spTgt spid="164"/>
                                        </p:tgtEl>
                                      </p:cBhvr>
                                    </p:animEffect>
                                    <p:set>
                                      <p:cBhvr>
                                        <p:cTn id="710" dur="1" fill="hold">
                                          <p:stCondLst>
                                            <p:cond delay="199"/>
                                          </p:stCondLst>
                                        </p:cTn>
                                        <p:tgtEl>
                                          <p:spTgt spid="164"/>
                                        </p:tgtEl>
                                        <p:attrNameLst>
                                          <p:attrName>style.visibility</p:attrName>
                                        </p:attrNameLst>
                                      </p:cBhvr>
                                      <p:to>
                                        <p:strVal val="hidden"/>
                                      </p:to>
                                    </p:set>
                                  </p:childTnLst>
                                </p:cTn>
                              </p:par>
                              <p:par>
                                <p:cTn id="711" presetID="10" presetClass="exit" presetSubtype="0" fill="hold" grpId="1" nodeType="withEffect">
                                  <p:stCondLst>
                                    <p:cond delay="0"/>
                                  </p:stCondLst>
                                  <p:childTnLst>
                                    <p:animEffect transition="out" filter="fade">
                                      <p:cBhvr>
                                        <p:cTn id="712" dur="200"/>
                                        <p:tgtEl>
                                          <p:spTgt spid="165"/>
                                        </p:tgtEl>
                                      </p:cBhvr>
                                    </p:animEffect>
                                    <p:set>
                                      <p:cBhvr>
                                        <p:cTn id="713" dur="1" fill="hold">
                                          <p:stCondLst>
                                            <p:cond delay="199"/>
                                          </p:stCondLst>
                                        </p:cTn>
                                        <p:tgtEl>
                                          <p:spTgt spid="165"/>
                                        </p:tgtEl>
                                        <p:attrNameLst>
                                          <p:attrName>style.visibility</p:attrName>
                                        </p:attrNameLst>
                                      </p:cBhvr>
                                      <p:to>
                                        <p:strVal val="hidden"/>
                                      </p:to>
                                    </p:set>
                                  </p:childTnLst>
                                </p:cTn>
                              </p:par>
                              <p:par>
                                <p:cTn id="714" presetID="10" presetClass="exit" presetSubtype="0" fill="hold" grpId="1" nodeType="withEffect">
                                  <p:stCondLst>
                                    <p:cond delay="0"/>
                                  </p:stCondLst>
                                  <p:childTnLst>
                                    <p:animEffect transition="out" filter="fade">
                                      <p:cBhvr>
                                        <p:cTn id="715" dur="200"/>
                                        <p:tgtEl>
                                          <p:spTgt spid="166"/>
                                        </p:tgtEl>
                                      </p:cBhvr>
                                    </p:animEffect>
                                    <p:set>
                                      <p:cBhvr>
                                        <p:cTn id="716" dur="1" fill="hold">
                                          <p:stCondLst>
                                            <p:cond delay="199"/>
                                          </p:stCondLst>
                                        </p:cTn>
                                        <p:tgtEl>
                                          <p:spTgt spid="166"/>
                                        </p:tgtEl>
                                        <p:attrNameLst>
                                          <p:attrName>style.visibility</p:attrName>
                                        </p:attrNameLst>
                                      </p:cBhvr>
                                      <p:to>
                                        <p:strVal val="hidden"/>
                                      </p:to>
                                    </p:set>
                                  </p:childTnLst>
                                </p:cTn>
                              </p:par>
                              <p:par>
                                <p:cTn id="717" presetID="10" presetClass="exit" presetSubtype="0" fill="hold" grpId="1" nodeType="withEffect">
                                  <p:stCondLst>
                                    <p:cond delay="0"/>
                                  </p:stCondLst>
                                  <p:childTnLst>
                                    <p:animEffect transition="out" filter="fade">
                                      <p:cBhvr>
                                        <p:cTn id="718" dur="200"/>
                                        <p:tgtEl>
                                          <p:spTgt spid="167"/>
                                        </p:tgtEl>
                                      </p:cBhvr>
                                    </p:animEffect>
                                    <p:set>
                                      <p:cBhvr>
                                        <p:cTn id="719" dur="1" fill="hold">
                                          <p:stCondLst>
                                            <p:cond delay="199"/>
                                          </p:stCondLst>
                                        </p:cTn>
                                        <p:tgtEl>
                                          <p:spTgt spid="167"/>
                                        </p:tgtEl>
                                        <p:attrNameLst>
                                          <p:attrName>style.visibility</p:attrName>
                                        </p:attrNameLst>
                                      </p:cBhvr>
                                      <p:to>
                                        <p:strVal val="hidden"/>
                                      </p:to>
                                    </p:set>
                                  </p:childTnLst>
                                </p:cTn>
                              </p:par>
                              <p:par>
                                <p:cTn id="720" presetID="10" presetClass="exit" presetSubtype="0" fill="hold" grpId="1" nodeType="withEffect">
                                  <p:stCondLst>
                                    <p:cond delay="0"/>
                                  </p:stCondLst>
                                  <p:childTnLst>
                                    <p:animEffect transition="out" filter="fade">
                                      <p:cBhvr>
                                        <p:cTn id="721" dur="200"/>
                                        <p:tgtEl>
                                          <p:spTgt spid="168"/>
                                        </p:tgtEl>
                                      </p:cBhvr>
                                    </p:animEffect>
                                    <p:set>
                                      <p:cBhvr>
                                        <p:cTn id="722" dur="1" fill="hold">
                                          <p:stCondLst>
                                            <p:cond delay="199"/>
                                          </p:stCondLst>
                                        </p:cTn>
                                        <p:tgtEl>
                                          <p:spTgt spid="168"/>
                                        </p:tgtEl>
                                        <p:attrNameLst>
                                          <p:attrName>style.visibility</p:attrName>
                                        </p:attrNameLst>
                                      </p:cBhvr>
                                      <p:to>
                                        <p:strVal val="hidden"/>
                                      </p:to>
                                    </p:set>
                                  </p:childTnLst>
                                </p:cTn>
                              </p:par>
                              <p:par>
                                <p:cTn id="723" presetID="10" presetClass="exit" presetSubtype="0" fill="hold" grpId="1" nodeType="withEffect">
                                  <p:stCondLst>
                                    <p:cond delay="0"/>
                                  </p:stCondLst>
                                  <p:childTnLst>
                                    <p:animEffect transition="out" filter="fade">
                                      <p:cBhvr>
                                        <p:cTn id="724" dur="200"/>
                                        <p:tgtEl>
                                          <p:spTgt spid="169"/>
                                        </p:tgtEl>
                                      </p:cBhvr>
                                    </p:animEffect>
                                    <p:set>
                                      <p:cBhvr>
                                        <p:cTn id="725" dur="1" fill="hold">
                                          <p:stCondLst>
                                            <p:cond delay="199"/>
                                          </p:stCondLst>
                                        </p:cTn>
                                        <p:tgtEl>
                                          <p:spTgt spid="169"/>
                                        </p:tgtEl>
                                        <p:attrNameLst>
                                          <p:attrName>style.visibility</p:attrName>
                                        </p:attrNameLst>
                                      </p:cBhvr>
                                      <p:to>
                                        <p:strVal val="hidden"/>
                                      </p:to>
                                    </p:set>
                                  </p:childTnLst>
                                </p:cTn>
                              </p:par>
                              <p:par>
                                <p:cTn id="726" presetID="10" presetClass="exit" presetSubtype="0" fill="hold" grpId="1" nodeType="withEffect">
                                  <p:stCondLst>
                                    <p:cond delay="0"/>
                                  </p:stCondLst>
                                  <p:childTnLst>
                                    <p:animEffect transition="out" filter="fade">
                                      <p:cBhvr>
                                        <p:cTn id="727" dur="200"/>
                                        <p:tgtEl>
                                          <p:spTgt spid="170"/>
                                        </p:tgtEl>
                                      </p:cBhvr>
                                    </p:animEffect>
                                    <p:set>
                                      <p:cBhvr>
                                        <p:cTn id="728" dur="1" fill="hold">
                                          <p:stCondLst>
                                            <p:cond delay="199"/>
                                          </p:stCondLst>
                                        </p:cTn>
                                        <p:tgtEl>
                                          <p:spTgt spid="170"/>
                                        </p:tgtEl>
                                        <p:attrNameLst>
                                          <p:attrName>style.visibility</p:attrName>
                                        </p:attrNameLst>
                                      </p:cBhvr>
                                      <p:to>
                                        <p:strVal val="hidden"/>
                                      </p:to>
                                    </p:set>
                                  </p:childTnLst>
                                </p:cTn>
                              </p:par>
                              <p:par>
                                <p:cTn id="729" presetID="10" presetClass="exit" presetSubtype="0" fill="hold" grpId="1" nodeType="withEffect">
                                  <p:stCondLst>
                                    <p:cond delay="0"/>
                                  </p:stCondLst>
                                  <p:childTnLst>
                                    <p:animEffect transition="out" filter="fade">
                                      <p:cBhvr>
                                        <p:cTn id="730" dur="200"/>
                                        <p:tgtEl>
                                          <p:spTgt spid="171"/>
                                        </p:tgtEl>
                                      </p:cBhvr>
                                    </p:animEffect>
                                    <p:set>
                                      <p:cBhvr>
                                        <p:cTn id="731" dur="1" fill="hold">
                                          <p:stCondLst>
                                            <p:cond delay="199"/>
                                          </p:stCondLst>
                                        </p:cTn>
                                        <p:tgtEl>
                                          <p:spTgt spid="171"/>
                                        </p:tgtEl>
                                        <p:attrNameLst>
                                          <p:attrName>style.visibility</p:attrName>
                                        </p:attrNameLst>
                                      </p:cBhvr>
                                      <p:to>
                                        <p:strVal val="hidden"/>
                                      </p:to>
                                    </p:set>
                                  </p:childTnLst>
                                </p:cTn>
                              </p:par>
                              <p:par>
                                <p:cTn id="732" presetID="10" presetClass="exit" presetSubtype="0" fill="hold" grpId="1" nodeType="withEffect">
                                  <p:stCondLst>
                                    <p:cond delay="0"/>
                                  </p:stCondLst>
                                  <p:childTnLst>
                                    <p:animEffect transition="out" filter="fade">
                                      <p:cBhvr>
                                        <p:cTn id="733" dur="200"/>
                                        <p:tgtEl>
                                          <p:spTgt spid="172"/>
                                        </p:tgtEl>
                                      </p:cBhvr>
                                    </p:animEffect>
                                    <p:set>
                                      <p:cBhvr>
                                        <p:cTn id="734" dur="1" fill="hold">
                                          <p:stCondLst>
                                            <p:cond delay="199"/>
                                          </p:stCondLst>
                                        </p:cTn>
                                        <p:tgtEl>
                                          <p:spTgt spid="172"/>
                                        </p:tgtEl>
                                        <p:attrNameLst>
                                          <p:attrName>style.visibility</p:attrName>
                                        </p:attrNameLst>
                                      </p:cBhvr>
                                      <p:to>
                                        <p:strVal val="hidden"/>
                                      </p:to>
                                    </p:set>
                                  </p:childTnLst>
                                </p:cTn>
                              </p:par>
                              <p:par>
                                <p:cTn id="735" presetID="10" presetClass="exit" presetSubtype="0" fill="hold" grpId="1" nodeType="withEffect">
                                  <p:stCondLst>
                                    <p:cond delay="0"/>
                                  </p:stCondLst>
                                  <p:childTnLst>
                                    <p:animEffect transition="out" filter="fade">
                                      <p:cBhvr>
                                        <p:cTn id="736" dur="200"/>
                                        <p:tgtEl>
                                          <p:spTgt spid="173"/>
                                        </p:tgtEl>
                                      </p:cBhvr>
                                    </p:animEffect>
                                    <p:set>
                                      <p:cBhvr>
                                        <p:cTn id="737" dur="1" fill="hold">
                                          <p:stCondLst>
                                            <p:cond delay="199"/>
                                          </p:stCondLst>
                                        </p:cTn>
                                        <p:tgtEl>
                                          <p:spTgt spid="173"/>
                                        </p:tgtEl>
                                        <p:attrNameLst>
                                          <p:attrName>style.visibility</p:attrName>
                                        </p:attrNameLst>
                                      </p:cBhvr>
                                      <p:to>
                                        <p:strVal val="hidden"/>
                                      </p:to>
                                    </p:set>
                                  </p:childTnLst>
                                </p:cTn>
                              </p:par>
                              <p:par>
                                <p:cTn id="738" presetID="10" presetClass="exit" presetSubtype="0" fill="hold" grpId="1" nodeType="withEffect">
                                  <p:stCondLst>
                                    <p:cond delay="0"/>
                                  </p:stCondLst>
                                  <p:childTnLst>
                                    <p:animEffect transition="out" filter="fade">
                                      <p:cBhvr>
                                        <p:cTn id="739" dur="200"/>
                                        <p:tgtEl>
                                          <p:spTgt spid="174"/>
                                        </p:tgtEl>
                                      </p:cBhvr>
                                    </p:animEffect>
                                    <p:set>
                                      <p:cBhvr>
                                        <p:cTn id="740" dur="1" fill="hold">
                                          <p:stCondLst>
                                            <p:cond delay="199"/>
                                          </p:stCondLst>
                                        </p:cTn>
                                        <p:tgtEl>
                                          <p:spTgt spid="174"/>
                                        </p:tgtEl>
                                        <p:attrNameLst>
                                          <p:attrName>style.visibility</p:attrName>
                                        </p:attrNameLst>
                                      </p:cBhvr>
                                      <p:to>
                                        <p:strVal val="hidden"/>
                                      </p:to>
                                    </p:set>
                                  </p:childTnLst>
                                </p:cTn>
                              </p:par>
                              <p:par>
                                <p:cTn id="741" presetID="10" presetClass="exit" presetSubtype="0" fill="hold" grpId="1" nodeType="withEffect">
                                  <p:stCondLst>
                                    <p:cond delay="0"/>
                                  </p:stCondLst>
                                  <p:childTnLst>
                                    <p:animEffect transition="out" filter="fade">
                                      <p:cBhvr>
                                        <p:cTn id="742" dur="200"/>
                                        <p:tgtEl>
                                          <p:spTgt spid="175"/>
                                        </p:tgtEl>
                                      </p:cBhvr>
                                    </p:animEffect>
                                    <p:set>
                                      <p:cBhvr>
                                        <p:cTn id="743" dur="1" fill="hold">
                                          <p:stCondLst>
                                            <p:cond delay="199"/>
                                          </p:stCondLst>
                                        </p:cTn>
                                        <p:tgtEl>
                                          <p:spTgt spid="175"/>
                                        </p:tgtEl>
                                        <p:attrNameLst>
                                          <p:attrName>style.visibility</p:attrName>
                                        </p:attrNameLst>
                                      </p:cBhvr>
                                      <p:to>
                                        <p:strVal val="hidden"/>
                                      </p:to>
                                    </p:set>
                                  </p:childTnLst>
                                </p:cTn>
                              </p:par>
                              <p:par>
                                <p:cTn id="744" presetID="10" presetClass="exit" presetSubtype="0" fill="hold" grpId="1" nodeType="withEffect">
                                  <p:stCondLst>
                                    <p:cond delay="0"/>
                                  </p:stCondLst>
                                  <p:childTnLst>
                                    <p:animEffect transition="out" filter="fade">
                                      <p:cBhvr>
                                        <p:cTn id="745" dur="200"/>
                                        <p:tgtEl>
                                          <p:spTgt spid="176"/>
                                        </p:tgtEl>
                                      </p:cBhvr>
                                    </p:animEffect>
                                    <p:set>
                                      <p:cBhvr>
                                        <p:cTn id="746" dur="1" fill="hold">
                                          <p:stCondLst>
                                            <p:cond delay="199"/>
                                          </p:stCondLst>
                                        </p:cTn>
                                        <p:tgtEl>
                                          <p:spTgt spid="176"/>
                                        </p:tgtEl>
                                        <p:attrNameLst>
                                          <p:attrName>style.visibility</p:attrName>
                                        </p:attrNameLst>
                                      </p:cBhvr>
                                      <p:to>
                                        <p:strVal val="hidden"/>
                                      </p:to>
                                    </p:set>
                                  </p:childTnLst>
                                </p:cTn>
                              </p:par>
                              <p:par>
                                <p:cTn id="747" presetID="10" presetClass="exit" presetSubtype="0" fill="hold" grpId="1" nodeType="withEffect">
                                  <p:stCondLst>
                                    <p:cond delay="0"/>
                                  </p:stCondLst>
                                  <p:childTnLst>
                                    <p:animEffect transition="out" filter="fade">
                                      <p:cBhvr>
                                        <p:cTn id="748" dur="200"/>
                                        <p:tgtEl>
                                          <p:spTgt spid="177"/>
                                        </p:tgtEl>
                                      </p:cBhvr>
                                    </p:animEffect>
                                    <p:set>
                                      <p:cBhvr>
                                        <p:cTn id="749" dur="1" fill="hold">
                                          <p:stCondLst>
                                            <p:cond delay="199"/>
                                          </p:stCondLst>
                                        </p:cTn>
                                        <p:tgtEl>
                                          <p:spTgt spid="177"/>
                                        </p:tgtEl>
                                        <p:attrNameLst>
                                          <p:attrName>style.visibility</p:attrName>
                                        </p:attrNameLst>
                                      </p:cBhvr>
                                      <p:to>
                                        <p:strVal val="hidden"/>
                                      </p:to>
                                    </p:set>
                                  </p:childTnLst>
                                </p:cTn>
                              </p:par>
                              <p:par>
                                <p:cTn id="750" presetID="10" presetClass="exit" presetSubtype="0" fill="hold" grpId="1" nodeType="withEffect">
                                  <p:stCondLst>
                                    <p:cond delay="0"/>
                                  </p:stCondLst>
                                  <p:childTnLst>
                                    <p:animEffect transition="out" filter="fade">
                                      <p:cBhvr>
                                        <p:cTn id="751" dur="200"/>
                                        <p:tgtEl>
                                          <p:spTgt spid="178"/>
                                        </p:tgtEl>
                                      </p:cBhvr>
                                    </p:animEffect>
                                    <p:set>
                                      <p:cBhvr>
                                        <p:cTn id="752" dur="1" fill="hold">
                                          <p:stCondLst>
                                            <p:cond delay="199"/>
                                          </p:stCondLst>
                                        </p:cTn>
                                        <p:tgtEl>
                                          <p:spTgt spid="178"/>
                                        </p:tgtEl>
                                        <p:attrNameLst>
                                          <p:attrName>style.visibility</p:attrName>
                                        </p:attrNameLst>
                                      </p:cBhvr>
                                      <p:to>
                                        <p:strVal val="hidden"/>
                                      </p:to>
                                    </p:set>
                                  </p:childTnLst>
                                </p:cTn>
                              </p:par>
                              <p:par>
                                <p:cTn id="753" presetID="10" presetClass="exit" presetSubtype="0" fill="hold" grpId="1" nodeType="withEffect">
                                  <p:stCondLst>
                                    <p:cond delay="0"/>
                                  </p:stCondLst>
                                  <p:childTnLst>
                                    <p:animEffect transition="out" filter="fade">
                                      <p:cBhvr>
                                        <p:cTn id="754" dur="200"/>
                                        <p:tgtEl>
                                          <p:spTgt spid="271"/>
                                        </p:tgtEl>
                                      </p:cBhvr>
                                    </p:animEffect>
                                    <p:set>
                                      <p:cBhvr>
                                        <p:cTn id="755" dur="1" fill="hold">
                                          <p:stCondLst>
                                            <p:cond delay="199"/>
                                          </p:stCondLst>
                                        </p:cTn>
                                        <p:tgtEl>
                                          <p:spTgt spid="271"/>
                                        </p:tgtEl>
                                        <p:attrNameLst>
                                          <p:attrName>style.visibility</p:attrName>
                                        </p:attrNameLst>
                                      </p:cBhvr>
                                      <p:to>
                                        <p:strVal val="hidden"/>
                                      </p:to>
                                    </p:set>
                                  </p:childTnLst>
                                </p:cTn>
                              </p:par>
                              <p:par>
                                <p:cTn id="756" presetID="10" presetClass="exit" presetSubtype="0" fill="hold" grpId="1" nodeType="withEffect">
                                  <p:stCondLst>
                                    <p:cond delay="0"/>
                                  </p:stCondLst>
                                  <p:childTnLst>
                                    <p:animEffect transition="out" filter="fade">
                                      <p:cBhvr>
                                        <p:cTn id="757" dur="200"/>
                                        <p:tgtEl>
                                          <p:spTgt spid="272"/>
                                        </p:tgtEl>
                                      </p:cBhvr>
                                    </p:animEffect>
                                    <p:set>
                                      <p:cBhvr>
                                        <p:cTn id="758" dur="1" fill="hold">
                                          <p:stCondLst>
                                            <p:cond delay="199"/>
                                          </p:stCondLst>
                                        </p:cTn>
                                        <p:tgtEl>
                                          <p:spTgt spid="272"/>
                                        </p:tgtEl>
                                        <p:attrNameLst>
                                          <p:attrName>style.visibility</p:attrName>
                                        </p:attrNameLst>
                                      </p:cBhvr>
                                      <p:to>
                                        <p:strVal val="hidden"/>
                                      </p:to>
                                    </p:set>
                                  </p:childTnLst>
                                </p:cTn>
                              </p:par>
                              <p:par>
                                <p:cTn id="759" presetID="10" presetClass="entr" presetSubtype="0" fill="hold" grpId="0" nodeType="withEffect">
                                  <p:stCondLst>
                                    <p:cond delay="200"/>
                                  </p:stCondLst>
                                  <p:childTnLst>
                                    <p:set>
                                      <p:cBhvr>
                                        <p:cTn id="760" dur="1" fill="hold">
                                          <p:stCondLst>
                                            <p:cond delay="0"/>
                                          </p:stCondLst>
                                        </p:cTn>
                                        <p:tgtEl>
                                          <p:spTgt spid="16"/>
                                        </p:tgtEl>
                                        <p:attrNameLst>
                                          <p:attrName>style.visibility</p:attrName>
                                        </p:attrNameLst>
                                      </p:cBhvr>
                                      <p:to>
                                        <p:strVal val="visible"/>
                                      </p:to>
                                    </p:set>
                                    <p:animEffect transition="in" filter="fade">
                                      <p:cBhvr>
                                        <p:cTn id="761" dur="400"/>
                                        <p:tgtEl>
                                          <p:spTgt spid="16"/>
                                        </p:tgtEl>
                                      </p:cBhvr>
                                    </p:animEffect>
                                  </p:childTnLst>
                                </p:cTn>
                              </p:par>
                              <p:par>
                                <p:cTn id="762" presetID="10" presetClass="entr" presetSubtype="0" fill="hold" grpId="0" nodeType="withEffect">
                                  <p:stCondLst>
                                    <p:cond delay="200"/>
                                  </p:stCondLst>
                                  <p:childTnLst>
                                    <p:set>
                                      <p:cBhvr>
                                        <p:cTn id="763" dur="1" fill="hold">
                                          <p:stCondLst>
                                            <p:cond delay="0"/>
                                          </p:stCondLst>
                                        </p:cTn>
                                        <p:tgtEl>
                                          <p:spTgt spid="17"/>
                                        </p:tgtEl>
                                        <p:attrNameLst>
                                          <p:attrName>style.visibility</p:attrName>
                                        </p:attrNameLst>
                                      </p:cBhvr>
                                      <p:to>
                                        <p:strVal val="visible"/>
                                      </p:to>
                                    </p:set>
                                    <p:animEffect transition="in" filter="fade">
                                      <p:cBhvr>
                                        <p:cTn id="764" dur="400"/>
                                        <p:tgtEl>
                                          <p:spTgt spid="17"/>
                                        </p:tgtEl>
                                      </p:cBhvr>
                                    </p:animEffect>
                                  </p:childTnLst>
                                </p:cTn>
                              </p:par>
                              <p:par>
                                <p:cTn id="765" presetID="10" presetClass="entr" presetSubtype="0" fill="hold" grpId="0" nodeType="withEffect">
                                  <p:stCondLst>
                                    <p:cond delay="200"/>
                                  </p:stCondLst>
                                  <p:childTnLst>
                                    <p:set>
                                      <p:cBhvr>
                                        <p:cTn id="766" dur="1" fill="hold">
                                          <p:stCondLst>
                                            <p:cond delay="0"/>
                                          </p:stCondLst>
                                        </p:cTn>
                                        <p:tgtEl>
                                          <p:spTgt spid="30"/>
                                        </p:tgtEl>
                                        <p:attrNameLst>
                                          <p:attrName>style.visibility</p:attrName>
                                        </p:attrNameLst>
                                      </p:cBhvr>
                                      <p:to>
                                        <p:strVal val="visible"/>
                                      </p:to>
                                    </p:set>
                                    <p:animEffect transition="in" filter="fade">
                                      <p:cBhvr>
                                        <p:cTn id="767" dur="400"/>
                                        <p:tgtEl>
                                          <p:spTgt spid="30"/>
                                        </p:tgtEl>
                                      </p:cBhvr>
                                    </p:animEffect>
                                  </p:childTnLst>
                                </p:cTn>
                              </p:par>
                              <p:par>
                                <p:cTn id="768" presetID="10" presetClass="entr" presetSubtype="0" fill="hold" grpId="0" nodeType="withEffect">
                                  <p:stCondLst>
                                    <p:cond delay="200"/>
                                  </p:stCondLst>
                                  <p:childTnLst>
                                    <p:set>
                                      <p:cBhvr>
                                        <p:cTn id="769" dur="1" fill="hold">
                                          <p:stCondLst>
                                            <p:cond delay="0"/>
                                          </p:stCondLst>
                                        </p:cTn>
                                        <p:tgtEl>
                                          <p:spTgt spid="31"/>
                                        </p:tgtEl>
                                        <p:attrNameLst>
                                          <p:attrName>style.visibility</p:attrName>
                                        </p:attrNameLst>
                                      </p:cBhvr>
                                      <p:to>
                                        <p:strVal val="visible"/>
                                      </p:to>
                                    </p:set>
                                    <p:animEffect transition="in" filter="fade">
                                      <p:cBhvr>
                                        <p:cTn id="770" dur="400"/>
                                        <p:tgtEl>
                                          <p:spTgt spid="31"/>
                                        </p:tgtEl>
                                      </p:cBhvr>
                                    </p:animEffect>
                                  </p:childTnLst>
                                </p:cTn>
                              </p:par>
                              <p:par>
                                <p:cTn id="771" presetID="10" presetClass="entr" presetSubtype="0" fill="hold" grpId="0" nodeType="withEffect">
                                  <p:stCondLst>
                                    <p:cond delay="200"/>
                                  </p:stCondLst>
                                  <p:childTnLst>
                                    <p:set>
                                      <p:cBhvr>
                                        <p:cTn id="772" dur="1" fill="hold">
                                          <p:stCondLst>
                                            <p:cond delay="0"/>
                                          </p:stCondLst>
                                        </p:cTn>
                                        <p:tgtEl>
                                          <p:spTgt spid="32"/>
                                        </p:tgtEl>
                                        <p:attrNameLst>
                                          <p:attrName>style.visibility</p:attrName>
                                        </p:attrNameLst>
                                      </p:cBhvr>
                                      <p:to>
                                        <p:strVal val="visible"/>
                                      </p:to>
                                    </p:set>
                                    <p:animEffect transition="in" filter="fade">
                                      <p:cBhvr>
                                        <p:cTn id="773" dur="400"/>
                                        <p:tgtEl>
                                          <p:spTgt spid="32"/>
                                        </p:tgtEl>
                                      </p:cBhvr>
                                    </p:animEffect>
                                  </p:childTnLst>
                                </p:cTn>
                              </p:par>
                              <p:par>
                                <p:cTn id="774" presetID="10" presetClass="entr" presetSubtype="0" fill="hold" grpId="0" nodeType="withEffect">
                                  <p:stCondLst>
                                    <p:cond delay="200"/>
                                  </p:stCondLst>
                                  <p:childTnLst>
                                    <p:set>
                                      <p:cBhvr>
                                        <p:cTn id="775" dur="1" fill="hold">
                                          <p:stCondLst>
                                            <p:cond delay="0"/>
                                          </p:stCondLst>
                                        </p:cTn>
                                        <p:tgtEl>
                                          <p:spTgt spid="33"/>
                                        </p:tgtEl>
                                        <p:attrNameLst>
                                          <p:attrName>style.visibility</p:attrName>
                                        </p:attrNameLst>
                                      </p:cBhvr>
                                      <p:to>
                                        <p:strVal val="visible"/>
                                      </p:to>
                                    </p:set>
                                    <p:animEffect transition="in" filter="fade">
                                      <p:cBhvr>
                                        <p:cTn id="776" dur="400"/>
                                        <p:tgtEl>
                                          <p:spTgt spid="33"/>
                                        </p:tgtEl>
                                      </p:cBhvr>
                                    </p:animEffect>
                                  </p:childTnLst>
                                </p:cTn>
                              </p:par>
                              <p:par>
                                <p:cTn id="777" presetID="10" presetClass="entr" presetSubtype="0" fill="hold" grpId="0" nodeType="withEffect">
                                  <p:stCondLst>
                                    <p:cond delay="200"/>
                                  </p:stCondLst>
                                  <p:childTnLst>
                                    <p:set>
                                      <p:cBhvr>
                                        <p:cTn id="778" dur="1" fill="hold">
                                          <p:stCondLst>
                                            <p:cond delay="0"/>
                                          </p:stCondLst>
                                        </p:cTn>
                                        <p:tgtEl>
                                          <p:spTgt spid="105"/>
                                        </p:tgtEl>
                                        <p:attrNameLst>
                                          <p:attrName>style.visibility</p:attrName>
                                        </p:attrNameLst>
                                      </p:cBhvr>
                                      <p:to>
                                        <p:strVal val="visible"/>
                                      </p:to>
                                    </p:set>
                                    <p:animEffect transition="in" filter="fade">
                                      <p:cBhvr>
                                        <p:cTn id="779" dur="400"/>
                                        <p:tgtEl>
                                          <p:spTgt spid="105"/>
                                        </p:tgtEl>
                                      </p:cBhvr>
                                    </p:animEffect>
                                  </p:childTnLst>
                                </p:cTn>
                              </p:par>
                              <p:par>
                                <p:cTn id="780" presetID="10" presetClass="entr" presetSubtype="0" fill="hold" grpId="0" nodeType="withEffect">
                                  <p:stCondLst>
                                    <p:cond delay="200"/>
                                  </p:stCondLst>
                                  <p:childTnLst>
                                    <p:set>
                                      <p:cBhvr>
                                        <p:cTn id="781" dur="1" fill="hold">
                                          <p:stCondLst>
                                            <p:cond delay="0"/>
                                          </p:stCondLst>
                                        </p:cTn>
                                        <p:tgtEl>
                                          <p:spTgt spid="106"/>
                                        </p:tgtEl>
                                        <p:attrNameLst>
                                          <p:attrName>style.visibility</p:attrName>
                                        </p:attrNameLst>
                                      </p:cBhvr>
                                      <p:to>
                                        <p:strVal val="visible"/>
                                      </p:to>
                                    </p:set>
                                    <p:animEffect transition="in" filter="fade">
                                      <p:cBhvr>
                                        <p:cTn id="782" dur="400"/>
                                        <p:tgtEl>
                                          <p:spTgt spid="106"/>
                                        </p:tgtEl>
                                      </p:cBhvr>
                                    </p:animEffect>
                                  </p:childTnLst>
                                </p:cTn>
                              </p:par>
                              <p:par>
                                <p:cTn id="783" presetID="10" presetClass="entr" presetSubtype="0" fill="hold" grpId="0" nodeType="withEffect">
                                  <p:stCondLst>
                                    <p:cond delay="200"/>
                                  </p:stCondLst>
                                  <p:childTnLst>
                                    <p:set>
                                      <p:cBhvr>
                                        <p:cTn id="784" dur="1" fill="hold">
                                          <p:stCondLst>
                                            <p:cond delay="0"/>
                                          </p:stCondLst>
                                        </p:cTn>
                                        <p:tgtEl>
                                          <p:spTgt spid="107"/>
                                        </p:tgtEl>
                                        <p:attrNameLst>
                                          <p:attrName>style.visibility</p:attrName>
                                        </p:attrNameLst>
                                      </p:cBhvr>
                                      <p:to>
                                        <p:strVal val="visible"/>
                                      </p:to>
                                    </p:set>
                                    <p:animEffect transition="in" filter="fade">
                                      <p:cBhvr>
                                        <p:cTn id="785" dur="400"/>
                                        <p:tgtEl>
                                          <p:spTgt spid="107"/>
                                        </p:tgtEl>
                                      </p:cBhvr>
                                    </p:animEffect>
                                  </p:childTnLst>
                                </p:cTn>
                              </p:par>
                              <p:par>
                                <p:cTn id="786" presetID="10" presetClass="entr" presetSubtype="0" fill="hold" grpId="0" nodeType="withEffect">
                                  <p:stCondLst>
                                    <p:cond delay="200"/>
                                  </p:stCondLst>
                                  <p:childTnLst>
                                    <p:set>
                                      <p:cBhvr>
                                        <p:cTn id="787" dur="1" fill="hold">
                                          <p:stCondLst>
                                            <p:cond delay="0"/>
                                          </p:stCondLst>
                                        </p:cTn>
                                        <p:tgtEl>
                                          <p:spTgt spid="108"/>
                                        </p:tgtEl>
                                        <p:attrNameLst>
                                          <p:attrName>style.visibility</p:attrName>
                                        </p:attrNameLst>
                                      </p:cBhvr>
                                      <p:to>
                                        <p:strVal val="visible"/>
                                      </p:to>
                                    </p:set>
                                    <p:animEffect transition="in" filter="fade">
                                      <p:cBhvr>
                                        <p:cTn id="788" dur="400"/>
                                        <p:tgtEl>
                                          <p:spTgt spid="108"/>
                                        </p:tgtEl>
                                      </p:cBhvr>
                                    </p:animEffect>
                                  </p:childTnLst>
                                </p:cTn>
                              </p:par>
                              <p:par>
                                <p:cTn id="789" presetID="10" presetClass="entr" presetSubtype="0" fill="hold" grpId="0" nodeType="withEffect">
                                  <p:stCondLst>
                                    <p:cond delay="200"/>
                                  </p:stCondLst>
                                  <p:childTnLst>
                                    <p:set>
                                      <p:cBhvr>
                                        <p:cTn id="790" dur="1" fill="hold">
                                          <p:stCondLst>
                                            <p:cond delay="0"/>
                                          </p:stCondLst>
                                        </p:cTn>
                                        <p:tgtEl>
                                          <p:spTgt spid="109"/>
                                        </p:tgtEl>
                                        <p:attrNameLst>
                                          <p:attrName>style.visibility</p:attrName>
                                        </p:attrNameLst>
                                      </p:cBhvr>
                                      <p:to>
                                        <p:strVal val="visible"/>
                                      </p:to>
                                    </p:set>
                                    <p:animEffect transition="in" filter="fade">
                                      <p:cBhvr>
                                        <p:cTn id="791" dur="400"/>
                                        <p:tgtEl>
                                          <p:spTgt spid="109"/>
                                        </p:tgtEl>
                                      </p:cBhvr>
                                    </p:animEffect>
                                  </p:childTnLst>
                                </p:cTn>
                              </p:par>
                              <p:par>
                                <p:cTn id="792" presetID="10" presetClass="entr" presetSubtype="0" fill="hold" grpId="0" nodeType="withEffect">
                                  <p:stCondLst>
                                    <p:cond delay="200"/>
                                  </p:stCondLst>
                                  <p:childTnLst>
                                    <p:set>
                                      <p:cBhvr>
                                        <p:cTn id="793" dur="1" fill="hold">
                                          <p:stCondLst>
                                            <p:cond delay="0"/>
                                          </p:stCondLst>
                                        </p:cTn>
                                        <p:tgtEl>
                                          <p:spTgt spid="110"/>
                                        </p:tgtEl>
                                        <p:attrNameLst>
                                          <p:attrName>style.visibility</p:attrName>
                                        </p:attrNameLst>
                                      </p:cBhvr>
                                      <p:to>
                                        <p:strVal val="visible"/>
                                      </p:to>
                                    </p:set>
                                    <p:animEffect transition="in" filter="fade">
                                      <p:cBhvr>
                                        <p:cTn id="794" dur="400"/>
                                        <p:tgtEl>
                                          <p:spTgt spid="110"/>
                                        </p:tgtEl>
                                      </p:cBhvr>
                                    </p:animEffect>
                                  </p:childTnLst>
                                </p:cTn>
                              </p:par>
                              <p:par>
                                <p:cTn id="795" presetID="10" presetClass="entr" presetSubtype="0" fill="hold" grpId="0" nodeType="withEffect">
                                  <p:stCondLst>
                                    <p:cond delay="200"/>
                                  </p:stCondLst>
                                  <p:childTnLst>
                                    <p:set>
                                      <p:cBhvr>
                                        <p:cTn id="796" dur="1" fill="hold">
                                          <p:stCondLst>
                                            <p:cond delay="0"/>
                                          </p:stCondLst>
                                        </p:cTn>
                                        <p:tgtEl>
                                          <p:spTgt spid="111"/>
                                        </p:tgtEl>
                                        <p:attrNameLst>
                                          <p:attrName>style.visibility</p:attrName>
                                        </p:attrNameLst>
                                      </p:cBhvr>
                                      <p:to>
                                        <p:strVal val="visible"/>
                                      </p:to>
                                    </p:set>
                                    <p:animEffect transition="in" filter="fade">
                                      <p:cBhvr>
                                        <p:cTn id="797" dur="400"/>
                                        <p:tgtEl>
                                          <p:spTgt spid="111"/>
                                        </p:tgtEl>
                                      </p:cBhvr>
                                    </p:animEffect>
                                  </p:childTnLst>
                                </p:cTn>
                              </p:par>
                              <p:par>
                                <p:cTn id="798" presetID="10" presetClass="entr" presetSubtype="0" fill="hold" grpId="0" nodeType="withEffect">
                                  <p:stCondLst>
                                    <p:cond delay="200"/>
                                  </p:stCondLst>
                                  <p:childTnLst>
                                    <p:set>
                                      <p:cBhvr>
                                        <p:cTn id="799" dur="1" fill="hold">
                                          <p:stCondLst>
                                            <p:cond delay="0"/>
                                          </p:stCondLst>
                                        </p:cTn>
                                        <p:tgtEl>
                                          <p:spTgt spid="112"/>
                                        </p:tgtEl>
                                        <p:attrNameLst>
                                          <p:attrName>style.visibility</p:attrName>
                                        </p:attrNameLst>
                                      </p:cBhvr>
                                      <p:to>
                                        <p:strVal val="visible"/>
                                      </p:to>
                                    </p:set>
                                    <p:animEffect transition="in" filter="fade">
                                      <p:cBhvr>
                                        <p:cTn id="800" dur="400"/>
                                        <p:tgtEl>
                                          <p:spTgt spid="112"/>
                                        </p:tgtEl>
                                      </p:cBhvr>
                                    </p:animEffect>
                                  </p:childTnLst>
                                </p:cTn>
                              </p:par>
                              <p:par>
                                <p:cTn id="801" presetID="10" presetClass="entr" presetSubtype="0" fill="hold" grpId="0" nodeType="withEffect">
                                  <p:stCondLst>
                                    <p:cond delay="200"/>
                                  </p:stCondLst>
                                  <p:childTnLst>
                                    <p:set>
                                      <p:cBhvr>
                                        <p:cTn id="802" dur="1" fill="hold">
                                          <p:stCondLst>
                                            <p:cond delay="0"/>
                                          </p:stCondLst>
                                        </p:cTn>
                                        <p:tgtEl>
                                          <p:spTgt spid="113"/>
                                        </p:tgtEl>
                                        <p:attrNameLst>
                                          <p:attrName>style.visibility</p:attrName>
                                        </p:attrNameLst>
                                      </p:cBhvr>
                                      <p:to>
                                        <p:strVal val="visible"/>
                                      </p:to>
                                    </p:set>
                                    <p:animEffect transition="in" filter="fade">
                                      <p:cBhvr>
                                        <p:cTn id="803" dur="400"/>
                                        <p:tgtEl>
                                          <p:spTgt spid="113"/>
                                        </p:tgtEl>
                                      </p:cBhvr>
                                    </p:animEffect>
                                  </p:childTnLst>
                                </p:cTn>
                              </p:par>
                              <p:par>
                                <p:cTn id="804" presetID="10" presetClass="entr" presetSubtype="0" fill="hold" grpId="0" nodeType="withEffect">
                                  <p:stCondLst>
                                    <p:cond delay="200"/>
                                  </p:stCondLst>
                                  <p:childTnLst>
                                    <p:set>
                                      <p:cBhvr>
                                        <p:cTn id="805" dur="1" fill="hold">
                                          <p:stCondLst>
                                            <p:cond delay="0"/>
                                          </p:stCondLst>
                                        </p:cTn>
                                        <p:tgtEl>
                                          <p:spTgt spid="114"/>
                                        </p:tgtEl>
                                        <p:attrNameLst>
                                          <p:attrName>style.visibility</p:attrName>
                                        </p:attrNameLst>
                                      </p:cBhvr>
                                      <p:to>
                                        <p:strVal val="visible"/>
                                      </p:to>
                                    </p:set>
                                    <p:animEffect transition="in" filter="fade">
                                      <p:cBhvr>
                                        <p:cTn id="806" dur="400"/>
                                        <p:tgtEl>
                                          <p:spTgt spid="114"/>
                                        </p:tgtEl>
                                      </p:cBhvr>
                                    </p:animEffect>
                                  </p:childTnLst>
                                </p:cTn>
                              </p:par>
                              <p:par>
                                <p:cTn id="807" presetID="10" presetClass="entr" presetSubtype="0" fill="hold" grpId="0" nodeType="withEffect">
                                  <p:stCondLst>
                                    <p:cond delay="200"/>
                                  </p:stCondLst>
                                  <p:childTnLst>
                                    <p:set>
                                      <p:cBhvr>
                                        <p:cTn id="808" dur="1" fill="hold">
                                          <p:stCondLst>
                                            <p:cond delay="0"/>
                                          </p:stCondLst>
                                        </p:cTn>
                                        <p:tgtEl>
                                          <p:spTgt spid="115"/>
                                        </p:tgtEl>
                                        <p:attrNameLst>
                                          <p:attrName>style.visibility</p:attrName>
                                        </p:attrNameLst>
                                      </p:cBhvr>
                                      <p:to>
                                        <p:strVal val="visible"/>
                                      </p:to>
                                    </p:set>
                                    <p:animEffect transition="in" filter="fade">
                                      <p:cBhvr>
                                        <p:cTn id="809" dur="400"/>
                                        <p:tgtEl>
                                          <p:spTgt spid="115"/>
                                        </p:tgtEl>
                                      </p:cBhvr>
                                    </p:animEffect>
                                  </p:childTnLst>
                                </p:cTn>
                              </p:par>
                              <p:par>
                                <p:cTn id="810" presetID="10" presetClass="entr" presetSubtype="0" fill="hold" grpId="0" nodeType="withEffect">
                                  <p:stCondLst>
                                    <p:cond delay="200"/>
                                  </p:stCondLst>
                                  <p:childTnLst>
                                    <p:set>
                                      <p:cBhvr>
                                        <p:cTn id="811" dur="1" fill="hold">
                                          <p:stCondLst>
                                            <p:cond delay="0"/>
                                          </p:stCondLst>
                                        </p:cTn>
                                        <p:tgtEl>
                                          <p:spTgt spid="116"/>
                                        </p:tgtEl>
                                        <p:attrNameLst>
                                          <p:attrName>style.visibility</p:attrName>
                                        </p:attrNameLst>
                                      </p:cBhvr>
                                      <p:to>
                                        <p:strVal val="visible"/>
                                      </p:to>
                                    </p:set>
                                    <p:animEffect transition="in" filter="fade">
                                      <p:cBhvr>
                                        <p:cTn id="812" dur="400"/>
                                        <p:tgtEl>
                                          <p:spTgt spid="116"/>
                                        </p:tgtEl>
                                      </p:cBhvr>
                                    </p:animEffect>
                                  </p:childTnLst>
                                </p:cTn>
                              </p:par>
                              <p:par>
                                <p:cTn id="813" presetID="10" presetClass="entr" presetSubtype="0" fill="hold" grpId="0" nodeType="withEffect">
                                  <p:stCondLst>
                                    <p:cond delay="200"/>
                                  </p:stCondLst>
                                  <p:childTnLst>
                                    <p:set>
                                      <p:cBhvr>
                                        <p:cTn id="814" dur="1" fill="hold">
                                          <p:stCondLst>
                                            <p:cond delay="0"/>
                                          </p:stCondLst>
                                        </p:cTn>
                                        <p:tgtEl>
                                          <p:spTgt spid="143"/>
                                        </p:tgtEl>
                                        <p:attrNameLst>
                                          <p:attrName>style.visibility</p:attrName>
                                        </p:attrNameLst>
                                      </p:cBhvr>
                                      <p:to>
                                        <p:strVal val="visible"/>
                                      </p:to>
                                    </p:set>
                                    <p:animEffect transition="in" filter="fade">
                                      <p:cBhvr>
                                        <p:cTn id="815" dur="400"/>
                                        <p:tgtEl>
                                          <p:spTgt spid="143"/>
                                        </p:tgtEl>
                                      </p:cBhvr>
                                    </p:animEffect>
                                  </p:childTnLst>
                                </p:cTn>
                              </p:par>
                              <p:par>
                                <p:cTn id="816" presetID="10" presetClass="entr" presetSubtype="0" fill="hold" grpId="0" nodeType="withEffect">
                                  <p:stCondLst>
                                    <p:cond delay="200"/>
                                  </p:stCondLst>
                                  <p:childTnLst>
                                    <p:set>
                                      <p:cBhvr>
                                        <p:cTn id="817" dur="1" fill="hold">
                                          <p:stCondLst>
                                            <p:cond delay="0"/>
                                          </p:stCondLst>
                                        </p:cTn>
                                        <p:tgtEl>
                                          <p:spTgt spid="144"/>
                                        </p:tgtEl>
                                        <p:attrNameLst>
                                          <p:attrName>style.visibility</p:attrName>
                                        </p:attrNameLst>
                                      </p:cBhvr>
                                      <p:to>
                                        <p:strVal val="visible"/>
                                      </p:to>
                                    </p:set>
                                    <p:animEffect transition="in" filter="fade">
                                      <p:cBhvr>
                                        <p:cTn id="818" dur="400"/>
                                        <p:tgtEl>
                                          <p:spTgt spid="144"/>
                                        </p:tgtEl>
                                      </p:cBhvr>
                                    </p:animEffect>
                                  </p:childTnLst>
                                </p:cTn>
                              </p:par>
                              <p:par>
                                <p:cTn id="819" presetID="10" presetClass="entr" presetSubtype="0" fill="hold" grpId="0" nodeType="withEffect">
                                  <p:stCondLst>
                                    <p:cond delay="200"/>
                                  </p:stCondLst>
                                  <p:childTnLst>
                                    <p:set>
                                      <p:cBhvr>
                                        <p:cTn id="820" dur="1" fill="hold">
                                          <p:stCondLst>
                                            <p:cond delay="0"/>
                                          </p:stCondLst>
                                        </p:cTn>
                                        <p:tgtEl>
                                          <p:spTgt spid="145"/>
                                        </p:tgtEl>
                                        <p:attrNameLst>
                                          <p:attrName>style.visibility</p:attrName>
                                        </p:attrNameLst>
                                      </p:cBhvr>
                                      <p:to>
                                        <p:strVal val="visible"/>
                                      </p:to>
                                    </p:set>
                                    <p:animEffect transition="in" filter="fade">
                                      <p:cBhvr>
                                        <p:cTn id="821" dur="400"/>
                                        <p:tgtEl>
                                          <p:spTgt spid="145"/>
                                        </p:tgtEl>
                                      </p:cBhvr>
                                    </p:animEffect>
                                  </p:childTnLst>
                                </p:cTn>
                              </p:par>
                              <p:par>
                                <p:cTn id="822" presetID="10" presetClass="entr" presetSubtype="0" fill="hold" grpId="0" nodeType="withEffect">
                                  <p:stCondLst>
                                    <p:cond delay="200"/>
                                  </p:stCondLst>
                                  <p:childTnLst>
                                    <p:set>
                                      <p:cBhvr>
                                        <p:cTn id="823" dur="1" fill="hold">
                                          <p:stCondLst>
                                            <p:cond delay="0"/>
                                          </p:stCondLst>
                                        </p:cTn>
                                        <p:tgtEl>
                                          <p:spTgt spid="146"/>
                                        </p:tgtEl>
                                        <p:attrNameLst>
                                          <p:attrName>style.visibility</p:attrName>
                                        </p:attrNameLst>
                                      </p:cBhvr>
                                      <p:to>
                                        <p:strVal val="visible"/>
                                      </p:to>
                                    </p:set>
                                    <p:animEffect transition="in" filter="fade">
                                      <p:cBhvr>
                                        <p:cTn id="824" dur="400"/>
                                        <p:tgtEl>
                                          <p:spTgt spid="146"/>
                                        </p:tgtEl>
                                      </p:cBhvr>
                                    </p:animEffect>
                                  </p:childTnLst>
                                </p:cTn>
                              </p:par>
                              <p:par>
                                <p:cTn id="825" presetID="10" presetClass="entr" presetSubtype="0" fill="hold" grpId="0" nodeType="withEffect">
                                  <p:stCondLst>
                                    <p:cond delay="200"/>
                                  </p:stCondLst>
                                  <p:childTnLst>
                                    <p:set>
                                      <p:cBhvr>
                                        <p:cTn id="826" dur="1" fill="hold">
                                          <p:stCondLst>
                                            <p:cond delay="0"/>
                                          </p:stCondLst>
                                        </p:cTn>
                                        <p:tgtEl>
                                          <p:spTgt spid="147"/>
                                        </p:tgtEl>
                                        <p:attrNameLst>
                                          <p:attrName>style.visibility</p:attrName>
                                        </p:attrNameLst>
                                      </p:cBhvr>
                                      <p:to>
                                        <p:strVal val="visible"/>
                                      </p:to>
                                    </p:set>
                                    <p:animEffect transition="in" filter="fade">
                                      <p:cBhvr>
                                        <p:cTn id="827" dur="400"/>
                                        <p:tgtEl>
                                          <p:spTgt spid="147"/>
                                        </p:tgtEl>
                                      </p:cBhvr>
                                    </p:animEffect>
                                  </p:childTnLst>
                                </p:cTn>
                              </p:par>
                              <p:par>
                                <p:cTn id="828" presetID="10" presetClass="entr" presetSubtype="0" fill="hold" grpId="0" nodeType="withEffect">
                                  <p:stCondLst>
                                    <p:cond delay="200"/>
                                  </p:stCondLst>
                                  <p:childTnLst>
                                    <p:set>
                                      <p:cBhvr>
                                        <p:cTn id="829" dur="1" fill="hold">
                                          <p:stCondLst>
                                            <p:cond delay="0"/>
                                          </p:stCondLst>
                                        </p:cTn>
                                        <p:tgtEl>
                                          <p:spTgt spid="148"/>
                                        </p:tgtEl>
                                        <p:attrNameLst>
                                          <p:attrName>style.visibility</p:attrName>
                                        </p:attrNameLst>
                                      </p:cBhvr>
                                      <p:to>
                                        <p:strVal val="visible"/>
                                      </p:to>
                                    </p:set>
                                    <p:animEffect transition="in" filter="fade">
                                      <p:cBhvr>
                                        <p:cTn id="830" dur="400"/>
                                        <p:tgtEl>
                                          <p:spTgt spid="148"/>
                                        </p:tgtEl>
                                      </p:cBhvr>
                                    </p:animEffect>
                                  </p:childTnLst>
                                </p:cTn>
                              </p:par>
                              <p:par>
                                <p:cTn id="831" presetID="10" presetClass="entr" presetSubtype="0" fill="hold" grpId="0" nodeType="withEffect">
                                  <p:stCondLst>
                                    <p:cond delay="200"/>
                                  </p:stCondLst>
                                  <p:childTnLst>
                                    <p:set>
                                      <p:cBhvr>
                                        <p:cTn id="832" dur="1" fill="hold">
                                          <p:stCondLst>
                                            <p:cond delay="0"/>
                                          </p:stCondLst>
                                        </p:cTn>
                                        <p:tgtEl>
                                          <p:spTgt spid="149"/>
                                        </p:tgtEl>
                                        <p:attrNameLst>
                                          <p:attrName>style.visibility</p:attrName>
                                        </p:attrNameLst>
                                      </p:cBhvr>
                                      <p:to>
                                        <p:strVal val="visible"/>
                                      </p:to>
                                    </p:set>
                                    <p:animEffect transition="in" filter="fade">
                                      <p:cBhvr>
                                        <p:cTn id="833" dur="400"/>
                                        <p:tgtEl>
                                          <p:spTgt spid="149"/>
                                        </p:tgtEl>
                                      </p:cBhvr>
                                    </p:animEffect>
                                  </p:childTnLst>
                                </p:cTn>
                              </p:par>
                              <p:par>
                                <p:cTn id="834" presetID="10" presetClass="entr" presetSubtype="0" fill="hold" grpId="0" nodeType="withEffect">
                                  <p:stCondLst>
                                    <p:cond delay="200"/>
                                  </p:stCondLst>
                                  <p:childTnLst>
                                    <p:set>
                                      <p:cBhvr>
                                        <p:cTn id="835" dur="1" fill="hold">
                                          <p:stCondLst>
                                            <p:cond delay="0"/>
                                          </p:stCondLst>
                                        </p:cTn>
                                        <p:tgtEl>
                                          <p:spTgt spid="150"/>
                                        </p:tgtEl>
                                        <p:attrNameLst>
                                          <p:attrName>style.visibility</p:attrName>
                                        </p:attrNameLst>
                                      </p:cBhvr>
                                      <p:to>
                                        <p:strVal val="visible"/>
                                      </p:to>
                                    </p:set>
                                    <p:animEffect transition="in" filter="fade">
                                      <p:cBhvr>
                                        <p:cTn id="836" dur="400"/>
                                        <p:tgtEl>
                                          <p:spTgt spid="150"/>
                                        </p:tgtEl>
                                      </p:cBhvr>
                                    </p:animEffect>
                                  </p:childTnLst>
                                </p:cTn>
                              </p:par>
                              <p:par>
                                <p:cTn id="837" presetID="10" presetClass="entr" presetSubtype="0" fill="hold" grpId="0" nodeType="withEffect">
                                  <p:stCondLst>
                                    <p:cond delay="200"/>
                                  </p:stCondLst>
                                  <p:childTnLst>
                                    <p:set>
                                      <p:cBhvr>
                                        <p:cTn id="838" dur="1" fill="hold">
                                          <p:stCondLst>
                                            <p:cond delay="0"/>
                                          </p:stCondLst>
                                        </p:cTn>
                                        <p:tgtEl>
                                          <p:spTgt spid="151"/>
                                        </p:tgtEl>
                                        <p:attrNameLst>
                                          <p:attrName>style.visibility</p:attrName>
                                        </p:attrNameLst>
                                      </p:cBhvr>
                                      <p:to>
                                        <p:strVal val="visible"/>
                                      </p:to>
                                    </p:set>
                                    <p:animEffect transition="in" filter="fade">
                                      <p:cBhvr>
                                        <p:cTn id="839" dur="400"/>
                                        <p:tgtEl>
                                          <p:spTgt spid="151"/>
                                        </p:tgtEl>
                                      </p:cBhvr>
                                    </p:animEffect>
                                  </p:childTnLst>
                                </p:cTn>
                              </p:par>
                              <p:par>
                                <p:cTn id="840" presetID="10" presetClass="entr" presetSubtype="0" fill="hold" grpId="0" nodeType="withEffect">
                                  <p:stCondLst>
                                    <p:cond delay="200"/>
                                  </p:stCondLst>
                                  <p:childTnLst>
                                    <p:set>
                                      <p:cBhvr>
                                        <p:cTn id="841" dur="1" fill="hold">
                                          <p:stCondLst>
                                            <p:cond delay="0"/>
                                          </p:stCondLst>
                                        </p:cTn>
                                        <p:tgtEl>
                                          <p:spTgt spid="152"/>
                                        </p:tgtEl>
                                        <p:attrNameLst>
                                          <p:attrName>style.visibility</p:attrName>
                                        </p:attrNameLst>
                                      </p:cBhvr>
                                      <p:to>
                                        <p:strVal val="visible"/>
                                      </p:to>
                                    </p:set>
                                    <p:animEffect transition="in" filter="fade">
                                      <p:cBhvr>
                                        <p:cTn id="842" dur="400"/>
                                        <p:tgtEl>
                                          <p:spTgt spid="152"/>
                                        </p:tgtEl>
                                      </p:cBhvr>
                                    </p:animEffect>
                                  </p:childTnLst>
                                </p:cTn>
                              </p:par>
                              <p:par>
                                <p:cTn id="843" presetID="10" presetClass="entr" presetSubtype="0" fill="hold" grpId="0" nodeType="withEffect">
                                  <p:stCondLst>
                                    <p:cond delay="200"/>
                                  </p:stCondLst>
                                  <p:childTnLst>
                                    <p:set>
                                      <p:cBhvr>
                                        <p:cTn id="844" dur="1" fill="hold">
                                          <p:stCondLst>
                                            <p:cond delay="0"/>
                                          </p:stCondLst>
                                        </p:cTn>
                                        <p:tgtEl>
                                          <p:spTgt spid="153"/>
                                        </p:tgtEl>
                                        <p:attrNameLst>
                                          <p:attrName>style.visibility</p:attrName>
                                        </p:attrNameLst>
                                      </p:cBhvr>
                                      <p:to>
                                        <p:strVal val="visible"/>
                                      </p:to>
                                    </p:set>
                                    <p:animEffect transition="in" filter="fade">
                                      <p:cBhvr>
                                        <p:cTn id="845" dur="400"/>
                                        <p:tgtEl>
                                          <p:spTgt spid="153"/>
                                        </p:tgtEl>
                                      </p:cBhvr>
                                    </p:animEffect>
                                  </p:childTnLst>
                                </p:cTn>
                              </p:par>
                              <p:par>
                                <p:cTn id="846" presetID="10" presetClass="entr" presetSubtype="0" fill="hold" grpId="0" nodeType="withEffect">
                                  <p:stCondLst>
                                    <p:cond delay="200"/>
                                  </p:stCondLst>
                                  <p:childTnLst>
                                    <p:set>
                                      <p:cBhvr>
                                        <p:cTn id="847" dur="1" fill="hold">
                                          <p:stCondLst>
                                            <p:cond delay="0"/>
                                          </p:stCondLst>
                                        </p:cTn>
                                        <p:tgtEl>
                                          <p:spTgt spid="154"/>
                                        </p:tgtEl>
                                        <p:attrNameLst>
                                          <p:attrName>style.visibility</p:attrName>
                                        </p:attrNameLst>
                                      </p:cBhvr>
                                      <p:to>
                                        <p:strVal val="visible"/>
                                      </p:to>
                                    </p:set>
                                    <p:animEffect transition="in" filter="fade">
                                      <p:cBhvr>
                                        <p:cTn id="848" dur="400"/>
                                        <p:tgtEl>
                                          <p:spTgt spid="154"/>
                                        </p:tgtEl>
                                      </p:cBhvr>
                                    </p:animEffect>
                                  </p:childTnLst>
                                </p:cTn>
                              </p:par>
                              <p:par>
                                <p:cTn id="849" presetID="10" presetClass="entr" presetSubtype="0" fill="hold" grpId="0" nodeType="withEffect">
                                  <p:stCondLst>
                                    <p:cond delay="200"/>
                                  </p:stCondLst>
                                  <p:childTnLst>
                                    <p:set>
                                      <p:cBhvr>
                                        <p:cTn id="850" dur="1" fill="hold">
                                          <p:stCondLst>
                                            <p:cond delay="0"/>
                                          </p:stCondLst>
                                        </p:cTn>
                                        <p:tgtEl>
                                          <p:spTgt spid="155"/>
                                        </p:tgtEl>
                                        <p:attrNameLst>
                                          <p:attrName>style.visibility</p:attrName>
                                        </p:attrNameLst>
                                      </p:cBhvr>
                                      <p:to>
                                        <p:strVal val="visible"/>
                                      </p:to>
                                    </p:set>
                                    <p:animEffect transition="in" filter="fade">
                                      <p:cBhvr>
                                        <p:cTn id="851" dur="400"/>
                                        <p:tgtEl>
                                          <p:spTgt spid="155"/>
                                        </p:tgtEl>
                                      </p:cBhvr>
                                    </p:animEffect>
                                  </p:childTnLst>
                                </p:cTn>
                              </p:par>
                              <p:par>
                                <p:cTn id="852" presetID="10" presetClass="entr" presetSubtype="0" fill="hold" grpId="0" nodeType="withEffect">
                                  <p:stCondLst>
                                    <p:cond delay="200"/>
                                  </p:stCondLst>
                                  <p:childTnLst>
                                    <p:set>
                                      <p:cBhvr>
                                        <p:cTn id="853" dur="1" fill="hold">
                                          <p:stCondLst>
                                            <p:cond delay="0"/>
                                          </p:stCondLst>
                                        </p:cTn>
                                        <p:tgtEl>
                                          <p:spTgt spid="156"/>
                                        </p:tgtEl>
                                        <p:attrNameLst>
                                          <p:attrName>style.visibility</p:attrName>
                                        </p:attrNameLst>
                                      </p:cBhvr>
                                      <p:to>
                                        <p:strVal val="visible"/>
                                      </p:to>
                                    </p:set>
                                    <p:animEffect transition="in" filter="fade">
                                      <p:cBhvr>
                                        <p:cTn id="854" dur="400"/>
                                        <p:tgtEl>
                                          <p:spTgt spid="156"/>
                                        </p:tgtEl>
                                      </p:cBhvr>
                                    </p:animEffect>
                                  </p:childTnLst>
                                </p:cTn>
                              </p:par>
                              <p:par>
                                <p:cTn id="855" presetID="10" presetClass="entr" presetSubtype="0" fill="hold" grpId="0" nodeType="withEffect">
                                  <p:stCondLst>
                                    <p:cond delay="200"/>
                                  </p:stCondLst>
                                  <p:childTnLst>
                                    <p:set>
                                      <p:cBhvr>
                                        <p:cTn id="856" dur="1" fill="hold">
                                          <p:stCondLst>
                                            <p:cond delay="0"/>
                                          </p:stCondLst>
                                        </p:cTn>
                                        <p:tgtEl>
                                          <p:spTgt spid="157"/>
                                        </p:tgtEl>
                                        <p:attrNameLst>
                                          <p:attrName>style.visibility</p:attrName>
                                        </p:attrNameLst>
                                      </p:cBhvr>
                                      <p:to>
                                        <p:strVal val="visible"/>
                                      </p:to>
                                    </p:set>
                                    <p:animEffect transition="in" filter="fade">
                                      <p:cBhvr>
                                        <p:cTn id="857" dur="400"/>
                                        <p:tgtEl>
                                          <p:spTgt spid="157"/>
                                        </p:tgtEl>
                                      </p:cBhvr>
                                    </p:animEffect>
                                  </p:childTnLst>
                                </p:cTn>
                              </p:par>
                              <p:par>
                                <p:cTn id="858" presetID="10" presetClass="entr" presetSubtype="0" fill="hold" grpId="0" nodeType="withEffect">
                                  <p:stCondLst>
                                    <p:cond delay="200"/>
                                  </p:stCondLst>
                                  <p:childTnLst>
                                    <p:set>
                                      <p:cBhvr>
                                        <p:cTn id="859" dur="1" fill="hold">
                                          <p:stCondLst>
                                            <p:cond delay="0"/>
                                          </p:stCondLst>
                                        </p:cTn>
                                        <p:tgtEl>
                                          <p:spTgt spid="158"/>
                                        </p:tgtEl>
                                        <p:attrNameLst>
                                          <p:attrName>style.visibility</p:attrName>
                                        </p:attrNameLst>
                                      </p:cBhvr>
                                      <p:to>
                                        <p:strVal val="visible"/>
                                      </p:to>
                                    </p:set>
                                    <p:animEffect transition="in" filter="fade">
                                      <p:cBhvr>
                                        <p:cTn id="860" dur="400"/>
                                        <p:tgtEl>
                                          <p:spTgt spid="158"/>
                                        </p:tgtEl>
                                      </p:cBhvr>
                                    </p:animEffect>
                                  </p:childTnLst>
                                </p:cTn>
                              </p:par>
                              <p:par>
                                <p:cTn id="861" presetID="10" presetClass="entr" presetSubtype="0" fill="hold" grpId="0" nodeType="withEffect">
                                  <p:stCondLst>
                                    <p:cond delay="200"/>
                                  </p:stCondLst>
                                  <p:childTnLst>
                                    <p:set>
                                      <p:cBhvr>
                                        <p:cTn id="862" dur="1" fill="hold">
                                          <p:stCondLst>
                                            <p:cond delay="0"/>
                                          </p:stCondLst>
                                        </p:cTn>
                                        <p:tgtEl>
                                          <p:spTgt spid="159"/>
                                        </p:tgtEl>
                                        <p:attrNameLst>
                                          <p:attrName>style.visibility</p:attrName>
                                        </p:attrNameLst>
                                      </p:cBhvr>
                                      <p:to>
                                        <p:strVal val="visible"/>
                                      </p:to>
                                    </p:set>
                                    <p:animEffect transition="in" filter="fade">
                                      <p:cBhvr>
                                        <p:cTn id="863" dur="400"/>
                                        <p:tgtEl>
                                          <p:spTgt spid="159"/>
                                        </p:tgtEl>
                                      </p:cBhvr>
                                    </p:animEffect>
                                  </p:childTnLst>
                                </p:cTn>
                              </p:par>
                              <p:par>
                                <p:cTn id="864" presetID="10" presetClass="entr" presetSubtype="0" fill="hold" grpId="0" nodeType="withEffect">
                                  <p:stCondLst>
                                    <p:cond delay="200"/>
                                  </p:stCondLst>
                                  <p:childTnLst>
                                    <p:set>
                                      <p:cBhvr>
                                        <p:cTn id="865" dur="1" fill="hold">
                                          <p:stCondLst>
                                            <p:cond delay="0"/>
                                          </p:stCondLst>
                                        </p:cTn>
                                        <p:tgtEl>
                                          <p:spTgt spid="160"/>
                                        </p:tgtEl>
                                        <p:attrNameLst>
                                          <p:attrName>style.visibility</p:attrName>
                                        </p:attrNameLst>
                                      </p:cBhvr>
                                      <p:to>
                                        <p:strVal val="visible"/>
                                      </p:to>
                                    </p:set>
                                    <p:animEffect transition="in" filter="fade">
                                      <p:cBhvr>
                                        <p:cTn id="866" dur="400"/>
                                        <p:tgtEl>
                                          <p:spTgt spid="160"/>
                                        </p:tgtEl>
                                      </p:cBhvr>
                                    </p:animEffect>
                                  </p:childTnLst>
                                </p:cTn>
                              </p:par>
                              <p:par>
                                <p:cTn id="867" presetID="10" presetClass="entr" presetSubtype="0" fill="hold" grpId="0" nodeType="withEffect">
                                  <p:stCondLst>
                                    <p:cond delay="200"/>
                                  </p:stCondLst>
                                  <p:childTnLst>
                                    <p:set>
                                      <p:cBhvr>
                                        <p:cTn id="868" dur="1" fill="hold">
                                          <p:stCondLst>
                                            <p:cond delay="0"/>
                                          </p:stCondLst>
                                        </p:cTn>
                                        <p:tgtEl>
                                          <p:spTgt spid="260"/>
                                        </p:tgtEl>
                                        <p:attrNameLst>
                                          <p:attrName>style.visibility</p:attrName>
                                        </p:attrNameLst>
                                      </p:cBhvr>
                                      <p:to>
                                        <p:strVal val="visible"/>
                                      </p:to>
                                    </p:set>
                                    <p:animEffect transition="in" filter="fade">
                                      <p:cBhvr>
                                        <p:cTn id="869" dur="400"/>
                                        <p:tgtEl>
                                          <p:spTgt spid="260"/>
                                        </p:tgtEl>
                                      </p:cBhvr>
                                    </p:animEffect>
                                  </p:childTnLst>
                                </p:cTn>
                              </p:par>
                              <p:par>
                                <p:cTn id="870" presetID="10" presetClass="entr" presetSubtype="0" fill="hold" grpId="0" nodeType="withEffect">
                                  <p:stCondLst>
                                    <p:cond delay="200"/>
                                  </p:stCondLst>
                                  <p:childTnLst>
                                    <p:set>
                                      <p:cBhvr>
                                        <p:cTn id="871" dur="1" fill="hold">
                                          <p:stCondLst>
                                            <p:cond delay="0"/>
                                          </p:stCondLst>
                                        </p:cTn>
                                        <p:tgtEl>
                                          <p:spTgt spid="261"/>
                                        </p:tgtEl>
                                        <p:attrNameLst>
                                          <p:attrName>style.visibility</p:attrName>
                                        </p:attrNameLst>
                                      </p:cBhvr>
                                      <p:to>
                                        <p:strVal val="visible"/>
                                      </p:to>
                                    </p:set>
                                    <p:animEffect transition="in" filter="fade">
                                      <p:cBhvr>
                                        <p:cTn id="872" dur="400"/>
                                        <p:tgtEl>
                                          <p:spTgt spid="261"/>
                                        </p:tgtEl>
                                      </p:cBhvr>
                                    </p:animEffect>
                                  </p:childTnLst>
                                </p:cTn>
                              </p:par>
                              <p:par>
                                <p:cTn id="873" presetID="10" presetClass="entr" presetSubtype="0" fill="hold" grpId="0" nodeType="withEffect">
                                  <p:stCondLst>
                                    <p:cond delay="200"/>
                                  </p:stCondLst>
                                  <p:childTnLst>
                                    <p:set>
                                      <p:cBhvr>
                                        <p:cTn id="874" dur="1" fill="hold">
                                          <p:stCondLst>
                                            <p:cond delay="0"/>
                                          </p:stCondLst>
                                        </p:cTn>
                                        <p:tgtEl>
                                          <p:spTgt spid="262"/>
                                        </p:tgtEl>
                                        <p:attrNameLst>
                                          <p:attrName>style.visibility</p:attrName>
                                        </p:attrNameLst>
                                      </p:cBhvr>
                                      <p:to>
                                        <p:strVal val="visible"/>
                                      </p:to>
                                    </p:set>
                                    <p:animEffect transition="in" filter="fade">
                                      <p:cBhvr>
                                        <p:cTn id="875" dur="400"/>
                                        <p:tgtEl>
                                          <p:spTgt spid="262"/>
                                        </p:tgtEl>
                                      </p:cBhvr>
                                    </p:animEffect>
                                  </p:childTnLst>
                                </p:cTn>
                              </p:par>
                              <p:par>
                                <p:cTn id="876" presetID="10" presetClass="entr" presetSubtype="0" fill="hold" grpId="0" nodeType="withEffect">
                                  <p:stCondLst>
                                    <p:cond delay="200"/>
                                  </p:stCondLst>
                                  <p:childTnLst>
                                    <p:set>
                                      <p:cBhvr>
                                        <p:cTn id="877" dur="1" fill="hold">
                                          <p:stCondLst>
                                            <p:cond delay="0"/>
                                          </p:stCondLst>
                                        </p:cTn>
                                        <p:tgtEl>
                                          <p:spTgt spid="268"/>
                                        </p:tgtEl>
                                        <p:attrNameLst>
                                          <p:attrName>style.visibility</p:attrName>
                                        </p:attrNameLst>
                                      </p:cBhvr>
                                      <p:to>
                                        <p:strVal val="visible"/>
                                      </p:to>
                                    </p:set>
                                    <p:animEffect transition="in" filter="fade">
                                      <p:cBhvr>
                                        <p:cTn id="878" dur="400"/>
                                        <p:tgtEl>
                                          <p:spTgt spid="268"/>
                                        </p:tgtEl>
                                      </p:cBhvr>
                                    </p:animEffect>
                                  </p:childTnLst>
                                </p:cTn>
                              </p:par>
                              <p:par>
                                <p:cTn id="879" presetID="10" presetClass="entr" presetSubtype="0" fill="hold" grpId="0" nodeType="withEffect">
                                  <p:stCondLst>
                                    <p:cond delay="200"/>
                                  </p:stCondLst>
                                  <p:childTnLst>
                                    <p:set>
                                      <p:cBhvr>
                                        <p:cTn id="880" dur="1" fill="hold">
                                          <p:stCondLst>
                                            <p:cond delay="0"/>
                                          </p:stCondLst>
                                        </p:cTn>
                                        <p:tgtEl>
                                          <p:spTgt spid="269"/>
                                        </p:tgtEl>
                                        <p:attrNameLst>
                                          <p:attrName>style.visibility</p:attrName>
                                        </p:attrNameLst>
                                      </p:cBhvr>
                                      <p:to>
                                        <p:strVal val="visible"/>
                                      </p:to>
                                    </p:set>
                                    <p:animEffect transition="in" filter="fade">
                                      <p:cBhvr>
                                        <p:cTn id="881" dur="400"/>
                                        <p:tgtEl>
                                          <p:spTgt spid="269"/>
                                        </p:tgtEl>
                                      </p:cBhvr>
                                    </p:animEffect>
                                  </p:childTnLst>
                                </p:cTn>
                              </p:par>
                              <p:par>
                                <p:cTn id="882" presetID="10" presetClass="entr" presetSubtype="0" fill="hold" grpId="0" nodeType="withEffect">
                                  <p:stCondLst>
                                    <p:cond delay="200"/>
                                  </p:stCondLst>
                                  <p:childTnLst>
                                    <p:set>
                                      <p:cBhvr>
                                        <p:cTn id="883" dur="1" fill="hold">
                                          <p:stCondLst>
                                            <p:cond delay="0"/>
                                          </p:stCondLst>
                                        </p:cTn>
                                        <p:tgtEl>
                                          <p:spTgt spid="270"/>
                                        </p:tgtEl>
                                        <p:attrNameLst>
                                          <p:attrName>style.visibility</p:attrName>
                                        </p:attrNameLst>
                                      </p:cBhvr>
                                      <p:to>
                                        <p:strVal val="visible"/>
                                      </p:to>
                                    </p:set>
                                    <p:animEffect transition="in" filter="fade">
                                      <p:cBhvr>
                                        <p:cTn id="884" dur="400"/>
                                        <p:tgtEl>
                                          <p:spTgt spid="270"/>
                                        </p:tgtEl>
                                      </p:cBhvr>
                                    </p:animEffect>
                                  </p:childTnLst>
                                </p:cTn>
                              </p:par>
                            </p:childTnLst>
                          </p:cTn>
                        </p:par>
                      </p:childTnLst>
                    </p:cTn>
                  </p:par>
                  <p:par>
                    <p:cTn id="913" fill="hold">
                      <p:stCondLst>
                        <p:cond delay="indefinite"/>
                      </p:stCondLst>
                      <p:childTnLst>
                        <p:par>
                          <p:cTn id="914" fill="hold">
                            <p:stCondLst>
                              <p:cond delay="0"/>
                            </p:stCondLst>
                            <p:childTnLst>
                              <p:par>
                                <p:cTn id="885" presetID="10" presetClass="exit" presetSubtype="0" fill="hold" grpId="1" nodeType="clickEffect">
                                  <p:stCondLst>
                                    <p:cond delay="0"/>
                                  </p:stCondLst>
                                  <p:childTnLst>
                                    <p:animEffect transition="out" filter="fade">
                                      <p:cBhvr>
                                        <p:cTn id="886" dur="200"/>
                                        <p:tgtEl>
                                          <p:spTgt spid="268"/>
                                        </p:tgtEl>
                                      </p:cBhvr>
                                    </p:animEffect>
                                    <p:set>
                                      <p:cBhvr>
                                        <p:cTn id="887" dur="1" fill="hold">
                                          <p:stCondLst>
                                            <p:cond delay="199"/>
                                          </p:stCondLst>
                                        </p:cTn>
                                        <p:tgtEl>
                                          <p:spTgt spid="268"/>
                                        </p:tgtEl>
                                        <p:attrNameLst>
                                          <p:attrName>style.visibility</p:attrName>
                                        </p:attrNameLst>
                                      </p:cBhvr>
                                      <p:to>
                                        <p:strVal val="hidden"/>
                                      </p:to>
                                    </p:set>
                                  </p:childTnLst>
                                </p:cTn>
                              </p:par>
                              <p:par>
                                <p:cTn id="888" presetID="10" presetClass="exit" presetSubtype="0" fill="hold" grpId="1" nodeType="withEffect">
                                  <p:stCondLst>
                                    <p:cond delay="0"/>
                                  </p:stCondLst>
                                  <p:childTnLst>
                                    <p:animEffect transition="out" filter="fade">
                                      <p:cBhvr>
                                        <p:cTn id="889" dur="200"/>
                                        <p:tgtEl>
                                          <p:spTgt spid="269"/>
                                        </p:tgtEl>
                                      </p:cBhvr>
                                    </p:animEffect>
                                    <p:set>
                                      <p:cBhvr>
                                        <p:cTn id="890" dur="1" fill="hold">
                                          <p:stCondLst>
                                            <p:cond delay="199"/>
                                          </p:stCondLst>
                                        </p:cTn>
                                        <p:tgtEl>
                                          <p:spTgt spid="269"/>
                                        </p:tgtEl>
                                        <p:attrNameLst>
                                          <p:attrName>style.visibility</p:attrName>
                                        </p:attrNameLst>
                                      </p:cBhvr>
                                      <p:to>
                                        <p:strVal val="hidden"/>
                                      </p:to>
                                    </p:set>
                                  </p:childTnLst>
                                </p:cTn>
                              </p:par>
                              <p:par>
                                <p:cTn id="891" presetID="10" presetClass="exit" presetSubtype="0" fill="hold" grpId="1" nodeType="withEffect">
                                  <p:stCondLst>
                                    <p:cond delay="0"/>
                                  </p:stCondLst>
                                  <p:childTnLst>
                                    <p:animEffect transition="out" filter="fade">
                                      <p:cBhvr>
                                        <p:cTn id="892" dur="200"/>
                                        <p:tgtEl>
                                          <p:spTgt spid="270"/>
                                        </p:tgtEl>
                                      </p:cBhvr>
                                    </p:animEffect>
                                    <p:set>
                                      <p:cBhvr>
                                        <p:cTn id="893" dur="1" fill="hold">
                                          <p:stCondLst>
                                            <p:cond delay="199"/>
                                          </p:stCondLst>
                                        </p:cTn>
                                        <p:tgtEl>
                                          <p:spTgt spid="270"/>
                                        </p:tgtEl>
                                        <p:attrNameLst>
                                          <p:attrName>style.visibility</p:attrName>
                                        </p:attrNameLst>
                                      </p:cBhvr>
                                      <p:to>
                                        <p:strVal val="hidden"/>
                                      </p:to>
                                    </p:set>
                                  </p:childTnLst>
                                </p:cTn>
                              </p:par>
                              <p:par>
                                <p:cTn id="894" presetID="10" presetClass="entr" presetSubtype="0" fill="hold" grpId="0" nodeType="withEffect">
                                  <p:stCondLst>
                                    <p:cond delay="200"/>
                                  </p:stCondLst>
                                  <p:childTnLst>
                                    <p:set>
                                      <p:cBhvr>
                                        <p:cTn id="895" dur="1" fill="hold">
                                          <p:stCondLst>
                                            <p:cond delay="0"/>
                                          </p:stCondLst>
                                        </p:cTn>
                                        <p:tgtEl>
                                          <p:spTgt spid="263"/>
                                        </p:tgtEl>
                                        <p:attrNameLst>
                                          <p:attrName>style.visibility</p:attrName>
                                        </p:attrNameLst>
                                      </p:cBhvr>
                                      <p:to>
                                        <p:strVal val="visible"/>
                                      </p:to>
                                    </p:set>
                                    <p:animEffect transition="in" filter="fade">
                                      <p:cBhvr>
                                        <p:cTn id="896" dur="400"/>
                                        <p:tgtEl>
                                          <p:spTgt spid="263"/>
                                        </p:tgtEl>
                                      </p:cBhvr>
                                    </p:animEffect>
                                  </p:childTnLst>
                                </p:cTn>
                              </p:par>
                              <p:par>
                                <p:cTn id="897" presetID="10" presetClass="entr" presetSubtype="0" fill="hold" grpId="0" nodeType="withEffect">
                                  <p:stCondLst>
                                    <p:cond delay="200"/>
                                  </p:stCondLst>
                                  <p:childTnLst>
                                    <p:set>
                                      <p:cBhvr>
                                        <p:cTn id="898" dur="1" fill="hold">
                                          <p:stCondLst>
                                            <p:cond delay="0"/>
                                          </p:stCondLst>
                                        </p:cTn>
                                        <p:tgtEl>
                                          <p:spTgt spid="264"/>
                                        </p:tgtEl>
                                        <p:attrNameLst>
                                          <p:attrName>style.visibility</p:attrName>
                                        </p:attrNameLst>
                                      </p:cBhvr>
                                      <p:to>
                                        <p:strVal val="visible"/>
                                      </p:to>
                                    </p:set>
                                    <p:animEffect transition="in" filter="fade">
                                      <p:cBhvr>
                                        <p:cTn id="899" dur="400"/>
                                        <p:tgtEl>
                                          <p:spTgt spid="264"/>
                                        </p:tgtEl>
                                      </p:cBhvr>
                                    </p:animEffect>
                                  </p:childTnLst>
                                </p:cTn>
                              </p:par>
                              <p:par>
                                <p:cTn id="900" presetID="10" presetClass="entr" presetSubtype="0" fill="hold" grpId="0" nodeType="withEffect">
                                  <p:stCondLst>
                                    <p:cond delay="200"/>
                                  </p:stCondLst>
                                  <p:childTnLst>
                                    <p:set>
                                      <p:cBhvr>
                                        <p:cTn id="901" dur="1" fill="hold">
                                          <p:stCondLst>
                                            <p:cond delay="0"/>
                                          </p:stCondLst>
                                        </p:cTn>
                                        <p:tgtEl>
                                          <p:spTgt spid="265"/>
                                        </p:tgtEl>
                                        <p:attrNameLst>
                                          <p:attrName>style.visibility</p:attrName>
                                        </p:attrNameLst>
                                      </p:cBhvr>
                                      <p:to>
                                        <p:strVal val="visible"/>
                                      </p:to>
                                    </p:set>
                                    <p:animEffect transition="in" filter="fade">
                                      <p:cBhvr>
                                        <p:cTn id="902" dur="400"/>
                                        <p:tgtEl>
                                          <p:spTgt spid="265"/>
                                        </p:tgtEl>
                                      </p:cBhvr>
                                    </p:animEffect>
                                  </p:childTnLst>
                                </p:cTn>
                              </p:par>
                              <p:par>
                                <p:cTn id="903" presetID="10" presetClass="entr" presetSubtype="0" fill="hold" grpId="0" nodeType="withEffect">
                                  <p:stCondLst>
                                    <p:cond delay="200"/>
                                  </p:stCondLst>
                                  <p:childTnLst>
                                    <p:set>
                                      <p:cBhvr>
                                        <p:cTn id="904" dur="1" fill="hold">
                                          <p:stCondLst>
                                            <p:cond delay="0"/>
                                          </p:stCondLst>
                                        </p:cTn>
                                        <p:tgtEl>
                                          <p:spTgt spid="266"/>
                                        </p:tgtEl>
                                        <p:attrNameLst>
                                          <p:attrName>style.visibility</p:attrName>
                                        </p:attrNameLst>
                                      </p:cBhvr>
                                      <p:to>
                                        <p:strVal val="visible"/>
                                      </p:to>
                                    </p:set>
                                    <p:animEffect transition="in" filter="fade">
                                      <p:cBhvr>
                                        <p:cTn id="905" dur="400"/>
                                        <p:tgtEl>
                                          <p:spTgt spid="266"/>
                                        </p:tgtEl>
                                      </p:cBhvr>
                                    </p:animEffect>
                                  </p:childTnLst>
                                </p:cTn>
                              </p:par>
                              <p:par>
                                <p:cTn id="906" presetID="10" presetClass="entr" presetSubtype="0" fill="hold" grpId="0" nodeType="withEffect">
                                  <p:stCondLst>
                                    <p:cond delay="200"/>
                                  </p:stCondLst>
                                  <p:childTnLst>
                                    <p:set>
                                      <p:cBhvr>
                                        <p:cTn id="907" dur="1" fill="hold">
                                          <p:stCondLst>
                                            <p:cond delay="0"/>
                                          </p:stCondLst>
                                        </p:cTn>
                                        <p:tgtEl>
                                          <p:spTgt spid="267"/>
                                        </p:tgtEl>
                                        <p:attrNameLst>
                                          <p:attrName>style.visibility</p:attrName>
                                        </p:attrNameLst>
                                      </p:cBhvr>
                                      <p:to>
                                        <p:strVal val="visible"/>
                                      </p:to>
                                    </p:set>
                                    <p:animEffect transition="in" filter="fade">
                                      <p:cBhvr>
                                        <p:cTn id="908" dur="4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8" grpId="1" animBg="1"/>
      <p:bldP spid="19" grpId="0" animBg="1"/>
      <p:bldP spid="19" grpId="1"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4" grpId="1" animBg="1"/>
      <p:bldP spid="35" grpId="0" animBg="1"/>
      <p:bldP spid="35" grpId="1" animBg="1"/>
      <p:bldP spid="36" grpId="0" animBg="1"/>
      <p:bldP spid="36" grpId="1" animBg="1"/>
      <p:bldP spid="37" grpId="0" animBg="1"/>
      <p:bldP spid="37" grpId="1"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7" grpId="1" animBg="1"/>
      <p:bldP spid="118" grpId="0" animBg="1"/>
      <p:bldP spid="118" grpId="1" animBg="1"/>
      <p:bldP spid="119" grpId="0" animBg="1"/>
      <p:bldP spid="119" grpId="1" animBg="1"/>
      <p:bldP spid="120" grpId="0" animBg="1"/>
      <p:bldP spid="120" grpId="1" animBg="1"/>
      <p:bldP spid="121" grpId="0" animBg="1"/>
      <p:bldP spid="121" grpId="1" animBg="1"/>
      <p:bldP spid="122" grpId="0" animBg="1"/>
      <p:bldP spid="122" grpId="1" animBg="1"/>
      <p:bldP spid="123" grpId="0" animBg="1"/>
      <p:bldP spid="123" grpId="1" animBg="1"/>
      <p:bldP spid="124" grpId="0" animBg="1"/>
      <p:bldP spid="124" grpId="1" animBg="1"/>
      <p:bldP spid="125" grpId="0" animBg="1"/>
      <p:bldP spid="125" grpId="1" animBg="1"/>
      <p:bldP spid="126" grpId="0" animBg="1"/>
      <p:bldP spid="126" grpId="1" animBg="1"/>
      <p:bldP spid="127" grpId="0" animBg="1"/>
      <p:bldP spid="127" grpId="1" animBg="1"/>
      <p:bldP spid="128" grpId="0" animBg="1"/>
      <p:bldP spid="128" grpId="1"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1" grpId="1" animBg="1"/>
      <p:bldP spid="162" grpId="0" animBg="1"/>
      <p:bldP spid="162" grpId="1" animBg="1"/>
      <p:bldP spid="163" grpId="0" animBg="1"/>
      <p:bldP spid="163" grpId="1" animBg="1"/>
      <p:bldP spid="164" grpId="0" animBg="1"/>
      <p:bldP spid="164" grpId="1" animBg="1"/>
      <p:bldP spid="165" grpId="0" animBg="1"/>
      <p:bldP spid="165" grpId="1" animBg="1"/>
      <p:bldP spid="166" grpId="0" animBg="1"/>
      <p:bldP spid="166" grpId="1" animBg="1"/>
      <p:bldP spid="167" grpId="0" animBg="1"/>
      <p:bldP spid="167" grpId="1" animBg="1"/>
      <p:bldP spid="168" grpId="0" animBg="1"/>
      <p:bldP spid="168" grpId="1" animBg="1"/>
      <p:bldP spid="169" grpId="0" animBg="1"/>
      <p:bldP spid="169" grpId="1" animBg="1"/>
      <p:bldP spid="170" grpId="0" animBg="1"/>
      <p:bldP spid="170" grpId="1" animBg="1"/>
      <p:bldP spid="171" grpId="0" animBg="1"/>
      <p:bldP spid="171" grpId="1" animBg="1"/>
      <p:bldP spid="172" grpId="0" animBg="1"/>
      <p:bldP spid="172" grpId="1" animBg="1"/>
      <p:bldP spid="173" grpId="0" animBg="1"/>
      <p:bldP spid="173" grpId="1" animBg="1"/>
      <p:bldP spid="174" grpId="0" animBg="1"/>
      <p:bldP spid="174" grpId="1" animBg="1"/>
      <p:bldP spid="175" grpId="0" animBg="1"/>
      <p:bldP spid="175" grpId="1" animBg="1"/>
      <p:bldP spid="176" grpId="0" animBg="1"/>
      <p:bldP spid="176" grpId="1" animBg="1"/>
      <p:bldP spid="177" grpId="0" animBg="1"/>
      <p:bldP spid="177" grpId="1" animBg="1"/>
      <p:bldP spid="178" grpId="0" animBg="1"/>
      <p:bldP spid="178" grpId="1"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animBg="1"/>
      <p:bldP spid="200" grpId="0" animBg="1"/>
      <p:bldP spid="201" grpId="0" animBg="1"/>
      <p:bldP spid="202" grpId="0" animBg="1"/>
      <p:bldP spid="203" grpId="0" animBg="1"/>
      <p:bldP spid="204" grpId="0" animBg="1"/>
      <p:bldP spid="205" grpId="0" animBg="1"/>
      <p:bldP spid="206" grpId="0" animBg="1"/>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P spid="230" grpId="0" animBg="1"/>
      <p:bldP spid="231" grpId="0" animBg="1"/>
      <p:bldP spid="232" grpId="0" animBg="1"/>
      <p:bldP spid="233" grpId="0" animBg="1"/>
      <p:bldP spid="234" grpId="0" animBg="1"/>
      <p:bldP spid="235" grpId="0" animBg="1"/>
      <p:bldP spid="236" grpId="0" animBg="1"/>
      <p:bldP spid="237" grpId="0" animBg="1"/>
      <p:bldP spid="238" grpId="0" animBg="1"/>
      <p:bldP spid="239" grpId="0" animBg="1"/>
      <p:bldP spid="240" grpId="0" animBg="1"/>
      <p:bldP spid="241" grpId="0" animBg="1"/>
      <p:bldP spid="242" grpId="0" animBg="1"/>
      <p:bldP spid="243" grpId="0" animBg="1"/>
      <p:bldP spid="244" grpId="0" animBg="1"/>
      <p:bldP spid="245" grpId="0" animBg="1"/>
      <p:bldP spid="246" grpId="0" animBg="1"/>
      <p:bldP spid="248" grpId="0" animBg="1"/>
      <p:bldP spid="249" grpId="0" animBg="1"/>
      <p:bldP spid="250" grpId="0" animBg="1"/>
      <p:bldP spid="251" grpId="0" animBg="1"/>
      <p:bldP spid="252" grpId="0" animBg="1"/>
      <p:bldP spid="253" grpId="0" animBg="1"/>
      <p:bldP spid="254" grpId="0" animBg="1"/>
      <p:bldP spid="255" grpId="0" animBg="1"/>
      <p:bldP spid="256" grpId="0" animBg="1"/>
      <p:bldP spid="257" grpId="0" animBg="1"/>
      <p:bldP spid="258" grpId="0" animBg="1"/>
      <p:bldP spid="259" grpId="0" animBg="1"/>
      <p:bldP spid="260" grpId="0" animBg="1"/>
      <p:bldP spid="261" grpId="0" animBg="1"/>
      <p:bldP spid="262" grpId="0" animBg="1"/>
      <p:bldP spid="263" grpId="0" animBg="1"/>
      <p:bldP spid="264" grpId="0" animBg="1"/>
      <p:bldP spid="265" grpId="0" animBg="1"/>
      <p:bldP spid="266" grpId="0" animBg="1"/>
      <p:bldP spid="267" grpId="0" animBg="1"/>
      <p:bldP spid="268" grpId="0" animBg="1"/>
      <p:bldP spid="268" grpId="1" animBg="1"/>
      <p:bldP spid="269" grpId="0" animBg="1"/>
      <p:bldP spid="269" grpId="1" animBg="1"/>
      <p:bldP spid="270" grpId="0" animBg="1"/>
      <p:bldP spid="270" grpId="1" animBg="1"/>
      <p:bldP spid="271" grpId="0" animBg="1"/>
      <p:bldP spid="271" grpId="1" animBg="1"/>
      <p:bldP spid="272" grpId="0" animBg="1"/>
      <p:bldP spid="272" grpId="1" animBg="1"/>
      <p:bldP spid="273" grpId="0" animBg="1"/>
      <p:bldP spid="274" grpId="0" animBg="1"/>
      <p:bldP spid="275" grpId="0" animBg="1"/>
      <p:bldP spid="276"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Picture 1"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52500" y="2117280"/>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05</a:t>
            </a:r>
          </a:p>
        </p:txBody>
      </p:sp>
      <p:sp>
        <p:nvSpPr>
          <p:cNvPr id="4" name="Rectangle 3"/>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Análisis de resultados</a:t>
            </a:r>
          </a:p>
        </p:txBody>
      </p:sp>
      <p:sp>
        <p:nvSpPr>
          <p:cNvPr id="7" name="Rectangle 6"/>
          <p:cNvSpPr/>
          <p:nvPr/>
        </p:nvSpPr>
        <p:spPr>
          <a:xfrm>
            <a:off x="3111500" y="2567876"/>
            <a:ext cx="8128000" cy="8685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11500" y="2567876"/>
            <a:ext cx="38100" cy="868553"/>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5200" y="2731668"/>
            <a:ext cx="7888986" cy="62738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Qué dicen los resultados, qué no dicen, una lección sobre el límite de la propia</a:t>
            </a:r>
            <a:br/>
            <a:r>
              <a:rPr sz="1900" b="0" i="0">
                <a:solidFill>
                  <a:srgbClr val="C7D2E8"/>
                </a:solidFill>
                <a:latin typeface="Calibri"/>
              </a:rPr>
              <a:t>batería y el contraste de la hipótesis.</a:t>
            </a:r>
          </a:p>
        </p:txBody>
      </p:sp>
      <p:sp>
        <p:nvSpPr>
          <p:cNvPr id="10" name="Rounded Rectangle 9"/>
          <p:cNvSpPr/>
          <p:nvPr/>
        </p:nvSpPr>
        <p:spPr>
          <a:xfrm>
            <a:off x="95567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96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01</a:t>
            </a:r>
            <a:br/>
            <a:r>
              <a:rPr sz="1100" b="0" i="0">
                <a:solidFill>
                  <a:srgbClr val="E6ECF7"/>
                </a:solidFill>
                <a:latin typeface="Calibri"/>
              </a:rPr>
              <a:t>Introducción</a:t>
            </a:r>
          </a:p>
        </p:txBody>
      </p:sp>
      <p:sp>
        <p:nvSpPr>
          <p:cNvPr id="12" name="Rounded Rectangle 11"/>
          <p:cNvSpPr/>
          <p:nvPr/>
        </p:nvSpPr>
        <p:spPr>
          <a:xfrm>
            <a:off x="268922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02</a:t>
            </a:r>
            <a:br/>
            <a:r>
              <a:rPr sz="1100" b="0" i="0">
                <a:solidFill>
                  <a:srgbClr val="E6ECF7"/>
                </a:solidFill>
                <a:latin typeface="Calibri"/>
              </a:rPr>
              <a:t>Base teórica</a:t>
            </a:r>
          </a:p>
        </p:txBody>
      </p:sp>
      <p:sp>
        <p:nvSpPr>
          <p:cNvPr id="14" name="Rounded Rectangle 13"/>
          <p:cNvSpPr/>
          <p:nvPr/>
        </p:nvSpPr>
        <p:spPr>
          <a:xfrm>
            <a:off x="442277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67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03</a:t>
            </a:r>
            <a:br/>
            <a:r>
              <a:rPr sz="1100" b="0" i="0">
                <a:solidFill>
                  <a:srgbClr val="E6ECF7"/>
                </a:solidFill>
                <a:latin typeface="Calibri"/>
              </a:rPr>
              <a:t>Diseño y desarrollo</a:t>
            </a:r>
          </a:p>
        </p:txBody>
      </p:sp>
      <p:sp>
        <p:nvSpPr>
          <p:cNvPr id="16" name="Rounded Rectangle 15"/>
          <p:cNvSpPr/>
          <p:nvPr/>
        </p:nvSpPr>
        <p:spPr>
          <a:xfrm>
            <a:off x="615632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03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04</a:t>
            </a:r>
            <a:br/>
            <a:r>
              <a:rPr sz="1100" b="0" i="0">
                <a:solidFill>
                  <a:srgbClr val="E6ECF7"/>
                </a:solidFill>
                <a:latin typeface="Calibri"/>
              </a:rPr>
              <a:t>Resultados</a:t>
            </a:r>
          </a:p>
        </p:txBody>
      </p:sp>
      <p:sp>
        <p:nvSpPr>
          <p:cNvPr id="18" name="Rounded Rectangle 17"/>
          <p:cNvSpPr/>
          <p:nvPr/>
        </p:nvSpPr>
        <p:spPr>
          <a:xfrm>
            <a:off x="7886700" y="5671947"/>
            <a:ext cx="1619250" cy="576453"/>
          </a:xfrm>
          <a:prstGeom prst="roundRect">
            <a:avLst>
              <a:gd name="adj" fmla="val 11015"/>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438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05</a:t>
            </a:r>
            <a:br/>
            <a:r>
              <a:rPr sz="1100" b="1" i="0">
                <a:solidFill>
                  <a:srgbClr val="FFFFFF"/>
                </a:solidFill>
                <a:latin typeface="Calibri"/>
              </a:rPr>
              <a:t>Análisis</a:t>
            </a:r>
          </a:p>
        </p:txBody>
      </p:sp>
      <p:sp>
        <p:nvSpPr>
          <p:cNvPr id="20" name="Rounded Rectangle 19"/>
          <p:cNvSpPr/>
          <p:nvPr/>
        </p:nvSpPr>
        <p:spPr>
          <a:xfrm>
            <a:off x="9623425" y="5675122"/>
            <a:ext cx="1612900" cy="570103"/>
          </a:xfrm>
          <a:prstGeom prst="roundRect">
            <a:avLst>
              <a:gd name="adj" fmla="val 10581"/>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774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C7D2E8"/>
                </a:solidFill>
                <a:latin typeface="Calibri"/>
              </a:rPr>
              <a:t>06</a:t>
            </a:r>
            <a:br/>
            <a:r>
              <a:rPr sz="1100" b="0" i="0">
                <a:solidFill>
                  <a:srgbClr val="C7D2E8"/>
                </a:solidFill>
                <a:latin typeface="Calibri"/>
              </a:rPr>
              <a:t>Conclusiones</a:t>
            </a:r>
          </a:p>
        </p:txBody>
      </p:sp>
      <p:sp>
        <p:nvSpPr>
          <p:cNvPr id="22" name="Enlace a sep-intro">
            <a:hlinkClick action="ppaction://hlinksldjump" r:id="rId3"/>
          </p:cNvPr>
          <p:cNvSpPr/>
          <p:nvPr/>
        </p:nvSpPr>
        <p:spPr>
          <a:xfrm>
            <a:off x="9525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nlace a sep-teoria">
            <a:hlinkClick action="ppaction://hlinksldjump" r:id="rId4"/>
          </p:cNvPr>
          <p:cNvSpPr/>
          <p:nvPr/>
        </p:nvSpPr>
        <p:spPr>
          <a:xfrm>
            <a:off x="26860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nlace a sep-diseno">
            <a:hlinkClick action="ppaction://hlinksldjump" r:id="rId5"/>
          </p:cNvPr>
          <p:cNvSpPr/>
          <p:nvPr/>
        </p:nvSpPr>
        <p:spPr>
          <a:xfrm>
            <a:off x="44196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nlace a sep-resultados">
            <a:hlinkClick action="ppaction://hlinksldjump" r:id="rId6"/>
          </p:cNvPr>
          <p:cNvSpPr/>
          <p:nvPr/>
        </p:nvSpPr>
        <p:spPr>
          <a:xfrm>
            <a:off x="61531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nlace a sep-analisis">
            <a:hlinkClick action="ppaction://hlinksldjump" r:id="rId7"/>
          </p:cNvPr>
          <p:cNvSpPr/>
          <p:nvPr/>
        </p:nvSpPr>
        <p:spPr>
          <a:xfrm>
            <a:off x="78867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nlace a sep-conclusiones">
            <a:hlinkClick action="ppaction://hlinksldjump" r:id="rId8"/>
          </p:cNvPr>
          <p:cNvSpPr/>
          <p:nvPr/>
        </p:nvSpPr>
        <p:spPr>
          <a:xfrm>
            <a:off x="96202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2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2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5" presetID="10" presetClass="entr" presetSubtype="0" fill="hold" grpId="0" nodeType="withEffect">
                                  <p:stCondLst>
                                    <p:cond delay="34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34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4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4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45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4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45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45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45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05</a:t>
            </a:r>
          </a:p>
        </p:txBody>
      </p:sp>
      <p:sp>
        <p:nvSpPr>
          <p:cNvPr id="4" name="TextBox 3"/>
          <p:cNvSpPr txBox="1"/>
          <p:nvPr/>
        </p:nvSpPr>
        <p:spPr>
          <a:xfrm>
            <a:off x="898398" y="282141"/>
            <a:ext cx="176053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Análisis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Con 578 GDL, el error del Q9 es más de diez veces menor</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8b94102200df750.png"/>
          <p:cNvPicPr>
            <a:picLocks noChangeAspect="1"/>
          </p:cNvPicPr>
          <p:nvPr/>
        </p:nvPicPr>
        <p:blipFill>
          <a:blip r:embed="rId2"/>
          <a:stretch>
            <a:fillRect/>
          </a:stretch>
        </p:blipFill>
        <p:spPr>
          <a:xfrm>
            <a:off x="635000" y="1435100"/>
            <a:ext cx="6350000" cy="4064000"/>
          </a:xfrm>
          <a:prstGeom prst="rect">
            <a:avLst/>
          </a:prstGeom>
        </p:spPr>
      </p:pic>
      <p:sp>
        <p:nvSpPr>
          <p:cNvPr id="14" name="TextBox 13"/>
          <p:cNvSpPr txBox="1"/>
          <p:nvPr/>
        </p:nvSpPr>
        <p:spPr>
          <a:xfrm>
            <a:off x="7302500" y="1436642"/>
            <a:ext cx="4339590" cy="124016"/>
          </a:xfrm>
          <a:prstGeom prst="rect">
            <a:avLst/>
          </a:prstGeom>
          <a:noFill/>
        </p:spPr>
        <p:txBody>
          <a:bodyPr wrap="square" lIns="0" rIns="0" tIns="0" bIns="0" anchor="t"/>
          <a:lstStyle/>
          <a:p>
            <a:pPr algn="l">
              <a:lnSpc>
                <a:spcPts val="976"/>
              </a:lnSpc>
              <a:spcBef>
                <a:spcPts val="0"/>
              </a:spcBef>
              <a:spcAft>
                <a:spcPts val="0"/>
              </a:spcAft>
            </a:pPr>
            <a:r>
              <a:rPr sz="800" b="0" i="0">
                <a:solidFill>
                  <a:srgbClr val="1F2937"/>
                </a:solidFill>
                <a:latin typeface="Calibri"/>
              </a:rPr>
              <a:t>Síntesis Q4 frente a Q9 (Tabla 3.5)</a:t>
            </a:r>
          </a:p>
        </p:txBody>
      </p:sp>
      <p:sp>
        <p:nvSpPr>
          <p:cNvPr id="15" name="Rectangle 14"/>
          <p:cNvSpPr/>
          <p:nvPr/>
        </p:nvSpPr>
        <p:spPr>
          <a:xfrm>
            <a:off x="7302500" y="1606550"/>
            <a:ext cx="1195578"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02500" y="1955800"/>
            <a:ext cx="119557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16800" y="1700362"/>
            <a:ext cx="101777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Aspecto</a:t>
            </a:r>
          </a:p>
        </p:txBody>
      </p:sp>
      <p:sp>
        <p:nvSpPr>
          <p:cNvPr id="18" name="Rectangle 17"/>
          <p:cNvSpPr/>
          <p:nvPr/>
        </p:nvSpPr>
        <p:spPr>
          <a:xfrm>
            <a:off x="8498078" y="1606550"/>
            <a:ext cx="1386967"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98078" y="1955800"/>
            <a:ext cx="1386967"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61578" y="1700362"/>
            <a:ext cx="1209167"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F77B4"/>
                </a:solidFill>
                <a:latin typeface="Calibri"/>
              </a:rPr>
              <a:t>Q4</a:t>
            </a:r>
          </a:p>
        </p:txBody>
      </p:sp>
      <p:sp>
        <p:nvSpPr>
          <p:cNvPr id="21" name="Rectangle 20"/>
          <p:cNvSpPr/>
          <p:nvPr/>
        </p:nvSpPr>
        <p:spPr>
          <a:xfrm>
            <a:off x="9885045" y="1606550"/>
            <a:ext cx="1671955"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885045" y="1955800"/>
            <a:ext cx="1671955"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48545" y="1700362"/>
            <a:ext cx="1494155"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FF7F0E"/>
                </a:solidFill>
                <a:latin typeface="Calibri"/>
              </a:rPr>
              <a:t>Q9</a:t>
            </a:r>
          </a:p>
        </p:txBody>
      </p:sp>
      <p:sp>
        <p:nvSpPr>
          <p:cNvPr id="24" name="Rectangle 23"/>
          <p:cNvSpPr/>
          <p:nvPr/>
        </p:nvSpPr>
        <p:spPr>
          <a:xfrm>
            <a:off x="7302500" y="1974850"/>
            <a:ext cx="1195578" cy="3762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2500" y="2344738"/>
            <a:ext cx="119557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6800" y="2079022"/>
            <a:ext cx="1017778" cy="166688"/>
          </a:xfrm>
          <a:prstGeom prst="rect">
            <a:avLst/>
          </a:prstGeom>
          <a:noFill/>
        </p:spPr>
        <p:txBody>
          <a:bodyPr wrap="square" lIns="0" rIns="0" tIns="0" bIns="0" anchor="t"/>
          <a:lstStyle/>
          <a:p>
            <a:pPr algn="l">
              <a:lnSpc>
                <a:spcPts val="1312"/>
              </a:lnSpc>
              <a:spcBef>
                <a:spcPts val="0"/>
              </a:spcBef>
              <a:spcAft>
                <a:spcPts val="0"/>
              </a:spcAft>
            </a:pPr>
            <a:r>
              <a:rPr sz="1050" b="0" i="0">
                <a:solidFill>
                  <a:srgbClr val="1F2937"/>
                </a:solidFill>
                <a:latin typeface="Calibri"/>
              </a:rPr>
              <a:t>Tasa L² (MMS)</a:t>
            </a:r>
          </a:p>
        </p:txBody>
      </p:sp>
      <p:sp>
        <p:nvSpPr>
          <p:cNvPr id="27" name="Rectangle 26"/>
          <p:cNvSpPr/>
          <p:nvPr/>
        </p:nvSpPr>
        <p:spPr>
          <a:xfrm>
            <a:off x="8498078" y="1974850"/>
            <a:ext cx="1386967" cy="3762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98078" y="2344738"/>
            <a:ext cx="138696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61578" y="2091722"/>
            <a:ext cx="1209167"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h</a:t>
            </a:r>
            <a:r>
              <a:rPr sz="1050" b="0" i="0" baseline="30000">
                <a:solidFill>
                  <a:srgbClr val="1F2937"/>
                </a:solidFill>
                <a:latin typeface="Calibri"/>
              </a:rPr>
              <a:t>2,00</a:t>
            </a:r>
          </a:p>
        </p:txBody>
      </p:sp>
      <p:sp>
        <p:nvSpPr>
          <p:cNvPr id="30" name="Rectangle 29"/>
          <p:cNvSpPr/>
          <p:nvPr/>
        </p:nvSpPr>
        <p:spPr>
          <a:xfrm>
            <a:off x="9885045" y="1974850"/>
            <a:ext cx="1671955" cy="3762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885045" y="2344738"/>
            <a:ext cx="167195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48545" y="2091722"/>
            <a:ext cx="1494155"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h</a:t>
            </a:r>
            <a:r>
              <a:rPr sz="1050" b="0" i="0" baseline="30000">
                <a:solidFill>
                  <a:srgbClr val="1F2937"/>
                </a:solidFill>
                <a:latin typeface="Calibri"/>
              </a:rPr>
              <a:t>3,00</a:t>
            </a:r>
          </a:p>
        </p:txBody>
      </p:sp>
      <p:sp>
        <p:nvSpPr>
          <p:cNvPr id="33" name="Rectangle 32"/>
          <p:cNvSpPr/>
          <p:nvPr/>
        </p:nvSpPr>
        <p:spPr>
          <a:xfrm>
            <a:off x="7302500" y="2351088"/>
            <a:ext cx="1195578" cy="3762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02500" y="2720975"/>
            <a:ext cx="119557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16800" y="2455259"/>
            <a:ext cx="1017778" cy="166688"/>
          </a:xfrm>
          <a:prstGeom prst="rect">
            <a:avLst/>
          </a:prstGeom>
          <a:noFill/>
        </p:spPr>
        <p:txBody>
          <a:bodyPr wrap="square" lIns="0" rIns="0" tIns="0" bIns="0" anchor="t"/>
          <a:lstStyle/>
          <a:p>
            <a:pPr algn="l">
              <a:lnSpc>
                <a:spcPts val="1312"/>
              </a:lnSpc>
              <a:spcBef>
                <a:spcPts val="0"/>
              </a:spcBef>
              <a:spcAft>
                <a:spcPts val="0"/>
              </a:spcAft>
            </a:pPr>
            <a:r>
              <a:rPr sz="1050" b="0" i="0">
                <a:solidFill>
                  <a:srgbClr val="1F2937"/>
                </a:solidFill>
                <a:latin typeface="Calibri"/>
              </a:rPr>
              <a:t>Tasa H¹ (MMS)</a:t>
            </a:r>
          </a:p>
        </p:txBody>
      </p:sp>
      <p:sp>
        <p:nvSpPr>
          <p:cNvPr id="36" name="Rectangle 35"/>
          <p:cNvSpPr/>
          <p:nvPr/>
        </p:nvSpPr>
        <p:spPr>
          <a:xfrm>
            <a:off x="8498078" y="2351088"/>
            <a:ext cx="1386967" cy="3762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98078" y="2720975"/>
            <a:ext cx="138696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1578" y="2467959"/>
            <a:ext cx="1209167"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h</a:t>
            </a:r>
            <a:r>
              <a:rPr sz="1050" b="0" i="0" baseline="30000">
                <a:solidFill>
                  <a:srgbClr val="1F2937"/>
                </a:solidFill>
                <a:latin typeface="Calibri"/>
              </a:rPr>
              <a:t>1,00</a:t>
            </a:r>
          </a:p>
        </p:txBody>
      </p:sp>
      <p:sp>
        <p:nvSpPr>
          <p:cNvPr id="39" name="Rectangle 38"/>
          <p:cNvSpPr/>
          <p:nvPr/>
        </p:nvSpPr>
        <p:spPr>
          <a:xfrm>
            <a:off x="9885045" y="2351088"/>
            <a:ext cx="1671955" cy="3762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885045" y="2720975"/>
            <a:ext cx="167195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948545" y="2467959"/>
            <a:ext cx="1494155"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h</a:t>
            </a:r>
            <a:r>
              <a:rPr sz="1050" b="0" i="0" baseline="30000">
                <a:solidFill>
                  <a:srgbClr val="1F2937"/>
                </a:solidFill>
                <a:latin typeface="Calibri"/>
              </a:rPr>
              <a:t>2,00</a:t>
            </a:r>
          </a:p>
        </p:txBody>
      </p:sp>
      <p:sp>
        <p:nvSpPr>
          <p:cNvPr id="42" name="Rectangle 41"/>
          <p:cNvSpPr/>
          <p:nvPr/>
        </p:nvSpPr>
        <p:spPr>
          <a:xfrm>
            <a:off x="7302500" y="2727325"/>
            <a:ext cx="1195578"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02500" y="3071812"/>
            <a:ext cx="119557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16800" y="2818797"/>
            <a:ext cx="1017778" cy="166688"/>
          </a:xfrm>
          <a:prstGeom prst="rect">
            <a:avLst/>
          </a:prstGeom>
          <a:noFill/>
        </p:spPr>
        <p:txBody>
          <a:bodyPr wrap="square" lIns="0" rIns="0" tIns="0" bIns="0" anchor="t"/>
          <a:lstStyle/>
          <a:p>
            <a:pPr algn="l">
              <a:lnSpc>
                <a:spcPts val="1312"/>
              </a:lnSpc>
              <a:spcBef>
                <a:spcPts val="0"/>
              </a:spcBef>
              <a:spcAft>
                <a:spcPts val="0"/>
              </a:spcAft>
            </a:pPr>
            <a:r>
              <a:rPr sz="1050" b="0" i="0">
                <a:solidFill>
                  <a:srgbClr val="1F2937"/>
                </a:solidFill>
                <a:latin typeface="Calibri"/>
              </a:rPr>
              <a:t>Cook N = 8</a:t>
            </a:r>
          </a:p>
        </p:txBody>
      </p:sp>
      <p:sp>
        <p:nvSpPr>
          <p:cNvPr id="45" name="Rectangle 44"/>
          <p:cNvSpPr/>
          <p:nvPr/>
        </p:nvSpPr>
        <p:spPr>
          <a:xfrm>
            <a:off x="8498078" y="2727325"/>
            <a:ext cx="1386967"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498078" y="3071812"/>
            <a:ext cx="138696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61578" y="2818797"/>
            <a:ext cx="1209167"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22,079 (−7,850 %)</a:t>
            </a:r>
          </a:p>
        </p:txBody>
      </p:sp>
      <p:sp>
        <p:nvSpPr>
          <p:cNvPr id="48" name="Rectangle 47"/>
          <p:cNvSpPr/>
          <p:nvPr/>
        </p:nvSpPr>
        <p:spPr>
          <a:xfrm>
            <a:off x="9885045" y="2727325"/>
            <a:ext cx="1671955" cy="3508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885045" y="3071812"/>
            <a:ext cx="167195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48545" y="2818797"/>
            <a:ext cx="1494155"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23,925 (−0,144 %)</a:t>
            </a:r>
          </a:p>
        </p:txBody>
      </p:sp>
      <p:sp>
        <p:nvSpPr>
          <p:cNvPr id="51" name="Rectangle 50"/>
          <p:cNvSpPr/>
          <p:nvPr/>
        </p:nvSpPr>
        <p:spPr>
          <a:xfrm>
            <a:off x="7302500" y="3078162"/>
            <a:ext cx="1195578"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302500" y="3422650"/>
            <a:ext cx="119557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16800" y="3169634"/>
            <a:ext cx="1017778" cy="166688"/>
          </a:xfrm>
          <a:prstGeom prst="rect">
            <a:avLst/>
          </a:prstGeom>
          <a:noFill/>
        </p:spPr>
        <p:txBody>
          <a:bodyPr wrap="square" lIns="0" rIns="0" tIns="0" bIns="0" anchor="t"/>
          <a:lstStyle/>
          <a:p>
            <a:pPr algn="l">
              <a:lnSpc>
                <a:spcPts val="1312"/>
              </a:lnSpc>
              <a:spcBef>
                <a:spcPts val="0"/>
              </a:spcBef>
              <a:spcAft>
                <a:spcPts val="0"/>
              </a:spcAft>
            </a:pPr>
            <a:r>
              <a:rPr sz="1050" b="0" i="0">
                <a:solidFill>
                  <a:srgbClr val="1F2937"/>
                </a:solidFill>
                <a:latin typeface="Calibri"/>
              </a:rPr>
              <a:t>Cook N = 16</a:t>
            </a:r>
          </a:p>
        </p:txBody>
      </p:sp>
      <p:sp>
        <p:nvSpPr>
          <p:cNvPr id="54" name="Rectangle 53"/>
          <p:cNvSpPr/>
          <p:nvPr/>
        </p:nvSpPr>
        <p:spPr>
          <a:xfrm>
            <a:off x="8498078" y="3078162"/>
            <a:ext cx="1386967"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498078" y="3422650"/>
            <a:ext cx="138696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61578" y="3169634"/>
            <a:ext cx="1209167"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23,430 (−2,210 %)</a:t>
            </a:r>
          </a:p>
        </p:txBody>
      </p:sp>
      <p:sp>
        <p:nvSpPr>
          <p:cNvPr id="57" name="Rectangle 56"/>
          <p:cNvSpPr/>
          <p:nvPr/>
        </p:nvSpPr>
        <p:spPr>
          <a:xfrm>
            <a:off x="9885045" y="3078162"/>
            <a:ext cx="1671955"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885045" y="3422650"/>
            <a:ext cx="167195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948545" y="3169634"/>
            <a:ext cx="1494155"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23,949 (−0,044 %)</a:t>
            </a:r>
          </a:p>
        </p:txBody>
      </p:sp>
      <p:sp>
        <p:nvSpPr>
          <p:cNvPr id="60" name="Rectangle 59"/>
          <p:cNvSpPr/>
          <p:nvPr/>
        </p:nvSpPr>
        <p:spPr>
          <a:xfrm>
            <a:off x="7302500" y="3429000"/>
            <a:ext cx="1195578" cy="38138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02500" y="3804031"/>
            <a:ext cx="119557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16800" y="3520472"/>
            <a:ext cx="1017778" cy="166688"/>
          </a:xfrm>
          <a:prstGeom prst="rect">
            <a:avLst/>
          </a:prstGeom>
          <a:noFill/>
        </p:spPr>
        <p:txBody>
          <a:bodyPr wrap="square" lIns="0" rIns="0" tIns="0" bIns="0" anchor="t"/>
          <a:lstStyle/>
          <a:p>
            <a:pPr algn="l">
              <a:lnSpc>
                <a:spcPts val="1312"/>
              </a:lnSpc>
              <a:spcBef>
                <a:spcPts val="0"/>
              </a:spcBef>
              <a:spcAft>
                <a:spcPts val="0"/>
              </a:spcAft>
            </a:pPr>
            <a:r>
              <a:rPr sz="1050" b="0" i="0">
                <a:solidFill>
                  <a:srgbClr val="1F2937"/>
                </a:solidFill>
                <a:latin typeface="Calibri"/>
              </a:rPr>
              <a:t>Timoshenko σ</a:t>
            </a:r>
            <a:r>
              <a:rPr sz="1050" b="0" i="0" baseline="-25000">
                <a:solidFill>
                  <a:srgbClr val="1F2937"/>
                </a:solidFill>
                <a:latin typeface="Calibri"/>
              </a:rPr>
              <a:t>x</a:t>
            </a:r>
          </a:p>
        </p:txBody>
      </p:sp>
      <p:sp>
        <p:nvSpPr>
          <p:cNvPr id="63" name="Rectangle 62"/>
          <p:cNvSpPr/>
          <p:nvPr/>
        </p:nvSpPr>
        <p:spPr>
          <a:xfrm>
            <a:off x="8498078" y="3429000"/>
            <a:ext cx="1386967" cy="38138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498078" y="3804031"/>
            <a:ext cx="138696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561578" y="3535712"/>
            <a:ext cx="1209167"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a:t>
            </a:r>
          </a:p>
        </p:txBody>
      </p:sp>
      <p:sp>
        <p:nvSpPr>
          <p:cNvPr id="66" name="Rectangle 65"/>
          <p:cNvSpPr/>
          <p:nvPr/>
        </p:nvSpPr>
        <p:spPr>
          <a:xfrm>
            <a:off x="9885045" y="3429000"/>
            <a:ext cx="1671955" cy="38138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885045" y="3804031"/>
            <a:ext cx="167195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948545" y="3535712"/>
            <a:ext cx="1494155"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0,0414 %</a:t>
            </a:r>
          </a:p>
        </p:txBody>
      </p:sp>
      <p:sp>
        <p:nvSpPr>
          <p:cNvPr id="69" name="Rectangle 68"/>
          <p:cNvSpPr/>
          <p:nvPr/>
        </p:nvSpPr>
        <p:spPr>
          <a:xfrm>
            <a:off x="7302500" y="3810381"/>
            <a:ext cx="1195578"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7302500" y="4154868"/>
            <a:ext cx="119557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16800" y="3901853"/>
            <a:ext cx="1017778" cy="166688"/>
          </a:xfrm>
          <a:prstGeom prst="rect">
            <a:avLst/>
          </a:prstGeom>
          <a:noFill/>
        </p:spPr>
        <p:txBody>
          <a:bodyPr wrap="square" lIns="0" rIns="0" tIns="0" bIns="0" anchor="t"/>
          <a:lstStyle/>
          <a:p>
            <a:pPr algn="l">
              <a:lnSpc>
                <a:spcPts val="1312"/>
              </a:lnSpc>
              <a:spcBef>
                <a:spcPts val="0"/>
              </a:spcBef>
              <a:spcAft>
                <a:spcPts val="0"/>
              </a:spcAft>
            </a:pPr>
            <a:r>
              <a:rPr sz="1050" b="0" i="0">
                <a:solidFill>
                  <a:srgbClr val="1F2937"/>
                </a:solidFill>
                <a:latin typeface="Calibri"/>
              </a:rPr>
              <a:t>Bajo distorsión</a:t>
            </a:r>
          </a:p>
        </p:txBody>
      </p:sp>
      <p:sp>
        <p:nvSpPr>
          <p:cNvPr id="72" name="Rectangle 71"/>
          <p:cNvSpPr/>
          <p:nvPr/>
        </p:nvSpPr>
        <p:spPr>
          <a:xfrm>
            <a:off x="8498078" y="3810381"/>
            <a:ext cx="1386967"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498078" y="4154868"/>
            <a:ext cx="138696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561578" y="3901853"/>
            <a:ext cx="1209167"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bloqueo parcial</a:t>
            </a:r>
          </a:p>
        </p:txBody>
      </p:sp>
      <p:sp>
        <p:nvSpPr>
          <p:cNvPr id="75" name="Rectangle 74"/>
          <p:cNvSpPr/>
          <p:nvPr/>
        </p:nvSpPr>
        <p:spPr>
          <a:xfrm>
            <a:off x="9885045" y="3810381"/>
            <a:ext cx="1671955" cy="350838"/>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885045" y="4154868"/>
            <a:ext cx="167195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948545" y="3901853"/>
            <a:ext cx="1494155" cy="166688"/>
          </a:xfrm>
          <a:prstGeom prst="rect">
            <a:avLst/>
          </a:prstGeom>
          <a:noFill/>
        </p:spPr>
        <p:txBody>
          <a:bodyPr wrap="square" lIns="0" rIns="0" tIns="0" bIns="0" anchor="t"/>
          <a:lstStyle/>
          <a:p>
            <a:pPr algn="r">
              <a:lnSpc>
                <a:spcPts val="1312"/>
              </a:lnSpc>
              <a:spcBef>
                <a:spcPts val="0"/>
              </a:spcBef>
              <a:spcAft>
                <a:spcPts val="0"/>
              </a:spcAft>
            </a:pPr>
            <a:r>
              <a:rPr sz="1050" b="0" i="0">
                <a:solidFill>
                  <a:srgbClr val="1F2937"/>
                </a:solidFill>
                <a:latin typeface="Calibri"/>
              </a:rPr>
              <a:t>sin bloqueo apreciable</a:t>
            </a:r>
          </a:p>
        </p:txBody>
      </p:sp>
      <p:sp>
        <p:nvSpPr>
          <p:cNvPr id="78" name="TextBox 77"/>
          <p:cNvSpPr txBox="1"/>
          <p:nvPr/>
        </p:nvSpPr>
        <p:spPr>
          <a:xfrm>
            <a:off x="7302500" y="4222528"/>
            <a:ext cx="4339590"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La viga se resolvió solo con Q9 (§ 2.1.4).</a:t>
            </a:r>
          </a:p>
        </p:txBody>
      </p:sp>
      <p:pic>
        <p:nvPicPr>
          <p:cNvPr id="79" name="Picture 78" descr="6868df785feb7812.png"/>
          <p:cNvPicPr>
            <a:picLocks noChangeAspect="1"/>
          </p:cNvPicPr>
          <p:nvPr/>
        </p:nvPicPr>
        <p:blipFill>
          <a:blip r:embed="rId3"/>
          <a:stretch>
            <a:fillRect/>
          </a:stretch>
        </p:blipFill>
        <p:spPr>
          <a:xfrm>
            <a:off x="635000" y="1435100"/>
            <a:ext cx="6350000" cy="4064000"/>
          </a:xfrm>
          <a:prstGeom prst="rect">
            <a:avLst/>
          </a:prstGeom>
        </p:spPr>
      </p:pic>
      <p:sp>
        <p:nvSpPr>
          <p:cNvPr id="80" name="Rounded Rectangle 79"/>
          <p:cNvSpPr/>
          <p:nvPr/>
        </p:nvSpPr>
        <p:spPr>
          <a:xfrm>
            <a:off x="635000" y="5562600"/>
            <a:ext cx="6350000" cy="771525"/>
          </a:xfrm>
          <a:prstGeom prst="roundRect">
            <a:avLst>
              <a:gd name="adj" fmla="val 13168"/>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74700" y="5636101"/>
            <a:ext cx="6192012" cy="619125"/>
          </a:xfrm>
          <a:prstGeom prst="rect">
            <a:avLst/>
          </a:prstGeom>
          <a:noFill/>
        </p:spPr>
        <p:txBody>
          <a:bodyPr wrap="square" lIns="0" rIns="0" tIns="0" bIns="0" anchor="t"/>
          <a:lstStyle/>
          <a:p>
            <a:pPr algn="l">
              <a:lnSpc>
                <a:spcPts val="1625"/>
              </a:lnSpc>
              <a:spcBef>
                <a:spcPts val="0"/>
              </a:spcBef>
              <a:spcAft>
                <a:spcPts val="0"/>
              </a:spcAft>
            </a:pPr>
            <a:r>
              <a:rPr sz="1250" b="0" i="0">
                <a:solidFill>
                  <a:srgbClr val="1F2937"/>
                </a:solidFill>
                <a:latin typeface="Calibri"/>
              </a:rPr>
              <a:t>Con 578 GDL el error del Q9 es</a:t>
            </a:r>
            <a:r>
              <a:rPr sz="1250" b="1" i="0">
                <a:solidFill>
                  <a:srgbClr val="1F2937"/>
                </a:solidFill>
                <a:latin typeface="Calibri"/>
              </a:rPr>
              <a:t> más de diez veces menor</a:t>
            </a:r>
            <a:r>
              <a:rPr sz="1250" b="0" i="0">
                <a:solidFill>
                  <a:srgbClr val="1F2937"/>
                </a:solidFill>
                <a:latin typeface="Calibri"/>
              </a:rPr>
              <a:t> que el del Q4 (entre 12 y 15 veces</a:t>
            </a:r>
            <a:br/>
            <a:r>
              <a:rPr sz="1250" b="0" i="0">
                <a:solidFill>
                  <a:srgbClr val="1F2937"/>
                </a:solidFill>
                <a:latin typeface="Calibri"/>
              </a:rPr>
              <a:t>según la referencia). Con 2178 GDL el error del Q9 cae dentro de la incertidumbre de la</a:t>
            </a:r>
            <a:br/>
            <a:r>
              <a:rPr sz="1250" b="0" i="0">
                <a:solidFill>
                  <a:srgbClr val="1F2937"/>
                </a:solidFill>
                <a:latin typeface="Calibri"/>
              </a:rPr>
              <a:t>referencia y la razón deja de ser significativa.</a:t>
            </a:r>
          </a:p>
        </p:txBody>
      </p:sp>
      <p:pic>
        <p:nvPicPr>
          <p:cNvPr id="82" name="Picture 81" descr="c9fae81e57330320.png"/>
          <p:cNvPicPr>
            <a:picLocks noChangeAspect="1"/>
          </p:cNvPicPr>
          <p:nvPr/>
        </p:nvPicPr>
        <p:blipFill>
          <a:blip r:embed="rId4"/>
          <a:stretch>
            <a:fillRect/>
          </a:stretch>
        </p:blipFill>
        <p:spPr>
          <a:xfrm>
            <a:off x="635000" y="1435100"/>
            <a:ext cx="6350000" cy="4064000"/>
          </a:xfrm>
          <a:prstGeom prst="rect">
            <a:avLst/>
          </a:prstGeom>
        </p:spPr>
      </p:pic>
      <p:sp>
        <p:nvSpPr>
          <p:cNvPr id="83" name="Rectangle 82"/>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86" name="TextBox 85"/>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3.7.1 · Tabla 3.5</a:t>
            </a:r>
          </a:p>
        </p:txBody>
      </p:sp>
      <p:sp>
        <p:nvSpPr>
          <p:cNvPr id="87" name="TextBox 86"/>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46</a:t>
            </a:r>
          </a:p>
        </p:txBody>
      </p:sp>
      <p:sp>
        <p:nvSpPr>
          <p:cNvPr id="88" name="Enlace a sep-intro">
            <a:hlinkClick action="ppaction://hlinksldjump" r:id="rId5"/>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Enlace a sep-teoria">
            <a:hlinkClick action="ppaction://hlinksldjump" r:id="rId6"/>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Enlace a sep-diseno">
            <a:hlinkClick action="ppaction://hlinksldjump" r:id="rId7"/>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Enlace a sep-resultados">
            <a:hlinkClick action="ppaction://hlinksldjump" r:id="rId8"/>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Enlace a sep-analisis">
            <a:hlinkClick action="ppaction://hlinksldjump" r:id="rId9"/>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Enlace a sep-conclusiones">
            <a:hlinkClick action="ppaction://hlinksldjump" r:id="rId10"/>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6" fill="hold">
                      <p:stCondLst>
                        <p:cond delay="indefinite"/>
                      </p:stCondLst>
                      <p:childTnLst>
                        <p:par>
                          <p:cTn id="217" fill="hold">
                            <p:stCondLst>
                              <p:cond delay="0"/>
                            </p:stCondLst>
                            <p:childTnLst>
                              <p:par>
                                <p:cTn id="3" presetID="10" presetClass="exit" presetSubtype="0" fill="hold" grpId="0" nodeType="clickEffect">
                                  <p:stCondLst>
                                    <p:cond delay="0"/>
                                  </p:stCondLst>
                                  <p:childTnLst>
                                    <p:animEffect transition="out" filter="fade">
                                      <p:cBhvr>
                                        <p:cTn id="4" dur="200"/>
                                        <p:tgtEl>
                                          <p:spTgt spid="82"/>
                                        </p:tgtEl>
                                      </p:cBhvr>
                                    </p:animEffect>
                                    <p:set>
                                      <p:cBhvr>
                                        <p:cTn id="5" dur="1" fill="hold">
                                          <p:stCondLst>
                                            <p:cond delay="199"/>
                                          </p:stCondLst>
                                        </p:cTn>
                                        <p:tgtEl>
                                          <p:spTgt spid="82"/>
                                        </p:tgtEl>
                                        <p:attrNameLst>
                                          <p:attrName>style.visibility</p:attrName>
                                        </p:attrNameLst>
                                      </p:cBhvr>
                                      <p:to>
                                        <p:strVal val="hidden"/>
                                      </p:to>
                                    </p:set>
                                  </p:childTnLst>
                                </p:cTn>
                              </p:par>
                              <p:par>
                                <p:cTn id="6" presetID="10" presetClass="entr" presetSubtype="0" fill="hold" grpId="0" nodeType="withEffect">
                                  <p:stCondLst>
                                    <p:cond delay="200"/>
                                  </p:stCondLst>
                                  <p:childTnLst>
                                    <p:set>
                                      <p:cBhvr>
                                        <p:cTn id="7" dur="1" fill="hold">
                                          <p:stCondLst>
                                            <p:cond delay="0"/>
                                          </p:stCondLst>
                                        </p:cTn>
                                        <p:tgtEl>
                                          <p:spTgt spid="79"/>
                                        </p:tgtEl>
                                        <p:attrNameLst>
                                          <p:attrName>style.visibility</p:attrName>
                                        </p:attrNameLst>
                                      </p:cBhvr>
                                      <p:to>
                                        <p:strVal val="visible"/>
                                      </p:to>
                                    </p:set>
                                    <p:animEffect transition="in" filter="fade">
                                      <p:cBhvr>
                                        <p:cTn id="8" dur="400"/>
                                        <p:tgtEl>
                                          <p:spTgt spid="79"/>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80"/>
                                        </p:tgtEl>
                                        <p:attrNameLst>
                                          <p:attrName>style.visibility</p:attrName>
                                        </p:attrNameLst>
                                      </p:cBhvr>
                                      <p:to>
                                        <p:strVal val="visible"/>
                                      </p:to>
                                    </p:set>
                                    <p:animEffect transition="in" filter="fade">
                                      <p:cBhvr>
                                        <p:cTn id="11" dur="400"/>
                                        <p:tgtEl>
                                          <p:spTgt spid="80"/>
                                        </p:tgtEl>
                                      </p:cBhvr>
                                    </p:animEffect>
                                  </p:childTnLst>
                                </p:cTn>
                              </p:par>
                              <p:par>
                                <p:cTn id="12" presetID="10" presetClass="entr" presetSubtype="0" fill="hold" grpId="0" nodeType="withEffect">
                                  <p:stCondLst>
                                    <p:cond delay="200"/>
                                  </p:stCondLst>
                                  <p:childTnLst>
                                    <p:set>
                                      <p:cBhvr>
                                        <p:cTn id="13" dur="1" fill="hold">
                                          <p:stCondLst>
                                            <p:cond delay="0"/>
                                          </p:stCondLst>
                                        </p:cTn>
                                        <p:tgtEl>
                                          <p:spTgt spid="81"/>
                                        </p:tgtEl>
                                        <p:attrNameLst>
                                          <p:attrName>style.visibility</p:attrName>
                                        </p:attrNameLst>
                                      </p:cBhvr>
                                      <p:to>
                                        <p:strVal val="visible"/>
                                      </p:to>
                                    </p:set>
                                    <p:animEffect transition="in" filter="fade">
                                      <p:cBhvr>
                                        <p:cTn id="14" dur="400"/>
                                        <p:tgtEl>
                                          <p:spTgt spid="81"/>
                                        </p:tgtEl>
                                      </p:cBhvr>
                                    </p:animEffect>
                                  </p:childTnLst>
                                </p:cTn>
                              </p:par>
                            </p:childTnLst>
                          </p:cTn>
                        </p:par>
                      </p:childTnLst>
                    </p:cTn>
                  </p:par>
                  <p:par>
                    <p:cTn id="218" fill="hold">
                      <p:stCondLst>
                        <p:cond delay="indefinite"/>
                      </p:stCondLst>
                      <p:childTnLst>
                        <p:par>
                          <p:cTn id="219" fill="hold">
                            <p:stCondLst>
                              <p:cond delay="0"/>
                            </p:stCondLst>
                            <p:childTnLst>
                              <p:par>
                                <p:cTn id="15" presetID="10" presetClass="exit" presetSubtype="0" fill="hold" grpId="1" nodeType="clickEffect">
                                  <p:stCondLst>
                                    <p:cond delay="0"/>
                                  </p:stCondLst>
                                  <p:childTnLst>
                                    <p:animEffect transition="out" filter="fade">
                                      <p:cBhvr>
                                        <p:cTn id="16" dur="200"/>
                                        <p:tgtEl>
                                          <p:spTgt spid="79"/>
                                        </p:tgtEl>
                                      </p:cBhvr>
                                    </p:animEffect>
                                    <p:set>
                                      <p:cBhvr>
                                        <p:cTn id="17" dur="1" fill="hold">
                                          <p:stCondLst>
                                            <p:cond delay="199"/>
                                          </p:stCondLst>
                                        </p:cTn>
                                        <p:tgtEl>
                                          <p:spTgt spid="79"/>
                                        </p:tgtEl>
                                        <p:attrNameLst>
                                          <p:attrName>style.visibility</p:attrName>
                                        </p:attrNameLst>
                                      </p:cBhvr>
                                      <p:to>
                                        <p:strVal val="hidden"/>
                                      </p:to>
                                    </p:set>
                                  </p:childTnLst>
                                </p:cTn>
                              </p:par>
                              <p:par>
                                <p:cTn id="18" presetID="10" presetClass="entr" presetSubtype="0" fill="hold" grpId="0" nodeType="withEffect">
                                  <p:stCondLst>
                                    <p:cond delay="20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00"/>
                                        <p:tgtEl>
                                          <p:spTgt spid="13"/>
                                        </p:tgtEl>
                                      </p:cBhvr>
                                    </p:animEffect>
                                  </p:childTnLst>
                                </p:cTn>
                              </p:par>
                              <p:par>
                                <p:cTn id="21" presetID="10" presetClass="entr" presetSubtype="0" fill="hold" grpId="0" nodeType="withEffect">
                                  <p:stCondLst>
                                    <p:cond delay="20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00"/>
                                        <p:tgtEl>
                                          <p:spTgt spid="14"/>
                                        </p:tgtEl>
                                      </p:cBhvr>
                                    </p:animEffect>
                                  </p:childTnLst>
                                </p:cTn>
                              </p:par>
                              <p:par>
                                <p:cTn id="24" presetID="10" presetClass="entr" presetSubtype="0" fill="hold" grpId="0" nodeType="withEffect">
                                  <p:stCondLst>
                                    <p:cond delay="20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27" presetID="10" presetClass="entr" presetSubtype="0" fill="hold" grpId="0" nodeType="withEffect">
                                  <p:stCondLst>
                                    <p:cond delay="20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0" presetID="10" presetClass="entr" presetSubtype="0" fill="hold" grpId="0" nodeType="withEffect">
                                  <p:stCondLst>
                                    <p:cond delay="20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par>
                                <p:cTn id="33" presetID="10" presetClass="entr" presetSubtype="0" fill="hold" grpId="0" nodeType="withEffect">
                                  <p:stCondLst>
                                    <p:cond delay="20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par>
                                <p:cTn id="36" presetID="10" presetClass="entr" presetSubtype="0" fill="hold" grpId="0" nodeType="withEffect">
                                  <p:stCondLst>
                                    <p:cond delay="20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400"/>
                                        <p:tgtEl>
                                          <p:spTgt spid="19"/>
                                        </p:tgtEl>
                                      </p:cBhvr>
                                    </p:animEffect>
                                  </p:childTnLst>
                                </p:cTn>
                              </p:par>
                              <p:par>
                                <p:cTn id="39" presetID="10" presetClass="entr" presetSubtype="0" fill="hold" grpId="0" nodeType="withEffect">
                                  <p:stCondLst>
                                    <p:cond delay="20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00"/>
                                        <p:tgtEl>
                                          <p:spTgt spid="20"/>
                                        </p:tgtEl>
                                      </p:cBhvr>
                                    </p:animEffect>
                                  </p:childTnLst>
                                </p:cTn>
                              </p:par>
                              <p:par>
                                <p:cTn id="42" presetID="10" presetClass="entr" presetSubtype="0" fill="hold" grpId="0" nodeType="withEffect">
                                  <p:stCondLst>
                                    <p:cond delay="20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00"/>
                                        <p:tgtEl>
                                          <p:spTgt spid="21"/>
                                        </p:tgtEl>
                                      </p:cBhvr>
                                    </p:animEffect>
                                  </p:childTnLst>
                                </p:cTn>
                              </p:par>
                              <p:par>
                                <p:cTn id="45" presetID="10" presetClass="entr" presetSubtype="0" fill="hold" grpId="0" nodeType="withEffect">
                                  <p:stCondLst>
                                    <p:cond delay="20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00"/>
                                        <p:tgtEl>
                                          <p:spTgt spid="22"/>
                                        </p:tgtEl>
                                      </p:cBhvr>
                                    </p:animEffect>
                                  </p:childTnLst>
                                </p:cTn>
                              </p:par>
                              <p:par>
                                <p:cTn id="48" presetID="10" presetClass="entr" presetSubtype="0" fill="hold" grpId="0" nodeType="withEffect">
                                  <p:stCondLst>
                                    <p:cond delay="20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400"/>
                                        <p:tgtEl>
                                          <p:spTgt spid="23"/>
                                        </p:tgtEl>
                                      </p:cBhvr>
                                    </p:animEffect>
                                  </p:childTnLst>
                                </p:cTn>
                              </p:par>
                              <p:par>
                                <p:cTn id="51" presetID="10" presetClass="entr" presetSubtype="0" fill="hold" grpId="0" nodeType="withEffect">
                                  <p:stCondLst>
                                    <p:cond delay="20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400"/>
                                        <p:tgtEl>
                                          <p:spTgt spid="24"/>
                                        </p:tgtEl>
                                      </p:cBhvr>
                                    </p:animEffect>
                                  </p:childTnLst>
                                </p:cTn>
                              </p:par>
                              <p:par>
                                <p:cTn id="54" presetID="10" presetClass="entr" presetSubtype="0" fill="hold" grpId="0" nodeType="withEffect">
                                  <p:stCondLst>
                                    <p:cond delay="20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par>
                                <p:cTn id="57" presetID="10" presetClass="entr" presetSubtype="0" fill="hold" grpId="0" nodeType="withEffect">
                                  <p:stCondLst>
                                    <p:cond delay="20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grpId="0" nodeType="withEffect">
                                  <p:stCondLst>
                                    <p:cond delay="20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par>
                                <p:cTn id="63" presetID="10" presetClass="entr" presetSubtype="0" fill="hold" grpId="0" nodeType="withEffect">
                                  <p:stCondLst>
                                    <p:cond delay="20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20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par>
                                <p:cTn id="69" presetID="10" presetClass="entr" presetSubtype="0" fill="hold" grpId="0" nodeType="withEffect">
                                  <p:stCondLst>
                                    <p:cond delay="20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00"/>
                                        <p:tgtEl>
                                          <p:spTgt spid="30"/>
                                        </p:tgtEl>
                                      </p:cBhvr>
                                    </p:animEffect>
                                  </p:childTnLst>
                                </p:cTn>
                              </p:par>
                              <p:par>
                                <p:cTn id="72" presetID="10" presetClass="entr" presetSubtype="0" fill="hold" grpId="0" nodeType="withEffect">
                                  <p:stCondLst>
                                    <p:cond delay="20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400"/>
                                        <p:tgtEl>
                                          <p:spTgt spid="31"/>
                                        </p:tgtEl>
                                      </p:cBhvr>
                                    </p:animEffect>
                                  </p:childTnLst>
                                </p:cTn>
                              </p:par>
                              <p:par>
                                <p:cTn id="75" presetID="10" presetClass="entr" presetSubtype="0" fill="hold" grpId="0" nodeType="withEffect">
                                  <p:stCondLst>
                                    <p:cond delay="20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400"/>
                                        <p:tgtEl>
                                          <p:spTgt spid="32"/>
                                        </p:tgtEl>
                                      </p:cBhvr>
                                    </p:animEffect>
                                  </p:childTnLst>
                                </p:cTn>
                              </p:par>
                              <p:par>
                                <p:cTn id="78" presetID="10" presetClass="entr" presetSubtype="0" fill="hold" grpId="0" nodeType="withEffect">
                                  <p:stCondLst>
                                    <p:cond delay="20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400"/>
                                        <p:tgtEl>
                                          <p:spTgt spid="33"/>
                                        </p:tgtEl>
                                      </p:cBhvr>
                                    </p:animEffect>
                                  </p:childTnLst>
                                </p:cTn>
                              </p:par>
                              <p:par>
                                <p:cTn id="81" presetID="10" presetClass="entr" presetSubtype="0" fill="hold" grpId="0" nodeType="withEffect">
                                  <p:stCondLst>
                                    <p:cond delay="20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400"/>
                                        <p:tgtEl>
                                          <p:spTgt spid="34"/>
                                        </p:tgtEl>
                                      </p:cBhvr>
                                    </p:animEffect>
                                  </p:childTnLst>
                                </p:cTn>
                              </p:par>
                              <p:par>
                                <p:cTn id="84" presetID="10" presetClass="entr" presetSubtype="0" fill="hold" grpId="0" nodeType="withEffect">
                                  <p:stCondLst>
                                    <p:cond delay="20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400"/>
                                        <p:tgtEl>
                                          <p:spTgt spid="35"/>
                                        </p:tgtEl>
                                      </p:cBhvr>
                                    </p:animEffect>
                                  </p:childTnLst>
                                </p:cTn>
                              </p:par>
                              <p:par>
                                <p:cTn id="87" presetID="10" presetClass="entr" presetSubtype="0" fill="hold" grpId="0" nodeType="withEffect">
                                  <p:stCondLst>
                                    <p:cond delay="20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400"/>
                                        <p:tgtEl>
                                          <p:spTgt spid="36"/>
                                        </p:tgtEl>
                                      </p:cBhvr>
                                    </p:animEffect>
                                  </p:childTnLst>
                                </p:cTn>
                              </p:par>
                              <p:par>
                                <p:cTn id="90" presetID="10" presetClass="entr" presetSubtype="0" fill="hold" grpId="0" nodeType="withEffect">
                                  <p:stCondLst>
                                    <p:cond delay="20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400"/>
                                        <p:tgtEl>
                                          <p:spTgt spid="37"/>
                                        </p:tgtEl>
                                      </p:cBhvr>
                                    </p:animEffect>
                                  </p:childTnLst>
                                </p:cTn>
                              </p:par>
                              <p:par>
                                <p:cTn id="93" presetID="10" presetClass="entr" presetSubtype="0" fill="hold" grpId="0" nodeType="withEffect">
                                  <p:stCondLst>
                                    <p:cond delay="200"/>
                                  </p:stCondLst>
                                  <p:childTnLst>
                                    <p:set>
                                      <p:cBhvr>
                                        <p:cTn id="94" dur="1" fill="hold">
                                          <p:stCondLst>
                                            <p:cond delay="0"/>
                                          </p:stCondLst>
                                        </p:cTn>
                                        <p:tgtEl>
                                          <p:spTgt spid="38"/>
                                        </p:tgtEl>
                                        <p:attrNameLst>
                                          <p:attrName>style.visibility</p:attrName>
                                        </p:attrNameLst>
                                      </p:cBhvr>
                                      <p:to>
                                        <p:strVal val="visible"/>
                                      </p:to>
                                    </p:set>
                                    <p:animEffect transition="in" filter="fade">
                                      <p:cBhvr>
                                        <p:cTn id="95" dur="400"/>
                                        <p:tgtEl>
                                          <p:spTgt spid="38"/>
                                        </p:tgtEl>
                                      </p:cBhvr>
                                    </p:animEffect>
                                  </p:childTnLst>
                                </p:cTn>
                              </p:par>
                              <p:par>
                                <p:cTn id="96" presetID="10" presetClass="entr" presetSubtype="0" fill="hold" grpId="0" nodeType="withEffect">
                                  <p:stCondLst>
                                    <p:cond delay="200"/>
                                  </p:stCondLst>
                                  <p:childTnLst>
                                    <p:set>
                                      <p:cBhvr>
                                        <p:cTn id="97" dur="1" fill="hold">
                                          <p:stCondLst>
                                            <p:cond delay="0"/>
                                          </p:stCondLst>
                                        </p:cTn>
                                        <p:tgtEl>
                                          <p:spTgt spid="39"/>
                                        </p:tgtEl>
                                        <p:attrNameLst>
                                          <p:attrName>style.visibility</p:attrName>
                                        </p:attrNameLst>
                                      </p:cBhvr>
                                      <p:to>
                                        <p:strVal val="visible"/>
                                      </p:to>
                                    </p:set>
                                    <p:animEffect transition="in" filter="fade">
                                      <p:cBhvr>
                                        <p:cTn id="98" dur="400"/>
                                        <p:tgtEl>
                                          <p:spTgt spid="39"/>
                                        </p:tgtEl>
                                      </p:cBhvr>
                                    </p:animEffect>
                                  </p:childTnLst>
                                </p:cTn>
                              </p:par>
                              <p:par>
                                <p:cTn id="99" presetID="10" presetClass="entr" presetSubtype="0" fill="hold" grpId="0" nodeType="withEffect">
                                  <p:stCondLst>
                                    <p:cond delay="200"/>
                                  </p:stCondLst>
                                  <p:childTnLst>
                                    <p:set>
                                      <p:cBhvr>
                                        <p:cTn id="100" dur="1" fill="hold">
                                          <p:stCondLst>
                                            <p:cond delay="0"/>
                                          </p:stCondLst>
                                        </p:cTn>
                                        <p:tgtEl>
                                          <p:spTgt spid="40"/>
                                        </p:tgtEl>
                                        <p:attrNameLst>
                                          <p:attrName>style.visibility</p:attrName>
                                        </p:attrNameLst>
                                      </p:cBhvr>
                                      <p:to>
                                        <p:strVal val="visible"/>
                                      </p:to>
                                    </p:set>
                                    <p:animEffect transition="in" filter="fade">
                                      <p:cBhvr>
                                        <p:cTn id="101" dur="400"/>
                                        <p:tgtEl>
                                          <p:spTgt spid="40"/>
                                        </p:tgtEl>
                                      </p:cBhvr>
                                    </p:animEffect>
                                  </p:childTnLst>
                                </p:cTn>
                              </p:par>
                              <p:par>
                                <p:cTn id="102" presetID="10" presetClass="entr" presetSubtype="0" fill="hold" grpId="0" nodeType="withEffect">
                                  <p:stCondLst>
                                    <p:cond delay="20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par>
                                <p:cTn id="105" presetID="10" presetClass="entr" presetSubtype="0" fill="hold" grpId="0" nodeType="withEffect">
                                  <p:stCondLst>
                                    <p:cond delay="20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7" dur="400"/>
                                        <p:tgtEl>
                                          <p:spTgt spid="42"/>
                                        </p:tgtEl>
                                      </p:cBhvr>
                                    </p:animEffect>
                                  </p:childTnLst>
                                </p:cTn>
                              </p:par>
                              <p:par>
                                <p:cTn id="108" presetID="10" presetClass="entr" presetSubtype="0" fill="hold" grpId="0" nodeType="withEffect">
                                  <p:stCondLst>
                                    <p:cond delay="200"/>
                                  </p:stCondLst>
                                  <p:childTnLst>
                                    <p:set>
                                      <p:cBhvr>
                                        <p:cTn id="109" dur="1" fill="hold">
                                          <p:stCondLst>
                                            <p:cond delay="0"/>
                                          </p:stCondLst>
                                        </p:cTn>
                                        <p:tgtEl>
                                          <p:spTgt spid="43"/>
                                        </p:tgtEl>
                                        <p:attrNameLst>
                                          <p:attrName>style.visibility</p:attrName>
                                        </p:attrNameLst>
                                      </p:cBhvr>
                                      <p:to>
                                        <p:strVal val="visible"/>
                                      </p:to>
                                    </p:set>
                                    <p:animEffect transition="in" filter="fade">
                                      <p:cBhvr>
                                        <p:cTn id="110" dur="400"/>
                                        <p:tgtEl>
                                          <p:spTgt spid="43"/>
                                        </p:tgtEl>
                                      </p:cBhvr>
                                    </p:animEffect>
                                  </p:childTnLst>
                                </p:cTn>
                              </p:par>
                              <p:par>
                                <p:cTn id="111" presetID="10" presetClass="entr" presetSubtype="0" fill="hold" grpId="0" nodeType="withEffect">
                                  <p:stCondLst>
                                    <p:cond delay="200"/>
                                  </p:stCondLst>
                                  <p:childTnLst>
                                    <p:set>
                                      <p:cBhvr>
                                        <p:cTn id="112" dur="1" fill="hold">
                                          <p:stCondLst>
                                            <p:cond delay="0"/>
                                          </p:stCondLst>
                                        </p:cTn>
                                        <p:tgtEl>
                                          <p:spTgt spid="44"/>
                                        </p:tgtEl>
                                        <p:attrNameLst>
                                          <p:attrName>style.visibility</p:attrName>
                                        </p:attrNameLst>
                                      </p:cBhvr>
                                      <p:to>
                                        <p:strVal val="visible"/>
                                      </p:to>
                                    </p:set>
                                    <p:animEffect transition="in" filter="fade">
                                      <p:cBhvr>
                                        <p:cTn id="113" dur="400"/>
                                        <p:tgtEl>
                                          <p:spTgt spid="44"/>
                                        </p:tgtEl>
                                      </p:cBhvr>
                                    </p:animEffect>
                                  </p:childTnLst>
                                </p:cTn>
                              </p:par>
                              <p:par>
                                <p:cTn id="114" presetID="10" presetClass="entr" presetSubtype="0" fill="hold" grpId="0" nodeType="withEffect">
                                  <p:stCondLst>
                                    <p:cond delay="200"/>
                                  </p:stCondLst>
                                  <p:childTnLst>
                                    <p:set>
                                      <p:cBhvr>
                                        <p:cTn id="115" dur="1" fill="hold">
                                          <p:stCondLst>
                                            <p:cond delay="0"/>
                                          </p:stCondLst>
                                        </p:cTn>
                                        <p:tgtEl>
                                          <p:spTgt spid="45"/>
                                        </p:tgtEl>
                                        <p:attrNameLst>
                                          <p:attrName>style.visibility</p:attrName>
                                        </p:attrNameLst>
                                      </p:cBhvr>
                                      <p:to>
                                        <p:strVal val="visible"/>
                                      </p:to>
                                    </p:set>
                                    <p:animEffect transition="in" filter="fade">
                                      <p:cBhvr>
                                        <p:cTn id="116" dur="400"/>
                                        <p:tgtEl>
                                          <p:spTgt spid="45"/>
                                        </p:tgtEl>
                                      </p:cBhvr>
                                    </p:animEffect>
                                  </p:childTnLst>
                                </p:cTn>
                              </p:par>
                              <p:par>
                                <p:cTn id="117" presetID="10" presetClass="entr" presetSubtype="0" fill="hold" grpId="0" nodeType="withEffect">
                                  <p:stCondLst>
                                    <p:cond delay="200"/>
                                  </p:stCondLst>
                                  <p:childTnLst>
                                    <p:set>
                                      <p:cBhvr>
                                        <p:cTn id="118" dur="1" fill="hold">
                                          <p:stCondLst>
                                            <p:cond delay="0"/>
                                          </p:stCondLst>
                                        </p:cTn>
                                        <p:tgtEl>
                                          <p:spTgt spid="46"/>
                                        </p:tgtEl>
                                        <p:attrNameLst>
                                          <p:attrName>style.visibility</p:attrName>
                                        </p:attrNameLst>
                                      </p:cBhvr>
                                      <p:to>
                                        <p:strVal val="visible"/>
                                      </p:to>
                                    </p:set>
                                    <p:animEffect transition="in" filter="fade">
                                      <p:cBhvr>
                                        <p:cTn id="119" dur="400"/>
                                        <p:tgtEl>
                                          <p:spTgt spid="46"/>
                                        </p:tgtEl>
                                      </p:cBhvr>
                                    </p:animEffect>
                                  </p:childTnLst>
                                </p:cTn>
                              </p:par>
                              <p:par>
                                <p:cTn id="120" presetID="10" presetClass="entr" presetSubtype="0" fill="hold" grpId="0" nodeType="withEffect">
                                  <p:stCondLst>
                                    <p:cond delay="200"/>
                                  </p:stCondLst>
                                  <p:childTnLst>
                                    <p:set>
                                      <p:cBhvr>
                                        <p:cTn id="121" dur="1" fill="hold">
                                          <p:stCondLst>
                                            <p:cond delay="0"/>
                                          </p:stCondLst>
                                        </p:cTn>
                                        <p:tgtEl>
                                          <p:spTgt spid="47"/>
                                        </p:tgtEl>
                                        <p:attrNameLst>
                                          <p:attrName>style.visibility</p:attrName>
                                        </p:attrNameLst>
                                      </p:cBhvr>
                                      <p:to>
                                        <p:strVal val="visible"/>
                                      </p:to>
                                    </p:set>
                                    <p:animEffect transition="in" filter="fade">
                                      <p:cBhvr>
                                        <p:cTn id="122" dur="400"/>
                                        <p:tgtEl>
                                          <p:spTgt spid="47"/>
                                        </p:tgtEl>
                                      </p:cBhvr>
                                    </p:animEffect>
                                  </p:childTnLst>
                                </p:cTn>
                              </p:par>
                              <p:par>
                                <p:cTn id="123" presetID="10" presetClass="entr" presetSubtype="0" fill="hold" grpId="0" nodeType="withEffect">
                                  <p:stCondLst>
                                    <p:cond delay="200"/>
                                  </p:stCondLst>
                                  <p:childTnLst>
                                    <p:set>
                                      <p:cBhvr>
                                        <p:cTn id="124" dur="1" fill="hold">
                                          <p:stCondLst>
                                            <p:cond delay="0"/>
                                          </p:stCondLst>
                                        </p:cTn>
                                        <p:tgtEl>
                                          <p:spTgt spid="48"/>
                                        </p:tgtEl>
                                        <p:attrNameLst>
                                          <p:attrName>style.visibility</p:attrName>
                                        </p:attrNameLst>
                                      </p:cBhvr>
                                      <p:to>
                                        <p:strVal val="visible"/>
                                      </p:to>
                                    </p:set>
                                    <p:animEffect transition="in" filter="fade">
                                      <p:cBhvr>
                                        <p:cTn id="125" dur="400"/>
                                        <p:tgtEl>
                                          <p:spTgt spid="48"/>
                                        </p:tgtEl>
                                      </p:cBhvr>
                                    </p:animEffect>
                                  </p:childTnLst>
                                </p:cTn>
                              </p:par>
                              <p:par>
                                <p:cTn id="126" presetID="10" presetClass="entr" presetSubtype="0" fill="hold" grpId="0" nodeType="withEffect">
                                  <p:stCondLst>
                                    <p:cond delay="200"/>
                                  </p:stCondLst>
                                  <p:childTnLst>
                                    <p:set>
                                      <p:cBhvr>
                                        <p:cTn id="127" dur="1" fill="hold">
                                          <p:stCondLst>
                                            <p:cond delay="0"/>
                                          </p:stCondLst>
                                        </p:cTn>
                                        <p:tgtEl>
                                          <p:spTgt spid="49"/>
                                        </p:tgtEl>
                                        <p:attrNameLst>
                                          <p:attrName>style.visibility</p:attrName>
                                        </p:attrNameLst>
                                      </p:cBhvr>
                                      <p:to>
                                        <p:strVal val="visible"/>
                                      </p:to>
                                    </p:set>
                                    <p:animEffect transition="in" filter="fade">
                                      <p:cBhvr>
                                        <p:cTn id="128" dur="400"/>
                                        <p:tgtEl>
                                          <p:spTgt spid="49"/>
                                        </p:tgtEl>
                                      </p:cBhvr>
                                    </p:animEffect>
                                  </p:childTnLst>
                                </p:cTn>
                              </p:par>
                              <p:par>
                                <p:cTn id="129" presetID="10" presetClass="entr" presetSubtype="0" fill="hold" grpId="0" nodeType="withEffect">
                                  <p:stCondLst>
                                    <p:cond delay="200"/>
                                  </p:stCondLst>
                                  <p:childTnLst>
                                    <p:set>
                                      <p:cBhvr>
                                        <p:cTn id="130" dur="1" fill="hold">
                                          <p:stCondLst>
                                            <p:cond delay="0"/>
                                          </p:stCondLst>
                                        </p:cTn>
                                        <p:tgtEl>
                                          <p:spTgt spid="50"/>
                                        </p:tgtEl>
                                        <p:attrNameLst>
                                          <p:attrName>style.visibility</p:attrName>
                                        </p:attrNameLst>
                                      </p:cBhvr>
                                      <p:to>
                                        <p:strVal val="visible"/>
                                      </p:to>
                                    </p:set>
                                    <p:animEffect transition="in" filter="fade">
                                      <p:cBhvr>
                                        <p:cTn id="131" dur="400"/>
                                        <p:tgtEl>
                                          <p:spTgt spid="50"/>
                                        </p:tgtEl>
                                      </p:cBhvr>
                                    </p:animEffect>
                                  </p:childTnLst>
                                </p:cTn>
                              </p:par>
                              <p:par>
                                <p:cTn id="132" presetID="10" presetClass="entr" presetSubtype="0" fill="hold" grpId="0" nodeType="withEffect">
                                  <p:stCondLst>
                                    <p:cond delay="200"/>
                                  </p:stCondLst>
                                  <p:childTnLst>
                                    <p:set>
                                      <p:cBhvr>
                                        <p:cTn id="133" dur="1" fill="hold">
                                          <p:stCondLst>
                                            <p:cond delay="0"/>
                                          </p:stCondLst>
                                        </p:cTn>
                                        <p:tgtEl>
                                          <p:spTgt spid="51"/>
                                        </p:tgtEl>
                                        <p:attrNameLst>
                                          <p:attrName>style.visibility</p:attrName>
                                        </p:attrNameLst>
                                      </p:cBhvr>
                                      <p:to>
                                        <p:strVal val="visible"/>
                                      </p:to>
                                    </p:set>
                                    <p:animEffect transition="in" filter="fade">
                                      <p:cBhvr>
                                        <p:cTn id="134" dur="400"/>
                                        <p:tgtEl>
                                          <p:spTgt spid="51"/>
                                        </p:tgtEl>
                                      </p:cBhvr>
                                    </p:animEffect>
                                  </p:childTnLst>
                                </p:cTn>
                              </p:par>
                              <p:par>
                                <p:cTn id="135" presetID="10" presetClass="entr" presetSubtype="0" fill="hold" grpId="0" nodeType="withEffect">
                                  <p:stCondLst>
                                    <p:cond delay="200"/>
                                  </p:stCondLst>
                                  <p:childTnLst>
                                    <p:set>
                                      <p:cBhvr>
                                        <p:cTn id="136" dur="1" fill="hold">
                                          <p:stCondLst>
                                            <p:cond delay="0"/>
                                          </p:stCondLst>
                                        </p:cTn>
                                        <p:tgtEl>
                                          <p:spTgt spid="52"/>
                                        </p:tgtEl>
                                        <p:attrNameLst>
                                          <p:attrName>style.visibility</p:attrName>
                                        </p:attrNameLst>
                                      </p:cBhvr>
                                      <p:to>
                                        <p:strVal val="visible"/>
                                      </p:to>
                                    </p:set>
                                    <p:animEffect transition="in" filter="fade">
                                      <p:cBhvr>
                                        <p:cTn id="137" dur="400"/>
                                        <p:tgtEl>
                                          <p:spTgt spid="52"/>
                                        </p:tgtEl>
                                      </p:cBhvr>
                                    </p:animEffect>
                                  </p:childTnLst>
                                </p:cTn>
                              </p:par>
                              <p:par>
                                <p:cTn id="138" presetID="10" presetClass="entr" presetSubtype="0" fill="hold" grpId="0" nodeType="withEffect">
                                  <p:stCondLst>
                                    <p:cond delay="200"/>
                                  </p:stCondLst>
                                  <p:childTnLst>
                                    <p:set>
                                      <p:cBhvr>
                                        <p:cTn id="139" dur="1" fill="hold">
                                          <p:stCondLst>
                                            <p:cond delay="0"/>
                                          </p:stCondLst>
                                        </p:cTn>
                                        <p:tgtEl>
                                          <p:spTgt spid="53"/>
                                        </p:tgtEl>
                                        <p:attrNameLst>
                                          <p:attrName>style.visibility</p:attrName>
                                        </p:attrNameLst>
                                      </p:cBhvr>
                                      <p:to>
                                        <p:strVal val="visible"/>
                                      </p:to>
                                    </p:set>
                                    <p:animEffect transition="in" filter="fade">
                                      <p:cBhvr>
                                        <p:cTn id="140" dur="400"/>
                                        <p:tgtEl>
                                          <p:spTgt spid="53"/>
                                        </p:tgtEl>
                                      </p:cBhvr>
                                    </p:animEffect>
                                  </p:childTnLst>
                                </p:cTn>
                              </p:par>
                              <p:par>
                                <p:cTn id="141" presetID="10" presetClass="entr" presetSubtype="0" fill="hold" grpId="0" nodeType="withEffect">
                                  <p:stCondLst>
                                    <p:cond delay="200"/>
                                  </p:stCondLst>
                                  <p:childTnLst>
                                    <p:set>
                                      <p:cBhvr>
                                        <p:cTn id="142" dur="1" fill="hold">
                                          <p:stCondLst>
                                            <p:cond delay="0"/>
                                          </p:stCondLst>
                                        </p:cTn>
                                        <p:tgtEl>
                                          <p:spTgt spid="54"/>
                                        </p:tgtEl>
                                        <p:attrNameLst>
                                          <p:attrName>style.visibility</p:attrName>
                                        </p:attrNameLst>
                                      </p:cBhvr>
                                      <p:to>
                                        <p:strVal val="visible"/>
                                      </p:to>
                                    </p:set>
                                    <p:animEffect transition="in" filter="fade">
                                      <p:cBhvr>
                                        <p:cTn id="143" dur="400"/>
                                        <p:tgtEl>
                                          <p:spTgt spid="54"/>
                                        </p:tgtEl>
                                      </p:cBhvr>
                                    </p:animEffect>
                                  </p:childTnLst>
                                </p:cTn>
                              </p:par>
                              <p:par>
                                <p:cTn id="144" presetID="10" presetClass="entr" presetSubtype="0" fill="hold" grpId="0" nodeType="withEffect">
                                  <p:stCondLst>
                                    <p:cond delay="200"/>
                                  </p:stCondLst>
                                  <p:childTnLst>
                                    <p:set>
                                      <p:cBhvr>
                                        <p:cTn id="145" dur="1" fill="hold">
                                          <p:stCondLst>
                                            <p:cond delay="0"/>
                                          </p:stCondLst>
                                        </p:cTn>
                                        <p:tgtEl>
                                          <p:spTgt spid="55"/>
                                        </p:tgtEl>
                                        <p:attrNameLst>
                                          <p:attrName>style.visibility</p:attrName>
                                        </p:attrNameLst>
                                      </p:cBhvr>
                                      <p:to>
                                        <p:strVal val="visible"/>
                                      </p:to>
                                    </p:set>
                                    <p:animEffect transition="in" filter="fade">
                                      <p:cBhvr>
                                        <p:cTn id="146" dur="400"/>
                                        <p:tgtEl>
                                          <p:spTgt spid="55"/>
                                        </p:tgtEl>
                                      </p:cBhvr>
                                    </p:animEffect>
                                  </p:childTnLst>
                                </p:cTn>
                              </p:par>
                              <p:par>
                                <p:cTn id="147" presetID="10" presetClass="entr" presetSubtype="0" fill="hold" grpId="0" nodeType="withEffect">
                                  <p:stCondLst>
                                    <p:cond delay="200"/>
                                  </p:stCondLst>
                                  <p:childTnLst>
                                    <p:set>
                                      <p:cBhvr>
                                        <p:cTn id="148" dur="1" fill="hold">
                                          <p:stCondLst>
                                            <p:cond delay="0"/>
                                          </p:stCondLst>
                                        </p:cTn>
                                        <p:tgtEl>
                                          <p:spTgt spid="56"/>
                                        </p:tgtEl>
                                        <p:attrNameLst>
                                          <p:attrName>style.visibility</p:attrName>
                                        </p:attrNameLst>
                                      </p:cBhvr>
                                      <p:to>
                                        <p:strVal val="visible"/>
                                      </p:to>
                                    </p:set>
                                    <p:animEffect transition="in" filter="fade">
                                      <p:cBhvr>
                                        <p:cTn id="149" dur="400"/>
                                        <p:tgtEl>
                                          <p:spTgt spid="56"/>
                                        </p:tgtEl>
                                      </p:cBhvr>
                                    </p:animEffect>
                                  </p:childTnLst>
                                </p:cTn>
                              </p:par>
                              <p:par>
                                <p:cTn id="150" presetID="10" presetClass="entr" presetSubtype="0" fill="hold" grpId="0" nodeType="withEffect">
                                  <p:stCondLst>
                                    <p:cond delay="200"/>
                                  </p:stCondLst>
                                  <p:childTnLst>
                                    <p:set>
                                      <p:cBhvr>
                                        <p:cTn id="151" dur="1" fill="hold">
                                          <p:stCondLst>
                                            <p:cond delay="0"/>
                                          </p:stCondLst>
                                        </p:cTn>
                                        <p:tgtEl>
                                          <p:spTgt spid="57"/>
                                        </p:tgtEl>
                                        <p:attrNameLst>
                                          <p:attrName>style.visibility</p:attrName>
                                        </p:attrNameLst>
                                      </p:cBhvr>
                                      <p:to>
                                        <p:strVal val="visible"/>
                                      </p:to>
                                    </p:set>
                                    <p:animEffect transition="in" filter="fade">
                                      <p:cBhvr>
                                        <p:cTn id="152" dur="400"/>
                                        <p:tgtEl>
                                          <p:spTgt spid="57"/>
                                        </p:tgtEl>
                                      </p:cBhvr>
                                    </p:animEffect>
                                  </p:childTnLst>
                                </p:cTn>
                              </p:par>
                              <p:par>
                                <p:cTn id="153" presetID="10" presetClass="entr" presetSubtype="0" fill="hold" grpId="0" nodeType="withEffect">
                                  <p:stCondLst>
                                    <p:cond delay="200"/>
                                  </p:stCondLst>
                                  <p:childTnLst>
                                    <p:set>
                                      <p:cBhvr>
                                        <p:cTn id="154" dur="1" fill="hold">
                                          <p:stCondLst>
                                            <p:cond delay="0"/>
                                          </p:stCondLst>
                                        </p:cTn>
                                        <p:tgtEl>
                                          <p:spTgt spid="58"/>
                                        </p:tgtEl>
                                        <p:attrNameLst>
                                          <p:attrName>style.visibility</p:attrName>
                                        </p:attrNameLst>
                                      </p:cBhvr>
                                      <p:to>
                                        <p:strVal val="visible"/>
                                      </p:to>
                                    </p:set>
                                    <p:animEffect transition="in" filter="fade">
                                      <p:cBhvr>
                                        <p:cTn id="155" dur="400"/>
                                        <p:tgtEl>
                                          <p:spTgt spid="58"/>
                                        </p:tgtEl>
                                      </p:cBhvr>
                                    </p:animEffect>
                                  </p:childTnLst>
                                </p:cTn>
                              </p:par>
                              <p:par>
                                <p:cTn id="156" presetID="10" presetClass="entr" presetSubtype="0" fill="hold" grpId="0" nodeType="withEffect">
                                  <p:stCondLst>
                                    <p:cond delay="200"/>
                                  </p:stCondLst>
                                  <p:childTnLst>
                                    <p:set>
                                      <p:cBhvr>
                                        <p:cTn id="157" dur="1" fill="hold">
                                          <p:stCondLst>
                                            <p:cond delay="0"/>
                                          </p:stCondLst>
                                        </p:cTn>
                                        <p:tgtEl>
                                          <p:spTgt spid="59"/>
                                        </p:tgtEl>
                                        <p:attrNameLst>
                                          <p:attrName>style.visibility</p:attrName>
                                        </p:attrNameLst>
                                      </p:cBhvr>
                                      <p:to>
                                        <p:strVal val="visible"/>
                                      </p:to>
                                    </p:set>
                                    <p:animEffect transition="in" filter="fade">
                                      <p:cBhvr>
                                        <p:cTn id="158" dur="400"/>
                                        <p:tgtEl>
                                          <p:spTgt spid="59"/>
                                        </p:tgtEl>
                                      </p:cBhvr>
                                    </p:animEffect>
                                  </p:childTnLst>
                                </p:cTn>
                              </p:par>
                              <p:par>
                                <p:cTn id="159" presetID="10" presetClass="entr" presetSubtype="0" fill="hold" grpId="0" nodeType="withEffect">
                                  <p:stCondLst>
                                    <p:cond delay="200"/>
                                  </p:stCondLst>
                                  <p:childTnLst>
                                    <p:set>
                                      <p:cBhvr>
                                        <p:cTn id="160" dur="1" fill="hold">
                                          <p:stCondLst>
                                            <p:cond delay="0"/>
                                          </p:stCondLst>
                                        </p:cTn>
                                        <p:tgtEl>
                                          <p:spTgt spid="60"/>
                                        </p:tgtEl>
                                        <p:attrNameLst>
                                          <p:attrName>style.visibility</p:attrName>
                                        </p:attrNameLst>
                                      </p:cBhvr>
                                      <p:to>
                                        <p:strVal val="visible"/>
                                      </p:to>
                                    </p:set>
                                    <p:animEffect transition="in" filter="fade">
                                      <p:cBhvr>
                                        <p:cTn id="161" dur="400"/>
                                        <p:tgtEl>
                                          <p:spTgt spid="60"/>
                                        </p:tgtEl>
                                      </p:cBhvr>
                                    </p:animEffect>
                                  </p:childTnLst>
                                </p:cTn>
                              </p:par>
                              <p:par>
                                <p:cTn id="162" presetID="10" presetClass="entr" presetSubtype="0" fill="hold" grpId="0" nodeType="withEffect">
                                  <p:stCondLst>
                                    <p:cond delay="200"/>
                                  </p:stCondLst>
                                  <p:childTnLst>
                                    <p:set>
                                      <p:cBhvr>
                                        <p:cTn id="163" dur="1" fill="hold">
                                          <p:stCondLst>
                                            <p:cond delay="0"/>
                                          </p:stCondLst>
                                        </p:cTn>
                                        <p:tgtEl>
                                          <p:spTgt spid="61"/>
                                        </p:tgtEl>
                                        <p:attrNameLst>
                                          <p:attrName>style.visibility</p:attrName>
                                        </p:attrNameLst>
                                      </p:cBhvr>
                                      <p:to>
                                        <p:strVal val="visible"/>
                                      </p:to>
                                    </p:set>
                                    <p:animEffect transition="in" filter="fade">
                                      <p:cBhvr>
                                        <p:cTn id="164" dur="400"/>
                                        <p:tgtEl>
                                          <p:spTgt spid="61"/>
                                        </p:tgtEl>
                                      </p:cBhvr>
                                    </p:animEffect>
                                  </p:childTnLst>
                                </p:cTn>
                              </p:par>
                              <p:par>
                                <p:cTn id="165" presetID="10" presetClass="entr" presetSubtype="0" fill="hold" grpId="0" nodeType="withEffect">
                                  <p:stCondLst>
                                    <p:cond delay="200"/>
                                  </p:stCondLst>
                                  <p:childTnLst>
                                    <p:set>
                                      <p:cBhvr>
                                        <p:cTn id="166" dur="1" fill="hold">
                                          <p:stCondLst>
                                            <p:cond delay="0"/>
                                          </p:stCondLst>
                                        </p:cTn>
                                        <p:tgtEl>
                                          <p:spTgt spid="62"/>
                                        </p:tgtEl>
                                        <p:attrNameLst>
                                          <p:attrName>style.visibility</p:attrName>
                                        </p:attrNameLst>
                                      </p:cBhvr>
                                      <p:to>
                                        <p:strVal val="visible"/>
                                      </p:to>
                                    </p:set>
                                    <p:animEffect transition="in" filter="fade">
                                      <p:cBhvr>
                                        <p:cTn id="167" dur="400"/>
                                        <p:tgtEl>
                                          <p:spTgt spid="62"/>
                                        </p:tgtEl>
                                      </p:cBhvr>
                                    </p:animEffect>
                                  </p:childTnLst>
                                </p:cTn>
                              </p:par>
                              <p:par>
                                <p:cTn id="168" presetID="10" presetClass="entr" presetSubtype="0" fill="hold" grpId="0" nodeType="withEffect">
                                  <p:stCondLst>
                                    <p:cond delay="200"/>
                                  </p:stCondLst>
                                  <p:childTnLst>
                                    <p:set>
                                      <p:cBhvr>
                                        <p:cTn id="169" dur="1" fill="hold">
                                          <p:stCondLst>
                                            <p:cond delay="0"/>
                                          </p:stCondLst>
                                        </p:cTn>
                                        <p:tgtEl>
                                          <p:spTgt spid="63"/>
                                        </p:tgtEl>
                                        <p:attrNameLst>
                                          <p:attrName>style.visibility</p:attrName>
                                        </p:attrNameLst>
                                      </p:cBhvr>
                                      <p:to>
                                        <p:strVal val="visible"/>
                                      </p:to>
                                    </p:set>
                                    <p:animEffect transition="in" filter="fade">
                                      <p:cBhvr>
                                        <p:cTn id="170" dur="400"/>
                                        <p:tgtEl>
                                          <p:spTgt spid="63"/>
                                        </p:tgtEl>
                                      </p:cBhvr>
                                    </p:animEffect>
                                  </p:childTnLst>
                                </p:cTn>
                              </p:par>
                              <p:par>
                                <p:cTn id="171" presetID="10" presetClass="entr" presetSubtype="0" fill="hold" grpId="0" nodeType="withEffect">
                                  <p:stCondLst>
                                    <p:cond delay="200"/>
                                  </p:stCondLst>
                                  <p:childTnLst>
                                    <p:set>
                                      <p:cBhvr>
                                        <p:cTn id="172" dur="1" fill="hold">
                                          <p:stCondLst>
                                            <p:cond delay="0"/>
                                          </p:stCondLst>
                                        </p:cTn>
                                        <p:tgtEl>
                                          <p:spTgt spid="64"/>
                                        </p:tgtEl>
                                        <p:attrNameLst>
                                          <p:attrName>style.visibility</p:attrName>
                                        </p:attrNameLst>
                                      </p:cBhvr>
                                      <p:to>
                                        <p:strVal val="visible"/>
                                      </p:to>
                                    </p:set>
                                    <p:animEffect transition="in" filter="fade">
                                      <p:cBhvr>
                                        <p:cTn id="173" dur="400"/>
                                        <p:tgtEl>
                                          <p:spTgt spid="64"/>
                                        </p:tgtEl>
                                      </p:cBhvr>
                                    </p:animEffect>
                                  </p:childTnLst>
                                </p:cTn>
                              </p:par>
                              <p:par>
                                <p:cTn id="174" presetID="10" presetClass="entr" presetSubtype="0" fill="hold" grpId="0" nodeType="withEffect">
                                  <p:stCondLst>
                                    <p:cond delay="200"/>
                                  </p:stCondLst>
                                  <p:childTnLst>
                                    <p:set>
                                      <p:cBhvr>
                                        <p:cTn id="175" dur="1" fill="hold">
                                          <p:stCondLst>
                                            <p:cond delay="0"/>
                                          </p:stCondLst>
                                        </p:cTn>
                                        <p:tgtEl>
                                          <p:spTgt spid="65"/>
                                        </p:tgtEl>
                                        <p:attrNameLst>
                                          <p:attrName>style.visibility</p:attrName>
                                        </p:attrNameLst>
                                      </p:cBhvr>
                                      <p:to>
                                        <p:strVal val="visible"/>
                                      </p:to>
                                    </p:set>
                                    <p:animEffect transition="in" filter="fade">
                                      <p:cBhvr>
                                        <p:cTn id="176" dur="400"/>
                                        <p:tgtEl>
                                          <p:spTgt spid="65"/>
                                        </p:tgtEl>
                                      </p:cBhvr>
                                    </p:animEffect>
                                  </p:childTnLst>
                                </p:cTn>
                              </p:par>
                              <p:par>
                                <p:cTn id="177" presetID="10" presetClass="entr" presetSubtype="0" fill="hold" grpId="0" nodeType="withEffect">
                                  <p:stCondLst>
                                    <p:cond delay="200"/>
                                  </p:stCondLst>
                                  <p:childTnLst>
                                    <p:set>
                                      <p:cBhvr>
                                        <p:cTn id="178" dur="1" fill="hold">
                                          <p:stCondLst>
                                            <p:cond delay="0"/>
                                          </p:stCondLst>
                                        </p:cTn>
                                        <p:tgtEl>
                                          <p:spTgt spid="66"/>
                                        </p:tgtEl>
                                        <p:attrNameLst>
                                          <p:attrName>style.visibility</p:attrName>
                                        </p:attrNameLst>
                                      </p:cBhvr>
                                      <p:to>
                                        <p:strVal val="visible"/>
                                      </p:to>
                                    </p:set>
                                    <p:animEffect transition="in" filter="fade">
                                      <p:cBhvr>
                                        <p:cTn id="179" dur="400"/>
                                        <p:tgtEl>
                                          <p:spTgt spid="66"/>
                                        </p:tgtEl>
                                      </p:cBhvr>
                                    </p:animEffect>
                                  </p:childTnLst>
                                </p:cTn>
                              </p:par>
                              <p:par>
                                <p:cTn id="180" presetID="10" presetClass="entr" presetSubtype="0" fill="hold" grpId="0" nodeType="withEffect">
                                  <p:stCondLst>
                                    <p:cond delay="200"/>
                                  </p:stCondLst>
                                  <p:childTnLst>
                                    <p:set>
                                      <p:cBhvr>
                                        <p:cTn id="181" dur="1" fill="hold">
                                          <p:stCondLst>
                                            <p:cond delay="0"/>
                                          </p:stCondLst>
                                        </p:cTn>
                                        <p:tgtEl>
                                          <p:spTgt spid="67"/>
                                        </p:tgtEl>
                                        <p:attrNameLst>
                                          <p:attrName>style.visibility</p:attrName>
                                        </p:attrNameLst>
                                      </p:cBhvr>
                                      <p:to>
                                        <p:strVal val="visible"/>
                                      </p:to>
                                    </p:set>
                                    <p:animEffect transition="in" filter="fade">
                                      <p:cBhvr>
                                        <p:cTn id="182" dur="400"/>
                                        <p:tgtEl>
                                          <p:spTgt spid="67"/>
                                        </p:tgtEl>
                                      </p:cBhvr>
                                    </p:animEffect>
                                  </p:childTnLst>
                                </p:cTn>
                              </p:par>
                              <p:par>
                                <p:cTn id="183" presetID="10" presetClass="entr" presetSubtype="0" fill="hold" grpId="0" nodeType="withEffect">
                                  <p:stCondLst>
                                    <p:cond delay="200"/>
                                  </p:stCondLst>
                                  <p:childTnLst>
                                    <p:set>
                                      <p:cBhvr>
                                        <p:cTn id="184" dur="1" fill="hold">
                                          <p:stCondLst>
                                            <p:cond delay="0"/>
                                          </p:stCondLst>
                                        </p:cTn>
                                        <p:tgtEl>
                                          <p:spTgt spid="68"/>
                                        </p:tgtEl>
                                        <p:attrNameLst>
                                          <p:attrName>style.visibility</p:attrName>
                                        </p:attrNameLst>
                                      </p:cBhvr>
                                      <p:to>
                                        <p:strVal val="visible"/>
                                      </p:to>
                                    </p:set>
                                    <p:animEffect transition="in" filter="fade">
                                      <p:cBhvr>
                                        <p:cTn id="185" dur="400"/>
                                        <p:tgtEl>
                                          <p:spTgt spid="68"/>
                                        </p:tgtEl>
                                      </p:cBhvr>
                                    </p:animEffect>
                                  </p:childTnLst>
                                </p:cTn>
                              </p:par>
                              <p:par>
                                <p:cTn id="186" presetID="10" presetClass="entr" presetSubtype="0" fill="hold" grpId="0" nodeType="withEffect">
                                  <p:stCondLst>
                                    <p:cond delay="200"/>
                                  </p:stCondLst>
                                  <p:childTnLst>
                                    <p:set>
                                      <p:cBhvr>
                                        <p:cTn id="187" dur="1" fill="hold">
                                          <p:stCondLst>
                                            <p:cond delay="0"/>
                                          </p:stCondLst>
                                        </p:cTn>
                                        <p:tgtEl>
                                          <p:spTgt spid="69"/>
                                        </p:tgtEl>
                                        <p:attrNameLst>
                                          <p:attrName>style.visibility</p:attrName>
                                        </p:attrNameLst>
                                      </p:cBhvr>
                                      <p:to>
                                        <p:strVal val="visible"/>
                                      </p:to>
                                    </p:set>
                                    <p:animEffect transition="in" filter="fade">
                                      <p:cBhvr>
                                        <p:cTn id="188" dur="400"/>
                                        <p:tgtEl>
                                          <p:spTgt spid="69"/>
                                        </p:tgtEl>
                                      </p:cBhvr>
                                    </p:animEffect>
                                  </p:childTnLst>
                                </p:cTn>
                              </p:par>
                              <p:par>
                                <p:cTn id="189" presetID="10" presetClass="entr" presetSubtype="0" fill="hold" grpId="0" nodeType="withEffect">
                                  <p:stCondLst>
                                    <p:cond delay="200"/>
                                  </p:stCondLst>
                                  <p:childTnLst>
                                    <p:set>
                                      <p:cBhvr>
                                        <p:cTn id="190" dur="1" fill="hold">
                                          <p:stCondLst>
                                            <p:cond delay="0"/>
                                          </p:stCondLst>
                                        </p:cTn>
                                        <p:tgtEl>
                                          <p:spTgt spid="70"/>
                                        </p:tgtEl>
                                        <p:attrNameLst>
                                          <p:attrName>style.visibility</p:attrName>
                                        </p:attrNameLst>
                                      </p:cBhvr>
                                      <p:to>
                                        <p:strVal val="visible"/>
                                      </p:to>
                                    </p:set>
                                    <p:animEffect transition="in" filter="fade">
                                      <p:cBhvr>
                                        <p:cTn id="191" dur="400"/>
                                        <p:tgtEl>
                                          <p:spTgt spid="70"/>
                                        </p:tgtEl>
                                      </p:cBhvr>
                                    </p:animEffect>
                                  </p:childTnLst>
                                </p:cTn>
                              </p:par>
                              <p:par>
                                <p:cTn id="192" presetID="10" presetClass="entr" presetSubtype="0" fill="hold" grpId="0" nodeType="withEffect">
                                  <p:stCondLst>
                                    <p:cond delay="200"/>
                                  </p:stCondLst>
                                  <p:childTnLst>
                                    <p:set>
                                      <p:cBhvr>
                                        <p:cTn id="193" dur="1" fill="hold">
                                          <p:stCondLst>
                                            <p:cond delay="0"/>
                                          </p:stCondLst>
                                        </p:cTn>
                                        <p:tgtEl>
                                          <p:spTgt spid="71"/>
                                        </p:tgtEl>
                                        <p:attrNameLst>
                                          <p:attrName>style.visibility</p:attrName>
                                        </p:attrNameLst>
                                      </p:cBhvr>
                                      <p:to>
                                        <p:strVal val="visible"/>
                                      </p:to>
                                    </p:set>
                                    <p:animEffect transition="in" filter="fade">
                                      <p:cBhvr>
                                        <p:cTn id="194" dur="400"/>
                                        <p:tgtEl>
                                          <p:spTgt spid="71"/>
                                        </p:tgtEl>
                                      </p:cBhvr>
                                    </p:animEffect>
                                  </p:childTnLst>
                                </p:cTn>
                              </p:par>
                              <p:par>
                                <p:cTn id="195" presetID="10" presetClass="entr" presetSubtype="0" fill="hold" grpId="0" nodeType="withEffect">
                                  <p:stCondLst>
                                    <p:cond delay="200"/>
                                  </p:stCondLst>
                                  <p:childTnLst>
                                    <p:set>
                                      <p:cBhvr>
                                        <p:cTn id="196" dur="1" fill="hold">
                                          <p:stCondLst>
                                            <p:cond delay="0"/>
                                          </p:stCondLst>
                                        </p:cTn>
                                        <p:tgtEl>
                                          <p:spTgt spid="72"/>
                                        </p:tgtEl>
                                        <p:attrNameLst>
                                          <p:attrName>style.visibility</p:attrName>
                                        </p:attrNameLst>
                                      </p:cBhvr>
                                      <p:to>
                                        <p:strVal val="visible"/>
                                      </p:to>
                                    </p:set>
                                    <p:animEffect transition="in" filter="fade">
                                      <p:cBhvr>
                                        <p:cTn id="197" dur="400"/>
                                        <p:tgtEl>
                                          <p:spTgt spid="72"/>
                                        </p:tgtEl>
                                      </p:cBhvr>
                                    </p:animEffect>
                                  </p:childTnLst>
                                </p:cTn>
                              </p:par>
                              <p:par>
                                <p:cTn id="198" presetID="10" presetClass="entr" presetSubtype="0" fill="hold" grpId="0" nodeType="withEffect">
                                  <p:stCondLst>
                                    <p:cond delay="200"/>
                                  </p:stCondLst>
                                  <p:childTnLst>
                                    <p:set>
                                      <p:cBhvr>
                                        <p:cTn id="199" dur="1" fill="hold">
                                          <p:stCondLst>
                                            <p:cond delay="0"/>
                                          </p:stCondLst>
                                        </p:cTn>
                                        <p:tgtEl>
                                          <p:spTgt spid="73"/>
                                        </p:tgtEl>
                                        <p:attrNameLst>
                                          <p:attrName>style.visibility</p:attrName>
                                        </p:attrNameLst>
                                      </p:cBhvr>
                                      <p:to>
                                        <p:strVal val="visible"/>
                                      </p:to>
                                    </p:set>
                                    <p:animEffect transition="in" filter="fade">
                                      <p:cBhvr>
                                        <p:cTn id="200" dur="400"/>
                                        <p:tgtEl>
                                          <p:spTgt spid="73"/>
                                        </p:tgtEl>
                                      </p:cBhvr>
                                    </p:animEffect>
                                  </p:childTnLst>
                                </p:cTn>
                              </p:par>
                              <p:par>
                                <p:cTn id="201" presetID="10" presetClass="entr" presetSubtype="0" fill="hold" grpId="0" nodeType="withEffect">
                                  <p:stCondLst>
                                    <p:cond delay="200"/>
                                  </p:stCondLst>
                                  <p:childTnLst>
                                    <p:set>
                                      <p:cBhvr>
                                        <p:cTn id="202" dur="1" fill="hold">
                                          <p:stCondLst>
                                            <p:cond delay="0"/>
                                          </p:stCondLst>
                                        </p:cTn>
                                        <p:tgtEl>
                                          <p:spTgt spid="74"/>
                                        </p:tgtEl>
                                        <p:attrNameLst>
                                          <p:attrName>style.visibility</p:attrName>
                                        </p:attrNameLst>
                                      </p:cBhvr>
                                      <p:to>
                                        <p:strVal val="visible"/>
                                      </p:to>
                                    </p:set>
                                    <p:animEffect transition="in" filter="fade">
                                      <p:cBhvr>
                                        <p:cTn id="203" dur="400"/>
                                        <p:tgtEl>
                                          <p:spTgt spid="74"/>
                                        </p:tgtEl>
                                      </p:cBhvr>
                                    </p:animEffect>
                                  </p:childTnLst>
                                </p:cTn>
                              </p:par>
                              <p:par>
                                <p:cTn id="204" presetID="10" presetClass="entr" presetSubtype="0" fill="hold" grpId="0" nodeType="withEffect">
                                  <p:stCondLst>
                                    <p:cond delay="200"/>
                                  </p:stCondLst>
                                  <p:childTnLst>
                                    <p:set>
                                      <p:cBhvr>
                                        <p:cTn id="205" dur="1" fill="hold">
                                          <p:stCondLst>
                                            <p:cond delay="0"/>
                                          </p:stCondLst>
                                        </p:cTn>
                                        <p:tgtEl>
                                          <p:spTgt spid="75"/>
                                        </p:tgtEl>
                                        <p:attrNameLst>
                                          <p:attrName>style.visibility</p:attrName>
                                        </p:attrNameLst>
                                      </p:cBhvr>
                                      <p:to>
                                        <p:strVal val="visible"/>
                                      </p:to>
                                    </p:set>
                                    <p:animEffect transition="in" filter="fade">
                                      <p:cBhvr>
                                        <p:cTn id="206" dur="400"/>
                                        <p:tgtEl>
                                          <p:spTgt spid="75"/>
                                        </p:tgtEl>
                                      </p:cBhvr>
                                    </p:animEffect>
                                  </p:childTnLst>
                                </p:cTn>
                              </p:par>
                              <p:par>
                                <p:cTn id="207" presetID="10" presetClass="entr" presetSubtype="0" fill="hold" grpId="0" nodeType="withEffect">
                                  <p:stCondLst>
                                    <p:cond delay="200"/>
                                  </p:stCondLst>
                                  <p:childTnLst>
                                    <p:set>
                                      <p:cBhvr>
                                        <p:cTn id="208" dur="1" fill="hold">
                                          <p:stCondLst>
                                            <p:cond delay="0"/>
                                          </p:stCondLst>
                                        </p:cTn>
                                        <p:tgtEl>
                                          <p:spTgt spid="76"/>
                                        </p:tgtEl>
                                        <p:attrNameLst>
                                          <p:attrName>style.visibility</p:attrName>
                                        </p:attrNameLst>
                                      </p:cBhvr>
                                      <p:to>
                                        <p:strVal val="visible"/>
                                      </p:to>
                                    </p:set>
                                    <p:animEffect transition="in" filter="fade">
                                      <p:cBhvr>
                                        <p:cTn id="209" dur="400"/>
                                        <p:tgtEl>
                                          <p:spTgt spid="76"/>
                                        </p:tgtEl>
                                      </p:cBhvr>
                                    </p:animEffect>
                                  </p:childTnLst>
                                </p:cTn>
                              </p:par>
                              <p:par>
                                <p:cTn id="210" presetID="10" presetClass="entr" presetSubtype="0" fill="hold" grpId="0" nodeType="withEffect">
                                  <p:stCondLst>
                                    <p:cond delay="200"/>
                                  </p:stCondLst>
                                  <p:childTnLst>
                                    <p:set>
                                      <p:cBhvr>
                                        <p:cTn id="211" dur="1" fill="hold">
                                          <p:stCondLst>
                                            <p:cond delay="0"/>
                                          </p:stCondLst>
                                        </p:cTn>
                                        <p:tgtEl>
                                          <p:spTgt spid="77"/>
                                        </p:tgtEl>
                                        <p:attrNameLst>
                                          <p:attrName>style.visibility</p:attrName>
                                        </p:attrNameLst>
                                      </p:cBhvr>
                                      <p:to>
                                        <p:strVal val="visible"/>
                                      </p:to>
                                    </p:set>
                                    <p:animEffect transition="in" filter="fade">
                                      <p:cBhvr>
                                        <p:cTn id="212" dur="400"/>
                                        <p:tgtEl>
                                          <p:spTgt spid="77"/>
                                        </p:tgtEl>
                                      </p:cBhvr>
                                    </p:animEffect>
                                  </p:childTnLst>
                                </p:cTn>
                              </p:par>
                              <p:par>
                                <p:cTn id="213" presetID="10" presetClass="entr" presetSubtype="0" fill="hold" grpId="0" nodeType="withEffect">
                                  <p:stCondLst>
                                    <p:cond delay="200"/>
                                  </p:stCondLst>
                                  <p:childTnLst>
                                    <p:set>
                                      <p:cBhvr>
                                        <p:cTn id="214" dur="1" fill="hold">
                                          <p:stCondLst>
                                            <p:cond delay="0"/>
                                          </p:stCondLst>
                                        </p:cTn>
                                        <p:tgtEl>
                                          <p:spTgt spid="78"/>
                                        </p:tgtEl>
                                        <p:attrNameLst>
                                          <p:attrName>style.visibility</p:attrName>
                                        </p:attrNameLst>
                                      </p:cBhvr>
                                      <p:to>
                                        <p:strVal val="visible"/>
                                      </p:to>
                                    </p:set>
                                    <p:animEffect transition="in" filter="fade">
                                      <p:cBhvr>
                                        <p:cTn id="215" dur="4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80" grpId="0" animBg="1"/>
      <p:bldP spid="81"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05</a:t>
            </a:r>
          </a:p>
        </p:txBody>
      </p:sp>
      <p:sp>
        <p:nvSpPr>
          <p:cNvPr id="4" name="TextBox 3"/>
          <p:cNvSpPr txBox="1"/>
          <p:nvPr/>
        </p:nvSpPr>
        <p:spPr>
          <a:xfrm>
            <a:off x="898398" y="282141"/>
            <a:ext cx="176053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Análisis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Lo que las tasas no vieron, la memoria lo delató</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1438275"/>
            <a:ext cx="2647950" cy="1200150"/>
          </a:xfrm>
          <a:prstGeom prst="roundRect">
            <a:avLst>
              <a:gd name="adj" fmla="val 820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42950" y="1543050"/>
            <a:ext cx="254000" cy="2540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550" y="1608900"/>
            <a:ext cx="3048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1</a:t>
            </a:r>
          </a:p>
        </p:txBody>
      </p:sp>
      <p:sp>
        <p:nvSpPr>
          <p:cNvPr id="16" name="TextBox 15"/>
          <p:cNvSpPr txBox="1"/>
          <p:nvPr/>
        </p:nvSpPr>
        <p:spPr>
          <a:xfrm>
            <a:off x="1085850" y="1547819"/>
            <a:ext cx="2133600" cy="211772"/>
          </a:xfrm>
          <a:prstGeom prst="rect">
            <a:avLst/>
          </a:prstGeom>
          <a:noFill/>
        </p:spPr>
        <p:txBody>
          <a:bodyPr wrap="square" lIns="0" rIns="0" tIns="0" bIns="0" anchor="t"/>
          <a:lstStyle/>
          <a:p>
            <a:pPr algn="l">
              <a:lnSpc>
                <a:spcPts val="1668"/>
              </a:lnSpc>
              <a:spcBef>
                <a:spcPts val="0"/>
              </a:spcBef>
              <a:spcAft>
                <a:spcPts val="0"/>
              </a:spcAft>
            </a:pPr>
            <a:r>
              <a:rPr sz="1450" b="1" i="0">
                <a:solidFill>
                  <a:srgbClr val="1F2937"/>
                </a:solidFill>
                <a:latin typeface="Calibri"/>
              </a:rPr>
              <a:t>El defecto</a:t>
            </a:r>
          </a:p>
        </p:txBody>
      </p:sp>
      <p:sp>
        <p:nvSpPr>
          <p:cNvPr id="17" name="TextBox 16"/>
          <p:cNvSpPr txBox="1"/>
          <p:nvPr/>
        </p:nvSpPr>
        <p:spPr>
          <a:xfrm>
            <a:off x="1085850" y="1801191"/>
            <a:ext cx="2133600" cy="528066"/>
          </a:xfrm>
          <a:prstGeom prst="rect">
            <a:avLst/>
          </a:prstGeom>
          <a:noFill/>
        </p:spPr>
        <p:txBody>
          <a:bodyPr wrap="square" lIns="0" rIns="0" tIns="0" bIns="0" anchor="t"/>
          <a:lstStyle/>
          <a:p>
            <a:pPr algn="l">
              <a:lnSpc>
                <a:spcPts val="1386"/>
              </a:lnSpc>
              <a:spcBef>
                <a:spcPts val="0"/>
              </a:spcBef>
              <a:spcAft>
                <a:spcPts val="0"/>
              </a:spcAft>
            </a:pPr>
            <a:r>
              <a:rPr sz="1050" b="0" i="0">
                <a:solidFill>
                  <a:srgbClr val="3F4A5A"/>
                </a:solidFill>
                <a:latin typeface="Calibri"/>
              </a:rPr>
              <a:t>La matriz de extrapolación del Q4</a:t>
            </a:r>
            <a:br/>
            <a:r>
              <a:rPr sz="1050" b="0" i="0">
                <a:solidFill>
                  <a:srgbClr val="3F4A5A"/>
                </a:solidFill>
                <a:latin typeface="Calibri"/>
              </a:rPr>
              <a:t>estaba escrita para otra numeración</a:t>
            </a:r>
            <a:br/>
            <a:r>
              <a:rPr sz="1050" b="0" i="0">
                <a:solidFill>
                  <a:srgbClr val="3F4A5A"/>
                </a:solidFill>
                <a:latin typeface="Calibri"/>
              </a:rPr>
              <a:t>de los puntos de Gauss.</a:t>
            </a:r>
          </a:p>
        </p:txBody>
      </p:sp>
      <p:sp>
        <p:nvSpPr>
          <p:cNvPr id="18" name="Rounded Rectangle 17"/>
          <p:cNvSpPr/>
          <p:nvPr/>
        </p:nvSpPr>
        <p:spPr>
          <a:xfrm>
            <a:off x="3394075" y="1438275"/>
            <a:ext cx="2647950" cy="1200150"/>
          </a:xfrm>
          <a:prstGeom prst="roundRect">
            <a:avLst>
              <a:gd name="adj" fmla="val 820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98850" y="1543050"/>
            <a:ext cx="254000" cy="2540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3450" y="1608900"/>
            <a:ext cx="3048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2</a:t>
            </a:r>
          </a:p>
        </p:txBody>
      </p:sp>
      <p:sp>
        <p:nvSpPr>
          <p:cNvPr id="21" name="TextBox 20"/>
          <p:cNvSpPr txBox="1"/>
          <p:nvPr/>
        </p:nvSpPr>
        <p:spPr>
          <a:xfrm>
            <a:off x="3841750" y="1547819"/>
            <a:ext cx="2133600" cy="211772"/>
          </a:xfrm>
          <a:prstGeom prst="rect">
            <a:avLst/>
          </a:prstGeom>
          <a:noFill/>
        </p:spPr>
        <p:txBody>
          <a:bodyPr wrap="square" lIns="0" rIns="0" tIns="0" bIns="0" anchor="t"/>
          <a:lstStyle/>
          <a:p>
            <a:pPr algn="l">
              <a:lnSpc>
                <a:spcPts val="1668"/>
              </a:lnSpc>
              <a:spcBef>
                <a:spcPts val="0"/>
              </a:spcBef>
              <a:spcAft>
                <a:spcPts val="0"/>
              </a:spcAft>
            </a:pPr>
            <a:r>
              <a:rPr sz="1450" b="1" i="0">
                <a:solidFill>
                  <a:srgbClr val="1F2937"/>
                </a:solidFill>
                <a:latin typeface="Calibri"/>
              </a:rPr>
              <a:t>Las tasas no lo ven</a:t>
            </a:r>
          </a:p>
        </p:txBody>
      </p:sp>
      <p:sp>
        <p:nvSpPr>
          <p:cNvPr id="22" name="TextBox 21"/>
          <p:cNvSpPr txBox="1"/>
          <p:nvPr/>
        </p:nvSpPr>
        <p:spPr>
          <a:xfrm>
            <a:off x="3841750" y="1801191"/>
            <a:ext cx="2133600" cy="528066"/>
          </a:xfrm>
          <a:prstGeom prst="rect">
            <a:avLst/>
          </a:prstGeom>
          <a:noFill/>
        </p:spPr>
        <p:txBody>
          <a:bodyPr wrap="square" lIns="0" rIns="0" tIns="0" bIns="0" anchor="t"/>
          <a:lstStyle/>
          <a:p>
            <a:pPr algn="l">
              <a:lnSpc>
                <a:spcPts val="1386"/>
              </a:lnSpc>
              <a:spcBef>
                <a:spcPts val="0"/>
              </a:spcBef>
              <a:spcAft>
                <a:spcPts val="0"/>
              </a:spcAft>
            </a:pPr>
            <a:r>
              <a:rPr sz="1050" b="0" i="0">
                <a:solidFill>
                  <a:srgbClr val="3F4A5A"/>
                </a:solidFill>
                <a:latin typeface="Calibri"/>
              </a:rPr>
              <a:t>Esa matriz actúa después de resolver:</a:t>
            </a:r>
            <a:br/>
            <a:r>
              <a:rPr sz="1050" b="0" i="0">
                <a:solidFill>
                  <a:srgbClr val="3F4A5A"/>
                </a:solidFill>
                <a:latin typeface="Calibri"/>
              </a:rPr>
              <a:t>los desplazamientos, y sus tasas, no</a:t>
            </a:r>
            <a:br/>
            <a:r>
              <a:rPr sz="1050" b="0" i="0">
                <a:solidFill>
                  <a:srgbClr val="3F4A5A"/>
                </a:solidFill>
                <a:latin typeface="Calibri"/>
              </a:rPr>
              <a:t>cambian.</a:t>
            </a:r>
          </a:p>
        </p:txBody>
      </p:sp>
      <p:sp>
        <p:nvSpPr>
          <p:cNvPr id="23" name="Rounded Rectangle 22"/>
          <p:cNvSpPr/>
          <p:nvPr/>
        </p:nvSpPr>
        <p:spPr>
          <a:xfrm>
            <a:off x="6149975" y="1438275"/>
            <a:ext cx="2647950" cy="1200150"/>
          </a:xfrm>
          <a:prstGeom prst="roundRect">
            <a:avLst>
              <a:gd name="adj" fmla="val 820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54750" y="1543050"/>
            <a:ext cx="254000" cy="2540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9350" y="1608900"/>
            <a:ext cx="3048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3</a:t>
            </a:r>
          </a:p>
        </p:txBody>
      </p:sp>
      <p:sp>
        <p:nvSpPr>
          <p:cNvPr id="26" name="TextBox 25"/>
          <p:cNvSpPr txBox="1"/>
          <p:nvPr/>
        </p:nvSpPr>
        <p:spPr>
          <a:xfrm>
            <a:off x="6597650" y="1547819"/>
            <a:ext cx="2133600" cy="211772"/>
          </a:xfrm>
          <a:prstGeom prst="rect">
            <a:avLst/>
          </a:prstGeom>
          <a:noFill/>
        </p:spPr>
        <p:txBody>
          <a:bodyPr wrap="square" lIns="0" rIns="0" tIns="0" bIns="0" anchor="t"/>
          <a:lstStyle/>
          <a:p>
            <a:pPr algn="l">
              <a:lnSpc>
                <a:spcPts val="1668"/>
              </a:lnSpc>
              <a:spcBef>
                <a:spcPts val="0"/>
              </a:spcBef>
              <a:spcAft>
                <a:spcPts val="0"/>
              </a:spcAft>
            </a:pPr>
            <a:r>
              <a:rPr sz="1450" b="1" i="0">
                <a:solidFill>
                  <a:srgbClr val="1F2937"/>
                </a:solidFill>
                <a:latin typeface="Calibri"/>
              </a:rPr>
              <a:t>La memoria lo delata</a:t>
            </a:r>
          </a:p>
        </p:txBody>
      </p:sp>
      <p:sp>
        <p:nvSpPr>
          <p:cNvPr id="27" name="TextBox 26"/>
          <p:cNvSpPr txBox="1"/>
          <p:nvPr/>
        </p:nvSpPr>
        <p:spPr>
          <a:xfrm>
            <a:off x="6597650" y="1801191"/>
            <a:ext cx="2133600" cy="528066"/>
          </a:xfrm>
          <a:prstGeom prst="rect">
            <a:avLst/>
          </a:prstGeom>
          <a:noFill/>
        </p:spPr>
        <p:txBody>
          <a:bodyPr wrap="square" lIns="0" rIns="0" tIns="0" bIns="0" anchor="t"/>
          <a:lstStyle/>
          <a:p>
            <a:pPr algn="l">
              <a:lnSpc>
                <a:spcPts val="1386"/>
              </a:lnSpc>
              <a:spcBef>
                <a:spcPts val="0"/>
              </a:spcBef>
              <a:spcAft>
                <a:spcPts val="0"/>
              </a:spcAft>
            </a:pPr>
            <a:r>
              <a:rPr sz="1050" b="0" i="0">
                <a:solidFill>
                  <a:srgbClr val="3F4A5A"/>
                </a:solidFill>
                <a:latin typeface="Calibri"/>
              </a:rPr>
              <a:t>Leída paso a paso, las tensiones</a:t>
            </a:r>
            <a:br/>
            <a:r>
              <a:rPr sz="1050" b="0" i="0">
                <a:solidFill>
                  <a:srgbClr val="3F4A5A"/>
                </a:solidFill>
                <a:latin typeface="Calibri"/>
              </a:rPr>
              <a:t>nodales no cerraban con las de los</a:t>
            </a:r>
            <a:br/>
            <a:r>
              <a:rPr sz="1050" b="0" i="0">
                <a:solidFill>
                  <a:srgbClr val="3F4A5A"/>
                </a:solidFill>
                <a:latin typeface="Calibri"/>
              </a:rPr>
              <a:t>puntos de Gauss.</a:t>
            </a:r>
          </a:p>
        </p:txBody>
      </p:sp>
      <p:sp>
        <p:nvSpPr>
          <p:cNvPr id="28" name="Rounded Rectangle 27"/>
          <p:cNvSpPr/>
          <p:nvPr/>
        </p:nvSpPr>
        <p:spPr>
          <a:xfrm>
            <a:off x="8905875" y="1438275"/>
            <a:ext cx="2647950" cy="1200150"/>
          </a:xfrm>
          <a:prstGeom prst="roundRect">
            <a:avLst>
              <a:gd name="adj" fmla="val 820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010650" y="1543050"/>
            <a:ext cx="254000" cy="2540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85250" y="1608900"/>
            <a:ext cx="3048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4</a:t>
            </a:r>
          </a:p>
        </p:txBody>
      </p:sp>
      <p:sp>
        <p:nvSpPr>
          <p:cNvPr id="31" name="TextBox 30"/>
          <p:cNvSpPr txBox="1"/>
          <p:nvPr/>
        </p:nvSpPr>
        <p:spPr>
          <a:xfrm>
            <a:off x="9353550" y="1547819"/>
            <a:ext cx="2133600" cy="211772"/>
          </a:xfrm>
          <a:prstGeom prst="rect">
            <a:avLst/>
          </a:prstGeom>
          <a:noFill/>
        </p:spPr>
        <p:txBody>
          <a:bodyPr wrap="square" lIns="0" rIns="0" tIns="0" bIns="0" anchor="t"/>
          <a:lstStyle/>
          <a:p>
            <a:pPr algn="l">
              <a:lnSpc>
                <a:spcPts val="1668"/>
              </a:lnSpc>
              <a:spcBef>
                <a:spcPts val="0"/>
              </a:spcBef>
              <a:spcAft>
                <a:spcPts val="0"/>
              </a:spcAft>
            </a:pPr>
            <a:r>
              <a:rPr sz="1450" b="1" i="0">
                <a:solidFill>
                  <a:srgbClr val="1F2937"/>
                </a:solidFill>
                <a:latin typeface="Calibri"/>
              </a:rPr>
              <a:t>Corrección y prueba nueva</a:t>
            </a:r>
          </a:p>
        </p:txBody>
      </p:sp>
      <p:sp>
        <p:nvSpPr>
          <p:cNvPr id="32" name="TextBox 31"/>
          <p:cNvSpPr txBox="1"/>
          <p:nvPr/>
        </p:nvSpPr>
        <p:spPr>
          <a:xfrm>
            <a:off x="9353550" y="1801191"/>
            <a:ext cx="2133600" cy="528066"/>
          </a:xfrm>
          <a:prstGeom prst="rect">
            <a:avLst/>
          </a:prstGeom>
          <a:noFill/>
        </p:spPr>
        <p:txBody>
          <a:bodyPr wrap="square" lIns="0" rIns="0" tIns="0" bIns="0" anchor="t"/>
          <a:lstStyle/>
          <a:p>
            <a:pPr algn="l">
              <a:lnSpc>
                <a:spcPts val="1386"/>
              </a:lnSpc>
              <a:spcBef>
                <a:spcPts val="0"/>
              </a:spcBef>
              <a:spcAft>
                <a:spcPts val="0"/>
              </a:spcAft>
            </a:pPr>
            <a:r>
              <a:rPr sz="1050" b="0" i="0">
                <a:solidFill>
                  <a:srgbClr val="3F4A5A"/>
                </a:solidFill>
                <a:latin typeface="Calibri"/>
              </a:rPr>
              <a:t>E se construye invirtiendo M con los</a:t>
            </a:r>
            <a:br/>
            <a:r>
              <a:rPr sz="1050" b="0" i="0">
                <a:solidFill>
                  <a:srgbClr val="3F4A5A"/>
                </a:solidFill>
                <a:latin typeface="Calibri"/>
              </a:rPr>
              <a:t>puntos del motor; una prueba exige</a:t>
            </a:r>
            <a:br/>
            <a:r>
              <a:rPr sz="1050" b="0" i="0">
                <a:solidFill>
                  <a:srgbClr val="3F4A5A"/>
                </a:solidFill>
                <a:latin typeface="Calibri"/>
              </a:rPr>
              <a:t>reproducir campos polinómicos.</a:t>
            </a:r>
          </a:p>
        </p:txBody>
      </p:sp>
      <p:sp>
        <p:nvSpPr>
          <p:cNvPr id="33" name="Rounded Rectangle 32"/>
          <p:cNvSpPr/>
          <p:nvPr/>
        </p:nvSpPr>
        <p:spPr>
          <a:xfrm>
            <a:off x="638175" y="2835275"/>
            <a:ext cx="5200650" cy="2406650"/>
          </a:xfrm>
          <a:prstGeom prst="roundRect">
            <a:avLst>
              <a:gd name="adj" fmla="val 4089"/>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c295ce93eb21d2f2.png"/>
          <p:cNvPicPr>
            <a:picLocks noChangeAspect="1"/>
          </p:cNvPicPr>
          <p:nvPr/>
        </p:nvPicPr>
        <p:blipFill>
          <a:blip r:embed="rId2"/>
          <a:stretch>
            <a:fillRect/>
          </a:stretch>
        </p:blipFill>
        <p:spPr>
          <a:xfrm>
            <a:off x="641350" y="2838450"/>
            <a:ext cx="5207000" cy="2413000"/>
          </a:xfrm>
          <a:prstGeom prst="rect">
            <a:avLst/>
          </a:prstGeom>
        </p:spPr>
      </p:pic>
      <p:pic>
        <p:nvPicPr>
          <p:cNvPr id="35" name="Picture 34" descr="8ed25f4a998b4209.png"/>
          <p:cNvPicPr>
            <a:picLocks noChangeAspect="1"/>
          </p:cNvPicPr>
          <p:nvPr/>
        </p:nvPicPr>
        <p:blipFill>
          <a:blip r:embed="rId3"/>
          <a:stretch>
            <a:fillRect/>
          </a:stretch>
        </p:blipFill>
        <p:spPr>
          <a:xfrm>
            <a:off x="641350" y="2838450"/>
            <a:ext cx="5207000" cy="2413000"/>
          </a:xfrm>
          <a:prstGeom prst="rect">
            <a:avLst/>
          </a:prstGeom>
        </p:spPr>
      </p:pic>
      <p:pic>
        <p:nvPicPr>
          <p:cNvPr id="36" name="Picture 35" descr="c295ce93eb21d2f2.png"/>
          <p:cNvPicPr>
            <a:picLocks noChangeAspect="1"/>
          </p:cNvPicPr>
          <p:nvPr/>
        </p:nvPicPr>
        <p:blipFill>
          <a:blip r:embed="rId2"/>
          <a:stretch>
            <a:fillRect/>
          </a:stretch>
        </p:blipFill>
        <p:spPr>
          <a:xfrm>
            <a:off x="641350" y="2838450"/>
            <a:ext cx="5207000" cy="2413000"/>
          </a:xfrm>
          <a:prstGeom prst="rect">
            <a:avLst/>
          </a:prstGeom>
        </p:spPr>
      </p:pic>
      <p:sp>
        <p:nvSpPr>
          <p:cNvPr id="37" name="TextBox 36"/>
          <p:cNvSpPr txBox="1"/>
          <p:nvPr/>
        </p:nvSpPr>
        <p:spPr>
          <a:xfrm>
            <a:off x="6096000" y="2833642"/>
            <a:ext cx="5570220" cy="124016"/>
          </a:xfrm>
          <a:prstGeom prst="rect">
            <a:avLst/>
          </a:prstGeom>
          <a:noFill/>
        </p:spPr>
        <p:txBody>
          <a:bodyPr wrap="square" lIns="0" rIns="0" tIns="0" bIns="0" anchor="t"/>
          <a:lstStyle/>
          <a:p>
            <a:pPr algn="l">
              <a:lnSpc>
                <a:spcPts val="976"/>
              </a:lnSpc>
              <a:spcBef>
                <a:spcPts val="0"/>
              </a:spcBef>
              <a:spcAft>
                <a:spcPts val="0"/>
              </a:spcAft>
            </a:pPr>
            <a:r>
              <a:rPr sz="800" b="0" i="0">
                <a:solidFill>
                  <a:srgbClr val="1F2937"/>
                </a:solidFill>
                <a:latin typeface="Calibri"/>
              </a:rPr>
              <a:t>¿Cierran? Volver a interpolar en los puntos de Gauss los valores nodales de E3 (σy)</a:t>
            </a:r>
          </a:p>
        </p:txBody>
      </p:sp>
      <p:sp>
        <p:nvSpPr>
          <p:cNvPr id="38" name="Rectangle 37"/>
          <p:cNvSpPr/>
          <p:nvPr/>
        </p:nvSpPr>
        <p:spPr>
          <a:xfrm>
            <a:off x="6096000" y="2990850"/>
            <a:ext cx="70377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096000" y="3340100"/>
            <a:ext cx="70377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799770" y="2990850"/>
            <a:ext cx="1312545"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799770" y="3340100"/>
            <a:ext cx="1312545"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63270" y="3084662"/>
            <a:ext cx="1134745"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σ en Gauss</a:t>
            </a:r>
          </a:p>
        </p:txBody>
      </p:sp>
      <p:sp>
        <p:nvSpPr>
          <p:cNvPr id="43" name="Rectangle 42"/>
          <p:cNvSpPr/>
          <p:nvPr/>
        </p:nvSpPr>
        <p:spPr>
          <a:xfrm>
            <a:off x="8112316" y="2990850"/>
            <a:ext cx="1603375"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112316" y="3340100"/>
            <a:ext cx="1603375"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75816" y="3084662"/>
            <a:ext cx="1425575"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con E correcta</a:t>
            </a:r>
          </a:p>
        </p:txBody>
      </p:sp>
      <p:sp>
        <p:nvSpPr>
          <p:cNvPr id="46" name="Rectangle 45"/>
          <p:cNvSpPr/>
          <p:nvPr/>
        </p:nvSpPr>
        <p:spPr>
          <a:xfrm>
            <a:off x="9715690" y="2990850"/>
            <a:ext cx="184131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715690" y="3340100"/>
            <a:ext cx="184131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79190" y="3084662"/>
            <a:ext cx="1663510"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con E mal escrita</a:t>
            </a:r>
          </a:p>
        </p:txBody>
      </p:sp>
      <p:sp>
        <p:nvSpPr>
          <p:cNvPr id="49" name="Rectangle 48"/>
          <p:cNvSpPr/>
          <p:nvPr/>
        </p:nvSpPr>
        <p:spPr>
          <a:xfrm>
            <a:off x="6096000" y="3359150"/>
            <a:ext cx="703770" cy="3587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096000" y="3711575"/>
            <a:ext cx="7037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10300" y="3449955"/>
            <a:ext cx="525970" cy="174625"/>
          </a:xfrm>
          <a:prstGeom prst="rect">
            <a:avLst/>
          </a:prstGeom>
          <a:noFill/>
        </p:spPr>
        <p:txBody>
          <a:bodyPr wrap="square" lIns="0" rIns="0" tIns="0" bIns="0" anchor="t"/>
          <a:lstStyle/>
          <a:p>
            <a:pPr algn="l">
              <a:lnSpc>
                <a:spcPts val="1375"/>
              </a:lnSpc>
              <a:spcBef>
                <a:spcPts val="0"/>
              </a:spcBef>
              <a:spcAft>
                <a:spcPts val="0"/>
              </a:spcAft>
            </a:pPr>
            <a:r>
              <a:rPr sz="1100" b="0" i="0">
                <a:solidFill>
                  <a:srgbClr val="1F2937"/>
                </a:solidFill>
                <a:latin typeface="Calibri"/>
              </a:rPr>
              <a:t>PG1</a:t>
            </a:r>
          </a:p>
        </p:txBody>
      </p:sp>
      <p:sp>
        <p:nvSpPr>
          <p:cNvPr id="52" name="Rectangle 51"/>
          <p:cNvSpPr/>
          <p:nvPr/>
        </p:nvSpPr>
        <p:spPr>
          <a:xfrm>
            <a:off x="6799770" y="3359150"/>
            <a:ext cx="1312545" cy="3587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799770" y="3711575"/>
            <a:ext cx="13125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63270" y="3449955"/>
            <a:ext cx="1134745"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1F2937"/>
                </a:solidFill>
                <a:latin typeface="Calibri"/>
              </a:rPr>
              <a:t>−421,75</a:t>
            </a:r>
          </a:p>
        </p:txBody>
      </p:sp>
      <p:sp>
        <p:nvSpPr>
          <p:cNvPr id="55" name="Rectangle 54"/>
          <p:cNvSpPr/>
          <p:nvPr/>
        </p:nvSpPr>
        <p:spPr>
          <a:xfrm>
            <a:off x="8112316" y="3359150"/>
            <a:ext cx="1603375" cy="3587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112316" y="3711575"/>
            <a:ext cx="160337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75816" y="3449955"/>
            <a:ext cx="1425575"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2E8B57"/>
                </a:solidFill>
                <a:latin typeface="Calibri"/>
              </a:rPr>
              <a:t>−421,75</a:t>
            </a:r>
          </a:p>
        </p:txBody>
      </p:sp>
      <p:sp>
        <p:nvSpPr>
          <p:cNvPr id="58" name="Rectangle 57"/>
          <p:cNvSpPr/>
          <p:nvPr/>
        </p:nvSpPr>
        <p:spPr>
          <a:xfrm>
            <a:off x="9715690" y="3359150"/>
            <a:ext cx="1841310" cy="3587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715690" y="3711575"/>
            <a:ext cx="18413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779190" y="3449955"/>
            <a:ext cx="1663510"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5B6575"/>
                </a:solidFill>
                <a:latin typeface="Calibri"/>
              </a:rPr>
              <a:t>−421,75</a:t>
            </a:r>
          </a:p>
        </p:txBody>
      </p:sp>
      <p:sp>
        <p:nvSpPr>
          <p:cNvPr id="61" name="TextBox 60"/>
          <p:cNvSpPr txBox="1"/>
          <p:nvPr/>
        </p:nvSpPr>
        <p:spPr>
          <a:xfrm>
            <a:off x="9779190" y="3449955"/>
            <a:ext cx="1663510"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2E8B57"/>
                </a:solidFill>
                <a:latin typeface="Calibri"/>
              </a:rPr>
              <a:t>−421,75</a:t>
            </a:r>
          </a:p>
        </p:txBody>
      </p:sp>
      <p:sp>
        <p:nvSpPr>
          <p:cNvPr id="62" name="TextBox 61"/>
          <p:cNvSpPr txBox="1"/>
          <p:nvPr/>
        </p:nvSpPr>
        <p:spPr>
          <a:xfrm>
            <a:off x="9779190" y="3449955"/>
            <a:ext cx="1663510"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5B6575"/>
                </a:solidFill>
                <a:latin typeface="Calibri"/>
              </a:rPr>
              <a:t>−421,75</a:t>
            </a:r>
          </a:p>
        </p:txBody>
      </p:sp>
      <p:sp>
        <p:nvSpPr>
          <p:cNvPr id="63" name="Rectangle 62"/>
          <p:cNvSpPr/>
          <p:nvPr/>
        </p:nvSpPr>
        <p:spPr>
          <a:xfrm>
            <a:off x="6096000" y="3717925"/>
            <a:ext cx="703770" cy="3587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096000" y="4070350"/>
            <a:ext cx="7037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10300" y="3808730"/>
            <a:ext cx="525970" cy="174625"/>
          </a:xfrm>
          <a:prstGeom prst="rect">
            <a:avLst/>
          </a:prstGeom>
          <a:noFill/>
        </p:spPr>
        <p:txBody>
          <a:bodyPr wrap="square" lIns="0" rIns="0" tIns="0" bIns="0" anchor="t"/>
          <a:lstStyle/>
          <a:p>
            <a:pPr algn="l">
              <a:lnSpc>
                <a:spcPts val="1375"/>
              </a:lnSpc>
              <a:spcBef>
                <a:spcPts val="0"/>
              </a:spcBef>
              <a:spcAft>
                <a:spcPts val="0"/>
              </a:spcAft>
            </a:pPr>
            <a:r>
              <a:rPr sz="1100" b="0" i="0">
                <a:solidFill>
                  <a:srgbClr val="1F2937"/>
                </a:solidFill>
                <a:latin typeface="Calibri"/>
              </a:rPr>
              <a:t>PG2</a:t>
            </a:r>
          </a:p>
        </p:txBody>
      </p:sp>
      <p:sp>
        <p:nvSpPr>
          <p:cNvPr id="66" name="Rectangle 65"/>
          <p:cNvSpPr/>
          <p:nvPr/>
        </p:nvSpPr>
        <p:spPr>
          <a:xfrm>
            <a:off x="6799770" y="3717925"/>
            <a:ext cx="1312545" cy="3587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799770" y="4070350"/>
            <a:ext cx="13125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863270" y="3808730"/>
            <a:ext cx="1134745"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1F2937"/>
                </a:solidFill>
                <a:latin typeface="Calibri"/>
              </a:rPr>
              <a:t>−611,80</a:t>
            </a:r>
          </a:p>
        </p:txBody>
      </p:sp>
      <p:sp>
        <p:nvSpPr>
          <p:cNvPr id="69" name="Rectangle 68"/>
          <p:cNvSpPr/>
          <p:nvPr/>
        </p:nvSpPr>
        <p:spPr>
          <a:xfrm>
            <a:off x="8112316" y="3717925"/>
            <a:ext cx="1603375" cy="3587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112316" y="4070350"/>
            <a:ext cx="160337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75816" y="3808730"/>
            <a:ext cx="1425575"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2E8B57"/>
                </a:solidFill>
                <a:latin typeface="Calibri"/>
              </a:rPr>
              <a:t>−611,80</a:t>
            </a:r>
          </a:p>
        </p:txBody>
      </p:sp>
      <p:sp>
        <p:nvSpPr>
          <p:cNvPr id="72" name="Rectangle 71"/>
          <p:cNvSpPr/>
          <p:nvPr/>
        </p:nvSpPr>
        <p:spPr>
          <a:xfrm>
            <a:off x="9715690" y="3717925"/>
            <a:ext cx="1841310" cy="3587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715690" y="4070350"/>
            <a:ext cx="18413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779190" y="3808730"/>
            <a:ext cx="1663510"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5B6575"/>
                </a:solidFill>
                <a:latin typeface="Calibri"/>
              </a:rPr>
              <a:t>−611,80</a:t>
            </a:r>
          </a:p>
        </p:txBody>
      </p:sp>
      <p:sp>
        <p:nvSpPr>
          <p:cNvPr id="75" name="TextBox 74"/>
          <p:cNvSpPr txBox="1"/>
          <p:nvPr/>
        </p:nvSpPr>
        <p:spPr>
          <a:xfrm>
            <a:off x="9779190" y="3808730"/>
            <a:ext cx="1663510"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2E8B57"/>
                </a:solidFill>
                <a:latin typeface="Calibri"/>
              </a:rPr>
              <a:t>−611,80</a:t>
            </a:r>
          </a:p>
        </p:txBody>
      </p:sp>
      <p:sp>
        <p:nvSpPr>
          <p:cNvPr id="76" name="TextBox 75"/>
          <p:cNvSpPr txBox="1"/>
          <p:nvPr/>
        </p:nvSpPr>
        <p:spPr>
          <a:xfrm>
            <a:off x="9779190" y="3808730"/>
            <a:ext cx="1663510"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5B6575"/>
                </a:solidFill>
                <a:latin typeface="Calibri"/>
              </a:rPr>
              <a:t>−611,80</a:t>
            </a:r>
          </a:p>
        </p:txBody>
      </p:sp>
      <p:sp>
        <p:nvSpPr>
          <p:cNvPr id="77" name="Rectangle 76"/>
          <p:cNvSpPr/>
          <p:nvPr/>
        </p:nvSpPr>
        <p:spPr>
          <a:xfrm>
            <a:off x="6096000" y="4076700"/>
            <a:ext cx="703770" cy="3587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096000" y="4429125"/>
            <a:ext cx="7037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10300" y="4167505"/>
            <a:ext cx="525970" cy="174625"/>
          </a:xfrm>
          <a:prstGeom prst="rect">
            <a:avLst/>
          </a:prstGeom>
          <a:noFill/>
        </p:spPr>
        <p:txBody>
          <a:bodyPr wrap="square" lIns="0" rIns="0" tIns="0" bIns="0" anchor="t"/>
          <a:lstStyle/>
          <a:p>
            <a:pPr algn="l">
              <a:lnSpc>
                <a:spcPts val="1375"/>
              </a:lnSpc>
              <a:spcBef>
                <a:spcPts val="0"/>
              </a:spcBef>
              <a:spcAft>
                <a:spcPts val="0"/>
              </a:spcAft>
            </a:pPr>
            <a:r>
              <a:rPr sz="1100" b="0" i="0">
                <a:solidFill>
                  <a:srgbClr val="1F2937"/>
                </a:solidFill>
                <a:latin typeface="Calibri"/>
              </a:rPr>
              <a:t>PG3</a:t>
            </a:r>
          </a:p>
        </p:txBody>
      </p:sp>
      <p:sp>
        <p:nvSpPr>
          <p:cNvPr id="80" name="Rectangle 79"/>
          <p:cNvSpPr/>
          <p:nvPr/>
        </p:nvSpPr>
        <p:spPr>
          <a:xfrm>
            <a:off x="6799770" y="4076700"/>
            <a:ext cx="1312545" cy="3587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799770" y="4429125"/>
            <a:ext cx="13125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863270" y="4167505"/>
            <a:ext cx="1134745"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1F2937"/>
                </a:solidFill>
                <a:latin typeface="Calibri"/>
              </a:rPr>
              <a:t>−167,10</a:t>
            </a:r>
          </a:p>
        </p:txBody>
      </p:sp>
      <p:sp>
        <p:nvSpPr>
          <p:cNvPr id="83" name="Rectangle 82"/>
          <p:cNvSpPr/>
          <p:nvPr/>
        </p:nvSpPr>
        <p:spPr>
          <a:xfrm>
            <a:off x="8112316" y="4076700"/>
            <a:ext cx="1603375" cy="3587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8112316" y="4429125"/>
            <a:ext cx="160337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175816" y="4167505"/>
            <a:ext cx="1425575"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2E8B57"/>
                </a:solidFill>
                <a:latin typeface="Calibri"/>
              </a:rPr>
              <a:t>−167,10</a:t>
            </a:r>
          </a:p>
        </p:txBody>
      </p:sp>
      <p:sp>
        <p:nvSpPr>
          <p:cNvPr id="86" name="Rectangle 85"/>
          <p:cNvSpPr/>
          <p:nvPr/>
        </p:nvSpPr>
        <p:spPr>
          <a:xfrm>
            <a:off x="9715690" y="4076700"/>
            <a:ext cx="1841310" cy="3587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715690" y="4429125"/>
            <a:ext cx="18413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779190" y="4167505"/>
            <a:ext cx="1663510"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5B6575"/>
                </a:solidFill>
                <a:latin typeface="Calibri"/>
              </a:rPr>
              <a:t>−216,19</a:t>
            </a:r>
          </a:p>
        </p:txBody>
      </p:sp>
      <p:sp>
        <p:nvSpPr>
          <p:cNvPr id="89" name="TextBox 88"/>
          <p:cNvSpPr txBox="1"/>
          <p:nvPr/>
        </p:nvSpPr>
        <p:spPr>
          <a:xfrm>
            <a:off x="9779190" y="4167505"/>
            <a:ext cx="1663510" cy="174625"/>
          </a:xfrm>
          <a:prstGeom prst="rect">
            <a:avLst/>
          </a:prstGeom>
          <a:noFill/>
        </p:spPr>
        <p:txBody>
          <a:bodyPr wrap="square" lIns="0" rIns="0" tIns="0" bIns="0" anchor="t"/>
          <a:lstStyle/>
          <a:p>
            <a:pPr algn="r">
              <a:lnSpc>
                <a:spcPts val="1375"/>
              </a:lnSpc>
              <a:spcBef>
                <a:spcPts val="0"/>
              </a:spcBef>
              <a:spcAft>
                <a:spcPts val="0"/>
              </a:spcAft>
            </a:pPr>
            <a:r>
              <a:rPr sz="1100" b="1" i="0">
                <a:solidFill>
                  <a:srgbClr val="C0392B"/>
                </a:solidFill>
                <a:latin typeface="Calibri"/>
              </a:rPr>
              <a:t>−216,19 ✗</a:t>
            </a:r>
          </a:p>
        </p:txBody>
      </p:sp>
      <p:sp>
        <p:nvSpPr>
          <p:cNvPr id="90" name="TextBox 89"/>
          <p:cNvSpPr txBox="1"/>
          <p:nvPr/>
        </p:nvSpPr>
        <p:spPr>
          <a:xfrm>
            <a:off x="9779190" y="4167505"/>
            <a:ext cx="1663510"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5B6575"/>
                </a:solidFill>
                <a:latin typeface="Calibri"/>
              </a:rPr>
              <a:t>−216,19</a:t>
            </a:r>
          </a:p>
        </p:txBody>
      </p:sp>
      <p:sp>
        <p:nvSpPr>
          <p:cNvPr id="91" name="Rectangle 90"/>
          <p:cNvSpPr/>
          <p:nvPr/>
        </p:nvSpPr>
        <p:spPr>
          <a:xfrm>
            <a:off x="6096000" y="4435475"/>
            <a:ext cx="703770" cy="3587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096000" y="4787900"/>
            <a:ext cx="7037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210300" y="4526280"/>
            <a:ext cx="525970" cy="174625"/>
          </a:xfrm>
          <a:prstGeom prst="rect">
            <a:avLst/>
          </a:prstGeom>
          <a:noFill/>
        </p:spPr>
        <p:txBody>
          <a:bodyPr wrap="square" lIns="0" rIns="0" tIns="0" bIns="0" anchor="t"/>
          <a:lstStyle/>
          <a:p>
            <a:pPr algn="l">
              <a:lnSpc>
                <a:spcPts val="1375"/>
              </a:lnSpc>
              <a:spcBef>
                <a:spcPts val="0"/>
              </a:spcBef>
              <a:spcAft>
                <a:spcPts val="0"/>
              </a:spcAft>
            </a:pPr>
            <a:r>
              <a:rPr sz="1100" b="0" i="0">
                <a:solidFill>
                  <a:srgbClr val="1F2937"/>
                </a:solidFill>
                <a:latin typeface="Calibri"/>
              </a:rPr>
              <a:t>PG4</a:t>
            </a:r>
          </a:p>
        </p:txBody>
      </p:sp>
      <p:sp>
        <p:nvSpPr>
          <p:cNvPr id="94" name="Rectangle 93"/>
          <p:cNvSpPr/>
          <p:nvPr/>
        </p:nvSpPr>
        <p:spPr>
          <a:xfrm>
            <a:off x="6799770" y="4435475"/>
            <a:ext cx="1312545" cy="3587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799770" y="4787900"/>
            <a:ext cx="13125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863270" y="4526280"/>
            <a:ext cx="1134745"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1F2937"/>
                </a:solidFill>
                <a:latin typeface="Calibri"/>
              </a:rPr>
              <a:t>−216,19</a:t>
            </a:r>
          </a:p>
        </p:txBody>
      </p:sp>
      <p:sp>
        <p:nvSpPr>
          <p:cNvPr id="97" name="Rectangle 96"/>
          <p:cNvSpPr/>
          <p:nvPr/>
        </p:nvSpPr>
        <p:spPr>
          <a:xfrm>
            <a:off x="8112316" y="4435475"/>
            <a:ext cx="1603375" cy="3587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8112316" y="4787900"/>
            <a:ext cx="160337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175816" y="4526280"/>
            <a:ext cx="1425575"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2E8B57"/>
                </a:solidFill>
                <a:latin typeface="Calibri"/>
              </a:rPr>
              <a:t>−216,19</a:t>
            </a:r>
          </a:p>
        </p:txBody>
      </p:sp>
      <p:sp>
        <p:nvSpPr>
          <p:cNvPr id="100" name="Rectangle 99"/>
          <p:cNvSpPr/>
          <p:nvPr/>
        </p:nvSpPr>
        <p:spPr>
          <a:xfrm>
            <a:off x="9715690" y="4435475"/>
            <a:ext cx="1841310" cy="3587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715690" y="4787900"/>
            <a:ext cx="18413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779190" y="4526280"/>
            <a:ext cx="1663510"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5B6575"/>
                </a:solidFill>
                <a:latin typeface="Calibri"/>
              </a:rPr>
              <a:t>−167,10</a:t>
            </a:r>
          </a:p>
        </p:txBody>
      </p:sp>
      <p:sp>
        <p:nvSpPr>
          <p:cNvPr id="103" name="TextBox 102"/>
          <p:cNvSpPr txBox="1"/>
          <p:nvPr/>
        </p:nvSpPr>
        <p:spPr>
          <a:xfrm>
            <a:off x="9779190" y="4526280"/>
            <a:ext cx="1663510" cy="174625"/>
          </a:xfrm>
          <a:prstGeom prst="rect">
            <a:avLst/>
          </a:prstGeom>
          <a:noFill/>
        </p:spPr>
        <p:txBody>
          <a:bodyPr wrap="square" lIns="0" rIns="0" tIns="0" bIns="0" anchor="t"/>
          <a:lstStyle/>
          <a:p>
            <a:pPr algn="r">
              <a:lnSpc>
                <a:spcPts val="1375"/>
              </a:lnSpc>
              <a:spcBef>
                <a:spcPts val="0"/>
              </a:spcBef>
              <a:spcAft>
                <a:spcPts val="0"/>
              </a:spcAft>
            </a:pPr>
            <a:r>
              <a:rPr sz="1100" b="1" i="0">
                <a:solidFill>
                  <a:srgbClr val="C0392B"/>
                </a:solidFill>
                <a:latin typeface="Calibri"/>
              </a:rPr>
              <a:t>−167,10 ✗</a:t>
            </a:r>
          </a:p>
        </p:txBody>
      </p:sp>
      <p:sp>
        <p:nvSpPr>
          <p:cNvPr id="104" name="TextBox 103"/>
          <p:cNvSpPr txBox="1"/>
          <p:nvPr/>
        </p:nvSpPr>
        <p:spPr>
          <a:xfrm>
            <a:off x="9779190" y="4526280"/>
            <a:ext cx="1663510" cy="174625"/>
          </a:xfrm>
          <a:prstGeom prst="rect">
            <a:avLst/>
          </a:prstGeom>
          <a:noFill/>
        </p:spPr>
        <p:txBody>
          <a:bodyPr wrap="square" lIns="0" rIns="0" tIns="0" bIns="0" anchor="t"/>
          <a:lstStyle/>
          <a:p>
            <a:pPr algn="r">
              <a:lnSpc>
                <a:spcPts val="1375"/>
              </a:lnSpc>
              <a:spcBef>
                <a:spcPts val="0"/>
              </a:spcBef>
              <a:spcAft>
                <a:spcPts val="0"/>
              </a:spcAft>
            </a:pPr>
            <a:r>
              <a:rPr sz="1100" b="0" i="0">
                <a:solidFill>
                  <a:srgbClr val="5B6575"/>
                </a:solidFill>
                <a:latin typeface="Calibri"/>
              </a:rPr>
              <a:t>−167,10</a:t>
            </a:r>
          </a:p>
        </p:txBody>
      </p:sp>
      <p:sp>
        <p:nvSpPr>
          <p:cNvPr id="105" name="TextBox 104"/>
          <p:cNvSpPr txBox="1"/>
          <p:nvPr/>
        </p:nvSpPr>
        <p:spPr>
          <a:xfrm>
            <a:off x="6096000" y="4842859"/>
            <a:ext cx="5570220"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Con la E correcta, lo extrapolado vuelve exacto a los puntos de Gauss; con la mal</a:t>
            </a:r>
            <a:br/>
            <a:r>
              <a:rPr sz="1250" b="0" i="0">
                <a:solidFill>
                  <a:srgbClr val="5B6575"/>
                </a:solidFill>
                <a:latin typeface="Calibri"/>
              </a:rPr>
              <a:t>escrita, los puntos 3 y 4 salen intercambiados.</a:t>
            </a:r>
          </a:p>
        </p:txBody>
      </p:sp>
      <p:sp>
        <p:nvSpPr>
          <p:cNvPr id="106" name="Rounded Rectangle 105"/>
          <p:cNvSpPr/>
          <p:nvPr/>
        </p:nvSpPr>
        <p:spPr>
          <a:xfrm>
            <a:off x="635000" y="5549900"/>
            <a:ext cx="10922000" cy="755269"/>
          </a:xfrm>
          <a:prstGeom prst="roundRect">
            <a:avLst>
              <a:gd name="adj" fmla="val 6726"/>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635000" y="5549900"/>
            <a:ext cx="50800" cy="755269"/>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76300" y="5774995"/>
            <a:ext cx="2680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109" name="TextBox 108"/>
          <p:cNvSpPr txBox="1"/>
          <p:nvPr/>
        </p:nvSpPr>
        <p:spPr>
          <a:xfrm>
            <a:off x="1233297" y="5669628"/>
            <a:ext cx="10335895" cy="526796"/>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Fue la trazabilidad la que hizo visible un defecto de exactitud que las métricas agregadas no mostraban: la</a:t>
            </a:r>
            <a:br/>
            <a:r>
              <a:rPr sz="1700" b="1" i="0">
                <a:solidFill>
                  <a:srgbClr val="1B2A4A"/>
                </a:solidFill>
                <a:latin typeface="Calibri"/>
              </a:rPr>
              <a:t>hipótesis no es circular.</a:t>
            </a:r>
          </a:p>
        </p:txBody>
      </p:sp>
      <p:sp>
        <p:nvSpPr>
          <p:cNvPr id="110" name="Rectangle 109"/>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65150" y="6535420"/>
            <a:ext cx="530777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13" name="TextBox 112"/>
          <p:cNvSpPr txBox="1"/>
          <p:nvPr/>
        </p:nvSpPr>
        <p:spPr>
          <a:xfrm>
            <a:off x="5743448" y="6535420"/>
            <a:ext cx="70504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3.7.2</a:t>
            </a:r>
          </a:p>
        </p:txBody>
      </p:sp>
      <p:sp>
        <p:nvSpPr>
          <p:cNvPr id="114" name="TextBox 113"/>
          <p:cNvSpPr txBox="1"/>
          <p:nvPr/>
        </p:nvSpPr>
        <p:spPr>
          <a:xfrm>
            <a:off x="6319076" y="6535420"/>
            <a:ext cx="530777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47</a:t>
            </a:r>
          </a:p>
        </p:txBody>
      </p:sp>
      <p:sp>
        <p:nvSpPr>
          <p:cNvPr id="115" name="Enlace a sep-intro">
            <a:hlinkClick action="ppaction://hlinksldjump" r:id="rId4"/>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Enlace a sep-teoria">
            <a:hlinkClick action="ppaction://hlinksldjump" r:id="rId5"/>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Enlace a sep-diseno">
            <a:hlinkClick action="ppaction://hlinksldjump" r:id="rId6"/>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Enlace a sep-resultados">
            <a:hlinkClick action="ppaction://hlinksldjump" r:id="rId7"/>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Enlace a sep-analisis">
            <a:hlinkClick action="ppaction://hlinksldjump" r:id="rId8"/>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Enlace a sep-conclusiones">
            <a:hlinkClick action="ppaction://hlinksldjump" r:id="rId9"/>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5" fill="hold">
                      <p:stCondLst>
                        <p:cond delay="indefinite"/>
                        <p:cond evt="onBegin" delay="0">
                          <p:tn val="2"/>
                        </p:cond>
                      </p:stCondLst>
                      <p:childTnLst>
                        <p:par>
                          <p:cTn id="136"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childTnLst>
                          </p:cTn>
                        </p:par>
                      </p:childTnLst>
                    </p:cTn>
                  </p:par>
                  <p:par>
                    <p:cTn id="137" fill="hold">
                      <p:stCondLst>
                        <p:cond delay="indefinite"/>
                      </p:stCondLst>
                      <p:childTnLst>
                        <p:par>
                          <p:cTn id="138"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childTnLst>
                          </p:cTn>
                        </p:par>
                      </p:childTnLst>
                    </p:cTn>
                  </p:par>
                  <p:par>
                    <p:cTn id="139" fill="hold">
                      <p:stCondLst>
                        <p:cond delay="indefinite"/>
                      </p:stCondLst>
                      <p:childTnLst>
                        <p:par>
                          <p:cTn id="140" fill="hold">
                            <p:stCondLst>
                              <p:cond delay="0"/>
                            </p:stCondLst>
                            <p:childTnLst>
                              <p:par>
                                <p:cTn id="33" presetID="10" presetClass="exit" presetSubtype="0" fill="hold" grpId="0" nodeType="clickEffect">
                                  <p:stCondLst>
                                    <p:cond delay="0"/>
                                  </p:stCondLst>
                                  <p:childTnLst>
                                    <p:animEffect transition="out" filter="fade">
                                      <p:cBhvr>
                                        <p:cTn id="34" dur="200"/>
                                        <p:tgtEl>
                                          <p:spTgt spid="36"/>
                                        </p:tgtEl>
                                      </p:cBhvr>
                                    </p:animEffect>
                                    <p:set>
                                      <p:cBhvr>
                                        <p:cTn id="35" dur="1" fill="hold">
                                          <p:stCondLst>
                                            <p:cond delay="199"/>
                                          </p:stCondLst>
                                        </p:cTn>
                                        <p:tgtEl>
                                          <p:spTgt spid="36"/>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200"/>
                                        <p:tgtEl>
                                          <p:spTgt spid="62"/>
                                        </p:tgtEl>
                                      </p:cBhvr>
                                    </p:animEffect>
                                    <p:set>
                                      <p:cBhvr>
                                        <p:cTn id="38" dur="1" fill="hold">
                                          <p:stCondLst>
                                            <p:cond delay="199"/>
                                          </p:stCondLst>
                                        </p:cTn>
                                        <p:tgtEl>
                                          <p:spTgt spid="62"/>
                                        </p:tgtEl>
                                        <p:attrNameLst>
                                          <p:attrName>style.visibility</p:attrName>
                                        </p:attrNameLst>
                                      </p:cBhvr>
                                      <p:to>
                                        <p:strVal val="hidden"/>
                                      </p:to>
                                    </p:set>
                                  </p:childTnLst>
                                </p:cTn>
                              </p:par>
                              <p:par>
                                <p:cTn id="39" presetID="10" presetClass="exit" presetSubtype="0" fill="hold" grpId="0" nodeType="withEffect">
                                  <p:stCondLst>
                                    <p:cond delay="0"/>
                                  </p:stCondLst>
                                  <p:childTnLst>
                                    <p:animEffect transition="out" filter="fade">
                                      <p:cBhvr>
                                        <p:cTn id="40" dur="200"/>
                                        <p:tgtEl>
                                          <p:spTgt spid="76"/>
                                        </p:tgtEl>
                                      </p:cBhvr>
                                    </p:animEffect>
                                    <p:set>
                                      <p:cBhvr>
                                        <p:cTn id="41" dur="1" fill="hold">
                                          <p:stCondLst>
                                            <p:cond delay="199"/>
                                          </p:stCondLst>
                                        </p:cTn>
                                        <p:tgtEl>
                                          <p:spTgt spid="76"/>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200"/>
                                        <p:tgtEl>
                                          <p:spTgt spid="90"/>
                                        </p:tgtEl>
                                      </p:cBhvr>
                                    </p:animEffect>
                                    <p:set>
                                      <p:cBhvr>
                                        <p:cTn id="44" dur="1" fill="hold">
                                          <p:stCondLst>
                                            <p:cond delay="199"/>
                                          </p:stCondLst>
                                        </p:cTn>
                                        <p:tgtEl>
                                          <p:spTgt spid="90"/>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200"/>
                                        <p:tgtEl>
                                          <p:spTgt spid="104"/>
                                        </p:tgtEl>
                                      </p:cBhvr>
                                    </p:animEffect>
                                    <p:set>
                                      <p:cBhvr>
                                        <p:cTn id="47" dur="1" fill="hold">
                                          <p:stCondLst>
                                            <p:cond delay="199"/>
                                          </p:stCondLst>
                                        </p:cTn>
                                        <p:tgtEl>
                                          <p:spTgt spid="104"/>
                                        </p:tgtEl>
                                        <p:attrNameLst>
                                          <p:attrName>style.visibility</p:attrName>
                                        </p:attrNameLst>
                                      </p:cBhvr>
                                      <p:to>
                                        <p:strVal val="hidden"/>
                                      </p:to>
                                    </p:set>
                                  </p:childTnLst>
                                </p:cTn>
                              </p:par>
                              <p:par>
                                <p:cTn id="48" presetID="10" presetClass="entr" presetSubtype="0" fill="hold" grpId="0" nodeType="withEffect">
                                  <p:stCondLst>
                                    <p:cond delay="20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400"/>
                                        <p:tgtEl>
                                          <p:spTgt spid="23"/>
                                        </p:tgtEl>
                                      </p:cBhvr>
                                    </p:animEffect>
                                  </p:childTnLst>
                                </p:cTn>
                              </p:par>
                              <p:par>
                                <p:cTn id="51" presetID="10" presetClass="entr" presetSubtype="0" fill="hold" grpId="0" nodeType="withEffect">
                                  <p:stCondLst>
                                    <p:cond delay="20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400"/>
                                        <p:tgtEl>
                                          <p:spTgt spid="24"/>
                                        </p:tgtEl>
                                      </p:cBhvr>
                                    </p:animEffect>
                                  </p:childTnLst>
                                </p:cTn>
                              </p:par>
                              <p:par>
                                <p:cTn id="54" presetID="10" presetClass="entr" presetSubtype="0" fill="hold" grpId="0" nodeType="withEffect">
                                  <p:stCondLst>
                                    <p:cond delay="20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par>
                                <p:cTn id="57" presetID="10" presetClass="entr" presetSubtype="0" fill="hold" grpId="0" nodeType="withEffect">
                                  <p:stCondLst>
                                    <p:cond delay="20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grpId="0" nodeType="withEffect">
                                  <p:stCondLst>
                                    <p:cond delay="20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par>
                                <p:cTn id="63" presetID="10" presetClass="entr" presetSubtype="0" fill="hold" grpId="0" nodeType="withEffect">
                                  <p:stCondLst>
                                    <p:cond delay="20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400"/>
                                        <p:tgtEl>
                                          <p:spTgt spid="35"/>
                                        </p:tgtEl>
                                      </p:cBhvr>
                                    </p:animEffect>
                                  </p:childTnLst>
                                </p:cTn>
                              </p:par>
                              <p:par>
                                <p:cTn id="66" presetID="10" presetClass="entr" presetSubtype="0" fill="hold" grpId="0" nodeType="withEffect">
                                  <p:stCondLst>
                                    <p:cond delay="200"/>
                                  </p:stCondLst>
                                  <p:childTnLst>
                                    <p:set>
                                      <p:cBhvr>
                                        <p:cTn id="67" dur="1" fill="hold">
                                          <p:stCondLst>
                                            <p:cond delay="0"/>
                                          </p:stCondLst>
                                        </p:cTn>
                                        <p:tgtEl>
                                          <p:spTgt spid="61"/>
                                        </p:tgtEl>
                                        <p:attrNameLst>
                                          <p:attrName>style.visibility</p:attrName>
                                        </p:attrNameLst>
                                      </p:cBhvr>
                                      <p:to>
                                        <p:strVal val="visible"/>
                                      </p:to>
                                    </p:set>
                                    <p:animEffect transition="in" filter="fade">
                                      <p:cBhvr>
                                        <p:cTn id="68" dur="400"/>
                                        <p:tgtEl>
                                          <p:spTgt spid="61"/>
                                        </p:tgtEl>
                                      </p:cBhvr>
                                    </p:animEffect>
                                  </p:childTnLst>
                                </p:cTn>
                              </p:par>
                              <p:par>
                                <p:cTn id="69" presetID="10" presetClass="entr" presetSubtype="0" fill="hold" grpId="0" nodeType="withEffect">
                                  <p:stCondLst>
                                    <p:cond delay="200"/>
                                  </p:stCondLst>
                                  <p:childTnLst>
                                    <p:set>
                                      <p:cBhvr>
                                        <p:cTn id="70" dur="1" fill="hold">
                                          <p:stCondLst>
                                            <p:cond delay="0"/>
                                          </p:stCondLst>
                                        </p:cTn>
                                        <p:tgtEl>
                                          <p:spTgt spid="75"/>
                                        </p:tgtEl>
                                        <p:attrNameLst>
                                          <p:attrName>style.visibility</p:attrName>
                                        </p:attrNameLst>
                                      </p:cBhvr>
                                      <p:to>
                                        <p:strVal val="visible"/>
                                      </p:to>
                                    </p:set>
                                    <p:animEffect transition="in" filter="fade">
                                      <p:cBhvr>
                                        <p:cTn id="71" dur="400"/>
                                        <p:tgtEl>
                                          <p:spTgt spid="75"/>
                                        </p:tgtEl>
                                      </p:cBhvr>
                                    </p:animEffect>
                                  </p:childTnLst>
                                </p:cTn>
                              </p:par>
                              <p:par>
                                <p:cTn id="72" presetID="10" presetClass="entr" presetSubtype="0" fill="hold" grpId="0" nodeType="withEffect">
                                  <p:stCondLst>
                                    <p:cond delay="200"/>
                                  </p:stCondLst>
                                  <p:childTnLst>
                                    <p:set>
                                      <p:cBhvr>
                                        <p:cTn id="73" dur="1" fill="hold">
                                          <p:stCondLst>
                                            <p:cond delay="0"/>
                                          </p:stCondLst>
                                        </p:cTn>
                                        <p:tgtEl>
                                          <p:spTgt spid="89"/>
                                        </p:tgtEl>
                                        <p:attrNameLst>
                                          <p:attrName>style.visibility</p:attrName>
                                        </p:attrNameLst>
                                      </p:cBhvr>
                                      <p:to>
                                        <p:strVal val="visible"/>
                                      </p:to>
                                    </p:set>
                                    <p:animEffect transition="in" filter="fade">
                                      <p:cBhvr>
                                        <p:cTn id="74" dur="400"/>
                                        <p:tgtEl>
                                          <p:spTgt spid="89"/>
                                        </p:tgtEl>
                                      </p:cBhvr>
                                    </p:animEffect>
                                  </p:childTnLst>
                                </p:cTn>
                              </p:par>
                              <p:par>
                                <p:cTn id="75" presetID="10" presetClass="entr" presetSubtype="0" fill="hold" grpId="0" nodeType="withEffect">
                                  <p:stCondLst>
                                    <p:cond delay="200"/>
                                  </p:stCondLst>
                                  <p:childTnLst>
                                    <p:set>
                                      <p:cBhvr>
                                        <p:cTn id="76" dur="1" fill="hold">
                                          <p:stCondLst>
                                            <p:cond delay="0"/>
                                          </p:stCondLst>
                                        </p:cTn>
                                        <p:tgtEl>
                                          <p:spTgt spid="103"/>
                                        </p:tgtEl>
                                        <p:attrNameLst>
                                          <p:attrName>style.visibility</p:attrName>
                                        </p:attrNameLst>
                                      </p:cBhvr>
                                      <p:to>
                                        <p:strVal val="visible"/>
                                      </p:to>
                                    </p:set>
                                    <p:animEffect transition="in" filter="fade">
                                      <p:cBhvr>
                                        <p:cTn id="77" dur="400"/>
                                        <p:tgtEl>
                                          <p:spTgt spid="103"/>
                                        </p:tgtEl>
                                      </p:cBhvr>
                                    </p:animEffect>
                                  </p:childTnLst>
                                </p:cTn>
                              </p:par>
                            </p:childTnLst>
                          </p:cTn>
                        </p:par>
                      </p:childTnLst>
                    </p:cTn>
                  </p:par>
                  <p:par>
                    <p:cTn id="141" fill="hold">
                      <p:stCondLst>
                        <p:cond delay="indefinite"/>
                      </p:stCondLst>
                      <p:childTnLst>
                        <p:par>
                          <p:cTn id="142" fill="hold">
                            <p:stCondLst>
                              <p:cond delay="0"/>
                            </p:stCondLst>
                            <p:childTnLst>
                              <p:par>
                                <p:cTn id="78" presetID="10" presetClass="exit" presetSubtype="0" fill="hold" grpId="1" nodeType="clickEffect">
                                  <p:stCondLst>
                                    <p:cond delay="0"/>
                                  </p:stCondLst>
                                  <p:childTnLst>
                                    <p:animEffect transition="out" filter="fade">
                                      <p:cBhvr>
                                        <p:cTn id="79" dur="200"/>
                                        <p:tgtEl>
                                          <p:spTgt spid="35"/>
                                        </p:tgtEl>
                                      </p:cBhvr>
                                    </p:animEffect>
                                    <p:set>
                                      <p:cBhvr>
                                        <p:cTn id="80" dur="1" fill="hold">
                                          <p:stCondLst>
                                            <p:cond delay="199"/>
                                          </p:stCondLst>
                                        </p:cTn>
                                        <p:tgtEl>
                                          <p:spTgt spid="35"/>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200"/>
                                        <p:tgtEl>
                                          <p:spTgt spid="61"/>
                                        </p:tgtEl>
                                      </p:cBhvr>
                                    </p:animEffect>
                                    <p:set>
                                      <p:cBhvr>
                                        <p:cTn id="83" dur="1" fill="hold">
                                          <p:stCondLst>
                                            <p:cond delay="199"/>
                                          </p:stCondLst>
                                        </p:cTn>
                                        <p:tgtEl>
                                          <p:spTgt spid="61"/>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200"/>
                                        <p:tgtEl>
                                          <p:spTgt spid="75"/>
                                        </p:tgtEl>
                                      </p:cBhvr>
                                    </p:animEffect>
                                    <p:set>
                                      <p:cBhvr>
                                        <p:cTn id="86" dur="1" fill="hold">
                                          <p:stCondLst>
                                            <p:cond delay="199"/>
                                          </p:stCondLst>
                                        </p:cTn>
                                        <p:tgtEl>
                                          <p:spTgt spid="75"/>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200"/>
                                        <p:tgtEl>
                                          <p:spTgt spid="89"/>
                                        </p:tgtEl>
                                      </p:cBhvr>
                                    </p:animEffect>
                                    <p:set>
                                      <p:cBhvr>
                                        <p:cTn id="89" dur="1" fill="hold">
                                          <p:stCondLst>
                                            <p:cond delay="199"/>
                                          </p:stCondLst>
                                        </p:cTn>
                                        <p:tgtEl>
                                          <p:spTgt spid="89"/>
                                        </p:tgtEl>
                                        <p:attrNameLst>
                                          <p:attrName>style.visibility</p:attrName>
                                        </p:attrNameLst>
                                      </p:cBhvr>
                                      <p:to>
                                        <p:strVal val="hidden"/>
                                      </p:to>
                                    </p:set>
                                  </p:childTnLst>
                                </p:cTn>
                              </p:par>
                              <p:par>
                                <p:cTn id="90" presetID="10" presetClass="exit" presetSubtype="0" fill="hold" grpId="1" nodeType="withEffect">
                                  <p:stCondLst>
                                    <p:cond delay="0"/>
                                  </p:stCondLst>
                                  <p:childTnLst>
                                    <p:animEffect transition="out" filter="fade">
                                      <p:cBhvr>
                                        <p:cTn id="91" dur="200"/>
                                        <p:tgtEl>
                                          <p:spTgt spid="103"/>
                                        </p:tgtEl>
                                      </p:cBhvr>
                                    </p:animEffect>
                                    <p:set>
                                      <p:cBhvr>
                                        <p:cTn id="92" dur="1" fill="hold">
                                          <p:stCondLst>
                                            <p:cond delay="199"/>
                                          </p:stCondLst>
                                        </p:cTn>
                                        <p:tgtEl>
                                          <p:spTgt spid="103"/>
                                        </p:tgtEl>
                                        <p:attrNameLst>
                                          <p:attrName>style.visibility</p:attrName>
                                        </p:attrNameLst>
                                      </p:cBhvr>
                                      <p:to>
                                        <p:strVal val="hidden"/>
                                      </p:to>
                                    </p:set>
                                  </p:childTnLst>
                                </p:cTn>
                              </p:par>
                              <p:par>
                                <p:cTn id="93" presetID="10" presetClass="entr" presetSubtype="0" fill="hold" grpId="0" nodeType="withEffect">
                                  <p:stCondLst>
                                    <p:cond delay="20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400"/>
                                        <p:tgtEl>
                                          <p:spTgt spid="28"/>
                                        </p:tgtEl>
                                      </p:cBhvr>
                                    </p:animEffect>
                                  </p:childTnLst>
                                </p:cTn>
                              </p:par>
                              <p:par>
                                <p:cTn id="96" presetID="10" presetClass="entr" presetSubtype="0" fill="hold" grpId="0" nodeType="withEffect">
                                  <p:stCondLst>
                                    <p:cond delay="20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400"/>
                                        <p:tgtEl>
                                          <p:spTgt spid="29"/>
                                        </p:tgtEl>
                                      </p:cBhvr>
                                    </p:animEffect>
                                  </p:childTnLst>
                                </p:cTn>
                              </p:par>
                              <p:par>
                                <p:cTn id="99" presetID="10" presetClass="entr" presetSubtype="0" fill="hold" grpId="0" nodeType="withEffect">
                                  <p:stCondLst>
                                    <p:cond delay="200"/>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400"/>
                                        <p:tgtEl>
                                          <p:spTgt spid="30"/>
                                        </p:tgtEl>
                                      </p:cBhvr>
                                    </p:animEffect>
                                  </p:childTnLst>
                                </p:cTn>
                              </p:par>
                              <p:par>
                                <p:cTn id="102" presetID="10" presetClass="entr" presetSubtype="0" fill="hold" grpId="0" nodeType="withEffect">
                                  <p:stCondLst>
                                    <p:cond delay="20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400"/>
                                        <p:tgtEl>
                                          <p:spTgt spid="31"/>
                                        </p:tgtEl>
                                      </p:cBhvr>
                                    </p:animEffect>
                                  </p:childTnLst>
                                </p:cTn>
                              </p:par>
                              <p:par>
                                <p:cTn id="105" presetID="10" presetClass="entr" presetSubtype="0" fill="hold" grpId="0" nodeType="withEffect">
                                  <p:stCondLst>
                                    <p:cond delay="200"/>
                                  </p:stCondLst>
                                  <p:childTnLst>
                                    <p:set>
                                      <p:cBhvr>
                                        <p:cTn id="106" dur="1" fill="hold">
                                          <p:stCondLst>
                                            <p:cond delay="0"/>
                                          </p:stCondLst>
                                        </p:cTn>
                                        <p:tgtEl>
                                          <p:spTgt spid="32"/>
                                        </p:tgtEl>
                                        <p:attrNameLst>
                                          <p:attrName>style.visibility</p:attrName>
                                        </p:attrNameLst>
                                      </p:cBhvr>
                                      <p:to>
                                        <p:strVal val="visible"/>
                                      </p:to>
                                    </p:set>
                                    <p:animEffect transition="in" filter="fade">
                                      <p:cBhvr>
                                        <p:cTn id="107" dur="400"/>
                                        <p:tgtEl>
                                          <p:spTgt spid="32"/>
                                        </p:tgtEl>
                                      </p:cBhvr>
                                    </p:animEffect>
                                  </p:childTnLst>
                                </p:cTn>
                              </p:par>
                              <p:par>
                                <p:cTn id="108" presetID="10" presetClass="entr" presetSubtype="0" fill="hold" grpId="0" nodeType="withEffect">
                                  <p:stCondLst>
                                    <p:cond delay="200"/>
                                  </p:stCondLst>
                                  <p:childTnLst>
                                    <p:set>
                                      <p:cBhvr>
                                        <p:cTn id="109" dur="1" fill="hold">
                                          <p:stCondLst>
                                            <p:cond delay="0"/>
                                          </p:stCondLst>
                                        </p:cTn>
                                        <p:tgtEl>
                                          <p:spTgt spid="34"/>
                                        </p:tgtEl>
                                        <p:attrNameLst>
                                          <p:attrName>style.visibility</p:attrName>
                                        </p:attrNameLst>
                                      </p:cBhvr>
                                      <p:to>
                                        <p:strVal val="visible"/>
                                      </p:to>
                                    </p:set>
                                    <p:animEffect transition="in" filter="fade">
                                      <p:cBhvr>
                                        <p:cTn id="110" dur="400"/>
                                        <p:tgtEl>
                                          <p:spTgt spid="34"/>
                                        </p:tgtEl>
                                      </p:cBhvr>
                                    </p:animEffect>
                                  </p:childTnLst>
                                </p:cTn>
                              </p:par>
                              <p:par>
                                <p:cTn id="111" presetID="10" presetClass="entr" presetSubtype="0" fill="hold" grpId="0" nodeType="withEffect">
                                  <p:stCondLst>
                                    <p:cond delay="200"/>
                                  </p:stCondLst>
                                  <p:childTnLst>
                                    <p:set>
                                      <p:cBhvr>
                                        <p:cTn id="112" dur="1" fill="hold">
                                          <p:stCondLst>
                                            <p:cond delay="0"/>
                                          </p:stCondLst>
                                        </p:cTn>
                                        <p:tgtEl>
                                          <p:spTgt spid="60"/>
                                        </p:tgtEl>
                                        <p:attrNameLst>
                                          <p:attrName>style.visibility</p:attrName>
                                        </p:attrNameLst>
                                      </p:cBhvr>
                                      <p:to>
                                        <p:strVal val="visible"/>
                                      </p:to>
                                    </p:set>
                                    <p:animEffect transition="in" filter="fade">
                                      <p:cBhvr>
                                        <p:cTn id="113" dur="400"/>
                                        <p:tgtEl>
                                          <p:spTgt spid="60"/>
                                        </p:tgtEl>
                                      </p:cBhvr>
                                    </p:animEffect>
                                  </p:childTnLst>
                                </p:cTn>
                              </p:par>
                              <p:par>
                                <p:cTn id="114" presetID="10" presetClass="entr" presetSubtype="0" fill="hold" grpId="0" nodeType="withEffect">
                                  <p:stCondLst>
                                    <p:cond delay="200"/>
                                  </p:stCondLst>
                                  <p:childTnLst>
                                    <p:set>
                                      <p:cBhvr>
                                        <p:cTn id="115" dur="1" fill="hold">
                                          <p:stCondLst>
                                            <p:cond delay="0"/>
                                          </p:stCondLst>
                                        </p:cTn>
                                        <p:tgtEl>
                                          <p:spTgt spid="74"/>
                                        </p:tgtEl>
                                        <p:attrNameLst>
                                          <p:attrName>style.visibility</p:attrName>
                                        </p:attrNameLst>
                                      </p:cBhvr>
                                      <p:to>
                                        <p:strVal val="visible"/>
                                      </p:to>
                                    </p:set>
                                    <p:animEffect transition="in" filter="fade">
                                      <p:cBhvr>
                                        <p:cTn id="116" dur="400"/>
                                        <p:tgtEl>
                                          <p:spTgt spid="74"/>
                                        </p:tgtEl>
                                      </p:cBhvr>
                                    </p:animEffect>
                                  </p:childTnLst>
                                </p:cTn>
                              </p:par>
                              <p:par>
                                <p:cTn id="117" presetID="10" presetClass="entr" presetSubtype="0" fill="hold" grpId="0" nodeType="withEffect">
                                  <p:stCondLst>
                                    <p:cond delay="200"/>
                                  </p:stCondLst>
                                  <p:childTnLst>
                                    <p:set>
                                      <p:cBhvr>
                                        <p:cTn id="118" dur="1" fill="hold">
                                          <p:stCondLst>
                                            <p:cond delay="0"/>
                                          </p:stCondLst>
                                        </p:cTn>
                                        <p:tgtEl>
                                          <p:spTgt spid="88"/>
                                        </p:tgtEl>
                                        <p:attrNameLst>
                                          <p:attrName>style.visibility</p:attrName>
                                        </p:attrNameLst>
                                      </p:cBhvr>
                                      <p:to>
                                        <p:strVal val="visible"/>
                                      </p:to>
                                    </p:set>
                                    <p:animEffect transition="in" filter="fade">
                                      <p:cBhvr>
                                        <p:cTn id="119" dur="400"/>
                                        <p:tgtEl>
                                          <p:spTgt spid="88"/>
                                        </p:tgtEl>
                                      </p:cBhvr>
                                    </p:animEffect>
                                  </p:childTnLst>
                                </p:cTn>
                              </p:par>
                              <p:par>
                                <p:cTn id="120" presetID="10" presetClass="entr" presetSubtype="0" fill="hold" grpId="0" nodeType="withEffect">
                                  <p:stCondLst>
                                    <p:cond delay="200"/>
                                  </p:stCondLst>
                                  <p:childTnLst>
                                    <p:set>
                                      <p:cBhvr>
                                        <p:cTn id="121" dur="1" fill="hold">
                                          <p:stCondLst>
                                            <p:cond delay="0"/>
                                          </p:stCondLst>
                                        </p:cTn>
                                        <p:tgtEl>
                                          <p:spTgt spid="102"/>
                                        </p:tgtEl>
                                        <p:attrNameLst>
                                          <p:attrName>style.visibility</p:attrName>
                                        </p:attrNameLst>
                                      </p:cBhvr>
                                      <p:to>
                                        <p:strVal val="visible"/>
                                      </p:to>
                                    </p:set>
                                    <p:animEffect transition="in" filter="fade">
                                      <p:cBhvr>
                                        <p:cTn id="122" dur="400"/>
                                        <p:tgtEl>
                                          <p:spTgt spid="102"/>
                                        </p:tgtEl>
                                      </p:cBhvr>
                                    </p:animEffect>
                                  </p:childTnLst>
                                </p:cTn>
                              </p:par>
                              <p:par>
                                <p:cTn id="123" presetID="10" presetClass="entr" presetSubtype="0" fill="hold" grpId="0" nodeType="withEffect">
                                  <p:stCondLst>
                                    <p:cond delay="200"/>
                                  </p:stCondLst>
                                  <p:childTnLst>
                                    <p:set>
                                      <p:cBhvr>
                                        <p:cTn id="124" dur="1" fill="hold">
                                          <p:stCondLst>
                                            <p:cond delay="0"/>
                                          </p:stCondLst>
                                        </p:cTn>
                                        <p:tgtEl>
                                          <p:spTgt spid="106"/>
                                        </p:tgtEl>
                                        <p:attrNameLst>
                                          <p:attrName>style.visibility</p:attrName>
                                        </p:attrNameLst>
                                      </p:cBhvr>
                                      <p:to>
                                        <p:strVal val="visible"/>
                                      </p:to>
                                    </p:set>
                                    <p:animEffect transition="in" filter="fade">
                                      <p:cBhvr>
                                        <p:cTn id="125" dur="400"/>
                                        <p:tgtEl>
                                          <p:spTgt spid="106"/>
                                        </p:tgtEl>
                                      </p:cBhvr>
                                    </p:animEffect>
                                  </p:childTnLst>
                                </p:cTn>
                              </p:par>
                              <p:par>
                                <p:cTn id="126" presetID="10" presetClass="entr" presetSubtype="0" fill="hold" grpId="0" nodeType="withEffect">
                                  <p:stCondLst>
                                    <p:cond delay="200"/>
                                  </p:stCondLst>
                                  <p:childTnLst>
                                    <p:set>
                                      <p:cBhvr>
                                        <p:cTn id="127" dur="1" fill="hold">
                                          <p:stCondLst>
                                            <p:cond delay="0"/>
                                          </p:stCondLst>
                                        </p:cTn>
                                        <p:tgtEl>
                                          <p:spTgt spid="107"/>
                                        </p:tgtEl>
                                        <p:attrNameLst>
                                          <p:attrName>style.visibility</p:attrName>
                                        </p:attrNameLst>
                                      </p:cBhvr>
                                      <p:to>
                                        <p:strVal val="visible"/>
                                      </p:to>
                                    </p:set>
                                    <p:animEffect transition="in" filter="fade">
                                      <p:cBhvr>
                                        <p:cTn id="128" dur="400"/>
                                        <p:tgtEl>
                                          <p:spTgt spid="107"/>
                                        </p:tgtEl>
                                      </p:cBhvr>
                                    </p:animEffect>
                                  </p:childTnLst>
                                </p:cTn>
                              </p:par>
                              <p:par>
                                <p:cTn id="129" presetID="10" presetClass="entr" presetSubtype="0" fill="hold" grpId="0" nodeType="withEffect">
                                  <p:stCondLst>
                                    <p:cond delay="200"/>
                                  </p:stCondLst>
                                  <p:childTnLst>
                                    <p:set>
                                      <p:cBhvr>
                                        <p:cTn id="130" dur="1" fill="hold">
                                          <p:stCondLst>
                                            <p:cond delay="0"/>
                                          </p:stCondLst>
                                        </p:cTn>
                                        <p:tgtEl>
                                          <p:spTgt spid="108"/>
                                        </p:tgtEl>
                                        <p:attrNameLst>
                                          <p:attrName>style.visibility</p:attrName>
                                        </p:attrNameLst>
                                      </p:cBhvr>
                                      <p:to>
                                        <p:strVal val="visible"/>
                                      </p:to>
                                    </p:set>
                                    <p:animEffect transition="in" filter="fade">
                                      <p:cBhvr>
                                        <p:cTn id="131" dur="400"/>
                                        <p:tgtEl>
                                          <p:spTgt spid="108"/>
                                        </p:tgtEl>
                                      </p:cBhvr>
                                    </p:animEffect>
                                  </p:childTnLst>
                                </p:cTn>
                              </p:par>
                              <p:par>
                                <p:cTn id="132" presetID="10" presetClass="entr" presetSubtype="0" fill="hold" grpId="0" nodeType="withEffect">
                                  <p:stCondLst>
                                    <p:cond delay="200"/>
                                  </p:stCondLst>
                                  <p:childTnLst>
                                    <p:set>
                                      <p:cBhvr>
                                        <p:cTn id="133" dur="1" fill="hold">
                                          <p:stCondLst>
                                            <p:cond delay="0"/>
                                          </p:stCondLst>
                                        </p:cTn>
                                        <p:tgtEl>
                                          <p:spTgt spid="109"/>
                                        </p:tgtEl>
                                        <p:attrNameLst>
                                          <p:attrName>style.visibility</p:attrName>
                                        </p:attrNameLst>
                                      </p:cBhvr>
                                      <p:to>
                                        <p:strVal val="visible"/>
                                      </p:to>
                                    </p:set>
                                    <p:animEffect transition="in" filter="fade">
                                      <p:cBhvr>
                                        <p:cTn id="134" dur="4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60" grpId="0" animBg="1"/>
      <p:bldP spid="61" grpId="0" animBg="1"/>
      <p:bldP spid="61" grpId="1" animBg="1"/>
      <p:bldP spid="62" grpId="0" animBg="1"/>
      <p:bldP spid="74" grpId="0" animBg="1"/>
      <p:bldP spid="75" grpId="0" animBg="1"/>
      <p:bldP spid="75" grpId="1" animBg="1"/>
      <p:bldP spid="76" grpId="0" animBg="1"/>
      <p:bldP spid="88" grpId="0" animBg="1"/>
      <p:bldP spid="89" grpId="0" animBg="1"/>
      <p:bldP spid="89" grpId="1" animBg="1"/>
      <p:bldP spid="90" grpId="0" animBg="1"/>
      <p:bldP spid="102" grpId="0" animBg="1"/>
      <p:bldP spid="103" grpId="0" animBg="1"/>
      <p:bldP spid="103" grpId="1" animBg="1"/>
      <p:bldP spid="104" grpId="0" animBg="1"/>
      <p:bldP spid="106" grpId="0" animBg="1"/>
      <p:bldP spid="107" grpId="0" animBg="1"/>
      <p:bldP spid="108" grpId="0" animBg="1"/>
      <p:bldP spid="109"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05</a:t>
            </a:r>
          </a:p>
        </p:txBody>
      </p:sp>
      <p:sp>
        <p:nvSpPr>
          <p:cNvPr id="4" name="TextBox 3"/>
          <p:cNvSpPr txBox="1"/>
          <p:nvPr/>
        </p:nvSpPr>
        <p:spPr>
          <a:xfrm>
            <a:off x="898398" y="282141"/>
            <a:ext cx="176053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Análisis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33 282 GDL en alrededor de un segundo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420b275f54a02ad3.png"/>
          <p:cNvPicPr>
            <a:picLocks noChangeAspect="1"/>
          </p:cNvPicPr>
          <p:nvPr/>
        </p:nvPicPr>
        <p:blipFill>
          <a:blip r:embed="rId2"/>
          <a:stretch>
            <a:fillRect/>
          </a:stretch>
        </p:blipFill>
        <p:spPr>
          <a:xfrm>
            <a:off x="635000" y="1435100"/>
            <a:ext cx="5334000" cy="3810000"/>
          </a:xfrm>
          <a:prstGeom prst="rect">
            <a:avLst/>
          </a:prstGeom>
        </p:spPr>
      </p:pic>
      <p:pic>
        <p:nvPicPr>
          <p:cNvPr id="14" name="Picture 13" descr="f8c1660bcce2c859.png"/>
          <p:cNvPicPr>
            <a:picLocks noChangeAspect="1"/>
          </p:cNvPicPr>
          <p:nvPr/>
        </p:nvPicPr>
        <p:blipFill>
          <a:blip r:embed="rId3"/>
          <a:stretch>
            <a:fillRect/>
          </a:stretch>
        </p:blipFill>
        <p:spPr>
          <a:xfrm>
            <a:off x="6223000" y="1435100"/>
            <a:ext cx="5334000" cy="3810000"/>
          </a:xfrm>
          <a:prstGeom prst="rect">
            <a:avLst/>
          </a:prstGeom>
        </p:spPr>
      </p:pic>
      <p:sp>
        <p:nvSpPr>
          <p:cNvPr id="15" name="Rounded Rectangle 14"/>
          <p:cNvSpPr/>
          <p:nvPr/>
        </p:nvSpPr>
        <p:spPr>
          <a:xfrm>
            <a:off x="638175" y="5349875"/>
            <a:ext cx="6612318" cy="317500"/>
          </a:xfrm>
          <a:prstGeom prst="roundRect">
            <a:avLst>
              <a:gd name="adj" fmla="val 50000"/>
            </a:avLst>
          </a:prstGeom>
          <a:solidFill>
            <a:srgbClr val="FDF1E2"/>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350" y="5420474"/>
            <a:ext cx="6479032"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C9620F"/>
                </a:solidFill>
                <a:latin typeface="Calibri"/>
              </a:rPr>
              <a:t>Reordenamiento de mínimo grado: 1,7 × más rápido con 2178 GDL · 2,0 × con 8450 · 2,9 × con 33 282</a:t>
            </a:r>
          </a:p>
        </p:txBody>
      </p:sp>
      <p:sp>
        <p:nvSpPr>
          <p:cNvPr id="17" name="TextBox 16"/>
          <p:cNvSpPr txBox="1"/>
          <p:nvPr/>
        </p:nvSpPr>
        <p:spPr>
          <a:xfrm>
            <a:off x="635000" y="5731859"/>
            <a:ext cx="11140440"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Intel de 2012, Windows 10, Python 3.13; una corrida representativa (puede variar hasta un 50 %). Reproducible con tests/bench_timing.py.</a:t>
            </a:r>
          </a:p>
        </p:txBody>
      </p:sp>
      <p:sp>
        <p:nvSpPr>
          <p:cNvPr id="18" name="Rectangle 17"/>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1" name="TextBox 20"/>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3.7.4 · Tabla 3.9</a:t>
            </a:r>
          </a:p>
        </p:txBody>
      </p:sp>
      <p:sp>
        <p:nvSpPr>
          <p:cNvPr id="22" name="TextBox 21"/>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48</a:t>
            </a:r>
          </a:p>
        </p:txBody>
      </p:sp>
      <p:sp>
        <p:nvSpPr>
          <p:cNvPr id="23" name="Enlace a sep-intro">
            <a:hlinkClick action="ppaction://hlinksldjump" r:id="rId4"/>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nlace a sep-teoria">
            <a:hlinkClick action="ppaction://hlinksldjump" r:id="rId5"/>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nlace a sep-diseno">
            <a:hlinkClick action="ppaction://hlinksldjump" r:id="rId6"/>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nlace a sep-resultados">
            <a:hlinkClick action="ppaction://hlinksldjump" r:id="rId7"/>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nlace a sep-analisis">
            <a:hlinkClick action="ppaction://hlinksldjump" r:id="rId8"/>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nlace a sep-conclusiones">
            <a:hlinkClick action="ppaction://hlinksldjump" r:id="rId9"/>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childTnLst>
                          </p:cTn>
                        </p:par>
                      </p:childTnLst>
                    </p:cTn>
                  </p:par>
                  <p:par>
                    <p:cTn id="17" fill="hold">
                      <p:stCondLst>
                        <p:cond delay="indefinite"/>
                      </p:stCondLst>
                      <p:childTnLst>
                        <p:par>
                          <p:cTn id="18"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05</a:t>
            </a:r>
          </a:p>
        </p:txBody>
      </p:sp>
      <p:sp>
        <p:nvSpPr>
          <p:cNvPr id="4" name="TextBox 3"/>
          <p:cNvSpPr txBox="1"/>
          <p:nvPr/>
        </p:nvSpPr>
        <p:spPr>
          <a:xfrm>
            <a:off x="898398" y="282141"/>
            <a:ext cx="176053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Análisis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Qué dicen los resultados, y qué no dicen</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3553841" cy="3295650"/>
          </a:xfrm>
          <a:prstGeom prst="roundRect">
            <a:avLst>
              <a:gd name="adj" fmla="val 2215"/>
            </a:avLst>
          </a:prstGeom>
          <a:solidFill>
            <a:srgbClr val="F6F8FC"/>
          </a:solidFill>
          <a:ln w="6350">
            <a:solidFill>
              <a:srgbClr val="B7DC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1470915"/>
            <a:ext cx="32298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2E8B57"/>
                </a:solidFill>
                <a:latin typeface="Calibri"/>
              </a:rPr>
              <a:t>Alcances</a:t>
            </a:r>
          </a:p>
        </p:txBody>
      </p:sp>
      <p:sp>
        <p:nvSpPr>
          <p:cNvPr id="15" name="TextBox 14"/>
          <p:cNvSpPr txBox="1"/>
          <p:nvPr/>
        </p:nvSpPr>
        <p:spPr>
          <a:xfrm>
            <a:off x="1003300" y="1739062"/>
            <a:ext cx="2983674" cy="48006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La batería respalda la exactitud del</a:t>
            </a:r>
            <a:br/>
            <a:r>
              <a:rPr sz="1500" b="0" i="0">
                <a:solidFill>
                  <a:srgbClr val="1F2937"/>
                </a:solidFill>
                <a:latin typeface="Calibri"/>
              </a:rPr>
              <a:t>núcleo numérico</a:t>
            </a:r>
          </a:p>
        </p:txBody>
      </p:sp>
      <p:sp>
        <p:nvSpPr>
          <p:cNvPr id="16" name="Rounded Rectangle 15"/>
          <p:cNvSpPr/>
          <p:nvPr/>
        </p:nvSpPr>
        <p:spPr>
          <a:xfrm>
            <a:off x="812800" y="1842071"/>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3300" y="2308022"/>
            <a:ext cx="2983674" cy="96012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Flecha: 0,26 % frente a la solución</a:t>
            </a:r>
            <a:br/>
            <a:r>
              <a:rPr sz="1500" b="0" i="0">
                <a:solidFill>
                  <a:srgbClr val="1F2937"/>
                </a:solidFill>
                <a:latin typeface="Calibri"/>
              </a:rPr>
              <a:t>con cortante y 1,85 % frente a Euler-</a:t>
            </a:r>
            <a:br/>
            <a:r>
              <a:rPr sz="1500" b="0" i="0">
                <a:solidFill>
                  <a:srgbClr val="1F2937"/>
                </a:solidFill>
                <a:latin typeface="Calibri"/>
              </a:rPr>
              <a:t>Bernoulli: el modelo 2D capta el</a:t>
            </a:r>
            <a:br/>
            <a:r>
              <a:rPr sz="1500" b="0" i="0">
                <a:solidFill>
                  <a:srgbClr val="1F2937"/>
                </a:solidFill>
                <a:latin typeface="Calibri"/>
              </a:rPr>
              <a:t>cortante</a:t>
            </a:r>
          </a:p>
        </p:txBody>
      </p:sp>
      <p:sp>
        <p:nvSpPr>
          <p:cNvPr id="18" name="Rounded Rectangle 17"/>
          <p:cNvSpPr/>
          <p:nvPr/>
        </p:nvSpPr>
        <p:spPr>
          <a:xfrm>
            <a:off x="812800" y="2411032"/>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300" y="3356978"/>
            <a:ext cx="2983674" cy="72009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Componentes secundarias: 6 a 35</a:t>
            </a:r>
            <a:br/>
            <a:r>
              <a:rPr sz="1500" b="0" i="0">
                <a:solidFill>
                  <a:srgbClr val="1F2937"/>
                </a:solidFill>
                <a:latin typeface="Calibri"/>
              </a:rPr>
              <a:t>veces menores que σ</a:t>
            </a:r>
            <a:r>
              <a:rPr sz="1500" b="0" i="0" baseline="-25000">
                <a:solidFill>
                  <a:srgbClr val="1F2937"/>
                </a:solidFill>
                <a:latin typeface="Calibri"/>
              </a:rPr>
              <a:t>x</a:t>
            </a:r>
            <a:r>
              <a:rPr sz="1500" b="0" i="0">
                <a:solidFill>
                  <a:srgbClr val="1F2937"/>
                </a:solidFill>
                <a:latin typeface="Calibri"/>
              </a:rPr>
              <a:t>; su error</a:t>
            </a:r>
            <a:br/>
            <a:r>
              <a:rPr sz="1500" b="0" i="0">
                <a:solidFill>
                  <a:srgbClr val="1F2937"/>
                </a:solidFill>
                <a:latin typeface="Calibri"/>
              </a:rPr>
              <a:t>relativo crece por escala</a:t>
            </a:r>
          </a:p>
        </p:txBody>
      </p:sp>
      <p:sp>
        <p:nvSpPr>
          <p:cNvPr id="20" name="Rounded Rectangle 19"/>
          <p:cNvSpPr/>
          <p:nvPr/>
        </p:nvSpPr>
        <p:spPr>
          <a:xfrm>
            <a:off x="812800" y="345998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19016" y="1283272"/>
            <a:ext cx="3553904" cy="3295650"/>
          </a:xfrm>
          <a:prstGeom prst="roundRect">
            <a:avLst>
              <a:gd name="adj" fmla="val 2215"/>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12691" y="1470915"/>
            <a:ext cx="322992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1F77B4"/>
                </a:solidFill>
                <a:latin typeface="Calibri"/>
              </a:rPr>
              <a:t>Frente a otras herramientas</a:t>
            </a:r>
          </a:p>
        </p:txBody>
      </p:sp>
      <p:sp>
        <p:nvSpPr>
          <p:cNvPr id="23" name="TextBox 22"/>
          <p:cNvSpPr txBox="1"/>
          <p:nvPr/>
        </p:nvSpPr>
        <p:spPr>
          <a:xfrm>
            <a:off x="4753991" y="1739062"/>
            <a:ext cx="2983802" cy="48006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No compite en tipologías,</a:t>
            </a:r>
            <a:br/>
            <a:r>
              <a:rPr sz="1500" b="0" i="0">
                <a:solidFill>
                  <a:srgbClr val="1F2937"/>
                </a:solidFill>
                <a:latin typeface="Calibri"/>
              </a:rPr>
              <a:t>escalabilidad ni productividad</a:t>
            </a:r>
          </a:p>
        </p:txBody>
      </p:sp>
      <p:sp>
        <p:nvSpPr>
          <p:cNvPr id="24" name="Rounded Rectangle 23"/>
          <p:cNvSpPr/>
          <p:nvPr/>
        </p:nvSpPr>
        <p:spPr>
          <a:xfrm>
            <a:off x="4563491" y="1842071"/>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3991" y="2308022"/>
            <a:ext cx="2983802" cy="72009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Su valor: el cálculo expuesto y la</a:t>
            </a:r>
            <a:br/>
            <a:r>
              <a:rPr sz="1500" b="0" i="0">
                <a:solidFill>
                  <a:srgbClr val="1F2937"/>
                </a:solidFill>
                <a:latin typeface="Calibri"/>
              </a:rPr>
              <a:t>memoria que lo reconstruye sobre el</a:t>
            </a:r>
            <a:br/>
            <a:r>
              <a:rPr sz="1500" b="0" i="0">
                <a:solidFill>
                  <a:srgbClr val="1F2937"/>
                </a:solidFill>
                <a:latin typeface="Calibri"/>
              </a:rPr>
              <a:t>modelo del usuario</a:t>
            </a:r>
          </a:p>
        </p:txBody>
      </p:sp>
      <p:sp>
        <p:nvSpPr>
          <p:cNvPr id="26" name="Rounded Rectangle 25"/>
          <p:cNvSpPr/>
          <p:nvPr/>
        </p:nvSpPr>
        <p:spPr>
          <a:xfrm>
            <a:off x="4563491" y="2411032"/>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3991" y="3116948"/>
            <a:ext cx="2983802" cy="72009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SAP2000 no es el patrón: en τ</a:t>
            </a:r>
            <a:r>
              <a:rPr sz="1500" b="0" i="0" baseline="-25000">
                <a:solidFill>
                  <a:srgbClr val="1F2937"/>
                </a:solidFill>
                <a:latin typeface="Calibri"/>
              </a:rPr>
              <a:t>xy</a:t>
            </a:r>
            <a:br/>
            <a:r>
              <a:rPr sz="1500" b="0" i="0">
                <a:solidFill>
                  <a:srgbClr val="1F2937"/>
                </a:solidFill>
                <a:latin typeface="Calibri"/>
              </a:rPr>
              <a:t>queda más cerca de la analítica (0,16</a:t>
            </a:r>
            <a:br/>
            <a:r>
              <a:rPr sz="1500" b="0" i="0">
                <a:solidFill>
                  <a:srgbClr val="1F2937"/>
                </a:solidFill>
                <a:latin typeface="Calibri"/>
              </a:rPr>
              <a:t>%) que EduFEM</a:t>
            </a:r>
          </a:p>
        </p:txBody>
      </p:sp>
      <p:sp>
        <p:nvSpPr>
          <p:cNvPr id="28" name="Rounded Rectangle 27"/>
          <p:cNvSpPr/>
          <p:nvPr/>
        </p:nvSpPr>
        <p:spPr>
          <a:xfrm>
            <a:off x="4563491" y="321995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069770" y="1283272"/>
            <a:ext cx="3553904" cy="3295650"/>
          </a:xfrm>
          <a:prstGeom prst="roundRect">
            <a:avLst>
              <a:gd name="adj" fmla="val 2215"/>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63446" y="1470915"/>
            <a:ext cx="322992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Limitaciones observadas</a:t>
            </a:r>
          </a:p>
        </p:txBody>
      </p:sp>
      <p:sp>
        <p:nvSpPr>
          <p:cNvPr id="31" name="TextBox 30"/>
          <p:cNvSpPr txBox="1"/>
          <p:nvPr/>
        </p:nvSpPr>
        <p:spPr>
          <a:xfrm>
            <a:off x="8504746" y="1739062"/>
            <a:ext cx="2983802" cy="48006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El Q4 bloquea: se muestra, no se</a:t>
            </a:r>
            <a:br/>
            <a:r>
              <a:rPr sz="1500" b="0" i="0">
                <a:solidFill>
                  <a:srgbClr val="1F2937"/>
                </a:solidFill>
                <a:latin typeface="Calibri"/>
              </a:rPr>
              <a:t>corrige</a:t>
            </a:r>
          </a:p>
        </p:txBody>
      </p:sp>
      <p:sp>
        <p:nvSpPr>
          <p:cNvPr id="32" name="Rounded Rectangle 31"/>
          <p:cNvSpPr/>
          <p:nvPr/>
        </p:nvSpPr>
        <p:spPr>
          <a:xfrm>
            <a:off x="8314246" y="1842071"/>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4746" y="2308022"/>
            <a:ext cx="2983802" cy="48006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ν → 0,5 en deformación plana: M4 lo</a:t>
            </a:r>
            <a:br/>
            <a:r>
              <a:rPr sz="1500" b="0" i="0">
                <a:solidFill>
                  <a:srgbClr val="1F2937"/>
                </a:solidFill>
                <a:latin typeface="Calibri"/>
              </a:rPr>
              <a:t>advierte, no lo resuelve</a:t>
            </a:r>
          </a:p>
        </p:txBody>
      </p:sp>
      <p:sp>
        <p:nvSpPr>
          <p:cNvPr id="34" name="Rounded Rectangle 33"/>
          <p:cNvSpPr/>
          <p:nvPr/>
        </p:nvSpPr>
        <p:spPr>
          <a:xfrm>
            <a:off x="8314246" y="2411032"/>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4746" y="2876918"/>
            <a:ext cx="2983802" cy="72009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Deformación plana sin contraste</a:t>
            </a:r>
            <a:br/>
            <a:r>
              <a:rPr sz="1500" b="0" i="0">
                <a:solidFill>
                  <a:srgbClr val="1F2937"/>
                </a:solidFill>
                <a:latin typeface="Calibri"/>
              </a:rPr>
              <a:t>externo; sin caso con carga</a:t>
            </a:r>
            <a:br/>
            <a:r>
              <a:rPr sz="1500" b="0" i="0">
                <a:solidFill>
                  <a:srgbClr val="1F2937"/>
                </a:solidFill>
                <a:latin typeface="Calibri"/>
              </a:rPr>
              <a:t>linealmente variable</a:t>
            </a:r>
          </a:p>
        </p:txBody>
      </p:sp>
      <p:sp>
        <p:nvSpPr>
          <p:cNvPr id="36" name="Rounded Rectangle 35"/>
          <p:cNvSpPr/>
          <p:nvPr/>
        </p:nvSpPr>
        <p:spPr>
          <a:xfrm>
            <a:off x="8314246" y="297992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5150" y="6535420"/>
            <a:ext cx="535698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0" name="TextBox 39"/>
          <p:cNvSpPr txBox="1"/>
          <p:nvPr/>
        </p:nvSpPr>
        <p:spPr>
          <a:xfrm>
            <a:off x="5791708" y="6535420"/>
            <a:ext cx="60858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3.7</a:t>
            </a:r>
          </a:p>
        </p:txBody>
      </p:sp>
      <p:sp>
        <p:nvSpPr>
          <p:cNvPr id="41" name="TextBox 40"/>
          <p:cNvSpPr txBox="1"/>
          <p:nvPr/>
        </p:nvSpPr>
        <p:spPr>
          <a:xfrm>
            <a:off x="6269863" y="6535420"/>
            <a:ext cx="535698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49</a:t>
            </a:r>
          </a:p>
        </p:txBody>
      </p:sp>
      <p:sp>
        <p:nvSpPr>
          <p:cNvPr id="42"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nlace a sep-diseno">
            <a:hlinkClick action="ppaction://hlinksldjump" r:id="rId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nlace a sep-resultados">
            <a:hlinkClick action="ppaction://hlinksldjump" r:id="rId5"/>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nlace a sep-analisis">
            <a:hlinkClick action="ppaction://hlinksldjump" r:id="rId6"/>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5" fill="hold">
                      <p:stCondLst>
                        <p:cond delay="indefinite"/>
                        <p:cond evt="onBegin" delay="0">
                          <p:tn val="2"/>
                        </p:cond>
                      </p:stCondLst>
                      <p:childTnLst>
                        <p:par>
                          <p:cTn id="76"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12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12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childTnLst>
                          </p:cTn>
                        </p:par>
                      </p:childTnLst>
                    </p:cTn>
                  </p:par>
                  <p:par>
                    <p:cTn id="77" fill="hold">
                      <p:stCondLst>
                        <p:cond delay="indefinite"/>
                      </p:stCondLst>
                      <p:childTnLst>
                        <p:par>
                          <p:cTn id="78"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par>
                    <p:cTn id="79" fill="hold">
                      <p:stCondLst>
                        <p:cond delay="indefinite"/>
                      </p:stCondLst>
                      <p:childTnLst>
                        <p:par>
                          <p:cTn id="8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05</a:t>
            </a:r>
          </a:p>
        </p:txBody>
      </p:sp>
      <p:sp>
        <p:nvSpPr>
          <p:cNvPr id="4" name="TextBox 3"/>
          <p:cNvSpPr txBox="1"/>
          <p:nvPr/>
        </p:nvSpPr>
        <p:spPr>
          <a:xfrm>
            <a:off x="898398" y="282141"/>
            <a:ext cx="176053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Análisis de resultados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Contraste de la hipótesis: criterio por criterio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5150" y="1289876"/>
            <a:ext cx="5544312" cy="152400"/>
          </a:xfrm>
          <a:prstGeom prst="rect">
            <a:avLst/>
          </a:prstGeom>
          <a:noFill/>
        </p:spPr>
        <p:txBody>
          <a:bodyPr wrap="square" lIns="0" rIns="0" tIns="0" bIns="0" anchor="t"/>
          <a:lstStyle/>
          <a:p>
            <a:pPr algn="l">
              <a:lnSpc>
                <a:spcPts val="1200"/>
              </a:lnSpc>
              <a:spcBef>
                <a:spcPts val="0"/>
              </a:spcBef>
              <a:spcAft>
                <a:spcPts val="0"/>
              </a:spcAft>
            </a:pPr>
            <a:r>
              <a:rPr sz="1200" b="1" i="0" cap="all" spc="120">
                <a:solidFill>
                  <a:srgbClr val="E8741A"/>
                </a:solidFill>
                <a:latin typeface="Calibri"/>
              </a:rPr>
              <a:t>(a) Trazabilidad ·</a:t>
            </a:r>
            <a:r>
              <a:rPr sz="1200" b="1" i="0" cap="all" spc="120">
                <a:solidFill>
                  <a:srgbClr val="2E8B57"/>
                </a:solidFill>
                <a:latin typeface="Calibri"/>
              </a:rPr>
              <a:t> 6 de 6</a:t>
            </a:r>
          </a:p>
        </p:txBody>
      </p:sp>
      <p:sp>
        <p:nvSpPr>
          <p:cNvPr id="14" name="Rounded Rectangle 13"/>
          <p:cNvSpPr/>
          <p:nvPr/>
        </p:nvSpPr>
        <p:spPr>
          <a:xfrm>
            <a:off x="568325" y="151187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700" y="15947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Etapas con módulo educativo</a:t>
            </a:r>
          </a:p>
        </p:txBody>
      </p:sp>
      <p:sp>
        <p:nvSpPr>
          <p:cNvPr id="16" name="Rounded Rectangle 15"/>
          <p:cNvSpPr/>
          <p:nvPr/>
        </p:nvSpPr>
        <p:spPr>
          <a:xfrm>
            <a:off x="3619500" y="15594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2200" y="16069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7 de 7</a:t>
            </a:r>
          </a:p>
        </p:txBody>
      </p:sp>
      <p:sp>
        <p:nvSpPr>
          <p:cNvPr id="18" name="Rounded Rectangle 17"/>
          <p:cNvSpPr/>
          <p:nvPr/>
        </p:nvSpPr>
        <p:spPr>
          <a:xfrm>
            <a:off x="4648200" y="155949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0900" y="160699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7 de 7 ✓</a:t>
            </a:r>
          </a:p>
        </p:txBody>
      </p:sp>
      <p:sp>
        <p:nvSpPr>
          <p:cNvPr id="20" name="Rounded Rectangle 19"/>
          <p:cNvSpPr/>
          <p:nvPr/>
        </p:nvSpPr>
        <p:spPr>
          <a:xfrm>
            <a:off x="568325" y="1886521"/>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 y="19694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Etapas con desarrollo en la memoria</a:t>
            </a:r>
          </a:p>
        </p:txBody>
      </p:sp>
      <p:sp>
        <p:nvSpPr>
          <p:cNvPr id="22" name="Rounded Rectangle 21"/>
          <p:cNvSpPr/>
          <p:nvPr/>
        </p:nvSpPr>
        <p:spPr>
          <a:xfrm>
            <a:off x="3619500" y="19341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2200" y="19816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9 de 9</a:t>
            </a:r>
          </a:p>
        </p:txBody>
      </p:sp>
      <p:sp>
        <p:nvSpPr>
          <p:cNvPr id="24" name="Rounded Rectangle 23"/>
          <p:cNvSpPr/>
          <p:nvPr/>
        </p:nvSpPr>
        <p:spPr>
          <a:xfrm>
            <a:off x="4648200" y="193414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0900" y="198164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9 de 9 ✓</a:t>
            </a:r>
          </a:p>
        </p:txBody>
      </p:sp>
      <p:sp>
        <p:nvSpPr>
          <p:cNvPr id="26" name="Rounded Rectangle 25"/>
          <p:cNvSpPr/>
          <p:nvPr/>
        </p:nvSpPr>
        <p:spPr>
          <a:xfrm>
            <a:off x="568325" y="226117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700" y="23440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Solución y tensiones en el post-proceso</a:t>
            </a:r>
          </a:p>
        </p:txBody>
      </p:sp>
      <p:sp>
        <p:nvSpPr>
          <p:cNvPr id="28" name="Rounded Rectangle 27"/>
          <p:cNvSpPr/>
          <p:nvPr/>
        </p:nvSpPr>
        <p:spPr>
          <a:xfrm>
            <a:off x="3619500" y="23087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32200" y="23562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Ambas</a:t>
            </a:r>
          </a:p>
        </p:txBody>
      </p:sp>
      <p:sp>
        <p:nvSpPr>
          <p:cNvPr id="30" name="Rounded Rectangle 29"/>
          <p:cNvSpPr/>
          <p:nvPr/>
        </p:nvSpPr>
        <p:spPr>
          <a:xfrm>
            <a:off x="4648200" y="230879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0900" y="235629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Ambas ✓</a:t>
            </a:r>
          </a:p>
        </p:txBody>
      </p:sp>
      <p:sp>
        <p:nvSpPr>
          <p:cNvPr id="32" name="Rounded Rectangle 31"/>
          <p:cNvSpPr/>
          <p:nvPr/>
        </p:nvSpPr>
        <p:spPr>
          <a:xfrm>
            <a:off x="568325" y="263582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700" y="27187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Fases sobre el mismo lienzo</a:t>
            </a:r>
          </a:p>
        </p:txBody>
      </p:sp>
      <p:sp>
        <p:nvSpPr>
          <p:cNvPr id="34" name="Rounded Rectangle 33"/>
          <p:cNvSpPr/>
          <p:nvPr/>
        </p:nvSpPr>
        <p:spPr>
          <a:xfrm>
            <a:off x="3619500" y="26834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32200" y="27309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3 de 3</a:t>
            </a:r>
          </a:p>
        </p:txBody>
      </p:sp>
      <p:sp>
        <p:nvSpPr>
          <p:cNvPr id="36" name="Rounded Rectangle 35"/>
          <p:cNvSpPr/>
          <p:nvPr/>
        </p:nvSpPr>
        <p:spPr>
          <a:xfrm>
            <a:off x="4648200" y="268344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0900" y="273094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3 de 3 ✓</a:t>
            </a:r>
          </a:p>
        </p:txBody>
      </p:sp>
      <p:sp>
        <p:nvSpPr>
          <p:cNvPr id="38" name="Rounded Rectangle 37"/>
          <p:cNvSpPr/>
          <p:nvPr/>
        </p:nvSpPr>
        <p:spPr>
          <a:xfrm>
            <a:off x="568325" y="301047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700" y="30933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Ítems de contenido con instrumento</a:t>
            </a:r>
          </a:p>
        </p:txBody>
      </p:sp>
      <p:sp>
        <p:nvSpPr>
          <p:cNvPr id="40" name="Rounded Rectangle 39"/>
          <p:cNvSpPr/>
          <p:nvPr/>
        </p:nvSpPr>
        <p:spPr>
          <a:xfrm>
            <a:off x="3619500" y="30580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32200" y="31055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18 de 18</a:t>
            </a:r>
          </a:p>
        </p:txBody>
      </p:sp>
      <p:sp>
        <p:nvSpPr>
          <p:cNvPr id="42" name="Rounded Rectangle 41"/>
          <p:cNvSpPr/>
          <p:nvPr/>
        </p:nvSpPr>
        <p:spPr>
          <a:xfrm>
            <a:off x="4648200" y="305809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60900" y="310559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18 de 18 ✓</a:t>
            </a:r>
          </a:p>
        </p:txBody>
      </p:sp>
      <p:sp>
        <p:nvSpPr>
          <p:cNvPr id="44" name="Rounded Rectangle 43"/>
          <p:cNvSpPr/>
          <p:nvPr/>
        </p:nvSpPr>
        <p:spPr>
          <a:xfrm>
            <a:off x="568325" y="3385122"/>
            <a:ext cx="5429250" cy="476250"/>
          </a:xfrm>
          <a:prstGeom prst="roundRect">
            <a:avLst>
              <a:gd name="adj" fmla="val 1533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7700" y="3541053"/>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Intercambio CSV / DXF; memoria Q4 y Q9</a:t>
            </a:r>
          </a:p>
        </p:txBody>
      </p:sp>
      <p:sp>
        <p:nvSpPr>
          <p:cNvPr id="46" name="Rounded Rectangle 45"/>
          <p:cNvSpPr/>
          <p:nvPr/>
        </p:nvSpPr>
        <p:spPr>
          <a:xfrm>
            <a:off x="3619500" y="3432746"/>
            <a:ext cx="952500" cy="381000"/>
          </a:xfrm>
          <a:prstGeom prst="roundRect">
            <a:avLst>
              <a:gd name="adj" fmla="val 16666"/>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32200" y="3480245"/>
            <a:ext cx="927100" cy="29210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Sin pérdida y sin</a:t>
            </a:r>
            <a:br/>
            <a:r>
              <a:rPr sz="1000" b="1" i="0">
                <a:solidFill>
                  <a:srgbClr val="1F2937"/>
                </a:solidFill>
                <a:latin typeface="Calibri"/>
              </a:rPr>
              <a:t>error</a:t>
            </a:r>
          </a:p>
        </p:txBody>
      </p:sp>
      <p:sp>
        <p:nvSpPr>
          <p:cNvPr id="48" name="Rounded Rectangle 47"/>
          <p:cNvSpPr/>
          <p:nvPr/>
        </p:nvSpPr>
        <p:spPr>
          <a:xfrm>
            <a:off x="4648200" y="3432746"/>
            <a:ext cx="1270000" cy="381000"/>
          </a:xfrm>
          <a:prstGeom prst="roundRect">
            <a:avLst>
              <a:gd name="adj" fmla="val 16666"/>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60900" y="3480245"/>
            <a:ext cx="1244600" cy="29210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Sin pérdida y sin error</a:t>
            </a:r>
            <a:br/>
            <a:r>
              <a:rPr sz="1000" b="1" i="0">
                <a:solidFill>
                  <a:srgbClr val="2E8B57"/>
                </a:solidFill>
                <a:latin typeface="Calibri"/>
              </a:rPr>
              <a:t>✓</a:t>
            </a:r>
          </a:p>
        </p:txBody>
      </p:sp>
      <p:sp>
        <p:nvSpPr>
          <p:cNvPr id="50" name="Rounded Rectangle 49"/>
          <p:cNvSpPr/>
          <p:nvPr/>
        </p:nvSpPr>
        <p:spPr>
          <a:xfrm>
            <a:off x="565150" y="4029646"/>
            <a:ext cx="5435600" cy="740346"/>
          </a:xfrm>
          <a:prstGeom prst="roundRect">
            <a:avLst>
              <a:gd name="adj" fmla="val 13723"/>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0250" y="4145553"/>
            <a:ext cx="5207508" cy="511810"/>
          </a:xfrm>
          <a:prstGeom prst="rect">
            <a:avLst/>
          </a:prstGeom>
          <a:noFill/>
        </p:spPr>
        <p:txBody>
          <a:bodyPr wrap="square" lIns="0" rIns="0" tIns="0" bIns="0" anchor="t"/>
          <a:lstStyle/>
          <a:p>
            <a:pPr algn="l">
              <a:lnSpc>
                <a:spcPts val="2015"/>
              </a:lnSpc>
              <a:spcBef>
                <a:spcPts val="0"/>
              </a:spcBef>
              <a:spcAft>
                <a:spcPts val="0"/>
              </a:spcAft>
            </a:pPr>
            <a:r>
              <a:rPr sz="1550" b="1" i="0">
                <a:solidFill>
                  <a:srgbClr val="2E8B57"/>
                </a:solidFill>
                <a:latin typeface="Calibri"/>
              </a:rPr>
              <a:t>15 de 15.</a:t>
            </a:r>
            <a:r>
              <a:rPr sz="1550" b="1" i="0">
                <a:solidFill>
                  <a:srgbClr val="1F2937"/>
                </a:solidFill>
                <a:latin typeface="Calibri"/>
              </a:rPr>
              <a:t> La hipótesis queda comprobada en sus dos</a:t>
            </a:r>
            <a:br/>
            <a:r>
              <a:rPr sz="1550" b="1" i="0">
                <a:solidFill>
                  <a:srgbClr val="1F2937"/>
                </a:solidFill>
                <a:latin typeface="Calibri"/>
              </a:rPr>
              <a:t>cláusulas, dentro del alcance declarado.</a:t>
            </a:r>
          </a:p>
        </p:txBody>
      </p:sp>
      <p:sp>
        <p:nvSpPr>
          <p:cNvPr id="52" name="TextBox 51"/>
          <p:cNvSpPr txBox="1"/>
          <p:nvPr/>
        </p:nvSpPr>
        <p:spPr>
          <a:xfrm>
            <a:off x="6191250" y="1289876"/>
            <a:ext cx="5544312" cy="152400"/>
          </a:xfrm>
          <a:prstGeom prst="rect">
            <a:avLst/>
          </a:prstGeom>
          <a:noFill/>
        </p:spPr>
        <p:txBody>
          <a:bodyPr wrap="square" lIns="0" rIns="0" tIns="0" bIns="0" anchor="t"/>
          <a:lstStyle/>
          <a:p>
            <a:pPr algn="l">
              <a:lnSpc>
                <a:spcPts val="1200"/>
              </a:lnSpc>
              <a:spcBef>
                <a:spcPts val="0"/>
              </a:spcBef>
              <a:spcAft>
                <a:spcPts val="0"/>
              </a:spcAft>
            </a:pPr>
            <a:r>
              <a:rPr sz="1200" b="1" i="0" cap="all" spc="120">
                <a:solidFill>
                  <a:srgbClr val="1F77B4"/>
                </a:solidFill>
                <a:latin typeface="Calibri"/>
              </a:rPr>
              <a:t>(b) Verificabilidad ·</a:t>
            </a:r>
            <a:r>
              <a:rPr sz="1200" b="1" i="0" cap="all" spc="120">
                <a:solidFill>
                  <a:srgbClr val="2E8B57"/>
                </a:solidFill>
                <a:latin typeface="Calibri"/>
              </a:rPr>
              <a:t> 9 de 9</a:t>
            </a:r>
          </a:p>
        </p:txBody>
      </p:sp>
      <p:sp>
        <p:nvSpPr>
          <p:cNvPr id="53" name="Rounded Rectangle 52"/>
          <p:cNvSpPr/>
          <p:nvPr/>
        </p:nvSpPr>
        <p:spPr>
          <a:xfrm>
            <a:off x="6194425" y="151187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73800" y="15947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Tasa L² del desplazamiento</a:t>
            </a:r>
          </a:p>
        </p:txBody>
      </p:sp>
      <p:sp>
        <p:nvSpPr>
          <p:cNvPr id="55" name="Rounded Rectangle 54"/>
          <p:cNvSpPr/>
          <p:nvPr/>
        </p:nvSpPr>
        <p:spPr>
          <a:xfrm>
            <a:off x="9245600" y="15594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58300" y="16069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teórica ± 0,5</a:t>
            </a:r>
          </a:p>
        </p:txBody>
      </p:sp>
      <p:sp>
        <p:nvSpPr>
          <p:cNvPr id="57" name="Rounded Rectangle 56"/>
          <p:cNvSpPr/>
          <p:nvPr/>
        </p:nvSpPr>
        <p:spPr>
          <a:xfrm>
            <a:off x="10274300" y="155949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87000" y="160699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2,00 · 3,00 ✓</a:t>
            </a:r>
          </a:p>
        </p:txBody>
      </p:sp>
      <p:sp>
        <p:nvSpPr>
          <p:cNvPr id="59" name="Rounded Rectangle 58"/>
          <p:cNvSpPr/>
          <p:nvPr/>
        </p:nvSpPr>
        <p:spPr>
          <a:xfrm>
            <a:off x="6194425" y="1886521"/>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73800" y="19694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Tasa H¹ del desplazamiento</a:t>
            </a:r>
          </a:p>
        </p:txBody>
      </p:sp>
      <p:sp>
        <p:nvSpPr>
          <p:cNvPr id="61" name="Rounded Rectangle 60"/>
          <p:cNvSpPr/>
          <p:nvPr/>
        </p:nvSpPr>
        <p:spPr>
          <a:xfrm>
            <a:off x="9245600" y="19341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58300" y="19816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teórica ± 0,5</a:t>
            </a:r>
          </a:p>
        </p:txBody>
      </p:sp>
      <p:sp>
        <p:nvSpPr>
          <p:cNvPr id="63" name="Rounded Rectangle 62"/>
          <p:cNvSpPr/>
          <p:nvPr/>
        </p:nvSpPr>
        <p:spPr>
          <a:xfrm>
            <a:off x="10274300" y="193414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287000" y="198164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1,00 · 2,00 ✓</a:t>
            </a:r>
          </a:p>
        </p:txBody>
      </p:sp>
      <p:sp>
        <p:nvSpPr>
          <p:cNvPr id="65" name="Rounded Rectangle 64"/>
          <p:cNvSpPr/>
          <p:nvPr/>
        </p:nvSpPr>
        <p:spPr>
          <a:xfrm>
            <a:off x="6194425" y="226117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73800" y="23440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Flecha frente a la analítica</a:t>
            </a:r>
          </a:p>
        </p:txBody>
      </p:sp>
      <p:sp>
        <p:nvSpPr>
          <p:cNvPr id="67" name="Rounded Rectangle 66"/>
          <p:cNvSpPr/>
          <p:nvPr/>
        </p:nvSpPr>
        <p:spPr>
          <a:xfrm>
            <a:off x="9245600" y="23087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258300" y="23562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&lt; 3 %</a:t>
            </a:r>
          </a:p>
        </p:txBody>
      </p:sp>
      <p:sp>
        <p:nvSpPr>
          <p:cNvPr id="69" name="Rounded Rectangle 68"/>
          <p:cNvSpPr/>
          <p:nvPr/>
        </p:nvSpPr>
        <p:spPr>
          <a:xfrm>
            <a:off x="10274300" y="230879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87000" y="235629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0,2633 % ✓</a:t>
            </a:r>
          </a:p>
        </p:txBody>
      </p:sp>
      <p:sp>
        <p:nvSpPr>
          <p:cNvPr id="71" name="Rounded Rectangle 70"/>
          <p:cNvSpPr/>
          <p:nvPr/>
        </p:nvSpPr>
        <p:spPr>
          <a:xfrm>
            <a:off x="6194425" y="263582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73800" y="27187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σx frente a la analítica, 3 puntos</a:t>
            </a:r>
          </a:p>
        </p:txBody>
      </p:sp>
      <p:sp>
        <p:nvSpPr>
          <p:cNvPr id="73" name="Rounded Rectangle 72"/>
          <p:cNvSpPr/>
          <p:nvPr/>
        </p:nvSpPr>
        <p:spPr>
          <a:xfrm>
            <a:off x="9245600" y="26834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258300" y="27309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&lt; 1 %</a:t>
            </a:r>
          </a:p>
        </p:txBody>
      </p:sp>
      <p:sp>
        <p:nvSpPr>
          <p:cNvPr id="75" name="Rounded Rectangle 74"/>
          <p:cNvSpPr/>
          <p:nvPr/>
        </p:nvSpPr>
        <p:spPr>
          <a:xfrm>
            <a:off x="10274300" y="268344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287000" y="273094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máx. 0,04 % ✓</a:t>
            </a:r>
          </a:p>
        </p:txBody>
      </p:sp>
      <p:sp>
        <p:nvSpPr>
          <p:cNvPr id="77" name="Rounded Rectangle 76"/>
          <p:cNvSpPr/>
          <p:nvPr/>
        </p:nvSpPr>
        <p:spPr>
          <a:xfrm>
            <a:off x="6194425" y="301047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273800" y="30933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σx frente a SAP2000, 3 puntos</a:t>
            </a:r>
          </a:p>
        </p:txBody>
      </p:sp>
      <p:sp>
        <p:nvSpPr>
          <p:cNvPr id="79" name="Rounded Rectangle 78"/>
          <p:cNvSpPr/>
          <p:nvPr/>
        </p:nvSpPr>
        <p:spPr>
          <a:xfrm>
            <a:off x="9245600" y="30580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258300" y="31055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&lt; 1 %</a:t>
            </a:r>
          </a:p>
        </p:txBody>
      </p:sp>
      <p:sp>
        <p:nvSpPr>
          <p:cNvPr id="81" name="Rounded Rectangle 80"/>
          <p:cNvSpPr/>
          <p:nvPr/>
        </p:nvSpPr>
        <p:spPr>
          <a:xfrm>
            <a:off x="10274300" y="305809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287000" y="310559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máx. 0,21 % ✓</a:t>
            </a:r>
          </a:p>
        </p:txBody>
      </p:sp>
      <p:sp>
        <p:nvSpPr>
          <p:cNvPr id="83" name="Rounded Rectangle 82"/>
          <p:cNvSpPr/>
          <p:nvPr/>
        </p:nvSpPr>
        <p:spPr>
          <a:xfrm>
            <a:off x="6194425" y="338512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273800" y="34680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Residuo del equilibrio de reacciones</a:t>
            </a:r>
          </a:p>
        </p:txBody>
      </p:sp>
      <p:sp>
        <p:nvSpPr>
          <p:cNvPr id="85" name="Rounded Rectangle 84"/>
          <p:cNvSpPr/>
          <p:nvPr/>
        </p:nvSpPr>
        <p:spPr>
          <a:xfrm>
            <a:off x="9245600" y="34327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258300" y="3480245"/>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&lt; 10⁻⁸</a:t>
            </a:r>
          </a:p>
        </p:txBody>
      </p:sp>
      <p:sp>
        <p:nvSpPr>
          <p:cNvPr id="87" name="Rounded Rectangle 86"/>
          <p:cNvSpPr/>
          <p:nvPr/>
        </p:nvSpPr>
        <p:spPr>
          <a:xfrm>
            <a:off x="10274300" y="343274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287000" y="3480245"/>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1,7 × 10⁻¹³ ✓</a:t>
            </a:r>
          </a:p>
        </p:txBody>
      </p:sp>
      <p:sp>
        <p:nvSpPr>
          <p:cNvPr id="89" name="Rounded Rectangle 88"/>
          <p:cNvSpPr/>
          <p:nvPr/>
        </p:nvSpPr>
        <p:spPr>
          <a:xfrm>
            <a:off x="6194425" y="375977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273800" y="38426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Error con Q9 y N = 8 (Cook)</a:t>
            </a:r>
          </a:p>
        </p:txBody>
      </p:sp>
      <p:sp>
        <p:nvSpPr>
          <p:cNvPr id="91" name="Rounded Rectangle 90"/>
          <p:cNvSpPr/>
          <p:nvPr/>
        </p:nvSpPr>
        <p:spPr>
          <a:xfrm>
            <a:off x="9245600" y="38073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258300" y="3854895"/>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&lt; 1,5 %</a:t>
            </a:r>
          </a:p>
        </p:txBody>
      </p:sp>
      <p:sp>
        <p:nvSpPr>
          <p:cNvPr id="93" name="Rounded Rectangle 92"/>
          <p:cNvSpPr/>
          <p:nvPr/>
        </p:nvSpPr>
        <p:spPr>
          <a:xfrm>
            <a:off x="10274300" y="380739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287000" y="3854895"/>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0,144 % ✓</a:t>
            </a:r>
          </a:p>
        </p:txBody>
      </p:sp>
      <p:sp>
        <p:nvSpPr>
          <p:cNvPr id="95" name="Rounded Rectangle 94"/>
          <p:cNvSpPr/>
          <p:nvPr/>
        </p:nvSpPr>
        <p:spPr>
          <a:xfrm>
            <a:off x="6194425" y="413442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273800" y="42173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Flecha Q4 &lt; Q9, misma malla</a:t>
            </a:r>
          </a:p>
        </p:txBody>
      </p:sp>
      <p:sp>
        <p:nvSpPr>
          <p:cNvPr id="97" name="Rounded Rectangle 96"/>
          <p:cNvSpPr/>
          <p:nvPr/>
        </p:nvSpPr>
        <p:spPr>
          <a:xfrm>
            <a:off x="9245600" y="41820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9258300" y="42295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Se observa</a:t>
            </a:r>
          </a:p>
        </p:txBody>
      </p:sp>
      <p:sp>
        <p:nvSpPr>
          <p:cNvPr id="99" name="Rounded Rectangle 98"/>
          <p:cNvSpPr/>
          <p:nvPr/>
        </p:nvSpPr>
        <p:spPr>
          <a:xfrm>
            <a:off x="10274300" y="418204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0287000" y="422954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22,079 &lt; 23,925 ✓</a:t>
            </a:r>
          </a:p>
        </p:txBody>
      </p:sp>
      <p:sp>
        <p:nvSpPr>
          <p:cNvPr id="101" name="Rounded Rectangle 100"/>
          <p:cNvSpPr/>
          <p:nvPr/>
        </p:nvSpPr>
        <p:spPr>
          <a:xfrm>
            <a:off x="6194425" y="4509072"/>
            <a:ext cx="5429250" cy="330200"/>
          </a:xfrm>
          <a:prstGeom prst="roundRect">
            <a:avLst>
              <a:gd name="adj" fmla="val 221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273800" y="45919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Memoria: etapas remitidas a su ecuación</a:t>
            </a:r>
          </a:p>
        </p:txBody>
      </p:sp>
      <p:sp>
        <p:nvSpPr>
          <p:cNvPr id="103" name="Rounded Rectangle 102"/>
          <p:cNvSpPr/>
          <p:nvPr/>
        </p:nvSpPr>
        <p:spPr>
          <a:xfrm>
            <a:off x="9245600" y="45566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258300" y="46041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Todas</a:t>
            </a:r>
          </a:p>
        </p:txBody>
      </p:sp>
      <p:sp>
        <p:nvSpPr>
          <p:cNvPr id="105" name="Rounded Rectangle 104"/>
          <p:cNvSpPr/>
          <p:nvPr/>
        </p:nvSpPr>
        <p:spPr>
          <a:xfrm>
            <a:off x="10274300" y="4556696"/>
            <a:ext cx="1270000" cy="234950"/>
          </a:xfrm>
          <a:prstGeom prst="roundRect">
            <a:avLst>
              <a:gd name="adj" fmla="val 27027"/>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0287000" y="4604194"/>
            <a:ext cx="12446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2E8B57"/>
                </a:solidFill>
                <a:latin typeface="Calibri"/>
              </a:rPr>
              <a:t>Todas ✓</a:t>
            </a:r>
          </a:p>
        </p:txBody>
      </p:sp>
      <p:sp>
        <p:nvSpPr>
          <p:cNvPr id="107" name="TextBox 106"/>
          <p:cNvSpPr txBox="1"/>
          <p:nvPr/>
        </p:nvSpPr>
        <p:spPr>
          <a:xfrm>
            <a:off x="565150" y="1289876"/>
            <a:ext cx="5544312" cy="152400"/>
          </a:xfrm>
          <a:prstGeom prst="rect">
            <a:avLst/>
          </a:prstGeom>
          <a:noFill/>
        </p:spPr>
        <p:txBody>
          <a:bodyPr wrap="square" lIns="0" rIns="0" tIns="0" bIns="0" anchor="t"/>
          <a:lstStyle/>
          <a:p>
            <a:pPr algn="l">
              <a:lnSpc>
                <a:spcPts val="1200"/>
              </a:lnSpc>
              <a:spcBef>
                <a:spcPts val="0"/>
              </a:spcBef>
              <a:spcAft>
                <a:spcPts val="0"/>
              </a:spcAft>
            </a:pPr>
            <a:r>
              <a:rPr sz="1200" b="1" i="0" cap="all" spc="120">
                <a:solidFill>
                  <a:srgbClr val="E8741A"/>
                </a:solidFill>
                <a:latin typeface="Calibri"/>
              </a:rPr>
              <a:t>(a) Trazabilidad</a:t>
            </a:r>
          </a:p>
        </p:txBody>
      </p:sp>
      <p:sp>
        <p:nvSpPr>
          <p:cNvPr id="108" name="Rounded Rectangle 107"/>
          <p:cNvSpPr/>
          <p:nvPr/>
        </p:nvSpPr>
        <p:spPr>
          <a:xfrm>
            <a:off x="568325" y="151187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47700" y="16011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Etapas con módulo educativo</a:t>
            </a:r>
          </a:p>
        </p:txBody>
      </p:sp>
      <p:sp>
        <p:nvSpPr>
          <p:cNvPr id="110" name="Rounded Rectangle 109"/>
          <p:cNvSpPr/>
          <p:nvPr/>
        </p:nvSpPr>
        <p:spPr>
          <a:xfrm>
            <a:off x="3619500" y="15658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632200" y="16133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7 de 7</a:t>
            </a:r>
          </a:p>
        </p:txBody>
      </p:sp>
      <p:sp>
        <p:nvSpPr>
          <p:cNvPr id="112" name="Rounded Rectangle 111"/>
          <p:cNvSpPr/>
          <p:nvPr/>
        </p:nvSpPr>
        <p:spPr>
          <a:xfrm>
            <a:off x="4651375" y="156267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667250" y="161334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14" name="Rounded Rectangle 113"/>
          <p:cNvSpPr/>
          <p:nvPr/>
        </p:nvSpPr>
        <p:spPr>
          <a:xfrm>
            <a:off x="568325" y="1899221"/>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47700" y="19884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Etapas con desarrollo en la memoria</a:t>
            </a:r>
          </a:p>
        </p:txBody>
      </p:sp>
      <p:sp>
        <p:nvSpPr>
          <p:cNvPr id="116" name="Rounded Rectangle 115"/>
          <p:cNvSpPr/>
          <p:nvPr/>
        </p:nvSpPr>
        <p:spPr>
          <a:xfrm>
            <a:off x="3619500" y="19531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632200" y="20006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9 de 9</a:t>
            </a:r>
          </a:p>
        </p:txBody>
      </p:sp>
      <p:sp>
        <p:nvSpPr>
          <p:cNvPr id="118" name="Rounded Rectangle 117"/>
          <p:cNvSpPr/>
          <p:nvPr/>
        </p:nvSpPr>
        <p:spPr>
          <a:xfrm>
            <a:off x="4651375" y="1950021"/>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667250" y="200069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20" name="Rounded Rectangle 119"/>
          <p:cNvSpPr/>
          <p:nvPr/>
        </p:nvSpPr>
        <p:spPr>
          <a:xfrm>
            <a:off x="568325" y="228657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47700" y="23758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Solución y tensiones en el post-proceso</a:t>
            </a:r>
          </a:p>
        </p:txBody>
      </p:sp>
      <p:sp>
        <p:nvSpPr>
          <p:cNvPr id="122" name="Rounded Rectangle 121"/>
          <p:cNvSpPr/>
          <p:nvPr/>
        </p:nvSpPr>
        <p:spPr>
          <a:xfrm>
            <a:off x="3619500" y="23405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632200" y="23880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Ambas</a:t>
            </a:r>
          </a:p>
        </p:txBody>
      </p:sp>
      <p:sp>
        <p:nvSpPr>
          <p:cNvPr id="124" name="Rounded Rectangle 123"/>
          <p:cNvSpPr/>
          <p:nvPr/>
        </p:nvSpPr>
        <p:spPr>
          <a:xfrm>
            <a:off x="4651375" y="233737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667250" y="238804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26" name="Rounded Rectangle 125"/>
          <p:cNvSpPr/>
          <p:nvPr/>
        </p:nvSpPr>
        <p:spPr>
          <a:xfrm>
            <a:off x="568325" y="267392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47700" y="27631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Fases sobre el mismo lienzo</a:t>
            </a:r>
          </a:p>
        </p:txBody>
      </p:sp>
      <p:sp>
        <p:nvSpPr>
          <p:cNvPr id="128" name="Rounded Rectangle 127"/>
          <p:cNvSpPr/>
          <p:nvPr/>
        </p:nvSpPr>
        <p:spPr>
          <a:xfrm>
            <a:off x="3619500" y="27278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632200" y="27753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3 de 3</a:t>
            </a:r>
          </a:p>
        </p:txBody>
      </p:sp>
      <p:sp>
        <p:nvSpPr>
          <p:cNvPr id="130" name="Rounded Rectangle 129"/>
          <p:cNvSpPr/>
          <p:nvPr/>
        </p:nvSpPr>
        <p:spPr>
          <a:xfrm>
            <a:off x="4651375" y="272472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667250" y="277539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32" name="Rounded Rectangle 131"/>
          <p:cNvSpPr/>
          <p:nvPr/>
        </p:nvSpPr>
        <p:spPr>
          <a:xfrm>
            <a:off x="568325" y="306127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47700" y="31505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Ítems de contenido con instrumento</a:t>
            </a:r>
          </a:p>
        </p:txBody>
      </p:sp>
      <p:sp>
        <p:nvSpPr>
          <p:cNvPr id="134" name="Rounded Rectangle 133"/>
          <p:cNvSpPr/>
          <p:nvPr/>
        </p:nvSpPr>
        <p:spPr>
          <a:xfrm>
            <a:off x="3619500" y="31152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632200" y="31627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18 de 18</a:t>
            </a:r>
          </a:p>
        </p:txBody>
      </p:sp>
      <p:sp>
        <p:nvSpPr>
          <p:cNvPr id="136" name="Rounded Rectangle 135"/>
          <p:cNvSpPr/>
          <p:nvPr/>
        </p:nvSpPr>
        <p:spPr>
          <a:xfrm>
            <a:off x="4651375" y="311207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667250" y="316274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38" name="Rounded Rectangle 137"/>
          <p:cNvSpPr/>
          <p:nvPr/>
        </p:nvSpPr>
        <p:spPr>
          <a:xfrm>
            <a:off x="568325" y="3448622"/>
            <a:ext cx="5429250" cy="476250"/>
          </a:xfrm>
          <a:prstGeom prst="roundRect">
            <a:avLst>
              <a:gd name="adj" fmla="val 1533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647700" y="3604553"/>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Intercambio CSV / DXF; memoria Q4 y Q9</a:t>
            </a:r>
          </a:p>
        </p:txBody>
      </p:sp>
      <p:sp>
        <p:nvSpPr>
          <p:cNvPr id="140" name="Rounded Rectangle 139"/>
          <p:cNvSpPr/>
          <p:nvPr/>
        </p:nvSpPr>
        <p:spPr>
          <a:xfrm>
            <a:off x="3619500" y="3496246"/>
            <a:ext cx="952500" cy="381000"/>
          </a:xfrm>
          <a:prstGeom prst="roundRect">
            <a:avLst>
              <a:gd name="adj" fmla="val 16666"/>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632200" y="3543745"/>
            <a:ext cx="927100" cy="29210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Sin pérdida y sin</a:t>
            </a:r>
            <a:br/>
            <a:r>
              <a:rPr sz="1000" b="1" i="0">
                <a:solidFill>
                  <a:srgbClr val="1F2937"/>
                </a:solidFill>
                <a:latin typeface="Calibri"/>
              </a:rPr>
              <a:t>error</a:t>
            </a:r>
          </a:p>
        </p:txBody>
      </p:sp>
      <p:sp>
        <p:nvSpPr>
          <p:cNvPr id="142" name="Rounded Rectangle 141"/>
          <p:cNvSpPr/>
          <p:nvPr/>
        </p:nvSpPr>
        <p:spPr>
          <a:xfrm>
            <a:off x="4651375" y="3566096"/>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667250" y="3616770"/>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44" name="TextBox 143"/>
          <p:cNvSpPr txBox="1"/>
          <p:nvPr/>
        </p:nvSpPr>
        <p:spPr>
          <a:xfrm>
            <a:off x="6191250" y="1289876"/>
            <a:ext cx="5544312" cy="152400"/>
          </a:xfrm>
          <a:prstGeom prst="rect">
            <a:avLst/>
          </a:prstGeom>
          <a:noFill/>
        </p:spPr>
        <p:txBody>
          <a:bodyPr wrap="square" lIns="0" rIns="0" tIns="0" bIns="0" anchor="t"/>
          <a:lstStyle/>
          <a:p>
            <a:pPr algn="l">
              <a:lnSpc>
                <a:spcPts val="1200"/>
              </a:lnSpc>
              <a:spcBef>
                <a:spcPts val="0"/>
              </a:spcBef>
              <a:spcAft>
                <a:spcPts val="0"/>
              </a:spcAft>
            </a:pPr>
            <a:r>
              <a:rPr sz="1200" b="1" i="0" cap="all" spc="120">
                <a:solidFill>
                  <a:srgbClr val="1F77B4"/>
                </a:solidFill>
                <a:latin typeface="Calibri"/>
              </a:rPr>
              <a:t>(b) Verificabilidad</a:t>
            </a:r>
          </a:p>
        </p:txBody>
      </p:sp>
      <p:sp>
        <p:nvSpPr>
          <p:cNvPr id="145" name="Rounded Rectangle 144"/>
          <p:cNvSpPr/>
          <p:nvPr/>
        </p:nvSpPr>
        <p:spPr>
          <a:xfrm>
            <a:off x="6194425" y="151187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6273800" y="16011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Tasa L² del desplazamiento</a:t>
            </a:r>
          </a:p>
        </p:txBody>
      </p:sp>
      <p:sp>
        <p:nvSpPr>
          <p:cNvPr id="147" name="Rounded Rectangle 146"/>
          <p:cNvSpPr/>
          <p:nvPr/>
        </p:nvSpPr>
        <p:spPr>
          <a:xfrm>
            <a:off x="9245600" y="15658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9258300" y="16133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teórica ± 0,5</a:t>
            </a:r>
          </a:p>
        </p:txBody>
      </p:sp>
      <p:sp>
        <p:nvSpPr>
          <p:cNvPr id="149" name="Rounded Rectangle 148"/>
          <p:cNvSpPr/>
          <p:nvPr/>
        </p:nvSpPr>
        <p:spPr>
          <a:xfrm>
            <a:off x="10277475" y="156267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0293350" y="161334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51" name="Rounded Rectangle 150"/>
          <p:cNvSpPr/>
          <p:nvPr/>
        </p:nvSpPr>
        <p:spPr>
          <a:xfrm>
            <a:off x="6194425" y="1899221"/>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73800" y="19884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Tasa H¹ del desplazamiento</a:t>
            </a:r>
          </a:p>
        </p:txBody>
      </p:sp>
      <p:sp>
        <p:nvSpPr>
          <p:cNvPr id="153" name="Rounded Rectangle 152"/>
          <p:cNvSpPr/>
          <p:nvPr/>
        </p:nvSpPr>
        <p:spPr>
          <a:xfrm>
            <a:off x="9245600" y="19531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9258300" y="20006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teórica ± 0,5</a:t>
            </a:r>
          </a:p>
        </p:txBody>
      </p:sp>
      <p:sp>
        <p:nvSpPr>
          <p:cNvPr id="155" name="Rounded Rectangle 154"/>
          <p:cNvSpPr/>
          <p:nvPr/>
        </p:nvSpPr>
        <p:spPr>
          <a:xfrm>
            <a:off x="10277475" y="1950021"/>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0293350" y="200069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57" name="Rounded Rectangle 156"/>
          <p:cNvSpPr/>
          <p:nvPr/>
        </p:nvSpPr>
        <p:spPr>
          <a:xfrm>
            <a:off x="6194425" y="228657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273800" y="23758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Flecha frente a la analítica</a:t>
            </a:r>
          </a:p>
        </p:txBody>
      </p:sp>
      <p:sp>
        <p:nvSpPr>
          <p:cNvPr id="159" name="Rounded Rectangle 158"/>
          <p:cNvSpPr/>
          <p:nvPr/>
        </p:nvSpPr>
        <p:spPr>
          <a:xfrm>
            <a:off x="9245600" y="23405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258300" y="23880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&lt; 3 %</a:t>
            </a:r>
          </a:p>
        </p:txBody>
      </p:sp>
      <p:sp>
        <p:nvSpPr>
          <p:cNvPr id="161" name="Rounded Rectangle 160"/>
          <p:cNvSpPr/>
          <p:nvPr/>
        </p:nvSpPr>
        <p:spPr>
          <a:xfrm>
            <a:off x="10277475" y="233737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293350" y="238804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63" name="Rounded Rectangle 162"/>
          <p:cNvSpPr/>
          <p:nvPr/>
        </p:nvSpPr>
        <p:spPr>
          <a:xfrm>
            <a:off x="6194425" y="267392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73800" y="27631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σx frente a la analítica, 3 puntos</a:t>
            </a:r>
          </a:p>
        </p:txBody>
      </p:sp>
      <p:sp>
        <p:nvSpPr>
          <p:cNvPr id="165" name="Rounded Rectangle 164"/>
          <p:cNvSpPr/>
          <p:nvPr/>
        </p:nvSpPr>
        <p:spPr>
          <a:xfrm>
            <a:off x="9245600" y="27278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9258300" y="27753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&lt; 1 %</a:t>
            </a:r>
          </a:p>
        </p:txBody>
      </p:sp>
      <p:sp>
        <p:nvSpPr>
          <p:cNvPr id="167" name="Rounded Rectangle 166"/>
          <p:cNvSpPr/>
          <p:nvPr/>
        </p:nvSpPr>
        <p:spPr>
          <a:xfrm>
            <a:off x="10277475" y="272472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10293350" y="277539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69" name="Rounded Rectangle 168"/>
          <p:cNvSpPr/>
          <p:nvPr/>
        </p:nvSpPr>
        <p:spPr>
          <a:xfrm>
            <a:off x="6194425" y="306127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6273800" y="31505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σx frente a SAP2000, 3 puntos</a:t>
            </a:r>
          </a:p>
        </p:txBody>
      </p:sp>
      <p:sp>
        <p:nvSpPr>
          <p:cNvPr id="171" name="Rounded Rectangle 170"/>
          <p:cNvSpPr/>
          <p:nvPr/>
        </p:nvSpPr>
        <p:spPr>
          <a:xfrm>
            <a:off x="9245600" y="31152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258300" y="31627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&lt; 1 %</a:t>
            </a:r>
          </a:p>
        </p:txBody>
      </p:sp>
      <p:sp>
        <p:nvSpPr>
          <p:cNvPr id="173" name="Rounded Rectangle 172"/>
          <p:cNvSpPr/>
          <p:nvPr/>
        </p:nvSpPr>
        <p:spPr>
          <a:xfrm>
            <a:off x="10277475" y="311207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0293350" y="316274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75" name="Rounded Rectangle 174"/>
          <p:cNvSpPr/>
          <p:nvPr/>
        </p:nvSpPr>
        <p:spPr>
          <a:xfrm>
            <a:off x="6194425" y="344862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273800" y="35378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Residuo del equilibrio de reacciones</a:t>
            </a:r>
          </a:p>
        </p:txBody>
      </p:sp>
      <p:sp>
        <p:nvSpPr>
          <p:cNvPr id="177" name="Rounded Rectangle 176"/>
          <p:cNvSpPr/>
          <p:nvPr/>
        </p:nvSpPr>
        <p:spPr>
          <a:xfrm>
            <a:off x="9245600" y="35025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9258300" y="3550095"/>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&lt; 10⁻⁸</a:t>
            </a:r>
          </a:p>
        </p:txBody>
      </p:sp>
      <p:sp>
        <p:nvSpPr>
          <p:cNvPr id="179" name="Rounded Rectangle 178"/>
          <p:cNvSpPr/>
          <p:nvPr/>
        </p:nvSpPr>
        <p:spPr>
          <a:xfrm>
            <a:off x="10277475" y="349942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10293350" y="3550095"/>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81" name="Rounded Rectangle 180"/>
          <p:cNvSpPr/>
          <p:nvPr/>
        </p:nvSpPr>
        <p:spPr>
          <a:xfrm>
            <a:off x="6194425" y="383597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6273800" y="39252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Error con Q9 y N = 8 (Cook)</a:t>
            </a:r>
          </a:p>
        </p:txBody>
      </p:sp>
      <p:sp>
        <p:nvSpPr>
          <p:cNvPr id="183" name="Rounded Rectangle 182"/>
          <p:cNvSpPr/>
          <p:nvPr/>
        </p:nvSpPr>
        <p:spPr>
          <a:xfrm>
            <a:off x="9245600" y="38899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9258300" y="3937445"/>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&lt; 1,5 %</a:t>
            </a:r>
          </a:p>
        </p:txBody>
      </p:sp>
      <p:sp>
        <p:nvSpPr>
          <p:cNvPr id="185" name="Rounded Rectangle 184"/>
          <p:cNvSpPr/>
          <p:nvPr/>
        </p:nvSpPr>
        <p:spPr>
          <a:xfrm>
            <a:off x="10277475" y="388677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0293350" y="3937445"/>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87" name="Rounded Rectangle 186"/>
          <p:cNvSpPr/>
          <p:nvPr/>
        </p:nvSpPr>
        <p:spPr>
          <a:xfrm>
            <a:off x="6194425" y="422332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6273800" y="431257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Flecha Q4 &lt; Q9, misma malla</a:t>
            </a:r>
          </a:p>
        </p:txBody>
      </p:sp>
      <p:sp>
        <p:nvSpPr>
          <p:cNvPr id="189" name="Rounded Rectangle 188"/>
          <p:cNvSpPr/>
          <p:nvPr/>
        </p:nvSpPr>
        <p:spPr>
          <a:xfrm>
            <a:off x="9245600" y="427729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9258300" y="432479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Se observa</a:t>
            </a:r>
          </a:p>
        </p:txBody>
      </p:sp>
      <p:sp>
        <p:nvSpPr>
          <p:cNvPr id="191" name="Rounded Rectangle 190"/>
          <p:cNvSpPr/>
          <p:nvPr/>
        </p:nvSpPr>
        <p:spPr>
          <a:xfrm>
            <a:off x="10277475" y="427412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10293350" y="432479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93" name="Rounded Rectangle 192"/>
          <p:cNvSpPr/>
          <p:nvPr/>
        </p:nvSpPr>
        <p:spPr>
          <a:xfrm>
            <a:off x="6194425" y="4610672"/>
            <a:ext cx="5429250" cy="342900"/>
          </a:xfrm>
          <a:prstGeom prst="roundRect">
            <a:avLst>
              <a:gd name="adj" fmla="val 2129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273800" y="4699928"/>
            <a:ext cx="2953512" cy="162687"/>
          </a:xfrm>
          <a:prstGeom prst="rect">
            <a:avLst/>
          </a:prstGeom>
          <a:noFill/>
        </p:spPr>
        <p:txBody>
          <a:bodyPr wrap="square" lIns="0" rIns="0" tIns="0" bIns="0" anchor="t"/>
          <a:lstStyle/>
          <a:p>
            <a:pPr algn="l">
              <a:lnSpc>
                <a:spcPts val="1281"/>
              </a:lnSpc>
              <a:spcBef>
                <a:spcPts val="0"/>
              </a:spcBef>
              <a:spcAft>
                <a:spcPts val="0"/>
              </a:spcAft>
            </a:pPr>
            <a:r>
              <a:rPr sz="1050" b="0" i="0">
                <a:solidFill>
                  <a:srgbClr val="1F2937"/>
                </a:solidFill>
                <a:latin typeface="Calibri"/>
              </a:rPr>
              <a:t>Memoria: etapas remitidas a su ecuación</a:t>
            </a:r>
          </a:p>
        </p:txBody>
      </p:sp>
      <p:sp>
        <p:nvSpPr>
          <p:cNvPr id="195" name="Rounded Rectangle 194"/>
          <p:cNvSpPr/>
          <p:nvPr/>
        </p:nvSpPr>
        <p:spPr>
          <a:xfrm>
            <a:off x="9245600" y="4664646"/>
            <a:ext cx="952500" cy="234950"/>
          </a:xfrm>
          <a:prstGeom prst="roundRect">
            <a:avLst>
              <a:gd name="adj" fmla="val 27027"/>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9258300" y="4712144"/>
            <a:ext cx="9271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1F2937"/>
                </a:solidFill>
                <a:latin typeface="Calibri"/>
              </a:rPr>
              <a:t>Todas</a:t>
            </a:r>
          </a:p>
        </p:txBody>
      </p:sp>
      <p:sp>
        <p:nvSpPr>
          <p:cNvPr id="197" name="Rounded Rectangle 196"/>
          <p:cNvSpPr/>
          <p:nvPr/>
        </p:nvSpPr>
        <p:spPr>
          <a:xfrm>
            <a:off x="10277475" y="4661472"/>
            <a:ext cx="1263650" cy="241300"/>
          </a:xfrm>
          <a:prstGeom prst="roundRect">
            <a:avLst>
              <a:gd name="adj" fmla="val 25000"/>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10293350" y="4712144"/>
            <a:ext cx="1231900" cy="146050"/>
          </a:xfrm>
          <a:prstGeom prst="rect">
            <a:avLst/>
          </a:prstGeom>
          <a:noFill/>
        </p:spPr>
        <p:txBody>
          <a:bodyPr wrap="square" lIns="0" rIns="0" tIns="0" bIns="0" anchor="t"/>
          <a:lstStyle/>
          <a:p>
            <a:pPr algn="ctr">
              <a:lnSpc>
                <a:spcPts val="1150"/>
              </a:lnSpc>
              <a:spcBef>
                <a:spcPts val="0"/>
              </a:spcBef>
              <a:spcAft>
                <a:spcPts val="0"/>
              </a:spcAft>
            </a:pPr>
            <a:r>
              <a:rPr sz="1000" b="1" i="0">
                <a:solidFill>
                  <a:srgbClr val="5B6575"/>
                </a:solidFill>
                <a:latin typeface="Calibri"/>
              </a:rPr>
              <a:t>·</a:t>
            </a:r>
          </a:p>
        </p:txBody>
      </p:sp>
      <p:sp>
        <p:nvSpPr>
          <p:cNvPr id="199" name="Rectangle 198"/>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565150" y="6535420"/>
            <a:ext cx="504437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02" name="TextBox 201"/>
          <p:cNvSpPr txBox="1"/>
          <p:nvPr/>
        </p:nvSpPr>
        <p:spPr>
          <a:xfrm>
            <a:off x="5485194" y="6535420"/>
            <a:ext cx="122148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3.8 · Tabla 3.10</a:t>
            </a:r>
          </a:p>
        </p:txBody>
      </p:sp>
      <p:sp>
        <p:nvSpPr>
          <p:cNvPr id="203" name="TextBox 202"/>
          <p:cNvSpPr txBox="1"/>
          <p:nvPr/>
        </p:nvSpPr>
        <p:spPr>
          <a:xfrm>
            <a:off x="6582410" y="6535420"/>
            <a:ext cx="504444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50</a:t>
            </a:r>
          </a:p>
        </p:txBody>
      </p:sp>
      <p:sp>
        <p:nvSpPr>
          <p:cNvPr id="204"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Enlace a sep-diseno">
            <a:hlinkClick action="ppaction://hlinksldjump" r:id="rId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Enlace a sep-resultados">
            <a:hlinkClick action="ppaction://hlinksldjump" r:id="rId5"/>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Enlace a sep-analisis">
            <a:hlinkClick action="ppaction://hlinksldjump" r:id="rId6"/>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Enlace a sep-conclusiones">
            <a:hlinkClick action="ppaction://hlinksldjump" r:id="rId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Enlace a cobertura-procedimiento">
            <a:hlinkClick action="ppaction://hlinksldjump" r:id="rId8"/>
          </p:cNvPr>
          <p:cNvSpPr/>
          <p:nvPr/>
        </p:nvSpPr>
        <p:spPr>
          <a:xfrm>
            <a:off x="565150" y="150869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Enlace a memoria">
            <a:hlinkClick action="ppaction://hlinksldjump" r:id="rId9"/>
          </p:cNvPr>
          <p:cNvSpPr/>
          <p:nvPr/>
        </p:nvSpPr>
        <p:spPr>
          <a:xfrm>
            <a:off x="565150" y="188334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Enlace a postproceso">
            <a:hlinkClick action="ppaction://hlinksldjump" r:id="rId10"/>
          </p:cNvPr>
          <p:cNvSpPr/>
          <p:nvPr/>
        </p:nvSpPr>
        <p:spPr>
          <a:xfrm>
            <a:off x="565150" y="225799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Enlace a cobertura-procedimiento">
            <a:hlinkClick action="ppaction://hlinksldjump" r:id="rId8"/>
          </p:cNvPr>
          <p:cNvSpPr/>
          <p:nvPr/>
        </p:nvSpPr>
        <p:spPr>
          <a:xfrm>
            <a:off x="565150" y="263264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Enlace a cobertura-contenido">
            <a:hlinkClick action="ppaction://hlinksldjump" r:id="rId11"/>
          </p:cNvPr>
          <p:cNvSpPr/>
          <p:nvPr/>
        </p:nvSpPr>
        <p:spPr>
          <a:xfrm>
            <a:off x="565150" y="300729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Enlace a consistencia-interna">
            <a:hlinkClick action="ppaction://hlinksldjump" r:id="rId12"/>
          </p:cNvPr>
          <p:cNvSpPr/>
          <p:nvPr/>
        </p:nvSpPr>
        <p:spPr>
          <a:xfrm>
            <a:off x="565150" y="3381946"/>
            <a:ext cx="5435600" cy="482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Enlace a mms">
            <a:hlinkClick action="ppaction://hlinksldjump" r:id="rId13"/>
          </p:cNvPr>
          <p:cNvSpPr/>
          <p:nvPr/>
        </p:nvSpPr>
        <p:spPr>
          <a:xfrm>
            <a:off x="6191250" y="150869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Enlace a mms">
            <a:hlinkClick action="ppaction://hlinksldjump" r:id="rId13"/>
          </p:cNvPr>
          <p:cNvSpPr/>
          <p:nvPr/>
        </p:nvSpPr>
        <p:spPr>
          <a:xfrm>
            <a:off x="6191250" y="188334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Enlace a timoshenko">
            <a:hlinkClick action="ppaction://hlinksldjump" r:id="rId14"/>
          </p:cNvPr>
          <p:cNvSpPr/>
          <p:nvPr/>
        </p:nvSpPr>
        <p:spPr>
          <a:xfrm>
            <a:off x="6191250" y="225799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Enlace a timoshenko">
            <a:hlinkClick action="ppaction://hlinksldjump" r:id="rId14"/>
          </p:cNvPr>
          <p:cNvSpPr/>
          <p:nvPr/>
        </p:nvSpPr>
        <p:spPr>
          <a:xfrm>
            <a:off x="6191250" y="263264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Enlace a timoshenko">
            <a:hlinkClick action="ppaction://hlinksldjump" r:id="rId14"/>
          </p:cNvPr>
          <p:cNvSpPr/>
          <p:nvPr/>
        </p:nvSpPr>
        <p:spPr>
          <a:xfrm>
            <a:off x="6191250" y="300729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Enlace a timoshenko">
            <a:hlinkClick action="ppaction://hlinksldjump" r:id="rId14"/>
          </p:cNvPr>
          <p:cNvSpPr/>
          <p:nvPr/>
        </p:nvSpPr>
        <p:spPr>
          <a:xfrm>
            <a:off x="6191250" y="338194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Enlace a cook">
            <a:hlinkClick action="ppaction://hlinksldjump" r:id="rId15"/>
          </p:cNvPr>
          <p:cNvSpPr/>
          <p:nvPr/>
        </p:nvSpPr>
        <p:spPr>
          <a:xfrm>
            <a:off x="6191250" y="375659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Enlace a cook">
            <a:hlinkClick action="ppaction://hlinksldjump" r:id="rId15"/>
          </p:cNvPr>
          <p:cNvSpPr/>
          <p:nvPr/>
        </p:nvSpPr>
        <p:spPr>
          <a:xfrm>
            <a:off x="6191250" y="413124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Enlace a memoria">
            <a:hlinkClick action="ppaction://hlinksldjump" r:id="rId9"/>
          </p:cNvPr>
          <p:cNvSpPr/>
          <p:nvPr/>
        </p:nvSpPr>
        <p:spPr>
          <a:xfrm>
            <a:off x="6191250" y="4505896"/>
            <a:ext cx="5435600"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Enlace a cobertura-procedimiento">
            <a:hlinkClick action="ppaction://hlinksldjump" r:id="rId8"/>
          </p:cNvPr>
          <p:cNvSpPr/>
          <p:nvPr/>
        </p:nvSpPr>
        <p:spPr>
          <a:xfrm>
            <a:off x="565150" y="150869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Enlace a memoria">
            <a:hlinkClick action="ppaction://hlinksldjump" r:id="rId9"/>
          </p:cNvPr>
          <p:cNvSpPr/>
          <p:nvPr/>
        </p:nvSpPr>
        <p:spPr>
          <a:xfrm>
            <a:off x="565150" y="189604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Enlace a postproceso">
            <a:hlinkClick action="ppaction://hlinksldjump" r:id="rId10"/>
          </p:cNvPr>
          <p:cNvSpPr/>
          <p:nvPr/>
        </p:nvSpPr>
        <p:spPr>
          <a:xfrm>
            <a:off x="565150" y="228339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Enlace a cobertura-procedimiento">
            <a:hlinkClick action="ppaction://hlinksldjump" r:id="rId8"/>
          </p:cNvPr>
          <p:cNvSpPr/>
          <p:nvPr/>
        </p:nvSpPr>
        <p:spPr>
          <a:xfrm>
            <a:off x="565150" y="267074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Enlace a cobertura-contenido">
            <a:hlinkClick action="ppaction://hlinksldjump" r:id="rId11"/>
          </p:cNvPr>
          <p:cNvSpPr/>
          <p:nvPr/>
        </p:nvSpPr>
        <p:spPr>
          <a:xfrm>
            <a:off x="565150" y="305809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Enlace a consistencia-interna">
            <a:hlinkClick action="ppaction://hlinksldjump" r:id="rId12"/>
          </p:cNvPr>
          <p:cNvSpPr/>
          <p:nvPr/>
        </p:nvSpPr>
        <p:spPr>
          <a:xfrm>
            <a:off x="565150" y="3445446"/>
            <a:ext cx="5435600" cy="482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Enlace a mms">
            <a:hlinkClick action="ppaction://hlinksldjump" r:id="rId13"/>
          </p:cNvPr>
          <p:cNvSpPr/>
          <p:nvPr/>
        </p:nvSpPr>
        <p:spPr>
          <a:xfrm>
            <a:off x="6191250" y="150869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Enlace a mms">
            <a:hlinkClick action="ppaction://hlinksldjump" r:id="rId13"/>
          </p:cNvPr>
          <p:cNvSpPr/>
          <p:nvPr/>
        </p:nvSpPr>
        <p:spPr>
          <a:xfrm>
            <a:off x="6191250" y="189604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Enlace a timoshenko">
            <a:hlinkClick action="ppaction://hlinksldjump" r:id="rId14"/>
          </p:cNvPr>
          <p:cNvSpPr/>
          <p:nvPr/>
        </p:nvSpPr>
        <p:spPr>
          <a:xfrm>
            <a:off x="6191250" y="228339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Enlace a timoshenko">
            <a:hlinkClick action="ppaction://hlinksldjump" r:id="rId14"/>
          </p:cNvPr>
          <p:cNvSpPr/>
          <p:nvPr/>
        </p:nvSpPr>
        <p:spPr>
          <a:xfrm>
            <a:off x="6191250" y="267074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Enlace a timoshenko">
            <a:hlinkClick action="ppaction://hlinksldjump" r:id="rId14"/>
          </p:cNvPr>
          <p:cNvSpPr/>
          <p:nvPr/>
        </p:nvSpPr>
        <p:spPr>
          <a:xfrm>
            <a:off x="6191250" y="305809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Enlace a timoshenko">
            <a:hlinkClick action="ppaction://hlinksldjump" r:id="rId14"/>
          </p:cNvPr>
          <p:cNvSpPr/>
          <p:nvPr/>
        </p:nvSpPr>
        <p:spPr>
          <a:xfrm>
            <a:off x="6191250" y="344544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Enlace a cook">
            <a:hlinkClick action="ppaction://hlinksldjump" r:id="rId15"/>
          </p:cNvPr>
          <p:cNvSpPr/>
          <p:nvPr/>
        </p:nvSpPr>
        <p:spPr>
          <a:xfrm>
            <a:off x="6191250" y="383279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Enlace a cook">
            <a:hlinkClick action="ppaction://hlinksldjump" r:id="rId15"/>
          </p:cNvPr>
          <p:cNvSpPr/>
          <p:nvPr/>
        </p:nvSpPr>
        <p:spPr>
          <a:xfrm>
            <a:off x="6191250" y="422014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Enlace a memoria">
            <a:hlinkClick action="ppaction://hlinksldjump" r:id="rId9"/>
          </p:cNvPr>
          <p:cNvSpPr/>
          <p:nvPr/>
        </p:nvSpPr>
        <p:spPr>
          <a:xfrm>
            <a:off x="6191250" y="4607496"/>
            <a:ext cx="543560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Rounded Rectangle 654">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51" fill="hold">
                      <p:stCondLst>
                        <p:cond delay="indefinite"/>
                      </p:stCondLst>
                      <p:childTnLst>
                        <p:par>
                          <p:cTn id="652" fill="hold">
                            <p:stCondLst>
                              <p:cond delay="0"/>
                            </p:stCondLst>
                            <p:childTnLst>
                              <p:par>
                                <p:cTn id="3" presetID="10" presetClass="exit" presetSubtype="0" fill="hold" grpId="0" nodeType="clickEffect">
                                  <p:stCondLst>
                                    <p:cond delay="0"/>
                                  </p:stCondLst>
                                  <p:childTnLst>
                                    <p:animEffect transition="out" filter="fade">
                                      <p:cBhvr>
                                        <p:cTn id="4" dur="200"/>
                                        <p:tgtEl>
                                          <p:spTgt spid="107"/>
                                        </p:tgtEl>
                                      </p:cBhvr>
                                    </p:animEffect>
                                    <p:set>
                                      <p:cBhvr>
                                        <p:cTn id="5" dur="1" fill="hold">
                                          <p:stCondLst>
                                            <p:cond delay="199"/>
                                          </p:stCondLst>
                                        </p:cTn>
                                        <p:tgtEl>
                                          <p:spTgt spid="107"/>
                                        </p:tgtEl>
                                        <p:attrNameLst>
                                          <p:attrName>style.visibility</p:attrName>
                                        </p:attrNameLst>
                                      </p:cBhvr>
                                      <p:to>
                                        <p:strVal val="hidden"/>
                                      </p:to>
                                    </p:set>
                                  </p:childTnLst>
                                </p:cTn>
                              </p:par>
                              <p:par>
                                <p:cTn id="6" presetID="10" presetClass="exit" presetSubtype="0" fill="hold" grpId="0" nodeType="withEffect">
                                  <p:stCondLst>
                                    <p:cond delay="0"/>
                                  </p:stCondLst>
                                  <p:childTnLst>
                                    <p:animEffect transition="out" filter="fade">
                                      <p:cBhvr>
                                        <p:cTn id="7" dur="200"/>
                                        <p:tgtEl>
                                          <p:spTgt spid="108"/>
                                        </p:tgtEl>
                                      </p:cBhvr>
                                    </p:animEffect>
                                    <p:set>
                                      <p:cBhvr>
                                        <p:cTn id="8" dur="1" fill="hold">
                                          <p:stCondLst>
                                            <p:cond delay="199"/>
                                          </p:stCondLst>
                                        </p:cTn>
                                        <p:tgtEl>
                                          <p:spTgt spid="108"/>
                                        </p:tgtEl>
                                        <p:attrNameLst>
                                          <p:attrName>style.visibility</p:attrName>
                                        </p:attrNameLst>
                                      </p:cBhvr>
                                      <p:to>
                                        <p:strVal val="hidden"/>
                                      </p:to>
                                    </p:set>
                                  </p:childTnLst>
                                </p:cTn>
                              </p:par>
                              <p:par>
                                <p:cTn id="9" presetID="10" presetClass="exit" presetSubtype="0" fill="hold" grpId="0" nodeType="withEffect">
                                  <p:stCondLst>
                                    <p:cond delay="0"/>
                                  </p:stCondLst>
                                  <p:childTnLst>
                                    <p:animEffect transition="out" filter="fade">
                                      <p:cBhvr>
                                        <p:cTn id="10" dur="200"/>
                                        <p:tgtEl>
                                          <p:spTgt spid="109"/>
                                        </p:tgtEl>
                                      </p:cBhvr>
                                    </p:animEffect>
                                    <p:set>
                                      <p:cBhvr>
                                        <p:cTn id="11" dur="1" fill="hold">
                                          <p:stCondLst>
                                            <p:cond delay="199"/>
                                          </p:stCondLst>
                                        </p:cTn>
                                        <p:tgtEl>
                                          <p:spTgt spid="109"/>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200"/>
                                        <p:tgtEl>
                                          <p:spTgt spid="110"/>
                                        </p:tgtEl>
                                      </p:cBhvr>
                                    </p:animEffect>
                                    <p:set>
                                      <p:cBhvr>
                                        <p:cTn id="14" dur="1" fill="hold">
                                          <p:stCondLst>
                                            <p:cond delay="199"/>
                                          </p:stCondLst>
                                        </p:cTn>
                                        <p:tgtEl>
                                          <p:spTgt spid="110"/>
                                        </p:tgtEl>
                                        <p:attrNameLst>
                                          <p:attrName>style.visibility</p:attrName>
                                        </p:attrNameLst>
                                      </p:cBhvr>
                                      <p:to>
                                        <p:strVal val="hidden"/>
                                      </p:to>
                                    </p:set>
                                  </p:childTnLst>
                                </p:cTn>
                              </p:par>
                              <p:par>
                                <p:cTn id="15" presetID="10" presetClass="exit" presetSubtype="0" fill="hold" grpId="0" nodeType="withEffect">
                                  <p:stCondLst>
                                    <p:cond delay="0"/>
                                  </p:stCondLst>
                                  <p:childTnLst>
                                    <p:animEffect transition="out" filter="fade">
                                      <p:cBhvr>
                                        <p:cTn id="16" dur="200"/>
                                        <p:tgtEl>
                                          <p:spTgt spid="111"/>
                                        </p:tgtEl>
                                      </p:cBhvr>
                                    </p:animEffect>
                                    <p:set>
                                      <p:cBhvr>
                                        <p:cTn id="17" dur="1" fill="hold">
                                          <p:stCondLst>
                                            <p:cond delay="199"/>
                                          </p:stCondLst>
                                        </p:cTn>
                                        <p:tgtEl>
                                          <p:spTgt spid="111"/>
                                        </p:tgtEl>
                                        <p:attrNameLst>
                                          <p:attrName>style.visibility</p:attrName>
                                        </p:attrNameLst>
                                      </p:cBhvr>
                                      <p:to>
                                        <p:strVal val="hidden"/>
                                      </p:to>
                                    </p:set>
                                  </p:childTnLst>
                                </p:cTn>
                              </p:par>
                              <p:par>
                                <p:cTn id="18" presetID="10" presetClass="exit" presetSubtype="0" fill="hold" grpId="0" nodeType="withEffect">
                                  <p:stCondLst>
                                    <p:cond delay="0"/>
                                  </p:stCondLst>
                                  <p:childTnLst>
                                    <p:animEffect transition="out" filter="fade">
                                      <p:cBhvr>
                                        <p:cTn id="19" dur="200"/>
                                        <p:tgtEl>
                                          <p:spTgt spid="112"/>
                                        </p:tgtEl>
                                      </p:cBhvr>
                                    </p:animEffect>
                                    <p:set>
                                      <p:cBhvr>
                                        <p:cTn id="20" dur="1" fill="hold">
                                          <p:stCondLst>
                                            <p:cond delay="199"/>
                                          </p:stCondLst>
                                        </p:cTn>
                                        <p:tgtEl>
                                          <p:spTgt spid="112"/>
                                        </p:tgtEl>
                                        <p:attrNameLst>
                                          <p:attrName>style.visibility</p:attrName>
                                        </p:attrNameLst>
                                      </p:cBhvr>
                                      <p:to>
                                        <p:strVal val="hidden"/>
                                      </p:to>
                                    </p:set>
                                  </p:childTnLst>
                                </p:cTn>
                              </p:par>
                              <p:par>
                                <p:cTn id="21" presetID="10" presetClass="exit" presetSubtype="0" fill="hold" grpId="0" nodeType="withEffect">
                                  <p:stCondLst>
                                    <p:cond delay="0"/>
                                  </p:stCondLst>
                                  <p:childTnLst>
                                    <p:animEffect transition="out" filter="fade">
                                      <p:cBhvr>
                                        <p:cTn id="22" dur="200"/>
                                        <p:tgtEl>
                                          <p:spTgt spid="113"/>
                                        </p:tgtEl>
                                      </p:cBhvr>
                                    </p:animEffect>
                                    <p:set>
                                      <p:cBhvr>
                                        <p:cTn id="23" dur="1" fill="hold">
                                          <p:stCondLst>
                                            <p:cond delay="199"/>
                                          </p:stCondLst>
                                        </p:cTn>
                                        <p:tgtEl>
                                          <p:spTgt spid="113"/>
                                        </p:tgtEl>
                                        <p:attrNameLst>
                                          <p:attrName>style.visibility</p:attrName>
                                        </p:attrNameLst>
                                      </p:cBhvr>
                                      <p:to>
                                        <p:strVal val="hidden"/>
                                      </p:to>
                                    </p:set>
                                  </p:childTnLst>
                                </p:cTn>
                              </p:par>
                              <p:par>
                                <p:cTn id="24" presetID="10" presetClass="exit" presetSubtype="0" fill="hold" grpId="0" nodeType="withEffect">
                                  <p:stCondLst>
                                    <p:cond delay="0"/>
                                  </p:stCondLst>
                                  <p:childTnLst>
                                    <p:animEffect transition="out" filter="fade">
                                      <p:cBhvr>
                                        <p:cTn id="25" dur="200"/>
                                        <p:tgtEl>
                                          <p:spTgt spid="114"/>
                                        </p:tgtEl>
                                      </p:cBhvr>
                                    </p:animEffect>
                                    <p:set>
                                      <p:cBhvr>
                                        <p:cTn id="26" dur="1" fill="hold">
                                          <p:stCondLst>
                                            <p:cond delay="199"/>
                                          </p:stCondLst>
                                        </p:cTn>
                                        <p:tgtEl>
                                          <p:spTgt spid="114"/>
                                        </p:tgtEl>
                                        <p:attrNameLst>
                                          <p:attrName>style.visibility</p:attrName>
                                        </p:attrNameLst>
                                      </p:cBhvr>
                                      <p:to>
                                        <p:strVal val="hidden"/>
                                      </p:to>
                                    </p:set>
                                  </p:childTnLst>
                                </p:cTn>
                              </p:par>
                              <p:par>
                                <p:cTn id="27" presetID="10" presetClass="exit" presetSubtype="0" fill="hold" grpId="0" nodeType="withEffect">
                                  <p:stCondLst>
                                    <p:cond delay="0"/>
                                  </p:stCondLst>
                                  <p:childTnLst>
                                    <p:animEffect transition="out" filter="fade">
                                      <p:cBhvr>
                                        <p:cTn id="28" dur="200"/>
                                        <p:tgtEl>
                                          <p:spTgt spid="115"/>
                                        </p:tgtEl>
                                      </p:cBhvr>
                                    </p:animEffect>
                                    <p:set>
                                      <p:cBhvr>
                                        <p:cTn id="29" dur="1" fill="hold">
                                          <p:stCondLst>
                                            <p:cond delay="199"/>
                                          </p:stCondLst>
                                        </p:cTn>
                                        <p:tgtEl>
                                          <p:spTgt spid="115"/>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31" dur="200"/>
                                        <p:tgtEl>
                                          <p:spTgt spid="116"/>
                                        </p:tgtEl>
                                      </p:cBhvr>
                                    </p:animEffect>
                                    <p:set>
                                      <p:cBhvr>
                                        <p:cTn id="32" dur="1" fill="hold">
                                          <p:stCondLst>
                                            <p:cond delay="199"/>
                                          </p:stCondLst>
                                        </p:cTn>
                                        <p:tgtEl>
                                          <p:spTgt spid="116"/>
                                        </p:tgtEl>
                                        <p:attrNameLst>
                                          <p:attrName>style.visibility</p:attrName>
                                        </p:attrNameLst>
                                      </p:cBhvr>
                                      <p:to>
                                        <p:strVal val="hidden"/>
                                      </p:to>
                                    </p:set>
                                  </p:childTnLst>
                                </p:cTn>
                              </p:par>
                              <p:par>
                                <p:cTn id="33" presetID="10" presetClass="exit" presetSubtype="0" fill="hold" grpId="0" nodeType="withEffect">
                                  <p:stCondLst>
                                    <p:cond delay="0"/>
                                  </p:stCondLst>
                                  <p:childTnLst>
                                    <p:animEffect transition="out" filter="fade">
                                      <p:cBhvr>
                                        <p:cTn id="34" dur="200"/>
                                        <p:tgtEl>
                                          <p:spTgt spid="117"/>
                                        </p:tgtEl>
                                      </p:cBhvr>
                                    </p:animEffect>
                                    <p:set>
                                      <p:cBhvr>
                                        <p:cTn id="35" dur="1" fill="hold">
                                          <p:stCondLst>
                                            <p:cond delay="199"/>
                                          </p:stCondLst>
                                        </p:cTn>
                                        <p:tgtEl>
                                          <p:spTgt spid="117"/>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200"/>
                                        <p:tgtEl>
                                          <p:spTgt spid="118"/>
                                        </p:tgtEl>
                                      </p:cBhvr>
                                    </p:animEffect>
                                    <p:set>
                                      <p:cBhvr>
                                        <p:cTn id="38" dur="1" fill="hold">
                                          <p:stCondLst>
                                            <p:cond delay="199"/>
                                          </p:stCondLst>
                                        </p:cTn>
                                        <p:tgtEl>
                                          <p:spTgt spid="118"/>
                                        </p:tgtEl>
                                        <p:attrNameLst>
                                          <p:attrName>style.visibility</p:attrName>
                                        </p:attrNameLst>
                                      </p:cBhvr>
                                      <p:to>
                                        <p:strVal val="hidden"/>
                                      </p:to>
                                    </p:set>
                                  </p:childTnLst>
                                </p:cTn>
                              </p:par>
                              <p:par>
                                <p:cTn id="39" presetID="10" presetClass="exit" presetSubtype="0" fill="hold" grpId="0" nodeType="withEffect">
                                  <p:stCondLst>
                                    <p:cond delay="0"/>
                                  </p:stCondLst>
                                  <p:childTnLst>
                                    <p:animEffect transition="out" filter="fade">
                                      <p:cBhvr>
                                        <p:cTn id="40" dur="200"/>
                                        <p:tgtEl>
                                          <p:spTgt spid="119"/>
                                        </p:tgtEl>
                                      </p:cBhvr>
                                    </p:animEffect>
                                    <p:set>
                                      <p:cBhvr>
                                        <p:cTn id="41" dur="1" fill="hold">
                                          <p:stCondLst>
                                            <p:cond delay="199"/>
                                          </p:stCondLst>
                                        </p:cTn>
                                        <p:tgtEl>
                                          <p:spTgt spid="119"/>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200"/>
                                        <p:tgtEl>
                                          <p:spTgt spid="120"/>
                                        </p:tgtEl>
                                      </p:cBhvr>
                                    </p:animEffect>
                                    <p:set>
                                      <p:cBhvr>
                                        <p:cTn id="44" dur="1" fill="hold">
                                          <p:stCondLst>
                                            <p:cond delay="199"/>
                                          </p:stCondLst>
                                        </p:cTn>
                                        <p:tgtEl>
                                          <p:spTgt spid="120"/>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200"/>
                                        <p:tgtEl>
                                          <p:spTgt spid="121"/>
                                        </p:tgtEl>
                                      </p:cBhvr>
                                    </p:animEffect>
                                    <p:set>
                                      <p:cBhvr>
                                        <p:cTn id="47" dur="1" fill="hold">
                                          <p:stCondLst>
                                            <p:cond delay="199"/>
                                          </p:stCondLst>
                                        </p:cTn>
                                        <p:tgtEl>
                                          <p:spTgt spid="121"/>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200"/>
                                        <p:tgtEl>
                                          <p:spTgt spid="122"/>
                                        </p:tgtEl>
                                      </p:cBhvr>
                                    </p:animEffect>
                                    <p:set>
                                      <p:cBhvr>
                                        <p:cTn id="50" dur="1" fill="hold">
                                          <p:stCondLst>
                                            <p:cond delay="199"/>
                                          </p:stCondLst>
                                        </p:cTn>
                                        <p:tgtEl>
                                          <p:spTgt spid="122"/>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200"/>
                                        <p:tgtEl>
                                          <p:spTgt spid="123"/>
                                        </p:tgtEl>
                                      </p:cBhvr>
                                    </p:animEffect>
                                    <p:set>
                                      <p:cBhvr>
                                        <p:cTn id="53" dur="1" fill="hold">
                                          <p:stCondLst>
                                            <p:cond delay="199"/>
                                          </p:stCondLst>
                                        </p:cTn>
                                        <p:tgtEl>
                                          <p:spTgt spid="123"/>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200"/>
                                        <p:tgtEl>
                                          <p:spTgt spid="124"/>
                                        </p:tgtEl>
                                      </p:cBhvr>
                                    </p:animEffect>
                                    <p:set>
                                      <p:cBhvr>
                                        <p:cTn id="56" dur="1" fill="hold">
                                          <p:stCondLst>
                                            <p:cond delay="199"/>
                                          </p:stCondLst>
                                        </p:cTn>
                                        <p:tgtEl>
                                          <p:spTgt spid="124"/>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200"/>
                                        <p:tgtEl>
                                          <p:spTgt spid="125"/>
                                        </p:tgtEl>
                                      </p:cBhvr>
                                    </p:animEffect>
                                    <p:set>
                                      <p:cBhvr>
                                        <p:cTn id="59" dur="1" fill="hold">
                                          <p:stCondLst>
                                            <p:cond delay="199"/>
                                          </p:stCondLst>
                                        </p:cTn>
                                        <p:tgtEl>
                                          <p:spTgt spid="125"/>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200"/>
                                        <p:tgtEl>
                                          <p:spTgt spid="126"/>
                                        </p:tgtEl>
                                      </p:cBhvr>
                                    </p:animEffect>
                                    <p:set>
                                      <p:cBhvr>
                                        <p:cTn id="62" dur="1" fill="hold">
                                          <p:stCondLst>
                                            <p:cond delay="199"/>
                                          </p:stCondLst>
                                        </p:cTn>
                                        <p:tgtEl>
                                          <p:spTgt spid="126"/>
                                        </p:tgtEl>
                                        <p:attrNameLst>
                                          <p:attrName>style.visibility</p:attrName>
                                        </p:attrNameLst>
                                      </p:cBhvr>
                                      <p:to>
                                        <p:strVal val="hidden"/>
                                      </p:to>
                                    </p:set>
                                  </p:childTnLst>
                                </p:cTn>
                              </p:par>
                              <p:par>
                                <p:cTn id="63" presetID="10" presetClass="exit" presetSubtype="0" fill="hold" grpId="0" nodeType="withEffect">
                                  <p:stCondLst>
                                    <p:cond delay="0"/>
                                  </p:stCondLst>
                                  <p:childTnLst>
                                    <p:animEffect transition="out" filter="fade">
                                      <p:cBhvr>
                                        <p:cTn id="64" dur="200"/>
                                        <p:tgtEl>
                                          <p:spTgt spid="127"/>
                                        </p:tgtEl>
                                      </p:cBhvr>
                                    </p:animEffect>
                                    <p:set>
                                      <p:cBhvr>
                                        <p:cTn id="65" dur="1" fill="hold">
                                          <p:stCondLst>
                                            <p:cond delay="199"/>
                                          </p:stCondLst>
                                        </p:cTn>
                                        <p:tgtEl>
                                          <p:spTgt spid="127"/>
                                        </p:tgtEl>
                                        <p:attrNameLst>
                                          <p:attrName>style.visibility</p:attrName>
                                        </p:attrNameLst>
                                      </p:cBhvr>
                                      <p:to>
                                        <p:strVal val="hidden"/>
                                      </p:to>
                                    </p:set>
                                  </p:childTnLst>
                                </p:cTn>
                              </p:par>
                              <p:par>
                                <p:cTn id="66" presetID="10" presetClass="exit" presetSubtype="0" fill="hold" grpId="0" nodeType="withEffect">
                                  <p:stCondLst>
                                    <p:cond delay="0"/>
                                  </p:stCondLst>
                                  <p:childTnLst>
                                    <p:animEffect transition="out" filter="fade">
                                      <p:cBhvr>
                                        <p:cTn id="67" dur="200"/>
                                        <p:tgtEl>
                                          <p:spTgt spid="128"/>
                                        </p:tgtEl>
                                      </p:cBhvr>
                                    </p:animEffect>
                                    <p:set>
                                      <p:cBhvr>
                                        <p:cTn id="68" dur="1" fill="hold">
                                          <p:stCondLst>
                                            <p:cond delay="199"/>
                                          </p:stCondLst>
                                        </p:cTn>
                                        <p:tgtEl>
                                          <p:spTgt spid="128"/>
                                        </p:tgtEl>
                                        <p:attrNameLst>
                                          <p:attrName>style.visibility</p:attrName>
                                        </p:attrNameLst>
                                      </p:cBhvr>
                                      <p:to>
                                        <p:strVal val="hidden"/>
                                      </p:to>
                                    </p:set>
                                  </p:childTnLst>
                                </p:cTn>
                              </p:par>
                              <p:par>
                                <p:cTn id="69" presetID="10" presetClass="exit" presetSubtype="0" fill="hold" grpId="0" nodeType="withEffect">
                                  <p:stCondLst>
                                    <p:cond delay="0"/>
                                  </p:stCondLst>
                                  <p:childTnLst>
                                    <p:animEffect transition="out" filter="fade">
                                      <p:cBhvr>
                                        <p:cTn id="70" dur="200"/>
                                        <p:tgtEl>
                                          <p:spTgt spid="129"/>
                                        </p:tgtEl>
                                      </p:cBhvr>
                                    </p:animEffect>
                                    <p:set>
                                      <p:cBhvr>
                                        <p:cTn id="71" dur="1" fill="hold">
                                          <p:stCondLst>
                                            <p:cond delay="199"/>
                                          </p:stCondLst>
                                        </p:cTn>
                                        <p:tgtEl>
                                          <p:spTgt spid="129"/>
                                        </p:tgtEl>
                                        <p:attrNameLst>
                                          <p:attrName>style.visibility</p:attrName>
                                        </p:attrNameLst>
                                      </p:cBhvr>
                                      <p:to>
                                        <p:strVal val="hidden"/>
                                      </p:to>
                                    </p:set>
                                  </p:childTnLst>
                                </p:cTn>
                              </p:par>
                              <p:par>
                                <p:cTn id="72" presetID="10" presetClass="exit" presetSubtype="0" fill="hold" grpId="0" nodeType="withEffect">
                                  <p:stCondLst>
                                    <p:cond delay="0"/>
                                  </p:stCondLst>
                                  <p:childTnLst>
                                    <p:animEffect transition="out" filter="fade">
                                      <p:cBhvr>
                                        <p:cTn id="73" dur="200"/>
                                        <p:tgtEl>
                                          <p:spTgt spid="130"/>
                                        </p:tgtEl>
                                      </p:cBhvr>
                                    </p:animEffect>
                                    <p:set>
                                      <p:cBhvr>
                                        <p:cTn id="74" dur="1" fill="hold">
                                          <p:stCondLst>
                                            <p:cond delay="199"/>
                                          </p:stCondLst>
                                        </p:cTn>
                                        <p:tgtEl>
                                          <p:spTgt spid="130"/>
                                        </p:tgtEl>
                                        <p:attrNameLst>
                                          <p:attrName>style.visibility</p:attrName>
                                        </p:attrNameLst>
                                      </p:cBhvr>
                                      <p:to>
                                        <p:strVal val="hidden"/>
                                      </p:to>
                                    </p:set>
                                  </p:childTnLst>
                                </p:cTn>
                              </p:par>
                              <p:par>
                                <p:cTn id="75" presetID="10" presetClass="exit" presetSubtype="0" fill="hold" grpId="0" nodeType="withEffect">
                                  <p:stCondLst>
                                    <p:cond delay="0"/>
                                  </p:stCondLst>
                                  <p:childTnLst>
                                    <p:animEffect transition="out" filter="fade">
                                      <p:cBhvr>
                                        <p:cTn id="76" dur="200"/>
                                        <p:tgtEl>
                                          <p:spTgt spid="131"/>
                                        </p:tgtEl>
                                      </p:cBhvr>
                                    </p:animEffect>
                                    <p:set>
                                      <p:cBhvr>
                                        <p:cTn id="77" dur="1" fill="hold">
                                          <p:stCondLst>
                                            <p:cond delay="199"/>
                                          </p:stCondLst>
                                        </p:cTn>
                                        <p:tgtEl>
                                          <p:spTgt spid="131"/>
                                        </p:tgtEl>
                                        <p:attrNameLst>
                                          <p:attrName>style.visibility</p:attrName>
                                        </p:attrNameLst>
                                      </p:cBhvr>
                                      <p:to>
                                        <p:strVal val="hidden"/>
                                      </p:to>
                                    </p:set>
                                  </p:childTnLst>
                                </p:cTn>
                              </p:par>
                              <p:par>
                                <p:cTn id="78" presetID="10" presetClass="exit" presetSubtype="0" fill="hold" grpId="0" nodeType="withEffect">
                                  <p:stCondLst>
                                    <p:cond delay="0"/>
                                  </p:stCondLst>
                                  <p:childTnLst>
                                    <p:animEffect transition="out" filter="fade">
                                      <p:cBhvr>
                                        <p:cTn id="79" dur="200"/>
                                        <p:tgtEl>
                                          <p:spTgt spid="132"/>
                                        </p:tgtEl>
                                      </p:cBhvr>
                                    </p:animEffect>
                                    <p:set>
                                      <p:cBhvr>
                                        <p:cTn id="80" dur="1" fill="hold">
                                          <p:stCondLst>
                                            <p:cond delay="199"/>
                                          </p:stCondLst>
                                        </p:cTn>
                                        <p:tgtEl>
                                          <p:spTgt spid="132"/>
                                        </p:tgtEl>
                                        <p:attrNameLst>
                                          <p:attrName>style.visibility</p:attrName>
                                        </p:attrNameLst>
                                      </p:cBhvr>
                                      <p:to>
                                        <p:strVal val="hidden"/>
                                      </p:to>
                                    </p:set>
                                  </p:childTnLst>
                                </p:cTn>
                              </p:par>
                              <p:par>
                                <p:cTn id="81" presetID="10" presetClass="exit" presetSubtype="0" fill="hold" grpId="0" nodeType="withEffect">
                                  <p:stCondLst>
                                    <p:cond delay="0"/>
                                  </p:stCondLst>
                                  <p:childTnLst>
                                    <p:animEffect transition="out" filter="fade">
                                      <p:cBhvr>
                                        <p:cTn id="82" dur="200"/>
                                        <p:tgtEl>
                                          <p:spTgt spid="133"/>
                                        </p:tgtEl>
                                      </p:cBhvr>
                                    </p:animEffect>
                                    <p:set>
                                      <p:cBhvr>
                                        <p:cTn id="83" dur="1" fill="hold">
                                          <p:stCondLst>
                                            <p:cond delay="199"/>
                                          </p:stCondLst>
                                        </p:cTn>
                                        <p:tgtEl>
                                          <p:spTgt spid="133"/>
                                        </p:tgtEl>
                                        <p:attrNameLst>
                                          <p:attrName>style.visibility</p:attrName>
                                        </p:attrNameLst>
                                      </p:cBhvr>
                                      <p:to>
                                        <p:strVal val="hidden"/>
                                      </p:to>
                                    </p:set>
                                  </p:childTnLst>
                                </p:cTn>
                              </p:par>
                              <p:par>
                                <p:cTn id="84" presetID="10" presetClass="exit" presetSubtype="0" fill="hold" grpId="0" nodeType="withEffect">
                                  <p:stCondLst>
                                    <p:cond delay="0"/>
                                  </p:stCondLst>
                                  <p:childTnLst>
                                    <p:animEffect transition="out" filter="fade">
                                      <p:cBhvr>
                                        <p:cTn id="85" dur="200"/>
                                        <p:tgtEl>
                                          <p:spTgt spid="134"/>
                                        </p:tgtEl>
                                      </p:cBhvr>
                                    </p:animEffect>
                                    <p:set>
                                      <p:cBhvr>
                                        <p:cTn id="86" dur="1" fill="hold">
                                          <p:stCondLst>
                                            <p:cond delay="199"/>
                                          </p:stCondLst>
                                        </p:cTn>
                                        <p:tgtEl>
                                          <p:spTgt spid="134"/>
                                        </p:tgtEl>
                                        <p:attrNameLst>
                                          <p:attrName>style.visibility</p:attrName>
                                        </p:attrNameLst>
                                      </p:cBhvr>
                                      <p:to>
                                        <p:strVal val="hidden"/>
                                      </p:to>
                                    </p:set>
                                  </p:childTnLst>
                                </p:cTn>
                              </p:par>
                              <p:par>
                                <p:cTn id="87" presetID="10" presetClass="exit" presetSubtype="0" fill="hold" grpId="0" nodeType="withEffect">
                                  <p:stCondLst>
                                    <p:cond delay="0"/>
                                  </p:stCondLst>
                                  <p:childTnLst>
                                    <p:animEffect transition="out" filter="fade">
                                      <p:cBhvr>
                                        <p:cTn id="88" dur="200"/>
                                        <p:tgtEl>
                                          <p:spTgt spid="135"/>
                                        </p:tgtEl>
                                      </p:cBhvr>
                                    </p:animEffect>
                                    <p:set>
                                      <p:cBhvr>
                                        <p:cTn id="89" dur="1" fill="hold">
                                          <p:stCondLst>
                                            <p:cond delay="199"/>
                                          </p:stCondLst>
                                        </p:cTn>
                                        <p:tgtEl>
                                          <p:spTgt spid="135"/>
                                        </p:tgtEl>
                                        <p:attrNameLst>
                                          <p:attrName>style.visibility</p:attrName>
                                        </p:attrNameLst>
                                      </p:cBhvr>
                                      <p:to>
                                        <p:strVal val="hidden"/>
                                      </p:to>
                                    </p:set>
                                  </p:childTnLst>
                                </p:cTn>
                              </p:par>
                              <p:par>
                                <p:cTn id="90" presetID="10" presetClass="exit" presetSubtype="0" fill="hold" grpId="0" nodeType="withEffect">
                                  <p:stCondLst>
                                    <p:cond delay="0"/>
                                  </p:stCondLst>
                                  <p:childTnLst>
                                    <p:animEffect transition="out" filter="fade">
                                      <p:cBhvr>
                                        <p:cTn id="91" dur="200"/>
                                        <p:tgtEl>
                                          <p:spTgt spid="136"/>
                                        </p:tgtEl>
                                      </p:cBhvr>
                                    </p:animEffect>
                                    <p:set>
                                      <p:cBhvr>
                                        <p:cTn id="92" dur="1" fill="hold">
                                          <p:stCondLst>
                                            <p:cond delay="199"/>
                                          </p:stCondLst>
                                        </p:cTn>
                                        <p:tgtEl>
                                          <p:spTgt spid="136"/>
                                        </p:tgtEl>
                                        <p:attrNameLst>
                                          <p:attrName>style.visibility</p:attrName>
                                        </p:attrNameLst>
                                      </p:cBhvr>
                                      <p:to>
                                        <p:strVal val="hidden"/>
                                      </p:to>
                                    </p:set>
                                  </p:childTnLst>
                                </p:cTn>
                              </p:par>
                              <p:par>
                                <p:cTn id="93" presetID="10" presetClass="exit" presetSubtype="0" fill="hold" grpId="0" nodeType="withEffect">
                                  <p:stCondLst>
                                    <p:cond delay="0"/>
                                  </p:stCondLst>
                                  <p:childTnLst>
                                    <p:animEffect transition="out" filter="fade">
                                      <p:cBhvr>
                                        <p:cTn id="94" dur="200"/>
                                        <p:tgtEl>
                                          <p:spTgt spid="137"/>
                                        </p:tgtEl>
                                      </p:cBhvr>
                                    </p:animEffect>
                                    <p:set>
                                      <p:cBhvr>
                                        <p:cTn id="95" dur="1" fill="hold">
                                          <p:stCondLst>
                                            <p:cond delay="199"/>
                                          </p:stCondLst>
                                        </p:cTn>
                                        <p:tgtEl>
                                          <p:spTgt spid="137"/>
                                        </p:tgtEl>
                                        <p:attrNameLst>
                                          <p:attrName>style.visibility</p:attrName>
                                        </p:attrNameLst>
                                      </p:cBhvr>
                                      <p:to>
                                        <p:strVal val="hidden"/>
                                      </p:to>
                                    </p:set>
                                  </p:childTnLst>
                                </p:cTn>
                              </p:par>
                              <p:par>
                                <p:cTn id="96" presetID="10" presetClass="exit" presetSubtype="0" fill="hold" grpId="0" nodeType="withEffect">
                                  <p:stCondLst>
                                    <p:cond delay="0"/>
                                  </p:stCondLst>
                                  <p:childTnLst>
                                    <p:animEffect transition="out" filter="fade">
                                      <p:cBhvr>
                                        <p:cTn id="97" dur="200"/>
                                        <p:tgtEl>
                                          <p:spTgt spid="138"/>
                                        </p:tgtEl>
                                      </p:cBhvr>
                                    </p:animEffect>
                                    <p:set>
                                      <p:cBhvr>
                                        <p:cTn id="98" dur="1" fill="hold">
                                          <p:stCondLst>
                                            <p:cond delay="199"/>
                                          </p:stCondLst>
                                        </p:cTn>
                                        <p:tgtEl>
                                          <p:spTgt spid="138"/>
                                        </p:tgtEl>
                                        <p:attrNameLst>
                                          <p:attrName>style.visibility</p:attrName>
                                        </p:attrNameLst>
                                      </p:cBhvr>
                                      <p:to>
                                        <p:strVal val="hidden"/>
                                      </p:to>
                                    </p:set>
                                  </p:childTnLst>
                                </p:cTn>
                              </p:par>
                              <p:par>
                                <p:cTn id="99" presetID="10" presetClass="exit" presetSubtype="0" fill="hold" grpId="0" nodeType="withEffect">
                                  <p:stCondLst>
                                    <p:cond delay="0"/>
                                  </p:stCondLst>
                                  <p:childTnLst>
                                    <p:animEffect transition="out" filter="fade">
                                      <p:cBhvr>
                                        <p:cTn id="100" dur="200"/>
                                        <p:tgtEl>
                                          <p:spTgt spid="139"/>
                                        </p:tgtEl>
                                      </p:cBhvr>
                                    </p:animEffect>
                                    <p:set>
                                      <p:cBhvr>
                                        <p:cTn id="101" dur="1" fill="hold">
                                          <p:stCondLst>
                                            <p:cond delay="199"/>
                                          </p:stCondLst>
                                        </p:cTn>
                                        <p:tgtEl>
                                          <p:spTgt spid="139"/>
                                        </p:tgtEl>
                                        <p:attrNameLst>
                                          <p:attrName>style.visibility</p:attrName>
                                        </p:attrNameLst>
                                      </p:cBhvr>
                                      <p:to>
                                        <p:strVal val="hidden"/>
                                      </p:to>
                                    </p:set>
                                  </p:childTnLst>
                                </p:cTn>
                              </p:par>
                              <p:par>
                                <p:cTn id="102" presetID="10" presetClass="exit" presetSubtype="0" fill="hold" grpId="0" nodeType="withEffect">
                                  <p:stCondLst>
                                    <p:cond delay="0"/>
                                  </p:stCondLst>
                                  <p:childTnLst>
                                    <p:animEffect transition="out" filter="fade">
                                      <p:cBhvr>
                                        <p:cTn id="103" dur="200"/>
                                        <p:tgtEl>
                                          <p:spTgt spid="140"/>
                                        </p:tgtEl>
                                      </p:cBhvr>
                                    </p:animEffect>
                                    <p:set>
                                      <p:cBhvr>
                                        <p:cTn id="104" dur="1" fill="hold">
                                          <p:stCondLst>
                                            <p:cond delay="199"/>
                                          </p:stCondLst>
                                        </p:cTn>
                                        <p:tgtEl>
                                          <p:spTgt spid="140"/>
                                        </p:tgtEl>
                                        <p:attrNameLst>
                                          <p:attrName>style.visibility</p:attrName>
                                        </p:attrNameLst>
                                      </p:cBhvr>
                                      <p:to>
                                        <p:strVal val="hidden"/>
                                      </p:to>
                                    </p:set>
                                  </p:childTnLst>
                                </p:cTn>
                              </p:par>
                              <p:par>
                                <p:cTn id="105" presetID="10" presetClass="exit" presetSubtype="0" fill="hold" grpId="0" nodeType="withEffect">
                                  <p:stCondLst>
                                    <p:cond delay="0"/>
                                  </p:stCondLst>
                                  <p:childTnLst>
                                    <p:animEffect transition="out" filter="fade">
                                      <p:cBhvr>
                                        <p:cTn id="106" dur="200"/>
                                        <p:tgtEl>
                                          <p:spTgt spid="141"/>
                                        </p:tgtEl>
                                      </p:cBhvr>
                                    </p:animEffect>
                                    <p:set>
                                      <p:cBhvr>
                                        <p:cTn id="107" dur="1" fill="hold">
                                          <p:stCondLst>
                                            <p:cond delay="199"/>
                                          </p:stCondLst>
                                        </p:cTn>
                                        <p:tgtEl>
                                          <p:spTgt spid="141"/>
                                        </p:tgtEl>
                                        <p:attrNameLst>
                                          <p:attrName>style.visibility</p:attrName>
                                        </p:attrNameLst>
                                      </p:cBhvr>
                                      <p:to>
                                        <p:strVal val="hidden"/>
                                      </p:to>
                                    </p:set>
                                  </p:childTnLst>
                                </p:cTn>
                              </p:par>
                              <p:par>
                                <p:cTn id="108" presetID="10" presetClass="exit" presetSubtype="0" fill="hold" grpId="0" nodeType="withEffect">
                                  <p:stCondLst>
                                    <p:cond delay="0"/>
                                  </p:stCondLst>
                                  <p:childTnLst>
                                    <p:animEffect transition="out" filter="fade">
                                      <p:cBhvr>
                                        <p:cTn id="109" dur="200"/>
                                        <p:tgtEl>
                                          <p:spTgt spid="142"/>
                                        </p:tgtEl>
                                      </p:cBhvr>
                                    </p:animEffect>
                                    <p:set>
                                      <p:cBhvr>
                                        <p:cTn id="110" dur="1" fill="hold">
                                          <p:stCondLst>
                                            <p:cond delay="199"/>
                                          </p:stCondLst>
                                        </p:cTn>
                                        <p:tgtEl>
                                          <p:spTgt spid="142"/>
                                        </p:tgtEl>
                                        <p:attrNameLst>
                                          <p:attrName>style.visibility</p:attrName>
                                        </p:attrNameLst>
                                      </p:cBhvr>
                                      <p:to>
                                        <p:strVal val="hidden"/>
                                      </p:to>
                                    </p:set>
                                  </p:childTnLst>
                                </p:cTn>
                              </p:par>
                              <p:par>
                                <p:cTn id="111" presetID="10" presetClass="exit" presetSubtype="0" fill="hold" grpId="0" nodeType="withEffect">
                                  <p:stCondLst>
                                    <p:cond delay="0"/>
                                  </p:stCondLst>
                                  <p:childTnLst>
                                    <p:animEffect transition="out" filter="fade">
                                      <p:cBhvr>
                                        <p:cTn id="112" dur="200"/>
                                        <p:tgtEl>
                                          <p:spTgt spid="143"/>
                                        </p:tgtEl>
                                      </p:cBhvr>
                                    </p:animEffect>
                                    <p:set>
                                      <p:cBhvr>
                                        <p:cTn id="113" dur="1" fill="hold">
                                          <p:stCondLst>
                                            <p:cond delay="199"/>
                                          </p:stCondLst>
                                        </p:cTn>
                                        <p:tgtEl>
                                          <p:spTgt spid="143"/>
                                        </p:tgtEl>
                                        <p:attrNameLst>
                                          <p:attrName>style.visibility</p:attrName>
                                        </p:attrNameLst>
                                      </p:cBhvr>
                                      <p:to>
                                        <p:strVal val="hidden"/>
                                      </p:to>
                                    </p:set>
                                  </p:childTnLst>
                                </p:cTn>
                              </p:par>
                              <p:par>
                                <p:cTn id="114" presetID="10" presetClass="exit" presetSubtype="0" fill="hold" grpId="0" nodeType="withEffect">
                                  <p:stCondLst>
                                    <p:cond delay="0"/>
                                  </p:stCondLst>
                                  <p:childTnLst>
                                    <p:animEffect transition="out" filter="fade">
                                      <p:cBhvr>
                                        <p:cTn id="115" dur="200"/>
                                        <p:tgtEl>
                                          <p:spTgt spid="225"/>
                                        </p:tgtEl>
                                      </p:cBhvr>
                                    </p:animEffect>
                                    <p:set>
                                      <p:cBhvr>
                                        <p:cTn id="116" dur="1" fill="hold">
                                          <p:stCondLst>
                                            <p:cond delay="199"/>
                                          </p:stCondLst>
                                        </p:cTn>
                                        <p:tgtEl>
                                          <p:spTgt spid="225"/>
                                        </p:tgtEl>
                                        <p:attrNameLst>
                                          <p:attrName>style.visibility</p:attrName>
                                        </p:attrNameLst>
                                      </p:cBhvr>
                                      <p:to>
                                        <p:strVal val="hidden"/>
                                      </p:to>
                                    </p:set>
                                  </p:childTnLst>
                                </p:cTn>
                              </p:par>
                              <p:par>
                                <p:cTn id="117" presetID="10" presetClass="exit" presetSubtype="0" fill="hold" grpId="0" nodeType="withEffect">
                                  <p:stCondLst>
                                    <p:cond delay="0"/>
                                  </p:stCondLst>
                                  <p:childTnLst>
                                    <p:animEffect transition="out" filter="fade">
                                      <p:cBhvr>
                                        <p:cTn id="118" dur="200"/>
                                        <p:tgtEl>
                                          <p:spTgt spid="226"/>
                                        </p:tgtEl>
                                      </p:cBhvr>
                                    </p:animEffect>
                                    <p:set>
                                      <p:cBhvr>
                                        <p:cTn id="119" dur="1" fill="hold">
                                          <p:stCondLst>
                                            <p:cond delay="199"/>
                                          </p:stCondLst>
                                        </p:cTn>
                                        <p:tgtEl>
                                          <p:spTgt spid="226"/>
                                        </p:tgtEl>
                                        <p:attrNameLst>
                                          <p:attrName>style.visibility</p:attrName>
                                        </p:attrNameLst>
                                      </p:cBhvr>
                                      <p:to>
                                        <p:strVal val="hidden"/>
                                      </p:to>
                                    </p:set>
                                  </p:childTnLst>
                                </p:cTn>
                              </p:par>
                              <p:par>
                                <p:cTn id="120" presetID="10" presetClass="exit" presetSubtype="0" fill="hold" grpId="0" nodeType="withEffect">
                                  <p:stCondLst>
                                    <p:cond delay="0"/>
                                  </p:stCondLst>
                                  <p:childTnLst>
                                    <p:animEffect transition="out" filter="fade">
                                      <p:cBhvr>
                                        <p:cTn id="121" dur="200"/>
                                        <p:tgtEl>
                                          <p:spTgt spid="227"/>
                                        </p:tgtEl>
                                      </p:cBhvr>
                                    </p:animEffect>
                                    <p:set>
                                      <p:cBhvr>
                                        <p:cTn id="122" dur="1" fill="hold">
                                          <p:stCondLst>
                                            <p:cond delay="199"/>
                                          </p:stCondLst>
                                        </p:cTn>
                                        <p:tgtEl>
                                          <p:spTgt spid="227"/>
                                        </p:tgtEl>
                                        <p:attrNameLst>
                                          <p:attrName>style.visibility</p:attrName>
                                        </p:attrNameLst>
                                      </p:cBhvr>
                                      <p:to>
                                        <p:strVal val="hidden"/>
                                      </p:to>
                                    </p:set>
                                  </p:childTnLst>
                                </p:cTn>
                              </p:par>
                              <p:par>
                                <p:cTn id="123" presetID="10" presetClass="exit" presetSubtype="0" fill="hold" grpId="0" nodeType="withEffect">
                                  <p:stCondLst>
                                    <p:cond delay="0"/>
                                  </p:stCondLst>
                                  <p:childTnLst>
                                    <p:animEffect transition="out" filter="fade">
                                      <p:cBhvr>
                                        <p:cTn id="124" dur="200"/>
                                        <p:tgtEl>
                                          <p:spTgt spid="228"/>
                                        </p:tgtEl>
                                      </p:cBhvr>
                                    </p:animEffect>
                                    <p:set>
                                      <p:cBhvr>
                                        <p:cTn id="125" dur="1" fill="hold">
                                          <p:stCondLst>
                                            <p:cond delay="199"/>
                                          </p:stCondLst>
                                        </p:cTn>
                                        <p:tgtEl>
                                          <p:spTgt spid="228"/>
                                        </p:tgtEl>
                                        <p:attrNameLst>
                                          <p:attrName>style.visibility</p:attrName>
                                        </p:attrNameLst>
                                      </p:cBhvr>
                                      <p:to>
                                        <p:strVal val="hidden"/>
                                      </p:to>
                                    </p:set>
                                  </p:childTnLst>
                                </p:cTn>
                              </p:par>
                              <p:par>
                                <p:cTn id="126" presetID="10" presetClass="exit" presetSubtype="0" fill="hold" grpId="0" nodeType="withEffect">
                                  <p:stCondLst>
                                    <p:cond delay="0"/>
                                  </p:stCondLst>
                                  <p:childTnLst>
                                    <p:animEffect transition="out" filter="fade">
                                      <p:cBhvr>
                                        <p:cTn id="127" dur="200"/>
                                        <p:tgtEl>
                                          <p:spTgt spid="229"/>
                                        </p:tgtEl>
                                      </p:cBhvr>
                                    </p:animEffect>
                                    <p:set>
                                      <p:cBhvr>
                                        <p:cTn id="128" dur="1" fill="hold">
                                          <p:stCondLst>
                                            <p:cond delay="199"/>
                                          </p:stCondLst>
                                        </p:cTn>
                                        <p:tgtEl>
                                          <p:spTgt spid="229"/>
                                        </p:tgtEl>
                                        <p:attrNameLst>
                                          <p:attrName>style.visibility</p:attrName>
                                        </p:attrNameLst>
                                      </p:cBhvr>
                                      <p:to>
                                        <p:strVal val="hidden"/>
                                      </p:to>
                                    </p:set>
                                  </p:childTnLst>
                                </p:cTn>
                              </p:par>
                              <p:par>
                                <p:cTn id="129" presetID="10" presetClass="exit" presetSubtype="0" fill="hold" grpId="0" nodeType="withEffect">
                                  <p:stCondLst>
                                    <p:cond delay="0"/>
                                  </p:stCondLst>
                                  <p:childTnLst>
                                    <p:animEffect transition="out" filter="fade">
                                      <p:cBhvr>
                                        <p:cTn id="130" dur="200"/>
                                        <p:tgtEl>
                                          <p:spTgt spid="230"/>
                                        </p:tgtEl>
                                      </p:cBhvr>
                                    </p:animEffect>
                                    <p:set>
                                      <p:cBhvr>
                                        <p:cTn id="131" dur="1" fill="hold">
                                          <p:stCondLst>
                                            <p:cond delay="199"/>
                                          </p:stCondLst>
                                        </p:cTn>
                                        <p:tgtEl>
                                          <p:spTgt spid="230"/>
                                        </p:tgtEl>
                                        <p:attrNameLst>
                                          <p:attrName>style.visibility</p:attrName>
                                        </p:attrNameLst>
                                      </p:cBhvr>
                                      <p:to>
                                        <p:strVal val="hidden"/>
                                      </p:to>
                                    </p:set>
                                  </p:childTnLst>
                                </p:cTn>
                              </p:par>
                              <p:par>
                                <p:cTn id="132" presetID="10" presetClass="entr" presetSubtype="0" fill="hold" grpId="0" nodeType="withEffect">
                                  <p:stCondLst>
                                    <p:cond delay="200"/>
                                  </p:stCondLst>
                                  <p:childTnLst>
                                    <p:set>
                                      <p:cBhvr>
                                        <p:cTn id="133" dur="1" fill="hold">
                                          <p:stCondLst>
                                            <p:cond delay="0"/>
                                          </p:stCondLst>
                                        </p:cTn>
                                        <p:tgtEl>
                                          <p:spTgt spid="13"/>
                                        </p:tgtEl>
                                        <p:attrNameLst>
                                          <p:attrName>style.visibility</p:attrName>
                                        </p:attrNameLst>
                                      </p:cBhvr>
                                      <p:to>
                                        <p:strVal val="visible"/>
                                      </p:to>
                                    </p:set>
                                    <p:animEffect transition="in" filter="fade">
                                      <p:cBhvr>
                                        <p:cTn id="134" dur="400"/>
                                        <p:tgtEl>
                                          <p:spTgt spid="13"/>
                                        </p:tgtEl>
                                      </p:cBhvr>
                                    </p:animEffect>
                                  </p:childTnLst>
                                </p:cTn>
                              </p:par>
                              <p:par>
                                <p:cTn id="135" presetID="10" presetClass="entr" presetSubtype="0" fill="hold" grpId="0" nodeType="withEffect">
                                  <p:stCondLst>
                                    <p:cond delay="200"/>
                                  </p:stCondLst>
                                  <p:childTnLst>
                                    <p:set>
                                      <p:cBhvr>
                                        <p:cTn id="136" dur="1" fill="hold">
                                          <p:stCondLst>
                                            <p:cond delay="0"/>
                                          </p:stCondLst>
                                        </p:cTn>
                                        <p:tgtEl>
                                          <p:spTgt spid="14"/>
                                        </p:tgtEl>
                                        <p:attrNameLst>
                                          <p:attrName>style.visibility</p:attrName>
                                        </p:attrNameLst>
                                      </p:cBhvr>
                                      <p:to>
                                        <p:strVal val="visible"/>
                                      </p:to>
                                    </p:set>
                                    <p:animEffect transition="in" filter="fade">
                                      <p:cBhvr>
                                        <p:cTn id="137" dur="400"/>
                                        <p:tgtEl>
                                          <p:spTgt spid="14"/>
                                        </p:tgtEl>
                                      </p:cBhvr>
                                    </p:animEffect>
                                  </p:childTnLst>
                                </p:cTn>
                              </p:par>
                              <p:par>
                                <p:cTn id="138" presetID="10" presetClass="entr" presetSubtype="0" fill="hold" grpId="0" nodeType="withEffect">
                                  <p:stCondLst>
                                    <p:cond delay="200"/>
                                  </p:stCondLst>
                                  <p:childTnLst>
                                    <p:set>
                                      <p:cBhvr>
                                        <p:cTn id="139" dur="1" fill="hold">
                                          <p:stCondLst>
                                            <p:cond delay="0"/>
                                          </p:stCondLst>
                                        </p:cTn>
                                        <p:tgtEl>
                                          <p:spTgt spid="15"/>
                                        </p:tgtEl>
                                        <p:attrNameLst>
                                          <p:attrName>style.visibility</p:attrName>
                                        </p:attrNameLst>
                                      </p:cBhvr>
                                      <p:to>
                                        <p:strVal val="visible"/>
                                      </p:to>
                                    </p:set>
                                    <p:animEffect transition="in" filter="fade">
                                      <p:cBhvr>
                                        <p:cTn id="140" dur="400"/>
                                        <p:tgtEl>
                                          <p:spTgt spid="15"/>
                                        </p:tgtEl>
                                      </p:cBhvr>
                                    </p:animEffect>
                                  </p:childTnLst>
                                </p:cTn>
                              </p:par>
                              <p:par>
                                <p:cTn id="141" presetID="10" presetClass="entr" presetSubtype="0" fill="hold" grpId="0" nodeType="withEffect">
                                  <p:stCondLst>
                                    <p:cond delay="200"/>
                                  </p:stCondLst>
                                  <p:childTnLst>
                                    <p:set>
                                      <p:cBhvr>
                                        <p:cTn id="142" dur="1" fill="hold">
                                          <p:stCondLst>
                                            <p:cond delay="0"/>
                                          </p:stCondLst>
                                        </p:cTn>
                                        <p:tgtEl>
                                          <p:spTgt spid="16"/>
                                        </p:tgtEl>
                                        <p:attrNameLst>
                                          <p:attrName>style.visibility</p:attrName>
                                        </p:attrNameLst>
                                      </p:cBhvr>
                                      <p:to>
                                        <p:strVal val="visible"/>
                                      </p:to>
                                    </p:set>
                                    <p:animEffect transition="in" filter="fade">
                                      <p:cBhvr>
                                        <p:cTn id="143" dur="400"/>
                                        <p:tgtEl>
                                          <p:spTgt spid="16"/>
                                        </p:tgtEl>
                                      </p:cBhvr>
                                    </p:animEffect>
                                  </p:childTnLst>
                                </p:cTn>
                              </p:par>
                              <p:par>
                                <p:cTn id="144" presetID="10" presetClass="entr" presetSubtype="0" fill="hold" grpId="0" nodeType="withEffect">
                                  <p:stCondLst>
                                    <p:cond delay="200"/>
                                  </p:stCondLst>
                                  <p:childTnLst>
                                    <p:set>
                                      <p:cBhvr>
                                        <p:cTn id="145" dur="1" fill="hold">
                                          <p:stCondLst>
                                            <p:cond delay="0"/>
                                          </p:stCondLst>
                                        </p:cTn>
                                        <p:tgtEl>
                                          <p:spTgt spid="17"/>
                                        </p:tgtEl>
                                        <p:attrNameLst>
                                          <p:attrName>style.visibility</p:attrName>
                                        </p:attrNameLst>
                                      </p:cBhvr>
                                      <p:to>
                                        <p:strVal val="visible"/>
                                      </p:to>
                                    </p:set>
                                    <p:animEffect transition="in" filter="fade">
                                      <p:cBhvr>
                                        <p:cTn id="146" dur="400"/>
                                        <p:tgtEl>
                                          <p:spTgt spid="17"/>
                                        </p:tgtEl>
                                      </p:cBhvr>
                                    </p:animEffect>
                                  </p:childTnLst>
                                </p:cTn>
                              </p:par>
                              <p:par>
                                <p:cTn id="147" presetID="10" presetClass="entr" presetSubtype="0" fill="hold" grpId="0" nodeType="withEffect">
                                  <p:stCondLst>
                                    <p:cond delay="200"/>
                                  </p:stCondLst>
                                  <p:childTnLst>
                                    <p:set>
                                      <p:cBhvr>
                                        <p:cTn id="148" dur="1" fill="hold">
                                          <p:stCondLst>
                                            <p:cond delay="0"/>
                                          </p:stCondLst>
                                        </p:cTn>
                                        <p:tgtEl>
                                          <p:spTgt spid="18"/>
                                        </p:tgtEl>
                                        <p:attrNameLst>
                                          <p:attrName>style.visibility</p:attrName>
                                        </p:attrNameLst>
                                      </p:cBhvr>
                                      <p:to>
                                        <p:strVal val="visible"/>
                                      </p:to>
                                    </p:set>
                                    <p:animEffect transition="in" filter="fade">
                                      <p:cBhvr>
                                        <p:cTn id="149" dur="400"/>
                                        <p:tgtEl>
                                          <p:spTgt spid="18"/>
                                        </p:tgtEl>
                                      </p:cBhvr>
                                    </p:animEffect>
                                  </p:childTnLst>
                                </p:cTn>
                              </p:par>
                              <p:par>
                                <p:cTn id="150" presetID="10" presetClass="entr" presetSubtype="0" fill="hold" grpId="0" nodeType="withEffect">
                                  <p:stCondLst>
                                    <p:cond delay="200"/>
                                  </p:stCondLst>
                                  <p:childTnLst>
                                    <p:set>
                                      <p:cBhvr>
                                        <p:cTn id="151" dur="1" fill="hold">
                                          <p:stCondLst>
                                            <p:cond delay="0"/>
                                          </p:stCondLst>
                                        </p:cTn>
                                        <p:tgtEl>
                                          <p:spTgt spid="19"/>
                                        </p:tgtEl>
                                        <p:attrNameLst>
                                          <p:attrName>style.visibility</p:attrName>
                                        </p:attrNameLst>
                                      </p:cBhvr>
                                      <p:to>
                                        <p:strVal val="visible"/>
                                      </p:to>
                                    </p:set>
                                    <p:animEffect transition="in" filter="fade">
                                      <p:cBhvr>
                                        <p:cTn id="152" dur="400"/>
                                        <p:tgtEl>
                                          <p:spTgt spid="19"/>
                                        </p:tgtEl>
                                      </p:cBhvr>
                                    </p:animEffect>
                                  </p:childTnLst>
                                </p:cTn>
                              </p:par>
                              <p:par>
                                <p:cTn id="153" presetID="10" presetClass="entr" presetSubtype="0" fill="hold" grpId="0" nodeType="withEffect">
                                  <p:stCondLst>
                                    <p:cond delay="200"/>
                                  </p:stCondLst>
                                  <p:childTnLst>
                                    <p:set>
                                      <p:cBhvr>
                                        <p:cTn id="154" dur="1" fill="hold">
                                          <p:stCondLst>
                                            <p:cond delay="0"/>
                                          </p:stCondLst>
                                        </p:cTn>
                                        <p:tgtEl>
                                          <p:spTgt spid="20"/>
                                        </p:tgtEl>
                                        <p:attrNameLst>
                                          <p:attrName>style.visibility</p:attrName>
                                        </p:attrNameLst>
                                      </p:cBhvr>
                                      <p:to>
                                        <p:strVal val="visible"/>
                                      </p:to>
                                    </p:set>
                                    <p:animEffect transition="in" filter="fade">
                                      <p:cBhvr>
                                        <p:cTn id="155" dur="400"/>
                                        <p:tgtEl>
                                          <p:spTgt spid="20"/>
                                        </p:tgtEl>
                                      </p:cBhvr>
                                    </p:animEffect>
                                  </p:childTnLst>
                                </p:cTn>
                              </p:par>
                              <p:par>
                                <p:cTn id="156" presetID="10" presetClass="entr" presetSubtype="0" fill="hold" grpId="0" nodeType="withEffect">
                                  <p:stCondLst>
                                    <p:cond delay="200"/>
                                  </p:stCondLst>
                                  <p:childTnLst>
                                    <p:set>
                                      <p:cBhvr>
                                        <p:cTn id="157" dur="1" fill="hold">
                                          <p:stCondLst>
                                            <p:cond delay="0"/>
                                          </p:stCondLst>
                                        </p:cTn>
                                        <p:tgtEl>
                                          <p:spTgt spid="21"/>
                                        </p:tgtEl>
                                        <p:attrNameLst>
                                          <p:attrName>style.visibility</p:attrName>
                                        </p:attrNameLst>
                                      </p:cBhvr>
                                      <p:to>
                                        <p:strVal val="visible"/>
                                      </p:to>
                                    </p:set>
                                    <p:animEffect transition="in" filter="fade">
                                      <p:cBhvr>
                                        <p:cTn id="158" dur="400"/>
                                        <p:tgtEl>
                                          <p:spTgt spid="21"/>
                                        </p:tgtEl>
                                      </p:cBhvr>
                                    </p:animEffect>
                                  </p:childTnLst>
                                </p:cTn>
                              </p:par>
                              <p:par>
                                <p:cTn id="159" presetID="10" presetClass="entr" presetSubtype="0" fill="hold" grpId="0" nodeType="withEffect">
                                  <p:stCondLst>
                                    <p:cond delay="200"/>
                                  </p:stCondLst>
                                  <p:childTnLst>
                                    <p:set>
                                      <p:cBhvr>
                                        <p:cTn id="160" dur="1" fill="hold">
                                          <p:stCondLst>
                                            <p:cond delay="0"/>
                                          </p:stCondLst>
                                        </p:cTn>
                                        <p:tgtEl>
                                          <p:spTgt spid="22"/>
                                        </p:tgtEl>
                                        <p:attrNameLst>
                                          <p:attrName>style.visibility</p:attrName>
                                        </p:attrNameLst>
                                      </p:cBhvr>
                                      <p:to>
                                        <p:strVal val="visible"/>
                                      </p:to>
                                    </p:set>
                                    <p:animEffect transition="in" filter="fade">
                                      <p:cBhvr>
                                        <p:cTn id="161" dur="400"/>
                                        <p:tgtEl>
                                          <p:spTgt spid="22"/>
                                        </p:tgtEl>
                                      </p:cBhvr>
                                    </p:animEffect>
                                  </p:childTnLst>
                                </p:cTn>
                              </p:par>
                              <p:par>
                                <p:cTn id="162" presetID="10" presetClass="entr" presetSubtype="0" fill="hold" grpId="0" nodeType="withEffect">
                                  <p:stCondLst>
                                    <p:cond delay="200"/>
                                  </p:stCondLst>
                                  <p:childTnLst>
                                    <p:set>
                                      <p:cBhvr>
                                        <p:cTn id="163" dur="1" fill="hold">
                                          <p:stCondLst>
                                            <p:cond delay="0"/>
                                          </p:stCondLst>
                                        </p:cTn>
                                        <p:tgtEl>
                                          <p:spTgt spid="23"/>
                                        </p:tgtEl>
                                        <p:attrNameLst>
                                          <p:attrName>style.visibility</p:attrName>
                                        </p:attrNameLst>
                                      </p:cBhvr>
                                      <p:to>
                                        <p:strVal val="visible"/>
                                      </p:to>
                                    </p:set>
                                    <p:animEffect transition="in" filter="fade">
                                      <p:cBhvr>
                                        <p:cTn id="164" dur="400"/>
                                        <p:tgtEl>
                                          <p:spTgt spid="23"/>
                                        </p:tgtEl>
                                      </p:cBhvr>
                                    </p:animEffect>
                                  </p:childTnLst>
                                </p:cTn>
                              </p:par>
                              <p:par>
                                <p:cTn id="165" presetID="10" presetClass="entr" presetSubtype="0" fill="hold" grpId="0" nodeType="withEffect">
                                  <p:stCondLst>
                                    <p:cond delay="200"/>
                                  </p:stCondLst>
                                  <p:childTnLst>
                                    <p:set>
                                      <p:cBhvr>
                                        <p:cTn id="166" dur="1" fill="hold">
                                          <p:stCondLst>
                                            <p:cond delay="0"/>
                                          </p:stCondLst>
                                        </p:cTn>
                                        <p:tgtEl>
                                          <p:spTgt spid="24"/>
                                        </p:tgtEl>
                                        <p:attrNameLst>
                                          <p:attrName>style.visibility</p:attrName>
                                        </p:attrNameLst>
                                      </p:cBhvr>
                                      <p:to>
                                        <p:strVal val="visible"/>
                                      </p:to>
                                    </p:set>
                                    <p:animEffect transition="in" filter="fade">
                                      <p:cBhvr>
                                        <p:cTn id="167" dur="400"/>
                                        <p:tgtEl>
                                          <p:spTgt spid="24"/>
                                        </p:tgtEl>
                                      </p:cBhvr>
                                    </p:animEffect>
                                  </p:childTnLst>
                                </p:cTn>
                              </p:par>
                              <p:par>
                                <p:cTn id="168" presetID="10" presetClass="entr" presetSubtype="0" fill="hold" grpId="0" nodeType="withEffect">
                                  <p:stCondLst>
                                    <p:cond delay="200"/>
                                  </p:stCondLst>
                                  <p:childTnLst>
                                    <p:set>
                                      <p:cBhvr>
                                        <p:cTn id="169" dur="1" fill="hold">
                                          <p:stCondLst>
                                            <p:cond delay="0"/>
                                          </p:stCondLst>
                                        </p:cTn>
                                        <p:tgtEl>
                                          <p:spTgt spid="25"/>
                                        </p:tgtEl>
                                        <p:attrNameLst>
                                          <p:attrName>style.visibility</p:attrName>
                                        </p:attrNameLst>
                                      </p:cBhvr>
                                      <p:to>
                                        <p:strVal val="visible"/>
                                      </p:to>
                                    </p:set>
                                    <p:animEffect transition="in" filter="fade">
                                      <p:cBhvr>
                                        <p:cTn id="170" dur="400"/>
                                        <p:tgtEl>
                                          <p:spTgt spid="25"/>
                                        </p:tgtEl>
                                      </p:cBhvr>
                                    </p:animEffect>
                                  </p:childTnLst>
                                </p:cTn>
                              </p:par>
                              <p:par>
                                <p:cTn id="171" presetID="10" presetClass="entr" presetSubtype="0" fill="hold" grpId="0" nodeType="withEffect">
                                  <p:stCondLst>
                                    <p:cond delay="200"/>
                                  </p:stCondLst>
                                  <p:childTnLst>
                                    <p:set>
                                      <p:cBhvr>
                                        <p:cTn id="172" dur="1" fill="hold">
                                          <p:stCondLst>
                                            <p:cond delay="0"/>
                                          </p:stCondLst>
                                        </p:cTn>
                                        <p:tgtEl>
                                          <p:spTgt spid="26"/>
                                        </p:tgtEl>
                                        <p:attrNameLst>
                                          <p:attrName>style.visibility</p:attrName>
                                        </p:attrNameLst>
                                      </p:cBhvr>
                                      <p:to>
                                        <p:strVal val="visible"/>
                                      </p:to>
                                    </p:set>
                                    <p:animEffect transition="in" filter="fade">
                                      <p:cBhvr>
                                        <p:cTn id="173" dur="400"/>
                                        <p:tgtEl>
                                          <p:spTgt spid="26"/>
                                        </p:tgtEl>
                                      </p:cBhvr>
                                    </p:animEffect>
                                  </p:childTnLst>
                                </p:cTn>
                              </p:par>
                              <p:par>
                                <p:cTn id="174" presetID="10" presetClass="entr" presetSubtype="0" fill="hold" grpId="0" nodeType="withEffect">
                                  <p:stCondLst>
                                    <p:cond delay="200"/>
                                  </p:stCondLst>
                                  <p:childTnLst>
                                    <p:set>
                                      <p:cBhvr>
                                        <p:cTn id="175" dur="1" fill="hold">
                                          <p:stCondLst>
                                            <p:cond delay="0"/>
                                          </p:stCondLst>
                                        </p:cTn>
                                        <p:tgtEl>
                                          <p:spTgt spid="27"/>
                                        </p:tgtEl>
                                        <p:attrNameLst>
                                          <p:attrName>style.visibility</p:attrName>
                                        </p:attrNameLst>
                                      </p:cBhvr>
                                      <p:to>
                                        <p:strVal val="visible"/>
                                      </p:to>
                                    </p:set>
                                    <p:animEffect transition="in" filter="fade">
                                      <p:cBhvr>
                                        <p:cTn id="176" dur="400"/>
                                        <p:tgtEl>
                                          <p:spTgt spid="27"/>
                                        </p:tgtEl>
                                      </p:cBhvr>
                                    </p:animEffect>
                                  </p:childTnLst>
                                </p:cTn>
                              </p:par>
                              <p:par>
                                <p:cTn id="177" presetID="10" presetClass="entr" presetSubtype="0" fill="hold" grpId="0" nodeType="withEffect">
                                  <p:stCondLst>
                                    <p:cond delay="200"/>
                                  </p:stCondLst>
                                  <p:childTnLst>
                                    <p:set>
                                      <p:cBhvr>
                                        <p:cTn id="178" dur="1" fill="hold">
                                          <p:stCondLst>
                                            <p:cond delay="0"/>
                                          </p:stCondLst>
                                        </p:cTn>
                                        <p:tgtEl>
                                          <p:spTgt spid="28"/>
                                        </p:tgtEl>
                                        <p:attrNameLst>
                                          <p:attrName>style.visibility</p:attrName>
                                        </p:attrNameLst>
                                      </p:cBhvr>
                                      <p:to>
                                        <p:strVal val="visible"/>
                                      </p:to>
                                    </p:set>
                                    <p:animEffect transition="in" filter="fade">
                                      <p:cBhvr>
                                        <p:cTn id="179" dur="400"/>
                                        <p:tgtEl>
                                          <p:spTgt spid="28"/>
                                        </p:tgtEl>
                                      </p:cBhvr>
                                    </p:animEffect>
                                  </p:childTnLst>
                                </p:cTn>
                              </p:par>
                              <p:par>
                                <p:cTn id="180" presetID="10" presetClass="entr" presetSubtype="0" fill="hold" grpId="0" nodeType="withEffect">
                                  <p:stCondLst>
                                    <p:cond delay="200"/>
                                  </p:stCondLst>
                                  <p:childTnLst>
                                    <p:set>
                                      <p:cBhvr>
                                        <p:cTn id="181" dur="1" fill="hold">
                                          <p:stCondLst>
                                            <p:cond delay="0"/>
                                          </p:stCondLst>
                                        </p:cTn>
                                        <p:tgtEl>
                                          <p:spTgt spid="29"/>
                                        </p:tgtEl>
                                        <p:attrNameLst>
                                          <p:attrName>style.visibility</p:attrName>
                                        </p:attrNameLst>
                                      </p:cBhvr>
                                      <p:to>
                                        <p:strVal val="visible"/>
                                      </p:to>
                                    </p:set>
                                    <p:animEffect transition="in" filter="fade">
                                      <p:cBhvr>
                                        <p:cTn id="182" dur="400"/>
                                        <p:tgtEl>
                                          <p:spTgt spid="29"/>
                                        </p:tgtEl>
                                      </p:cBhvr>
                                    </p:animEffect>
                                  </p:childTnLst>
                                </p:cTn>
                              </p:par>
                              <p:par>
                                <p:cTn id="183" presetID="10" presetClass="entr" presetSubtype="0" fill="hold" grpId="0" nodeType="withEffect">
                                  <p:stCondLst>
                                    <p:cond delay="200"/>
                                  </p:stCondLst>
                                  <p:childTnLst>
                                    <p:set>
                                      <p:cBhvr>
                                        <p:cTn id="184" dur="1" fill="hold">
                                          <p:stCondLst>
                                            <p:cond delay="0"/>
                                          </p:stCondLst>
                                        </p:cTn>
                                        <p:tgtEl>
                                          <p:spTgt spid="30"/>
                                        </p:tgtEl>
                                        <p:attrNameLst>
                                          <p:attrName>style.visibility</p:attrName>
                                        </p:attrNameLst>
                                      </p:cBhvr>
                                      <p:to>
                                        <p:strVal val="visible"/>
                                      </p:to>
                                    </p:set>
                                    <p:animEffect transition="in" filter="fade">
                                      <p:cBhvr>
                                        <p:cTn id="185" dur="400"/>
                                        <p:tgtEl>
                                          <p:spTgt spid="30"/>
                                        </p:tgtEl>
                                      </p:cBhvr>
                                    </p:animEffect>
                                  </p:childTnLst>
                                </p:cTn>
                              </p:par>
                              <p:par>
                                <p:cTn id="186" presetID="10" presetClass="entr" presetSubtype="0" fill="hold" grpId="0" nodeType="withEffect">
                                  <p:stCondLst>
                                    <p:cond delay="200"/>
                                  </p:stCondLst>
                                  <p:childTnLst>
                                    <p:set>
                                      <p:cBhvr>
                                        <p:cTn id="187" dur="1" fill="hold">
                                          <p:stCondLst>
                                            <p:cond delay="0"/>
                                          </p:stCondLst>
                                        </p:cTn>
                                        <p:tgtEl>
                                          <p:spTgt spid="31"/>
                                        </p:tgtEl>
                                        <p:attrNameLst>
                                          <p:attrName>style.visibility</p:attrName>
                                        </p:attrNameLst>
                                      </p:cBhvr>
                                      <p:to>
                                        <p:strVal val="visible"/>
                                      </p:to>
                                    </p:set>
                                    <p:animEffect transition="in" filter="fade">
                                      <p:cBhvr>
                                        <p:cTn id="188" dur="400"/>
                                        <p:tgtEl>
                                          <p:spTgt spid="31"/>
                                        </p:tgtEl>
                                      </p:cBhvr>
                                    </p:animEffect>
                                  </p:childTnLst>
                                </p:cTn>
                              </p:par>
                              <p:par>
                                <p:cTn id="189" presetID="10" presetClass="entr" presetSubtype="0" fill="hold" grpId="0" nodeType="withEffect">
                                  <p:stCondLst>
                                    <p:cond delay="200"/>
                                  </p:stCondLst>
                                  <p:childTnLst>
                                    <p:set>
                                      <p:cBhvr>
                                        <p:cTn id="190" dur="1" fill="hold">
                                          <p:stCondLst>
                                            <p:cond delay="0"/>
                                          </p:stCondLst>
                                        </p:cTn>
                                        <p:tgtEl>
                                          <p:spTgt spid="32"/>
                                        </p:tgtEl>
                                        <p:attrNameLst>
                                          <p:attrName>style.visibility</p:attrName>
                                        </p:attrNameLst>
                                      </p:cBhvr>
                                      <p:to>
                                        <p:strVal val="visible"/>
                                      </p:to>
                                    </p:set>
                                    <p:animEffect transition="in" filter="fade">
                                      <p:cBhvr>
                                        <p:cTn id="191" dur="400"/>
                                        <p:tgtEl>
                                          <p:spTgt spid="32"/>
                                        </p:tgtEl>
                                      </p:cBhvr>
                                    </p:animEffect>
                                  </p:childTnLst>
                                </p:cTn>
                              </p:par>
                              <p:par>
                                <p:cTn id="192" presetID="10" presetClass="entr" presetSubtype="0" fill="hold" grpId="0" nodeType="withEffect">
                                  <p:stCondLst>
                                    <p:cond delay="200"/>
                                  </p:stCondLst>
                                  <p:childTnLst>
                                    <p:set>
                                      <p:cBhvr>
                                        <p:cTn id="193" dur="1" fill="hold">
                                          <p:stCondLst>
                                            <p:cond delay="0"/>
                                          </p:stCondLst>
                                        </p:cTn>
                                        <p:tgtEl>
                                          <p:spTgt spid="33"/>
                                        </p:tgtEl>
                                        <p:attrNameLst>
                                          <p:attrName>style.visibility</p:attrName>
                                        </p:attrNameLst>
                                      </p:cBhvr>
                                      <p:to>
                                        <p:strVal val="visible"/>
                                      </p:to>
                                    </p:set>
                                    <p:animEffect transition="in" filter="fade">
                                      <p:cBhvr>
                                        <p:cTn id="194" dur="400"/>
                                        <p:tgtEl>
                                          <p:spTgt spid="33"/>
                                        </p:tgtEl>
                                      </p:cBhvr>
                                    </p:animEffect>
                                  </p:childTnLst>
                                </p:cTn>
                              </p:par>
                              <p:par>
                                <p:cTn id="195" presetID="10" presetClass="entr" presetSubtype="0" fill="hold" grpId="0" nodeType="withEffect">
                                  <p:stCondLst>
                                    <p:cond delay="200"/>
                                  </p:stCondLst>
                                  <p:childTnLst>
                                    <p:set>
                                      <p:cBhvr>
                                        <p:cTn id="196" dur="1" fill="hold">
                                          <p:stCondLst>
                                            <p:cond delay="0"/>
                                          </p:stCondLst>
                                        </p:cTn>
                                        <p:tgtEl>
                                          <p:spTgt spid="34"/>
                                        </p:tgtEl>
                                        <p:attrNameLst>
                                          <p:attrName>style.visibility</p:attrName>
                                        </p:attrNameLst>
                                      </p:cBhvr>
                                      <p:to>
                                        <p:strVal val="visible"/>
                                      </p:to>
                                    </p:set>
                                    <p:animEffect transition="in" filter="fade">
                                      <p:cBhvr>
                                        <p:cTn id="197" dur="400"/>
                                        <p:tgtEl>
                                          <p:spTgt spid="34"/>
                                        </p:tgtEl>
                                      </p:cBhvr>
                                    </p:animEffect>
                                  </p:childTnLst>
                                </p:cTn>
                              </p:par>
                              <p:par>
                                <p:cTn id="198" presetID="10" presetClass="entr" presetSubtype="0" fill="hold" grpId="0" nodeType="withEffect">
                                  <p:stCondLst>
                                    <p:cond delay="200"/>
                                  </p:stCondLst>
                                  <p:childTnLst>
                                    <p:set>
                                      <p:cBhvr>
                                        <p:cTn id="199" dur="1" fill="hold">
                                          <p:stCondLst>
                                            <p:cond delay="0"/>
                                          </p:stCondLst>
                                        </p:cTn>
                                        <p:tgtEl>
                                          <p:spTgt spid="35"/>
                                        </p:tgtEl>
                                        <p:attrNameLst>
                                          <p:attrName>style.visibility</p:attrName>
                                        </p:attrNameLst>
                                      </p:cBhvr>
                                      <p:to>
                                        <p:strVal val="visible"/>
                                      </p:to>
                                    </p:set>
                                    <p:animEffect transition="in" filter="fade">
                                      <p:cBhvr>
                                        <p:cTn id="200" dur="400"/>
                                        <p:tgtEl>
                                          <p:spTgt spid="35"/>
                                        </p:tgtEl>
                                      </p:cBhvr>
                                    </p:animEffect>
                                  </p:childTnLst>
                                </p:cTn>
                              </p:par>
                              <p:par>
                                <p:cTn id="201" presetID="10" presetClass="entr" presetSubtype="0" fill="hold" grpId="0" nodeType="withEffect">
                                  <p:stCondLst>
                                    <p:cond delay="200"/>
                                  </p:stCondLst>
                                  <p:childTnLst>
                                    <p:set>
                                      <p:cBhvr>
                                        <p:cTn id="202" dur="1" fill="hold">
                                          <p:stCondLst>
                                            <p:cond delay="0"/>
                                          </p:stCondLst>
                                        </p:cTn>
                                        <p:tgtEl>
                                          <p:spTgt spid="36"/>
                                        </p:tgtEl>
                                        <p:attrNameLst>
                                          <p:attrName>style.visibility</p:attrName>
                                        </p:attrNameLst>
                                      </p:cBhvr>
                                      <p:to>
                                        <p:strVal val="visible"/>
                                      </p:to>
                                    </p:set>
                                    <p:animEffect transition="in" filter="fade">
                                      <p:cBhvr>
                                        <p:cTn id="203" dur="400"/>
                                        <p:tgtEl>
                                          <p:spTgt spid="36"/>
                                        </p:tgtEl>
                                      </p:cBhvr>
                                    </p:animEffect>
                                  </p:childTnLst>
                                </p:cTn>
                              </p:par>
                              <p:par>
                                <p:cTn id="204" presetID="10" presetClass="entr" presetSubtype="0" fill="hold" grpId="0" nodeType="withEffect">
                                  <p:stCondLst>
                                    <p:cond delay="200"/>
                                  </p:stCondLst>
                                  <p:childTnLst>
                                    <p:set>
                                      <p:cBhvr>
                                        <p:cTn id="205" dur="1" fill="hold">
                                          <p:stCondLst>
                                            <p:cond delay="0"/>
                                          </p:stCondLst>
                                        </p:cTn>
                                        <p:tgtEl>
                                          <p:spTgt spid="37"/>
                                        </p:tgtEl>
                                        <p:attrNameLst>
                                          <p:attrName>style.visibility</p:attrName>
                                        </p:attrNameLst>
                                      </p:cBhvr>
                                      <p:to>
                                        <p:strVal val="visible"/>
                                      </p:to>
                                    </p:set>
                                    <p:animEffect transition="in" filter="fade">
                                      <p:cBhvr>
                                        <p:cTn id="206" dur="400"/>
                                        <p:tgtEl>
                                          <p:spTgt spid="37"/>
                                        </p:tgtEl>
                                      </p:cBhvr>
                                    </p:animEffect>
                                  </p:childTnLst>
                                </p:cTn>
                              </p:par>
                              <p:par>
                                <p:cTn id="207" presetID="10" presetClass="entr" presetSubtype="0" fill="hold" grpId="0" nodeType="withEffect">
                                  <p:stCondLst>
                                    <p:cond delay="200"/>
                                  </p:stCondLst>
                                  <p:childTnLst>
                                    <p:set>
                                      <p:cBhvr>
                                        <p:cTn id="208" dur="1" fill="hold">
                                          <p:stCondLst>
                                            <p:cond delay="0"/>
                                          </p:stCondLst>
                                        </p:cTn>
                                        <p:tgtEl>
                                          <p:spTgt spid="38"/>
                                        </p:tgtEl>
                                        <p:attrNameLst>
                                          <p:attrName>style.visibility</p:attrName>
                                        </p:attrNameLst>
                                      </p:cBhvr>
                                      <p:to>
                                        <p:strVal val="visible"/>
                                      </p:to>
                                    </p:set>
                                    <p:animEffect transition="in" filter="fade">
                                      <p:cBhvr>
                                        <p:cTn id="209" dur="400"/>
                                        <p:tgtEl>
                                          <p:spTgt spid="38"/>
                                        </p:tgtEl>
                                      </p:cBhvr>
                                    </p:animEffect>
                                  </p:childTnLst>
                                </p:cTn>
                              </p:par>
                              <p:par>
                                <p:cTn id="210" presetID="10" presetClass="entr" presetSubtype="0" fill="hold" grpId="0" nodeType="withEffect">
                                  <p:stCondLst>
                                    <p:cond delay="200"/>
                                  </p:stCondLst>
                                  <p:childTnLst>
                                    <p:set>
                                      <p:cBhvr>
                                        <p:cTn id="211" dur="1" fill="hold">
                                          <p:stCondLst>
                                            <p:cond delay="0"/>
                                          </p:stCondLst>
                                        </p:cTn>
                                        <p:tgtEl>
                                          <p:spTgt spid="39"/>
                                        </p:tgtEl>
                                        <p:attrNameLst>
                                          <p:attrName>style.visibility</p:attrName>
                                        </p:attrNameLst>
                                      </p:cBhvr>
                                      <p:to>
                                        <p:strVal val="visible"/>
                                      </p:to>
                                    </p:set>
                                    <p:animEffect transition="in" filter="fade">
                                      <p:cBhvr>
                                        <p:cTn id="212" dur="400"/>
                                        <p:tgtEl>
                                          <p:spTgt spid="39"/>
                                        </p:tgtEl>
                                      </p:cBhvr>
                                    </p:animEffect>
                                  </p:childTnLst>
                                </p:cTn>
                              </p:par>
                              <p:par>
                                <p:cTn id="213" presetID="10" presetClass="entr" presetSubtype="0" fill="hold" grpId="0" nodeType="withEffect">
                                  <p:stCondLst>
                                    <p:cond delay="200"/>
                                  </p:stCondLst>
                                  <p:childTnLst>
                                    <p:set>
                                      <p:cBhvr>
                                        <p:cTn id="214" dur="1" fill="hold">
                                          <p:stCondLst>
                                            <p:cond delay="0"/>
                                          </p:stCondLst>
                                        </p:cTn>
                                        <p:tgtEl>
                                          <p:spTgt spid="40"/>
                                        </p:tgtEl>
                                        <p:attrNameLst>
                                          <p:attrName>style.visibility</p:attrName>
                                        </p:attrNameLst>
                                      </p:cBhvr>
                                      <p:to>
                                        <p:strVal val="visible"/>
                                      </p:to>
                                    </p:set>
                                    <p:animEffect transition="in" filter="fade">
                                      <p:cBhvr>
                                        <p:cTn id="215" dur="400"/>
                                        <p:tgtEl>
                                          <p:spTgt spid="40"/>
                                        </p:tgtEl>
                                      </p:cBhvr>
                                    </p:animEffect>
                                  </p:childTnLst>
                                </p:cTn>
                              </p:par>
                              <p:par>
                                <p:cTn id="216" presetID="10" presetClass="entr" presetSubtype="0" fill="hold" grpId="0" nodeType="withEffect">
                                  <p:stCondLst>
                                    <p:cond delay="200"/>
                                  </p:stCondLst>
                                  <p:childTnLst>
                                    <p:set>
                                      <p:cBhvr>
                                        <p:cTn id="217" dur="1" fill="hold">
                                          <p:stCondLst>
                                            <p:cond delay="0"/>
                                          </p:stCondLst>
                                        </p:cTn>
                                        <p:tgtEl>
                                          <p:spTgt spid="41"/>
                                        </p:tgtEl>
                                        <p:attrNameLst>
                                          <p:attrName>style.visibility</p:attrName>
                                        </p:attrNameLst>
                                      </p:cBhvr>
                                      <p:to>
                                        <p:strVal val="visible"/>
                                      </p:to>
                                    </p:set>
                                    <p:animEffect transition="in" filter="fade">
                                      <p:cBhvr>
                                        <p:cTn id="218" dur="400"/>
                                        <p:tgtEl>
                                          <p:spTgt spid="41"/>
                                        </p:tgtEl>
                                      </p:cBhvr>
                                    </p:animEffect>
                                  </p:childTnLst>
                                </p:cTn>
                              </p:par>
                              <p:par>
                                <p:cTn id="219" presetID="10" presetClass="entr" presetSubtype="0" fill="hold" grpId="0" nodeType="withEffect">
                                  <p:stCondLst>
                                    <p:cond delay="200"/>
                                  </p:stCondLst>
                                  <p:childTnLst>
                                    <p:set>
                                      <p:cBhvr>
                                        <p:cTn id="220" dur="1" fill="hold">
                                          <p:stCondLst>
                                            <p:cond delay="0"/>
                                          </p:stCondLst>
                                        </p:cTn>
                                        <p:tgtEl>
                                          <p:spTgt spid="42"/>
                                        </p:tgtEl>
                                        <p:attrNameLst>
                                          <p:attrName>style.visibility</p:attrName>
                                        </p:attrNameLst>
                                      </p:cBhvr>
                                      <p:to>
                                        <p:strVal val="visible"/>
                                      </p:to>
                                    </p:set>
                                    <p:animEffect transition="in" filter="fade">
                                      <p:cBhvr>
                                        <p:cTn id="221" dur="400"/>
                                        <p:tgtEl>
                                          <p:spTgt spid="42"/>
                                        </p:tgtEl>
                                      </p:cBhvr>
                                    </p:animEffect>
                                  </p:childTnLst>
                                </p:cTn>
                              </p:par>
                              <p:par>
                                <p:cTn id="222" presetID="10" presetClass="entr" presetSubtype="0" fill="hold" grpId="0" nodeType="withEffect">
                                  <p:stCondLst>
                                    <p:cond delay="200"/>
                                  </p:stCondLst>
                                  <p:childTnLst>
                                    <p:set>
                                      <p:cBhvr>
                                        <p:cTn id="223" dur="1" fill="hold">
                                          <p:stCondLst>
                                            <p:cond delay="0"/>
                                          </p:stCondLst>
                                        </p:cTn>
                                        <p:tgtEl>
                                          <p:spTgt spid="43"/>
                                        </p:tgtEl>
                                        <p:attrNameLst>
                                          <p:attrName>style.visibility</p:attrName>
                                        </p:attrNameLst>
                                      </p:cBhvr>
                                      <p:to>
                                        <p:strVal val="visible"/>
                                      </p:to>
                                    </p:set>
                                    <p:animEffect transition="in" filter="fade">
                                      <p:cBhvr>
                                        <p:cTn id="224" dur="400"/>
                                        <p:tgtEl>
                                          <p:spTgt spid="43"/>
                                        </p:tgtEl>
                                      </p:cBhvr>
                                    </p:animEffect>
                                  </p:childTnLst>
                                </p:cTn>
                              </p:par>
                              <p:par>
                                <p:cTn id="225" presetID="10" presetClass="entr" presetSubtype="0" fill="hold" grpId="0" nodeType="withEffect">
                                  <p:stCondLst>
                                    <p:cond delay="200"/>
                                  </p:stCondLst>
                                  <p:childTnLst>
                                    <p:set>
                                      <p:cBhvr>
                                        <p:cTn id="226" dur="1" fill="hold">
                                          <p:stCondLst>
                                            <p:cond delay="0"/>
                                          </p:stCondLst>
                                        </p:cTn>
                                        <p:tgtEl>
                                          <p:spTgt spid="44"/>
                                        </p:tgtEl>
                                        <p:attrNameLst>
                                          <p:attrName>style.visibility</p:attrName>
                                        </p:attrNameLst>
                                      </p:cBhvr>
                                      <p:to>
                                        <p:strVal val="visible"/>
                                      </p:to>
                                    </p:set>
                                    <p:animEffect transition="in" filter="fade">
                                      <p:cBhvr>
                                        <p:cTn id="227" dur="400"/>
                                        <p:tgtEl>
                                          <p:spTgt spid="44"/>
                                        </p:tgtEl>
                                      </p:cBhvr>
                                    </p:animEffect>
                                  </p:childTnLst>
                                </p:cTn>
                              </p:par>
                              <p:par>
                                <p:cTn id="228" presetID="10" presetClass="entr" presetSubtype="0" fill="hold" grpId="0" nodeType="withEffect">
                                  <p:stCondLst>
                                    <p:cond delay="200"/>
                                  </p:stCondLst>
                                  <p:childTnLst>
                                    <p:set>
                                      <p:cBhvr>
                                        <p:cTn id="229" dur="1" fill="hold">
                                          <p:stCondLst>
                                            <p:cond delay="0"/>
                                          </p:stCondLst>
                                        </p:cTn>
                                        <p:tgtEl>
                                          <p:spTgt spid="45"/>
                                        </p:tgtEl>
                                        <p:attrNameLst>
                                          <p:attrName>style.visibility</p:attrName>
                                        </p:attrNameLst>
                                      </p:cBhvr>
                                      <p:to>
                                        <p:strVal val="visible"/>
                                      </p:to>
                                    </p:set>
                                    <p:animEffect transition="in" filter="fade">
                                      <p:cBhvr>
                                        <p:cTn id="230" dur="400"/>
                                        <p:tgtEl>
                                          <p:spTgt spid="45"/>
                                        </p:tgtEl>
                                      </p:cBhvr>
                                    </p:animEffect>
                                  </p:childTnLst>
                                </p:cTn>
                              </p:par>
                              <p:par>
                                <p:cTn id="231" presetID="10" presetClass="entr" presetSubtype="0" fill="hold" grpId="0" nodeType="withEffect">
                                  <p:stCondLst>
                                    <p:cond delay="200"/>
                                  </p:stCondLst>
                                  <p:childTnLst>
                                    <p:set>
                                      <p:cBhvr>
                                        <p:cTn id="232" dur="1" fill="hold">
                                          <p:stCondLst>
                                            <p:cond delay="0"/>
                                          </p:stCondLst>
                                        </p:cTn>
                                        <p:tgtEl>
                                          <p:spTgt spid="46"/>
                                        </p:tgtEl>
                                        <p:attrNameLst>
                                          <p:attrName>style.visibility</p:attrName>
                                        </p:attrNameLst>
                                      </p:cBhvr>
                                      <p:to>
                                        <p:strVal val="visible"/>
                                      </p:to>
                                    </p:set>
                                    <p:animEffect transition="in" filter="fade">
                                      <p:cBhvr>
                                        <p:cTn id="233" dur="400"/>
                                        <p:tgtEl>
                                          <p:spTgt spid="46"/>
                                        </p:tgtEl>
                                      </p:cBhvr>
                                    </p:animEffect>
                                  </p:childTnLst>
                                </p:cTn>
                              </p:par>
                              <p:par>
                                <p:cTn id="234" presetID="10" presetClass="entr" presetSubtype="0" fill="hold" grpId="0" nodeType="withEffect">
                                  <p:stCondLst>
                                    <p:cond delay="200"/>
                                  </p:stCondLst>
                                  <p:childTnLst>
                                    <p:set>
                                      <p:cBhvr>
                                        <p:cTn id="235" dur="1" fill="hold">
                                          <p:stCondLst>
                                            <p:cond delay="0"/>
                                          </p:stCondLst>
                                        </p:cTn>
                                        <p:tgtEl>
                                          <p:spTgt spid="47"/>
                                        </p:tgtEl>
                                        <p:attrNameLst>
                                          <p:attrName>style.visibility</p:attrName>
                                        </p:attrNameLst>
                                      </p:cBhvr>
                                      <p:to>
                                        <p:strVal val="visible"/>
                                      </p:to>
                                    </p:set>
                                    <p:animEffect transition="in" filter="fade">
                                      <p:cBhvr>
                                        <p:cTn id="236" dur="400"/>
                                        <p:tgtEl>
                                          <p:spTgt spid="47"/>
                                        </p:tgtEl>
                                      </p:cBhvr>
                                    </p:animEffect>
                                  </p:childTnLst>
                                </p:cTn>
                              </p:par>
                              <p:par>
                                <p:cTn id="237" presetID="10" presetClass="entr" presetSubtype="0" fill="hold" grpId="0" nodeType="withEffect">
                                  <p:stCondLst>
                                    <p:cond delay="200"/>
                                  </p:stCondLst>
                                  <p:childTnLst>
                                    <p:set>
                                      <p:cBhvr>
                                        <p:cTn id="238" dur="1" fill="hold">
                                          <p:stCondLst>
                                            <p:cond delay="0"/>
                                          </p:stCondLst>
                                        </p:cTn>
                                        <p:tgtEl>
                                          <p:spTgt spid="48"/>
                                        </p:tgtEl>
                                        <p:attrNameLst>
                                          <p:attrName>style.visibility</p:attrName>
                                        </p:attrNameLst>
                                      </p:cBhvr>
                                      <p:to>
                                        <p:strVal val="visible"/>
                                      </p:to>
                                    </p:set>
                                    <p:animEffect transition="in" filter="fade">
                                      <p:cBhvr>
                                        <p:cTn id="239" dur="400"/>
                                        <p:tgtEl>
                                          <p:spTgt spid="48"/>
                                        </p:tgtEl>
                                      </p:cBhvr>
                                    </p:animEffect>
                                  </p:childTnLst>
                                </p:cTn>
                              </p:par>
                              <p:par>
                                <p:cTn id="240" presetID="10" presetClass="entr" presetSubtype="0" fill="hold" grpId="0" nodeType="withEffect">
                                  <p:stCondLst>
                                    <p:cond delay="200"/>
                                  </p:stCondLst>
                                  <p:childTnLst>
                                    <p:set>
                                      <p:cBhvr>
                                        <p:cTn id="241" dur="1" fill="hold">
                                          <p:stCondLst>
                                            <p:cond delay="0"/>
                                          </p:stCondLst>
                                        </p:cTn>
                                        <p:tgtEl>
                                          <p:spTgt spid="49"/>
                                        </p:tgtEl>
                                        <p:attrNameLst>
                                          <p:attrName>style.visibility</p:attrName>
                                        </p:attrNameLst>
                                      </p:cBhvr>
                                      <p:to>
                                        <p:strVal val="visible"/>
                                      </p:to>
                                    </p:set>
                                    <p:animEffect transition="in" filter="fade">
                                      <p:cBhvr>
                                        <p:cTn id="242" dur="400"/>
                                        <p:tgtEl>
                                          <p:spTgt spid="49"/>
                                        </p:tgtEl>
                                      </p:cBhvr>
                                    </p:animEffect>
                                  </p:childTnLst>
                                </p:cTn>
                              </p:par>
                              <p:par>
                                <p:cTn id="243" presetID="10" presetClass="entr" presetSubtype="0" fill="hold" grpId="0" nodeType="withEffect">
                                  <p:stCondLst>
                                    <p:cond delay="200"/>
                                  </p:stCondLst>
                                  <p:childTnLst>
                                    <p:set>
                                      <p:cBhvr>
                                        <p:cTn id="244" dur="1" fill="hold">
                                          <p:stCondLst>
                                            <p:cond delay="0"/>
                                          </p:stCondLst>
                                        </p:cTn>
                                        <p:tgtEl>
                                          <p:spTgt spid="210"/>
                                        </p:tgtEl>
                                        <p:attrNameLst>
                                          <p:attrName>style.visibility</p:attrName>
                                        </p:attrNameLst>
                                      </p:cBhvr>
                                      <p:to>
                                        <p:strVal val="visible"/>
                                      </p:to>
                                    </p:set>
                                    <p:animEffect transition="in" filter="fade">
                                      <p:cBhvr>
                                        <p:cTn id="245" dur="400"/>
                                        <p:tgtEl>
                                          <p:spTgt spid="210"/>
                                        </p:tgtEl>
                                      </p:cBhvr>
                                    </p:animEffect>
                                  </p:childTnLst>
                                </p:cTn>
                              </p:par>
                              <p:par>
                                <p:cTn id="246" presetID="10" presetClass="entr" presetSubtype="0" fill="hold" grpId="0" nodeType="withEffect">
                                  <p:stCondLst>
                                    <p:cond delay="200"/>
                                  </p:stCondLst>
                                  <p:childTnLst>
                                    <p:set>
                                      <p:cBhvr>
                                        <p:cTn id="247" dur="1" fill="hold">
                                          <p:stCondLst>
                                            <p:cond delay="0"/>
                                          </p:stCondLst>
                                        </p:cTn>
                                        <p:tgtEl>
                                          <p:spTgt spid="211"/>
                                        </p:tgtEl>
                                        <p:attrNameLst>
                                          <p:attrName>style.visibility</p:attrName>
                                        </p:attrNameLst>
                                      </p:cBhvr>
                                      <p:to>
                                        <p:strVal val="visible"/>
                                      </p:to>
                                    </p:set>
                                    <p:animEffect transition="in" filter="fade">
                                      <p:cBhvr>
                                        <p:cTn id="248" dur="400"/>
                                        <p:tgtEl>
                                          <p:spTgt spid="211"/>
                                        </p:tgtEl>
                                      </p:cBhvr>
                                    </p:animEffect>
                                  </p:childTnLst>
                                </p:cTn>
                              </p:par>
                              <p:par>
                                <p:cTn id="249" presetID="10" presetClass="entr" presetSubtype="0" fill="hold" grpId="0" nodeType="withEffect">
                                  <p:stCondLst>
                                    <p:cond delay="200"/>
                                  </p:stCondLst>
                                  <p:childTnLst>
                                    <p:set>
                                      <p:cBhvr>
                                        <p:cTn id="250" dur="1" fill="hold">
                                          <p:stCondLst>
                                            <p:cond delay="0"/>
                                          </p:stCondLst>
                                        </p:cTn>
                                        <p:tgtEl>
                                          <p:spTgt spid="212"/>
                                        </p:tgtEl>
                                        <p:attrNameLst>
                                          <p:attrName>style.visibility</p:attrName>
                                        </p:attrNameLst>
                                      </p:cBhvr>
                                      <p:to>
                                        <p:strVal val="visible"/>
                                      </p:to>
                                    </p:set>
                                    <p:animEffect transition="in" filter="fade">
                                      <p:cBhvr>
                                        <p:cTn id="251" dur="400"/>
                                        <p:tgtEl>
                                          <p:spTgt spid="212"/>
                                        </p:tgtEl>
                                      </p:cBhvr>
                                    </p:animEffect>
                                  </p:childTnLst>
                                </p:cTn>
                              </p:par>
                              <p:par>
                                <p:cTn id="252" presetID="10" presetClass="entr" presetSubtype="0" fill="hold" grpId="0" nodeType="withEffect">
                                  <p:stCondLst>
                                    <p:cond delay="200"/>
                                  </p:stCondLst>
                                  <p:childTnLst>
                                    <p:set>
                                      <p:cBhvr>
                                        <p:cTn id="253" dur="1" fill="hold">
                                          <p:stCondLst>
                                            <p:cond delay="0"/>
                                          </p:stCondLst>
                                        </p:cTn>
                                        <p:tgtEl>
                                          <p:spTgt spid="213"/>
                                        </p:tgtEl>
                                        <p:attrNameLst>
                                          <p:attrName>style.visibility</p:attrName>
                                        </p:attrNameLst>
                                      </p:cBhvr>
                                      <p:to>
                                        <p:strVal val="visible"/>
                                      </p:to>
                                    </p:set>
                                    <p:animEffect transition="in" filter="fade">
                                      <p:cBhvr>
                                        <p:cTn id="254" dur="400"/>
                                        <p:tgtEl>
                                          <p:spTgt spid="213"/>
                                        </p:tgtEl>
                                      </p:cBhvr>
                                    </p:animEffect>
                                  </p:childTnLst>
                                </p:cTn>
                              </p:par>
                              <p:par>
                                <p:cTn id="255" presetID="10" presetClass="entr" presetSubtype="0" fill="hold" grpId="0" nodeType="withEffect">
                                  <p:stCondLst>
                                    <p:cond delay="200"/>
                                  </p:stCondLst>
                                  <p:childTnLst>
                                    <p:set>
                                      <p:cBhvr>
                                        <p:cTn id="256" dur="1" fill="hold">
                                          <p:stCondLst>
                                            <p:cond delay="0"/>
                                          </p:stCondLst>
                                        </p:cTn>
                                        <p:tgtEl>
                                          <p:spTgt spid="214"/>
                                        </p:tgtEl>
                                        <p:attrNameLst>
                                          <p:attrName>style.visibility</p:attrName>
                                        </p:attrNameLst>
                                      </p:cBhvr>
                                      <p:to>
                                        <p:strVal val="visible"/>
                                      </p:to>
                                    </p:set>
                                    <p:animEffect transition="in" filter="fade">
                                      <p:cBhvr>
                                        <p:cTn id="257" dur="400"/>
                                        <p:tgtEl>
                                          <p:spTgt spid="214"/>
                                        </p:tgtEl>
                                      </p:cBhvr>
                                    </p:animEffect>
                                  </p:childTnLst>
                                </p:cTn>
                              </p:par>
                              <p:par>
                                <p:cTn id="258" presetID="10" presetClass="entr" presetSubtype="0" fill="hold" grpId="0" nodeType="withEffect">
                                  <p:stCondLst>
                                    <p:cond delay="200"/>
                                  </p:stCondLst>
                                  <p:childTnLst>
                                    <p:set>
                                      <p:cBhvr>
                                        <p:cTn id="259" dur="1" fill="hold">
                                          <p:stCondLst>
                                            <p:cond delay="0"/>
                                          </p:stCondLst>
                                        </p:cTn>
                                        <p:tgtEl>
                                          <p:spTgt spid="215"/>
                                        </p:tgtEl>
                                        <p:attrNameLst>
                                          <p:attrName>style.visibility</p:attrName>
                                        </p:attrNameLst>
                                      </p:cBhvr>
                                      <p:to>
                                        <p:strVal val="visible"/>
                                      </p:to>
                                    </p:set>
                                    <p:animEffect transition="in" filter="fade">
                                      <p:cBhvr>
                                        <p:cTn id="260" dur="400"/>
                                        <p:tgtEl>
                                          <p:spTgt spid="215"/>
                                        </p:tgtEl>
                                      </p:cBhvr>
                                    </p:animEffect>
                                  </p:childTnLst>
                                </p:cTn>
                              </p:par>
                            </p:childTnLst>
                          </p:cTn>
                        </p:par>
                      </p:childTnLst>
                    </p:cTn>
                  </p:par>
                  <p:par>
                    <p:cTn id="653" fill="hold">
                      <p:stCondLst>
                        <p:cond delay="indefinite"/>
                      </p:stCondLst>
                      <p:childTnLst>
                        <p:par>
                          <p:cTn id="654" fill="hold">
                            <p:stCondLst>
                              <p:cond delay="0"/>
                            </p:stCondLst>
                            <p:childTnLst>
                              <p:par>
                                <p:cTn id="261" presetID="10" presetClass="exit" presetSubtype="0" fill="hold" grpId="0" nodeType="clickEffect">
                                  <p:stCondLst>
                                    <p:cond delay="0"/>
                                  </p:stCondLst>
                                  <p:childTnLst>
                                    <p:animEffect transition="out" filter="fade">
                                      <p:cBhvr>
                                        <p:cTn id="262" dur="200"/>
                                        <p:tgtEl>
                                          <p:spTgt spid="144"/>
                                        </p:tgtEl>
                                      </p:cBhvr>
                                    </p:animEffect>
                                    <p:set>
                                      <p:cBhvr>
                                        <p:cTn id="263" dur="1" fill="hold">
                                          <p:stCondLst>
                                            <p:cond delay="199"/>
                                          </p:stCondLst>
                                        </p:cTn>
                                        <p:tgtEl>
                                          <p:spTgt spid="144"/>
                                        </p:tgtEl>
                                        <p:attrNameLst>
                                          <p:attrName>style.visibility</p:attrName>
                                        </p:attrNameLst>
                                      </p:cBhvr>
                                      <p:to>
                                        <p:strVal val="hidden"/>
                                      </p:to>
                                    </p:set>
                                  </p:childTnLst>
                                </p:cTn>
                              </p:par>
                              <p:par>
                                <p:cTn id="264" presetID="10" presetClass="exit" presetSubtype="0" fill="hold" grpId="0" nodeType="withEffect">
                                  <p:stCondLst>
                                    <p:cond delay="0"/>
                                  </p:stCondLst>
                                  <p:childTnLst>
                                    <p:animEffect transition="out" filter="fade">
                                      <p:cBhvr>
                                        <p:cTn id="265" dur="200"/>
                                        <p:tgtEl>
                                          <p:spTgt spid="145"/>
                                        </p:tgtEl>
                                      </p:cBhvr>
                                    </p:animEffect>
                                    <p:set>
                                      <p:cBhvr>
                                        <p:cTn id="266" dur="1" fill="hold">
                                          <p:stCondLst>
                                            <p:cond delay="199"/>
                                          </p:stCondLst>
                                        </p:cTn>
                                        <p:tgtEl>
                                          <p:spTgt spid="145"/>
                                        </p:tgtEl>
                                        <p:attrNameLst>
                                          <p:attrName>style.visibility</p:attrName>
                                        </p:attrNameLst>
                                      </p:cBhvr>
                                      <p:to>
                                        <p:strVal val="hidden"/>
                                      </p:to>
                                    </p:set>
                                  </p:childTnLst>
                                </p:cTn>
                              </p:par>
                              <p:par>
                                <p:cTn id="267" presetID="10" presetClass="exit" presetSubtype="0" fill="hold" grpId="0" nodeType="withEffect">
                                  <p:stCondLst>
                                    <p:cond delay="0"/>
                                  </p:stCondLst>
                                  <p:childTnLst>
                                    <p:animEffect transition="out" filter="fade">
                                      <p:cBhvr>
                                        <p:cTn id="268" dur="200"/>
                                        <p:tgtEl>
                                          <p:spTgt spid="146"/>
                                        </p:tgtEl>
                                      </p:cBhvr>
                                    </p:animEffect>
                                    <p:set>
                                      <p:cBhvr>
                                        <p:cTn id="269" dur="1" fill="hold">
                                          <p:stCondLst>
                                            <p:cond delay="199"/>
                                          </p:stCondLst>
                                        </p:cTn>
                                        <p:tgtEl>
                                          <p:spTgt spid="146"/>
                                        </p:tgtEl>
                                        <p:attrNameLst>
                                          <p:attrName>style.visibility</p:attrName>
                                        </p:attrNameLst>
                                      </p:cBhvr>
                                      <p:to>
                                        <p:strVal val="hidden"/>
                                      </p:to>
                                    </p:set>
                                  </p:childTnLst>
                                </p:cTn>
                              </p:par>
                              <p:par>
                                <p:cTn id="270" presetID="10" presetClass="exit" presetSubtype="0" fill="hold" grpId="0" nodeType="withEffect">
                                  <p:stCondLst>
                                    <p:cond delay="0"/>
                                  </p:stCondLst>
                                  <p:childTnLst>
                                    <p:animEffect transition="out" filter="fade">
                                      <p:cBhvr>
                                        <p:cTn id="271" dur="200"/>
                                        <p:tgtEl>
                                          <p:spTgt spid="147"/>
                                        </p:tgtEl>
                                      </p:cBhvr>
                                    </p:animEffect>
                                    <p:set>
                                      <p:cBhvr>
                                        <p:cTn id="272" dur="1" fill="hold">
                                          <p:stCondLst>
                                            <p:cond delay="199"/>
                                          </p:stCondLst>
                                        </p:cTn>
                                        <p:tgtEl>
                                          <p:spTgt spid="147"/>
                                        </p:tgtEl>
                                        <p:attrNameLst>
                                          <p:attrName>style.visibility</p:attrName>
                                        </p:attrNameLst>
                                      </p:cBhvr>
                                      <p:to>
                                        <p:strVal val="hidden"/>
                                      </p:to>
                                    </p:set>
                                  </p:childTnLst>
                                </p:cTn>
                              </p:par>
                              <p:par>
                                <p:cTn id="273" presetID="10" presetClass="exit" presetSubtype="0" fill="hold" grpId="0" nodeType="withEffect">
                                  <p:stCondLst>
                                    <p:cond delay="0"/>
                                  </p:stCondLst>
                                  <p:childTnLst>
                                    <p:animEffect transition="out" filter="fade">
                                      <p:cBhvr>
                                        <p:cTn id="274" dur="200"/>
                                        <p:tgtEl>
                                          <p:spTgt spid="148"/>
                                        </p:tgtEl>
                                      </p:cBhvr>
                                    </p:animEffect>
                                    <p:set>
                                      <p:cBhvr>
                                        <p:cTn id="275" dur="1" fill="hold">
                                          <p:stCondLst>
                                            <p:cond delay="199"/>
                                          </p:stCondLst>
                                        </p:cTn>
                                        <p:tgtEl>
                                          <p:spTgt spid="148"/>
                                        </p:tgtEl>
                                        <p:attrNameLst>
                                          <p:attrName>style.visibility</p:attrName>
                                        </p:attrNameLst>
                                      </p:cBhvr>
                                      <p:to>
                                        <p:strVal val="hidden"/>
                                      </p:to>
                                    </p:set>
                                  </p:childTnLst>
                                </p:cTn>
                              </p:par>
                              <p:par>
                                <p:cTn id="276" presetID="10" presetClass="exit" presetSubtype="0" fill="hold" grpId="0" nodeType="withEffect">
                                  <p:stCondLst>
                                    <p:cond delay="0"/>
                                  </p:stCondLst>
                                  <p:childTnLst>
                                    <p:animEffect transition="out" filter="fade">
                                      <p:cBhvr>
                                        <p:cTn id="277" dur="200"/>
                                        <p:tgtEl>
                                          <p:spTgt spid="149"/>
                                        </p:tgtEl>
                                      </p:cBhvr>
                                    </p:animEffect>
                                    <p:set>
                                      <p:cBhvr>
                                        <p:cTn id="278" dur="1" fill="hold">
                                          <p:stCondLst>
                                            <p:cond delay="199"/>
                                          </p:stCondLst>
                                        </p:cTn>
                                        <p:tgtEl>
                                          <p:spTgt spid="149"/>
                                        </p:tgtEl>
                                        <p:attrNameLst>
                                          <p:attrName>style.visibility</p:attrName>
                                        </p:attrNameLst>
                                      </p:cBhvr>
                                      <p:to>
                                        <p:strVal val="hidden"/>
                                      </p:to>
                                    </p:set>
                                  </p:childTnLst>
                                </p:cTn>
                              </p:par>
                              <p:par>
                                <p:cTn id="279" presetID="10" presetClass="exit" presetSubtype="0" fill="hold" grpId="0" nodeType="withEffect">
                                  <p:stCondLst>
                                    <p:cond delay="0"/>
                                  </p:stCondLst>
                                  <p:childTnLst>
                                    <p:animEffect transition="out" filter="fade">
                                      <p:cBhvr>
                                        <p:cTn id="280" dur="200"/>
                                        <p:tgtEl>
                                          <p:spTgt spid="150"/>
                                        </p:tgtEl>
                                      </p:cBhvr>
                                    </p:animEffect>
                                    <p:set>
                                      <p:cBhvr>
                                        <p:cTn id="281" dur="1" fill="hold">
                                          <p:stCondLst>
                                            <p:cond delay="199"/>
                                          </p:stCondLst>
                                        </p:cTn>
                                        <p:tgtEl>
                                          <p:spTgt spid="150"/>
                                        </p:tgtEl>
                                        <p:attrNameLst>
                                          <p:attrName>style.visibility</p:attrName>
                                        </p:attrNameLst>
                                      </p:cBhvr>
                                      <p:to>
                                        <p:strVal val="hidden"/>
                                      </p:to>
                                    </p:set>
                                  </p:childTnLst>
                                </p:cTn>
                              </p:par>
                              <p:par>
                                <p:cTn id="282" presetID="10" presetClass="exit" presetSubtype="0" fill="hold" grpId="0" nodeType="withEffect">
                                  <p:stCondLst>
                                    <p:cond delay="0"/>
                                  </p:stCondLst>
                                  <p:childTnLst>
                                    <p:animEffect transition="out" filter="fade">
                                      <p:cBhvr>
                                        <p:cTn id="283" dur="200"/>
                                        <p:tgtEl>
                                          <p:spTgt spid="151"/>
                                        </p:tgtEl>
                                      </p:cBhvr>
                                    </p:animEffect>
                                    <p:set>
                                      <p:cBhvr>
                                        <p:cTn id="284" dur="1" fill="hold">
                                          <p:stCondLst>
                                            <p:cond delay="199"/>
                                          </p:stCondLst>
                                        </p:cTn>
                                        <p:tgtEl>
                                          <p:spTgt spid="151"/>
                                        </p:tgtEl>
                                        <p:attrNameLst>
                                          <p:attrName>style.visibility</p:attrName>
                                        </p:attrNameLst>
                                      </p:cBhvr>
                                      <p:to>
                                        <p:strVal val="hidden"/>
                                      </p:to>
                                    </p:set>
                                  </p:childTnLst>
                                </p:cTn>
                              </p:par>
                              <p:par>
                                <p:cTn id="285" presetID="10" presetClass="exit" presetSubtype="0" fill="hold" grpId="0" nodeType="withEffect">
                                  <p:stCondLst>
                                    <p:cond delay="0"/>
                                  </p:stCondLst>
                                  <p:childTnLst>
                                    <p:animEffect transition="out" filter="fade">
                                      <p:cBhvr>
                                        <p:cTn id="286" dur="200"/>
                                        <p:tgtEl>
                                          <p:spTgt spid="152"/>
                                        </p:tgtEl>
                                      </p:cBhvr>
                                    </p:animEffect>
                                    <p:set>
                                      <p:cBhvr>
                                        <p:cTn id="287" dur="1" fill="hold">
                                          <p:stCondLst>
                                            <p:cond delay="199"/>
                                          </p:stCondLst>
                                        </p:cTn>
                                        <p:tgtEl>
                                          <p:spTgt spid="152"/>
                                        </p:tgtEl>
                                        <p:attrNameLst>
                                          <p:attrName>style.visibility</p:attrName>
                                        </p:attrNameLst>
                                      </p:cBhvr>
                                      <p:to>
                                        <p:strVal val="hidden"/>
                                      </p:to>
                                    </p:set>
                                  </p:childTnLst>
                                </p:cTn>
                              </p:par>
                              <p:par>
                                <p:cTn id="288" presetID="10" presetClass="exit" presetSubtype="0" fill="hold" grpId="0" nodeType="withEffect">
                                  <p:stCondLst>
                                    <p:cond delay="0"/>
                                  </p:stCondLst>
                                  <p:childTnLst>
                                    <p:animEffect transition="out" filter="fade">
                                      <p:cBhvr>
                                        <p:cTn id="289" dur="200"/>
                                        <p:tgtEl>
                                          <p:spTgt spid="153"/>
                                        </p:tgtEl>
                                      </p:cBhvr>
                                    </p:animEffect>
                                    <p:set>
                                      <p:cBhvr>
                                        <p:cTn id="290" dur="1" fill="hold">
                                          <p:stCondLst>
                                            <p:cond delay="199"/>
                                          </p:stCondLst>
                                        </p:cTn>
                                        <p:tgtEl>
                                          <p:spTgt spid="153"/>
                                        </p:tgtEl>
                                        <p:attrNameLst>
                                          <p:attrName>style.visibility</p:attrName>
                                        </p:attrNameLst>
                                      </p:cBhvr>
                                      <p:to>
                                        <p:strVal val="hidden"/>
                                      </p:to>
                                    </p:set>
                                  </p:childTnLst>
                                </p:cTn>
                              </p:par>
                              <p:par>
                                <p:cTn id="291" presetID="10" presetClass="exit" presetSubtype="0" fill="hold" grpId="0" nodeType="withEffect">
                                  <p:stCondLst>
                                    <p:cond delay="0"/>
                                  </p:stCondLst>
                                  <p:childTnLst>
                                    <p:animEffect transition="out" filter="fade">
                                      <p:cBhvr>
                                        <p:cTn id="292" dur="200"/>
                                        <p:tgtEl>
                                          <p:spTgt spid="154"/>
                                        </p:tgtEl>
                                      </p:cBhvr>
                                    </p:animEffect>
                                    <p:set>
                                      <p:cBhvr>
                                        <p:cTn id="293" dur="1" fill="hold">
                                          <p:stCondLst>
                                            <p:cond delay="199"/>
                                          </p:stCondLst>
                                        </p:cTn>
                                        <p:tgtEl>
                                          <p:spTgt spid="154"/>
                                        </p:tgtEl>
                                        <p:attrNameLst>
                                          <p:attrName>style.visibility</p:attrName>
                                        </p:attrNameLst>
                                      </p:cBhvr>
                                      <p:to>
                                        <p:strVal val="hidden"/>
                                      </p:to>
                                    </p:set>
                                  </p:childTnLst>
                                </p:cTn>
                              </p:par>
                              <p:par>
                                <p:cTn id="294" presetID="10" presetClass="exit" presetSubtype="0" fill="hold" grpId="0" nodeType="withEffect">
                                  <p:stCondLst>
                                    <p:cond delay="0"/>
                                  </p:stCondLst>
                                  <p:childTnLst>
                                    <p:animEffect transition="out" filter="fade">
                                      <p:cBhvr>
                                        <p:cTn id="295" dur="200"/>
                                        <p:tgtEl>
                                          <p:spTgt spid="155"/>
                                        </p:tgtEl>
                                      </p:cBhvr>
                                    </p:animEffect>
                                    <p:set>
                                      <p:cBhvr>
                                        <p:cTn id="296" dur="1" fill="hold">
                                          <p:stCondLst>
                                            <p:cond delay="199"/>
                                          </p:stCondLst>
                                        </p:cTn>
                                        <p:tgtEl>
                                          <p:spTgt spid="155"/>
                                        </p:tgtEl>
                                        <p:attrNameLst>
                                          <p:attrName>style.visibility</p:attrName>
                                        </p:attrNameLst>
                                      </p:cBhvr>
                                      <p:to>
                                        <p:strVal val="hidden"/>
                                      </p:to>
                                    </p:set>
                                  </p:childTnLst>
                                </p:cTn>
                              </p:par>
                              <p:par>
                                <p:cTn id="297" presetID="10" presetClass="exit" presetSubtype="0" fill="hold" grpId="0" nodeType="withEffect">
                                  <p:stCondLst>
                                    <p:cond delay="0"/>
                                  </p:stCondLst>
                                  <p:childTnLst>
                                    <p:animEffect transition="out" filter="fade">
                                      <p:cBhvr>
                                        <p:cTn id="298" dur="200"/>
                                        <p:tgtEl>
                                          <p:spTgt spid="156"/>
                                        </p:tgtEl>
                                      </p:cBhvr>
                                    </p:animEffect>
                                    <p:set>
                                      <p:cBhvr>
                                        <p:cTn id="299" dur="1" fill="hold">
                                          <p:stCondLst>
                                            <p:cond delay="199"/>
                                          </p:stCondLst>
                                        </p:cTn>
                                        <p:tgtEl>
                                          <p:spTgt spid="156"/>
                                        </p:tgtEl>
                                        <p:attrNameLst>
                                          <p:attrName>style.visibility</p:attrName>
                                        </p:attrNameLst>
                                      </p:cBhvr>
                                      <p:to>
                                        <p:strVal val="hidden"/>
                                      </p:to>
                                    </p:set>
                                  </p:childTnLst>
                                </p:cTn>
                              </p:par>
                              <p:par>
                                <p:cTn id="300" presetID="10" presetClass="exit" presetSubtype="0" fill="hold" grpId="0" nodeType="withEffect">
                                  <p:stCondLst>
                                    <p:cond delay="0"/>
                                  </p:stCondLst>
                                  <p:childTnLst>
                                    <p:animEffect transition="out" filter="fade">
                                      <p:cBhvr>
                                        <p:cTn id="301" dur="200"/>
                                        <p:tgtEl>
                                          <p:spTgt spid="157"/>
                                        </p:tgtEl>
                                      </p:cBhvr>
                                    </p:animEffect>
                                    <p:set>
                                      <p:cBhvr>
                                        <p:cTn id="302" dur="1" fill="hold">
                                          <p:stCondLst>
                                            <p:cond delay="199"/>
                                          </p:stCondLst>
                                        </p:cTn>
                                        <p:tgtEl>
                                          <p:spTgt spid="157"/>
                                        </p:tgtEl>
                                        <p:attrNameLst>
                                          <p:attrName>style.visibility</p:attrName>
                                        </p:attrNameLst>
                                      </p:cBhvr>
                                      <p:to>
                                        <p:strVal val="hidden"/>
                                      </p:to>
                                    </p:set>
                                  </p:childTnLst>
                                </p:cTn>
                              </p:par>
                              <p:par>
                                <p:cTn id="303" presetID="10" presetClass="exit" presetSubtype="0" fill="hold" grpId="0" nodeType="withEffect">
                                  <p:stCondLst>
                                    <p:cond delay="0"/>
                                  </p:stCondLst>
                                  <p:childTnLst>
                                    <p:animEffect transition="out" filter="fade">
                                      <p:cBhvr>
                                        <p:cTn id="304" dur="200"/>
                                        <p:tgtEl>
                                          <p:spTgt spid="158"/>
                                        </p:tgtEl>
                                      </p:cBhvr>
                                    </p:animEffect>
                                    <p:set>
                                      <p:cBhvr>
                                        <p:cTn id="305" dur="1" fill="hold">
                                          <p:stCondLst>
                                            <p:cond delay="199"/>
                                          </p:stCondLst>
                                        </p:cTn>
                                        <p:tgtEl>
                                          <p:spTgt spid="158"/>
                                        </p:tgtEl>
                                        <p:attrNameLst>
                                          <p:attrName>style.visibility</p:attrName>
                                        </p:attrNameLst>
                                      </p:cBhvr>
                                      <p:to>
                                        <p:strVal val="hidden"/>
                                      </p:to>
                                    </p:set>
                                  </p:childTnLst>
                                </p:cTn>
                              </p:par>
                              <p:par>
                                <p:cTn id="306" presetID="10" presetClass="exit" presetSubtype="0" fill="hold" grpId="0" nodeType="withEffect">
                                  <p:stCondLst>
                                    <p:cond delay="0"/>
                                  </p:stCondLst>
                                  <p:childTnLst>
                                    <p:animEffect transition="out" filter="fade">
                                      <p:cBhvr>
                                        <p:cTn id="307" dur="200"/>
                                        <p:tgtEl>
                                          <p:spTgt spid="159"/>
                                        </p:tgtEl>
                                      </p:cBhvr>
                                    </p:animEffect>
                                    <p:set>
                                      <p:cBhvr>
                                        <p:cTn id="308" dur="1" fill="hold">
                                          <p:stCondLst>
                                            <p:cond delay="199"/>
                                          </p:stCondLst>
                                        </p:cTn>
                                        <p:tgtEl>
                                          <p:spTgt spid="159"/>
                                        </p:tgtEl>
                                        <p:attrNameLst>
                                          <p:attrName>style.visibility</p:attrName>
                                        </p:attrNameLst>
                                      </p:cBhvr>
                                      <p:to>
                                        <p:strVal val="hidden"/>
                                      </p:to>
                                    </p:set>
                                  </p:childTnLst>
                                </p:cTn>
                              </p:par>
                              <p:par>
                                <p:cTn id="309" presetID="10" presetClass="exit" presetSubtype="0" fill="hold" grpId="0" nodeType="withEffect">
                                  <p:stCondLst>
                                    <p:cond delay="0"/>
                                  </p:stCondLst>
                                  <p:childTnLst>
                                    <p:animEffect transition="out" filter="fade">
                                      <p:cBhvr>
                                        <p:cTn id="310" dur="200"/>
                                        <p:tgtEl>
                                          <p:spTgt spid="160"/>
                                        </p:tgtEl>
                                      </p:cBhvr>
                                    </p:animEffect>
                                    <p:set>
                                      <p:cBhvr>
                                        <p:cTn id="311" dur="1" fill="hold">
                                          <p:stCondLst>
                                            <p:cond delay="199"/>
                                          </p:stCondLst>
                                        </p:cTn>
                                        <p:tgtEl>
                                          <p:spTgt spid="160"/>
                                        </p:tgtEl>
                                        <p:attrNameLst>
                                          <p:attrName>style.visibility</p:attrName>
                                        </p:attrNameLst>
                                      </p:cBhvr>
                                      <p:to>
                                        <p:strVal val="hidden"/>
                                      </p:to>
                                    </p:set>
                                  </p:childTnLst>
                                </p:cTn>
                              </p:par>
                              <p:par>
                                <p:cTn id="312" presetID="10" presetClass="exit" presetSubtype="0" fill="hold" grpId="0" nodeType="withEffect">
                                  <p:stCondLst>
                                    <p:cond delay="0"/>
                                  </p:stCondLst>
                                  <p:childTnLst>
                                    <p:animEffect transition="out" filter="fade">
                                      <p:cBhvr>
                                        <p:cTn id="313" dur="200"/>
                                        <p:tgtEl>
                                          <p:spTgt spid="161"/>
                                        </p:tgtEl>
                                      </p:cBhvr>
                                    </p:animEffect>
                                    <p:set>
                                      <p:cBhvr>
                                        <p:cTn id="314" dur="1" fill="hold">
                                          <p:stCondLst>
                                            <p:cond delay="199"/>
                                          </p:stCondLst>
                                        </p:cTn>
                                        <p:tgtEl>
                                          <p:spTgt spid="161"/>
                                        </p:tgtEl>
                                        <p:attrNameLst>
                                          <p:attrName>style.visibility</p:attrName>
                                        </p:attrNameLst>
                                      </p:cBhvr>
                                      <p:to>
                                        <p:strVal val="hidden"/>
                                      </p:to>
                                    </p:set>
                                  </p:childTnLst>
                                </p:cTn>
                              </p:par>
                              <p:par>
                                <p:cTn id="315" presetID="10" presetClass="exit" presetSubtype="0" fill="hold" grpId="0" nodeType="withEffect">
                                  <p:stCondLst>
                                    <p:cond delay="0"/>
                                  </p:stCondLst>
                                  <p:childTnLst>
                                    <p:animEffect transition="out" filter="fade">
                                      <p:cBhvr>
                                        <p:cTn id="316" dur="200"/>
                                        <p:tgtEl>
                                          <p:spTgt spid="162"/>
                                        </p:tgtEl>
                                      </p:cBhvr>
                                    </p:animEffect>
                                    <p:set>
                                      <p:cBhvr>
                                        <p:cTn id="317" dur="1" fill="hold">
                                          <p:stCondLst>
                                            <p:cond delay="199"/>
                                          </p:stCondLst>
                                        </p:cTn>
                                        <p:tgtEl>
                                          <p:spTgt spid="162"/>
                                        </p:tgtEl>
                                        <p:attrNameLst>
                                          <p:attrName>style.visibility</p:attrName>
                                        </p:attrNameLst>
                                      </p:cBhvr>
                                      <p:to>
                                        <p:strVal val="hidden"/>
                                      </p:to>
                                    </p:set>
                                  </p:childTnLst>
                                </p:cTn>
                              </p:par>
                              <p:par>
                                <p:cTn id="318" presetID="10" presetClass="exit" presetSubtype="0" fill="hold" grpId="0" nodeType="withEffect">
                                  <p:stCondLst>
                                    <p:cond delay="0"/>
                                  </p:stCondLst>
                                  <p:childTnLst>
                                    <p:animEffect transition="out" filter="fade">
                                      <p:cBhvr>
                                        <p:cTn id="319" dur="200"/>
                                        <p:tgtEl>
                                          <p:spTgt spid="163"/>
                                        </p:tgtEl>
                                      </p:cBhvr>
                                    </p:animEffect>
                                    <p:set>
                                      <p:cBhvr>
                                        <p:cTn id="320" dur="1" fill="hold">
                                          <p:stCondLst>
                                            <p:cond delay="199"/>
                                          </p:stCondLst>
                                        </p:cTn>
                                        <p:tgtEl>
                                          <p:spTgt spid="163"/>
                                        </p:tgtEl>
                                        <p:attrNameLst>
                                          <p:attrName>style.visibility</p:attrName>
                                        </p:attrNameLst>
                                      </p:cBhvr>
                                      <p:to>
                                        <p:strVal val="hidden"/>
                                      </p:to>
                                    </p:set>
                                  </p:childTnLst>
                                </p:cTn>
                              </p:par>
                              <p:par>
                                <p:cTn id="321" presetID="10" presetClass="exit" presetSubtype="0" fill="hold" grpId="0" nodeType="withEffect">
                                  <p:stCondLst>
                                    <p:cond delay="0"/>
                                  </p:stCondLst>
                                  <p:childTnLst>
                                    <p:animEffect transition="out" filter="fade">
                                      <p:cBhvr>
                                        <p:cTn id="322" dur="200"/>
                                        <p:tgtEl>
                                          <p:spTgt spid="164"/>
                                        </p:tgtEl>
                                      </p:cBhvr>
                                    </p:animEffect>
                                    <p:set>
                                      <p:cBhvr>
                                        <p:cTn id="323" dur="1" fill="hold">
                                          <p:stCondLst>
                                            <p:cond delay="199"/>
                                          </p:stCondLst>
                                        </p:cTn>
                                        <p:tgtEl>
                                          <p:spTgt spid="164"/>
                                        </p:tgtEl>
                                        <p:attrNameLst>
                                          <p:attrName>style.visibility</p:attrName>
                                        </p:attrNameLst>
                                      </p:cBhvr>
                                      <p:to>
                                        <p:strVal val="hidden"/>
                                      </p:to>
                                    </p:set>
                                  </p:childTnLst>
                                </p:cTn>
                              </p:par>
                              <p:par>
                                <p:cTn id="324" presetID="10" presetClass="exit" presetSubtype="0" fill="hold" grpId="0" nodeType="withEffect">
                                  <p:stCondLst>
                                    <p:cond delay="0"/>
                                  </p:stCondLst>
                                  <p:childTnLst>
                                    <p:animEffect transition="out" filter="fade">
                                      <p:cBhvr>
                                        <p:cTn id="325" dur="200"/>
                                        <p:tgtEl>
                                          <p:spTgt spid="165"/>
                                        </p:tgtEl>
                                      </p:cBhvr>
                                    </p:animEffect>
                                    <p:set>
                                      <p:cBhvr>
                                        <p:cTn id="326" dur="1" fill="hold">
                                          <p:stCondLst>
                                            <p:cond delay="199"/>
                                          </p:stCondLst>
                                        </p:cTn>
                                        <p:tgtEl>
                                          <p:spTgt spid="165"/>
                                        </p:tgtEl>
                                        <p:attrNameLst>
                                          <p:attrName>style.visibility</p:attrName>
                                        </p:attrNameLst>
                                      </p:cBhvr>
                                      <p:to>
                                        <p:strVal val="hidden"/>
                                      </p:to>
                                    </p:set>
                                  </p:childTnLst>
                                </p:cTn>
                              </p:par>
                              <p:par>
                                <p:cTn id="327" presetID="10" presetClass="exit" presetSubtype="0" fill="hold" grpId="0" nodeType="withEffect">
                                  <p:stCondLst>
                                    <p:cond delay="0"/>
                                  </p:stCondLst>
                                  <p:childTnLst>
                                    <p:animEffect transition="out" filter="fade">
                                      <p:cBhvr>
                                        <p:cTn id="328" dur="200"/>
                                        <p:tgtEl>
                                          <p:spTgt spid="166"/>
                                        </p:tgtEl>
                                      </p:cBhvr>
                                    </p:animEffect>
                                    <p:set>
                                      <p:cBhvr>
                                        <p:cTn id="329" dur="1" fill="hold">
                                          <p:stCondLst>
                                            <p:cond delay="199"/>
                                          </p:stCondLst>
                                        </p:cTn>
                                        <p:tgtEl>
                                          <p:spTgt spid="166"/>
                                        </p:tgtEl>
                                        <p:attrNameLst>
                                          <p:attrName>style.visibility</p:attrName>
                                        </p:attrNameLst>
                                      </p:cBhvr>
                                      <p:to>
                                        <p:strVal val="hidden"/>
                                      </p:to>
                                    </p:set>
                                  </p:childTnLst>
                                </p:cTn>
                              </p:par>
                              <p:par>
                                <p:cTn id="330" presetID="10" presetClass="exit" presetSubtype="0" fill="hold" grpId="0" nodeType="withEffect">
                                  <p:stCondLst>
                                    <p:cond delay="0"/>
                                  </p:stCondLst>
                                  <p:childTnLst>
                                    <p:animEffect transition="out" filter="fade">
                                      <p:cBhvr>
                                        <p:cTn id="331" dur="200"/>
                                        <p:tgtEl>
                                          <p:spTgt spid="167"/>
                                        </p:tgtEl>
                                      </p:cBhvr>
                                    </p:animEffect>
                                    <p:set>
                                      <p:cBhvr>
                                        <p:cTn id="332" dur="1" fill="hold">
                                          <p:stCondLst>
                                            <p:cond delay="199"/>
                                          </p:stCondLst>
                                        </p:cTn>
                                        <p:tgtEl>
                                          <p:spTgt spid="167"/>
                                        </p:tgtEl>
                                        <p:attrNameLst>
                                          <p:attrName>style.visibility</p:attrName>
                                        </p:attrNameLst>
                                      </p:cBhvr>
                                      <p:to>
                                        <p:strVal val="hidden"/>
                                      </p:to>
                                    </p:set>
                                  </p:childTnLst>
                                </p:cTn>
                              </p:par>
                              <p:par>
                                <p:cTn id="333" presetID="10" presetClass="exit" presetSubtype="0" fill="hold" grpId="0" nodeType="withEffect">
                                  <p:stCondLst>
                                    <p:cond delay="0"/>
                                  </p:stCondLst>
                                  <p:childTnLst>
                                    <p:animEffect transition="out" filter="fade">
                                      <p:cBhvr>
                                        <p:cTn id="334" dur="200"/>
                                        <p:tgtEl>
                                          <p:spTgt spid="168"/>
                                        </p:tgtEl>
                                      </p:cBhvr>
                                    </p:animEffect>
                                    <p:set>
                                      <p:cBhvr>
                                        <p:cTn id="335" dur="1" fill="hold">
                                          <p:stCondLst>
                                            <p:cond delay="199"/>
                                          </p:stCondLst>
                                        </p:cTn>
                                        <p:tgtEl>
                                          <p:spTgt spid="168"/>
                                        </p:tgtEl>
                                        <p:attrNameLst>
                                          <p:attrName>style.visibility</p:attrName>
                                        </p:attrNameLst>
                                      </p:cBhvr>
                                      <p:to>
                                        <p:strVal val="hidden"/>
                                      </p:to>
                                    </p:set>
                                  </p:childTnLst>
                                </p:cTn>
                              </p:par>
                              <p:par>
                                <p:cTn id="336" presetID="10" presetClass="exit" presetSubtype="0" fill="hold" grpId="0" nodeType="withEffect">
                                  <p:stCondLst>
                                    <p:cond delay="0"/>
                                  </p:stCondLst>
                                  <p:childTnLst>
                                    <p:animEffect transition="out" filter="fade">
                                      <p:cBhvr>
                                        <p:cTn id="337" dur="200"/>
                                        <p:tgtEl>
                                          <p:spTgt spid="169"/>
                                        </p:tgtEl>
                                      </p:cBhvr>
                                    </p:animEffect>
                                    <p:set>
                                      <p:cBhvr>
                                        <p:cTn id="338" dur="1" fill="hold">
                                          <p:stCondLst>
                                            <p:cond delay="199"/>
                                          </p:stCondLst>
                                        </p:cTn>
                                        <p:tgtEl>
                                          <p:spTgt spid="169"/>
                                        </p:tgtEl>
                                        <p:attrNameLst>
                                          <p:attrName>style.visibility</p:attrName>
                                        </p:attrNameLst>
                                      </p:cBhvr>
                                      <p:to>
                                        <p:strVal val="hidden"/>
                                      </p:to>
                                    </p:set>
                                  </p:childTnLst>
                                </p:cTn>
                              </p:par>
                              <p:par>
                                <p:cTn id="339" presetID="10" presetClass="exit" presetSubtype="0" fill="hold" grpId="0" nodeType="withEffect">
                                  <p:stCondLst>
                                    <p:cond delay="0"/>
                                  </p:stCondLst>
                                  <p:childTnLst>
                                    <p:animEffect transition="out" filter="fade">
                                      <p:cBhvr>
                                        <p:cTn id="340" dur="200"/>
                                        <p:tgtEl>
                                          <p:spTgt spid="170"/>
                                        </p:tgtEl>
                                      </p:cBhvr>
                                    </p:animEffect>
                                    <p:set>
                                      <p:cBhvr>
                                        <p:cTn id="341" dur="1" fill="hold">
                                          <p:stCondLst>
                                            <p:cond delay="199"/>
                                          </p:stCondLst>
                                        </p:cTn>
                                        <p:tgtEl>
                                          <p:spTgt spid="170"/>
                                        </p:tgtEl>
                                        <p:attrNameLst>
                                          <p:attrName>style.visibility</p:attrName>
                                        </p:attrNameLst>
                                      </p:cBhvr>
                                      <p:to>
                                        <p:strVal val="hidden"/>
                                      </p:to>
                                    </p:set>
                                  </p:childTnLst>
                                </p:cTn>
                              </p:par>
                              <p:par>
                                <p:cTn id="342" presetID="10" presetClass="exit" presetSubtype="0" fill="hold" grpId="0" nodeType="withEffect">
                                  <p:stCondLst>
                                    <p:cond delay="0"/>
                                  </p:stCondLst>
                                  <p:childTnLst>
                                    <p:animEffect transition="out" filter="fade">
                                      <p:cBhvr>
                                        <p:cTn id="343" dur="200"/>
                                        <p:tgtEl>
                                          <p:spTgt spid="171"/>
                                        </p:tgtEl>
                                      </p:cBhvr>
                                    </p:animEffect>
                                    <p:set>
                                      <p:cBhvr>
                                        <p:cTn id="344" dur="1" fill="hold">
                                          <p:stCondLst>
                                            <p:cond delay="199"/>
                                          </p:stCondLst>
                                        </p:cTn>
                                        <p:tgtEl>
                                          <p:spTgt spid="171"/>
                                        </p:tgtEl>
                                        <p:attrNameLst>
                                          <p:attrName>style.visibility</p:attrName>
                                        </p:attrNameLst>
                                      </p:cBhvr>
                                      <p:to>
                                        <p:strVal val="hidden"/>
                                      </p:to>
                                    </p:set>
                                  </p:childTnLst>
                                </p:cTn>
                              </p:par>
                              <p:par>
                                <p:cTn id="345" presetID="10" presetClass="exit" presetSubtype="0" fill="hold" grpId="0" nodeType="withEffect">
                                  <p:stCondLst>
                                    <p:cond delay="0"/>
                                  </p:stCondLst>
                                  <p:childTnLst>
                                    <p:animEffect transition="out" filter="fade">
                                      <p:cBhvr>
                                        <p:cTn id="346" dur="200"/>
                                        <p:tgtEl>
                                          <p:spTgt spid="172"/>
                                        </p:tgtEl>
                                      </p:cBhvr>
                                    </p:animEffect>
                                    <p:set>
                                      <p:cBhvr>
                                        <p:cTn id="347" dur="1" fill="hold">
                                          <p:stCondLst>
                                            <p:cond delay="199"/>
                                          </p:stCondLst>
                                        </p:cTn>
                                        <p:tgtEl>
                                          <p:spTgt spid="172"/>
                                        </p:tgtEl>
                                        <p:attrNameLst>
                                          <p:attrName>style.visibility</p:attrName>
                                        </p:attrNameLst>
                                      </p:cBhvr>
                                      <p:to>
                                        <p:strVal val="hidden"/>
                                      </p:to>
                                    </p:set>
                                  </p:childTnLst>
                                </p:cTn>
                              </p:par>
                              <p:par>
                                <p:cTn id="348" presetID="10" presetClass="exit" presetSubtype="0" fill="hold" grpId="0" nodeType="withEffect">
                                  <p:stCondLst>
                                    <p:cond delay="0"/>
                                  </p:stCondLst>
                                  <p:childTnLst>
                                    <p:animEffect transition="out" filter="fade">
                                      <p:cBhvr>
                                        <p:cTn id="349" dur="200"/>
                                        <p:tgtEl>
                                          <p:spTgt spid="173"/>
                                        </p:tgtEl>
                                      </p:cBhvr>
                                    </p:animEffect>
                                    <p:set>
                                      <p:cBhvr>
                                        <p:cTn id="350" dur="1" fill="hold">
                                          <p:stCondLst>
                                            <p:cond delay="199"/>
                                          </p:stCondLst>
                                        </p:cTn>
                                        <p:tgtEl>
                                          <p:spTgt spid="173"/>
                                        </p:tgtEl>
                                        <p:attrNameLst>
                                          <p:attrName>style.visibility</p:attrName>
                                        </p:attrNameLst>
                                      </p:cBhvr>
                                      <p:to>
                                        <p:strVal val="hidden"/>
                                      </p:to>
                                    </p:set>
                                  </p:childTnLst>
                                </p:cTn>
                              </p:par>
                              <p:par>
                                <p:cTn id="351" presetID="10" presetClass="exit" presetSubtype="0" fill="hold" grpId="0" nodeType="withEffect">
                                  <p:stCondLst>
                                    <p:cond delay="0"/>
                                  </p:stCondLst>
                                  <p:childTnLst>
                                    <p:animEffect transition="out" filter="fade">
                                      <p:cBhvr>
                                        <p:cTn id="352" dur="200"/>
                                        <p:tgtEl>
                                          <p:spTgt spid="174"/>
                                        </p:tgtEl>
                                      </p:cBhvr>
                                    </p:animEffect>
                                    <p:set>
                                      <p:cBhvr>
                                        <p:cTn id="353" dur="1" fill="hold">
                                          <p:stCondLst>
                                            <p:cond delay="199"/>
                                          </p:stCondLst>
                                        </p:cTn>
                                        <p:tgtEl>
                                          <p:spTgt spid="174"/>
                                        </p:tgtEl>
                                        <p:attrNameLst>
                                          <p:attrName>style.visibility</p:attrName>
                                        </p:attrNameLst>
                                      </p:cBhvr>
                                      <p:to>
                                        <p:strVal val="hidden"/>
                                      </p:to>
                                    </p:set>
                                  </p:childTnLst>
                                </p:cTn>
                              </p:par>
                              <p:par>
                                <p:cTn id="354" presetID="10" presetClass="exit" presetSubtype="0" fill="hold" grpId="0" nodeType="withEffect">
                                  <p:stCondLst>
                                    <p:cond delay="0"/>
                                  </p:stCondLst>
                                  <p:childTnLst>
                                    <p:animEffect transition="out" filter="fade">
                                      <p:cBhvr>
                                        <p:cTn id="355" dur="200"/>
                                        <p:tgtEl>
                                          <p:spTgt spid="175"/>
                                        </p:tgtEl>
                                      </p:cBhvr>
                                    </p:animEffect>
                                    <p:set>
                                      <p:cBhvr>
                                        <p:cTn id="356" dur="1" fill="hold">
                                          <p:stCondLst>
                                            <p:cond delay="199"/>
                                          </p:stCondLst>
                                        </p:cTn>
                                        <p:tgtEl>
                                          <p:spTgt spid="175"/>
                                        </p:tgtEl>
                                        <p:attrNameLst>
                                          <p:attrName>style.visibility</p:attrName>
                                        </p:attrNameLst>
                                      </p:cBhvr>
                                      <p:to>
                                        <p:strVal val="hidden"/>
                                      </p:to>
                                    </p:set>
                                  </p:childTnLst>
                                </p:cTn>
                              </p:par>
                              <p:par>
                                <p:cTn id="357" presetID="10" presetClass="exit" presetSubtype="0" fill="hold" grpId="0" nodeType="withEffect">
                                  <p:stCondLst>
                                    <p:cond delay="0"/>
                                  </p:stCondLst>
                                  <p:childTnLst>
                                    <p:animEffect transition="out" filter="fade">
                                      <p:cBhvr>
                                        <p:cTn id="358" dur="200"/>
                                        <p:tgtEl>
                                          <p:spTgt spid="176"/>
                                        </p:tgtEl>
                                      </p:cBhvr>
                                    </p:animEffect>
                                    <p:set>
                                      <p:cBhvr>
                                        <p:cTn id="359" dur="1" fill="hold">
                                          <p:stCondLst>
                                            <p:cond delay="199"/>
                                          </p:stCondLst>
                                        </p:cTn>
                                        <p:tgtEl>
                                          <p:spTgt spid="176"/>
                                        </p:tgtEl>
                                        <p:attrNameLst>
                                          <p:attrName>style.visibility</p:attrName>
                                        </p:attrNameLst>
                                      </p:cBhvr>
                                      <p:to>
                                        <p:strVal val="hidden"/>
                                      </p:to>
                                    </p:set>
                                  </p:childTnLst>
                                </p:cTn>
                              </p:par>
                              <p:par>
                                <p:cTn id="360" presetID="10" presetClass="exit" presetSubtype="0" fill="hold" grpId="0" nodeType="withEffect">
                                  <p:stCondLst>
                                    <p:cond delay="0"/>
                                  </p:stCondLst>
                                  <p:childTnLst>
                                    <p:animEffect transition="out" filter="fade">
                                      <p:cBhvr>
                                        <p:cTn id="361" dur="200"/>
                                        <p:tgtEl>
                                          <p:spTgt spid="177"/>
                                        </p:tgtEl>
                                      </p:cBhvr>
                                    </p:animEffect>
                                    <p:set>
                                      <p:cBhvr>
                                        <p:cTn id="362" dur="1" fill="hold">
                                          <p:stCondLst>
                                            <p:cond delay="199"/>
                                          </p:stCondLst>
                                        </p:cTn>
                                        <p:tgtEl>
                                          <p:spTgt spid="177"/>
                                        </p:tgtEl>
                                        <p:attrNameLst>
                                          <p:attrName>style.visibility</p:attrName>
                                        </p:attrNameLst>
                                      </p:cBhvr>
                                      <p:to>
                                        <p:strVal val="hidden"/>
                                      </p:to>
                                    </p:set>
                                  </p:childTnLst>
                                </p:cTn>
                              </p:par>
                              <p:par>
                                <p:cTn id="363" presetID="10" presetClass="exit" presetSubtype="0" fill="hold" grpId="0" nodeType="withEffect">
                                  <p:stCondLst>
                                    <p:cond delay="0"/>
                                  </p:stCondLst>
                                  <p:childTnLst>
                                    <p:animEffect transition="out" filter="fade">
                                      <p:cBhvr>
                                        <p:cTn id="364" dur="200"/>
                                        <p:tgtEl>
                                          <p:spTgt spid="178"/>
                                        </p:tgtEl>
                                      </p:cBhvr>
                                    </p:animEffect>
                                    <p:set>
                                      <p:cBhvr>
                                        <p:cTn id="365" dur="1" fill="hold">
                                          <p:stCondLst>
                                            <p:cond delay="199"/>
                                          </p:stCondLst>
                                        </p:cTn>
                                        <p:tgtEl>
                                          <p:spTgt spid="178"/>
                                        </p:tgtEl>
                                        <p:attrNameLst>
                                          <p:attrName>style.visibility</p:attrName>
                                        </p:attrNameLst>
                                      </p:cBhvr>
                                      <p:to>
                                        <p:strVal val="hidden"/>
                                      </p:to>
                                    </p:set>
                                  </p:childTnLst>
                                </p:cTn>
                              </p:par>
                              <p:par>
                                <p:cTn id="366" presetID="10" presetClass="exit" presetSubtype="0" fill="hold" grpId="0" nodeType="withEffect">
                                  <p:stCondLst>
                                    <p:cond delay="0"/>
                                  </p:stCondLst>
                                  <p:childTnLst>
                                    <p:animEffect transition="out" filter="fade">
                                      <p:cBhvr>
                                        <p:cTn id="367" dur="200"/>
                                        <p:tgtEl>
                                          <p:spTgt spid="179"/>
                                        </p:tgtEl>
                                      </p:cBhvr>
                                    </p:animEffect>
                                    <p:set>
                                      <p:cBhvr>
                                        <p:cTn id="368" dur="1" fill="hold">
                                          <p:stCondLst>
                                            <p:cond delay="199"/>
                                          </p:stCondLst>
                                        </p:cTn>
                                        <p:tgtEl>
                                          <p:spTgt spid="179"/>
                                        </p:tgtEl>
                                        <p:attrNameLst>
                                          <p:attrName>style.visibility</p:attrName>
                                        </p:attrNameLst>
                                      </p:cBhvr>
                                      <p:to>
                                        <p:strVal val="hidden"/>
                                      </p:to>
                                    </p:set>
                                  </p:childTnLst>
                                </p:cTn>
                              </p:par>
                              <p:par>
                                <p:cTn id="369" presetID="10" presetClass="exit" presetSubtype="0" fill="hold" grpId="0" nodeType="withEffect">
                                  <p:stCondLst>
                                    <p:cond delay="0"/>
                                  </p:stCondLst>
                                  <p:childTnLst>
                                    <p:animEffect transition="out" filter="fade">
                                      <p:cBhvr>
                                        <p:cTn id="370" dur="200"/>
                                        <p:tgtEl>
                                          <p:spTgt spid="180"/>
                                        </p:tgtEl>
                                      </p:cBhvr>
                                    </p:animEffect>
                                    <p:set>
                                      <p:cBhvr>
                                        <p:cTn id="371" dur="1" fill="hold">
                                          <p:stCondLst>
                                            <p:cond delay="199"/>
                                          </p:stCondLst>
                                        </p:cTn>
                                        <p:tgtEl>
                                          <p:spTgt spid="180"/>
                                        </p:tgtEl>
                                        <p:attrNameLst>
                                          <p:attrName>style.visibility</p:attrName>
                                        </p:attrNameLst>
                                      </p:cBhvr>
                                      <p:to>
                                        <p:strVal val="hidden"/>
                                      </p:to>
                                    </p:set>
                                  </p:childTnLst>
                                </p:cTn>
                              </p:par>
                              <p:par>
                                <p:cTn id="372" presetID="10" presetClass="exit" presetSubtype="0" fill="hold" grpId="0" nodeType="withEffect">
                                  <p:stCondLst>
                                    <p:cond delay="0"/>
                                  </p:stCondLst>
                                  <p:childTnLst>
                                    <p:animEffect transition="out" filter="fade">
                                      <p:cBhvr>
                                        <p:cTn id="373" dur="200"/>
                                        <p:tgtEl>
                                          <p:spTgt spid="181"/>
                                        </p:tgtEl>
                                      </p:cBhvr>
                                    </p:animEffect>
                                    <p:set>
                                      <p:cBhvr>
                                        <p:cTn id="374" dur="1" fill="hold">
                                          <p:stCondLst>
                                            <p:cond delay="199"/>
                                          </p:stCondLst>
                                        </p:cTn>
                                        <p:tgtEl>
                                          <p:spTgt spid="181"/>
                                        </p:tgtEl>
                                        <p:attrNameLst>
                                          <p:attrName>style.visibility</p:attrName>
                                        </p:attrNameLst>
                                      </p:cBhvr>
                                      <p:to>
                                        <p:strVal val="hidden"/>
                                      </p:to>
                                    </p:set>
                                  </p:childTnLst>
                                </p:cTn>
                              </p:par>
                              <p:par>
                                <p:cTn id="375" presetID="10" presetClass="exit" presetSubtype="0" fill="hold" grpId="0" nodeType="withEffect">
                                  <p:stCondLst>
                                    <p:cond delay="0"/>
                                  </p:stCondLst>
                                  <p:childTnLst>
                                    <p:animEffect transition="out" filter="fade">
                                      <p:cBhvr>
                                        <p:cTn id="376" dur="200"/>
                                        <p:tgtEl>
                                          <p:spTgt spid="182"/>
                                        </p:tgtEl>
                                      </p:cBhvr>
                                    </p:animEffect>
                                    <p:set>
                                      <p:cBhvr>
                                        <p:cTn id="377" dur="1" fill="hold">
                                          <p:stCondLst>
                                            <p:cond delay="199"/>
                                          </p:stCondLst>
                                        </p:cTn>
                                        <p:tgtEl>
                                          <p:spTgt spid="182"/>
                                        </p:tgtEl>
                                        <p:attrNameLst>
                                          <p:attrName>style.visibility</p:attrName>
                                        </p:attrNameLst>
                                      </p:cBhvr>
                                      <p:to>
                                        <p:strVal val="hidden"/>
                                      </p:to>
                                    </p:set>
                                  </p:childTnLst>
                                </p:cTn>
                              </p:par>
                              <p:par>
                                <p:cTn id="378" presetID="10" presetClass="exit" presetSubtype="0" fill="hold" grpId="0" nodeType="withEffect">
                                  <p:stCondLst>
                                    <p:cond delay="0"/>
                                  </p:stCondLst>
                                  <p:childTnLst>
                                    <p:animEffect transition="out" filter="fade">
                                      <p:cBhvr>
                                        <p:cTn id="379" dur="200"/>
                                        <p:tgtEl>
                                          <p:spTgt spid="183"/>
                                        </p:tgtEl>
                                      </p:cBhvr>
                                    </p:animEffect>
                                    <p:set>
                                      <p:cBhvr>
                                        <p:cTn id="380" dur="1" fill="hold">
                                          <p:stCondLst>
                                            <p:cond delay="199"/>
                                          </p:stCondLst>
                                        </p:cTn>
                                        <p:tgtEl>
                                          <p:spTgt spid="183"/>
                                        </p:tgtEl>
                                        <p:attrNameLst>
                                          <p:attrName>style.visibility</p:attrName>
                                        </p:attrNameLst>
                                      </p:cBhvr>
                                      <p:to>
                                        <p:strVal val="hidden"/>
                                      </p:to>
                                    </p:set>
                                  </p:childTnLst>
                                </p:cTn>
                              </p:par>
                              <p:par>
                                <p:cTn id="381" presetID="10" presetClass="exit" presetSubtype="0" fill="hold" grpId="0" nodeType="withEffect">
                                  <p:stCondLst>
                                    <p:cond delay="0"/>
                                  </p:stCondLst>
                                  <p:childTnLst>
                                    <p:animEffect transition="out" filter="fade">
                                      <p:cBhvr>
                                        <p:cTn id="382" dur="200"/>
                                        <p:tgtEl>
                                          <p:spTgt spid="184"/>
                                        </p:tgtEl>
                                      </p:cBhvr>
                                    </p:animEffect>
                                    <p:set>
                                      <p:cBhvr>
                                        <p:cTn id="383" dur="1" fill="hold">
                                          <p:stCondLst>
                                            <p:cond delay="199"/>
                                          </p:stCondLst>
                                        </p:cTn>
                                        <p:tgtEl>
                                          <p:spTgt spid="184"/>
                                        </p:tgtEl>
                                        <p:attrNameLst>
                                          <p:attrName>style.visibility</p:attrName>
                                        </p:attrNameLst>
                                      </p:cBhvr>
                                      <p:to>
                                        <p:strVal val="hidden"/>
                                      </p:to>
                                    </p:set>
                                  </p:childTnLst>
                                </p:cTn>
                              </p:par>
                              <p:par>
                                <p:cTn id="384" presetID="10" presetClass="exit" presetSubtype="0" fill="hold" grpId="0" nodeType="withEffect">
                                  <p:stCondLst>
                                    <p:cond delay="0"/>
                                  </p:stCondLst>
                                  <p:childTnLst>
                                    <p:animEffect transition="out" filter="fade">
                                      <p:cBhvr>
                                        <p:cTn id="385" dur="200"/>
                                        <p:tgtEl>
                                          <p:spTgt spid="185"/>
                                        </p:tgtEl>
                                      </p:cBhvr>
                                    </p:animEffect>
                                    <p:set>
                                      <p:cBhvr>
                                        <p:cTn id="386" dur="1" fill="hold">
                                          <p:stCondLst>
                                            <p:cond delay="199"/>
                                          </p:stCondLst>
                                        </p:cTn>
                                        <p:tgtEl>
                                          <p:spTgt spid="185"/>
                                        </p:tgtEl>
                                        <p:attrNameLst>
                                          <p:attrName>style.visibility</p:attrName>
                                        </p:attrNameLst>
                                      </p:cBhvr>
                                      <p:to>
                                        <p:strVal val="hidden"/>
                                      </p:to>
                                    </p:set>
                                  </p:childTnLst>
                                </p:cTn>
                              </p:par>
                              <p:par>
                                <p:cTn id="387" presetID="10" presetClass="exit" presetSubtype="0" fill="hold" grpId="0" nodeType="withEffect">
                                  <p:stCondLst>
                                    <p:cond delay="0"/>
                                  </p:stCondLst>
                                  <p:childTnLst>
                                    <p:animEffect transition="out" filter="fade">
                                      <p:cBhvr>
                                        <p:cTn id="388" dur="200"/>
                                        <p:tgtEl>
                                          <p:spTgt spid="186"/>
                                        </p:tgtEl>
                                      </p:cBhvr>
                                    </p:animEffect>
                                    <p:set>
                                      <p:cBhvr>
                                        <p:cTn id="389" dur="1" fill="hold">
                                          <p:stCondLst>
                                            <p:cond delay="199"/>
                                          </p:stCondLst>
                                        </p:cTn>
                                        <p:tgtEl>
                                          <p:spTgt spid="186"/>
                                        </p:tgtEl>
                                        <p:attrNameLst>
                                          <p:attrName>style.visibility</p:attrName>
                                        </p:attrNameLst>
                                      </p:cBhvr>
                                      <p:to>
                                        <p:strVal val="hidden"/>
                                      </p:to>
                                    </p:set>
                                  </p:childTnLst>
                                </p:cTn>
                              </p:par>
                              <p:par>
                                <p:cTn id="390" presetID="10" presetClass="exit" presetSubtype="0" fill="hold" grpId="0" nodeType="withEffect">
                                  <p:stCondLst>
                                    <p:cond delay="0"/>
                                  </p:stCondLst>
                                  <p:childTnLst>
                                    <p:animEffect transition="out" filter="fade">
                                      <p:cBhvr>
                                        <p:cTn id="391" dur="200"/>
                                        <p:tgtEl>
                                          <p:spTgt spid="187"/>
                                        </p:tgtEl>
                                      </p:cBhvr>
                                    </p:animEffect>
                                    <p:set>
                                      <p:cBhvr>
                                        <p:cTn id="392" dur="1" fill="hold">
                                          <p:stCondLst>
                                            <p:cond delay="199"/>
                                          </p:stCondLst>
                                        </p:cTn>
                                        <p:tgtEl>
                                          <p:spTgt spid="187"/>
                                        </p:tgtEl>
                                        <p:attrNameLst>
                                          <p:attrName>style.visibility</p:attrName>
                                        </p:attrNameLst>
                                      </p:cBhvr>
                                      <p:to>
                                        <p:strVal val="hidden"/>
                                      </p:to>
                                    </p:set>
                                  </p:childTnLst>
                                </p:cTn>
                              </p:par>
                              <p:par>
                                <p:cTn id="393" presetID="10" presetClass="exit" presetSubtype="0" fill="hold" grpId="0" nodeType="withEffect">
                                  <p:stCondLst>
                                    <p:cond delay="0"/>
                                  </p:stCondLst>
                                  <p:childTnLst>
                                    <p:animEffect transition="out" filter="fade">
                                      <p:cBhvr>
                                        <p:cTn id="394" dur="200"/>
                                        <p:tgtEl>
                                          <p:spTgt spid="188"/>
                                        </p:tgtEl>
                                      </p:cBhvr>
                                    </p:animEffect>
                                    <p:set>
                                      <p:cBhvr>
                                        <p:cTn id="395" dur="1" fill="hold">
                                          <p:stCondLst>
                                            <p:cond delay="199"/>
                                          </p:stCondLst>
                                        </p:cTn>
                                        <p:tgtEl>
                                          <p:spTgt spid="188"/>
                                        </p:tgtEl>
                                        <p:attrNameLst>
                                          <p:attrName>style.visibility</p:attrName>
                                        </p:attrNameLst>
                                      </p:cBhvr>
                                      <p:to>
                                        <p:strVal val="hidden"/>
                                      </p:to>
                                    </p:set>
                                  </p:childTnLst>
                                </p:cTn>
                              </p:par>
                              <p:par>
                                <p:cTn id="396" presetID="10" presetClass="exit" presetSubtype="0" fill="hold" grpId="0" nodeType="withEffect">
                                  <p:stCondLst>
                                    <p:cond delay="0"/>
                                  </p:stCondLst>
                                  <p:childTnLst>
                                    <p:animEffect transition="out" filter="fade">
                                      <p:cBhvr>
                                        <p:cTn id="397" dur="200"/>
                                        <p:tgtEl>
                                          <p:spTgt spid="189"/>
                                        </p:tgtEl>
                                      </p:cBhvr>
                                    </p:animEffect>
                                    <p:set>
                                      <p:cBhvr>
                                        <p:cTn id="398" dur="1" fill="hold">
                                          <p:stCondLst>
                                            <p:cond delay="199"/>
                                          </p:stCondLst>
                                        </p:cTn>
                                        <p:tgtEl>
                                          <p:spTgt spid="189"/>
                                        </p:tgtEl>
                                        <p:attrNameLst>
                                          <p:attrName>style.visibility</p:attrName>
                                        </p:attrNameLst>
                                      </p:cBhvr>
                                      <p:to>
                                        <p:strVal val="hidden"/>
                                      </p:to>
                                    </p:set>
                                  </p:childTnLst>
                                </p:cTn>
                              </p:par>
                              <p:par>
                                <p:cTn id="399" presetID="10" presetClass="exit" presetSubtype="0" fill="hold" grpId="0" nodeType="withEffect">
                                  <p:stCondLst>
                                    <p:cond delay="0"/>
                                  </p:stCondLst>
                                  <p:childTnLst>
                                    <p:animEffect transition="out" filter="fade">
                                      <p:cBhvr>
                                        <p:cTn id="400" dur="200"/>
                                        <p:tgtEl>
                                          <p:spTgt spid="190"/>
                                        </p:tgtEl>
                                      </p:cBhvr>
                                    </p:animEffect>
                                    <p:set>
                                      <p:cBhvr>
                                        <p:cTn id="401" dur="1" fill="hold">
                                          <p:stCondLst>
                                            <p:cond delay="199"/>
                                          </p:stCondLst>
                                        </p:cTn>
                                        <p:tgtEl>
                                          <p:spTgt spid="190"/>
                                        </p:tgtEl>
                                        <p:attrNameLst>
                                          <p:attrName>style.visibility</p:attrName>
                                        </p:attrNameLst>
                                      </p:cBhvr>
                                      <p:to>
                                        <p:strVal val="hidden"/>
                                      </p:to>
                                    </p:set>
                                  </p:childTnLst>
                                </p:cTn>
                              </p:par>
                              <p:par>
                                <p:cTn id="402" presetID="10" presetClass="exit" presetSubtype="0" fill="hold" grpId="0" nodeType="withEffect">
                                  <p:stCondLst>
                                    <p:cond delay="0"/>
                                  </p:stCondLst>
                                  <p:childTnLst>
                                    <p:animEffect transition="out" filter="fade">
                                      <p:cBhvr>
                                        <p:cTn id="403" dur="200"/>
                                        <p:tgtEl>
                                          <p:spTgt spid="191"/>
                                        </p:tgtEl>
                                      </p:cBhvr>
                                    </p:animEffect>
                                    <p:set>
                                      <p:cBhvr>
                                        <p:cTn id="404" dur="1" fill="hold">
                                          <p:stCondLst>
                                            <p:cond delay="199"/>
                                          </p:stCondLst>
                                        </p:cTn>
                                        <p:tgtEl>
                                          <p:spTgt spid="191"/>
                                        </p:tgtEl>
                                        <p:attrNameLst>
                                          <p:attrName>style.visibility</p:attrName>
                                        </p:attrNameLst>
                                      </p:cBhvr>
                                      <p:to>
                                        <p:strVal val="hidden"/>
                                      </p:to>
                                    </p:set>
                                  </p:childTnLst>
                                </p:cTn>
                              </p:par>
                              <p:par>
                                <p:cTn id="405" presetID="10" presetClass="exit" presetSubtype="0" fill="hold" grpId="0" nodeType="withEffect">
                                  <p:stCondLst>
                                    <p:cond delay="0"/>
                                  </p:stCondLst>
                                  <p:childTnLst>
                                    <p:animEffect transition="out" filter="fade">
                                      <p:cBhvr>
                                        <p:cTn id="406" dur="200"/>
                                        <p:tgtEl>
                                          <p:spTgt spid="192"/>
                                        </p:tgtEl>
                                      </p:cBhvr>
                                    </p:animEffect>
                                    <p:set>
                                      <p:cBhvr>
                                        <p:cTn id="407" dur="1" fill="hold">
                                          <p:stCondLst>
                                            <p:cond delay="199"/>
                                          </p:stCondLst>
                                        </p:cTn>
                                        <p:tgtEl>
                                          <p:spTgt spid="192"/>
                                        </p:tgtEl>
                                        <p:attrNameLst>
                                          <p:attrName>style.visibility</p:attrName>
                                        </p:attrNameLst>
                                      </p:cBhvr>
                                      <p:to>
                                        <p:strVal val="hidden"/>
                                      </p:to>
                                    </p:set>
                                  </p:childTnLst>
                                </p:cTn>
                              </p:par>
                              <p:par>
                                <p:cTn id="408" presetID="10" presetClass="exit" presetSubtype="0" fill="hold" grpId="0" nodeType="withEffect">
                                  <p:stCondLst>
                                    <p:cond delay="0"/>
                                  </p:stCondLst>
                                  <p:childTnLst>
                                    <p:animEffect transition="out" filter="fade">
                                      <p:cBhvr>
                                        <p:cTn id="409" dur="200"/>
                                        <p:tgtEl>
                                          <p:spTgt spid="193"/>
                                        </p:tgtEl>
                                      </p:cBhvr>
                                    </p:animEffect>
                                    <p:set>
                                      <p:cBhvr>
                                        <p:cTn id="410" dur="1" fill="hold">
                                          <p:stCondLst>
                                            <p:cond delay="199"/>
                                          </p:stCondLst>
                                        </p:cTn>
                                        <p:tgtEl>
                                          <p:spTgt spid="193"/>
                                        </p:tgtEl>
                                        <p:attrNameLst>
                                          <p:attrName>style.visibility</p:attrName>
                                        </p:attrNameLst>
                                      </p:cBhvr>
                                      <p:to>
                                        <p:strVal val="hidden"/>
                                      </p:to>
                                    </p:set>
                                  </p:childTnLst>
                                </p:cTn>
                              </p:par>
                              <p:par>
                                <p:cTn id="411" presetID="10" presetClass="exit" presetSubtype="0" fill="hold" grpId="0" nodeType="withEffect">
                                  <p:stCondLst>
                                    <p:cond delay="0"/>
                                  </p:stCondLst>
                                  <p:childTnLst>
                                    <p:animEffect transition="out" filter="fade">
                                      <p:cBhvr>
                                        <p:cTn id="412" dur="200"/>
                                        <p:tgtEl>
                                          <p:spTgt spid="194"/>
                                        </p:tgtEl>
                                      </p:cBhvr>
                                    </p:animEffect>
                                    <p:set>
                                      <p:cBhvr>
                                        <p:cTn id="413" dur="1" fill="hold">
                                          <p:stCondLst>
                                            <p:cond delay="199"/>
                                          </p:stCondLst>
                                        </p:cTn>
                                        <p:tgtEl>
                                          <p:spTgt spid="194"/>
                                        </p:tgtEl>
                                        <p:attrNameLst>
                                          <p:attrName>style.visibility</p:attrName>
                                        </p:attrNameLst>
                                      </p:cBhvr>
                                      <p:to>
                                        <p:strVal val="hidden"/>
                                      </p:to>
                                    </p:set>
                                  </p:childTnLst>
                                </p:cTn>
                              </p:par>
                              <p:par>
                                <p:cTn id="414" presetID="10" presetClass="exit" presetSubtype="0" fill="hold" grpId="0" nodeType="withEffect">
                                  <p:stCondLst>
                                    <p:cond delay="0"/>
                                  </p:stCondLst>
                                  <p:childTnLst>
                                    <p:animEffect transition="out" filter="fade">
                                      <p:cBhvr>
                                        <p:cTn id="415" dur="200"/>
                                        <p:tgtEl>
                                          <p:spTgt spid="195"/>
                                        </p:tgtEl>
                                      </p:cBhvr>
                                    </p:animEffect>
                                    <p:set>
                                      <p:cBhvr>
                                        <p:cTn id="416" dur="1" fill="hold">
                                          <p:stCondLst>
                                            <p:cond delay="199"/>
                                          </p:stCondLst>
                                        </p:cTn>
                                        <p:tgtEl>
                                          <p:spTgt spid="195"/>
                                        </p:tgtEl>
                                        <p:attrNameLst>
                                          <p:attrName>style.visibility</p:attrName>
                                        </p:attrNameLst>
                                      </p:cBhvr>
                                      <p:to>
                                        <p:strVal val="hidden"/>
                                      </p:to>
                                    </p:set>
                                  </p:childTnLst>
                                </p:cTn>
                              </p:par>
                              <p:par>
                                <p:cTn id="417" presetID="10" presetClass="exit" presetSubtype="0" fill="hold" grpId="0" nodeType="withEffect">
                                  <p:stCondLst>
                                    <p:cond delay="0"/>
                                  </p:stCondLst>
                                  <p:childTnLst>
                                    <p:animEffect transition="out" filter="fade">
                                      <p:cBhvr>
                                        <p:cTn id="418" dur="200"/>
                                        <p:tgtEl>
                                          <p:spTgt spid="196"/>
                                        </p:tgtEl>
                                      </p:cBhvr>
                                    </p:animEffect>
                                    <p:set>
                                      <p:cBhvr>
                                        <p:cTn id="419" dur="1" fill="hold">
                                          <p:stCondLst>
                                            <p:cond delay="199"/>
                                          </p:stCondLst>
                                        </p:cTn>
                                        <p:tgtEl>
                                          <p:spTgt spid="196"/>
                                        </p:tgtEl>
                                        <p:attrNameLst>
                                          <p:attrName>style.visibility</p:attrName>
                                        </p:attrNameLst>
                                      </p:cBhvr>
                                      <p:to>
                                        <p:strVal val="hidden"/>
                                      </p:to>
                                    </p:set>
                                  </p:childTnLst>
                                </p:cTn>
                              </p:par>
                              <p:par>
                                <p:cTn id="420" presetID="10" presetClass="exit" presetSubtype="0" fill="hold" grpId="0" nodeType="withEffect">
                                  <p:stCondLst>
                                    <p:cond delay="0"/>
                                  </p:stCondLst>
                                  <p:childTnLst>
                                    <p:animEffect transition="out" filter="fade">
                                      <p:cBhvr>
                                        <p:cTn id="421" dur="200"/>
                                        <p:tgtEl>
                                          <p:spTgt spid="197"/>
                                        </p:tgtEl>
                                      </p:cBhvr>
                                    </p:animEffect>
                                    <p:set>
                                      <p:cBhvr>
                                        <p:cTn id="422" dur="1" fill="hold">
                                          <p:stCondLst>
                                            <p:cond delay="199"/>
                                          </p:stCondLst>
                                        </p:cTn>
                                        <p:tgtEl>
                                          <p:spTgt spid="197"/>
                                        </p:tgtEl>
                                        <p:attrNameLst>
                                          <p:attrName>style.visibility</p:attrName>
                                        </p:attrNameLst>
                                      </p:cBhvr>
                                      <p:to>
                                        <p:strVal val="hidden"/>
                                      </p:to>
                                    </p:set>
                                  </p:childTnLst>
                                </p:cTn>
                              </p:par>
                              <p:par>
                                <p:cTn id="423" presetID="10" presetClass="exit" presetSubtype="0" fill="hold" grpId="0" nodeType="withEffect">
                                  <p:stCondLst>
                                    <p:cond delay="0"/>
                                  </p:stCondLst>
                                  <p:childTnLst>
                                    <p:animEffect transition="out" filter="fade">
                                      <p:cBhvr>
                                        <p:cTn id="424" dur="200"/>
                                        <p:tgtEl>
                                          <p:spTgt spid="198"/>
                                        </p:tgtEl>
                                      </p:cBhvr>
                                    </p:animEffect>
                                    <p:set>
                                      <p:cBhvr>
                                        <p:cTn id="425" dur="1" fill="hold">
                                          <p:stCondLst>
                                            <p:cond delay="199"/>
                                          </p:stCondLst>
                                        </p:cTn>
                                        <p:tgtEl>
                                          <p:spTgt spid="198"/>
                                        </p:tgtEl>
                                        <p:attrNameLst>
                                          <p:attrName>style.visibility</p:attrName>
                                        </p:attrNameLst>
                                      </p:cBhvr>
                                      <p:to>
                                        <p:strVal val="hidden"/>
                                      </p:to>
                                    </p:set>
                                  </p:childTnLst>
                                </p:cTn>
                              </p:par>
                              <p:par>
                                <p:cTn id="426" presetID="10" presetClass="exit" presetSubtype="0" fill="hold" grpId="0" nodeType="withEffect">
                                  <p:stCondLst>
                                    <p:cond delay="0"/>
                                  </p:stCondLst>
                                  <p:childTnLst>
                                    <p:animEffect transition="out" filter="fade">
                                      <p:cBhvr>
                                        <p:cTn id="427" dur="200"/>
                                        <p:tgtEl>
                                          <p:spTgt spid="231"/>
                                        </p:tgtEl>
                                      </p:cBhvr>
                                    </p:animEffect>
                                    <p:set>
                                      <p:cBhvr>
                                        <p:cTn id="428" dur="1" fill="hold">
                                          <p:stCondLst>
                                            <p:cond delay="199"/>
                                          </p:stCondLst>
                                        </p:cTn>
                                        <p:tgtEl>
                                          <p:spTgt spid="231"/>
                                        </p:tgtEl>
                                        <p:attrNameLst>
                                          <p:attrName>style.visibility</p:attrName>
                                        </p:attrNameLst>
                                      </p:cBhvr>
                                      <p:to>
                                        <p:strVal val="hidden"/>
                                      </p:to>
                                    </p:set>
                                  </p:childTnLst>
                                </p:cTn>
                              </p:par>
                              <p:par>
                                <p:cTn id="429" presetID="10" presetClass="exit" presetSubtype="0" fill="hold" grpId="0" nodeType="withEffect">
                                  <p:stCondLst>
                                    <p:cond delay="0"/>
                                  </p:stCondLst>
                                  <p:childTnLst>
                                    <p:animEffect transition="out" filter="fade">
                                      <p:cBhvr>
                                        <p:cTn id="430" dur="200"/>
                                        <p:tgtEl>
                                          <p:spTgt spid="232"/>
                                        </p:tgtEl>
                                      </p:cBhvr>
                                    </p:animEffect>
                                    <p:set>
                                      <p:cBhvr>
                                        <p:cTn id="431" dur="1" fill="hold">
                                          <p:stCondLst>
                                            <p:cond delay="199"/>
                                          </p:stCondLst>
                                        </p:cTn>
                                        <p:tgtEl>
                                          <p:spTgt spid="232"/>
                                        </p:tgtEl>
                                        <p:attrNameLst>
                                          <p:attrName>style.visibility</p:attrName>
                                        </p:attrNameLst>
                                      </p:cBhvr>
                                      <p:to>
                                        <p:strVal val="hidden"/>
                                      </p:to>
                                    </p:set>
                                  </p:childTnLst>
                                </p:cTn>
                              </p:par>
                              <p:par>
                                <p:cTn id="432" presetID="10" presetClass="exit" presetSubtype="0" fill="hold" grpId="0" nodeType="withEffect">
                                  <p:stCondLst>
                                    <p:cond delay="0"/>
                                  </p:stCondLst>
                                  <p:childTnLst>
                                    <p:animEffect transition="out" filter="fade">
                                      <p:cBhvr>
                                        <p:cTn id="433" dur="200"/>
                                        <p:tgtEl>
                                          <p:spTgt spid="233"/>
                                        </p:tgtEl>
                                      </p:cBhvr>
                                    </p:animEffect>
                                    <p:set>
                                      <p:cBhvr>
                                        <p:cTn id="434" dur="1" fill="hold">
                                          <p:stCondLst>
                                            <p:cond delay="199"/>
                                          </p:stCondLst>
                                        </p:cTn>
                                        <p:tgtEl>
                                          <p:spTgt spid="233"/>
                                        </p:tgtEl>
                                        <p:attrNameLst>
                                          <p:attrName>style.visibility</p:attrName>
                                        </p:attrNameLst>
                                      </p:cBhvr>
                                      <p:to>
                                        <p:strVal val="hidden"/>
                                      </p:to>
                                    </p:set>
                                  </p:childTnLst>
                                </p:cTn>
                              </p:par>
                              <p:par>
                                <p:cTn id="435" presetID="10" presetClass="exit" presetSubtype="0" fill="hold" grpId="0" nodeType="withEffect">
                                  <p:stCondLst>
                                    <p:cond delay="0"/>
                                  </p:stCondLst>
                                  <p:childTnLst>
                                    <p:animEffect transition="out" filter="fade">
                                      <p:cBhvr>
                                        <p:cTn id="436" dur="200"/>
                                        <p:tgtEl>
                                          <p:spTgt spid="234"/>
                                        </p:tgtEl>
                                      </p:cBhvr>
                                    </p:animEffect>
                                    <p:set>
                                      <p:cBhvr>
                                        <p:cTn id="437" dur="1" fill="hold">
                                          <p:stCondLst>
                                            <p:cond delay="199"/>
                                          </p:stCondLst>
                                        </p:cTn>
                                        <p:tgtEl>
                                          <p:spTgt spid="234"/>
                                        </p:tgtEl>
                                        <p:attrNameLst>
                                          <p:attrName>style.visibility</p:attrName>
                                        </p:attrNameLst>
                                      </p:cBhvr>
                                      <p:to>
                                        <p:strVal val="hidden"/>
                                      </p:to>
                                    </p:set>
                                  </p:childTnLst>
                                </p:cTn>
                              </p:par>
                              <p:par>
                                <p:cTn id="438" presetID="10" presetClass="exit" presetSubtype="0" fill="hold" grpId="0" nodeType="withEffect">
                                  <p:stCondLst>
                                    <p:cond delay="0"/>
                                  </p:stCondLst>
                                  <p:childTnLst>
                                    <p:animEffect transition="out" filter="fade">
                                      <p:cBhvr>
                                        <p:cTn id="439" dur="200"/>
                                        <p:tgtEl>
                                          <p:spTgt spid="235"/>
                                        </p:tgtEl>
                                      </p:cBhvr>
                                    </p:animEffect>
                                    <p:set>
                                      <p:cBhvr>
                                        <p:cTn id="440" dur="1" fill="hold">
                                          <p:stCondLst>
                                            <p:cond delay="199"/>
                                          </p:stCondLst>
                                        </p:cTn>
                                        <p:tgtEl>
                                          <p:spTgt spid="235"/>
                                        </p:tgtEl>
                                        <p:attrNameLst>
                                          <p:attrName>style.visibility</p:attrName>
                                        </p:attrNameLst>
                                      </p:cBhvr>
                                      <p:to>
                                        <p:strVal val="hidden"/>
                                      </p:to>
                                    </p:set>
                                  </p:childTnLst>
                                </p:cTn>
                              </p:par>
                              <p:par>
                                <p:cTn id="441" presetID="10" presetClass="exit" presetSubtype="0" fill="hold" grpId="0" nodeType="withEffect">
                                  <p:stCondLst>
                                    <p:cond delay="0"/>
                                  </p:stCondLst>
                                  <p:childTnLst>
                                    <p:animEffect transition="out" filter="fade">
                                      <p:cBhvr>
                                        <p:cTn id="442" dur="200"/>
                                        <p:tgtEl>
                                          <p:spTgt spid="236"/>
                                        </p:tgtEl>
                                      </p:cBhvr>
                                    </p:animEffect>
                                    <p:set>
                                      <p:cBhvr>
                                        <p:cTn id="443" dur="1" fill="hold">
                                          <p:stCondLst>
                                            <p:cond delay="199"/>
                                          </p:stCondLst>
                                        </p:cTn>
                                        <p:tgtEl>
                                          <p:spTgt spid="236"/>
                                        </p:tgtEl>
                                        <p:attrNameLst>
                                          <p:attrName>style.visibility</p:attrName>
                                        </p:attrNameLst>
                                      </p:cBhvr>
                                      <p:to>
                                        <p:strVal val="hidden"/>
                                      </p:to>
                                    </p:set>
                                  </p:childTnLst>
                                </p:cTn>
                              </p:par>
                              <p:par>
                                <p:cTn id="444" presetID="10" presetClass="exit" presetSubtype="0" fill="hold" grpId="0" nodeType="withEffect">
                                  <p:stCondLst>
                                    <p:cond delay="0"/>
                                  </p:stCondLst>
                                  <p:childTnLst>
                                    <p:animEffect transition="out" filter="fade">
                                      <p:cBhvr>
                                        <p:cTn id="445" dur="200"/>
                                        <p:tgtEl>
                                          <p:spTgt spid="237"/>
                                        </p:tgtEl>
                                      </p:cBhvr>
                                    </p:animEffect>
                                    <p:set>
                                      <p:cBhvr>
                                        <p:cTn id="446" dur="1" fill="hold">
                                          <p:stCondLst>
                                            <p:cond delay="199"/>
                                          </p:stCondLst>
                                        </p:cTn>
                                        <p:tgtEl>
                                          <p:spTgt spid="237"/>
                                        </p:tgtEl>
                                        <p:attrNameLst>
                                          <p:attrName>style.visibility</p:attrName>
                                        </p:attrNameLst>
                                      </p:cBhvr>
                                      <p:to>
                                        <p:strVal val="hidden"/>
                                      </p:to>
                                    </p:set>
                                  </p:childTnLst>
                                </p:cTn>
                              </p:par>
                              <p:par>
                                <p:cTn id="447" presetID="10" presetClass="exit" presetSubtype="0" fill="hold" grpId="0" nodeType="withEffect">
                                  <p:stCondLst>
                                    <p:cond delay="0"/>
                                  </p:stCondLst>
                                  <p:childTnLst>
                                    <p:animEffect transition="out" filter="fade">
                                      <p:cBhvr>
                                        <p:cTn id="448" dur="200"/>
                                        <p:tgtEl>
                                          <p:spTgt spid="238"/>
                                        </p:tgtEl>
                                      </p:cBhvr>
                                    </p:animEffect>
                                    <p:set>
                                      <p:cBhvr>
                                        <p:cTn id="449" dur="1" fill="hold">
                                          <p:stCondLst>
                                            <p:cond delay="199"/>
                                          </p:stCondLst>
                                        </p:cTn>
                                        <p:tgtEl>
                                          <p:spTgt spid="238"/>
                                        </p:tgtEl>
                                        <p:attrNameLst>
                                          <p:attrName>style.visibility</p:attrName>
                                        </p:attrNameLst>
                                      </p:cBhvr>
                                      <p:to>
                                        <p:strVal val="hidden"/>
                                      </p:to>
                                    </p:set>
                                  </p:childTnLst>
                                </p:cTn>
                              </p:par>
                              <p:par>
                                <p:cTn id="450" presetID="10" presetClass="exit" presetSubtype="0" fill="hold" grpId="0" nodeType="withEffect">
                                  <p:stCondLst>
                                    <p:cond delay="0"/>
                                  </p:stCondLst>
                                  <p:childTnLst>
                                    <p:animEffect transition="out" filter="fade">
                                      <p:cBhvr>
                                        <p:cTn id="451" dur="200"/>
                                        <p:tgtEl>
                                          <p:spTgt spid="239"/>
                                        </p:tgtEl>
                                      </p:cBhvr>
                                    </p:animEffect>
                                    <p:set>
                                      <p:cBhvr>
                                        <p:cTn id="452" dur="1" fill="hold">
                                          <p:stCondLst>
                                            <p:cond delay="199"/>
                                          </p:stCondLst>
                                        </p:cTn>
                                        <p:tgtEl>
                                          <p:spTgt spid="239"/>
                                        </p:tgtEl>
                                        <p:attrNameLst>
                                          <p:attrName>style.visibility</p:attrName>
                                        </p:attrNameLst>
                                      </p:cBhvr>
                                      <p:to>
                                        <p:strVal val="hidden"/>
                                      </p:to>
                                    </p:set>
                                  </p:childTnLst>
                                </p:cTn>
                              </p:par>
                              <p:par>
                                <p:cTn id="453" presetID="10" presetClass="entr" presetSubtype="0" fill="hold" grpId="0" nodeType="withEffect">
                                  <p:stCondLst>
                                    <p:cond delay="200"/>
                                  </p:stCondLst>
                                  <p:childTnLst>
                                    <p:set>
                                      <p:cBhvr>
                                        <p:cTn id="454" dur="1" fill="hold">
                                          <p:stCondLst>
                                            <p:cond delay="0"/>
                                          </p:stCondLst>
                                        </p:cTn>
                                        <p:tgtEl>
                                          <p:spTgt spid="50"/>
                                        </p:tgtEl>
                                        <p:attrNameLst>
                                          <p:attrName>style.visibility</p:attrName>
                                        </p:attrNameLst>
                                      </p:cBhvr>
                                      <p:to>
                                        <p:strVal val="visible"/>
                                      </p:to>
                                    </p:set>
                                    <p:animEffect transition="in" filter="fade">
                                      <p:cBhvr>
                                        <p:cTn id="455" dur="400"/>
                                        <p:tgtEl>
                                          <p:spTgt spid="50"/>
                                        </p:tgtEl>
                                      </p:cBhvr>
                                    </p:animEffect>
                                  </p:childTnLst>
                                </p:cTn>
                              </p:par>
                              <p:par>
                                <p:cTn id="456" presetID="10" presetClass="entr" presetSubtype="0" fill="hold" grpId="0" nodeType="withEffect">
                                  <p:stCondLst>
                                    <p:cond delay="200"/>
                                  </p:stCondLst>
                                  <p:childTnLst>
                                    <p:set>
                                      <p:cBhvr>
                                        <p:cTn id="457" dur="1" fill="hold">
                                          <p:stCondLst>
                                            <p:cond delay="0"/>
                                          </p:stCondLst>
                                        </p:cTn>
                                        <p:tgtEl>
                                          <p:spTgt spid="51"/>
                                        </p:tgtEl>
                                        <p:attrNameLst>
                                          <p:attrName>style.visibility</p:attrName>
                                        </p:attrNameLst>
                                      </p:cBhvr>
                                      <p:to>
                                        <p:strVal val="visible"/>
                                      </p:to>
                                    </p:set>
                                    <p:animEffect transition="in" filter="fade">
                                      <p:cBhvr>
                                        <p:cTn id="458" dur="400"/>
                                        <p:tgtEl>
                                          <p:spTgt spid="51"/>
                                        </p:tgtEl>
                                      </p:cBhvr>
                                    </p:animEffect>
                                  </p:childTnLst>
                                </p:cTn>
                              </p:par>
                              <p:par>
                                <p:cTn id="459" presetID="10" presetClass="entr" presetSubtype="0" fill="hold" grpId="0" nodeType="withEffect">
                                  <p:stCondLst>
                                    <p:cond delay="200"/>
                                  </p:stCondLst>
                                  <p:childTnLst>
                                    <p:set>
                                      <p:cBhvr>
                                        <p:cTn id="460" dur="1" fill="hold">
                                          <p:stCondLst>
                                            <p:cond delay="0"/>
                                          </p:stCondLst>
                                        </p:cTn>
                                        <p:tgtEl>
                                          <p:spTgt spid="52"/>
                                        </p:tgtEl>
                                        <p:attrNameLst>
                                          <p:attrName>style.visibility</p:attrName>
                                        </p:attrNameLst>
                                      </p:cBhvr>
                                      <p:to>
                                        <p:strVal val="visible"/>
                                      </p:to>
                                    </p:set>
                                    <p:animEffect transition="in" filter="fade">
                                      <p:cBhvr>
                                        <p:cTn id="461" dur="400"/>
                                        <p:tgtEl>
                                          <p:spTgt spid="52"/>
                                        </p:tgtEl>
                                      </p:cBhvr>
                                    </p:animEffect>
                                  </p:childTnLst>
                                </p:cTn>
                              </p:par>
                              <p:par>
                                <p:cTn id="462" presetID="10" presetClass="entr" presetSubtype="0" fill="hold" grpId="0" nodeType="withEffect">
                                  <p:stCondLst>
                                    <p:cond delay="200"/>
                                  </p:stCondLst>
                                  <p:childTnLst>
                                    <p:set>
                                      <p:cBhvr>
                                        <p:cTn id="463" dur="1" fill="hold">
                                          <p:stCondLst>
                                            <p:cond delay="0"/>
                                          </p:stCondLst>
                                        </p:cTn>
                                        <p:tgtEl>
                                          <p:spTgt spid="53"/>
                                        </p:tgtEl>
                                        <p:attrNameLst>
                                          <p:attrName>style.visibility</p:attrName>
                                        </p:attrNameLst>
                                      </p:cBhvr>
                                      <p:to>
                                        <p:strVal val="visible"/>
                                      </p:to>
                                    </p:set>
                                    <p:animEffect transition="in" filter="fade">
                                      <p:cBhvr>
                                        <p:cTn id="464" dur="400"/>
                                        <p:tgtEl>
                                          <p:spTgt spid="53"/>
                                        </p:tgtEl>
                                      </p:cBhvr>
                                    </p:animEffect>
                                  </p:childTnLst>
                                </p:cTn>
                              </p:par>
                              <p:par>
                                <p:cTn id="465" presetID="10" presetClass="entr" presetSubtype="0" fill="hold" grpId="0" nodeType="withEffect">
                                  <p:stCondLst>
                                    <p:cond delay="200"/>
                                  </p:stCondLst>
                                  <p:childTnLst>
                                    <p:set>
                                      <p:cBhvr>
                                        <p:cTn id="466" dur="1" fill="hold">
                                          <p:stCondLst>
                                            <p:cond delay="0"/>
                                          </p:stCondLst>
                                        </p:cTn>
                                        <p:tgtEl>
                                          <p:spTgt spid="54"/>
                                        </p:tgtEl>
                                        <p:attrNameLst>
                                          <p:attrName>style.visibility</p:attrName>
                                        </p:attrNameLst>
                                      </p:cBhvr>
                                      <p:to>
                                        <p:strVal val="visible"/>
                                      </p:to>
                                    </p:set>
                                    <p:animEffect transition="in" filter="fade">
                                      <p:cBhvr>
                                        <p:cTn id="467" dur="400"/>
                                        <p:tgtEl>
                                          <p:spTgt spid="54"/>
                                        </p:tgtEl>
                                      </p:cBhvr>
                                    </p:animEffect>
                                  </p:childTnLst>
                                </p:cTn>
                              </p:par>
                              <p:par>
                                <p:cTn id="468" presetID="10" presetClass="entr" presetSubtype="0" fill="hold" grpId="0" nodeType="withEffect">
                                  <p:stCondLst>
                                    <p:cond delay="200"/>
                                  </p:stCondLst>
                                  <p:childTnLst>
                                    <p:set>
                                      <p:cBhvr>
                                        <p:cTn id="469" dur="1" fill="hold">
                                          <p:stCondLst>
                                            <p:cond delay="0"/>
                                          </p:stCondLst>
                                        </p:cTn>
                                        <p:tgtEl>
                                          <p:spTgt spid="55"/>
                                        </p:tgtEl>
                                        <p:attrNameLst>
                                          <p:attrName>style.visibility</p:attrName>
                                        </p:attrNameLst>
                                      </p:cBhvr>
                                      <p:to>
                                        <p:strVal val="visible"/>
                                      </p:to>
                                    </p:set>
                                    <p:animEffect transition="in" filter="fade">
                                      <p:cBhvr>
                                        <p:cTn id="470" dur="400"/>
                                        <p:tgtEl>
                                          <p:spTgt spid="55"/>
                                        </p:tgtEl>
                                      </p:cBhvr>
                                    </p:animEffect>
                                  </p:childTnLst>
                                </p:cTn>
                              </p:par>
                              <p:par>
                                <p:cTn id="471" presetID="10" presetClass="entr" presetSubtype="0" fill="hold" grpId="0" nodeType="withEffect">
                                  <p:stCondLst>
                                    <p:cond delay="200"/>
                                  </p:stCondLst>
                                  <p:childTnLst>
                                    <p:set>
                                      <p:cBhvr>
                                        <p:cTn id="472" dur="1" fill="hold">
                                          <p:stCondLst>
                                            <p:cond delay="0"/>
                                          </p:stCondLst>
                                        </p:cTn>
                                        <p:tgtEl>
                                          <p:spTgt spid="56"/>
                                        </p:tgtEl>
                                        <p:attrNameLst>
                                          <p:attrName>style.visibility</p:attrName>
                                        </p:attrNameLst>
                                      </p:cBhvr>
                                      <p:to>
                                        <p:strVal val="visible"/>
                                      </p:to>
                                    </p:set>
                                    <p:animEffect transition="in" filter="fade">
                                      <p:cBhvr>
                                        <p:cTn id="473" dur="400"/>
                                        <p:tgtEl>
                                          <p:spTgt spid="56"/>
                                        </p:tgtEl>
                                      </p:cBhvr>
                                    </p:animEffect>
                                  </p:childTnLst>
                                </p:cTn>
                              </p:par>
                              <p:par>
                                <p:cTn id="474" presetID="10" presetClass="entr" presetSubtype="0" fill="hold" grpId="0" nodeType="withEffect">
                                  <p:stCondLst>
                                    <p:cond delay="200"/>
                                  </p:stCondLst>
                                  <p:childTnLst>
                                    <p:set>
                                      <p:cBhvr>
                                        <p:cTn id="475" dur="1" fill="hold">
                                          <p:stCondLst>
                                            <p:cond delay="0"/>
                                          </p:stCondLst>
                                        </p:cTn>
                                        <p:tgtEl>
                                          <p:spTgt spid="57"/>
                                        </p:tgtEl>
                                        <p:attrNameLst>
                                          <p:attrName>style.visibility</p:attrName>
                                        </p:attrNameLst>
                                      </p:cBhvr>
                                      <p:to>
                                        <p:strVal val="visible"/>
                                      </p:to>
                                    </p:set>
                                    <p:animEffect transition="in" filter="fade">
                                      <p:cBhvr>
                                        <p:cTn id="476" dur="400"/>
                                        <p:tgtEl>
                                          <p:spTgt spid="57"/>
                                        </p:tgtEl>
                                      </p:cBhvr>
                                    </p:animEffect>
                                  </p:childTnLst>
                                </p:cTn>
                              </p:par>
                              <p:par>
                                <p:cTn id="477" presetID="10" presetClass="entr" presetSubtype="0" fill="hold" grpId="0" nodeType="withEffect">
                                  <p:stCondLst>
                                    <p:cond delay="200"/>
                                  </p:stCondLst>
                                  <p:childTnLst>
                                    <p:set>
                                      <p:cBhvr>
                                        <p:cTn id="478" dur="1" fill="hold">
                                          <p:stCondLst>
                                            <p:cond delay="0"/>
                                          </p:stCondLst>
                                        </p:cTn>
                                        <p:tgtEl>
                                          <p:spTgt spid="58"/>
                                        </p:tgtEl>
                                        <p:attrNameLst>
                                          <p:attrName>style.visibility</p:attrName>
                                        </p:attrNameLst>
                                      </p:cBhvr>
                                      <p:to>
                                        <p:strVal val="visible"/>
                                      </p:to>
                                    </p:set>
                                    <p:animEffect transition="in" filter="fade">
                                      <p:cBhvr>
                                        <p:cTn id="479" dur="400"/>
                                        <p:tgtEl>
                                          <p:spTgt spid="58"/>
                                        </p:tgtEl>
                                      </p:cBhvr>
                                    </p:animEffect>
                                  </p:childTnLst>
                                </p:cTn>
                              </p:par>
                              <p:par>
                                <p:cTn id="480" presetID="10" presetClass="entr" presetSubtype="0" fill="hold" grpId="0" nodeType="withEffect">
                                  <p:stCondLst>
                                    <p:cond delay="200"/>
                                  </p:stCondLst>
                                  <p:childTnLst>
                                    <p:set>
                                      <p:cBhvr>
                                        <p:cTn id="481" dur="1" fill="hold">
                                          <p:stCondLst>
                                            <p:cond delay="0"/>
                                          </p:stCondLst>
                                        </p:cTn>
                                        <p:tgtEl>
                                          <p:spTgt spid="59"/>
                                        </p:tgtEl>
                                        <p:attrNameLst>
                                          <p:attrName>style.visibility</p:attrName>
                                        </p:attrNameLst>
                                      </p:cBhvr>
                                      <p:to>
                                        <p:strVal val="visible"/>
                                      </p:to>
                                    </p:set>
                                    <p:animEffect transition="in" filter="fade">
                                      <p:cBhvr>
                                        <p:cTn id="482" dur="400"/>
                                        <p:tgtEl>
                                          <p:spTgt spid="59"/>
                                        </p:tgtEl>
                                      </p:cBhvr>
                                    </p:animEffect>
                                  </p:childTnLst>
                                </p:cTn>
                              </p:par>
                              <p:par>
                                <p:cTn id="483" presetID="10" presetClass="entr" presetSubtype="0" fill="hold" grpId="0" nodeType="withEffect">
                                  <p:stCondLst>
                                    <p:cond delay="200"/>
                                  </p:stCondLst>
                                  <p:childTnLst>
                                    <p:set>
                                      <p:cBhvr>
                                        <p:cTn id="484" dur="1" fill="hold">
                                          <p:stCondLst>
                                            <p:cond delay="0"/>
                                          </p:stCondLst>
                                        </p:cTn>
                                        <p:tgtEl>
                                          <p:spTgt spid="60"/>
                                        </p:tgtEl>
                                        <p:attrNameLst>
                                          <p:attrName>style.visibility</p:attrName>
                                        </p:attrNameLst>
                                      </p:cBhvr>
                                      <p:to>
                                        <p:strVal val="visible"/>
                                      </p:to>
                                    </p:set>
                                    <p:animEffect transition="in" filter="fade">
                                      <p:cBhvr>
                                        <p:cTn id="485" dur="400"/>
                                        <p:tgtEl>
                                          <p:spTgt spid="60"/>
                                        </p:tgtEl>
                                      </p:cBhvr>
                                    </p:animEffect>
                                  </p:childTnLst>
                                </p:cTn>
                              </p:par>
                              <p:par>
                                <p:cTn id="486" presetID="10" presetClass="entr" presetSubtype="0" fill="hold" grpId="0" nodeType="withEffect">
                                  <p:stCondLst>
                                    <p:cond delay="200"/>
                                  </p:stCondLst>
                                  <p:childTnLst>
                                    <p:set>
                                      <p:cBhvr>
                                        <p:cTn id="487" dur="1" fill="hold">
                                          <p:stCondLst>
                                            <p:cond delay="0"/>
                                          </p:stCondLst>
                                        </p:cTn>
                                        <p:tgtEl>
                                          <p:spTgt spid="61"/>
                                        </p:tgtEl>
                                        <p:attrNameLst>
                                          <p:attrName>style.visibility</p:attrName>
                                        </p:attrNameLst>
                                      </p:cBhvr>
                                      <p:to>
                                        <p:strVal val="visible"/>
                                      </p:to>
                                    </p:set>
                                    <p:animEffect transition="in" filter="fade">
                                      <p:cBhvr>
                                        <p:cTn id="488" dur="400"/>
                                        <p:tgtEl>
                                          <p:spTgt spid="61"/>
                                        </p:tgtEl>
                                      </p:cBhvr>
                                    </p:animEffect>
                                  </p:childTnLst>
                                </p:cTn>
                              </p:par>
                              <p:par>
                                <p:cTn id="489" presetID="10" presetClass="entr" presetSubtype="0" fill="hold" grpId="0" nodeType="withEffect">
                                  <p:stCondLst>
                                    <p:cond delay="200"/>
                                  </p:stCondLst>
                                  <p:childTnLst>
                                    <p:set>
                                      <p:cBhvr>
                                        <p:cTn id="490" dur="1" fill="hold">
                                          <p:stCondLst>
                                            <p:cond delay="0"/>
                                          </p:stCondLst>
                                        </p:cTn>
                                        <p:tgtEl>
                                          <p:spTgt spid="62"/>
                                        </p:tgtEl>
                                        <p:attrNameLst>
                                          <p:attrName>style.visibility</p:attrName>
                                        </p:attrNameLst>
                                      </p:cBhvr>
                                      <p:to>
                                        <p:strVal val="visible"/>
                                      </p:to>
                                    </p:set>
                                    <p:animEffect transition="in" filter="fade">
                                      <p:cBhvr>
                                        <p:cTn id="491" dur="400"/>
                                        <p:tgtEl>
                                          <p:spTgt spid="62"/>
                                        </p:tgtEl>
                                      </p:cBhvr>
                                    </p:animEffect>
                                  </p:childTnLst>
                                </p:cTn>
                              </p:par>
                              <p:par>
                                <p:cTn id="492" presetID="10" presetClass="entr" presetSubtype="0" fill="hold" grpId="0" nodeType="withEffect">
                                  <p:stCondLst>
                                    <p:cond delay="200"/>
                                  </p:stCondLst>
                                  <p:childTnLst>
                                    <p:set>
                                      <p:cBhvr>
                                        <p:cTn id="493" dur="1" fill="hold">
                                          <p:stCondLst>
                                            <p:cond delay="0"/>
                                          </p:stCondLst>
                                        </p:cTn>
                                        <p:tgtEl>
                                          <p:spTgt spid="63"/>
                                        </p:tgtEl>
                                        <p:attrNameLst>
                                          <p:attrName>style.visibility</p:attrName>
                                        </p:attrNameLst>
                                      </p:cBhvr>
                                      <p:to>
                                        <p:strVal val="visible"/>
                                      </p:to>
                                    </p:set>
                                    <p:animEffect transition="in" filter="fade">
                                      <p:cBhvr>
                                        <p:cTn id="494" dur="400"/>
                                        <p:tgtEl>
                                          <p:spTgt spid="63"/>
                                        </p:tgtEl>
                                      </p:cBhvr>
                                    </p:animEffect>
                                  </p:childTnLst>
                                </p:cTn>
                              </p:par>
                              <p:par>
                                <p:cTn id="495" presetID="10" presetClass="entr" presetSubtype="0" fill="hold" grpId="0" nodeType="withEffect">
                                  <p:stCondLst>
                                    <p:cond delay="200"/>
                                  </p:stCondLst>
                                  <p:childTnLst>
                                    <p:set>
                                      <p:cBhvr>
                                        <p:cTn id="496" dur="1" fill="hold">
                                          <p:stCondLst>
                                            <p:cond delay="0"/>
                                          </p:stCondLst>
                                        </p:cTn>
                                        <p:tgtEl>
                                          <p:spTgt spid="64"/>
                                        </p:tgtEl>
                                        <p:attrNameLst>
                                          <p:attrName>style.visibility</p:attrName>
                                        </p:attrNameLst>
                                      </p:cBhvr>
                                      <p:to>
                                        <p:strVal val="visible"/>
                                      </p:to>
                                    </p:set>
                                    <p:animEffect transition="in" filter="fade">
                                      <p:cBhvr>
                                        <p:cTn id="497" dur="400"/>
                                        <p:tgtEl>
                                          <p:spTgt spid="64"/>
                                        </p:tgtEl>
                                      </p:cBhvr>
                                    </p:animEffect>
                                  </p:childTnLst>
                                </p:cTn>
                              </p:par>
                              <p:par>
                                <p:cTn id="498" presetID="10" presetClass="entr" presetSubtype="0" fill="hold" grpId="0" nodeType="withEffect">
                                  <p:stCondLst>
                                    <p:cond delay="200"/>
                                  </p:stCondLst>
                                  <p:childTnLst>
                                    <p:set>
                                      <p:cBhvr>
                                        <p:cTn id="499" dur="1" fill="hold">
                                          <p:stCondLst>
                                            <p:cond delay="0"/>
                                          </p:stCondLst>
                                        </p:cTn>
                                        <p:tgtEl>
                                          <p:spTgt spid="65"/>
                                        </p:tgtEl>
                                        <p:attrNameLst>
                                          <p:attrName>style.visibility</p:attrName>
                                        </p:attrNameLst>
                                      </p:cBhvr>
                                      <p:to>
                                        <p:strVal val="visible"/>
                                      </p:to>
                                    </p:set>
                                    <p:animEffect transition="in" filter="fade">
                                      <p:cBhvr>
                                        <p:cTn id="500" dur="400"/>
                                        <p:tgtEl>
                                          <p:spTgt spid="65"/>
                                        </p:tgtEl>
                                      </p:cBhvr>
                                    </p:animEffect>
                                  </p:childTnLst>
                                </p:cTn>
                              </p:par>
                              <p:par>
                                <p:cTn id="501" presetID="10" presetClass="entr" presetSubtype="0" fill="hold" grpId="0" nodeType="withEffect">
                                  <p:stCondLst>
                                    <p:cond delay="200"/>
                                  </p:stCondLst>
                                  <p:childTnLst>
                                    <p:set>
                                      <p:cBhvr>
                                        <p:cTn id="502" dur="1" fill="hold">
                                          <p:stCondLst>
                                            <p:cond delay="0"/>
                                          </p:stCondLst>
                                        </p:cTn>
                                        <p:tgtEl>
                                          <p:spTgt spid="66"/>
                                        </p:tgtEl>
                                        <p:attrNameLst>
                                          <p:attrName>style.visibility</p:attrName>
                                        </p:attrNameLst>
                                      </p:cBhvr>
                                      <p:to>
                                        <p:strVal val="visible"/>
                                      </p:to>
                                    </p:set>
                                    <p:animEffect transition="in" filter="fade">
                                      <p:cBhvr>
                                        <p:cTn id="503" dur="400"/>
                                        <p:tgtEl>
                                          <p:spTgt spid="66"/>
                                        </p:tgtEl>
                                      </p:cBhvr>
                                    </p:animEffect>
                                  </p:childTnLst>
                                </p:cTn>
                              </p:par>
                              <p:par>
                                <p:cTn id="504" presetID="10" presetClass="entr" presetSubtype="0" fill="hold" grpId="0" nodeType="withEffect">
                                  <p:stCondLst>
                                    <p:cond delay="200"/>
                                  </p:stCondLst>
                                  <p:childTnLst>
                                    <p:set>
                                      <p:cBhvr>
                                        <p:cTn id="505" dur="1" fill="hold">
                                          <p:stCondLst>
                                            <p:cond delay="0"/>
                                          </p:stCondLst>
                                        </p:cTn>
                                        <p:tgtEl>
                                          <p:spTgt spid="67"/>
                                        </p:tgtEl>
                                        <p:attrNameLst>
                                          <p:attrName>style.visibility</p:attrName>
                                        </p:attrNameLst>
                                      </p:cBhvr>
                                      <p:to>
                                        <p:strVal val="visible"/>
                                      </p:to>
                                    </p:set>
                                    <p:animEffect transition="in" filter="fade">
                                      <p:cBhvr>
                                        <p:cTn id="506" dur="400"/>
                                        <p:tgtEl>
                                          <p:spTgt spid="67"/>
                                        </p:tgtEl>
                                      </p:cBhvr>
                                    </p:animEffect>
                                  </p:childTnLst>
                                </p:cTn>
                              </p:par>
                              <p:par>
                                <p:cTn id="507" presetID="10" presetClass="entr" presetSubtype="0" fill="hold" grpId="0" nodeType="withEffect">
                                  <p:stCondLst>
                                    <p:cond delay="200"/>
                                  </p:stCondLst>
                                  <p:childTnLst>
                                    <p:set>
                                      <p:cBhvr>
                                        <p:cTn id="508" dur="1" fill="hold">
                                          <p:stCondLst>
                                            <p:cond delay="0"/>
                                          </p:stCondLst>
                                        </p:cTn>
                                        <p:tgtEl>
                                          <p:spTgt spid="68"/>
                                        </p:tgtEl>
                                        <p:attrNameLst>
                                          <p:attrName>style.visibility</p:attrName>
                                        </p:attrNameLst>
                                      </p:cBhvr>
                                      <p:to>
                                        <p:strVal val="visible"/>
                                      </p:to>
                                    </p:set>
                                    <p:animEffect transition="in" filter="fade">
                                      <p:cBhvr>
                                        <p:cTn id="509" dur="400"/>
                                        <p:tgtEl>
                                          <p:spTgt spid="68"/>
                                        </p:tgtEl>
                                      </p:cBhvr>
                                    </p:animEffect>
                                  </p:childTnLst>
                                </p:cTn>
                              </p:par>
                              <p:par>
                                <p:cTn id="510" presetID="10" presetClass="entr" presetSubtype="0" fill="hold" grpId="0" nodeType="withEffect">
                                  <p:stCondLst>
                                    <p:cond delay="200"/>
                                  </p:stCondLst>
                                  <p:childTnLst>
                                    <p:set>
                                      <p:cBhvr>
                                        <p:cTn id="511" dur="1" fill="hold">
                                          <p:stCondLst>
                                            <p:cond delay="0"/>
                                          </p:stCondLst>
                                        </p:cTn>
                                        <p:tgtEl>
                                          <p:spTgt spid="69"/>
                                        </p:tgtEl>
                                        <p:attrNameLst>
                                          <p:attrName>style.visibility</p:attrName>
                                        </p:attrNameLst>
                                      </p:cBhvr>
                                      <p:to>
                                        <p:strVal val="visible"/>
                                      </p:to>
                                    </p:set>
                                    <p:animEffect transition="in" filter="fade">
                                      <p:cBhvr>
                                        <p:cTn id="512" dur="400"/>
                                        <p:tgtEl>
                                          <p:spTgt spid="69"/>
                                        </p:tgtEl>
                                      </p:cBhvr>
                                    </p:animEffect>
                                  </p:childTnLst>
                                </p:cTn>
                              </p:par>
                              <p:par>
                                <p:cTn id="513" presetID="10" presetClass="entr" presetSubtype="0" fill="hold" grpId="0" nodeType="withEffect">
                                  <p:stCondLst>
                                    <p:cond delay="200"/>
                                  </p:stCondLst>
                                  <p:childTnLst>
                                    <p:set>
                                      <p:cBhvr>
                                        <p:cTn id="514" dur="1" fill="hold">
                                          <p:stCondLst>
                                            <p:cond delay="0"/>
                                          </p:stCondLst>
                                        </p:cTn>
                                        <p:tgtEl>
                                          <p:spTgt spid="70"/>
                                        </p:tgtEl>
                                        <p:attrNameLst>
                                          <p:attrName>style.visibility</p:attrName>
                                        </p:attrNameLst>
                                      </p:cBhvr>
                                      <p:to>
                                        <p:strVal val="visible"/>
                                      </p:to>
                                    </p:set>
                                    <p:animEffect transition="in" filter="fade">
                                      <p:cBhvr>
                                        <p:cTn id="515" dur="400"/>
                                        <p:tgtEl>
                                          <p:spTgt spid="70"/>
                                        </p:tgtEl>
                                      </p:cBhvr>
                                    </p:animEffect>
                                  </p:childTnLst>
                                </p:cTn>
                              </p:par>
                              <p:par>
                                <p:cTn id="516" presetID="10" presetClass="entr" presetSubtype="0" fill="hold" grpId="0" nodeType="withEffect">
                                  <p:stCondLst>
                                    <p:cond delay="200"/>
                                  </p:stCondLst>
                                  <p:childTnLst>
                                    <p:set>
                                      <p:cBhvr>
                                        <p:cTn id="517" dur="1" fill="hold">
                                          <p:stCondLst>
                                            <p:cond delay="0"/>
                                          </p:stCondLst>
                                        </p:cTn>
                                        <p:tgtEl>
                                          <p:spTgt spid="71"/>
                                        </p:tgtEl>
                                        <p:attrNameLst>
                                          <p:attrName>style.visibility</p:attrName>
                                        </p:attrNameLst>
                                      </p:cBhvr>
                                      <p:to>
                                        <p:strVal val="visible"/>
                                      </p:to>
                                    </p:set>
                                    <p:animEffect transition="in" filter="fade">
                                      <p:cBhvr>
                                        <p:cTn id="518" dur="400"/>
                                        <p:tgtEl>
                                          <p:spTgt spid="71"/>
                                        </p:tgtEl>
                                      </p:cBhvr>
                                    </p:animEffect>
                                  </p:childTnLst>
                                </p:cTn>
                              </p:par>
                              <p:par>
                                <p:cTn id="519" presetID="10" presetClass="entr" presetSubtype="0" fill="hold" grpId="0" nodeType="withEffect">
                                  <p:stCondLst>
                                    <p:cond delay="200"/>
                                  </p:stCondLst>
                                  <p:childTnLst>
                                    <p:set>
                                      <p:cBhvr>
                                        <p:cTn id="520" dur="1" fill="hold">
                                          <p:stCondLst>
                                            <p:cond delay="0"/>
                                          </p:stCondLst>
                                        </p:cTn>
                                        <p:tgtEl>
                                          <p:spTgt spid="72"/>
                                        </p:tgtEl>
                                        <p:attrNameLst>
                                          <p:attrName>style.visibility</p:attrName>
                                        </p:attrNameLst>
                                      </p:cBhvr>
                                      <p:to>
                                        <p:strVal val="visible"/>
                                      </p:to>
                                    </p:set>
                                    <p:animEffect transition="in" filter="fade">
                                      <p:cBhvr>
                                        <p:cTn id="521" dur="400"/>
                                        <p:tgtEl>
                                          <p:spTgt spid="72"/>
                                        </p:tgtEl>
                                      </p:cBhvr>
                                    </p:animEffect>
                                  </p:childTnLst>
                                </p:cTn>
                              </p:par>
                              <p:par>
                                <p:cTn id="522" presetID="10" presetClass="entr" presetSubtype="0" fill="hold" grpId="0" nodeType="withEffect">
                                  <p:stCondLst>
                                    <p:cond delay="200"/>
                                  </p:stCondLst>
                                  <p:childTnLst>
                                    <p:set>
                                      <p:cBhvr>
                                        <p:cTn id="523" dur="1" fill="hold">
                                          <p:stCondLst>
                                            <p:cond delay="0"/>
                                          </p:stCondLst>
                                        </p:cTn>
                                        <p:tgtEl>
                                          <p:spTgt spid="73"/>
                                        </p:tgtEl>
                                        <p:attrNameLst>
                                          <p:attrName>style.visibility</p:attrName>
                                        </p:attrNameLst>
                                      </p:cBhvr>
                                      <p:to>
                                        <p:strVal val="visible"/>
                                      </p:to>
                                    </p:set>
                                    <p:animEffect transition="in" filter="fade">
                                      <p:cBhvr>
                                        <p:cTn id="524" dur="400"/>
                                        <p:tgtEl>
                                          <p:spTgt spid="73"/>
                                        </p:tgtEl>
                                      </p:cBhvr>
                                    </p:animEffect>
                                  </p:childTnLst>
                                </p:cTn>
                              </p:par>
                              <p:par>
                                <p:cTn id="525" presetID="10" presetClass="entr" presetSubtype="0" fill="hold" grpId="0" nodeType="withEffect">
                                  <p:stCondLst>
                                    <p:cond delay="200"/>
                                  </p:stCondLst>
                                  <p:childTnLst>
                                    <p:set>
                                      <p:cBhvr>
                                        <p:cTn id="526" dur="1" fill="hold">
                                          <p:stCondLst>
                                            <p:cond delay="0"/>
                                          </p:stCondLst>
                                        </p:cTn>
                                        <p:tgtEl>
                                          <p:spTgt spid="74"/>
                                        </p:tgtEl>
                                        <p:attrNameLst>
                                          <p:attrName>style.visibility</p:attrName>
                                        </p:attrNameLst>
                                      </p:cBhvr>
                                      <p:to>
                                        <p:strVal val="visible"/>
                                      </p:to>
                                    </p:set>
                                    <p:animEffect transition="in" filter="fade">
                                      <p:cBhvr>
                                        <p:cTn id="527" dur="400"/>
                                        <p:tgtEl>
                                          <p:spTgt spid="74"/>
                                        </p:tgtEl>
                                      </p:cBhvr>
                                    </p:animEffect>
                                  </p:childTnLst>
                                </p:cTn>
                              </p:par>
                              <p:par>
                                <p:cTn id="528" presetID="10" presetClass="entr" presetSubtype="0" fill="hold" grpId="0" nodeType="withEffect">
                                  <p:stCondLst>
                                    <p:cond delay="200"/>
                                  </p:stCondLst>
                                  <p:childTnLst>
                                    <p:set>
                                      <p:cBhvr>
                                        <p:cTn id="529" dur="1" fill="hold">
                                          <p:stCondLst>
                                            <p:cond delay="0"/>
                                          </p:stCondLst>
                                        </p:cTn>
                                        <p:tgtEl>
                                          <p:spTgt spid="75"/>
                                        </p:tgtEl>
                                        <p:attrNameLst>
                                          <p:attrName>style.visibility</p:attrName>
                                        </p:attrNameLst>
                                      </p:cBhvr>
                                      <p:to>
                                        <p:strVal val="visible"/>
                                      </p:to>
                                    </p:set>
                                    <p:animEffect transition="in" filter="fade">
                                      <p:cBhvr>
                                        <p:cTn id="530" dur="400"/>
                                        <p:tgtEl>
                                          <p:spTgt spid="75"/>
                                        </p:tgtEl>
                                      </p:cBhvr>
                                    </p:animEffect>
                                  </p:childTnLst>
                                </p:cTn>
                              </p:par>
                              <p:par>
                                <p:cTn id="531" presetID="10" presetClass="entr" presetSubtype="0" fill="hold" grpId="0" nodeType="withEffect">
                                  <p:stCondLst>
                                    <p:cond delay="200"/>
                                  </p:stCondLst>
                                  <p:childTnLst>
                                    <p:set>
                                      <p:cBhvr>
                                        <p:cTn id="532" dur="1" fill="hold">
                                          <p:stCondLst>
                                            <p:cond delay="0"/>
                                          </p:stCondLst>
                                        </p:cTn>
                                        <p:tgtEl>
                                          <p:spTgt spid="76"/>
                                        </p:tgtEl>
                                        <p:attrNameLst>
                                          <p:attrName>style.visibility</p:attrName>
                                        </p:attrNameLst>
                                      </p:cBhvr>
                                      <p:to>
                                        <p:strVal val="visible"/>
                                      </p:to>
                                    </p:set>
                                    <p:animEffect transition="in" filter="fade">
                                      <p:cBhvr>
                                        <p:cTn id="533" dur="400"/>
                                        <p:tgtEl>
                                          <p:spTgt spid="76"/>
                                        </p:tgtEl>
                                      </p:cBhvr>
                                    </p:animEffect>
                                  </p:childTnLst>
                                </p:cTn>
                              </p:par>
                              <p:par>
                                <p:cTn id="534" presetID="10" presetClass="entr" presetSubtype="0" fill="hold" grpId="0" nodeType="withEffect">
                                  <p:stCondLst>
                                    <p:cond delay="200"/>
                                  </p:stCondLst>
                                  <p:childTnLst>
                                    <p:set>
                                      <p:cBhvr>
                                        <p:cTn id="535" dur="1" fill="hold">
                                          <p:stCondLst>
                                            <p:cond delay="0"/>
                                          </p:stCondLst>
                                        </p:cTn>
                                        <p:tgtEl>
                                          <p:spTgt spid="77"/>
                                        </p:tgtEl>
                                        <p:attrNameLst>
                                          <p:attrName>style.visibility</p:attrName>
                                        </p:attrNameLst>
                                      </p:cBhvr>
                                      <p:to>
                                        <p:strVal val="visible"/>
                                      </p:to>
                                    </p:set>
                                    <p:animEffect transition="in" filter="fade">
                                      <p:cBhvr>
                                        <p:cTn id="536" dur="400"/>
                                        <p:tgtEl>
                                          <p:spTgt spid="77"/>
                                        </p:tgtEl>
                                      </p:cBhvr>
                                    </p:animEffect>
                                  </p:childTnLst>
                                </p:cTn>
                              </p:par>
                              <p:par>
                                <p:cTn id="537" presetID="10" presetClass="entr" presetSubtype="0" fill="hold" grpId="0" nodeType="withEffect">
                                  <p:stCondLst>
                                    <p:cond delay="200"/>
                                  </p:stCondLst>
                                  <p:childTnLst>
                                    <p:set>
                                      <p:cBhvr>
                                        <p:cTn id="538" dur="1" fill="hold">
                                          <p:stCondLst>
                                            <p:cond delay="0"/>
                                          </p:stCondLst>
                                        </p:cTn>
                                        <p:tgtEl>
                                          <p:spTgt spid="78"/>
                                        </p:tgtEl>
                                        <p:attrNameLst>
                                          <p:attrName>style.visibility</p:attrName>
                                        </p:attrNameLst>
                                      </p:cBhvr>
                                      <p:to>
                                        <p:strVal val="visible"/>
                                      </p:to>
                                    </p:set>
                                    <p:animEffect transition="in" filter="fade">
                                      <p:cBhvr>
                                        <p:cTn id="539" dur="400"/>
                                        <p:tgtEl>
                                          <p:spTgt spid="78"/>
                                        </p:tgtEl>
                                      </p:cBhvr>
                                    </p:animEffect>
                                  </p:childTnLst>
                                </p:cTn>
                              </p:par>
                              <p:par>
                                <p:cTn id="540" presetID="10" presetClass="entr" presetSubtype="0" fill="hold" grpId="0" nodeType="withEffect">
                                  <p:stCondLst>
                                    <p:cond delay="200"/>
                                  </p:stCondLst>
                                  <p:childTnLst>
                                    <p:set>
                                      <p:cBhvr>
                                        <p:cTn id="541" dur="1" fill="hold">
                                          <p:stCondLst>
                                            <p:cond delay="0"/>
                                          </p:stCondLst>
                                        </p:cTn>
                                        <p:tgtEl>
                                          <p:spTgt spid="79"/>
                                        </p:tgtEl>
                                        <p:attrNameLst>
                                          <p:attrName>style.visibility</p:attrName>
                                        </p:attrNameLst>
                                      </p:cBhvr>
                                      <p:to>
                                        <p:strVal val="visible"/>
                                      </p:to>
                                    </p:set>
                                    <p:animEffect transition="in" filter="fade">
                                      <p:cBhvr>
                                        <p:cTn id="542" dur="400"/>
                                        <p:tgtEl>
                                          <p:spTgt spid="79"/>
                                        </p:tgtEl>
                                      </p:cBhvr>
                                    </p:animEffect>
                                  </p:childTnLst>
                                </p:cTn>
                              </p:par>
                              <p:par>
                                <p:cTn id="543" presetID="10" presetClass="entr" presetSubtype="0" fill="hold" grpId="0" nodeType="withEffect">
                                  <p:stCondLst>
                                    <p:cond delay="200"/>
                                  </p:stCondLst>
                                  <p:childTnLst>
                                    <p:set>
                                      <p:cBhvr>
                                        <p:cTn id="544" dur="1" fill="hold">
                                          <p:stCondLst>
                                            <p:cond delay="0"/>
                                          </p:stCondLst>
                                        </p:cTn>
                                        <p:tgtEl>
                                          <p:spTgt spid="80"/>
                                        </p:tgtEl>
                                        <p:attrNameLst>
                                          <p:attrName>style.visibility</p:attrName>
                                        </p:attrNameLst>
                                      </p:cBhvr>
                                      <p:to>
                                        <p:strVal val="visible"/>
                                      </p:to>
                                    </p:set>
                                    <p:animEffect transition="in" filter="fade">
                                      <p:cBhvr>
                                        <p:cTn id="545" dur="400"/>
                                        <p:tgtEl>
                                          <p:spTgt spid="80"/>
                                        </p:tgtEl>
                                      </p:cBhvr>
                                    </p:animEffect>
                                  </p:childTnLst>
                                </p:cTn>
                              </p:par>
                              <p:par>
                                <p:cTn id="546" presetID="10" presetClass="entr" presetSubtype="0" fill="hold" grpId="0" nodeType="withEffect">
                                  <p:stCondLst>
                                    <p:cond delay="200"/>
                                  </p:stCondLst>
                                  <p:childTnLst>
                                    <p:set>
                                      <p:cBhvr>
                                        <p:cTn id="547" dur="1" fill="hold">
                                          <p:stCondLst>
                                            <p:cond delay="0"/>
                                          </p:stCondLst>
                                        </p:cTn>
                                        <p:tgtEl>
                                          <p:spTgt spid="81"/>
                                        </p:tgtEl>
                                        <p:attrNameLst>
                                          <p:attrName>style.visibility</p:attrName>
                                        </p:attrNameLst>
                                      </p:cBhvr>
                                      <p:to>
                                        <p:strVal val="visible"/>
                                      </p:to>
                                    </p:set>
                                    <p:animEffect transition="in" filter="fade">
                                      <p:cBhvr>
                                        <p:cTn id="548" dur="400"/>
                                        <p:tgtEl>
                                          <p:spTgt spid="81"/>
                                        </p:tgtEl>
                                      </p:cBhvr>
                                    </p:animEffect>
                                  </p:childTnLst>
                                </p:cTn>
                              </p:par>
                              <p:par>
                                <p:cTn id="549" presetID="10" presetClass="entr" presetSubtype="0" fill="hold" grpId="0" nodeType="withEffect">
                                  <p:stCondLst>
                                    <p:cond delay="200"/>
                                  </p:stCondLst>
                                  <p:childTnLst>
                                    <p:set>
                                      <p:cBhvr>
                                        <p:cTn id="550" dur="1" fill="hold">
                                          <p:stCondLst>
                                            <p:cond delay="0"/>
                                          </p:stCondLst>
                                        </p:cTn>
                                        <p:tgtEl>
                                          <p:spTgt spid="82"/>
                                        </p:tgtEl>
                                        <p:attrNameLst>
                                          <p:attrName>style.visibility</p:attrName>
                                        </p:attrNameLst>
                                      </p:cBhvr>
                                      <p:to>
                                        <p:strVal val="visible"/>
                                      </p:to>
                                    </p:set>
                                    <p:animEffect transition="in" filter="fade">
                                      <p:cBhvr>
                                        <p:cTn id="551" dur="400"/>
                                        <p:tgtEl>
                                          <p:spTgt spid="82"/>
                                        </p:tgtEl>
                                      </p:cBhvr>
                                    </p:animEffect>
                                  </p:childTnLst>
                                </p:cTn>
                              </p:par>
                              <p:par>
                                <p:cTn id="552" presetID="10" presetClass="entr" presetSubtype="0" fill="hold" grpId="0" nodeType="withEffect">
                                  <p:stCondLst>
                                    <p:cond delay="200"/>
                                  </p:stCondLst>
                                  <p:childTnLst>
                                    <p:set>
                                      <p:cBhvr>
                                        <p:cTn id="553" dur="1" fill="hold">
                                          <p:stCondLst>
                                            <p:cond delay="0"/>
                                          </p:stCondLst>
                                        </p:cTn>
                                        <p:tgtEl>
                                          <p:spTgt spid="83"/>
                                        </p:tgtEl>
                                        <p:attrNameLst>
                                          <p:attrName>style.visibility</p:attrName>
                                        </p:attrNameLst>
                                      </p:cBhvr>
                                      <p:to>
                                        <p:strVal val="visible"/>
                                      </p:to>
                                    </p:set>
                                    <p:animEffect transition="in" filter="fade">
                                      <p:cBhvr>
                                        <p:cTn id="554" dur="400"/>
                                        <p:tgtEl>
                                          <p:spTgt spid="83"/>
                                        </p:tgtEl>
                                      </p:cBhvr>
                                    </p:animEffect>
                                  </p:childTnLst>
                                </p:cTn>
                              </p:par>
                              <p:par>
                                <p:cTn id="555" presetID="10" presetClass="entr" presetSubtype="0" fill="hold" grpId="0" nodeType="withEffect">
                                  <p:stCondLst>
                                    <p:cond delay="200"/>
                                  </p:stCondLst>
                                  <p:childTnLst>
                                    <p:set>
                                      <p:cBhvr>
                                        <p:cTn id="556" dur="1" fill="hold">
                                          <p:stCondLst>
                                            <p:cond delay="0"/>
                                          </p:stCondLst>
                                        </p:cTn>
                                        <p:tgtEl>
                                          <p:spTgt spid="84"/>
                                        </p:tgtEl>
                                        <p:attrNameLst>
                                          <p:attrName>style.visibility</p:attrName>
                                        </p:attrNameLst>
                                      </p:cBhvr>
                                      <p:to>
                                        <p:strVal val="visible"/>
                                      </p:to>
                                    </p:set>
                                    <p:animEffect transition="in" filter="fade">
                                      <p:cBhvr>
                                        <p:cTn id="557" dur="400"/>
                                        <p:tgtEl>
                                          <p:spTgt spid="84"/>
                                        </p:tgtEl>
                                      </p:cBhvr>
                                    </p:animEffect>
                                  </p:childTnLst>
                                </p:cTn>
                              </p:par>
                              <p:par>
                                <p:cTn id="558" presetID="10" presetClass="entr" presetSubtype="0" fill="hold" grpId="0" nodeType="withEffect">
                                  <p:stCondLst>
                                    <p:cond delay="200"/>
                                  </p:stCondLst>
                                  <p:childTnLst>
                                    <p:set>
                                      <p:cBhvr>
                                        <p:cTn id="559" dur="1" fill="hold">
                                          <p:stCondLst>
                                            <p:cond delay="0"/>
                                          </p:stCondLst>
                                        </p:cTn>
                                        <p:tgtEl>
                                          <p:spTgt spid="85"/>
                                        </p:tgtEl>
                                        <p:attrNameLst>
                                          <p:attrName>style.visibility</p:attrName>
                                        </p:attrNameLst>
                                      </p:cBhvr>
                                      <p:to>
                                        <p:strVal val="visible"/>
                                      </p:to>
                                    </p:set>
                                    <p:animEffect transition="in" filter="fade">
                                      <p:cBhvr>
                                        <p:cTn id="560" dur="400"/>
                                        <p:tgtEl>
                                          <p:spTgt spid="85"/>
                                        </p:tgtEl>
                                      </p:cBhvr>
                                    </p:animEffect>
                                  </p:childTnLst>
                                </p:cTn>
                              </p:par>
                              <p:par>
                                <p:cTn id="561" presetID="10" presetClass="entr" presetSubtype="0" fill="hold" grpId="0" nodeType="withEffect">
                                  <p:stCondLst>
                                    <p:cond delay="200"/>
                                  </p:stCondLst>
                                  <p:childTnLst>
                                    <p:set>
                                      <p:cBhvr>
                                        <p:cTn id="562" dur="1" fill="hold">
                                          <p:stCondLst>
                                            <p:cond delay="0"/>
                                          </p:stCondLst>
                                        </p:cTn>
                                        <p:tgtEl>
                                          <p:spTgt spid="86"/>
                                        </p:tgtEl>
                                        <p:attrNameLst>
                                          <p:attrName>style.visibility</p:attrName>
                                        </p:attrNameLst>
                                      </p:cBhvr>
                                      <p:to>
                                        <p:strVal val="visible"/>
                                      </p:to>
                                    </p:set>
                                    <p:animEffect transition="in" filter="fade">
                                      <p:cBhvr>
                                        <p:cTn id="563" dur="400"/>
                                        <p:tgtEl>
                                          <p:spTgt spid="86"/>
                                        </p:tgtEl>
                                      </p:cBhvr>
                                    </p:animEffect>
                                  </p:childTnLst>
                                </p:cTn>
                              </p:par>
                              <p:par>
                                <p:cTn id="564" presetID="10" presetClass="entr" presetSubtype="0" fill="hold" grpId="0" nodeType="withEffect">
                                  <p:stCondLst>
                                    <p:cond delay="200"/>
                                  </p:stCondLst>
                                  <p:childTnLst>
                                    <p:set>
                                      <p:cBhvr>
                                        <p:cTn id="565" dur="1" fill="hold">
                                          <p:stCondLst>
                                            <p:cond delay="0"/>
                                          </p:stCondLst>
                                        </p:cTn>
                                        <p:tgtEl>
                                          <p:spTgt spid="87"/>
                                        </p:tgtEl>
                                        <p:attrNameLst>
                                          <p:attrName>style.visibility</p:attrName>
                                        </p:attrNameLst>
                                      </p:cBhvr>
                                      <p:to>
                                        <p:strVal val="visible"/>
                                      </p:to>
                                    </p:set>
                                    <p:animEffect transition="in" filter="fade">
                                      <p:cBhvr>
                                        <p:cTn id="566" dur="400"/>
                                        <p:tgtEl>
                                          <p:spTgt spid="87"/>
                                        </p:tgtEl>
                                      </p:cBhvr>
                                    </p:animEffect>
                                  </p:childTnLst>
                                </p:cTn>
                              </p:par>
                              <p:par>
                                <p:cTn id="567" presetID="10" presetClass="entr" presetSubtype="0" fill="hold" grpId="0" nodeType="withEffect">
                                  <p:stCondLst>
                                    <p:cond delay="200"/>
                                  </p:stCondLst>
                                  <p:childTnLst>
                                    <p:set>
                                      <p:cBhvr>
                                        <p:cTn id="568" dur="1" fill="hold">
                                          <p:stCondLst>
                                            <p:cond delay="0"/>
                                          </p:stCondLst>
                                        </p:cTn>
                                        <p:tgtEl>
                                          <p:spTgt spid="88"/>
                                        </p:tgtEl>
                                        <p:attrNameLst>
                                          <p:attrName>style.visibility</p:attrName>
                                        </p:attrNameLst>
                                      </p:cBhvr>
                                      <p:to>
                                        <p:strVal val="visible"/>
                                      </p:to>
                                    </p:set>
                                    <p:animEffect transition="in" filter="fade">
                                      <p:cBhvr>
                                        <p:cTn id="569" dur="400"/>
                                        <p:tgtEl>
                                          <p:spTgt spid="88"/>
                                        </p:tgtEl>
                                      </p:cBhvr>
                                    </p:animEffect>
                                  </p:childTnLst>
                                </p:cTn>
                              </p:par>
                              <p:par>
                                <p:cTn id="570" presetID="10" presetClass="entr" presetSubtype="0" fill="hold" grpId="0" nodeType="withEffect">
                                  <p:stCondLst>
                                    <p:cond delay="200"/>
                                  </p:stCondLst>
                                  <p:childTnLst>
                                    <p:set>
                                      <p:cBhvr>
                                        <p:cTn id="571" dur="1" fill="hold">
                                          <p:stCondLst>
                                            <p:cond delay="0"/>
                                          </p:stCondLst>
                                        </p:cTn>
                                        <p:tgtEl>
                                          <p:spTgt spid="89"/>
                                        </p:tgtEl>
                                        <p:attrNameLst>
                                          <p:attrName>style.visibility</p:attrName>
                                        </p:attrNameLst>
                                      </p:cBhvr>
                                      <p:to>
                                        <p:strVal val="visible"/>
                                      </p:to>
                                    </p:set>
                                    <p:animEffect transition="in" filter="fade">
                                      <p:cBhvr>
                                        <p:cTn id="572" dur="400"/>
                                        <p:tgtEl>
                                          <p:spTgt spid="89"/>
                                        </p:tgtEl>
                                      </p:cBhvr>
                                    </p:animEffect>
                                  </p:childTnLst>
                                </p:cTn>
                              </p:par>
                              <p:par>
                                <p:cTn id="573" presetID="10" presetClass="entr" presetSubtype="0" fill="hold" grpId="0" nodeType="withEffect">
                                  <p:stCondLst>
                                    <p:cond delay="200"/>
                                  </p:stCondLst>
                                  <p:childTnLst>
                                    <p:set>
                                      <p:cBhvr>
                                        <p:cTn id="574" dur="1" fill="hold">
                                          <p:stCondLst>
                                            <p:cond delay="0"/>
                                          </p:stCondLst>
                                        </p:cTn>
                                        <p:tgtEl>
                                          <p:spTgt spid="90"/>
                                        </p:tgtEl>
                                        <p:attrNameLst>
                                          <p:attrName>style.visibility</p:attrName>
                                        </p:attrNameLst>
                                      </p:cBhvr>
                                      <p:to>
                                        <p:strVal val="visible"/>
                                      </p:to>
                                    </p:set>
                                    <p:animEffect transition="in" filter="fade">
                                      <p:cBhvr>
                                        <p:cTn id="575" dur="400"/>
                                        <p:tgtEl>
                                          <p:spTgt spid="90"/>
                                        </p:tgtEl>
                                      </p:cBhvr>
                                    </p:animEffect>
                                  </p:childTnLst>
                                </p:cTn>
                              </p:par>
                              <p:par>
                                <p:cTn id="576" presetID="10" presetClass="entr" presetSubtype="0" fill="hold" grpId="0" nodeType="withEffect">
                                  <p:stCondLst>
                                    <p:cond delay="200"/>
                                  </p:stCondLst>
                                  <p:childTnLst>
                                    <p:set>
                                      <p:cBhvr>
                                        <p:cTn id="577" dur="1" fill="hold">
                                          <p:stCondLst>
                                            <p:cond delay="0"/>
                                          </p:stCondLst>
                                        </p:cTn>
                                        <p:tgtEl>
                                          <p:spTgt spid="91"/>
                                        </p:tgtEl>
                                        <p:attrNameLst>
                                          <p:attrName>style.visibility</p:attrName>
                                        </p:attrNameLst>
                                      </p:cBhvr>
                                      <p:to>
                                        <p:strVal val="visible"/>
                                      </p:to>
                                    </p:set>
                                    <p:animEffect transition="in" filter="fade">
                                      <p:cBhvr>
                                        <p:cTn id="578" dur="400"/>
                                        <p:tgtEl>
                                          <p:spTgt spid="91"/>
                                        </p:tgtEl>
                                      </p:cBhvr>
                                    </p:animEffect>
                                  </p:childTnLst>
                                </p:cTn>
                              </p:par>
                              <p:par>
                                <p:cTn id="579" presetID="10" presetClass="entr" presetSubtype="0" fill="hold" grpId="0" nodeType="withEffect">
                                  <p:stCondLst>
                                    <p:cond delay="200"/>
                                  </p:stCondLst>
                                  <p:childTnLst>
                                    <p:set>
                                      <p:cBhvr>
                                        <p:cTn id="580" dur="1" fill="hold">
                                          <p:stCondLst>
                                            <p:cond delay="0"/>
                                          </p:stCondLst>
                                        </p:cTn>
                                        <p:tgtEl>
                                          <p:spTgt spid="92"/>
                                        </p:tgtEl>
                                        <p:attrNameLst>
                                          <p:attrName>style.visibility</p:attrName>
                                        </p:attrNameLst>
                                      </p:cBhvr>
                                      <p:to>
                                        <p:strVal val="visible"/>
                                      </p:to>
                                    </p:set>
                                    <p:animEffect transition="in" filter="fade">
                                      <p:cBhvr>
                                        <p:cTn id="581" dur="400"/>
                                        <p:tgtEl>
                                          <p:spTgt spid="92"/>
                                        </p:tgtEl>
                                      </p:cBhvr>
                                    </p:animEffect>
                                  </p:childTnLst>
                                </p:cTn>
                              </p:par>
                              <p:par>
                                <p:cTn id="582" presetID="10" presetClass="entr" presetSubtype="0" fill="hold" grpId="0" nodeType="withEffect">
                                  <p:stCondLst>
                                    <p:cond delay="200"/>
                                  </p:stCondLst>
                                  <p:childTnLst>
                                    <p:set>
                                      <p:cBhvr>
                                        <p:cTn id="583" dur="1" fill="hold">
                                          <p:stCondLst>
                                            <p:cond delay="0"/>
                                          </p:stCondLst>
                                        </p:cTn>
                                        <p:tgtEl>
                                          <p:spTgt spid="93"/>
                                        </p:tgtEl>
                                        <p:attrNameLst>
                                          <p:attrName>style.visibility</p:attrName>
                                        </p:attrNameLst>
                                      </p:cBhvr>
                                      <p:to>
                                        <p:strVal val="visible"/>
                                      </p:to>
                                    </p:set>
                                    <p:animEffect transition="in" filter="fade">
                                      <p:cBhvr>
                                        <p:cTn id="584" dur="400"/>
                                        <p:tgtEl>
                                          <p:spTgt spid="93"/>
                                        </p:tgtEl>
                                      </p:cBhvr>
                                    </p:animEffect>
                                  </p:childTnLst>
                                </p:cTn>
                              </p:par>
                              <p:par>
                                <p:cTn id="585" presetID="10" presetClass="entr" presetSubtype="0" fill="hold" grpId="0" nodeType="withEffect">
                                  <p:stCondLst>
                                    <p:cond delay="200"/>
                                  </p:stCondLst>
                                  <p:childTnLst>
                                    <p:set>
                                      <p:cBhvr>
                                        <p:cTn id="586" dur="1" fill="hold">
                                          <p:stCondLst>
                                            <p:cond delay="0"/>
                                          </p:stCondLst>
                                        </p:cTn>
                                        <p:tgtEl>
                                          <p:spTgt spid="94"/>
                                        </p:tgtEl>
                                        <p:attrNameLst>
                                          <p:attrName>style.visibility</p:attrName>
                                        </p:attrNameLst>
                                      </p:cBhvr>
                                      <p:to>
                                        <p:strVal val="visible"/>
                                      </p:to>
                                    </p:set>
                                    <p:animEffect transition="in" filter="fade">
                                      <p:cBhvr>
                                        <p:cTn id="587" dur="400"/>
                                        <p:tgtEl>
                                          <p:spTgt spid="94"/>
                                        </p:tgtEl>
                                      </p:cBhvr>
                                    </p:animEffect>
                                  </p:childTnLst>
                                </p:cTn>
                              </p:par>
                              <p:par>
                                <p:cTn id="588" presetID="10" presetClass="entr" presetSubtype="0" fill="hold" grpId="0" nodeType="withEffect">
                                  <p:stCondLst>
                                    <p:cond delay="200"/>
                                  </p:stCondLst>
                                  <p:childTnLst>
                                    <p:set>
                                      <p:cBhvr>
                                        <p:cTn id="589" dur="1" fill="hold">
                                          <p:stCondLst>
                                            <p:cond delay="0"/>
                                          </p:stCondLst>
                                        </p:cTn>
                                        <p:tgtEl>
                                          <p:spTgt spid="95"/>
                                        </p:tgtEl>
                                        <p:attrNameLst>
                                          <p:attrName>style.visibility</p:attrName>
                                        </p:attrNameLst>
                                      </p:cBhvr>
                                      <p:to>
                                        <p:strVal val="visible"/>
                                      </p:to>
                                    </p:set>
                                    <p:animEffect transition="in" filter="fade">
                                      <p:cBhvr>
                                        <p:cTn id="590" dur="400"/>
                                        <p:tgtEl>
                                          <p:spTgt spid="95"/>
                                        </p:tgtEl>
                                      </p:cBhvr>
                                    </p:animEffect>
                                  </p:childTnLst>
                                </p:cTn>
                              </p:par>
                              <p:par>
                                <p:cTn id="591" presetID="10" presetClass="entr" presetSubtype="0" fill="hold" grpId="0" nodeType="withEffect">
                                  <p:stCondLst>
                                    <p:cond delay="200"/>
                                  </p:stCondLst>
                                  <p:childTnLst>
                                    <p:set>
                                      <p:cBhvr>
                                        <p:cTn id="592" dur="1" fill="hold">
                                          <p:stCondLst>
                                            <p:cond delay="0"/>
                                          </p:stCondLst>
                                        </p:cTn>
                                        <p:tgtEl>
                                          <p:spTgt spid="96"/>
                                        </p:tgtEl>
                                        <p:attrNameLst>
                                          <p:attrName>style.visibility</p:attrName>
                                        </p:attrNameLst>
                                      </p:cBhvr>
                                      <p:to>
                                        <p:strVal val="visible"/>
                                      </p:to>
                                    </p:set>
                                    <p:animEffect transition="in" filter="fade">
                                      <p:cBhvr>
                                        <p:cTn id="593" dur="400"/>
                                        <p:tgtEl>
                                          <p:spTgt spid="96"/>
                                        </p:tgtEl>
                                      </p:cBhvr>
                                    </p:animEffect>
                                  </p:childTnLst>
                                </p:cTn>
                              </p:par>
                              <p:par>
                                <p:cTn id="594" presetID="10" presetClass="entr" presetSubtype="0" fill="hold" grpId="0" nodeType="withEffect">
                                  <p:stCondLst>
                                    <p:cond delay="200"/>
                                  </p:stCondLst>
                                  <p:childTnLst>
                                    <p:set>
                                      <p:cBhvr>
                                        <p:cTn id="595" dur="1" fill="hold">
                                          <p:stCondLst>
                                            <p:cond delay="0"/>
                                          </p:stCondLst>
                                        </p:cTn>
                                        <p:tgtEl>
                                          <p:spTgt spid="97"/>
                                        </p:tgtEl>
                                        <p:attrNameLst>
                                          <p:attrName>style.visibility</p:attrName>
                                        </p:attrNameLst>
                                      </p:cBhvr>
                                      <p:to>
                                        <p:strVal val="visible"/>
                                      </p:to>
                                    </p:set>
                                    <p:animEffect transition="in" filter="fade">
                                      <p:cBhvr>
                                        <p:cTn id="596" dur="400"/>
                                        <p:tgtEl>
                                          <p:spTgt spid="97"/>
                                        </p:tgtEl>
                                      </p:cBhvr>
                                    </p:animEffect>
                                  </p:childTnLst>
                                </p:cTn>
                              </p:par>
                              <p:par>
                                <p:cTn id="597" presetID="10" presetClass="entr" presetSubtype="0" fill="hold" grpId="0" nodeType="withEffect">
                                  <p:stCondLst>
                                    <p:cond delay="200"/>
                                  </p:stCondLst>
                                  <p:childTnLst>
                                    <p:set>
                                      <p:cBhvr>
                                        <p:cTn id="598" dur="1" fill="hold">
                                          <p:stCondLst>
                                            <p:cond delay="0"/>
                                          </p:stCondLst>
                                        </p:cTn>
                                        <p:tgtEl>
                                          <p:spTgt spid="98"/>
                                        </p:tgtEl>
                                        <p:attrNameLst>
                                          <p:attrName>style.visibility</p:attrName>
                                        </p:attrNameLst>
                                      </p:cBhvr>
                                      <p:to>
                                        <p:strVal val="visible"/>
                                      </p:to>
                                    </p:set>
                                    <p:animEffect transition="in" filter="fade">
                                      <p:cBhvr>
                                        <p:cTn id="599" dur="400"/>
                                        <p:tgtEl>
                                          <p:spTgt spid="98"/>
                                        </p:tgtEl>
                                      </p:cBhvr>
                                    </p:animEffect>
                                  </p:childTnLst>
                                </p:cTn>
                              </p:par>
                              <p:par>
                                <p:cTn id="600" presetID="10" presetClass="entr" presetSubtype="0" fill="hold" grpId="0" nodeType="withEffect">
                                  <p:stCondLst>
                                    <p:cond delay="200"/>
                                  </p:stCondLst>
                                  <p:childTnLst>
                                    <p:set>
                                      <p:cBhvr>
                                        <p:cTn id="601" dur="1" fill="hold">
                                          <p:stCondLst>
                                            <p:cond delay="0"/>
                                          </p:stCondLst>
                                        </p:cTn>
                                        <p:tgtEl>
                                          <p:spTgt spid="99"/>
                                        </p:tgtEl>
                                        <p:attrNameLst>
                                          <p:attrName>style.visibility</p:attrName>
                                        </p:attrNameLst>
                                      </p:cBhvr>
                                      <p:to>
                                        <p:strVal val="visible"/>
                                      </p:to>
                                    </p:set>
                                    <p:animEffect transition="in" filter="fade">
                                      <p:cBhvr>
                                        <p:cTn id="602" dur="400"/>
                                        <p:tgtEl>
                                          <p:spTgt spid="99"/>
                                        </p:tgtEl>
                                      </p:cBhvr>
                                    </p:animEffect>
                                  </p:childTnLst>
                                </p:cTn>
                              </p:par>
                              <p:par>
                                <p:cTn id="603" presetID="10" presetClass="entr" presetSubtype="0" fill="hold" grpId="0" nodeType="withEffect">
                                  <p:stCondLst>
                                    <p:cond delay="200"/>
                                  </p:stCondLst>
                                  <p:childTnLst>
                                    <p:set>
                                      <p:cBhvr>
                                        <p:cTn id="604" dur="1" fill="hold">
                                          <p:stCondLst>
                                            <p:cond delay="0"/>
                                          </p:stCondLst>
                                        </p:cTn>
                                        <p:tgtEl>
                                          <p:spTgt spid="100"/>
                                        </p:tgtEl>
                                        <p:attrNameLst>
                                          <p:attrName>style.visibility</p:attrName>
                                        </p:attrNameLst>
                                      </p:cBhvr>
                                      <p:to>
                                        <p:strVal val="visible"/>
                                      </p:to>
                                    </p:set>
                                    <p:animEffect transition="in" filter="fade">
                                      <p:cBhvr>
                                        <p:cTn id="605" dur="400"/>
                                        <p:tgtEl>
                                          <p:spTgt spid="100"/>
                                        </p:tgtEl>
                                      </p:cBhvr>
                                    </p:animEffect>
                                  </p:childTnLst>
                                </p:cTn>
                              </p:par>
                              <p:par>
                                <p:cTn id="606" presetID="10" presetClass="entr" presetSubtype="0" fill="hold" grpId="0" nodeType="withEffect">
                                  <p:stCondLst>
                                    <p:cond delay="200"/>
                                  </p:stCondLst>
                                  <p:childTnLst>
                                    <p:set>
                                      <p:cBhvr>
                                        <p:cTn id="607" dur="1" fill="hold">
                                          <p:stCondLst>
                                            <p:cond delay="0"/>
                                          </p:stCondLst>
                                        </p:cTn>
                                        <p:tgtEl>
                                          <p:spTgt spid="101"/>
                                        </p:tgtEl>
                                        <p:attrNameLst>
                                          <p:attrName>style.visibility</p:attrName>
                                        </p:attrNameLst>
                                      </p:cBhvr>
                                      <p:to>
                                        <p:strVal val="visible"/>
                                      </p:to>
                                    </p:set>
                                    <p:animEffect transition="in" filter="fade">
                                      <p:cBhvr>
                                        <p:cTn id="608" dur="400"/>
                                        <p:tgtEl>
                                          <p:spTgt spid="101"/>
                                        </p:tgtEl>
                                      </p:cBhvr>
                                    </p:animEffect>
                                  </p:childTnLst>
                                </p:cTn>
                              </p:par>
                              <p:par>
                                <p:cTn id="609" presetID="10" presetClass="entr" presetSubtype="0" fill="hold" grpId="0" nodeType="withEffect">
                                  <p:stCondLst>
                                    <p:cond delay="200"/>
                                  </p:stCondLst>
                                  <p:childTnLst>
                                    <p:set>
                                      <p:cBhvr>
                                        <p:cTn id="610" dur="1" fill="hold">
                                          <p:stCondLst>
                                            <p:cond delay="0"/>
                                          </p:stCondLst>
                                        </p:cTn>
                                        <p:tgtEl>
                                          <p:spTgt spid="102"/>
                                        </p:tgtEl>
                                        <p:attrNameLst>
                                          <p:attrName>style.visibility</p:attrName>
                                        </p:attrNameLst>
                                      </p:cBhvr>
                                      <p:to>
                                        <p:strVal val="visible"/>
                                      </p:to>
                                    </p:set>
                                    <p:animEffect transition="in" filter="fade">
                                      <p:cBhvr>
                                        <p:cTn id="611" dur="400"/>
                                        <p:tgtEl>
                                          <p:spTgt spid="102"/>
                                        </p:tgtEl>
                                      </p:cBhvr>
                                    </p:animEffect>
                                  </p:childTnLst>
                                </p:cTn>
                              </p:par>
                              <p:par>
                                <p:cTn id="612" presetID="10" presetClass="entr" presetSubtype="0" fill="hold" grpId="0" nodeType="withEffect">
                                  <p:stCondLst>
                                    <p:cond delay="200"/>
                                  </p:stCondLst>
                                  <p:childTnLst>
                                    <p:set>
                                      <p:cBhvr>
                                        <p:cTn id="613" dur="1" fill="hold">
                                          <p:stCondLst>
                                            <p:cond delay="0"/>
                                          </p:stCondLst>
                                        </p:cTn>
                                        <p:tgtEl>
                                          <p:spTgt spid="103"/>
                                        </p:tgtEl>
                                        <p:attrNameLst>
                                          <p:attrName>style.visibility</p:attrName>
                                        </p:attrNameLst>
                                      </p:cBhvr>
                                      <p:to>
                                        <p:strVal val="visible"/>
                                      </p:to>
                                    </p:set>
                                    <p:animEffect transition="in" filter="fade">
                                      <p:cBhvr>
                                        <p:cTn id="614" dur="400"/>
                                        <p:tgtEl>
                                          <p:spTgt spid="103"/>
                                        </p:tgtEl>
                                      </p:cBhvr>
                                    </p:animEffect>
                                  </p:childTnLst>
                                </p:cTn>
                              </p:par>
                              <p:par>
                                <p:cTn id="615" presetID="10" presetClass="entr" presetSubtype="0" fill="hold" grpId="0" nodeType="withEffect">
                                  <p:stCondLst>
                                    <p:cond delay="200"/>
                                  </p:stCondLst>
                                  <p:childTnLst>
                                    <p:set>
                                      <p:cBhvr>
                                        <p:cTn id="616" dur="1" fill="hold">
                                          <p:stCondLst>
                                            <p:cond delay="0"/>
                                          </p:stCondLst>
                                        </p:cTn>
                                        <p:tgtEl>
                                          <p:spTgt spid="104"/>
                                        </p:tgtEl>
                                        <p:attrNameLst>
                                          <p:attrName>style.visibility</p:attrName>
                                        </p:attrNameLst>
                                      </p:cBhvr>
                                      <p:to>
                                        <p:strVal val="visible"/>
                                      </p:to>
                                    </p:set>
                                    <p:animEffect transition="in" filter="fade">
                                      <p:cBhvr>
                                        <p:cTn id="617" dur="400"/>
                                        <p:tgtEl>
                                          <p:spTgt spid="104"/>
                                        </p:tgtEl>
                                      </p:cBhvr>
                                    </p:animEffect>
                                  </p:childTnLst>
                                </p:cTn>
                              </p:par>
                              <p:par>
                                <p:cTn id="618" presetID="10" presetClass="entr" presetSubtype="0" fill="hold" grpId="0" nodeType="withEffect">
                                  <p:stCondLst>
                                    <p:cond delay="200"/>
                                  </p:stCondLst>
                                  <p:childTnLst>
                                    <p:set>
                                      <p:cBhvr>
                                        <p:cTn id="619" dur="1" fill="hold">
                                          <p:stCondLst>
                                            <p:cond delay="0"/>
                                          </p:stCondLst>
                                        </p:cTn>
                                        <p:tgtEl>
                                          <p:spTgt spid="105"/>
                                        </p:tgtEl>
                                        <p:attrNameLst>
                                          <p:attrName>style.visibility</p:attrName>
                                        </p:attrNameLst>
                                      </p:cBhvr>
                                      <p:to>
                                        <p:strVal val="visible"/>
                                      </p:to>
                                    </p:set>
                                    <p:animEffect transition="in" filter="fade">
                                      <p:cBhvr>
                                        <p:cTn id="620" dur="400"/>
                                        <p:tgtEl>
                                          <p:spTgt spid="105"/>
                                        </p:tgtEl>
                                      </p:cBhvr>
                                    </p:animEffect>
                                  </p:childTnLst>
                                </p:cTn>
                              </p:par>
                              <p:par>
                                <p:cTn id="621" presetID="10" presetClass="entr" presetSubtype="0" fill="hold" grpId="0" nodeType="withEffect">
                                  <p:stCondLst>
                                    <p:cond delay="200"/>
                                  </p:stCondLst>
                                  <p:childTnLst>
                                    <p:set>
                                      <p:cBhvr>
                                        <p:cTn id="622" dur="1" fill="hold">
                                          <p:stCondLst>
                                            <p:cond delay="0"/>
                                          </p:stCondLst>
                                        </p:cTn>
                                        <p:tgtEl>
                                          <p:spTgt spid="106"/>
                                        </p:tgtEl>
                                        <p:attrNameLst>
                                          <p:attrName>style.visibility</p:attrName>
                                        </p:attrNameLst>
                                      </p:cBhvr>
                                      <p:to>
                                        <p:strVal val="visible"/>
                                      </p:to>
                                    </p:set>
                                    <p:animEffect transition="in" filter="fade">
                                      <p:cBhvr>
                                        <p:cTn id="623" dur="400"/>
                                        <p:tgtEl>
                                          <p:spTgt spid="106"/>
                                        </p:tgtEl>
                                      </p:cBhvr>
                                    </p:animEffect>
                                  </p:childTnLst>
                                </p:cTn>
                              </p:par>
                              <p:par>
                                <p:cTn id="624" presetID="10" presetClass="entr" presetSubtype="0" fill="hold" grpId="0" nodeType="withEffect">
                                  <p:stCondLst>
                                    <p:cond delay="200"/>
                                  </p:stCondLst>
                                  <p:childTnLst>
                                    <p:set>
                                      <p:cBhvr>
                                        <p:cTn id="625" dur="1" fill="hold">
                                          <p:stCondLst>
                                            <p:cond delay="0"/>
                                          </p:stCondLst>
                                        </p:cTn>
                                        <p:tgtEl>
                                          <p:spTgt spid="216"/>
                                        </p:tgtEl>
                                        <p:attrNameLst>
                                          <p:attrName>style.visibility</p:attrName>
                                        </p:attrNameLst>
                                      </p:cBhvr>
                                      <p:to>
                                        <p:strVal val="visible"/>
                                      </p:to>
                                    </p:set>
                                    <p:animEffect transition="in" filter="fade">
                                      <p:cBhvr>
                                        <p:cTn id="626" dur="400"/>
                                        <p:tgtEl>
                                          <p:spTgt spid="216"/>
                                        </p:tgtEl>
                                      </p:cBhvr>
                                    </p:animEffect>
                                  </p:childTnLst>
                                </p:cTn>
                              </p:par>
                              <p:par>
                                <p:cTn id="627" presetID="10" presetClass="entr" presetSubtype="0" fill="hold" grpId="0" nodeType="withEffect">
                                  <p:stCondLst>
                                    <p:cond delay="200"/>
                                  </p:stCondLst>
                                  <p:childTnLst>
                                    <p:set>
                                      <p:cBhvr>
                                        <p:cTn id="628" dur="1" fill="hold">
                                          <p:stCondLst>
                                            <p:cond delay="0"/>
                                          </p:stCondLst>
                                        </p:cTn>
                                        <p:tgtEl>
                                          <p:spTgt spid="217"/>
                                        </p:tgtEl>
                                        <p:attrNameLst>
                                          <p:attrName>style.visibility</p:attrName>
                                        </p:attrNameLst>
                                      </p:cBhvr>
                                      <p:to>
                                        <p:strVal val="visible"/>
                                      </p:to>
                                    </p:set>
                                    <p:animEffect transition="in" filter="fade">
                                      <p:cBhvr>
                                        <p:cTn id="629" dur="400"/>
                                        <p:tgtEl>
                                          <p:spTgt spid="217"/>
                                        </p:tgtEl>
                                      </p:cBhvr>
                                    </p:animEffect>
                                  </p:childTnLst>
                                </p:cTn>
                              </p:par>
                              <p:par>
                                <p:cTn id="630" presetID="10" presetClass="entr" presetSubtype="0" fill="hold" grpId="0" nodeType="withEffect">
                                  <p:stCondLst>
                                    <p:cond delay="200"/>
                                  </p:stCondLst>
                                  <p:childTnLst>
                                    <p:set>
                                      <p:cBhvr>
                                        <p:cTn id="631" dur="1" fill="hold">
                                          <p:stCondLst>
                                            <p:cond delay="0"/>
                                          </p:stCondLst>
                                        </p:cTn>
                                        <p:tgtEl>
                                          <p:spTgt spid="218"/>
                                        </p:tgtEl>
                                        <p:attrNameLst>
                                          <p:attrName>style.visibility</p:attrName>
                                        </p:attrNameLst>
                                      </p:cBhvr>
                                      <p:to>
                                        <p:strVal val="visible"/>
                                      </p:to>
                                    </p:set>
                                    <p:animEffect transition="in" filter="fade">
                                      <p:cBhvr>
                                        <p:cTn id="632" dur="400"/>
                                        <p:tgtEl>
                                          <p:spTgt spid="218"/>
                                        </p:tgtEl>
                                      </p:cBhvr>
                                    </p:animEffect>
                                  </p:childTnLst>
                                </p:cTn>
                              </p:par>
                              <p:par>
                                <p:cTn id="633" presetID="10" presetClass="entr" presetSubtype="0" fill="hold" grpId="0" nodeType="withEffect">
                                  <p:stCondLst>
                                    <p:cond delay="200"/>
                                  </p:stCondLst>
                                  <p:childTnLst>
                                    <p:set>
                                      <p:cBhvr>
                                        <p:cTn id="634" dur="1" fill="hold">
                                          <p:stCondLst>
                                            <p:cond delay="0"/>
                                          </p:stCondLst>
                                        </p:cTn>
                                        <p:tgtEl>
                                          <p:spTgt spid="219"/>
                                        </p:tgtEl>
                                        <p:attrNameLst>
                                          <p:attrName>style.visibility</p:attrName>
                                        </p:attrNameLst>
                                      </p:cBhvr>
                                      <p:to>
                                        <p:strVal val="visible"/>
                                      </p:to>
                                    </p:set>
                                    <p:animEffect transition="in" filter="fade">
                                      <p:cBhvr>
                                        <p:cTn id="635" dur="400"/>
                                        <p:tgtEl>
                                          <p:spTgt spid="219"/>
                                        </p:tgtEl>
                                      </p:cBhvr>
                                    </p:animEffect>
                                  </p:childTnLst>
                                </p:cTn>
                              </p:par>
                              <p:par>
                                <p:cTn id="636" presetID="10" presetClass="entr" presetSubtype="0" fill="hold" grpId="0" nodeType="withEffect">
                                  <p:stCondLst>
                                    <p:cond delay="200"/>
                                  </p:stCondLst>
                                  <p:childTnLst>
                                    <p:set>
                                      <p:cBhvr>
                                        <p:cTn id="637" dur="1" fill="hold">
                                          <p:stCondLst>
                                            <p:cond delay="0"/>
                                          </p:stCondLst>
                                        </p:cTn>
                                        <p:tgtEl>
                                          <p:spTgt spid="220"/>
                                        </p:tgtEl>
                                        <p:attrNameLst>
                                          <p:attrName>style.visibility</p:attrName>
                                        </p:attrNameLst>
                                      </p:cBhvr>
                                      <p:to>
                                        <p:strVal val="visible"/>
                                      </p:to>
                                    </p:set>
                                    <p:animEffect transition="in" filter="fade">
                                      <p:cBhvr>
                                        <p:cTn id="638" dur="400"/>
                                        <p:tgtEl>
                                          <p:spTgt spid="220"/>
                                        </p:tgtEl>
                                      </p:cBhvr>
                                    </p:animEffect>
                                  </p:childTnLst>
                                </p:cTn>
                              </p:par>
                              <p:par>
                                <p:cTn id="639" presetID="10" presetClass="entr" presetSubtype="0" fill="hold" grpId="0" nodeType="withEffect">
                                  <p:stCondLst>
                                    <p:cond delay="200"/>
                                  </p:stCondLst>
                                  <p:childTnLst>
                                    <p:set>
                                      <p:cBhvr>
                                        <p:cTn id="640" dur="1" fill="hold">
                                          <p:stCondLst>
                                            <p:cond delay="0"/>
                                          </p:stCondLst>
                                        </p:cTn>
                                        <p:tgtEl>
                                          <p:spTgt spid="221"/>
                                        </p:tgtEl>
                                        <p:attrNameLst>
                                          <p:attrName>style.visibility</p:attrName>
                                        </p:attrNameLst>
                                      </p:cBhvr>
                                      <p:to>
                                        <p:strVal val="visible"/>
                                      </p:to>
                                    </p:set>
                                    <p:animEffect transition="in" filter="fade">
                                      <p:cBhvr>
                                        <p:cTn id="641" dur="400"/>
                                        <p:tgtEl>
                                          <p:spTgt spid="221"/>
                                        </p:tgtEl>
                                      </p:cBhvr>
                                    </p:animEffect>
                                  </p:childTnLst>
                                </p:cTn>
                              </p:par>
                              <p:par>
                                <p:cTn id="642" presetID="10" presetClass="entr" presetSubtype="0" fill="hold" grpId="0" nodeType="withEffect">
                                  <p:stCondLst>
                                    <p:cond delay="200"/>
                                  </p:stCondLst>
                                  <p:childTnLst>
                                    <p:set>
                                      <p:cBhvr>
                                        <p:cTn id="643" dur="1" fill="hold">
                                          <p:stCondLst>
                                            <p:cond delay="0"/>
                                          </p:stCondLst>
                                        </p:cTn>
                                        <p:tgtEl>
                                          <p:spTgt spid="222"/>
                                        </p:tgtEl>
                                        <p:attrNameLst>
                                          <p:attrName>style.visibility</p:attrName>
                                        </p:attrNameLst>
                                      </p:cBhvr>
                                      <p:to>
                                        <p:strVal val="visible"/>
                                      </p:to>
                                    </p:set>
                                    <p:animEffect transition="in" filter="fade">
                                      <p:cBhvr>
                                        <p:cTn id="644" dur="400"/>
                                        <p:tgtEl>
                                          <p:spTgt spid="222"/>
                                        </p:tgtEl>
                                      </p:cBhvr>
                                    </p:animEffect>
                                  </p:childTnLst>
                                </p:cTn>
                              </p:par>
                              <p:par>
                                <p:cTn id="645" presetID="10" presetClass="entr" presetSubtype="0" fill="hold" grpId="0" nodeType="withEffect">
                                  <p:stCondLst>
                                    <p:cond delay="200"/>
                                  </p:stCondLst>
                                  <p:childTnLst>
                                    <p:set>
                                      <p:cBhvr>
                                        <p:cTn id="646" dur="1" fill="hold">
                                          <p:stCondLst>
                                            <p:cond delay="0"/>
                                          </p:stCondLst>
                                        </p:cTn>
                                        <p:tgtEl>
                                          <p:spTgt spid="223"/>
                                        </p:tgtEl>
                                        <p:attrNameLst>
                                          <p:attrName>style.visibility</p:attrName>
                                        </p:attrNameLst>
                                      </p:cBhvr>
                                      <p:to>
                                        <p:strVal val="visible"/>
                                      </p:to>
                                    </p:set>
                                    <p:animEffect transition="in" filter="fade">
                                      <p:cBhvr>
                                        <p:cTn id="647" dur="400"/>
                                        <p:tgtEl>
                                          <p:spTgt spid="223"/>
                                        </p:tgtEl>
                                      </p:cBhvr>
                                    </p:animEffect>
                                  </p:childTnLst>
                                </p:cTn>
                              </p:par>
                              <p:par>
                                <p:cTn id="648" presetID="10" presetClass="entr" presetSubtype="0" fill="hold" grpId="0" nodeType="withEffect">
                                  <p:stCondLst>
                                    <p:cond delay="200"/>
                                  </p:stCondLst>
                                  <p:childTnLst>
                                    <p:set>
                                      <p:cBhvr>
                                        <p:cTn id="649" dur="1" fill="hold">
                                          <p:stCondLst>
                                            <p:cond delay="0"/>
                                          </p:stCondLst>
                                        </p:cTn>
                                        <p:tgtEl>
                                          <p:spTgt spid="224"/>
                                        </p:tgtEl>
                                        <p:attrNameLst>
                                          <p:attrName>style.visibility</p:attrName>
                                        </p:attrNameLst>
                                      </p:cBhvr>
                                      <p:to>
                                        <p:strVal val="visible"/>
                                      </p:to>
                                    </p:set>
                                    <p:animEffect transition="in" filter="fade">
                                      <p:cBhvr>
                                        <p:cTn id="650" dur="400"/>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P spid="230" grpId="0" animBg="1"/>
      <p:bldP spid="231" grpId="0" animBg="1"/>
      <p:bldP spid="232" grpId="0" animBg="1"/>
      <p:bldP spid="233" grpId="0" animBg="1"/>
      <p:bldP spid="234" grpId="0" animBg="1"/>
      <p:bldP spid="235" grpId="0" animBg="1"/>
      <p:bldP spid="236" grpId="0" animBg="1"/>
      <p:bldP spid="237" grpId="0" animBg="1"/>
      <p:bldP spid="238" grpId="0" animBg="1"/>
      <p:bldP spid="239" grpId="0" animBg="1"/>
    </p:bld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Picture 1"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52500" y="2117280"/>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06</a:t>
            </a:r>
          </a:p>
        </p:txBody>
      </p:sp>
      <p:sp>
        <p:nvSpPr>
          <p:cNvPr id="4" name="Rectangle 3"/>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Conclusiones y recomendaciones</a:t>
            </a:r>
          </a:p>
        </p:txBody>
      </p:sp>
      <p:sp>
        <p:nvSpPr>
          <p:cNvPr id="7" name="Rectangle 6"/>
          <p:cNvSpPr/>
          <p:nvPr/>
        </p:nvSpPr>
        <p:spPr>
          <a:xfrm>
            <a:off x="3111500" y="2567876"/>
            <a:ext cx="8128000" cy="8685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11500" y="2567876"/>
            <a:ext cx="38100" cy="868553"/>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5200" y="2731668"/>
            <a:ext cx="7888986" cy="62738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Un objetivo, una conclusión; la respuesta al problema, los aportes, las</a:t>
            </a:r>
            <a:br/>
            <a:r>
              <a:rPr sz="1900" b="0" i="0">
                <a:solidFill>
                  <a:srgbClr val="C7D2E8"/>
                </a:solidFill>
                <a:latin typeface="Calibri"/>
              </a:rPr>
              <a:t>limitaciones y el trabajo futuro.</a:t>
            </a:r>
          </a:p>
        </p:txBody>
      </p:sp>
      <p:sp>
        <p:nvSpPr>
          <p:cNvPr id="10" name="Rounded Rectangle 9"/>
          <p:cNvSpPr/>
          <p:nvPr/>
        </p:nvSpPr>
        <p:spPr>
          <a:xfrm>
            <a:off x="95567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96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01</a:t>
            </a:r>
            <a:br/>
            <a:r>
              <a:rPr sz="1100" b="0" i="0">
                <a:solidFill>
                  <a:srgbClr val="E6ECF7"/>
                </a:solidFill>
                <a:latin typeface="Calibri"/>
              </a:rPr>
              <a:t>Introducción</a:t>
            </a:r>
          </a:p>
        </p:txBody>
      </p:sp>
      <p:sp>
        <p:nvSpPr>
          <p:cNvPr id="12" name="Rounded Rectangle 11"/>
          <p:cNvSpPr/>
          <p:nvPr/>
        </p:nvSpPr>
        <p:spPr>
          <a:xfrm>
            <a:off x="268922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02</a:t>
            </a:r>
            <a:br/>
            <a:r>
              <a:rPr sz="1100" b="0" i="0">
                <a:solidFill>
                  <a:srgbClr val="E6ECF7"/>
                </a:solidFill>
                <a:latin typeface="Calibri"/>
              </a:rPr>
              <a:t>Base teórica</a:t>
            </a:r>
          </a:p>
        </p:txBody>
      </p:sp>
      <p:sp>
        <p:nvSpPr>
          <p:cNvPr id="14" name="Rounded Rectangle 13"/>
          <p:cNvSpPr/>
          <p:nvPr/>
        </p:nvSpPr>
        <p:spPr>
          <a:xfrm>
            <a:off x="442277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67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03</a:t>
            </a:r>
            <a:br/>
            <a:r>
              <a:rPr sz="1100" b="0" i="0">
                <a:solidFill>
                  <a:srgbClr val="E6ECF7"/>
                </a:solidFill>
                <a:latin typeface="Calibri"/>
              </a:rPr>
              <a:t>Diseño y desarrollo</a:t>
            </a:r>
          </a:p>
        </p:txBody>
      </p:sp>
      <p:sp>
        <p:nvSpPr>
          <p:cNvPr id="16" name="Rounded Rectangle 15"/>
          <p:cNvSpPr/>
          <p:nvPr/>
        </p:nvSpPr>
        <p:spPr>
          <a:xfrm>
            <a:off x="615632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03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04</a:t>
            </a:r>
            <a:br/>
            <a:r>
              <a:rPr sz="1100" b="0" i="0">
                <a:solidFill>
                  <a:srgbClr val="E6ECF7"/>
                </a:solidFill>
                <a:latin typeface="Calibri"/>
              </a:rPr>
              <a:t>Resultados</a:t>
            </a:r>
          </a:p>
        </p:txBody>
      </p:sp>
      <p:sp>
        <p:nvSpPr>
          <p:cNvPr id="18" name="Rounded Rectangle 17"/>
          <p:cNvSpPr/>
          <p:nvPr/>
        </p:nvSpPr>
        <p:spPr>
          <a:xfrm>
            <a:off x="7889875" y="5675122"/>
            <a:ext cx="1612900" cy="570103"/>
          </a:xfrm>
          <a:prstGeom prst="roundRect">
            <a:avLst>
              <a:gd name="adj" fmla="val 10581"/>
            </a:avLst>
          </a:prstGeom>
          <a:solidFill>
            <a:srgbClr val="22335A"/>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4385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E6ECF7"/>
                </a:solidFill>
                <a:latin typeface="Calibri"/>
              </a:rPr>
              <a:t>05</a:t>
            </a:r>
            <a:br/>
            <a:r>
              <a:rPr sz="1100" b="0" i="0">
                <a:solidFill>
                  <a:srgbClr val="E6ECF7"/>
                </a:solidFill>
                <a:latin typeface="Calibri"/>
              </a:rPr>
              <a:t>Análisis</a:t>
            </a:r>
          </a:p>
        </p:txBody>
      </p:sp>
      <p:sp>
        <p:nvSpPr>
          <p:cNvPr id="20" name="Rounded Rectangle 19"/>
          <p:cNvSpPr/>
          <p:nvPr/>
        </p:nvSpPr>
        <p:spPr>
          <a:xfrm>
            <a:off x="9620250" y="5671947"/>
            <a:ext cx="1619250" cy="576453"/>
          </a:xfrm>
          <a:prstGeom prst="roundRect">
            <a:avLst>
              <a:gd name="adj" fmla="val 11015"/>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77400" y="5793321"/>
            <a:ext cx="150495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06</a:t>
            </a:r>
            <a:br/>
            <a:r>
              <a:rPr sz="1100" b="1" i="0">
                <a:solidFill>
                  <a:srgbClr val="FFFFFF"/>
                </a:solidFill>
                <a:latin typeface="Calibri"/>
              </a:rPr>
              <a:t>Conclusiones</a:t>
            </a:r>
          </a:p>
        </p:txBody>
      </p:sp>
      <p:sp>
        <p:nvSpPr>
          <p:cNvPr id="22" name="Enlace a sep-intro">
            <a:hlinkClick action="ppaction://hlinksldjump" r:id="rId3"/>
          </p:cNvPr>
          <p:cNvSpPr/>
          <p:nvPr/>
        </p:nvSpPr>
        <p:spPr>
          <a:xfrm>
            <a:off x="9525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nlace a sep-teoria">
            <a:hlinkClick action="ppaction://hlinksldjump" r:id="rId4"/>
          </p:cNvPr>
          <p:cNvSpPr/>
          <p:nvPr/>
        </p:nvSpPr>
        <p:spPr>
          <a:xfrm>
            <a:off x="26860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nlace a sep-diseno">
            <a:hlinkClick action="ppaction://hlinksldjump" r:id="rId5"/>
          </p:cNvPr>
          <p:cNvSpPr/>
          <p:nvPr/>
        </p:nvSpPr>
        <p:spPr>
          <a:xfrm>
            <a:off x="44196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nlace a sep-resultados">
            <a:hlinkClick action="ppaction://hlinksldjump" r:id="rId6"/>
          </p:cNvPr>
          <p:cNvSpPr/>
          <p:nvPr/>
        </p:nvSpPr>
        <p:spPr>
          <a:xfrm>
            <a:off x="61531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nlace a sep-analisis">
            <a:hlinkClick action="ppaction://hlinksldjump" r:id="rId7"/>
          </p:cNvPr>
          <p:cNvSpPr/>
          <p:nvPr/>
        </p:nvSpPr>
        <p:spPr>
          <a:xfrm>
            <a:off x="788670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nlace a sep-conclusiones">
            <a:hlinkClick action="ppaction://hlinksldjump" r:id="rId8"/>
          </p:cNvPr>
          <p:cNvSpPr/>
          <p:nvPr/>
        </p:nvSpPr>
        <p:spPr>
          <a:xfrm>
            <a:off x="9620250" y="5671947"/>
            <a:ext cx="1619250" cy="576453"/>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2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2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par>
                                <p:cTn id="12" presetID="10" presetClass="entr" presetSubtype="0" fill="hold" grpId="0" nodeType="withEffect">
                                  <p:stCondLst>
                                    <p:cond delay="23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5" presetID="10" presetClass="entr" presetSubtype="0" fill="hold" grpId="0" nodeType="withEffect">
                                  <p:stCondLst>
                                    <p:cond delay="34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34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4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4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45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4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45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45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45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06</a:t>
            </a:r>
          </a:p>
        </p:txBody>
      </p:sp>
      <p:sp>
        <p:nvSpPr>
          <p:cNvPr id="4" name="TextBox 3"/>
          <p:cNvSpPr txBox="1"/>
          <p:nvPr/>
        </p:nvSpPr>
        <p:spPr>
          <a:xfrm>
            <a:off x="898398"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Cinco objetivos, cinco conclusiones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8175" y="5121275"/>
            <a:ext cx="4057650" cy="869950"/>
          </a:xfrm>
          <a:prstGeom prst="roundRect">
            <a:avLst>
              <a:gd name="adj" fmla="val 8394"/>
            </a:avLst>
          </a:prstGeom>
          <a:solidFill>
            <a:srgbClr val="FFFFFF"/>
          </a:solidFill>
          <a:ln w="6350">
            <a:solidFill>
              <a:srgbClr val="9FD0B3"/>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38150" y="4946650"/>
            <a:ext cx="431800" cy="431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6250" y="498475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850" y="5085588"/>
            <a:ext cx="4064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1</a:t>
            </a:r>
          </a:p>
        </p:txBody>
      </p:sp>
      <p:sp>
        <p:nvSpPr>
          <p:cNvPr id="17" name="TextBox 16"/>
          <p:cNvSpPr txBox="1"/>
          <p:nvPr/>
        </p:nvSpPr>
        <p:spPr>
          <a:xfrm>
            <a:off x="869950" y="5241417"/>
            <a:ext cx="3743706" cy="266700"/>
          </a:xfrm>
          <a:prstGeom prst="rect">
            <a:avLst/>
          </a:prstGeom>
          <a:noFill/>
        </p:spPr>
        <p:txBody>
          <a:bodyPr wrap="square" lIns="0" rIns="0" tIns="0" bIns="0" anchor="t"/>
          <a:lstStyle/>
          <a:p>
            <a:pPr algn="l">
              <a:lnSpc>
                <a:spcPts val="2100"/>
              </a:lnSpc>
              <a:spcBef>
                <a:spcPts val="0"/>
              </a:spcBef>
              <a:spcAft>
                <a:spcPts val="0"/>
              </a:spcAft>
            </a:pPr>
            <a:r>
              <a:rPr sz="2000" b="1" i="0">
                <a:solidFill>
                  <a:srgbClr val="1B2A4A"/>
                </a:solidFill>
                <a:latin typeface="Calibri"/>
              </a:rPr>
              <a:t>Diagnosticar</a:t>
            </a:r>
          </a:p>
        </p:txBody>
      </p:sp>
      <p:sp>
        <p:nvSpPr>
          <p:cNvPr id="18" name="TextBox 17"/>
          <p:cNvSpPr txBox="1"/>
          <p:nvPr/>
        </p:nvSpPr>
        <p:spPr>
          <a:xfrm>
            <a:off x="869950" y="5542354"/>
            <a:ext cx="3743706" cy="357632"/>
          </a:xfrm>
          <a:prstGeom prst="rect">
            <a:avLst/>
          </a:prstGeom>
          <a:noFill/>
        </p:spPr>
        <p:txBody>
          <a:bodyPr wrap="square" lIns="0" rIns="0" tIns="0" bIns="0" anchor="t"/>
          <a:lstStyle/>
          <a:p>
            <a:pPr algn="l">
              <a:lnSpc>
                <a:spcPts val="1408"/>
              </a:lnSpc>
              <a:spcBef>
                <a:spcPts val="0"/>
              </a:spcBef>
              <a:spcAft>
                <a:spcPts val="0"/>
              </a:spcAft>
            </a:pPr>
            <a:r>
              <a:rPr sz="1100" b="0" i="0">
                <a:solidFill>
                  <a:srgbClr val="3F4A5A"/>
                </a:solidFill>
                <a:latin typeface="Calibri"/>
              </a:rPr>
              <a:t>Ninguno de los recursos revisados reúne los ocho atributos →</a:t>
            </a:r>
            <a:br/>
            <a:r>
              <a:rPr sz="1100" b="0" i="0">
                <a:solidFill>
                  <a:srgbClr val="3F4A5A"/>
                </a:solidFill>
                <a:latin typeface="Calibri"/>
              </a:rPr>
              <a:t>cinco requisitos</a:t>
            </a:r>
          </a:p>
        </p:txBody>
      </p:sp>
      <p:sp>
        <p:nvSpPr>
          <p:cNvPr id="19" name="Rounded Rectangle 18"/>
          <p:cNvSpPr/>
          <p:nvPr/>
        </p:nvSpPr>
        <p:spPr>
          <a:xfrm>
            <a:off x="2352675" y="4194175"/>
            <a:ext cx="4057650" cy="869950"/>
          </a:xfrm>
          <a:prstGeom prst="roundRect">
            <a:avLst>
              <a:gd name="adj" fmla="val 8394"/>
            </a:avLst>
          </a:prstGeom>
          <a:solidFill>
            <a:srgbClr val="FFFFFF"/>
          </a:solidFill>
          <a:ln w="6350">
            <a:solidFill>
              <a:srgbClr val="9FD0B3"/>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152650" y="4019550"/>
            <a:ext cx="431800" cy="431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190750" y="405765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5350" y="4158488"/>
            <a:ext cx="4064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2</a:t>
            </a:r>
          </a:p>
        </p:txBody>
      </p:sp>
      <p:sp>
        <p:nvSpPr>
          <p:cNvPr id="23" name="TextBox 22"/>
          <p:cNvSpPr txBox="1"/>
          <p:nvPr/>
        </p:nvSpPr>
        <p:spPr>
          <a:xfrm>
            <a:off x="2584450" y="4314317"/>
            <a:ext cx="3743706" cy="266700"/>
          </a:xfrm>
          <a:prstGeom prst="rect">
            <a:avLst/>
          </a:prstGeom>
          <a:noFill/>
        </p:spPr>
        <p:txBody>
          <a:bodyPr wrap="square" lIns="0" rIns="0" tIns="0" bIns="0" anchor="t"/>
          <a:lstStyle/>
          <a:p>
            <a:pPr algn="l">
              <a:lnSpc>
                <a:spcPts val="2100"/>
              </a:lnSpc>
              <a:spcBef>
                <a:spcPts val="0"/>
              </a:spcBef>
              <a:spcAft>
                <a:spcPts val="0"/>
              </a:spcAft>
            </a:pPr>
            <a:r>
              <a:rPr sz="2000" b="1" i="0">
                <a:solidFill>
                  <a:srgbClr val="1B2A4A"/>
                </a:solidFill>
                <a:latin typeface="Calibri"/>
              </a:rPr>
              <a:t>Fundamentar</a:t>
            </a:r>
          </a:p>
        </p:txBody>
      </p:sp>
      <p:sp>
        <p:nvSpPr>
          <p:cNvPr id="24" name="TextBox 23"/>
          <p:cNvSpPr txBox="1"/>
          <p:nvPr/>
        </p:nvSpPr>
        <p:spPr>
          <a:xfrm>
            <a:off x="2584450" y="4615254"/>
            <a:ext cx="3743706" cy="357632"/>
          </a:xfrm>
          <a:prstGeom prst="rect">
            <a:avLst/>
          </a:prstGeom>
          <a:noFill/>
        </p:spPr>
        <p:txBody>
          <a:bodyPr wrap="square" lIns="0" rIns="0" tIns="0" bIns="0" anchor="t"/>
          <a:lstStyle/>
          <a:p>
            <a:pPr algn="l">
              <a:lnSpc>
                <a:spcPts val="1408"/>
              </a:lnSpc>
              <a:spcBef>
                <a:spcPts val="0"/>
              </a:spcBef>
              <a:spcAft>
                <a:spcPts val="0"/>
              </a:spcAft>
            </a:pPr>
            <a:r>
              <a:rPr sz="1100" b="0" i="0">
                <a:solidFill>
                  <a:srgbClr val="3F4A5A"/>
                </a:solidFill>
                <a:latin typeface="Calibri"/>
              </a:rPr>
              <a:t>Una base común para motor, módulos y memoria; cuatro</a:t>
            </a:r>
            <a:br/>
            <a:r>
              <a:rPr sz="1100" b="0" i="0">
                <a:solidFill>
                  <a:srgbClr val="3F4A5A"/>
                </a:solidFill>
                <a:latin typeface="Calibri"/>
              </a:rPr>
              <a:t>principios</a:t>
            </a:r>
          </a:p>
        </p:txBody>
      </p:sp>
      <p:sp>
        <p:nvSpPr>
          <p:cNvPr id="25" name="Rounded Rectangle 24"/>
          <p:cNvSpPr/>
          <p:nvPr/>
        </p:nvSpPr>
        <p:spPr>
          <a:xfrm>
            <a:off x="4067175" y="3267075"/>
            <a:ext cx="4057650" cy="869950"/>
          </a:xfrm>
          <a:prstGeom prst="roundRect">
            <a:avLst>
              <a:gd name="adj" fmla="val 8394"/>
            </a:avLst>
          </a:prstGeom>
          <a:solidFill>
            <a:srgbClr val="FFFFFF"/>
          </a:solidFill>
          <a:ln w="6350">
            <a:solidFill>
              <a:srgbClr val="9FD0B3"/>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867150" y="3092450"/>
            <a:ext cx="431800" cy="431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905250" y="313055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79850" y="3231388"/>
            <a:ext cx="4064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3</a:t>
            </a:r>
          </a:p>
        </p:txBody>
      </p:sp>
      <p:sp>
        <p:nvSpPr>
          <p:cNvPr id="29" name="TextBox 28"/>
          <p:cNvSpPr txBox="1"/>
          <p:nvPr/>
        </p:nvSpPr>
        <p:spPr>
          <a:xfrm>
            <a:off x="4298950" y="3387217"/>
            <a:ext cx="3743706" cy="266700"/>
          </a:xfrm>
          <a:prstGeom prst="rect">
            <a:avLst/>
          </a:prstGeom>
          <a:noFill/>
        </p:spPr>
        <p:txBody>
          <a:bodyPr wrap="square" lIns="0" rIns="0" tIns="0" bIns="0" anchor="t"/>
          <a:lstStyle/>
          <a:p>
            <a:pPr algn="l">
              <a:lnSpc>
                <a:spcPts val="2100"/>
              </a:lnSpc>
              <a:spcBef>
                <a:spcPts val="0"/>
              </a:spcBef>
              <a:spcAft>
                <a:spcPts val="0"/>
              </a:spcAft>
            </a:pPr>
            <a:r>
              <a:rPr sz="2000" b="1" i="0">
                <a:solidFill>
                  <a:srgbClr val="1B2A4A"/>
                </a:solidFill>
                <a:latin typeface="Calibri"/>
              </a:rPr>
              <a:t>Desarrollar</a:t>
            </a:r>
          </a:p>
        </p:txBody>
      </p:sp>
      <p:sp>
        <p:nvSpPr>
          <p:cNvPr id="30" name="TextBox 29"/>
          <p:cNvSpPr txBox="1"/>
          <p:nvPr/>
        </p:nvSpPr>
        <p:spPr>
          <a:xfrm>
            <a:off x="4298950" y="3688154"/>
            <a:ext cx="3743706" cy="357632"/>
          </a:xfrm>
          <a:prstGeom prst="rect">
            <a:avLst/>
          </a:prstGeom>
          <a:noFill/>
        </p:spPr>
        <p:txBody>
          <a:bodyPr wrap="square" lIns="0" rIns="0" tIns="0" bIns="0" anchor="t"/>
          <a:lstStyle/>
          <a:p>
            <a:pPr algn="l">
              <a:lnSpc>
                <a:spcPts val="1408"/>
              </a:lnSpc>
              <a:spcBef>
                <a:spcPts val="0"/>
              </a:spcBef>
              <a:spcAft>
                <a:spcPts val="0"/>
              </a:spcAft>
            </a:pPr>
            <a:r>
              <a:rPr sz="1100" b="0" i="0">
                <a:solidFill>
                  <a:srgbClr val="3F4A5A"/>
                </a:solidFill>
                <a:latin typeface="Calibri"/>
              </a:rPr>
              <a:t>Nueve etapas; tres fases en un lienzo; ocho módulos; memoria</a:t>
            </a:r>
            <a:br/>
            <a:r>
              <a:rPr sz="1100" b="0" i="0">
                <a:solidFill>
                  <a:srgbClr val="3F4A5A"/>
                </a:solidFill>
                <a:latin typeface="Calibri"/>
              </a:rPr>
              <a:t>en PDF</a:t>
            </a:r>
          </a:p>
        </p:txBody>
      </p:sp>
      <p:sp>
        <p:nvSpPr>
          <p:cNvPr id="31" name="Rounded Rectangle 30"/>
          <p:cNvSpPr/>
          <p:nvPr/>
        </p:nvSpPr>
        <p:spPr>
          <a:xfrm>
            <a:off x="5781675" y="2339975"/>
            <a:ext cx="4057650" cy="869950"/>
          </a:xfrm>
          <a:prstGeom prst="roundRect">
            <a:avLst>
              <a:gd name="adj" fmla="val 8394"/>
            </a:avLst>
          </a:prstGeom>
          <a:solidFill>
            <a:srgbClr val="FFFFFF"/>
          </a:solidFill>
          <a:ln w="6350">
            <a:solidFill>
              <a:srgbClr val="9FD0B3"/>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581650" y="2165350"/>
            <a:ext cx="431800" cy="431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619750" y="220345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94350" y="2304288"/>
            <a:ext cx="4064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4</a:t>
            </a:r>
          </a:p>
        </p:txBody>
      </p:sp>
      <p:sp>
        <p:nvSpPr>
          <p:cNvPr id="35" name="TextBox 34"/>
          <p:cNvSpPr txBox="1"/>
          <p:nvPr/>
        </p:nvSpPr>
        <p:spPr>
          <a:xfrm>
            <a:off x="6013450" y="2460117"/>
            <a:ext cx="3743706" cy="266700"/>
          </a:xfrm>
          <a:prstGeom prst="rect">
            <a:avLst/>
          </a:prstGeom>
          <a:noFill/>
        </p:spPr>
        <p:txBody>
          <a:bodyPr wrap="square" lIns="0" rIns="0" tIns="0" bIns="0" anchor="t"/>
          <a:lstStyle/>
          <a:p>
            <a:pPr algn="l">
              <a:lnSpc>
                <a:spcPts val="2100"/>
              </a:lnSpc>
              <a:spcBef>
                <a:spcPts val="0"/>
              </a:spcBef>
              <a:spcAft>
                <a:spcPts val="0"/>
              </a:spcAft>
            </a:pPr>
            <a:r>
              <a:rPr sz="2000" b="1" i="0">
                <a:solidFill>
                  <a:srgbClr val="1B2A4A"/>
                </a:solidFill>
                <a:latin typeface="Calibri"/>
              </a:rPr>
              <a:t>Verificar y validar</a:t>
            </a:r>
          </a:p>
        </p:txBody>
      </p:sp>
      <p:sp>
        <p:nvSpPr>
          <p:cNvPr id="36" name="TextBox 35"/>
          <p:cNvSpPr txBox="1"/>
          <p:nvPr/>
        </p:nvSpPr>
        <p:spPr>
          <a:xfrm>
            <a:off x="6013450" y="2761054"/>
            <a:ext cx="3743706" cy="357632"/>
          </a:xfrm>
          <a:prstGeom prst="rect">
            <a:avLst/>
          </a:prstGeom>
          <a:noFill/>
        </p:spPr>
        <p:txBody>
          <a:bodyPr wrap="square" lIns="0" rIns="0" tIns="0" bIns="0" anchor="t"/>
          <a:lstStyle/>
          <a:p>
            <a:pPr algn="l">
              <a:lnSpc>
                <a:spcPts val="1408"/>
              </a:lnSpc>
              <a:spcBef>
                <a:spcPts val="0"/>
              </a:spcBef>
              <a:spcAft>
                <a:spcPts val="0"/>
              </a:spcAft>
            </a:pPr>
            <a:r>
              <a:rPr sz="1100" b="0" i="0">
                <a:solidFill>
                  <a:srgbClr val="3F4A5A"/>
                </a:solidFill>
                <a:latin typeface="Calibri"/>
              </a:rPr>
              <a:t>Tasas teóricas; σ</a:t>
            </a:r>
            <a:r>
              <a:rPr sz="1100" b="0" i="0" baseline="-25000">
                <a:solidFill>
                  <a:srgbClr val="3F4A5A"/>
                </a:solidFill>
                <a:latin typeface="Calibri"/>
              </a:rPr>
              <a:t>x</a:t>
            </a:r>
            <a:r>
              <a:rPr sz="1100" b="0" i="0">
                <a:solidFill>
                  <a:srgbClr val="3F4A5A"/>
                </a:solidFill>
                <a:latin typeface="Calibri"/>
              </a:rPr>
              <a:t> 0,04 % y flecha 0,26 %; diferencia con</a:t>
            </a:r>
            <a:br/>
            <a:r>
              <a:rPr sz="1100" b="0" i="0">
                <a:solidFill>
                  <a:srgbClr val="3F4A5A"/>
                </a:solidFill>
                <a:latin typeface="Calibri"/>
              </a:rPr>
              <a:t>SAP2000 0,21 %; Cook: el Q4 bloquea</a:t>
            </a:r>
          </a:p>
        </p:txBody>
      </p:sp>
      <p:sp>
        <p:nvSpPr>
          <p:cNvPr id="37" name="Rounded Rectangle 36"/>
          <p:cNvSpPr/>
          <p:nvPr/>
        </p:nvSpPr>
        <p:spPr>
          <a:xfrm>
            <a:off x="7496175" y="1412875"/>
            <a:ext cx="4057650" cy="869950"/>
          </a:xfrm>
          <a:prstGeom prst="roundRect">
            <a:avLst>
              <a:gd name="adj" fmla="val 8394"/>
            </a:avLst>
          </a:prstGeom>
          <a:solidFill>
            <a:srgbClr val="FFFFFF"/>
          </a:solidFill>
          <a:ln w="6350">
            <a:solidFill>
              <a:srgbClr val="9FD0B3"/>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296150" y="1238250"/>
            <a:ext cx="431800" cy="431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334250" y="127635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08850" y="1377188"/>
            <a:ext cx="4064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5</a:t>
            </a:r>
          </a:p>
        </p:txBody>
      </p:sp>
      <p:sp>
        <p:nvSpPr>
          <p:cNvPr id="41" name="TextBox 40"/>
          <p:cNvSpPr txBox="1"/>
          <p:nvPr/>
        </p:nvSpPr>
        <p:spPr>
          <a:xfrm>
            <a:off x="7727950" y="1533017"/>
            <a:ext cx="3743706" cy="266700"/>
          </a:xfrm>
          <a:prstGeom prst="rect">
            <a:avLst/>
          </a:prstGeom>
          <a:noFill/>
        </p:spPr>
        <p:txBody>
          <a:bodyPr wrap="square" lIns="0" rIns="0" tIns="0" bIns="0" anchor="t"/>
          <a:lstStyle/>
          <a:p>
            <a:pPr algn="l">
              <a:lnSpc>
                <a:spcPts val="2100"/>
              </a:lnSpc>
              <a:spcBef>
                <a:spcPts val="0"/>
              </a:spcBef>
              <a:spcAft>
                <a:spcPts val="0"/>
              </a:spcAft>
            </a:pPr>
            <a:r>
              <a:rPr sz="2000" b="1" i="0">
                <a:solidFill>
                  <a:srgbClr val="1B2A4A"/>
                </a:solidFill>
                <a:latin typeface="Calibri"/>
              </a:rPr>
              <a:t>Validar la propuesta</a:t>
            </a:r>
          </a:p>
        </p:txBody>
      </p:sp>
      <p:sp>
        <p:nvSpPr>
          <p:cNvPr id="42" name="TextBox 41"/>
          <p:cNvSpPr txBox="1"/>
          <p:nvPr/>
        </p:nvSpPr>
        <p:spPr>
          <a:xfrm>
            <a:off x="7727950" y="1833954"/>
            <a:ext cx="3743706" cy="357632"/>
          </a:xfrm>
          <a:prstGeom prst="rect">
            <a:avLst/>
          </a:prstGeom>
          <a:noFill/>
        </p:spPr>
        <p:txBody>
          <a:bodyPr wrap="square" lIns="0" rIns="0" tIns="0" bIns="0" anchor="t"/>
          <a:lstStyle/>
          <a:p>
            <a:pPr algn="l">
              <a:lnSpc>
                <a:spcPts val="1408"/>
              </a:lnSpc>
              <a:spcBef>
                <a:spcPts val="0"/>
              </a:spcBef>
              <a:spcAft>
                <a:spcPts val="0"/>
              </a:spcAft>
            </a:pPr>
            <a:r>
              <a:rPr sz="1100" b="0" i="0">
                <a:solidFill>
                  <a:srgbClr val="3F4A5A"/>
                </a:solidFill>
                <a:latin typeface="Calibri"/>
              </a:rPr>
              <a:t>7/7 · 9/9 · 3/3 · 18/18: los 15 criterios fijados de antemano se</a:t>
            </a:r>
            <a:br/>
            <a:r>
              <a:rPr sz="1100" b="0" i="0">
                <a:solidFill>
                  <a:srgbClr val="3F4A5A"/>
                </a:solidFill>
                <a:latin typeface="Calibri"/>
              </a:rPr>
              <a:t>cumplen</a:t>
            </a:r>
          </a:p>
        </p:txBody>
      </p:sp>
      <p:sp>
        <p:nvSpPr>
          <p:cNvPr id="43" name="Rectangle 42"/>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5150" y="6535420"/>
            <a:ext cx="529647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6" name="TextBox 45"/>
          <p:cNvSpPr txBox="1"/>
          <p:nvPr/>
        </p:nvSpPr>
        <p:spPr>
          <a:xfrm>
            <a:off x="5732336" y="6535420"/>
            <a:ext cx="727202"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Conclusiones</a:t>
            </a:r>
          </a:p>
        </p:txBody>
      </p:sp>
      <p:sp>
        <p:nvSpPr>
          <p:cNvPr id="47" name="TextBox 46"/>
          <p:cNvSpPr txBox="1"/>
          <p:nvPr/>
        </p:nvSpPr>
        <p:spPr>
          <a:xfrm>
            <a:off x="6330315" y="6535420"/>
            <a:ext cx="529659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52</a:t>
            </a:r>
          </a:p>
        </p:txBody>
      </p:sp>
      <p:sp>
        <p:nvSpPr>
          <p:cNvPr id="48"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nlace a sep-diseno">
            <a:hlinkClick action="ppaction://hlinksldjump" r:id="rId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nlace a sep-resultados">
            <a:hlinkClick action="ppaction://hlinksldjump" r:id="rId5"/>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nlace a sep-analisis">
            <a:hlinkClick action="ppaction://hlinksldjump" r:id="rId6"/>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nlace a sep-conclusiones">
            <a:hlinkClick action="ppaction://hlinksldjump" r:id="rId7"/>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3" fill="hold">
                      <p:stCondLst>
                        <p:cond delay="indefinite"/>
                        <p:cond evt="onBegin" delay="0">
                          <p:tn val="2"/>
                        </p:cond>
                      </p:stCondLst>
                      <p:childTnLst>
                        <p:par>
                          <p:cTn id="94"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childTnLst>
                          </p:cTn>
                        </p:par>
                      </p:childTnLst>
                    </p:cTn>
                  </p:par>
                  <p:par>
                    <p:cTn id="95" fill="hold">
                      <p:stCondLst>
                        <p:cond delay="indefinite"/>
                      </p:stCondLst>
                      <p:childTnLst>
                        <p:par>
                          <p:cTn id="9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childTnLst>
                          </p:cTn>
                        </p:par>
                      </p:childTnLst>
                    </p:cTn>
                  </p:par>
                  <p:par>
                    <p:cTn id="97" fill="hold">
                      <p:stCondLst>
                        <p:cond delay="indefinite"/>
                      </p:stCondLst>
                      <p:childTnLst>
                        <p:par>
                          <p:cTn id="9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childTnLst>
                          </p:cTn>
                        </p:par>
                      </p:childTnLst>
                    </p:cTn>
                  </p:par>
                  <p:par>
                    <p:cTn id="99" fill="hold">
                      <p:stCondLst>
                        <p:cond delay="indefinite"/>
                      </p:stCondLst>
                      <p:childTnLst>
                        <p:par>
                          <p:cTn id="100"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childTnLst>
                          </p:cTn>
                        </p:par>
                      </p:childTnLst>
                    </p:cTn>
                  </p:par>
                  <p:par>
                    <p:cTn id="101" fill="hold">
                      <p:stCondLst>
                        <p:cond delay="indefinite"/>
                      </p:stCondLst>
                      <p:childTnLst>
                        <p:par>
                          <p:cTn id="102"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06</a:t>
            </a:r>
          </a:p>
        </p:txBody>
      </p:sp>
      <p:sp>
        <p:nvSpPr>
          <p:cNvPr id="4" name="TextBox 3"/>
          <p:cNvSpPr txBox="1"/>
          <p:nvPr/>
        </p:nvSpPr>
        <p:spPr>
          <a:xfrm>
            <a:off x="898398"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La hipótesis queda comprobada en sus dos cláusulas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1500" y="1354709"/>
            <a:ext cx="4914900" cy="1120648"/>
          </a:xfrm>
          <a:prstGeom prst="roundRect">
            <a:avLst>
              <a:gd name="adj" fmla="val 1076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350" y="1531135"/>
            <a:ext cx="4611624" cy="170561"/>
          </a:xfrm>
          <a:prstGeom prst="rect">
            <a:avLst/>
          </a:prstGeom>
          <a:noFill/>
        </p:spPr>
        <p:txBody>
          <a:bodyPr wrap="square" lIns="0" rIns="0" tIns="0" bIns="0" anchor="t"/>
          <a:lstStyle/>
          <a:p>
            <a:pPr algn="l">
              <a:lnSpc>
                <a:spcPts val="1343"/>
              </a:lnSpc>
              <a:spcBef>
                <a:spcPts val="0"/>
              </a:spcBef>
              <a:spcAft>
                <a:spcPts val="0"/>
              </a:spcAft>
            </a:pPr>
            <a:r>
              <a:rPr sz="1100" b="1" i="0" cap="all" spc="132">
                <a:solidFill>
                  <a:srgbClr val="E8741A"/>
                </a:solidFill>
                <a:latin typeface="Calibri"/>
              </a:rPr>
              <a:t>De caja negra…</a:t>
            </a:r>
          </a:p>
        </p:txBody>
      </p:sp>
      <p:sp>
        <p:nvSpPr>
          <p:cNvPr id="15" name="TextBox 14"/>
          <p:cNvSpPr txBox="1"/>
          <p:nvPr/>
        </p:nvSpPr>
        <p:spPr>
          <a:xfrm>
            <a:off x="768350" y="1754835"/>
            <a:ext cx="4611624" cy="277495"/>
          </a:xfrm>
          <a:prstGeom prst="rect">
            <a:avLst/>
          </a:prstGeom>
          <a:noFill/>
        </p:spPr>
        <p:txBody>
          <a:bodyPr wrap="square" lIns="0" rIns="0" tIns="0" bIns="0" anchor="t"/>
          <a:lstStyle/>
          <a:p>
            <a:pPr algn="l">
              <a:lnSpc>
                <a:spcPts val="2185"/>
              </a:lnSpc>
              <a:spcBef>
                <a:spcPts val="0"/>
              </a:spcBef>
              <a:spcAft>
                <a:spcPts val="0"/>
              </a:spcAft>
            </a:pPr>
            <a:r>
              <a:rPr sz="1900" b="1" i="0">
                <a:solidFill>
                  <a:srgbClr val="1F2937"/>
                </a:solidFill>
                <a:latin typeface="Calibri"/>
              </a:rPr>
              <a:t>…a procedimiento a la vista</a:t>
            </a:r>
          </a:p>
        </p:txBody>
      </p:sp>
      <p:sp>
        <p:nvSpPr>
          <p:cNvPr id="16" name="TextBox 15"/>
          <p:cNvSpPr txBox="1"/>
          <p:nvPr/>
        </p:nvSpPr>
        <p:spPr>
          <a:xfrm>
            <a:off x="768350" y="2085772"/>
            <a:ext cx="4611624" cy="214630"/>
          </a:xfrm>
          <a:prstGeom prst="rect">
            <a:avLst/>
          </a:prstGeom>
          <a:noFill/>
        </p:spPr>
        <p:txBody>
          <a:bodyPr wrap="square" lIns="0" rIns="0" tIns="0" bIns="0" anchor="t"/>
          <a:lstStyle/>
          <a:p>
            <a:pPr algn="l">
              <a:lnSpc>
                <a:spcPts val="1690"/>
              </a:lnSpc>
              <a:spcBef>
                <a:spcPts val="0"/>
              </a:spcBef>
              <a:spcAft>
                <a:spcPts val="0"/>
              </a:spcAft>
            </a:pPr>
            <a:r>
              <a:rPr sz="1300" b="0" i="0">
                <a:solidFill>
                  <a:srgbClr val="3F4A5A"/>
                </a:solidFill>
                <a:latin typeface="Calibri"/>
              </a:rPr>
              <a:t>EduFEM expone las nueve etapas sobre el modelo del usuario</a:t>
            </a:r>
          </a:p>
        </p:txBody>
      </p:sp>
      <p:pic>
        <p:nvPicPr>
          <p:cNvPr id="17" name="Picture 16" descr="d1e1f7bc77a2d3e7.png"/>
          <p:cNvPicPr>
            <a:picLocks noChangeAspect="1"/>
          </p:cNvPicPr>
          <p:nvPr/>
        </p:nvPicPr>
        <p:blipFill>
          <a:blip r:embed="rId2"/>
          <a:stretch>
            <a:fillRect/>
          </a:stretch>
        </p:blipFill>
        <p:spPr>
          <a:xfrm>
            <a:off x="5492750" y="1276350"/>
            <a:ext cx="1206500" cy="1276350"/>
          </a:xfrm>
          <a:prstGeom prst="rect">
            <a:avLst/>
          </a:prstGeom>
        </p:spPr>
      </p:pic>
      <p:sp>
        <p:nvSpPr>
          <p:cNvPr id="18" name="Rounded Rectangle 17"/>
          <p:cNvSpPr/>
          <p:nvPr/>
        </p:nvSpPr>
        <p:spPr>
          <a:xfrm>
            <a:off x="6705600" y="1354709"/>
            <a:ext cx="4914900" cy="1120648"/>
          </a:xfrm>
          <a:prstGeom prst="roundRect">
            <a:avLst>
              <a:gd name="adj" fmla="val 10766"/>
            </a:avLst>
          </a:prstGeom>
          <a:solidFill>
            <a:srgbClr val="E4F3EA"/>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2450" y="1531135"/>
            <a:ext cx="4611624" cy="170561"/>
          </a:xfrm>
          <a:prstGeom prst="rect">
            <a:avLst/>
          </a:prstGeom>
          <a:noFill/>
        </p:spPr>
        <p:txBody>
          <a:bodyPr wrap="square" lIns="0" rIns="0" tIns="0" bIns="0" anchor="t"/>
          <a:lstStyle/>
          <a:p>
            <a:pPr algn="l">
              <a:lnSpc>
                <a:spcPts val="1343"/>
              </a:lnSpc>
              <a:spcBef>
                <a:spcPts val="0"/>
              </a:spcBef>
              <a:spcAft>
                <a:spcPts val="0"/>
              </a:spcAft>
            </a:pPr>
            <a:r>
              <a:rPr sz="1100" b="1" i="0" cap="all" spc="132">
                <a:solidFill>
                  <a:srgbClr val="2E8B57"/>
                </a:solidFill>
                <a:latin typeface="Calibri"/>
              </a:rPr>
              <a:t>Trazable y verificable</a:t>
            </a:r>
          </a:p>
        </p:txBody>
      </p:sp>
      <p:sp>
        <p:nvSpPr>
          <p:cNvPr id="20" name="TextBox 19"/>
          <p:cNvSpPr txBox="1"/>
          <p:nvPr/>
        </p:nvSpPr>
        <p:spPr>
          <a:xfrm>
            <a:off x="6902450" y="1754835"/>
            <a:ext cx="4611624" cy="277495"/>
          </a:xfrm>
          <a:prstGeom prst="rect">
            <a:avLst/>
          </a:prstGeom>
          <a:noFill/>
        </p:spPr>
        <p:txBody>
          <a:bodyPr wrap="square" lIns="0" rIns="0" tIns="0" bIns="0" anchor="t"/>
          <a:lstStyle/>
          <a:p>
            <a:pPr algn="l">
              <a:lnSpc>
                <a:spcPts val="2185"/>
              </a:lnSpc>
              <a:spcBef>
                <a:spcPts val="0"/>
              </a:spcBef>
              <a:spcAft>
                <a:spcPts val="0"/>
              </a:spcAft>
            </a:pPr>
            <a:r>
              <a:rPr sz="1900" b="1" i="0">
                <a:solidFill>
                  <a:srgbClr val="1F2937"/>
                </a:solidFill>
                <a:latin typeface="Calibri"/>
              </a:rPr>
              <a:t>(a) 6 de 6 · (b) 9 de 9</a:t>
            </a:r>
          </a:p>
        </p:txBody>
      </p:sp>
      <p:sp>
        <p:nvSpPr>
          <p:cNvPr id="21" name="TextBox 20"/>
          <p:cNvSpPr txBox="1"/>
          <p:nvPr/>
        </p:nvSpPr>
        <p:spPr>
          <a:xfrm>
            <a:off x="6902450" y="2085772"/>
            <a:ext cx="4611624" cy="214630"/>
          </a:xfrm>
          <a:prstGeom prst="rect">
            <a:avLst/>
          </a:prstGeom>
          <a:noFill/>
        </p:spPr>
        <p:txBody>
          <a:bodyPr wrap="square" lIns="0" rIns="0" tIns="0" bIns="0" anchor="t"/>
          <a:lstStyle/>
          <a:p>
            <a:pPr algn="l">
              <a:lnSpc>
                <a:spcPts val="1690"/>
              </a:lnSpc>
              <a:spcBef>
                <a:spcPts val="0"/>
              </a:spcBef>
              <a:spcAft>
                <a:spcPts val="0"/>
              </a:spcAft>
            </a:pPr>
            <a:r>
              <a:rPr sz="1300" b="0" i="0">
                <a:solidFill>
                  <a:srgbClr val="3F4A5A"/>
                </a:solidFill>
                <a:latin typeface="Calibri"/>
              </a:rPr>
              <a:t>con criterios fijados de antemano, dentro del alcance declarado</a:t>
            </a:r>
          </a:p>
        </p:txBody>
      </p:sp>
      <p:sp>
        <p:nvSpPr>
          <p:cNvPr id="22" name="Rounded Rectangle 21"/>
          <p:cNvSpPr/>
          <p:nvPr/>
        </p:nvSpPr>
        <p:spPr>
          <a:xfrm>
            <a:off x="568325" y="2769172"/>
            <a:ext cx="11055350" cy="1178814"/>
          </a:xfrm>
          <a:prstGeom prst="roundRect">
            <a:avLst>
              <a:gd name="adj" fmla="val 619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7400" y="2923703"/>
            <a:ext cx="10829544" cy="867918"/>
          </a:xfrm>
          <a:prstGeom prst="rect">
            <a:avLst/>
          </a:prstGeom>
          <a:noFill/>
        </p:spPr>
        <p:txBody>
          <a:bodyPr wrap="square" lIns="0" rIns="0" tIns="0" bIns="0" anchor="t"/>
          <a:lstStyle/>
          <a:p>
            <a:pPr algn="l">
              <a:lnSpc>
                <a:spcPts val="2278"/>
              </a:lnSpc>
              <a:spcBef>
                <a:spcPts val="0"/>
              </a:spcBef>
              <a:spcAft>
                <a:spcPts val="0"/>
              </a:spcAft>
            </a:pPr>
            <a:r>
              <a:rPr sz="1700" b="1" i="0">
                <a:solidFill>
                  <a:srgbClr val="1F2937"/>
                </a:solidFill>
                <a:latin typeface="Calibri"/>
              </a:rPr>
              <a:t>La respuesta es de orden técnico: la incidencia está en el medio de cálculo.</a:t>
            </a:r>
            <a:r>
              <a:rPr sz="1700" b="0" i="0">
                <a:solidFill>
                  <a:srgbClr val="1F2937"/>
                </a:solidFill>
                <a:latin typeface="Calibri"/>
              </a:rPr>
              <a:t> Un software que solo muestra datos y</a:t>
            </a:r>
            <a:br/>
            <a:r>
              <a:rPr sz="1700" b="0" i="0">
                <a:solidFill>
                  <a:srgbClr val="1F2937"/>
                </a:solidFill>
                <a:latin typeface="Calibri"/>
              </a:rPr>
              <a:t>resultados deja un análisis que no puede seguirse ni comprobarse; uno que expone el procedimiento permite ambas</a:t>
            </a:r>
            <a:br/>
            <a:r>
              <a:rPr sz="1700" b="0" i="0">
                <a:solidFill>
                  <a:srgbClr val="1F2937"/>
                </a:solidFill>
                <a:latin typeface="Calibri"/>
              </a:rPr>
              <a:t>cosas.</a:t>
            </a:r>
          </a:p>
        </p:txBody>
      </p:sp>
      <p:sp>
        <p:nvSpPr>
          <p:cNvPr id="24" name="Rounded Rectangle 23"/>
          <p:cNvSpPr/>
          <p:nvPr/>
        </p:nvSpPr>
        <p:spPr>
          <a:xfrm>
            <a:off x="565150" y="5442331"/>
            <a:ext cx="11061700" cy="755269"/>
          </a:xfrm>
          <a:prstGeom prst="roundRect">
            <a:avLst>
              <a:gd name="adj" fmla="val 6726"/>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5150" y="5442331"/>
            <a:ext cx="50800" cy="755269"/>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450" y="5667489"/>
            <a:ext cx="288354"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27" name="TextBox 26"/>
          <p:cNvSpPr txBox="1"/>
          <p:nvPr/>
        </p:nvSpPr>
        <p:spPr>
          <a:xfrm>
            <a:off x="1183704" y="5562059"/>
            <a:ext cx="10457752" cy="526796"/>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Lo medido son propiedades del software y de sus resultados; queda fuera de lo medido qué ocurre cuando se</a:t>
            </a:r>
            <a:br/>
            <a:r>
              <a:rPr sz="1700" b="1" i="0">
                <a:solidFill>
                  <a:srgbClr val="1B2A4A"/>
                </a:solidFill>
                <a:latin typeface="Calibri"/>
              </a:rPr>
              <a:t>pone en manos de un curso.</a:t>
            </a:r>
          </a:p>
        </p:txBody>
      </p:sp>
      <p:sp>
        <p:nvSpPr>
          <p:cNvPr id="28" name="Rectangle 27"/>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5150" y="6535420"/>
            <a:ext cx="539927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1" name="TextBox 30"/>
          <p:cNvSpPr txBox="1"/>
          <p:nvPr/>
        </p:nvSpPr>
        <p:spPr>
          <a:xfrm>
            <a:off x="5833174" y="6535420"/>
            <a:ext cx="52565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Hipótesis</a:t>
            </a:r>
          </a:p>
        </p:txBody>
      </p:sp>
      <p:sp>
        <p:nvSpPr>
          <p:cNvPr id="32" name="TextBox 31"/>
          <p:cNvSpPr txBox="1"/>
          <p:nvPr/>
        </p:nvSpPr>
        <p:spPr>
          <a:xfrm>
            <a:off x="6227572" y="6535420"/>
            <a:ext cx="539927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53</a:t>
            </a:r>
          </a:p>
        </p:txBody>
      </p:sp>
      <p:sp>
        <p:nvSpPr>
          <p:cNvPr id="33" name="Rounded Rectangle 32"/>
          <p:cNvSpPr/>
          <p:nvPr/>
        </p:nvSpPr>
        <p:spPr>
          <a:xfrm>
            <a:off x="5725922" y="1678813"/>
            <a:ext cx="740092" cy="472694"/>
          </a:xfrm>
          <a:prstGeom prst="roundRect">
            <a:avLst>
              <a:gd name="adj" fmla="val 18135"/>
            </a:avLst>
          </a:prstGeom>
          <a:solidFill>
            <a:srgbClr val="EAF0FA"/>
          </a:solidFill>
          <a:ln w="635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92597" y="1747545"/>
            <a:ext cx="606742" cy="189865"/>
          </a:xfrm>
          <a:prstGeom prst="rect">
            <a:avLst/>
          </a:prstGeom>
          <a:noFill/>
        </p:spPr>
        <p:txBody>
          <a:bodyPr wrap="square" lIns="0" rIns="0" tIns="0" bIns="0" anchor="t"/>
          <a:lstStyle/>
          <a:p>
            <a:pPr algn="ctr">
              <a:lnSpc>
                <a:spcPts val="1495"/>
              </a:lnSpc>
              <a:spcBef>
                <a:spcPts val="0"/>
              </a:spcBef>
              <a:spcAft>
                <a:spcPts val="0"/>
              </a:spcAft>
            </a:pPr>
            <a:r>
              <a:rPr sz="1300" b="1" i="0">
                <a:solidFill>
                  <a:srgbClr val="1F2937"/>
                </a:solidFill>
                <a:latin typeface="Calibri"/>
              </a:rPr>
              <a:t>EduFEM</a:t>
            </a:r>
          </a:p>
        </p:txBody>
      </p:sp>
      <p:sp>
        <p:nvSpPr>
          <p:cNvPr id="35" name="TextBox 34"/>
          <p:cNvSpPr txBox="1"/>
          <p:nvPr/>
        </p:nvSpPr>
        <p:spPr>
          <a:xfrm>
            <a:off x="5792597" y="1964201"/>
            <a:ext cx="606742" cy="124142"/>
          </a:xfrm>
          <a:prstGeom prst="rect">
            <a:avLst/>
          </a:prstGeom>
          <a:noFill/>
        </p:spPr>
        <p:txBody>
          <a:bodyPr wrap="square" lIns="0" rIns="0" tIns="0" bIns="0" anchor="t"/>
          <a:lstStyle/>
          <a:p>
            <a:pPr algn="ctr">
              <a:lnSpc>
                <a:spcPts val="978"/>
              </a:lnSpc>
              <a:spcBef>
                <a:spcPts val="0"/>
              </a:spcBef>
              <a:spcAft>
                <a:spcPts val="0"/>
              </a:spcAft>
            </a:pPr>
            <a:r>
              <a:rPr sz="850" b="1" i="0" cap="all" spc="85">
                <a:solidFill>
                  <a:srgbClr val="5B6575"/>
                </a:solidFill>
                <a:latin typeface="Calibri"/>
              </a:rPr>
              <a:t>1.0.0</a:t>
            </a:r>
          </a:p>
        </p:txBody>
      </p:sp>
      <p:sp>
        <p:nvSpPr>
          <p:cNvPr id="36" name="Enlace a sep-intro">
            <a:hlinkClick action="ppaction://hlinksldjump" r:id="rId3"/>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nlace a sep-teoria">
            <a:hlinkClick action="ppaction://hlinksldjump" r:id="rId4"/>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nlace a sep-diseno">
            <a:hlinkClick action="ppaction://hlinksldjump" r:id="rId5"/>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nlace a sep-resultados">
            <a:hlinkClick action="ppaction://hlinksldjump" r:id="rId6"/>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nlace a sep-analisis">
            <a:hlinkClick action="ppaction://hlinksldjump" r:id="rId7"/>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nlace a sep-conclusiones">
            <a:hlinkClick action="ppaction://hlinksldjump" r:id="rId8"/>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cond evt="onBegin" delay="0">
                          <p:tn val="2"/>
                        </p:cond>
                      </p:stCondLst>
                      <p:childTnLst>
                        <p:par>
                          <p:cTn id="58"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12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12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12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12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50"/>
                                        <p:tgtEl>
                                          <p:spTgt spid="33"/>
                                        </p:tgtEl>
                                      </p:cBhvr>
                                    </p:animEffect>
                                  </p:childTnLst>
                                </p:cTn>
                              </p:par>
                              <p:par>
                                <p:cTn id="33" presetID="10" presetClass="entr" presetSubtype="0" fill="hold" grpId="0" nodeType="withEffect">
                                  <p:stCondLst>
                                    <p:cond delay="12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450"/>
                                        <p:tgtEl>
                                          <p:spTgt spid="34"/>
                                        </p:tgtEl>
                                      </p:cBhvr>
                                    </p:animEffect>
                                  </p:childTnLst>
                                </p:cTn>
                              </p:par>
                              <p:par>
                                <p:cTn id="36" presetID="10" presetClass="entr" presetSubtype="0" fill="hold" grpId="0" nodeType="withEffect">
                                  <p:stCondLst>
                                    <p:cond delay="12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450"/>
                                        <p:tgtEl>
                                          <p:spTgt spid="35"/>
                                        </p:tgtEl>
                                      </p:cBhvr>
                                    </p:animEffect>
                                  </p:childTnLst>
                                </p:cTn>
                              </p:par>
                            </p:childTnLst>
                          </p:cTn>
                        </p:par>
                      </p:childTnLst>
                    </p:cTn>
                  </p:par>
                  <p:par>
                    <p:cTn id="59" fill="hold">
                      <p:stCondLst>
                        <p:cond delay="indefinite"/>
                      </p:stCondLst>
                      <p:childTnLst>
                        <p:par>
                          <p:cTn id="60"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par>
                    <p:cTn id="61" fill="hold">
                      <p:stCondLst>
                        <p:cond delay="indefinite"/>
                      </p:stCondLst>
                      <p:childTnLst>
                        <p:par>
                          <p:cTn id="62"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00"/>
                                        <p:tgtEl>
                                          <p:spTgt spid="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33" grpId="0" animBg="1"/>
      <p:bldP spid="34" grpId="0" animBg="1"/>
      <p:bldP spid="35"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06</a:t>
            </a:r>
          </a:p>
        </p:txBody>
      </p:sp>
      <p:sp>
        <p:nvSpPr>
          <p:cNvPr id="4" name="TextBox 3"/>
          <p:cNvSpPr txBox="1"/>
          <p:nvPr/>
        </p:nvSpPr>
        <p:spPr>
          <a:xfrm>
            <a:off x="898398"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Lo que queda en la base de conocimiento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3553841" cy="3295650"/>
          </a:xfrm>
          <a:prstGeom prst="roundRect">
            <a:avLst>
              <a:gd name="adj" fmla="val 2215"/>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 Same Side Corner Rectangle 13"/>
          <p:cNvSpPr/>
          <p:nvPr/>
        </p:nvSpPr>
        <p:spPr>
          <a:xfrm>
            <a:off x="571500" y="1286446"/>
            <a:ext cx="3547491" cy="38100"/>
          </a:xfrm>
          <a:prstGeom prst="round2SameRect">
            <a:avLst>
              <a:gd name="adj1" fmla="val 50000"/>
              <a:gd name="adj2" fmla="val 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1470915"/>
            <a:ext cx="32298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1 · El software</a:t>
            </a:r>
          </a:p>
        </p:txBody>
      </p:sp>
      <p:sp>
        <p:nvSpPr>
          <p:cNvPr id="16" name="TextBox 15"/>
          <p:cNvSpPr txBox="1"/>
          <p:nvPr/>
        </p:nvSpPr>
        <p:spPr>
          <a:xfrm>
            <a:off x="762000" y="1749128"/>
            <a:ext cx="3229800" cy="512064"/>
          </a:xfrm>
          <a:prstGeom prst="rect">
            <a:avLst/>
          </a:prstGeom>
          <a:noFill/>
        </p:spPr>
        <p:txBody>
          <a:bodyPr wrap="square" lIns="0" rIns="0" tIns="0" bIns="0" anchor="t"/>
          <a:lstStyle/>
          <a:p>
            <a:pPr algn="l">
              <a:lnSpc>
                <a:spcPts val="2016"/>
              </a:lnSpc>
              <a:spcBef>
                <a:spcPts val="0"/>
              </a:spcBef>
              <a:spcAft>
                <a:spcPts val="0"/>
              </a:spcAft>
            </a:pPr>
            <a:r>
              <a:rPr sz="1800" b="1" i="0">
                <a:solidFill>
                  <a:srgbClr val="1B2A4A"/>
                </a:solidFill>
                <a:latin typeface="Calibri"/>
              </a:rPr>
              <a:t>EduFEM, libre, en español y</a:t>
            </a:r>
            <a:br/>
            <a:r>
              <a:rPr sz="1800" b="1" i="0">
                <a:solidFill>
                  <a:srgbClr val="1B2A4A"/>
                </a:solidFill>
                <a:latin typeface="Calibri"/>
              </a:rPr>
              <a:t>verificado</a:t>
            </a:r>
          </a:p>
        </p:txBody>
      </p:sp>
      <p:sp>
        <p:nvSpPr>
          <p:cNvPr id="17" name="TextBox 16"/>
          <p:cNvSpPr txBox="1"/>
          <p:nvPr/>
        </p:nvSpPr>
        <p:spPr>
          <a:xfrm>
            <a:off x="762000" y="2318504"/>
            <a:ext cx="3229800" cy="911352"/>
          </a:xfrm>
          <a:prstGeom prst="rect">
            <a:avLst/>
          </a:prstGeom>
          <a:noFill/>
        </p:spPr>
        <p:txBody>
          <a:bodyPr wrap="square" lIns="0" rIns="0" tIns="0" bIns="0" anchor="t"/>
          <a:lstStyle/>
          <a:p>
            <a:pPr algn="l">
              <a:lnSpc>
                <a:spcPts val="1794"/>
              </a:lnSpc>
              <a:spcBef>
                <a:spcPts val="0"/>
              </a:spcBef>
              <a:spcAft>
                <a:spcPts val="0"/>
              </a:spcAft>
            </a:pPr>
            <a:r>
              <a:rPr sz="1300" b="0" i="0">
                <a:solidFill>
                  <a:srgbClr val="3F4A5A"/>
                </a:solidFill>
                <a:latin typeface="Calibri"/>
              </a:rPr>
              <a:t>Motor verificado por soluciones</a:t>
            </a:r>
            <a:br/>
            <a:r>
              <a:rPr sz="1300" b="0" i="0">
                <a:solidFill>
                  <a:srgbClr val="3F4A5A"/>
                </a:solidFill>
                <a:latin typeface="Calibri"/>
              </a:rPr>
              <a:t>manufacturadas y contrastado con dos</a:t>
            </a:r>
            <a:br/>
            <a:r>
              <a:rPr sz="1300" b="0" i="0">
                <a:solidFill>
                  <a:srgbClr val="3F4A5A"/>
                </a:solidFill>
                <a:latin typeface="Calibri"/>
              </a:rPr>
              <a:t>referencias externas; interfaz de modelado;</a:t>
            </a:r>
            <a:br/>
            <a:r>
              <a:rPr sz="1300" b="0" i="0">
                <a:solidFill>
                  <a:srgbClr val="3F4A5A"/>
                </a:solidFill>
                <a:latin typeface="Calibri"/>
              </a:rPr>
              <a:t>módulos sobre el modelo real.</a:t>
            </a:r>
          </a:p>
        </p:txBody>
      </p:sp>
      <p:sp>
        <p:nvSpPr>
          <p:cNvPr id="18" name="Rounded Rectangle 17"/>
          <p:cNvSpPr/>
          <p:nvPr/>
        </p:nvSpPr>
        <p:spPr>
          <a:xfrm>
            <a:off x="4319016" y="1283272"/>
            <a:ext cx="3553904" cy="3295650"/>
          </a:xfrm>
          <a:prstGeom prst="roundRect">
            <a:avLst>
              <a:gd name="adj" fmla="val 2215"/>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4322191" y="1286446"/>
            <a:ext cx="3547554" cy="38100"/>
          </a:xfrm>
          <a:prstGeom prst="round2SameRect">
            <a:avLst>
              <a:gd name="adj1" fmla="val 50000"/>
              <a:gd name="adj2" fmla="val 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12691" y="1470915"/>
            <a:ext cx="322992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2 · Conocimiento de diseño</a:t>
            </a:r>
          </a:p>
        </p:txBody>
      </p:sp>
      <p:sp>
        <p:nvSpPr>
          <p:cNvPr id="21" name="TextBox 20"/>
          <p:cNvSpPr txBox="1"/>
          <p:nvPr/>
        </p:nvSpPr>
        <p:spPr>
          <a:xfrm>
            <a:off x="4512691" y="1749128"/>
            <a:ext cx="3229928"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B2A4A"/>
                </a:solidFill>
                <a:latin typeface="Calibri"/>
              </a:rPr>
              <a:t>Tres decisiones reutilizables</a:t>
            </a:r>
          </a:p>
        </p:txBody>
      </p:sp>
      <p:sp>
        <p:nvSpPr>
          <p:cNvPr id="22" name="TextBox 21"/>
          <p:cNvSpPr txBox="1"/>
          <p:nvPr/>
        </p:nvSpPr>
        <p:spPr>
          <a:xfrm>
            <a:off x="4512691" y="2062536"/>
            <a:ext cx="3229928" cy="1139190"/>
          </a:xfrm>
          <a:prstGeom prst="rect">
            <a:avLst/>
          </a:prstGeom>
          <a:noFill/>
        </p:spPr>
        <p:txBody>
          <a:bodyPr wrap="square" lIns="0" rIns="0" tIns="0" bIns="0" anchor="t"/>
          <a:lstStyle/>
          <a:p>
            <a:pPr algn="l">
              <a:lnSpc>
                <a:spcPts val="1794"/>
              </a:lnSpc>
              <a:spcBef>
                <a:spcPts val="0"/>
              </a:spcBef>
              <a:spcAft>
                <a:spcPts val="0"/>
              </a:spcAft>
            </a:pPr>
            <a:r>
              <a:rPr sz="1300" b="0" i="0">
                <a:solidFill>
                  <a:srgbClr val="3F4A5A"/>
                </a:solidFill>
                <a:latin typeface="Calibri"/>
              </a:rPr>
              <a:t>Módulos sobre el elemento que el usuario</a:t>
            </a:r>
            <a:br/>
            <a:r>
              <a:rPr sz="1300" b="0" i="0">
                <a:solidFill>
                  <a:srgbClr val="3F4A5A"/>
                </a:solidFill>
                <a:latin typeface="Calibri"/>
              </a:rPr>
              <a:t>elige · memoria generada con las mismas</a:t>
            </a:r>
            <a:br/>
            <a:r>
              <a:rPr sz="1300" b="0" i="0">
                <a:solidFill>
                  <a:srgbClr val="3F4A5A"/>
                </a:solidFill>
                <a:latin typeface="Calibri"/>
              </a:rPr>
              <a:t>funciones del motor · versión legible junto al</a:t>
            </a:r>
            <a:br/>
            <a:r>
              <a:rPr sz="1300" b="0" i="0">
                <a:solidFill>
                  <a:srgbClr val="3F4A5A"/>
                </a:solidFill>
                <a:latin typeface="Calibri"/>
              </a:rPr>
              <a:t>motor rápido, como patrón de comparación de</a:t>
            </a:r>
            <a:br/>
            <a:r>
              <a:rPr sz="1300" b="0" i="0">
                <a:solidFill>
                  <a:srgbClr val="3F4A5A"/>
                </a:solidFill>
                <a:latin typeface="Calibri"/>
              </a:rPr>
              <a:t>las pruebas.</a:t>
            </a:r>
          </a:p>
        </p:txBody>
      </p:sp>
      <p:sp>
        <p:nvSpPr>
          <p:cNvPr id="23" name="Rounded Rectangle 22"/>
          <p:cNvSpPr/>
          <p:nvPr/>
        </p:nvSpPr>
        <p:spPr>
          <a:xfrm>
            <a:off x="8069770" y="1283272"/>
            <a:ext cx="3553904" cy="3295650"/>
          </a:xfrm>
          <a:prstGeom prst="roundRect">
            <a:avLst>
              <a:gd name="adj" fmla="val 2215"/>
            </a:avLst>
          </a:prstGeom>
          <a:solidFill>
            <a:srgbClr val="F6F8FC"/>
          </a:solidFill>
          <a:ln w="6350">
            <a:solidFill>
              <a:srgbClr val="B7DC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 Same Side Corner Rectangle 23"/>
          <p:cNvSpPr/>
          <p:nvPr/>
        </p:nvSpPr>
        <p:spPr>
          <a:xfrm>
            <a:off x="8072946" y="1286446"/>
            <a:ext cx="3547554" cy="38100"/>
          </a:xfrm>
          <a:prstGeom prst="round2SameRect">
            <a:avLst>
              <a:gd name="adj1" fmla="val 50000"/>
              <a:gd name="adj2" fmla="val 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63446" y="1470915"/>
            <a:ext cx="322992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3 · Conocimiento de evaluación</a:t>
            </a:r>
          </a:p>
        </p:txBody>
      </p:sp>
      <p:sp>
        <p:nvSpPr>
          <p:cNvPr id="26" name="TextBox 25"/>
          <p:cNvSpPr txBox="1"/>
          <p:nvPr/>
        </p:nvSpPr>
        <p:spPr>
          <a:xfrm>
            <a:off x="8263446" y="1749128"/>
            <a:ext cx="3229928"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B2A4A"/>
                </a:solidFill>
                <a:latin typeface="Calibri"/>
              </a:rPr>
              <a:t>Una batería reproducible</a:t>
            </a:r>
          </a:p>
        </p:txBody>
      </p:sp>
      <p:sp>
        <p:nvSpPr>
          <p:cNvPr id="27" name="TextBox 26"/>
          <p:cNvSpPr txBox="1"/>
          <p:nvPr/>
        </p:nvSpPr>
        <p:spPr>
          <a:xfrm>
            <a:off x="8263446" y="2062536"/>
            <a:ext cx="3229928" cy="683514"/>
          </a:xfrm>
          <a:prstGeom prst="rect">
            <a:avLst/>
          </a:prstGeom>
          <a:noFill/>
        </p:spPr>
        <p:txBody>
          <a:bodyPr wrap="square" lIns="0" rIns="0" tIns="0" bIns="0" anchor="t"/>
          <a:lstStyle/>
          <a:p>
            <a:pPr algn="l">
              <a:lnSpc>
                <a:spcPts val="1794"/>
              </a:lnSpc>
              <a:spcBef>
                <a:spcPts val="0"/>
              </a:spcBef>
              <a:spcAft>
                <a:spcPts val="0"/>
              </a:spcAft>
            </a:pPr>
            <a:r>
              <a:rPr sz="1300" b="0" i="0">
                <a:solidFill>
                  <a:srgbClr val="3F4A5A"/>
                </a:solidFill>
                <a:latin typeface="Calibri"/>
              </a:rPr>
              <a:t>Guiones y datos de V&amp;V; la lección sobre el</a:t>
            </a:r>
            <a:br/>
            <a:r>
              <a:rPr sz="1300" b="0" i="0">
                <a:solidFill>
                  <a:srgbClr val="3F4A5A"/>
                </a:solidFill>
                <a:latin typeface="Calibri"/>
              </a:rPr>
              <a:t>límite de las tasas; la tabla de cobertura de</a:t>
            </a:r>
            <a:br/>
            <a:r>
              <a:rPr sz="1300" b="0" i="0">
                <a:solidFill>
                  <a:srgbClr val="3F4A5A"/>
                </a:solidFill>
                <a:latin typeface="Calibri"/>
              </a:rPr>
              <a:t>contenido sobre un consenso publicado.</a:t>
            </a:r>
          </a:p>
        </p:txBody>
      </p:sp>
      <p:sp>
        <p:nvSpPr>
          <p:cNvPr id="28" name="Rectangle 27"/>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5150" y="6535420"/>
            <a:ext cx="491718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1" name="TextBox 30"/>
          <p:cNvSpPr txBox="1"/>
          <p:nvPr/>
        </p:nvSpPr>
        <p:spPr>
          <a:xfrm>
            <a:off x="5360480" y="6535420"/>
            <a:ext cx="1471041"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Aportes · Hevner [11, p. 81]</a:t>
            </a:r>
          </a:p>
        </p:txBody>
      </p:sp>
      <p:sp>
        <p:nvSpPr>
          <p:cNvPr id="32" name="TextBox 31"/>
          <p:cNvSpPr txBox="1"/>
          <p:nvPr/>
        </p:nvSpPr>
        <p:spPr>
          <a:xfrm>
            <a:off x="6709664" y="6535420"/>
            <a:ext cx="491718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54</a:t>
            </a:r>
          </a:p>
        </p:txBody>
      </p:sp>
      <p:sp>
        <p:nvSpPr>
          <p:cNvPr id="33"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nlace a sep-diseno">
            <a:hlinkClick action="ppaction://hlinksldjump" r:id="rId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nlace a sep-resultados">
            <a:hlinkClick action="ppaction://hlinksldjump" r:id="rId5"/>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nlace a sep-analisis">
            <a:hlinkClick action="ppaction://hlinksldjump" r:id="rId6"/>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nlace a sep-conclusiones">
            <a:hlinkClick action="ppaction://hlinksldjump" r:id="rId7"/>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cond evt="onBegin" delay="0">
                          <p:tn val="2"/>
                        </p:cond>
                      </p:stCondLst>
                      <p:childTnLst>
                        <p:par>
                          <p:cTn id="49"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childTnLst>
                          </p:cTn>
                        </p:par>
                      </p:childTnLst>
                    </p:cTn>
                  </p:par>
                  <p:par>
                    <p:cTn id="50" fill="hold">
                      <p:stCondLst>
                        <p:cond delay="indefinite"/>
                      </p:stCondLst>
                      <p:childTnLst>
                        <p:par>
                          <p:cTn id="5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childTnLst>
                          </p:cTn>
                        </p:par>
                      </p:childTnLst>
                    </p:cTn>
                  </p:par>
                  <p:par>
                    <p:cTn id="52" fill="hold">
                      <p:stCondLst>
                        <p:cond delay="indefinite"/>
                      </p:stCondLst>
                      <p:childTnLst>
                        <p:par>
                          <p:cTn id="53"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06</a:t>
            </a:r>
          </a:p>
        </p:txBody>
      </p:sp>
      <p:sp>
        <p:nvSpPr>
          <p:cNvPr id="4" name="TextBox 3"/>
          <p:cNvSpPr txBox="1"/>
          <p:nvPr/>
        </p:nvSpPr>
        <p:spPr>
          <a:xfrm>
            <a:off x="898398"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Limitaciones, declaradas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5150" y="1280096"/>
            <a:ext cx="5435600" cy="1046353"/>
          </a:xfrm>
          <a:prstGeom prst="roundRect">
            <a:avLst>
              <a:gd name="adj" fmla="val 10923"/>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5150" y="1280096"/>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94400" y="1280096"/>
            <a:ext cx="6350" cy="1046353"/>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5150" y="2320100"/>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5150" y="1280096"/>
            <a:ext cx="38100" cy="1046353"/>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050" y="1425804"/>
            <a:ext cx="5136261" cy="502920"/>
          </a:xfrm>
          <a:prstGeom prst="rect">
            <a:avLst/>
          </a:prstGeom>
          <a:noFill/>
        </p:spPr>
        <p:txBody>
          <a:bodyPr wrap="square" lIns="0" rIns="0" tIns="0" bIns="0" anchor="t"/>
          <a:lstStyle/>
          <a:p>
            <a:pPr algn="l">
              <a:lnSpc>
                <a:spcPts val="1980"/>
              </a:lnSpc>
              <a:spcBef>
                <a:spcPts val="0"/>
              </a:spcBef>
              <a:spcAft>
                <a:spcPts val="0"/>
              </a:spcAft>
            </a:pPr>
            <a:r>
              <a:rPr sz="1500" b="1" i="0">
                <a:solidFill>
                  <a:srgbClr val="1B2A4A"/>
                </a:solidFill>
                <a:latin typeface="Calibri"/>
              </a:rPr>
              <a:t>La evaluación la hizo el autor</a:t>
            </a:r>
            <a:r>
              <a:rPr sz="1500" b="0" i="0">
                <a:solidFill>
                  <a:srgbClr val="3F4A5A"/>
                </a:solidFill>
                <a:latin typeface="Calibri"/>
              </a:rPr>
              <a:t>, con la batería automática; sin</a:t>
            </a:r>
            <a:br/>
            <a:r>
              <a:rPr sz="1500" b="0" i="0">
                <a:solidFill>
                  <a:srgbClr val="3F4A5A"/>
                </a:solidFill>
                <a:latin typeface="Calibri"/>
              </a:rPr>
              <a:t>revisión independiente del código.</a:t>
            </a:r>
          </a:p>
        </p:txBody>
      </p:sp>
      <p:sp>
        <p:nvSpPr>
          <p:cNvPr id="19" name="Rounded Rectangle 18"/>
          <p:cNvSpPr/>
          <p:nvPr/>
        </p:nvSpPr>
        <p:spPr>
          <a:xfrm>
            <a:off x="6191250" y="1280096"/>
            <a:ext cx="5435600" cy="1046353"/>
          </a:xfrm>
          <a:prstGeom prst="roundRect">
            <a:avLst>
              <a:gd name="adj" fmla="val 10923"/>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1250" y="1280096"/>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620500" y="1280096"/>
            <a:ext cx="6350" cy="1046353"/>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1250" y="2320100"/>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1250" y="1280096"/>
            <a:ext cx="38100" cy="1046353"/>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7150" y="1425804"/>
            <a:ext cx="5136261" cy="754380"/>
          </a:xfrm>
          <a:prstGeom prst="rect">
            <a:avLst/>
          </a:prstGeom>
          <a:noFill/>
        </p:spPr>
        <p:txBody>
          <a:bodyPr wrap="square" lIns="0" rIns="0" tIns="0" bIns="0" anchor="t"/>
          <a:lstStyle/>
          <a:p>
            <a:pPr algn="l">
              <a:lnSpc>
                <a:spcPts val="1980"/>
              </a:lnSpc>
              <a:spcBef>
                <a:spcPts val="0"/>
              </a:spcBef>
              <a:spcAft>
                <a:spcPts val="0"/>
              </a:spcAft>
            </a:pPr>
            <a:r>
              <a:rPr sz="1500" b="1" i="0">
                <a:solidFill>
                  <a:srgbClr val="1B2A4A"/>
                </a:solidFill>
                <a:latin typeface="Calibri"/>
              </a:rPr>
              <a:t>La cobertura es un cotejo del autor</a:t>
            </a:r>
            <a:r>
              <a:rPr sz="1500" b="0" i="0">
                <a:solidFill>
                  <a:srgbClr val="3F4A5A"/>
                </a:solidFill>
                <a:latin typeface="Calibri"/>
              </a:rPr>
              <a:t> sobre un consenso</a:t>
            </a:r>
            <a:br/>
            <a:r>
              <a:rPr sz="1500" b="0" i="0">
                <a:solidFill>
                  <a:srgbClr val="3F4A5A"/>
                </a:solidFill>
                <a:latin typeface="Calibri"/>
              </a:rPr>
              <a:t>publicado de expertos mexicanos de ingeniería mecánica [3, p.</a:t>
            </a:r>
            <a:br/>
            <a:r>
              <a:rPr sz="1500" b="0" i="0">
                <a:solidFill>
                  <a:srgbClr val="3F4A5A"/>
                </a:solidFill>
                <a:latin typeface="Calibri"/>
              </a:rPr>
              <a:t>1171].</a:t>
            </a:r>
          </a:p>
        </p:txBody>
      </p:sp>
      <p:sp>
        <p:nvSpPr>
          <p:cNvPr id="25" name="Rounded Rectangle 24"/>
          <p:cNvSpPr/>
          <p:nvPr/>
        </p:nvSpPr>
        <p:spPr>
          <a:xfrm>
            <a:off x="565150" y="2453513"/>
            <a:ext cx="5435600" cy="794956"/>
          </a:xfrm>
          <a:prstGeom prst="roundRect">
            <a:avLst>
              <a:gd name="adj" fmla="val 14378"/>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5150" y="2453513"/>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94400" y="2453513"/>
            <a:ext cx="6350" cy="7949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5150" y="3242120"/>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5150" y="2453513"/>
            <a:ext cx="38100" cy="79495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1050" y="2599220"/>
            <a:ext cx="5136261" cy="502920"/>
          </a:xfrm>
          <a:prstGeom prst="rect">
            <a:avLst/>
          </a:prstGeom>
          <a:noFill/>
        </p:spPr>
        <p:txBody>
          <a:bodyPr wrap="square" lIns="0" rIns="0" tIns="0" bIns="0" anchor="t"/>
          <a:lstStyle/>
          <a:p>
            <a:pPr algn="l">
              <a:lnSpc>
                <a:spcPts val="1980"/>
              </a:lnSpc>
              <a:spcBef>
                <a:spcPts val="0"/>
              </a:spcBef>
              <a:spcAft>
                <a:spcPts val="0"/>
              </a:spcAft>
            </a:pPr>
            <a:r>
              <a:rPr sz="1500" b="1" i="0">
                <a:solidFill>
                  <a:srgbClr val="1B2A4A"/>
                </a:solidFill>
                <a:latin typeface="Calibri"/>
              </a:rPr>
              <a:t>La exposición es una posibilidad</a:t>
            </a:r>
            <a:r>
              <a:rPr sz="1500" b="0" i="0">
                <a:solidFill>
                  <a:srgbClr val="3F4A5A"/>
                </a:solidFill>
                <a:latin typeface="Calibri"/>
              </a:rPr>
              <a:t>, no una obligación: el software</a:t>
            </a:r>
            <a:br/>
            <a:r>
              <a:rPr sz="1500" b="0" i="0">
                <a:solidFill>
                  <a:srgbClr val="3F4A5A"/>
                </a:solidFill>
                <a:latin typeface="Calibri"/>
              </a:rPr>
              <a:t>no fuerza el recorrido.</a:t>
            </a:r>
          </a:p>
        </p:txBody>
      </p:sp>
      <p:sp>
        <p:nvSpPr>
          <p:cNvPr id="31" name="Rounded Rectangle 30"/>
          <p:cNvSpPr/>
          <p:nvPr/>
        </p:nvSpPr>
        <p:spPr>
          <a:xfrm>
            <a:off x="6191250" y="2453513"/>
            <a:ext cx="5435600" cy="794956"/>
          </a:xfrm>
          <a:prstGeom prst="roundRect">
            <a:avLst>
              <a:gd name="adj" fmla="val 14378"/>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91250" y="2453513"/>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620500" y="2453513"/>
            <a:ext cx="6350" cy="7949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91250" y="3242120"/>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91250" y="2453513"/>
            <a:ext cx="38100" cy="79495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7150" y="2599220"/>
            <a:ext cx="5136261" cy="502920"/>
          </a:xfrm>
          <a:prstGeom prst="rect">
            <a:avLst/>
          </a:prstGeom>
          <a:noFill/>
        </p:spPr>
        <p:txBody>
          <a:bodyPr wrap="square" lIns="0" rIns="0" tIns="0" bIns="0" anchor="t"/>
          <a:lstStyle/>
          <a:p>
            <a:pPr algn="l">
              <a:lnSpc>
                <a:spcPts val="1980"/>
              </a:lnSpc>
              <a:spcBef>
                <a:spcPts val="0"/>
              </a:spcBef>
              <a:spcAft>
                <a:spcPts val="0"/>
              </a:spcAft>
            </a:pPr>
            <a:r>
              <a:rPr sz="1500" b="1" i="0">
                <a:solidFill>
                  <a:srgbClr val="1B2A4A"/>
                </a:solidFill>
                <a:latin typeface="Calibri"/>
              </a:rPr>
              <a:t>Los módulos llegan al ensamblaje</a:t>
            </a:r>
            <a:r>
              <a:rPr sz="1500" b="0" i="0">
                <a:solidFill>
                  <a:srgbClr val="3F4A5A"/>
                </a:solidFill>
                <a:latin typeface="Calibri"/>
              </a:rPr>
              <a:t>; solución y tensiones se</a:t>
            </a:r>
            <a:br/>
            <a:r>
              <a:rPr sz="1500" b="0" i="0">
                <a:solidFill>
                  <a:srgbClr val="3F4A5A"/>
                </a:solidFill>
                <a:latin typeface="Calibri"/>
              </a:rPr>
              <a:t>exponen en el post-proceso y la memoria.</a:t>
            </a:r>
          </a:p>
        </p:txBody>
      </p:sp>
      <p:sp>
        <p:nvSpPr>
          <p:cNvPr id="37" name="Rounded Rectangle 36"/>
          <p:cNvSpPr/>
          <p:nvPr/>
        </p:nvSpPr>
        <p:spPr>
          <a:xfrm>
            <a:off x="565150" y="3375406"/>
            <a:ext cx="5435600" cy="794956"/>
          </a:xfrm>
          <a:prstGeom prst="roundRect">
            <a:avLst>
              <a:gd name="adj" fmla="val 14378"/>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5150" y="3375406"/>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94400" y="3375406"/>
            <a:ext cx="6350" cy="7949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5150" y="4164012"/>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5150" y="3375406"/>
            <a:ext cx="38100" cy="79495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1050" y="3521113"/>
            <a:ext cx="5136261" cy="502920"/>
          </a:xfrm>
          <a:prstGeom prst="rect">
            <a:avLst/>
          </a:prstGeom>
          <a:noFill/>
        </p:spPr>
        <p:txBody>
          <a:bodyPr wrap="square" lIns="0" rIns="0" tIns="0" bIns="0" anchor="t"/>
          <a:lstStyle/>
          <a:p>
            <a:pPr algn="l">
              <a:lnSpc>
                <a:spcPts val="1980"/>
              </a:lnSpc>
              <a:spcBef>
                <a:spcPts val="0"/>
              </a:spcBef>
              <a:spcAft>
                <a:spcPts val="0"/>
              </a:spcAft>
            </a:pPr>
            <a:r>
              <a:rPr sz="1500" b="1" i="0">
                <a:solidFill>
                  <a:srgbClr val="1B2A4A"/>
                </a:solidFill>
                <a:latin typeface="Calibri"/>
              </a:rPr>
              <a:t>Q4 bloquea y ν → 0,5 degenera D</a:t>
            </a:r>
            <a:r>
              <a:rPr sz="1500" b="0" i="0">
                <a:solidFill>
                  <a:srgbClr val="3F4A5A"/>
                </a:solidFill>
                <a:latin typeface="Calibri"/>
              </a:rPr>
              <a:t> en deformación plana: se</a:t>
            </a:r>
            <a:br/>
            <a:r>
              <a:rPr sz="1500" b="0" i="0">
                <a:solidFill>
                  <a:srgbClr val="3F4A5A"/>
                </a:solidFill>
                <a:latin typeface="Calibri"/>
              </a:rPr>
              <a:t>muestran, no se corrigen.</a:t>
            </a:r>
          </a:p>
        </p:txBody>
      </p:sp>
      <p:sp>
        <p:nvSpPr>
          <p:cNvPr id="43" name="Rounded Rectangle 42"/>
          <p:cNvSpPr/>
          <p:nvPr/>
        </p:nvSpPr>
        <p:spPr>
          <a:xfrm>
            <a:off x="6191250" y="3375406"/>
            <a:ext cx="5435600" cy="794956"/>
          </a:xfrm>
          <a:prstGeom prst="roundRect">
            <a:avLst>
              <a:gd name="adj" fmla="val 14378"/>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91250" y="3375406"/>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620500" y="3375406"/>
            <a:ext cx="6350" cy="7949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91250" y="4164012"/>
            <a:ext cx="54356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91250" y="3375406"/>
            <a:ext cx="38100" cy="79495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7150" y="3521113"/>
            <a:ext cx="5136261" cy="502920"/>
          </a:xfrm>
          <a:prstGeom prst="rect">
            <a:avLst/>
          </a:prstGeom>
          <a:noFill/>
        </p:spPr>
        <p:txBody>
          <a:bodyPr wrap="square" lIns="0" rIns="0" tIns="0" bIns="0" anchor="t"/>
          <a:lstStyle/>
          <a:p>
            <a:pPr algn="l">
              <a:lnSpc>
                <a:spcPts val="1980"/>
              </a:lnSpc>
              <a:spcBef>
                <a:spcPts val="0"/>
              </a:spcBef>
              <a:spcAft>
                <a:spcPts val="0"/>
              </a:spcAft>
            </a:pPr>
            <a:r>
              <a:rPr sz="1500" b="1" i="0">
                <a:solidFill>
                  <a:srgbClr val="1B2A4A"/>
                </a:solidFill>
                <a:latin typeface="Calibri"/>
              </a:rPr>
              <a:t>Deformación plana sin contraste externo</a:t>
            </a:r>
            <a:r>
              <a:rPr sz="1500" b="0" i="0">
                <a:solidFill>
                  <a:srgbClr val="3F4A5A"/>
                </a:solidFill>
                <a:latin typeface="Calibri"/>
              </a:rPr>
              <a:t>; Timoshenko solo con</a:t>
            </a:r>
            <a:br/>
            <a:r>
              <a:rPr sz="1500" b="0" i="0">
                <a:solidFill>
                  <a:srgbClr val="3F4A5A"/>
                </a:solidFill>
                <a:latin typeface="Calibri"/>
              </a:rPr>
              <a:t>Q9; sin caso con carga linealmente variable.</a:t>
            </a:r>
          </a:p>
        </p:txBody>
      </p:sp>
      <p:sp>
        <p:nvSpPr>
          <p:cNvPr id="49" name="Rectangle 48"/>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5150" y="6535420"/>
            <a:ext cx="5312791"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52" name="TextBox 51"/>
          <p:cNvSpPr txBox="1"/>
          <p:nvPr/>
        </p:nvSpPr>
        <p:spPr>
          <a:xfrm>
            <a:off x="5748338" y="6535420"/>
            <a:ext cx="69519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Limitaciones</a:t>
            </a:r>
          </a:p>
        </p:txBody>
      </p:sp>
      <p:sp>
        <p:nvSpPr>
          <p:cNvPr id="53" name="TextBox 52"/>
          <p:cNvSpPr txBox="1"/>
          <p:nvPr/>
        </p:nvSpPr>
        <p:spPr>
          <a:xfrm>
            <a:off x="6313996" y="6535420"/>
            <a:ext cx="531285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55</a:t>
            </a:r>
          </a:p>
        </p:txBody>
      </p:sp>
      <p:sp>
        <p:nvSpPr>
          <p:cNvPr id="54"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Enlace a sep-diseno">
            <a:hlinkClick action="ppaction://hlinksldjump" r:id="rId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Enlace a sep-resultados">
            <a:hlinkClick action="ppaction://hlinksldjump" r:id="rId5"/>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Enlace a sep-analisis">
            <a:hlinkClick action="ppaction://hlinksldjump" r:id="rId6"/>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Enlace a sep-conclusiones">
            <a:hlinkClick action="ppaction://hlinksldjump" r:id="rId7"/>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1" fill="hold">
                      <p:stCondLst>
                        <p:cond delay="indefinite"/>
                        <p:cond evt="onBegin" delay="0">
                          <p:tn val="2"/>
                        </p:cond>
                      </p:stCondLst>
                      <p:childTnLst>
                        <p:par>
                          <p:cTn id="112"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23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23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23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23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23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grpId="0" nodeType="withEffect">
                                  <p:stCondLst>
                                    <p:cond delay="23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par>
                                <p:cTn id="39" presetID="10" presetClass="entr" presetSubtype="0" fill="hold" grpId="0" nodeType="withEffect">
                                  <p:stCondLst>
                                    <p:cond delay="34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50"/>
                                        <p:tgtEl>
                                          <p:spTgt spid="25"/>
                                        </p:tgtEl>
                                      </p:cBhvr>
                                    </p:animEffect>
                                  </p:childTnLst>
                                </p:cTn>
                              </p:par>
                              <p:par>
                                <p:cTn id="42" presetID="10" presetClass="entr" presetSubtype="0" fill="hold" grpId="0" nodeType="withEffect">
                                  <p:stCondLst>
                                    <p:cond delay="34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50"/>
                                        <p:tgtEl>
                                          <p:spTgt spid="26"/>
                                        </p:tgtEl>
                                      </p:cBhvr>
                                    </p:animEffect>
                                  </p:childTnLst>
                                </p:cTn>
                              </p:par>
                              <p:par>
                                <p:cTn id="45" presetID="10" presetClass="entr" presetSubtype="0" fill="hold" grpId="0" nodeType="withEffect">
                                  <p:stCondLst>
                                    <p:cond delay="34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50"/>
                                        <p:tgtEl>
                                          <p:spTgt spid="27"/>
                                        </p:tgtEl>
                                      </p:cBhvr>
                                    </p:animEffect>
                                  </p:childTnLst>
                                </p:cTn>
                              </p:par>
                              <p:par>
                                <p:cTn id="48" presetID="10" presetClass="entr" presetSubtype="0" fill="hold" grpId="0" nodeType="withEffect">
                                  <p:stCondLst>
                                    <p:cond delay="34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50"/>
                                        <p:tgtEl>
                                          <p:spTgt spid="28"/>
                                        </p:tgtEl>
                                      </p:cBhvr>
                                    </p:animEffect>
                                  </p:childTnLst>
                                </p:cTn>
                              </p:par>
                              <p:par>
                                <p:cTn id="51" presetID="10" presetClass="entr" presetSubtype="0" fill="hold" grpId="0" nodeType="withEffect">
                                  <p:stCondLst>
                                    <p:cond delay="34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50"/>
                                        <p:tgtEl>
                                          <p:spTgt spid="29"/>
                                        </p:tgtEl>
                                      </p:cBhvr>
                                    </p:animEffect>
                                  </p:childTnLst>
                                </p:cTn>
                              </p:par>
                              <p:par>
                                <p:cTn id="54" presetID="10" presetClass="entr" presetSubtype="0" fill="hold" grpId="0" nodeType="withEffect">
                                  <p:stCondLst>
                                    <p:cond delay="34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50"/>
                                        <p:tgtEl>
                                          <p:spTgt spid="30"/>
                                        </p:tgtEl>
                                      </p:cBhvr>
                                    </p:animEffect>
                                  </p:childTnLst>
                                </p:cTn>
                              </p:par>
                              <p:par>
                                <p:cTn id="57" presetID="10" presetClass="entr" presetSubtype="0" fill="hold" grpId="0" nodeType="withEffect">
                                  <p:stCondLst>
                                    <p:cond delay="45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50"/>
                                        <p:tgtEl>
                                          <p:spTgt spid="31"/>
                                        </p:tgtEl>
                                      </p:cBhvr>
                                    </p:animEffect>
                                  </p:childTnLst>
                                </p:cTn>
                              </p:par>
                              <p:par>
                                <p:cTn id="60" presetID="10" presetClass="entr" presetSubtype="0" fill="hold" grpId="0" nodeType="withEffect">
                                  <p:stCondLst>
                                    <p:cond delay="45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50"/>
                                        <p:tgtEl>
                                          <p:spTgt spid="32"/>
                                        </p:tgtEl>
                                      </p:cBhvr>
                                    </p:animEffect>
                                  </p:childTnLst>
                                </p:cTn>
                              </p:par>
                              <p:par>
                                <p:cTn id="63" presetID="10" presetClass="entr" presetSubtype="0" fill="hold" grpId="0" nodeType="withEffect">
                                  <p:stCondLst>
                                    <p:cond delay="45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50"/>
                                        <p:tgtEl>
                                          <p:spTgt spid="33"/>
                                        </p:tgtEl>
                                      </p:cBhvr>
                                    </p:animEffect>
                                  </p:childTnLst>
                                </p:cTn>
                              </p:par>
                              <p:par>
                                <p:cTn id="66" presetID="10" presetClass="entr" presetSubtype="0" fill="hold" grpId="0" nodeType="withEffect">
                                  <p:stCondLst>
                                    <p:cond delay="45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50"/>
                                        <p:tgtEl>
                                          <p:spTgt spid="34"/>
                                        </p:tgtEl>
                                      </p:cBhvr>
                                    </p:animEffect>
                                  </p:childTnLst>
                                </p:cTn>
                              </p:par>
                              <p:par>
                                <p:cTn id="69" presetID="10" presetClass="entr" presetSubtype="0" fill="hold" grpId="0" nodeType="withEffect">
                                  <p:stCondLst>
                                    <p:cond delay="45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50"/>
                                        <p:tgtEl>
                                          <p:spTgt spid="35"/>
                                        </p:tgtEl>
                                      </p:cBhvr>
                                    </p:animEffect>
                                  </p:childTnLst>
                                </p:cTn>
                              </p:par>
                              <p:par>
                                <p:cTn id="72" presetID="10" presetClass="entr" presetSubtype="0" fill="hold" grpId="0" nodeType="withEffect">
                                  <p:stCondLst>
                                    <p:cond delay="45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50"/>
                                        <p:tgtEl>
                                          <p:spTgt spid="36"/>
                                        </p:tgtEl>
                                      </p:cBhvr>
                                    </p:animEffect>
                                  </p:childTnLst>
                                </p:cTn>
                              </p:par>
                              <p:par>
                                <p:cTn id="75" presetID="10" presetClass="entr" presetSubtype="0" fill="hold" grpId="0" nodeType="withEffect">
                                  <p:stCondLst>
                                    <p:cond delay="56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50"/>
                                        <p:tgtEl>
                                          <p:spTgt spid="37"/>
                                        </p:tgtEl>
                                      </p:cBhvr>
                                    </p:animEffect>
                                  </p:childTnLst>
                                </p:cTn>
                              </p:par>
                              <p:par>
                                <p:cTn id="78" presetID="10" presetClass="entr" presetSubtype="0" fill="hold" grpId="0" nodeType="withEffect">
                                  <p:stCondLst>
                                    <p:cond delay="56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50"/>
                                        <p:tgtEl>
                                          <p:spTgt spid="38"/>
                                        </p:tgtEl>
                                      </p:cBhvr>
                                    </p:animEffect>
                                  </p:childTnLst>
                                </p:cTn>
                              </p:par>
                              <p:par>
                                <p:cTn id="81" presetID="10" presetClass="entr" presetSubtype="0" fill="hold" grpId="0" nodeType="withEffect">
                                  <p:stCondLst>
                                    <p:cond delay="56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50"/>
                                        <p:tgtEl>
                                          <p:spTgt spid="39"/>
                                        </p:tgtEl>
                                      </p:cBhvr>
                                    </p:animEffect>
                                  </p:childTnLst>
                                </p:cTn>
                              </p:par>
                              <p:par>
                                <p:cTn id="84" presetID="10" presetClass="entr" presetSubtype="0" fill="hold" grpId="0" nodeType="withEffect">
                                  <p:stCondLst>
                                    <p:cond delay="56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50"/>
                                        <p:tgtEl>
                                          <p:spTgt spid="40"/>
                                        </p:tgtEl>
                                      </p:cBhvr>
                                    </p:animEffect>
                                  </p:childTnLst>
                                </p:cTn>
                              </p:par>
                              <p:par>
                                <p:cTn id="87" presetID="10" presetClass="entr" presetSubtype="0" fill="hold" grpId="0" nodeType="withEffect">
                                  <p:stCondLst>
                                    <p:cond delay="56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50"/>
                                        <p:tgtEl>
                                          <p:spTgt spid="41"/>
                                        </p:tgtEl>
                                      </p:cBhvr>
                                    </p:animEffect>
                                  </p:childTnLst>
                                </p:cTn>
                              </p:par>
                              <p:par>
                                <p:cTn id="90" presetID="10" presetClass="entr" presetSubtype="0" fill="hold" grpId="0" nodeType="withEffect">
                                  <p:stCondLst>
                                    <p:cond delay="56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50"/>
                                        <p:tgtEl>
                                          <p:spTgt spid="42"/>
                                        </p:tgtEl>
                                      </p:cBhvr>
                                    </p:animEffect>
                                  </p:childTnLst>
                                </p:cTn>
                              </p:par>
                              <p:par>
                                <p:cTn id="93" presetID="10" presetClass="entr" presetSubtype="0" fill="hold" grpId="0" nodeType="withEffect">
                                  <p:stCondLst>
                                    <p:cond delay="67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50"/>
                                        <p:tgtEl>
                                          <p:spTgt spid="43"/>
                                        </p:tgtEl>
                                      </p:cBhvr>
                                    </p:animEffect>
                                  </p:childTnLst>
                                </p:cTn>
                              </p:par>
                              <p:par>
                                <p:cTn id="96" presetID="10" presetClass="entr" presetSubtype="0" fill="hold" grpId="0" nodeType="withEffect">
                                  <p:stCondLst>
                                    <p:cond delay="67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450"/>
                                        <p:tgtEl>
                                          <p:spTgt spid="44"/>
                                        </p:tgtEl>
                                      </p:cBhvr>
                                    </p:animEffect>
                                  </p:childTnLst>
                                </p:cTn>
                              </p:par>
                              <p:par>
                                <p:cTn id="99" presetID="10" presetClass="entr" presetSubtype="0" fill="hold" grpId="0" nodeType="withEffect">
                                  <p:stCondLst>
                                    <p:cond delay="67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450"/>
                                        <p:tgtEl>
                                          <p:spTgt spid="45"/>
                                        </p:tgtEl>
                                      </p:cBhvr>
                                    </p:animEffect>
                                  </p:childTnLst>
                                </p:cTn>
                              </p:par>
                              <p:par>
                                <p:cTn id="102" presetID="10" presetClass="entr" presetSubtype="0" fill="hold" grpId="0" nodeType="withEffect">
                                  <p:stCondLst>
                                    <p:cond delay="67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450"/>
                                        <p:tgtEl>
                                          <p:spTgt spid="46"/>
                                        </p:tgtEl>
                                      </p:cBhvr>
                                    </p:animEffect>
                                  </p:childTnLst>
                                </p:cTn>
                              </p:par>
                              <p:par>
                                <p:cTn id="105" presetID="10" presetClass="entr" presetSubtype="0" fill="hold" grpId="0" nodeType="withEffect">
                                  <p:stCondLst>
                                    <p:cond delay="67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450"/>
                                        <p:tgtEl>
                                          <p:spTgt spid="47"/>
                                        </p:tgtEl>
                                      </p:cBhvr>
                                    </p:animEffect>
                                  </p:childTnLst>
                                </p:cTn>
                              </p:par>
                              <p:par>
                                <p:cTn id="108" presetID="10" presetClass="entr" presetSubtype="0" fill="hold" grpId="0" nodeType="withEffect">
                                  <p:stCondLst>
                                    <p:cond delay="67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4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9989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06</a:t>
            </a:r>
          </a:p>
        </p:txBody>
      </p:sp>
      <p:sp>
        <p:nvSpPr>
          <p:cNvPr id="4" name="TextBox 3"/>
          <p:cNvSpPr txBox="1"/>
          <p:nvPr/>
        </p:nvSpPr>
        <p:spPr>
          <a:xfrm>
            <a:off x="898398"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Tres líneas de continuación, una por capítulo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981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8325" y="1283272"/>
            <a:ext cx="3553841" cy="3295650"/>
          </a:xfrm>
          <a:prstGeom prst="roundRect">
            <a:avLst>
              <a:gd name="adj" fmla="val 22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1470915"/>
            <a:ext cx="322980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Formulación · Cap. 1</a:t>
            </a:r>
          </a:p>
        </p:txBody>
      </p:sp>
      <p:sp>
        <p:nvSpPr>
          <p:cNvPr id="15" name="TextBox 14"/>
          <p:cNvSpPr txBox="1"/>
          <p:nvPr/>
        </p:nvSpPr>
        <p:spPr>
          <a:xfrm>
            <a:off x="1003300" y="1739062"/>
            <a:ext cx="2983674" cy="72009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Integración reducida selectiva y B̄</a:t>
            </a:r>
            <a:br/>
            <a:r>
              <a:rPr sz="1500" b="0" i="0">
                <a:solidFill>
                  <a:srgbClr val="1F2937"/>
                </a:solidFill>
                <a:latin typeface="Calibri"/>
              </a:rPr>
              <a:t>contra el bloqueo, con un módulo</a:t>
            </a:r>
            <a:br/>
            <a:r>
              <a:rPr sz="1500" b="0" i="0">
                <a:solidFill>
                  <a:srgbClr val="1F2937"/>
                </a:solidFill>
                <a:latin typeface="Calibri"/>
              </a:rPr>
              <a:t>que compare bloqueado y corregido</a:t>
            </a:r>
          </a:p>
        </p:txBody>
      </p:sp>
      <p:sp>
        <p:nvSpPr>
          <p:cNvPr id="16" name="Rounded Rectangle 15"/>
          <p:cNvSpPr/>
          <p:nvPr/>
        </p:nvSpPr>
        <p:spPr>
          <a:xfrm>
            <a:off x="812800" y="1842071"/>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3300" y="2547988"/>
            <a:ext cx="2983674" cy="48006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Triángulos y cuadriláteros de ocho</a:t>
            </a:r>
            <a:br/>
            <a:r>
              <a:rPr sz="1500" b="0" i="0">
                <a:solidFill>
                  <a:srgbClr val="1F2937"/>
                </a:solidFill>
                <a:latin typeface="Calibri"/>
              </a:rPr>
              <a:t>nodos</a:t>
            </a:r>
          </a:p>
        </p:txBody>
      </p:sp>
      <p:sp>
        <p:nvSpPr>
          <p:cNvPr id="18" name="Rounded Rectangle 17"/>
          <p:cNvSpPr/>
          <p:nvPr/>
        </p:nvSpPr>
        <p:spPr>
          <a:xfrm>
            <a:off x="812800" y="265099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19016" y="1283272"/>
            <a:ext cx="3553904" cy="3295650"/>
          </a:xfrm>
          <a:prstGeom prst="roundRect">
            <a:avLst>
              <a:gd name="adj" fmla="val 22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12691" y="1470915"/>
            <a:ext cx="322992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Software · Cap. 2</a:t>
            </a:r>
          </a:p>
        </p:txBody>
      </p:sp>
      <p:sp>
        <p:nvSpPr>
          <p:cNvPr id="21" name="TextBox 20"/>
          <p:cNvSpPr txBox="1"/>
          <p:nvPr/>
        </p:nvSpPr>
        <p:spPr>
          <a:xfrm>
            <a:off x="4753991" y="1739062"/>
            <a:ext cx="2983802" cy="48006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Mallado automático con M0 como</a:t>
            </a:r>
            <a:br/>
            <a:r>
              <a:rPr sz="1500" b="0" i="0">
                <a:solidFill>
                  <a:srgbClr val="1F2937"/>
                </a:solidFill>
                <a:latin typeface="Calibri"/>
              </a:rPr>
              <a:t>control</a:t>
            </a:r>
          </a:p>
        </p:txBody>
      </p:sp>
      <p:sp>
        <p:nvSpPr>
          <p:cNvPr id="22" name="Rounded Rectangle 21"/>
          <p:cNvSpPr/>
          <p:nvPr/>
        </p:nvSpPr>
        <p:spPr>
          <a:xfrm>
            <a:off x="4563491" y="1842071"/>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3991" y="2308022"/>
            <a:ext cx="2983802" cy="24003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Cholesky y solucionador iterativo</a:t>
            </a:r>
          </a:p>
        </p:txBody>
      </p:sp>
      <p:sp>
        <p:nvSpPr>
          <p:cNvPr id="24" name="Rounded Rectangle 23"/>
          <p:cNvSpPr/>
          <p:nvPr/>
        </p:nvSpPr>
        <p:spPr>
          <a:xfrm>
            <a:off x="4563491" y="2411032"/>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3991" y="2636888"/>
            <a:ext cx="2983802" cy="48006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Guía de prácticas para la cátedra;</a:t>
            </a:r>
            <a:br/>
            <a:r>
              <a:rPr sz="1500" b="0" i="0">
                <a:solidFill>
                  <a:srgbClr val="1F2937"/>
                </a:solidFill>
                <a:latin typeface="Calibri"/>
              </a:rPr>
              <a:t>extensión a 3D</a:t>
            </a:r>
          </a:p>
        </p:txBody>
      </p:sp>
      <p:sp>
        <p:nvSpPr>
          <p:cNvPr id="26" name="Rounded Rectangle 25"/>
          <p:cNvSpPr/>
          <p:nvPr/>
        </p:nvSpPr>
        <p:spPr>
          <a:xfrm>
            <a:off x="4563491" y="273989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69770" y="1283272"/>
            <a:ext cx="3553904" cy="3295650"/>
          </a:xfrm>
          <a:prstGeom prst="roundRect">
            <a:avLst>
              <a:gd name="adj" fmla="val 221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3446" y="1470915"/>
            <a:ext cx="322992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Evidencia · Cap. 3</a:t>
            </a:r>
          </a:p>
        </p:txBody>
      </p:sp>
      <p:sp>
        <p:nvSpPr>
          <p:cNvPr id="29" name="TextBox 28"/>
          <p:cNvSpPr txBox="1"/>
          <p:nvPr/>
        </p:nvSpPr>
        <p:spPr>
          <a:xfrm>
            <a:off x="8504746" y="1739062"/>
            <a:ext cx="2983802" cy="72009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Caso con carga linealmente variable y</a:t>
            </a:r>
            <a:br/>
            <a:r>
              <a:rPr sz="1500" b="0" i="0">
                <a:solidFill>
                  <a:srgbClr val="1F2937"/>
                </a:solidFill>
                <a:latin typeface="Calibri"/>
              </a:rPr>
              <a:t>un caso civil en deformación plana</a:t>
            </a:r>
            <a:br/>
            <a:r>
              <a:rPr sz="1500" b="0" i="0">
                <a:solidFill>
                  <a:srgbClr val="1F2937"/>
                </a:solidFill>
                <a:latin typeface="Calibri"/>
              </a:rPr>
              <a:t>con peso propio</a:t>
            </a:r>
          </a:p>
        </p:txBody>
      </p:sp>
      <p:sp>
        <p:nvSpPr>
          <p:cNvPr id="30" name="Rounded Rectangle 29"/>
          <p:cNvSpPr/>
          <p:nvPr/>
        </p:nvSpPr>
        <p:spPr>
          <a:xfrm>
            <a:off x="8314246" y="1842071"/>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4746" y="2547988"/>
            <a:ext cx="2983802" cy="480060"/>
          </a:xfrm>
          <a:prstGeom prst="rect">
            <a:avLst/>
          </a:prstGeom>
          <a:noFill/>
        </p:spPr>
        <p:txBody>
          <a:bodyPr wrap="square" lIns="0" rIns="0" tIns="0" bIns="0" anchor="t"/>
          <a:lstStyle/>
          <a:p>
            <a:pPr algn="l">
              <a:lnSpc>
                <a:spcPts val="1890"/>
              </a:lnSpc>
              <a:spcBef>
                <a:spcPts val="0"/>
              </a:spcBef>
              <a:spcAft>
                <a:spcPts val="0"/>
              </a:spcAft>
            </a:pPr>
            <a:r>
              <a:rPr sz="1500" b="0" i="0">
                <a:solidFill>
                  <a:srgbClr val="1F2937"/>
                </a:solidFill>
                <a:latin typeface="Calibri"/>
              </a:rPr>
              <a:t>Revisión independiente del código y</a:t>
            </a:r>
            <a:br/>
            <a:r>
              <a:rPr sz="1500" b="0" i="0">
                <a:solidFill>
                  <a:srgbClr val="1F2937"/>
                </a:solidFill>
                <a:latin typeface="Calibri"/>
              </a:rPr>
              <a:t>de la tabla de cobertura</a:t>
            </a:r>
          </a:p>
        </p:txBody>
      </p:sp>
      <p:sp>
        <p:nvSpPr>
          <p:cNvPr id="32" name="Rounded Rectangle 31"/>
          <p:cNvSpPr/>
          <p:nvPr/>
        </p:nvSpPr>
        <p:spPr>
          <a:xfrm>
            <a:off x="8314246" y="2650998"/>
            <a:ext cx="69850" cy="69850"/>
          </a:xfrm>
          <a:prstGeom prst="roundRect">
            <a:avLst>
              <a:gd name="adj" fmla="val 2727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65150" y="5659120"/>
            <a:ext cx="110617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5150" y="56591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450" y="5775884"/>
            <a:ext cx="2807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36" name="TextBox 35"/>
          <p:cNvSpPr txBox="1"/>
          <p:nvPr/>
        </p:nvSpPr>
        <p:spPr>
          <a:xfrm>
            <a:off x="1176147" y="5802089"/>
            <a:ext cx="8405812" cy="263398"/>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Una línea distinta, de carácter educativo, podrá estudiar el uso de la herramienta en el aula.</a:t>
            </a:r>
          </a:p>
        </p:txBody>
      </p:sp>
      <p:sp>
        <p:nvSpPr>
          <p:cNvPr id="37" name="Rectangle 3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5150" y="6535420"/>
            <a:ext cx="516305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0" name="TextBox 39"/>
          <p:cNvSpPr txBox="1"/>
          <p:nvPr/>
        </p:nvSpPr>
        <p:spPr>
          <a:xfrm>
            <a:off x="5601589" y="6535420"/>
            <a:ext cx="988695"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Recomendaciones</a:t>
            </a:r>
          </a:p>
        </p:txBody>
      </p:sp>
      <p:sp>
        <p:nvSpPr>
          <p:cNvPr id="41" name="TextBox 40"/>
          <p:cNvSpPr txBox="1"/>
          <p:nvPr/>
        </p:nvSpPr>
        <p:spPr>
          <a:xfrm>
            <a:off x="6463665" y="6535420"/>
            <a:ext cx="5163185"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56</a:t>
            </a:r>
          </a:p>
        </p:txBody>
      </p:sp>
      <p:sp>
        <p:nvSpPr>
          <p:cNvPr id="42" name="Enlace a sep-intro">
            <a:hlinkClick action="ppaction://hlinksldjump" r:id="rId2"/>
          </p:cNvPr>
          <p:cNvSpPr/>
          <p:nvPr/>
        </p:nvSpPr>
        <p:spPr>
          <a:xfrm>
            <a:off x="105981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nlace a sep-teoria">
            <a:hlinkClick action="ppaction://hlinksldjump" r:id="rId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nlace a sep-diseno">
            <a:hlinkClick action="ppaction://hlinksldjump" r:id="rId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nlace a sep-resultados">
            <a:hlinkClick action="ppaction://hlinksldjump" r:id="rId5"/>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nlace a sep-analisis">
            <a:hlinkClick action="ppaction://hlinksldjump" r:id="rId6"/>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nlace a sep-conclusiones">
            <a:hlinkClick action="ppaction://hlinksldjump" r:id="rId7"/>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5" fill="hold">
                      <p:stCondLst>
                        <p:cond delay="indefinite"/>
                        <p:cond evt="onBegin" delay="0">
                          <p:tn val="2"/>
                        </p:cond>
                      </p:stCondLst>
                      <p:childTnLst>
                        <p:par>
                          <p:cTn id="76"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50"/>
                                        <p:tgtEl>
                                          <p:spTgt spid="1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50"/>
                                        <p:tgtEl>
                                          <p:spTgt spid="14"/>
                                        </p:tgtEl>
                                      </p:cBhvr>
                                    </p:animEffect>
                                  </p:childTnLst>
                                </p:cTn>
                              </p:par>
                              <p:par>
                                <p:cTn id="9" presetID="10" presetClass="entr" presetSubtype="0" fill="hold" grpId="0" nodeType="with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12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12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childTnLst>
                          </p:cTn>
                        </p:par>
                      </p:childTnLst>
                    </p:cTn>
                  </p:par>
                  <p:par>
                    <p:cTn id="77" fill="hold">
                      <p:stCondLst>
                        <p:cond delay="indefinite"/>
                      </p:stCondLst>
                      <p:childTnLst>
                        <p:par>
                          <p:cTn id="78"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childTnLst>
                          </p:cTn>
                        </p:par>
                      </p:childTnLst>
                    </p:cTn>
                  </p:par>
                  <p:par>
                    <p:cTn id="79" fill="hold">
                      <p:stCondLst>
                        <p:cond delay="indefinite"/>
                      </p:stCondLst>
                      <p:childTnLst>
                        <p:par>
                          <p:cTn id="80"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Picture 1" descr="168e79c2b768a4f2.png"/>
          <p:cNvPicPr>
            <a:picLocks noChangeAspect="1"/>
          </p:cNvPicPr>
          <p:nvPr/>
        </p:nvPicPr>
        <p:blipFill>
          <a:blip r:embed="rId2"/>
          <a:stretch>
            <a:fillRect/>
          </a:stretch>
        </p:blipFill>
        <p:spPr>
          <a:xfrm>
            <a:off x="565150" y="279400"/>
            <a:ext cx="11626850" cy="6578600"/>
          </a:xfrm>
          <a:prstGeom prst="rect">
            <a:avLst/>
          </a:prstGeom>
        </p:spPr>
      </p:pic>
      <p:sp>
        <p:nvSpPr>
          <p:cNvPr id="3" name="TextBox 2"/>
          <p:cNvSpPr txBox="1"/>
          <p:nvPr/>
        </p:nvSpPr>
        <p:spPr>
          <a:xfrm>
            <a:off x="825500" y="1691323"/>
            <a:ext cx="2956433" cy="857250"/>
          </a:xfrm>
          <a:prstGeom prst="rect">
            <a:avLst/>
          </a:prstGeom>
          <a:noFill/>
        </p:spPr>
        <p:txBody>
          <a:bodyPr wrap="square" lIns="0" rIns="0" tIns="0" bIns="0" anchor="t"/>
          <a:lstStyle/>
          <a:p>
            <a:pPr algn="l">
              <a:lnSpc>
                <a:spcPts val="6750"/>
              </a:lnSpc>
              <a:spcBef>
                <a:spcPts val="0"/>
              </a:spcBef>
              <a:spcAft>
                <a:spcPts val="0"/>
              </a:spcAft>
            </a:pPr>
            <a:r>
              <a:rPr sz="7500" b="1" i="0">
                <a:solidFill>
                  <a:srgbClr val="FFFFFF"/>
                </a:solidFill>
                <a:latin typeface="Calibri"/>
              </a:rPr>
              <a:t>Gracias</a:t>
            </a:r>
          </a:p>
        </p:txBody>
      </p:sp>
      <p:sp>
        <p:nvSpPr>
          <p:cNvPr id="4" name="TextBox 3"/>
          <p:cNvSpPr txBox="1"/>
          <p:nvPr/>
        </p:nvSpPr>
        <p:spPr>
          <a:xfrm>
            <a:off x="863600" y="2794127"/>
            <a:ext cx="7124700" cy="660400"/>
          </a:xfrm>
          <a:prstGeom prst="rect">
            <a:avLst/>
          </a:prstGeom>
          <a:noFill/>
        </p:spPr>
        <p:txBody>
          <a:bodyPr wrap="square" lIns="0" rIns="0" tIns="0" bIns="0" anchor="t"/>
          <a:lstStyle/>
          <a:p>
            <a:pPr algn="l">
              <a:lnSpc>
                <a:spcPts val="2600"/>
              </a:lnSpc>
              <a:spcBef>
                <a:spcPts val="0"/>
              </a:spcBef>
              <a:spcAft>
                <a:spcPts val="0"/>
              </a:spcAft>
            </a:pPr>
            <a:r>
              <a:rPr sz="2000" b="0" i="0">
                <a:solidFill>
                  <a:srgbClr val="C7D2E8"/>
                </a:solidFill>
                <a:latin typeface="Calibri"/>
              </a:rPr>
              <a:t>Del resultado a sus datos, etapa por etapa: un análisis por el MEF</a:t>
            </a:r>
            <a:br/>
            <a:r>
              <a:rPr sz="2000" b="0" i="0">
                <a:solidFill>
                  <a:srgbClr val="C7D2E8"/>
                </a:solidFill>
                <a:latin typeface="Calibri"/>
              </a:rPr>
              <a:t>que puede seguirse y comprobarse.</a:t>
            </a:r>
          </a:p>
        </p:txBody>
      </p:sp>
      <p:sp>
        <p:nvSpPr>
          <p:cNvPr id="5" name="Rounded Rectangle 4"/>
          <p:cNvSpPr/>
          <p:nvPr/>
        </p:nvSpPr>
        <p:spPr>
          <a:xfrm>
            <a:off x="863600" y="4064000"/>
            <a:ext cx="2815717" cy="3937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2350" y="4154848"/>
            <a:ext cx="2549017"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FFFFFF"/>
                </a:solidFill>
                <a:latin typeface="Calibri"/>
              </a:rPr>
              <a:t>◆ Trazable: 7/7 · 9/9 · 3/3 · 18/18</a:t>
            </a:r>
          </a:p>
        </p:txBody>
      </p:sp>
      <p:sp>
        <p:nvSpPr>
          <p:cNvPr id="7" name="Rounded Rectangle 6"/>
          <p:cNvSpPr/>
          <p:nvPr/>
        </p:nvSpPr>
        <p:spPr>
          <a:xfrm>
            <a:off x="866775" y="4562475"/>
            <a:ext cx="2457577" cy="400050"/>
          </a:xfrm>
          <a:prstGeom prst="roundRect">
            <a:avLst>
              <a:gd name="adj" fmla="val 50000"/>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2350" y="4669198"/>
            <a:ext cx="2197227"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FFFFFF"/>
                </a:solidFill>
                <a:latin typeface="Calibri"/>
              </a:rPr>
              <a:t>✓ Verificable: 9 de 9 criterios</a:t>
            </a:r>
          </a:p>
        </p:txBody>
      </p:sp>
      <p:sp>
        <p:nvSpPr>
          <p:cNvPr id="9" name="Rounded Rectangle 8"/>
          <p:cNvSpPr/>
          <p:nvPr/>
        </p:nvSpPr>
        <p:spPr>
          <a:xfrm>
            <a:off x="866775" y="5070475"/>
            <a:ext cx="3551618" cy="387350"/>
          </a:xfrm>
          <a:prstGeom prst="roundRect">
            <a:avLst>
              <a:gd name="adj" fmla="val 50000"/>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2350" y="5158148"/>
            <a:ext cx="3305302"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FFFFFF"/>
                </a:solidFill>
                <a:latin typeface="Calibri"/>
              </a:rPr>
              <a:t>↺ Reproducible: guiones, datos e instalador</a:t>
            </a:r>
          </a:p>
        </p:txBody>
      </p:sp>
      <p:sp>
        <p:nvSpPr>
          <p:cNvPr id="11" name="Rounded Rectangle 10"/>
          <p:cNvSpPr/>
          <p:nvPr/>
        </p:nvSpPr>
        <p:spPr>
          <a:xfrm>
            <a:off x="863600" y="5746750"/>
            <a:ext cx="2238756" cy="349250"/>
          </a:xfrm>
          <a:prstGeom prst="roundRect">
            <a:avLst>
              <a:gd name="adj" fmla="val 14545"/>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9650" y="5855494"/>
            <a:ext cx="1946656"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 Preguntas: ir a una lámina</a:t>
            </a:r>
          </a:p>
        </p:txBody>
      </p:sp>
      <p:sp>
        <p:nvSpPr>
          <p:cNvPr id="13" name="Rounded Rectangle 12"/>
          <p:cNvSpPr/>
          <p:nvPr/>
        </p:nvSpPr>
        <p:spPr>
          <a:xfrm>
            <a:off x="3194431" y="5749925"/>
            <a:ext cx="1300480" cy="342900"/>
          </a:xfrm>
          <a:prstGeom prst="roundRect">
            <a:avLst>
              <a:gd name="adj" fmla="val 13888"/>
            </a:avLst>
          </a:prstGeom>
          <a:solidFill>
            <a:srgbClr val="22335A"/>
          </a:solidFill>
          <a:ln w="6350">
            <a:solidFill>
              <a:srgbClr val="C7D2E8">
                <a:alpha val="3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306" y="5855494"/>
            <a:ext cx="101473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 Trazabilidad</a:t>
            </a:r>
          </a:p>
        </p:txBody>
      </p:sp>
      <p:sp>
        <p:nvSpPr>
          <p:cNvPr id="15" name="Rounded Rectangle 14"/>
          <p:cNvSpPr/>
          <p:nvPr/>
        </p:nvSpPr>
        <p:spPr>
          <a:xfrm>
            <a:off x="4590161" y="5749925"/>
            <a:ext cx="1121092" cy="342900"/>
          </a:xfrm>
          <a:prstGeom prst="roundRect">
            <a:avLst>
              <a:gd name="adj" fmla="val 13888"/>
            </a:avLst>
          </a:prstGeom>
          <a:solidFill>
            <a:srgbClr val="22335A"/>
          </a:solidFill>
          <a:ln w="6350">
            <a:solidFill>
              <a:srgbClr val="C7D2E8">
                <a:alpha val="3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33036" y="5855494"/>
            <a:ext cx="835343"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 Veredicto</a:t>
            </a:r>
          </a:p>
        </p:txBody>
      </p:sp>
      <p:sp>
        <p:nvSpPr>
          <p:cNvPr id="17" name="Rounded Rectangle 16"/>
          <p:cNvSpPr/>
          <p:nvPr/>
        </p:nvSpPr>
        <p:spPr>
          <a:xfrm>
            <a:off x="5806504" y="5749925"/>
            <a:ext cx="1134554" cy="342900"/>
          </a:xfrm>
          <a:prstGeom prst="roundRect">
            <a:avLst>
              <a:gd name="adj" fmla="val 13888"/>
            </a:avLst>
          </a:prstGeom>
          <a:solidFill>
            <a:srgbClr val="22335A"/>
          </a:solidFill>
          <a:ln w="6350">
            <a:solidFill>
              <a:srgbClr val="C7D2E8">
                <a:alpha val="3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9378" y="5855494"/>
            <a:ext cx="848804"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 Respaldo</a:t>
            </a:r>
          </a:p>
        </p:txBody>
      </p:sp>
      <p:sp>
        <p:nvSpPr>
          <p:cNvPr id="19" name="Rounded Rectangle 18"/>
          <p:cNvSpPr/>
          <p:nvPr/>
        </p:nvSpPr>
        <p:spPr>
          <a:xfrm>
            <a:off x="9250680" y="2286000"/>
            <a:ext cx="1925320" cy="1689100"/>
          </a:xfrm>
          <a:prstGeom prst="roundRect">
            <a:avLst>
              <a:gd name="adj" fmla="val 6766"/>
            </a:avLst>
          </a:prstGeom>
          <a:solidFill>
            <a:srgbClr val="FFFFFF"/>
          </a:solidFill>
          <a:ln>
            <a:noFill/>
          </a:ln>
          <a:effectLst>
            <a:outerShdw blurRad="177800" dist="63500" dir="5400000" algn="ctr" rotWithShape="0">
              <a:srgbClr val="1B2A4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8c51cc2efe79c7b4.png"/>
          <p:cNvPicPr>
            <a:picLocks noChangeAspect="1"/>
          </p:cNvPicPr>
          <p:nvPr/>
        </p:nvPicPr>
        <p:blipFill>
          <a:blip r:embed="rId3"/>
          <a:stretch>
            <a:fillRect/>
          </a:stretch>
        </p:blipFill>
        <p:spPr>
          <a:xfrm>
            <a:off x="9359900" y="2400300"/>
            <a:ext cx="1466850" cy="1460500"/>
          </a:xfrm>
          <a:prstGeom prst="rect">
            <a:avLst/>
          </a:prstGeom>
        </p:spPr>
      </p:pic>
      <p:sp>
        <p:nvSpPr>
          <p:cNvPr id="21" name="TextBox 20"/>
          <p:cNvSpPr txBox="1"/>
          <p:nvPr/>
        </p:nvSpPr>
        <p:spPr>
          <a:xfrm>
            <a:off x="9225280" y="4056212"/>
            <a:ext cx="1976120" cy="170561"/>
          </a:xfrm>
          <a:prstGeom prst="rect">
            <a:avLst/>
          </a:prstGeom>
          <a:noFill/>
        </p:spPr>
        <p:txBody>
          <a:bodyPr wrap="square" lIns="0" rIns="0" tIns="0" bIns="0" anchor="t"/>
          <a:lstStyle/>
          <a:p>
            <a:pPr algn="ctr">
              <a:lnSpc>
                <a:spcPts val="1343"/>
              </a:lnSpc>
              <a:spcBef>
                <a:spcPts val="0"/>
              </a:spcBef>
              <a:spcAft>
                <a:spcPts val="0"/>
              </a:spcAft>
            </a:pPr>
            <a:r>
              <a:rPr sz="1100" b="0" i="0">
                <a:solidFill>
                  <a:srgbClr val="C7D2E8"/>
                </a:solidFill>
                <a:latin typeface="Calibri"/>
              </a:rPr>
              <a:t>github.com/Sucullani/SoftwareED</a:t>
            </a:r>
          </a:p>
        </p:txBody>
      </p:sp>
      <p:sp>
        <p:nvSpPr>
          <p:cNvPr id="22" name="Enlace a __indice">
            <a:hlinkClick action="ppaction://hlinksldjump" r:id="rId4"/>
          </p:cNvPr>
          <p:cNvSpPr/>
          <p:nvPr/>
        </p:nvSpPr>
        <p:spPr>
          <a:xfrm>
            <a:off x="863600" y="5746750"/>
            <a:ext cx="2238756"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nlace a trazabilidad">
            <a:hlinkClick action="ppaction://hlinksldjump" r:id="rId5"/>
          </p:cNvPr>
          <p:cNvSpPr/>
          <p:nvPr/>
        </p:nvSpPr>
        <p:spPr>
          <a:xfrm>
            <a:off x="3191256" y="5746750"/>
            <a:ext cx="130683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nlace a veredicto">
            <a:hlinkClick action="ppaction://hlinksldjump" r:id="rId6"/>
          </p:cNvPr>
          <p:cNvSpPr/>
          <p:nvPr/>
        </p:nvSpPr>
        <p:spPr>
          <a:xfrm>
            <a:off x="4586986" y="5746750"/>
            <a:ext cx="1127442"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nlace a r-calculo-manual">
            <a:hlinkClick action="ppaction://hlinksldjump" r:id="rId7"/>
          </p:cNvPr>
          <p:cNvSpPr/>
          <p:nvPr/>
        </p:nvSpPr>
        <p:spPr>
          <a:xfrm>
            <a:off x="5803328" y="5746750"/>
            <a:ext cx="1140904"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withEffect">
                                  <p:stCondLst>
                                    <p:cond delay="12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23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par>
                                <p:cTn id="9" presetID="10" presetClass="entr" presetSubtype="0" fill="hold" grpId="0" nodeType="withEffect">
                                  <p:stCondLst>
                                    <p:cond delay="34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par>
                                <p:cTn id="12" presetID="10" presetClass="entr" presetSubtype="0" fill="hold" grpId="0" nodeType="withEffect">
                                  <p:stCondLst>
                                    <p:cond delay="34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5" presetID="10" presetClass="entr" presetSubtype="0" fill="hold" grpId="0" nodeType="withEffect">
                                  <p:stCondLst>
                                    <p:cond delay="34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34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34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34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45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4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4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4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45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4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34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34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34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Lst>
  </p:timing>
</p:sld>
</file>

<file path=ppt/slides/slide5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TextBox 3"/>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¿Se puede rehacer a mano? El Jacobiano de E3</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8175" y="1438275"/>
            <a:ext cx="10915650" cy="4438650"/>
          </a:xfrm>
          <a:prstGeom prst="roundRect">
            <a:avLst>
              <a:gd name="adj" fmla="val 250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6dced2452cef1a5a.png"/>
          <p:cNvPicPr>
            <a:picLocks noChangeAspect="1"/>
          </p:cNvPicPr>
          <p:nvPr/>
        </p:nvPicPr>
        <p:blipFill>
          <a:blip r:embed="rId2"/>
          <a:stretch>
            <a:fillRect/>
          </a:stretch>
        </p:blipFill>
        <p:spPr>
          <a:xfrm>
            <a:off x="806450" y="1270000"/>
            <a:ext cx="11385550" cy="1200150"/>
          </a:xfrm>
          <a:prstGeom prst="rect">
            <a:avLst/>
          </a:prstGeom>
        </p:spPr>
      </p:pic>
      <p:pic>
        <p:nvPicPr>
          <p:cNvPr id="9" name="Picture 8" descr="5462ca87bea4e013.png"/>
          <p:cNvPicPr>
            <a:picLocks noChangeAspect="1"/>
          </p:cNvPicPr>
          <p:nvPr/>
        </p:nvPicPr>
        <p:blipFill>
          <a:blip r:embed="rId3"/>
          <a:stretch>
            <a:fillRect/>
          </a:stretch>
        </p:blipFill>
        <p:spPr>
          <a:xfrm>
            <a:off x="806450" y="2133600"/>
            <a:ext cx="10579100" cy="882650"/>
          </a:xfrm>
          <a:prstGeom prst="rect">
            <a:avLst/>
          </a:prstGeom>
        </p:spPr>
      </p:pic>
      <p:pic>
        <p:nvPicPr>
          <p:cNvPr id="10" name="Picture 9" descr="523661f626bd6cd4.png"/>
          <p:cNvPicPr>
            <a:picLocks noChangeAspect="1"/>
          </p:cNvPicPr>
          <p:nvPr/>
        </p:nvPicPr>
        <p:blipFill>
          <a:blip r:embed="rId4"/>
          <a:stretch>
            <a:fillRect/>
          </a:stretch>
        </p:blipFill>
        <p:spPr>
          <a:xfrm>
            <a:off x="806450" y="2762250"/>
            <a:ext cx="10579100" cy="508000"/>
          </a:xfrm>
          <a:prstGeom prst="rect">
            <a:avLst/>
          </a:prstGeom>
        </p:spPr>
      </p:pic>
      <p:pic>
        <p:nvPicPr>
          <p:cNvPr id="11" name="Picture 10" descr="2241d88eaae2204a.png"/>
          <p:cNvPicPr>
            <a:picLocks noChangeAspect="1"/>
          </p:cNvPicPr>
          <p:nvPr/>
        </p:nvPicPr>
        <p:blipFill>
          <a:blip r:embed="rId5"/>
          <a:stretch>
            <a:fillRect/>
          </a:stretch>
        </p:blipFill>
        <p:spPr>
          <a:xfrm>
            <a:off x="806450" y="3041650"/>
            <a:ext cx="10579100" cy="508000"/>
          </a:xfrm>
          <a:prstGeom prst="rect">
            <a:avLst/>
          </a:prstGeom>
        </p:spPr>
      </p:pic>
      <p:pic>
        <p:nvPicPr>
          <p:cNvPr id="12" name="Picture 11" descr="e4f549619007e576.png"/>
          <p:cNvPicPr>
            <a:picLocks noChangeAspect="1"/>
          </p:cNvPicPr>
          <p:nvPr/>
        </p:nvPicPr>
        <p:blipFill>
          <a:blip r:embed="rId6"/>
          <a:stretch>
            <a:fillRect/>
          </a:stretch>
        </p:blipFill>
        <p:spPr>
          <a:xfrm>
            <a:off x="806450" y="3327400"/>
            <a:ext cx="10579100" cy="508000"/>
          </a:xfrm>
          <a:prstGeom prst="rect">
            <a:avLst/>
          </a:prstGeom>
        </p:spPr>
      </p:pic>
      <p:pic>
        <p:nvPicPr>
          <p:cNvPr id="13" name="Picture 12" descr="4f3e263c53b06509.png"/>
          <p:cNvPicPr>
            <a:picLocks noChangeAspect="1"/>
          </p:cNvPicPr>
          <p:nvPr/>
        </p:nvPicPr>
        <p:blipFill>
          <a:blip r:embed="rId7"/>
          <a:stretch>
            <a:fillRect/>
          </a:stretch>
        </p:blipFill>
        <p:spPr>
          <a:xfrm>
            <a:off x="806450" y="3454400"/>
            <a:ext cx="10579100" cy="704850"/>
          </a:xfrm>
          <a:prstGeom prst="rect">
            <a:avLst/>
          </a:prstGeom>
        </p:spPr>
      </p:pic>
      <p:pic>
        <p:nvPicPr>
          <p:cNvPr id="14" name="Picture 13" descr="bfb69019f947d3cf.png"/>
          <p:cNvPicPr>
            <a:picLocks noChangeAspect="1"/>
          </p:cNvPicPr>
          <p:nvPr/>
        </p:nvPicPr>
        <p:blipFill>
          <a:blip r:embed="rId8"/>
          <a:stretch>
            <a:fillRect/>
          </a:stretch>
        </p:blipFill>
        <p:spPr>
          <a:xfrm>
            <a:off x="806450" y="3841750"/>
            <a:ext cx="10579100" cy="1028700"/>
          </a:xfrm>
          <a:prstGeom prst="rect">
            <a:avLst/>
          </a:prstGeom>
        </p:spPr>
      </p:pic>
      <p:pic>
        <p:nvPicPr>
          <p:cNvPr id="15" name="Picture 14" descr="3e3d72055047cf56.png"/>
          <p:cNvPicPr>
            <a:picLocks noChangeAspect="1"/>
          </p:cNvPicPr>
          <p:nvPr/>
        </p:nvPicPr>
        <p:blipFill>
          <a:blip r:embed="rId9"/>
          <a:stretch>
            <a:fillRect/>
          </a:stretch>
        </p:blipFill>
        <p:spPr>
          <a:xfrm>
            <a:off x="806450" y="4610100"/>
            <a:ext cx="10579100" cy="514350"/>
          </a:xfrm>
          <a:prstGeom prst="rect">
            <a:avLst/>
          </a:prstGeom>
        </p:spPr>
      </p:pic>
      <p:sp>
        <p:nvSpPr>
          <p:cNvPr id="16" name="TextBox 15"/>
          <p:cNvSpPr txBox="1"/>
          <p:nvPr/>
        </p:nvSpPr>
        <p:spPr>
          <a:xfrm>
            <a:off x="806450" y="5192109"/>
            <a:ext cx="10790682"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Mismas cifras que el Anexo G (pp. 166, 167 y 169) y que la memoria que genera EduFEM.</a:t>
            </a:r>
          </a:p>
        </p:txBody>
      </p:sp>
      <p:sp>
        <p:nvSpPr>
          <p:cNvPr id="17" name="Rectangle 1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5150" y="6535420"/>
            <a:ext cx="526713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0" name="TextBox 19"/>
          <p:cNvSpPr txBox="1"/>
          <p:nvPr/>
        </p:nvSpPr>
        <p:spPr>
          <a:xfrm>
            <a:off x="5703570" y="6535420"/>
            <a:ext cx="78473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Anexo G</a:t>
            </a:r>
          </a:p>
        </p:txBody>
      </p:sp>
      <p:sp>
        <p:nvSpPr>
          <p:cNvPr id="21" name="TextBox 20"/>
          <p:cNvSpPr txBox="1"/>
          <p:nvPr/>
        </p:nvSpPr>
        <p:spPr>
          <a:xfrm>
            <a:off x="6359652" y="6535420"/>
            <a:ext cx="526719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22" name="Rounded Rectangle 21">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childTnLst>
                          </p:cTn>
                        </p:par>
                      </p:childTnLst>
                    </p:cTn>
                  </p:par>
                  <p:par>
                    <p:cTn id="14" fill="hold">
                      <p:stCondLst>
                        <p:cond delay="indefinite"/>
                      </p:stCondLst>
                      <p:childTnLst>
                        <p:par>
                          <p:cTn id="1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5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TextBox 3"/>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Viga de Timoshenko: apoyos, carga y equilibrio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8325" y="1283272"/>
            <a:ext cx="5397500" cy="905700"/>
          </a:xfrm>
          <a:prstGeom prst="roundRect">
            <a:avLst>
              <a:gd name="adj" fmla="val 806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1483615"/>
            <a:ext cx="5058537"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Apoyos (en el eje neutro, y = 0)</a:t>
            </a:r>
          </a:p>
        </p:txBody>
      </p:sp>
      <p:sp>
        <p:nvSpPr>
          <p:cNvPr id="9" name="TextBox 8"/>
          <p:cNvSpPr txBox="1"/>
          <p:nvPr/>
        </p:nvSpPr>
        <p:spPr>
          <a:xfrm>
            <a:off x="787400" y="1743687"/>
            <a:ext cx="5058537" cy="245364"/>
          </a:xfrm>
          <a:prstGeom prst="rect">
            <a:avLst/>
          </a:prstGeom>
          <a:noFill/>
        </p:spPr>
        <p:txBody>
          <a:bodyPr wrap="square" lIns="0" rIns="0" tIns="0" bIns="0" anchor="t"/>
          <a:lstStyle/>
          <a:p>
            <a:pPr algn="l">
              <a:lnSpc>
                <a:spcPts val="1932"/>
              </a:lnSpc>
              <a:spcBef>
                <a:spcPts val="0"/>
              </a:spcBef>
              <a:spcAft>
                <a:spcPts val="0"/>
              </a:spcAft>
            </a:pPr>
            <a:r>
              <a:rPr sz="1400" b="0" i="0">
                <a:solidFill>
                  <a:srgbClr val="1F2937"/>
                </a:solidFill>
                <a:latin typeface="Calibri"/>
              </a:rPr>
              <a:t>Fijo en x = −7 m: restringe u y v · móvil en x = +7 m: restringe v.</a:t>
            </a:r>
          </a:p>
        </p:txBody>
      </p:sp>
      <p:sp>
        <p:nvSpPr>
          <p:cNvPr id="10" name="Rounded Rectangle 9"/>
          <p:cNvSpPr/>
          <p:nvPr/>
        </p:nvSpPr>
        <p:spPr>
          <a:xfrm>
            <a:off x="568325" y="2335022"/>
            <a:ext cx="5397500" cy="1396238"/>
          </a:xfrm>
          <a:prstGeom prst="roundRect">
            <a:avLst>
              <a:gd name="adj" fmla="val 523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2535302"/>
            <a:ext cx="5058537"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Carga</a:t>
            </a:r>
          </a:p>
        </p:txBody>
      </p:sp>
      <p:sp>
        <p:nvSpPr>
          <p:cNvPr id="12" name="TextBox 11"/>
          <p:cNvSpPr txBox="1"/>
          <p:nvPr/>
        </p:nvSpPr>
        <p:spPr>
          <a:xfrm>
            <a:off x="787400" y="2795438"/>
            <a:ext cx="5058537" cy="736092"/>
          </a:xfrm>
          <a:prstGeom prst="rect">
            <a:avLst/>
          </a:prstGeom>
          <a:noFill/>
        </p:spPr>
        <p:txBody>
          <a:bodyPr wrap="square" lIns="0" rIns="0" tIns="0" bIns="0" anchor="t"/>
          <a:lstStyle/>
          <a:p>
            <a:pPr algn="l">
              <a:lnSpc>
                <a:spcPts val="1932"/>
              </a:lnSpc>
              <a:spcBef>
                <a:spcPts val="0"/>
              </a:spcBef>
              <a:spcAft>
                <a:spcPts val="0"/>
              </a:spcAft>
            </a:pPr>
            <a:r>
              <a:rPr sz="1400" b="0" i="0">
                <a:solidFill>
                  <a:srgbClr val="1F2937"/>
                </a:solidFill>
                <a:latin typeface="Calibri"/>
              </a:rPr>
              <a:t>q = 5000 kgf/m como carga superficial sobre la arista superior,</a:t>
            </a:r>
            <a:br/>
            <a:r>
              <a:rPr sz="1400" b="0" i="0">
                <a:solidFill>
                  <a:srgbClr val="1F2937"/>
                </a:solidFill>
                <a:latin typeface="Calibri"/>
              </a:rPr>
              <a:t>convertida a fuerzas nodales equivalentes con la formulación de la §</a:t>
            </a:r>
            <a:br/>
            <a:r>
              <a:rPr sz="1400" b="0" i="0">
                <a:solidFill>
                  <a:srgbClr val="1F2937"/>
                </a:solidFill>
                <a:latin typeface="Calibri"/>
              </a:rPr>
              <a:t>1.10.</a:t>
            </a:r>
          </a:p>
        </p:txBody>
      </p:sp>
      <p:sp>
        <p:nvSpPr>
          <p:cNvPr id="13" name="Rounded Rectangle 12"/>
          <p:cNvSpPr/>
          <p:nvPr/>
        </p:nvSpPr>
        <p:spPr>
          <a:xfrm>
            <a:off x="568325" y="3877246"/>
            <a:ext cx="5397500" cy="1177354"/>
          </a:xfrm>
          <a:prstGeom prst="roundRect">
            <a:avLst>
              <a:gd name="adj" fmla="val 6202"/>
            </a:avLst>
          </a:prstGeom>
          <a:solidFill>
            <a:srgbClr val="F6F8FC"/>
          </a:solidFill>
          <a:ln w="6350">
            <a:solidFill>
              <a:srgbClr val="B7DC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7400" y="4077590"/>
            <a:ext cx="5058537"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2E8B57"/>
                </a:solidFill>
                <a:latin typeface="Calibri"/>
              </a:rPr>
              <a:t>Prueba de que la carga entró bien</a:t>
            </a:r>
          </a:p>
        </p:txBody>
      </p:sp>
      <p:sp>
        <p:nvSpPr>
          <p:cNvPr id="15" name="TextBox 14"/>
          <p:cNvSpPr txBox="1"/>
          <p:nvPr/>
        </p:nvSpPr>
        <p:spPr>
          <a:xfrm>
            <a:off x="787400" y="4337662"/>
            <a:ext cx="5058537" cy="490728"/>
          </a:xfrm>
          <a:prstGeom prst="rect">
            <a:avLst/>
          </a:prstGeom>
          <a:noFill/>
        </p:spPr>
        <p:txBody>
          <a:bodyPr wrap="square" lIns="0" rIns="0" tIns="0" bIns="0" anchor="t"/>
          <a:lstStyle/>
          <a:p>
            <a:pPr algn="l">
              <a:lnSpc>
                <a:spcPts val="1932"/>
              </a:lnSpc>
              <a:spcBef>
                <a:spcPts val="0"/>
              </a:spcBef>
              <a:spcAft>
                <a:spcPts val="0"/>
              </a:spcAft>
            </a:pPr>
            <a:r>
              <a:rPr sz="1400" b="0" i="0">
                <a:solidFill>
                  <a:srgbClr val="1F2937"/>
                </a:solidFill>
                <a:latin typeface="Calibri"/>
              </a:rPr>
              <a:t>ΣR</a:t>
            </a:r>
            <a:r>
              <a:rPr sz="1400" b="0" i="0" baseline="-25000">
                <a:solidFill>
                  <a:srgbClr val="1F2937"/>
                </a:solidFill>
                <a:latin typeface="Calibri"/>
              </a:rPr>
              <a:t>y</a:t>
            </a:r>
            <a:r>
              <a:rPr sz="1400" b="0" i="0">
                <a:solidFill>
                  <a:srgbClr val="1F2937"/>
                </a:solidFill>
                <a:latin typeface="Calibri"/>
              </a:rPr>
              <a:t> = qL = 70 000 kgf con residuo relativo</a:t>
            </a:r>
            <a:r>
              <a:rPr sz="1400" b="1" i="0">
                <a:solidFill>
                  <a:srgbClr val="1F2937"/>
                </a:solidFill>
                <a:latin typeface="Calibri"/>
              </a:rPr>
              <a:t> 1,7 × 10⁻¹³</a:t>
            </a:r>
            <a:r>
              <a:rPr sz="1400" b="0" i="0">
                <a:solidFill>
                  <a:srgbClr val="1F2937"/>
                </a:solidFill>
                <a:latin typeface="Calibri"/>
              </a:rPr>
              <a:t>; ΣR</a:t>
            </a:r>
            <a:r>
              <a:rPr sz="1400" b="0" i="0" baseline="-25000">
                <a:solidFill>
                  <a:srgbClr val="1F2937"/>
                </a:solidFill>
                <a:latin typeface="Calibri"/>
              </a:rPr>
              <a:t>x</a:t>
            </a:r>
            <a:r>
              <a:rPr sz="1400" b="0" i="0">
                <a:solidFill>
                  <a:srgbClr val="1F2937"/>
                </a:solidFill>
                <a:latin typeface="Calibri"/>
              </a:rPr>
              <a:t> = 0 a</a:t>
            </a:r>
            <a:br/>
            <a:r>
              <a:rPr sz="1400" b="0" i="0">
                <a:solidFill>
                  <a:srgbClr val="1F2937"/>
                </a:solidFill>
                <a:latin typeface="Calibri"/>
              </a:rPr>
              <a:t>precisión de máquina.</a:t>
            </a:r>
          </a:p>
        </p:txBody>
      </p:sp>
      <p:sp>
        <p:nvSpPr>
          <p:cNvPr id="16" name="Rounded Rectangle 15"/>
          <p:cNvSpPr/>
          <p:nvPr/>
        </p:nvSpPr>
        <p:spPr>
          <a:xfrm>
            <a:off x="6226175" y="1283272"/>
            <a:ext cx="5397500" cy="1116012"/>
          </a:xfrm>
          <a:prstGeom prst="roundRect">
            <a:avLst>
              <a:gd name="adj" fmla="val 654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5250" y="1483615"/>
            <a:ext cx="5058537"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Malla y material</a:t>
            </a:r>
          </a:p>
        </p:txBody>
      </p:sp>
      <p:sp>
        <p:nvSpPr>
          <p:cNvPr id="18" name="TextBox 17"/>
          <p:cNvSpPr txBox="1"/>
          <p:nvPr/>
        </p:nvSpPr>
        <p:spPr>
          <a:xfrm>
            <a:off x="6445250" y="1743004"/>
            <a:ext cx="5058537" cy="455676"/>
          </a:xfrm>
          <a:prstGeom prst="rect">
            <a:avLst/>
          </a:prstGeom>
          <a:noFill/>
        </p:spPr>
        <p:txBody>
          <a:bodyPr wrap="square" lIns="0" rIns="0" tIns="0" bIns="0" anchor="t"/>
          <a:lstStyle/>
          <a:p>
            <a:pPr algn="l">
              <a:lnSpc>
                <a:spcPts val="1794"/>
              </a:lnSpc>
              <a:spcBef>
                <a:spcPts val="0"/>
              </a:spcBef>
              <a:spcAft>
                <a:spcPts val="0"/>
              </a:spcAft>
            </a:pPr>
            <a:r>
              <a:rPr sz="1300" b="0" i="0">
                <a:solidFill>
                  <a:srgbClr val="3F4A5A"/>
                </a:solidFill>
                <a:latin typeface="Calibri"/>
              </a:rPr>
              <a:t>Q9 56 × 8 (448 elementos, 1921 nodos, 3842 GDL) · E = 217 370 kgf/cm²,</a:t>
            </a:r>
            <a:br/>
            <a:r>
              <a:rPr sz="1300" b="0" i="0">
                <a:solidFill>
                  <a:srgbClr val="3F4A5A"/>
                </a:solidFill>
                <a:latin typeface="Calibri"/>
              </a:rPr>
              <a:t>ν = 0,20 · b = 0,40 m</a:t>
            </a:r>
          </a:p>
        </p:txBody>
      </p:sp>
      <p:sp>
        <p:nvSpPr>
          <p:cNvPr id="19" name="Rounded Rectangle 18"/>
          <p:cNvSpPr/>
          <p:nvPr/>
        </p:nvSpPr>
        <p:spPr>
          <a:xfrm>
            <a:off x="6226175" y="2545334"/>
            <a:ext cx="5397500" cy="1116012"/>
          </a:xfrm>
          <a:prstGeom prst="roundRect">
            <a:avLst>
              <a:gd name="adj" fmla="val 654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5250" y="2745678"/>
            <a:ext cx="5058537"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Puntos de control</a:t>
            </a:r>
          </a:p>
        </p:txBody>
      </p:sp>
      <p:sp>
        <p:nvSpPr>
          <p:cNvPr id="21" name="TextBox 20"/>
          <p:cNvSpPr txBox="1"/>
          <p:nvPr/>
        </p:nvSpPr>
        <p:spPr>
          <a:xfrm>
            <a:off x="6445250" y="3005066"/>
            <a:ext cx="5058537" cy="455676"/>
          </a:xfrm>
          <a:prstGeom prst="rect">
            <a:avLst/>
          </a:prstGeom>
          <a:noFill/>
        </p:spPr>
        <p:txBody>
          <a:bodyPr wrap="square" lIns="0" rIns="0" tIns="0" bIns="0" anchor="t"/>
          <a:lstStyle/>
          <a:p>
            <a:pPr algn="l">
              <a:lnSpc>
                <a:spcPts val="1794"/>
              </a:lnSpc>
              <a:spcBef>
                <a:spcPts val="0"/>
              </a:spcBef>
              <a:spcAft>
                <a:spcPts val="0"/>
              </a:spcAft>
            </a:pPr>
            <a:r>
              <a:rPr sz="1300" b="0" i="0">
                <a:solidFill>
                  <a:srgbClr val="3F4A5A"/>
                </a:solidFill>
                <a:latin typeface="Calibri"/>
              </a:rPr>
              <a:t>A (0; 0,6), B (−4,5; −0,3), C (−3,5; −0,2) m, alejados de los apoyos</a:t>
            </a:r>
            <a:br/>
            <a:r>
              <a:rPr sz="1300" b="0" i="0">
                <a:solidFill>
                  <a:srgbClr val="3F4A5A"/>
                </a:solidFill>
                <a:latin typeface="Calibri"/>
              </a:rPr>
              <a:t>puntuales.</a:t>
            </a:r>
          </a:p>
        </p:txBody>
      </p:sp>
      <p:sp>
        <p:nvSpPr>
          <p:cNvPr id="22" name="Rounded Rectangle 21"/>
          <p:cNvSpPr/>
          <p:nvPr/>
        </p:nvSpPr>
        <p:spPr>
          <a:xfrm>
            <a:off x="6226175" y="3807396"/>
            <a:ext cx="5397500" cy="1116012"/>
          </a:xfrm>
          <a:prstGeom prst="roundRect">
            <a:avLst>
              <a:gd name="adj" fmla="val 654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5250" y="4007740"/>
            <a:ext cx="5058537"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SAP2000</a:t>
            </a:r>
          </a:p>
        </p:txBody>
      </p:sp>
      <p:sp>
        <p:nvSpPr>
          <p:cNvPr id="24" name="TextBox 23"/>
          <p:cNvSpPr txBox="1"/>
          <p:nvPr/>
        </p:nvSpPr>
        <p:spPr>
          <a:xfrm>
            <a:off x="6445250" y="4267129"/>
            <a:ext cx="5058537" cy="455676"/>
          </a:xfrm>
          <a:prstGeom prst="rect">
            <a:avLst/>
          </a:prstGeom>
          <a:noFill/>
        </p:spPr>
        <p:txBody>
          <a:bodyPr wrap="square" lIns="0" rIns="0" tIns="0" bIns="0" anchor="t"/>
          <a:lstStyle/>
          <a:p>
            <a:pPr algn="l">
              <a:lnSpc>
                <a:spcPts val="1794"/>
              </a:lnSpc>
              <a:spcBef>
                <a:spcPts val="0"/>
              </a:spcBef>
              <a:spcAft>
                <a:spcPts val="0"/>
              </a:spcAft>
            </a:pPr>
            <a:r>
              <a:rPr sz="1300" b="0" i="0">
                <a:solidFill>
                  <a:srgbClr val="3F4A5A"/>
                </a:solidFill>
                <a:latin typeface="Calibri"/>
              </a:rPr>
              <a:t>Modelo de cáscara Mindlin-Reissner (Anexo E): una segunda</a:t>
            </a:r>
            <a:br/>
            <a:r>
              <a:rPr sz="1300" b="0" i="0">
                <a:solidFill>
                  <a:srgbClr val="3F4A5A"/>
                </a:solidFill>
                <a:latin typeface="Calibri"/>
              </a:rPr>
              <a:t>aproximación numérica, no el patrón de exactitud.</a:t>
            </a:r>
          </a:p>
        </p:txBody>
      </p:sp>
      <p:sp>
        <p:nvSpPr>
          <p:cNvPr id="25" name="Rectangle 24"/>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5150" y="6535420"/>
            <a:ext cx="468198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8" name="TextBox 27"/>
          <p:cNvSpPr txBox="1"/>
          <p:nvPr/>
        </p:nvSpPr>
        <p:spPr>
          <a:xfrm>
            <a:off x="5129911" y="6535420"/>
            <a:ext cx="193217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3.4 · tests/vv_timoshenko.py</a:t>
            </a:r>
          </a:p>
        </p:txBody>
      </p:sp>
      <p:sp>
        <p:nvSpPr>
          <p:cNvPr id="29" name="TextBox 28"/>
          <p:cNvSpPr txBox="1"/>
          <p:nvPr/>
        </p:nvSpPr>
        <p:spPr>
          <a:xfrm>
            <a:off x="6944868" y="6535420"/>
            <a:ext cx="468198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30" name="Rounded Rectangle 29">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TextBox 3"/>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Umbrales fijados antes de medir, y el margen observado</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000" y="1435100"/>
            <a:ext cx="3815842"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000" y="1784350"/>
            <a:ext cx="381584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300" y="1528912"/>
            <a:ext cx="3658997"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Criterio</a:t>
            </a:r>
          </a:p>
        </p:txBody>
      </p:sp>
      <p:sp>
        <p:nvSpPr>
          <p:cNvPr id="10" name="Rectangle 9"/>
          <p:cNvSpPr/>
          <p:nvPr/>
        </p:nvSpPr>
        <p:spPr>
          <a:xfrm>
            <a:off x="4450842" y="1435100"/>
            <a:ext cx="1028001"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50842" y="1784350"/>
            <a:ext cx="1028001"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4342" y="1528912"/>
            <a:ext cx="850201"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Umbral</a:t>
            </a:r>
          </a:p>
        </p:txBody>
      </p:sp>
      <p:sp>
        <p:nvSpPr>
          <p:cNvPr id="13" name="Rectangle 12"/>
          <p:cNvSpPr/>
          <p:nvPr/>
        </p:nvSpPr>
        <p:spPr>
          <a:xfrm>
            <a:off x="5478844" y="1435100"/>
            <a:ext cx="125203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78844" y="1784350"/>
            <a:ext cx="125203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42344" y="1528912"/>
            <a:ext cx="1074230"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Observado</a:t>
            </a:r>
          </a:p>
        </p:txBody>
      </p:sp>
      <p:sp>
        <p:nvSpPr>
          <p:cNvPr id="16" name="Rectangle 15"/>
          <p:cNvSpPr/>
          <p:nvPr/>
        </p:nvSpPr>
        <p:spPr>
          <a:xfrm>
            <a:off x="6730873" y="1435100"/>
            <a:ext cx="1112647"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30873" y="1784350"/>
            <a:ext cx="1112647"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4373" y="1528912"/>
            <a:ext cx="934847"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Margen</a:t>
            </a:r>
          </a:p>
        </p:txBody>
      </p:sp>
      <p:sp>
        <p:nvSpPr>
          <p:cNvPr id="19" name="Rectangle 18"/>
          <p:cNvSpPr/>
          <p:nvPr/>
        </p:nvSpPr>
        <p:spPr>
          <a:xfrm>
            <a:off x="7843520" y="1435100"/>
            <a:ext cx="371348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43520" y="1784350"/>
            <a:ext cx="371348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000" y="1803400"/>
            <a:ext cx="3815842"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000" y="2195512"/>
            <a:ext cx="381584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300" y="1894237"/>
            <a:ext cx="3658997"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σx frente a la analítica (máx., punto B)</a:t>
            </a:r>
          </a:p>
        </p:txBody>
      </p:sp>
      <p:sp>
        <p:nvSpPr>
          <p:cNvPr id="24" name="Rectangle 23"/>
          <p:cNvSpPr/>
          <p:nvPr/>
        </p:nvSpPr>
        <p:spPr>
          <a:xfrm>
            <a:off x="4450842" y="1803400"/>
            <a:ext cx="1028001"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50842" y="2195512"/>
            <a:ext cx="1028001"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14342" y="1894237"/>
            <a:ext cx="850201" cy="214312"/>
          </a:xfrm>
          <a:prstGeom prst="rect">
            <a:avLst/>
          </a:prstGeom>
          <a:noFill/>
        </p:spPr>
        <p:txBody>
          <a:bodyPr wrap="square" lIns="0" rIns="0" tIns="0" bIns="0" anchor="t"/>
          <a:lstStyle/>
          <a:p>
            <a:pPr algn="r">
              <a:lnSpc>
                <a:spcPts val="1688"/>
              </a:lnSpc>
              <a:spcBef>
                <a:spcPts val="0"/>
              </a:spcBef>
              <a:spcAft>
                <a:spcPts val="0"/>
              </a:spcAft>
            </a:pPr>
            <a:r>
              <a:rPr sz="1350" b="0" i="0">
                <a:solidFill>
                  <a:srgbClr val="1F2937"/>
                </a:solidFill>
                <a:latin typeface="Calibri"/>
              </a:rPr>
              <a:t>1,0 %</a:t>
            </a:r>
          </a:p>
        </p:txBody>
      </p:sp>
      <p:sp>
        <p:nvSpPr>
          <p:cNvPr id="27" name="Rectangle 26"/>
          <p:cNvSpPr/>
          <p:nvPr/>
        </p:nvSpPr>
        <p:spPr>
          <a:xfrm>
            <a:off x="5478844" y="1803400"/>
            <a:ext cx="1252030"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78844" y="2195512"/>
            <a:ext cx="125203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42344" y="1894237"/>
            <a:ext cx="1074230" cy="214312"/>
          </a:xfrm>
          <a:prstGeom prst="rect">
            <a:avLst/>
          </a:prstGeom>
          <a:noFill/>
        </p:spPr>
        <p:txBody>
          <a:bodyPr wrap="square" lIns="0" rIns="0" tIns="0" bIns="0" anchor="t"/>
          <a:lstStyle/>
          <a:p>
            <a:pPr algn="r">
              <a:lnSpc>
                <a:spcPts val="1688"/>
              </a:lnSpc>
              <a:spcBef>
                <a:spcPts val="0"/>
              </a:spcBef>
              <a:spcAft>
                <a:spcPts val="0"/>
              </a:spcAft>
            </a:pPr>
            <a:r>
              <a:rPr sz="1350" b="1" i="0">
                <a:solidFill>
                  <a:srgbClr val="2E8B57"/>
                </a:solidFill>
                <a:latin typeface="Calibri"/>
              </a:rPr>
              <a:t>0,0414 %</a:t>
            </a:r>
          </a:p>
        </p:txBody>
      </p:sp>
      <p:sp>
        <p:nvSpPr>
          <p:cNvPr id="30" name="Rectangle 29"/>
          <p:cNvSpPr/>
          <p:nvPr/>
        </p:nvSpPr>
        <p:spPr>
          <a:xfrm>
            <a:off x="6730873" y="1803400"/>
            <a:ext cx="1112647"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30873" y="2195512"/>
            <a:ext cx="11126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94373" y="1894237"/>
            <a:ext cx="934847" cy="214312"/>
          </a:xfrm>
          <a:prstGeom prst="rect">
            <a:avLst/>
          </a:prstGeom>
          <a:noFill/>
        </p:spPr>
        <p:txBody>
          <a:bodyPr wrap="square" lIns="0" rIns="0" tIns="0" bIns="0" anchor="t"/>
          <a:lstStyle/>
          <a:p>
            <a:pPr algn="r">
              <a:lnSpc>
                <a:spcPts val="1688"/>
              </a:lnSpc>
              <a:spcBef>
                <a:spcPts val="0"/>
              </a:spcBef>
              <a:spcAft>
                <a:spcPts val="0"/>
              </a:spcAft>
            </a:pPr>
            <a:r>
              <a:rPr sz="1350" b="1" i="0">
                <a:solidFill>
                  <a:srgbClr val="1F2937"/>
                </a:solidFill>
                <a:latin typeface="Calibri"/>
              </a:rPr>
              <a:t>24,2 ×</a:t>
            </a:r>
          </a:p>
        </p:txBody>
      </p:sp>
      <p:sp>
        <p:nvSpPr>
          <p:cNvPr id="33" name="Rectangle 32"/>
          <p:cNvSpPr/>
          <p:nvPr/>
        </p:nvSpPr>
        <p:spPr>
          <a:xfrm>
            <a:off x="7843520" y="1803400"/>
            <a:ext cx="3713480"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843520" y="2195512"/>
            <a:ext cx="37134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957820" y="1955038"/>
            <a:ext cx="348488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957820" y="1955038"/>
            <a:ext cx="963930" cy="889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5000" y="2201862"/>
            <a:ext cx="3815842" cy="3984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35000" y="2593975"/>
            <a:ext cx="381584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9300" y="2292699"/>
            <a:ext cx="3658997"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σx frente a SAP2000 (máx., punto B)</a:t>
            </a:r>
          </a:p>
        </p:txBody>
      </p:sp>
      <p:sp>
        <p:nvSpPr>
          <p:cNvPr id="40" name="Rectangle 39"/>
          <p:cNvSpPr/>
          <p:nvPr/>
        </p:nvSpPr>
        <p:spPr>
          <a:xfrm>
            <a:off x="4450842" y="2201862"/>
            <a:ext cx="1028001" cy="3984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450842" y="2593975"/>
            <a:ext cx="1028001"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14342" y="2292699"/>
            <a:ext cx="850201" cy="214312"/>
          </a:xfrm>
          <a:prstGeom prst="rect">
            <a:avLst/>
          </a:prstGeom>
          <a:noFill/>
        </p:spPr>
        <p:txBody>
          <a:bodyPr wrap="square" lIns="0" rIns="0" tIns="0" bIns="0" anchor="t"/>
          <a:lstStyle/>
          <a:p>
            <a:pPr algn="r">
              <a:lnSpc>
                <a:spcPts val="1688"/>
              </a:lnSpc>
              <a:spcBef>
                <a:spcPts val="0"/>
              </a:spcBef>
              <a:spcAft>
                <a:spcPts val="0"/>
              </a:spcAft>
            </a:pPr>
            <a:r>
              <a:rPr sz="1350" b="0" i="0">
                <a:solidFill>
                  <a:srgbClr val="1F2937"/>
                </a:solidFill>
                <a:latin typeface="Calibri"/>
              </a:rPr>
              <a:t>1,0 %</a:t>
            </a:r>
          </a:p>
        </p:txBody>
      </p:sp>
      <p:sp>
        <p:nvSpPr>
          <p:cNvPr id="43" name="Rectangle 42"/>
          <p:cNvSpPr/>
          <p:nvPr/>
        </p:nvSpPr>
        <p:spPr>
          <a:xfrm>
            <a:off x="5478844" y="2201862"/>
            <a:ext cx="1252030" cy="3984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78844" y="2593975"/>
            <a:ext cx="125203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42344" y="2292699"/>
            <a:ext cx="1074230" cy="214312"/>
          </a:xfrm>
          <a:prstGeom prst="rect">
            <a:avLst/>
          </a:prstGeom>
          <a:noFill/>
        </p:spPr>
        <p:txBody>
          <a:bodyPr wrap="square" lIns="0" rIns="0" tIns="0" bIns="0" anchor="t"/>
          <a:lstStyle/>
          <a:p>
            <a:pPr algn="r">
              <a:lnSpc>
                <a:spcPts val="1688"/>
              </a:lnSpc>
              <a:spcBef>
                <a:spcPts val="0"/>
              </a:spcBef>
              <a:spcAft>
                <a:spcPts val="0"/>
              </a:spcAft>
            </a:pPr>
            <a:r>
              <a:rPr sz="1350" b="1" i="0">
                <a:solidFill>
                  <a:srgbClr val="2E8B57"/>
                </a:solidFill>
                <a:latin typeface="Calibri"/>
              </a:rPr>
              <a:t>0,2066 %</a:t>
            </a:r>
          </a:p>
        </p:txBody>
      </p:sp>
      <p:sp>
        <p:nvSpPr>
          <p:cNvPr id="46" name="Rectangle 45"/>
          <p:cNvSpPr/>
          <p:nvPr/>
        </p:nvSpPr>
        <p:spPr>
          <a:xfrm>
            <a:off x="6730873" y="2201862"/>
            <a:ext cx="1112647" cy="3984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730873" y="2593975"/>
            <a:ext cx="11126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94373" y="2292699"/>
            <a:ext cx="934847" cy="214312"/>
          </a:xfrm>
          <a:prstGeom prst="rect">
            <a:avLst/>
          </a:prstGeom>
          <a:noFill/>
        </p:spPr>
        <p:txBody>
          <a:bodyPr wrap="square" lIns="0" rIns="0" tIns="0" bIns="0" anchor="t"/>
          <a:lstStyle/>
          <a:p>
            <a:pPr algn="r">
              <a:lnSpc>
                <a:spcPts val="1688"/>
              </a:lnSpc>
              <a:spcBef>
                <a:spcPts val="0"/>
              </a:spcBef>
              <a:spcAft>
                <a:spcPts val="0"/>
              </a:spcAft>
            </a:pPr>
            <a:r>
              <a:rPr sz="1350" b="1" i="0">
                <a:solidFill>
                  <a:srgbClr val="1F2937"/>
                </a:solidFill>
                <a:latin typeface="Calibri"/>
              </a:rPr>
              <a:t>4,8 ×</a:t>
            </a:r>
          </a:p>
        </p:txBody>
      </p:sp>
      <p:sp>
        <p:nvSpPr>
          <p:cNvPr id="49" name="Rectangle 48"/>
          <p:cNvSpPr/>
          <p:nvPr/>
        </p:nvSpPr>
        <p:spPr>
          <a:xfrm>
            <a:off x="7843520" y="2201862"/>
            <a:ext cx="3713480" cy="3984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843520" y="2593975"/>
            <a:ext cx="37134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957820" y="2353500"/>
            <a:ext cx="348488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7957820" y="2353500"/>
            <a:ext cx="477266" cy="889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5000" y="2600325"/>
            <a:ext cx="3815842"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35000" y="2992438"/>
            <a:ext cx="381584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9300" y="2691162"/>
            <a:ext cx="3658997"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Flecha frente a la analítica</a:t>
            </a:r>
          </a:p>
        </p:txBody>
      </p:sp>
      <p:sp>
        <p:nvSpPr>
          <p:cNvPr id="56" name="Rectangle 55"/>
          <p:cNvSpPr/>
          <p:nvPr/>
        </p:nvSpPr>
        <p:spPr>
          <a:xfrm>
            <a:off x="4450842" y="2600325"/>
            <a:ext cx="1028001"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450842" y="2992438"/>
            <a:ext cx="1028001"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14342" y="2691162"/>
            <a:ext cx="850201" cy="214312"/>
          </a:xfrm>
          <a:prstGeom prst="rect">
            <a:avLst/>
          </a:prstGeom>
          <a:noFill/>
        </p:spPr>
        <p:txBody>
          <a:bodyPr wrap="square" lIns="0" rIns="0" tIns="0" bIns="0" anchor="t"/>
          <a:lstStyle/>
          <a:p>
            <a:pPr algn="r">
              <a:lnSpc>
                <a:spcPts val="1688"/>
              </a:lnSpc>
              <a:spcBef>
                <a:spcPts val="0"/>
              </a:spcBef>
              <a:spcAft>
                <a:spcPts val="0"/>
              </a:spcAft>
            </a:pPr>
            <a:r>
              <a:rPr sz="1350" b="0" i="0">
                <a:solidFill>
                  <a:srgbClr val="1F2937"/>
                </a:solidFill>
                <a:latin typeface="Calibri"/>
              </a:rPr>
              <a:t>3 %</a:t>
            </a:r>
          </a:p>
        </p:txBody>
      </p:sp>
      <p:sp>
        <p:nvSpPr>
          <p:cNvPr id="59" name="Rectangle 58"/>
          <p:cNvSpPr/>
          <p:nvPr/>
        </p:nvSpPr>
        <p:spPr>
          <a:xfrm>
            <a:off x="5478844" y="2600325"/>
            <a:ext cx="1252030"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478844" y="2992438"/>
            <a:ext cx="125203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542344" y="2691162"/>
            <a:ext cx="1074230" cy="214312"/>
          </a:xfrm>
          <a:prstGeom prst="rect">
            <a:avLst/>
          </a:prstGeom>
          <a:noFill/>
        </p:spPr>
        <p:txBody>
          <a:bodyPr wrap="square" lIns="0" rIns="0" tIns="0" bIns="0" anchor="t"/>
          <a:lstStyle/>
          <a:p>
            <a:pPr algn="r">
              <a:lnSpc>
                <a:spcPts val="1688"/>
              </a:lnSpc>
              <a:spcBef>
                <a:spcPts val="0"/>
              </a:spcBef>
              <a:spcAft>
                <a:spcPts val="0"/>
              </a:spcAft>
            </a:pPr>
            <a:r>
              <a:rPr sz="1350" b="1" i="0">
                <a:solidFill>
                  <a:srgbClr val="2E8B57"/>
                </a:solidFill>
                <a:latin typeface="Calibri"/>
              </a:rPr>
              <a:t>0,2633 %</a:t>
            </a:r>
          </a:p>
        </p:txBody>
      </p:sp>
      <p:sp>
        <p:nvSpPr>
          <p:cNvPr id="62" name="Rectangle 61"/>
          <p:cNvSpPr/>
          <p:nvPr/>
        </p:nvSpPr>
        <p:spPr>
          <a:xfrm>
            <a:off x="6730873" y="2600325"/>
            <a:ext cx="1112647"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730873" y="2992438"/>
            <a:ext cx="11126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94373" y="2691162"/>
            <a:ext cx="934847" cy="214312"/>
          </a:xfrm>
          <a:prstGeom prst="rect">
            <a:avLst/>
          </a:prstGeom>
          <a:noFill/>
        </p:spPr>
        <p:txBody>
          <a:bodyPr wrap="square" lIns="0" rIns="0" tIns="0" bIns="0" anchor="t"/>
          <a:lstStyle/>
          <a:p>
            <a:pPr algn="r">
              <a:lnSpc>
                <a:spcPts val="1688"/>
              </a:lnSpc>
              <a:spcBef>
                <a:spcPts val="0"/>
              </a:spcBef>
              <a:spcAft>
                <a:spcPts val="0"/>
              </a:spcAft>
            </a:pPr>
            <a:r>
              <a:rPr sz="1350" b="1" i="0">
                <a:solidFill>
                  <a:srgbClr val="1F2937"/>
                </a:solidFill>
                <a:latin typeface="Calibri"/>
              </a:rPr>
              <a:t>11,4 ×</a:t>
            </a:r>
          </a:p>
        </p:txBody>
      </p:sp>
      <p:sp>
        <p:nvSpPr>
          <p:cNvPr id="65" name="Rectangle 64"/>
          <p:cNvSpPr/>
          <p:nvPr/>
        </p:nvSpPr>
        <p:spPr>
          <a:xfrm>
            <a:off x="7843520" y="2600325"/>
            <a:ext cx="3713480"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843520" y="2992438"/>
            <a:ext cx="37134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957820" y="2751963"/>
            <a:ext cx="348488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7957820" y="2751963"/>
            <a:ext cx="736410" cy="889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35000" y="2998788"/>
            <a:ext cx="3815842" cy="3984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35000" y="3390900"/>
            <a:ext cx="381584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9300" y="3089624"/>
            <a:ext cx="3658997"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Cook, Q9 con N = 8</a:t>
            </a:r>
          </a:p>
        </p:txBody>
      </p:sp>
      <p:sp>
        <p:nvSpPr>
          <p:cNvPr id="72" name="Rectangle 71"/>
          <p:cNvSpPr/>
          <p:nvPr/>
        </p:nvSpPr>
        <p:spPr>
          <a:xfrm>
            <a:off x="4450842" y="2998788"/>
            <a:ext cx="1028001" cy="3984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450842" y="3390900"/>
            <a:ext cx="1028001"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14342" y="3089624"/>
            <a:ext cx="850201" cy="214312"/>
          </a:xfrm>
          <a:prstGeom prst="rect">
            <a:avLst/>
          </a:prstGeom>
          <a:noFill/>
        </p:spPr>
        <p:txBody>
          <a:bodyPr wrap="square" lIns="0" rIns="0" tIns="0" bIns="0" anchor="t"/>
          <a:lstStyle/>
          <a:p>
            <a:pPr algn="r">
              <a:lnSpc>
                <a:spcPts val="1688"/>
              </a:lnSpc>
              <a:spcBef>
                <a:spcPts val="0"/>
              </a:spcBef>
              <a:spcAft>
                <a:spcPts val="0"/>
              </a:spcAft>
            </a:pPr>
            <a:r>
              <a:rPr sz="1350" b="0" i="0">
                <a:solidFill>
                  <a:srgbClr val="1F2937"/>
                </a:solidFill>
                <a:latin typeface="Calibri"/>
              </a:rPr>
              <a:t>1,5 %</a:t>
            </a:r>
          </a:p>
        </p:txBody>
      </p:sp>
      <p:sp>
        <p:nvSpPr>
          <p:cNvPr id="75" name="Rectangle 74"/>
          <p:cNvSpPr/>
          <p:nvPr/>
        </p:nvSpPr>
        <p:spPr>
          <a:xfrm>
            <a:off x="5478844" y="2998788"/>
            <a:ext cx="1252030" cy="3984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478844" y="3390900"/>
            <a:ext cx="125203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542344" y="3089624"/>
            <a:ext cx="1074230" cy="214312"/>
          </a:xfrm>
          <a:prstGeom prst="rect">
            <a:avLst/>
          </a:prstGeom>
          <a:noFill/>
        </p:spPr>
        <p:txBody>
          <a:bodyPr wrap="square" lIns="0" rIns="0" tIns="0" bIns="0" anchor="t"/>
          <a:lstStyle/>
          <a:p>
            <a:pPr algn="r">
              <a:lnSpc>
                <a:spcPts val="1688"/>
              </a:lnSpc>
              <a:spcBef>
                <a:spcPts val="0"/>
              </a:spcBef>
              <a:spcAft>
                <a:spcPts val="0"/>
              </a:spcAft>
            </a:pPr>
            <a:r>
              <a:rPr sz="1350" b="1" i="0">
                <a:solidFill>
                  <a:srgbClr val="2E8B57"/>
                </a:solidFill>
                <a:latin typeface="Calibri"/>
              </a:rPr>
              <a:t>0,144 %</a:t>
            </a:r>
          </a:p>
        </p:txBody>
      </p:sp>
      <p:sp>
        <p:nvSpPr>
          <p:cNvPr id="78" name="Rectangle 77"/>
          <p:cNvSpPr/>
          <p:nvPr/>
        </p:nvSpPr>
        <p:spPr>
          <a:xfrm>
            <a:off x="6730873" y="2998788"/>
            <a:ext cx="1112647" cy="3984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730873" y="3390900"/>
            <a:ext cx="11126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794373" y="3089624"/>
            <a:ext cx="934847" cy="214312"/>
          </a:xfrm>
          <a:prstGeom prst="rect">
            <a:avLst/>
          </a:prstGeom>
          <a:noFill/>
        </p:spPr>
        <p:txBody>
          <a:bodyPr wrap="square" lIns="0" rIns="0" tIns="0" bIns="0" anchor="t"/>
          <a:lstStyle/>
          <a:p>
            <a:pPr algn="r">
              <a:lnSpc>
                <a:spcPts val="1688"/>
              </a:lnSpc>
              <a:spcBef>
                <a:spcPts val="0"/>
              </a:spcBef>
              <a:spcAft>
                <a:spcPts val="0"/>
              </a:spcAft>
            </a:pPr>
            <a:r>
              <a:rPr sz="1350" b="1" i="0">
                <a:solidFill>
                  <a:srgbClr val="1F2937"/>
                </a:solidFill>
                <a:latin typeface="Calibri"/>
              </a:rPr>
              <a:t>10,4 ×</a:t>
            </a:r>
          </a:p>
        </p:txBody>
      </p:sp>
      <p:sp>
        <p:nvSpPr>
          <p:cNvPr id="81" name="Rectangle 80"/>
          <p:cNvSpPr/>
          <p:nvPr/>
        </p:nvSpPr>
        <p:spPr>
          <a:xfrm>
            <a:off x="7843520" y="2998788"/>
            <a:ext cx="3713480" cy="39846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843520" y="3390900"/>
            <a:ext cx="37134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7957820" y="3150426"/>
            <a:ext cx="348488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957820" y="3150426"/>
            <a:ext cx="709295" cy="889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35000" y="3397250"/>
            <a:ext cx="3815842"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35000" y="3789362"/>
            <a:ext cx="381584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49300" y="3488087"/>
            <a:ext cx="3658997" cy="214312"/>
          </a:xfrm>
          <a:prstGeom prst="rect">
            <a:avLst/>
          </a:prstGeom>
          <a:noFill/>
        </p:spPr>
        <p:txBody>
          <a:bodyPr wrap="square" lIns="0" rIns="0" tIns="0" bIns="0" anchor="t"/>
          <a:lstStyle/>
          <a:p>
            <a:pPr algn="l">
              <a:lnSpc>
                <a:spcPts val="1688"/>
              </a:lnSpc>
              <a:spcBef>
                <a:spcPts val="0"/>
              </a:spcBef>
              <a:spcAft>
                <a:spcPts val="0"/>
              </a:spcAft>
            </a:pPr>
            <a:r>
              <a:rPr sz="1350" b="0" i="0">
                <a:solidFill>
                  <a:srgbClr val="1F2937"/>
                </a:solidFill>
                <a:latin typeface="Calibri"/>
              </a:rPr>
              <a:t>Residuo del equilibrio</a:t>
            </a:r>
          </a:p>
        </p:txBody>
      </p:sp>
      <p:sp>
        <p:nvSpPr>
          <p:cNvPr id="88" name="Rectangle 87"/>
          <p:cNvSpPr/>
          <p:nvPr/>
        </p:nvSpPr>
        <p:spPr>
          <a:xfrm>
            <a:off x="4450842" y="3397250"/>
            <a:ext cx="1028001"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4450842" y="3789362"/>
            <a:ext cx="1028001"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342" y="3488087"/>
            <a:ext cx="850201" cy="214312"/>
          </a:xfrm>
          <a:prstGeom prst="rect">
            <a:avLst/>
          </a:prstGeom>
          <a:noFill/>
        </p:spPr>
        <p:txBody>
          <a:bodyPr wrap="square" lIns="0" rIns="0" tIns="0" bIns="0" anchor="t"/>
          <a:lstStyle/>
          <a:p>
            <a:pPr algn="r">
              <a:lnSpc>
                <a:spcPts val="1688"/>
              </a:lnSpc>
              <a:spcBef>
                <a:spcPts val="0"/>
              </a:spcBef>
              <a:spcAft>
                <a:spcPts val="0"/>
              </a:spcAft>
            </a:pPr>
            <a:r>
              <a:rPr sz="1350" b="0" i="0">
                <a:solidFill>
                  <a:srgbClr val="1F2937"/>
                </a:solidFill>
                <a:latin typeface="Calibri"/>
              </a:rPr>
              <a:t>1 × 10⁻⁸</a:t>
            </a:r>
          </a:p>
        </p:txBody>
      </p:sp>
      <p:sp>
        <p:nvSpPr>
          <p:cNvPr id="91" name="Rectangle 90"/>
          <p:cNvSpPr/>
          <p:nvPr/>
        </p:nvSpPr>
        <p:spPr>
          <a:xfrm>
            <a:off x="5478844" y="3397250"/>
            <a:ext cx="1252030"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478844" y="3789362"/>
            <a:ext cx="125203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542344" y="3488087"/>
            <a:ext cx="1074230" cy="214312"/>
          </a:xfrm>
          <a:prstGeom prst="rect">
            <a:avLst/>
          </a:prstGeom>
          <a:noFill/>
        </p:spPr>
        <p:txBody>
          <a:bodyPr wrap="square" lIns="0" rIns="0" tIns="0" bIns="0" anchor="t"/>
          <a:lstStyle/>
          <a:p>
            <a:pPr algn="r">
              <a:lnSpc>
                <a:spcPts val="1688"/>
              </a:lnSpc>
              <a:spcBef>
                <a:spcPts val="0"/>
              </a:spcBef>
              <a:spcAft>
                <a:spcPts val="0"/>
              </a:spcAft>
            </a:pPr>
            <a:r>
              <a:rPr sz="1350" b="1" i="0">
                <a:solidFill>
                  <a:srgbClr val="2E8B57"/>
                </a:solidFill>
                <a:latin typeface="Calibri"/>
              </a:rPr>
              <a:t>1,7 × 10⁻¹³</a:t>
            </a:r>
          </a:p>
        </p:txBody>
      </p:sp>
      <p:sp>
        <p:nvSpPr>
          <p:cNvPr id="94" name="Rectangle 93"/>
          <p:cNvSpPr/>
          <p:nvPr/>
        </p:nvSpPr>
        <p:spPr>
          <a:xfrm>
            <a:off x="6730873" y="3397250"/>
            <a:ext cx="1112647"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730873" y="3789362"/>
            <a:ext cx="11126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94373" y="3488087"/>
            <a:ext cx="934847" cy="214312"/>
          </a:xfrm>
          <a:prstGeom prst="rect">
            <a:avLst/>
          </a:prstGeom>
          <a:noFill/>
        </p:spPr>
        <p:txBody>
          <a:bodyPr wrap="square" lIns="0" rIns="0" tIns="0" bIns="0" anchor="t"/>
          <a:lstStyle/>
          <a:p>
            <a:pPr algn="r">
              <a:lnSpc>
                <a:spcPts val="1688"/>
              </a:lnSpc>
              <a:spcBef>
                <a:spcPts val="0"/>
              </a:spcBef>
              <a:spcAft>
                <a:spcPts val="0"/>
              </a:spcAft>
            </a:pPr>
            <a:r>
              <a:rPr sz="1350" b="1" i="0">
                <a:solidFill>
                  <a:srgbClr val="1F2937"/>
                </a:solidFill>
                <a:latin typeface="Calibri"/>
              </a:rPr>
              <a:t>6 × 10⁴ ×</a:t>
            </a:r>
          </a:p>
        </p:txBody>
      </p:sp>
      <p:sp>
        <p:nvSpPr>
          <p:cNvPr id="97" name="Rectangle 96"/>
          <p:cNvSpPr/>
          <p:nvPr/>
        </p:nvSpPr>
        <p:spPr>
          <a:xfrm>
            <a:off x="7843520" y="3397250"/>
            <a:ext cx="3713480" cy="3984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7843520" y="3789362"/>
            <a:ext cx="37134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7957820" y="3548888"/>
            <a:ext cx="348488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7957820" y="3548888"/>
            <a:ext cx="3324225" cy="889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638175" y="3989388"/>
            <a:ext cx="5340350" cy="1448880"/>
          </a:xfrm>
          <a:prstGeom prst="roundRect">
            <a:avLst>
              <a:gd name="adj" fmla="val 50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57250" y="4189668"/>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Criterios de aceptación, no estimaciones</a:t>
            </a:r>
          </a:p>
        </p:txBody>
      </p:sp>
      <p:sp>
        <p:nvSpPr>
          <p:cNvPr id="103" name="TextBox 102"/>
          <p:cNvSpPr txBox="1"/>
          <p:nvPr/>
        </p:nvSpPr>
        <p:spPr>
          <a:xfrm>
            <a:off x="857250" y="4453661"/>
            <a:ext cx="5000244" cy="788670"/>
          </a:xfrm>
          <a:prstGeom prst="rect">
            <a:avLst/>
          </a:prstGeom>
          <a:noFill/>
        </p:spPr>
        <p:txBody>
          <a:bodyPr wrap="square" lIns="0" rIns="0" tIns="0" bIns="0" anchor="t"/>
          <a:lstStyle/>
          <a:p>
            <a:pPr algn="l">
              <a:lnSpc>
                <a:spcPts val="2070"/>
              </a:lnSpc>
              <a:spcBef>
                <a:spcPts val="0"/>
              </a:spcBef>
              <a:spcAft>
                <a:spcPts val="0"/>
              </a:spcAft>
            </a:pPr>
            <a:r>
              <a:rPr sz="1500" b="0" i="0">
                <a:solidFill>
                  <a:srgbClr val="3F4A5A"/>
                </a:solidFill>
                <a:latin typeface="Calibri"/>
              </a:rPr>
              <a:t>Se fijaron antes de las corridas (§ 2.1.6) y cada uno declara qué</a:t>
            </a:r>
            <a:br/>
            <a:r>
              <a:rPr sz="1500" b="0" i="0">
                <a:solidFill>
                  <a:srgbClr val="3F4A5A"/>
                </a:solidFill>
                <a:latin typeface="Calibri"/>
              </a:rPr>
              <a:t>lo refutaría. El del equilibrio no es una tolerancia de ingeniería:</a:t>
            </a:r>
            <a:br/>
            <a:r>
              <a:rPr sz="1500" b="0" i="0">
                <a:solidFill>
                  <a:srgbClr val="3F4A5A"/>
                </a:solidFill>
                <a:latin typeface="Calibri"/>
              </a:rPr>
              <a:t>es el orden del cero numérico del motor.</a:t>
            </a:r>
          </a:p>
        </p:txBody>
      </p:sp>
      <p:sp>
        <p:nvSpPr>
          <p:cNvPr id="104" name="Rounded Rectangle 103"/>
          <p:cNvSpPr/>
          <p:nvPr/>
        </p:nvSpPr>
        <p:spPr>
          <a:xfrm>
            <a:off x="6213475" y="3989388"/>
            <a:ext cx="5340350" cy="1448880"/>
          </a:xfrm>
          <a:prstGeom prst="roundRect">
            <a:avLst>
              <a:gd name="adj" fmla="val 504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432550" y="4189668"/>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Con umbrales más exigentes</a:t>
            </a:r>
          </a:p>
        </p:txBody>
      </p:sp>
      <p:sp>
        <p:nvSpPr>
          <p:cNvPr id="106" name="TextBox 105"/>
          <p:cNvSpPr txBox="1"/>
          <p:nvPr/>
        </p:nvSpPr>
        <p:spPr>
          <a:xfrm>
            <a:off x="6432550" y="4453661"/>
            <a:ext cx="5000244" cy="525780"/>
          </a:xfrm>
          <a:prstGeom prst="rect">
            <a:avLst/>
          </a:prstGeom>
          <a:noFill/>
        </p:spPr>
        <p:txBody>
          <a:bodyPr wrap="square" lIns="0" rIns="0" tIns="0" bIns="0" anchor="t"/>
          <a:lstStyle/>
          <a:p>
            <a:pPr algn="l">
              <a:lnSpc>
                <a:spcPts val="2070"/>
              </a:lnSpc>
              <a:spcBef>
                <a:spcPts val="0"/>
              </a:spcBef>
              <a:spcAft>
                <a:spcPts val="0"/>
              </a:spcAft>
            </a:pPr>
            <a:r>
              <a:rPr sz="1500" b="0" i="0">
                <a:solidFill>
                  <a:srgbClr val="3F4A5A"/>
                </a:solidFill>
                <a:latin typeface="Calibri"/>
              </a:rPr>
              <a:t>Con 0,5 % para σ</a:t>
            </a:r>
            <a:r>
              <a:rPr sz="1500" b="0" i="0" baseline="-25000">
                <a:solidFill>
                  <a:srgbClr val="3F4A5A"/>
                </a:solidFill>
                <a:latin typeface="Calibri"/>
              </a:rPr>
              <a:t>x</a:t>
            </a:r>
            <a:r>
              <a:rPr sz="1500" b="0" i="0">
                <a:solidFill>
                  <a:srgbClr val="3F4A5A"/>
                </a:solidFill>
                <a:latin typeface="Calibri"/>
              </a:rPr>
              <a:t> y 1 % para la flecha y Cook, los mismos datos</a:t>
            </a:r>
            <a:br/>
            <a:r>
              <a:rPr sz="1500" b="0" i="0">
                <a:solidFill>
                  <a:srgbClr val="3F4A5A"/>
                </a:solidFill>
                <a:latin typeface="Calibri"/>
              </a:rPr>
              <a:t>seguirían cumpliendo.</a:t>
            </a:r>
          </a:p>
        </p:txBody>
      </p:sp>
      <p:sp>
        <p:nvSpPr>
          <p:cNvPr id="107" name="Rectangle 106"/>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10" name="TextBox 109"/>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2.1.6 · Tabla 2.4</a:t>
            </a:r>
          </a:p>
        </p:txBody>
      </p:sp>
      <p:sp>
        <p:nvSpPr>
          <p:cNvPr id="111" name="TextBox 110"/>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112" name="Rounded Rectangle 111">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TextBox 3"/>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«Educativo» califica el propósito de diseño del software</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650" y="1282286"/>
            <a:ext cx="10959084" cy="768096"/>
          </a:xfrm>
          <a:prstGeom prst="rect">
            <a:avLst/>
          </a:prstGeom>
          <a:noFill/>
        </p:spPr>
        <p:txBody>
          <a:bodyPr wrap="square" lIns="0" rIns="0" tIns="0" bIns="0" anchor="t"/>
          <a:lstStyle/>
          <a:p>
            <a:pPr algn="l">
              <a:lnSpc>
                <a:spcPts val="3024"/>
              </a:lnSpc>
              <a:spcBef>
                <a:spcPts val="0"/>
              </a:spcBef>
              <a:spcAft>
                <a:spcPts val="0"/>
              </a:spcAft>
            </a:pPr>
            <a:r>
              <a:rPr sz="2400" b="0" i="0">
                <a:solidFill>
                  <a:srgbClr val="1F2937"/>
                </a:solidFill>
                <a:latin typeface="Calibri"/>
              </a:rPr>
              <a:t>Es una</a:t>
            </a:r>
            <a:r>
              <a:rPr sz="2400" b="1" i="0">
                <a:solidFill>
                  <a:srgbClr val="1F2937"/>
                </a:solidFill>
                <a:latin typeface="Calibri"/>
              </a:rPr>
              <a:t> propiedad del producto</a:t>
            </a:r>
            <a:r>
              <a:rPr sz="2400" b="0" i="0">
                <a:solidFill>
                  <a:srgbClr val="1F2937"/>
                </a:solidFill>
                <a:latin typeface="Calibri"/>
              </a:rPr>
              <a:t>: exponer el procedimiento además de entregar el</a:t>
            </a:r>
            <a:br/>
            <a:r>
              <a:rPr sz="2400" b="0" i="0">
                <a:solidFill>
                  <a:srgbClr val="1F2937"/>
                </a:solidFill>
                <a:latin typeface="Calibri"/>
              </a:rPr>
              <a:t>resultado, verificable en el software.</a:t>
            </a:r>
          </a:p>
        </p:txBody>
      </p:sp>
      <p:sp>
        <p:nvSpPr>
          <p:cNvPr id="8" name="Rounded Rectangle 7"/>
          <p:cNvSpPr/>
          <p:nvPr/>
        </p:nvSpPr>
        <p:spPr>
          <a:xfrm>
            <a:off x="615950" y="1438592"/>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650" y="2215355"/>
            <a:ext cx="10959084" cy="768096"/>
          </a:xfrm>
          <a:prstGeom prst="rect">
            <a:avLst/>
          </a:prstGeom>
          <a:noFill/>
        </p:spPr>
        <p:txBody>
          <a:bodyPr wrap="square" lIns="0" rIns="0" tIns="0" bIns="0" anchor="t"/>
          <a:lstStyle/>
          <a:p>
            <a:pPr algn="l">
              <a:lnSpc>
                <a:spcPts val="3024"/>
              </a:lnSpc>
              <a:spcBef>
                <a:spcPts val="0"/>
              </a:spcBef>
              <a:spcAft>
                <a:spcPts val="0"/>
              </a:spcAft>
            </a:pPr>
            <a:r>
              <a:rPr sz="2400" b="0" i="0">
                <a:solidFill>
                  <a:srgbClr val="1F2937"/>
                </a:solidFill>
                <a:latin typeface="Calibri"/>
              </a:rPr>
              <a:t>La evaluación es una</a:t>
            </a:r>
            <a:r>
              <a:rPr sz="2400" b="1" i="0">
                <a:solidFill>
                  <a:srgbClr val="1F2937"/>
                </a:solidFill>
                <a:latin typeface="Calibri"/>
              </a:rPr>
              <a:t> validación de laboratorio</a:t>
            </a:r>
            <a:r>
              <a:rPr sz="2400" b="0" i="0">
                <a:solidFill>
                  <a:srgbClr val="1F2937"/>
                </a:solidFill>
                <a:latin typeface="Calibri"/>
              </a:rPr>
              <a:t> [25, pp. 30–31]: escenarios</a:t>
            </a:r>
            <a:br/>
            <a:r>
              <a:rPr sz="2400" b="0" i="0">
                <a:solidFill>
                  <a:srgbClr val="1F2937"/>
                </a:solidFill>
                <a:latin typeface="Calibri"/>
              </a:rPr>
              <a:t>controlados, sin sujetos.</a:t>
            </a:r>
          </a:p>
        </p:txBody>
      </p:sp>
      <p:sp>
        <p:nvSpPr>
          <p:cNvPr id="10" name="Rounded Rectangle 9"/>
          <p:cNvSpPr/>
          <p:nvPr/>
        </p:nvSpPr>
        <p:spPr>
          <a:xfrm>
            <a:off x="615950" y="2371598"/>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2650" y="3148424"/>
            <a:ext cx="10959084" cy="768096"/>
          </a:xfrm>
          <a:prstGeom prst="rect">
            <a:avLst/>
          </a:prstGeom>
          <a:noFill/>
        </p:spPr>
        <p:txBody>
          <a:bodyPr wrap="square" lIns="0" rIns="0" tIns="0" bIns="0" anchor="t"/>
          <a:lstStyle/>
          <a:p>
            <a:pPr algn="l">
              <a:lnSpc>
                <a:spcPts val="3024"/>
              </a:lnSpc>
              <a:spcBef>
                <a:spcPts val="0"/>
              </a:spcBef>
              <a:spcAft>
                <a:spcPts val="0"/>
              </a:spcAft>
            </a:pPr>
            <a:r>
              <a:rPr sz="2400" b="0" i="0">
                <a:solidFill>
                  <a:srgbClr val="1F2937"/>
                </a:solidFill>
                <a:latin typeface="Calibri"/>
              </a:rPr>
              <a:t>La tesis</a:t>
            </a:r>
            <a:r>
              <a:rPr sz="2400" b="1" i="0">
                <a:solidFill>
                  <a:srgbClr val="1F2937"/>
                </a:solidFill>
                <a:latin typeface="Calibri"/>
              </a:rPr>
              <a:t> no afirma</a:t>
            </a:r>
            <a:r>
              <a:rPr sz="2400" b="0" i="0">
                <a:solidFill>
                  <a:srgbClr val="1F2937"/>
                </a:solidFill>
                <a:latin typeface="Calibri"/>
              </a:rPr>
              <a:t> que el estudiante aprenda o comprenda mejor; las fuentes que lo</a:t>
            </a:r>
            <a:br/>
            <a:r>
              <a:rPr sz="2400" b="0" i="0">
                <a:solidFill>
                  <a:srgbClr val="1F2937"/>
                </a:solidFill>
                <a:latin typeface="Calibri"/>
              </a:rPr>
              <a:t>reportan evaluaron otras herramientas.</a:t>
            </a:r>
          </a:p>
        </p:txBody>
      </p:sp>
      <p:sp>
        <p:nvSpPr>
          <p:cNvPr id="12" name="Rounded Rectangle 11"/>
          <p:cNvSpPr/>
          <p:nvPr/>
        </p:nvSpPr>
        <p:spPr>
          <a:xfrm>
            <a:off x="615950" y="3304667"/>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650" y="4081493"/>
            <a:ext cx="10959084" cy="768096"/>
          </a:xfrm>
          <a:prstGeom prst="rect">
            <a:avLst/>
          </a:prstGeom>
          <a:noFill/>
        </p:spPr>
        <p:txBody>
          <a:bodyPr wrap="square" lIns="0" rIns="0" tIns="0" bIns="0" anchor="t"/>
          <a:lstStyle/>
          <a:p>
            <a:pPr algn="l">
              <a:lnSpc>
                <a:spcPts val="3024"/>
              </a:lnSpc>
              <a:spcBef>
                <a:spcPts val="0"/>
              </a:spcBef>
              <a:spcAft>
                <a:spcPts val="0"/>
              </a:spcAft>
            </a:pPr>
            <a:r>
              <a:rPr sz="2400" b="0" i="0">
                <a:solidFill>
                  <a:srgbClr val="1F2937"/>
                </a:solidFill>
                <a:latin typeface="Calibri"/>
              </a:rPr>
              <a:t>Medir el efecto en un curso es</a:t>
            </a:r>
            <a:r>
              <a:rPr sz="2400" b="1" i="0">
                <a:solidFill>
                  <a:srgbClr val="1F2937"/>
                </a:solidFill>
                <a:latin typeface="Calibri"/>
              </a:rPr>
              <a:t> otra investigación</a:t>
            </a:r>
            <a:r>
              <a:rPr sz="2400" b="0" i="0">
                <a:solidFill>
                  <a:srgbClr val="1F2937"/>
                </a:solidFill>
                <a:latin typeface="Calibri"/>
              </a:rPr>
              <a:t>, de carácter educativo, y queda</a:t>
            </a:r>
            <a:br/>
            <a:r>
              <a:rPr sz="2400" b="0" i="0">
                <a:solidFill>
                  <a:srgbClr val="1F2937"/>
                </a:solidFill>
                <a:latin typeface="Calibri"/>
              </a:rPr>
              <a:t>recomendada.</a:t>
            </a:r>
          </a:p>
        </p:txBody>
      </p:sp>
      <p:sp>
        <p:nvSpPr>
          <p:cNvPr id="14" name="Rounded Rectangle 13"/>
          <p:cNvSpPr/>
          <p:nvPr/>
        </p:nvSpPr>
        <p:spPr>
          <a:xfrm>
            <a:off x="615950" y="4237736"/>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5150" y="6535420"/>
            <a:ext cx="4917250"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8" name="TextBox 17"/>
          <p:cNvSpPr txBox="1"/>
          <p:nvPr/>
        </p:nvSpPr>
        <p:spPr>
          <a:xfrm>
            <a:off x="5360606" y="6535420"/>
            <a:ext cx="147085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2.1.1 · Conclusiones</a:t>
            </a:r>
          </a:p>
        </p:txBody>
      </p:sp>
      <p:sp>
        <p:nvSpPr>
          <p:cNvPr id="19" name="TextBox 18"/>
          <p:cNvSpPr txBox="1"/>
          <p:nvPr/>
        </p:nvSpPr>
        <p:spPr>
          <a:xfrm>
            <a:off x="6709601" y="6535420"/>
            <a:ext cx="491725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20" name="Rounded Rectangle 19">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TextBox 3"/>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Licencia: código MIT, dependencias libres</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8325" y="1283272"/>
            <a:ext cx="5410200" cy="1525778"/>
          </a:xfrm>
          <a:prstGeom prst="roundRect">
            <a:avLst>
              <a:gd name="adj" fmla="val 4786"/>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71500" y="1286446"/>
            <a:ext cx="5403850" cy="38100"/>
          </a:xfrm>
          <a:prstGeom prst="round2SameRect">
            <a:avLst>
              <a:gd name="adj1" fmla="val 50000"/>
              <a:gd name="adj2" fmla="val 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1483615"/>
            <a:ext cx="5071491"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Código de EduFEM · archivo LICENSE</a:t>
            </a:r>
          </a:p>
        </p:txBody>
      </p:sp>
      <p:sp>
        <p:nvSpPr>
          <p:cNvPr id="10" name="TextBox 9"/>
          <p:cNvSpPr txBox="1"/>
          <p:nvPr/>
        </p:nvSpPr>
        <p:spPr>
          <a:xfrm>
            <a:off x="787400" y="1764858"/>
            <a:ext cx="5071491" cy="298704"/>
          </a:xfrm>
          <a:prstGeom prst="rect">
            <a:avLst/>
          </a:prstGeom>
          <a:noFill/>
        </p:spPr>
        <p:txBody>
          <a:bodyPr wrap="square" lIns="0" rIns="0" tIns="0" bIns="0" anchor="t"/>
          <a:lstStyle/>
          <a:p>
            <a:pPr algn="l">
              <a:lnSpc>
                <a:spcPts val="2352"/>
              </a:lnSpc>
              <a:spcBef>
                <a:spcPts val="0"/>
              </a:spcBef>
              <a:spcAft>
                <a:spcPts val="0"/>
              </a:spcAft>
            </a:pPr>
            <a:r>
              <a:rPr sz="2100" b="1" i="0">
                <a:solidFill>
                  <a:srgbClr val="1B2A4A"/>
                </a:solidFill>
                <a:latin typeface="Calibri"/>
              </a:rPr>
              <a:t>MIT</a:t>
            </a:r>
          </a:p>
        </p:txBody>
      </p:sp>
      <p:sp>
        <p:nvSpPr>
          <p:cNvPr id="11" name="TextBox 10"/>
          <p:cNvSpPr txBox="1"/>
          <p:nvPr/>
        </p:nvSpPr>
        <p:spPr>
          <a:xfrm>
            <a:off x="787400" y="2118591"/>
            <a:ext cx="5071491" cy="490728"/>
          </a:xfrm>
          <a:prstGeom prst="rect">
            <a:avLst/>
          </a:prstGeom>
          <a:noFill/>
        </p:spPr>
        <p:txBody>
          <a:bodyPr wrap="square" lIns="0" rIns="0" tIns="0" bIns="0" anchor="t"/>
          <a:lstStyle/>
          <a:p>
            <a:pPr algn="l">
              <a:lnSpc>
                <a:spcPts val="1932"/>
              </a:lnSpc>
              <a:spcBef>
                <a:spcPts val="0"/>
              </a:spcBef>
              <a:spcAft>
                <a:spcPts val="0"/>
              </a:spcAft>
            </a:pPr>
            <a:r>
              <a:rPr sz="1400" b="0" i="0">
                <a:solidFill>
                  <a:srgbClr val="3F4A5A"/>
                </a:solidFill>
                <a:latin typeface="Calibri"/>
              </a:rPr>
              <a:t>Repositorio público: la Carrera puede usarlo, modificarlo y</a:t>
            </a:r>
            <a:br/>
            <a:r>
              <a:rPr sz="1400" b="0" i="0">
                <a:solidFill>
                  <a:srgbClr val="3F4A5A"/>
                </a:solidFill>
                <a:latin typeface="Calibri"/>
              </a:rPr>
              <a:t>redistribuirlo.</a:t>
            </a:r>
          </a:p>
        </p:txBody>
      </p:sp>
      <p:sp>
        <p:nvSpPr>
          <p:cNvPr id="12" name="Rounded Rectangle 11"/>
          <p:cNvSpPr/>
          <p:nvPr/>
        </p:nvSpPr>
        <p:spPr>
          <a:xfrm>
            <a:off x="6213475" y="1283272"/>
            <a:ext cx="5410200" cy="1525778"/>
          </a:xfrm>
          <a:prstGeom prst="roundRect">
            <a:avLst>
              <a:gd name="adj" fmla="val 4786"/>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 Same Side Corner Rectangle 12"/>
          <p:cNvSpPr/>
          <p:nvPr/>
        </p:nvSpPr>
        <p:spPr>
          <a:xfrm>
            <a:off x="6216650" y="1286446"/>
            <a:ext cx="5403850" cy="38100"/>
          </a:xfrm>
          <a:prstGeom prst="round2SameRect">
            <a:avLst>
              <a:gd name="adj1" fmla="val 50000"/>
              <a:gd name="adj2" fmla="val 0"/>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2550" y="1483615"/>
            <a:ext cx="5071491"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Paquete binario</a:t>
            </a:r>
          </a:p>
        </p:txBody>
      </p:sp>
      <p:sp>
        <p:nvSpPr>
          <p:cNvPr id="15" name="TextBox 14"/>
          <p:cNvSpPr txBox="1"/>
          <p:nvPr/>
        </p:nvSpPr>
        <p:spPr>
          <a:xfrm>
            <a:off x="6432550" y="1764858"/>
            <a:ext cx="5071491" cy="298704"/>
          </a:xfrm>
          <a:prstGeom prst="rect">
            <a:avLst/>
          </a:prstGeom>
          <a:noFill/>
        </p:spPr>
        <p:txBody>
          <a:bodyPr wrap="square" lIns="0" rIns="0" tIns="0" bIns="0" anchor="t"/>
          <a:lstStyle/>
          <a:p>
            <a:pPr algn="l">
              <a:lnSpc>
                <a:spcPts val="2352"/>
              </a:lnSpc>
              <a:spcBef>
                <a:spcPts val="0"/>
              </a:spcBef>
              <a:spcAft>
                <a:spcPts val="0"/>
              </a:spcAft>
            </a:pPr>
            <a:r>
              <a:rPr sz="2100" b="1" i="0">
                <a:solidFill>
                  <a:srgbClr val="1B2A4A"/>
                </a:solidFill>
                <a:latin typeface="Calibri"/>
              </a:rPr>
              <a:t>+ AGPL-3.0 de PyMuPDF</a:t>
            </a:r>
          </a:p>
        </p:txBody>
      </p:sp>
      <p:sp>
        <p:nvSpPr>
          <p:cNvPr id="16" name="TextBox 15"/>
          <p:cNvSpPr txBox="1"/>
          <p:nvPr/>
        </p:nvSpPr>
        <p:spPr>
          <a:xfrm>
            <a:off x="6432550" y="2118591"/>
            <a:ext cx="5071491" cy="490728"/>
          </a:xfrm>
          <a:prstGeom prst="rect">
            <a:avLst/>
          </a:prstGeom>
          <a:noFill/>
        </p:spPr>
        <p:txBody>
          <a:bodyPr wrap="square" lIns="0" rIns="0" tIns="0" bIns="0" anchor="t"/>
          <a:lstStyle/>
          <a:p>
            <a:pPr algn="l">
              <a:lnSpc>
                <a:spcPts val="1932"/>
              </a:lnSpc>
              <a:spcBef>
                <a:spcPts val="0"/>
              </a:spcBef>
              <a:spcAft>
                <a:spcPts val="0"/>
              </a:spcAft>
            </a:pPr>
            <a:r>
              <a:rPr sz="1400" b="0" i="0">
                <a:solidFill>
                  <a:srgbClr val="3F4A5A"/>
                </a:solidFill>
                <a:latin typeface="Calibri"/>
              </a:rPr>
              <a:t>Solo muestra los PDF de teoría dentro de EduFEM; la nota de la</a:t>
            </a:r>
            <a:br/>
            <a:r>
              <a:rPr sz="1400" b="0" i="0">
                <a:solidFill>
                  <a:srgbClr val="3F4A5A"/>
                </a:solidFill>
                <a:latin typeface="Calibri"/>
              </a:rPr>
              <a:t>Tabla 2.5 advierte que condiciona la redistribución del conjunto.</a:t>
            </a:r>
          </a:p>
        </p:txBody>
      </p:sp>
      <p:sp>
        <p:nvSpPr>
          <p:cNvPr id="17" name="Rounded Rectangle 16"/>
          <p:cNvSpPr/>
          <p:nvPr/>
        </p:nvSpPr>
        <p:spPr>
          <a:xfrm>
            <a:off x="565150" y="5659120"/>
            <a:ext cx="110617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5150" y="56591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450" y="5775884"/>
            <a:ext cx="241110"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20" name="TextBox 19"/>
          <p:cNvSpPr txBox="1"/>
          <p:nvPr/>
        </p:nvSpPr>
        <p:spPr>
          <a:xfrm>
            <a:off x="1136460" y="5802089"/>
            <a:ext cx="8841994" cy="263398"/>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Ninguna dependencia exige pago ni licencia comercial al estudiante: es lo que pide el requisito 5.</a:t>
            </a:r>
          </a:p>
        </p:txBody>
      </p:sp>
      <p:sp>
        <p:nvSpPr>
          <p:cNvPr id="21" name="Rectangle 20"/>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5150" y="6535420"/>
            <a:ext cx="431082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4" name="TextBox 23"/>
          <p:cNvSpPr txBox="1"/>
          <p:nvPr/>
        </p:nvSpPr>
        <p:spPr>
          <a:xfrm>
            <a:off x="4765358" y="6535420"/>
            <a:ext cx="2661222"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Repositorio (archivo LICENSE) · nota de la Tabla 2.5</a:t>
            </a:r>
          </a:p>
        </p:txBody>
      </p:sp>
      <p:sp>
        <p:nvSpPr>
          <p:cNvPr id="25" name="TextBox 24"/>
          <p:cNvSpPr txBox="1"/>
          <p:nvPr/>
        </p:nvSpPr>
        <p:spPr>
          <a:xfrm>
            <a:off x="7316026" y="6535420"/>
            <a:ext cx="431082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26" name="Rounded Rectangle 25">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ounded Rectangle 1"/>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TextBox 3"/>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extBox 4"/>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Deformación plana: qué la verifica hoy</a:t>
            </a:r>
          </a:p>
        </p:txBody>
      </p:sp>
      <p:sp>
        <p:nvSpPr>
          <p:cNvPr id="6" name="Rounded Rectangle 5"/>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000" y="1435100"/>
            <a:ext cx="5653405"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000" y="1784350"/>
            <a:ext cx="5653405"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300" y="1528912"/>
            <a:ext cx="5533263"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Configuración (N = 16 → 32)</a:t>
            </a:r>
          </a:p>
        </p:txBody>
      </p:sp>
      <p:sp>
        <p:nvSpPr>
          <p:cNvPr id="10" name="Rectangle 9"/>
          <p:cNvSpPr/>
          <p:nvPr/>
        </p:nvSpPr>
        <p:spPr>
          <a:xfrm>
            <a:off x="6288405" y="1435100"/>
            <a:ext cx="1317117"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8405" y="1784350"/>
            <a:ext cx="1317117"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1905" y="1528912"/>
            <a:ext cx="1139317"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Q4 L²</a:t>
            </a:r>
          </a:p>
        </p:txBody>
      </p:sp>
      <p:sp>
        <p:nvSpPr>
          <p:cNvPr id="13" name="Rectangle 12"/>
          <p:cNvSpPr/>
          <p:nvPr/>
        </p:nvSpPr>
        <p:spPr>
          <a:xfrm>
            <a:off x="7605522" y="1435100"/>
            <a:ext cx="1317117"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05522" y="1784350"/>
            <a:ext cx="1317117"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69022" y="1528912"/>
            <a:ext cx="1139317"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Q4 H¹</a:t>
            </a:r>
          </a:p>
        </p:txBody>
      </p:sp>
      <p:sp>
        <p:nvSpPr>
          <p:cNvPr id="16" name="Rectangle 15"/>
          <p:cNvSpPr/>
          <p:nvPr/>
        </p:nvSpPr>
        <p:spPr>
          <a:xfrm>
            <a:off x="8922639" y="1435100"/>
            <a:ext cx="1317117"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22639" y="1784350"/>
            <a:ext cx="1317117"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6139" y="1528912"/>
            <a:ext cx="1139317"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Q9 L²</a:t>
            </a:r>
          </a:p>
        </p:txBody>
      </p:sp>
      <p:sp>
        <p:nvSpPr>
          <p:cNvPr id="19" name="Rectangle 18"/>
          <p:cNvSpPr/>
          <p:nvPr/>
        </p:nvSpPr>
        <p:spPr>
          <a:xfrm>
            <a:off x="10239756" y="1435100"/>
            <a:ext cx="1317244"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239756" y="1784350"/>
            <a:ext cx="131724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03256" y="1528912"/>
            <a:ext cx="1139444"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Q9 H¹</a:t>
            </a:r>
          </a:p>
        </p:txBody>
      </p:sp>
      <p:sp>
        <p:nvSpPr>
          <p:cNvPr id="22" name="Rectangle 21"/>
          <p:cNvSpPr/>
          <p:nvPr/>
        </p:nvSpPr>
        <p:spPr>
          <a:xfrm>
            <a:off x="635000" y="1803400"/>
            <a:ext cx="5653405" cy="406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5000" y="2203450"/>
            <a:ext cx="56534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300" y="1896745"/>
            <a:ext cx="5533263" cy="222250"/>
          </a:xfrm>
          <a:prstGeom prst="rect">
            <a:avLst/>
          </a:prstGeom>
          <a:noFill/>
        </p:spPr>
        <p:txBody>
          <a:bodyPr wrap="square" lIns="0" rIns="0" tIns="0" bIns="0" anchor="t"/>
          <a:lstStyle/>
          <a:p>
            <a:pPr algn="l">
              <a:lnSpc>
                <a:spcPts val="1750"/>
              </a:lnSpc>
              <a:spcBef>
                <a:spcPts val="0"/>
              </a:spcBef>
              <a:spcAft>
                <a:spcPts val="0"/>
              </a:spcAft>
            </a:pPr>
            <a:r>
              <a:rPr sz="1400" b="0" i="0">
                <a:solidFill>
                  <a:srgbClr val="1F2937"/>
                </a:solidFill>
                <a:latin typeface="Calibri"/>
              </a:rPr>
              <a:t>Cuadrado · tensión plana</a:t>
            </a:r>
          </a:p>
        </p:txBody>
      </p:sp>
      <p:sp>
        <p:nvSpPr>
          <p:cNvPr id="25" name="Rectangle 24"/>
          <p:cNvSpPr/>
          <p:nvPr/>
        </p:nvSpPr>
        <p:spPr>
          <a:xfrm>
            <a:off x="6288405" y="1803400"/>
            <a:ext cx="1317117" cy="406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88405" y="22034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1905" y="18967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1,997</a:t>
            </a:r>
          </a:p>
        </p:txBody>
      </p:sp>
      <p:sp>
        <p:nvSpPr>
          <p:cNvPr id="28" name="Rectangle 27"/>
          <p:cNvSpPr/>
          <p:nvPr/>
        </p:nvSpPr>
        <p:spPr>
          <a:xfrm>
            <a:off x="7605522" y="1803400"/>
            <a:ext cx="1317117" cy="406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05522" y="22034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69022" y="18967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1,001</a:t>
            </a:r>
          </a:p>
        </p:txBody>
      </p:sp>
      <p:sp>
        <p:nvSpPr>
          <p:cNvPr id="31" name="Rectangle 30"/>
          <p:cNvSpPr/>
          <p:nvPr/>
        </p:nvSpPr>
        <p:spPr>
          <a:xfrm>
            <a:off x="8922639" y="1803400"/>
            <a:ext cx="1317117" cy="406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922639" y="22034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86139" y="18967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3,000</a:t>
            </a:r>
          </a:p>
        </p:txBody>
      </p:sp>
      <p:sp>
        <p:nvSpPr>
          <p:cNvPr id="34" name="Rectangle 33"/>
          <p:cNvSpPr/>
          <p:nvPr/>
        </p:nvSpPr>
        <p:spPr>
          <a:xfrm>
            <a:off x="10239756" y="1803400"/>
            <a:ext cx="1317244" cy="406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39756" y="2203450"/>
            <a:ext cx="13172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03256" y="1896745"/>
            <a:ext cx="1139444"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2,001</a:t>
            </a:r>
          </a:p>
        </p:txBody>
      </p:sp>
      <p:sp>
        <p:nvSpPr>
          <p:cNvPr id="37" name="Rectangle 36"/>
          <p:cNvSpPr/>
          <p:nvPr/>
        </p:nvSpPr>
        <p:spPr>
          <a:xfrm>
            <a:off x="635000" y="2209800"/>
            <a:ext cx="5653405" cy="4064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35000" y="2609850"/>
            <a:ext cx="56534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9300" y="2303145"/>
            <a:ext cx="5533263" cy="222250"/>
          </a:xfrm>
          <a:prstGeom prst="rect">
            <a:avLst/>
          </a:prstGeom>
          <a:noFill/>
        </p:spPr>
        <p:txBody>
          <a:bodyPr wrap="square" lIns="0" rIns="0" tIns="0" bIns="0" anchor="t"/>
          <a:lstStyle/>
          <a:p>
            <a:pPr algn="l">
              <a:lnSpc>
                <a:spcPts val="1750"/>
              </a:lnSpc>
              <a:spcBef>
                <a:spcPts val="0"/>
              </a:spcBef>
              <a:spcAft>
                <a:spcPts val="0"/>
              </a:spcAft>
            </a:pPr>
            <a:r>
              <a:rPr sz="1400" b="0" i="0">
                <a:solidFill>
                  <a:srgbClr val="1F2937"/>
                </a:solidFill>
                <a:latin typeface="Calibri"/>
              </a:rPr>
              <a:t>Distorsionado · tensión plana</a:t>
            </a:r>
          </a:p>
        </p:txBody>
      </p:sp>
      <p:sp>
        <p:nvSpPr>
          <p:cNvPr id="40" name="Rectangle 39"/>
          <p:cNvSpPr/>
          <p:nvPr/>
        </p:nvSpPr>
        <p:spPr>
          <a:xfrm>
            <a:off x="6288405" y="2209800"/>
            <a:ext cx="1317117" cy="4064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88405" y="26098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1905" y="23031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1,997</a:t>
            </a:r>
          </a:p>
        </p:txBody>
      </p:sp>
      <p:sp>
        <p:nvSpPr>
          <p:cNvPr id="43" name="Rectangle 42"/>
          <p:cNvSpPr/>
          <p:nvPr/>
        </p:nvSpPr>
        <p:spPr>
          <a:xfrm>
            <a:off x="7605522" y="2209800"/>
            <a:ext cx="1317117" cy="4064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05522" y="26098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69022" y="23031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1,001</a:t>
            </a:r>
          </a:p>
        </p:txBody>
      </p:sp>
      <p:sp>
        <p:nvSpPr>
          <p:cNvPr id="46" name="Rectangle 45"/>
          <p:cNvSpPr/>
          <p:nvPr/>
        </p:nvSpPr>
        <p:spPr>
          <a:xfrm>
            <a:off x="8922639" y="2209800"/>
            <a:ext cx="1317117" cy="4064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22639" y="26098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86139" y="23031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3,000</a:t>
            </a:r>
          </a:p>
        </p:txBody>
      </p:sp>
      <p:sp>
        <p:nvSpPr>
          <p:cNvPr id="49" name="Rectangle 48"/>
          <p:cNvSpPr/>
          <p:nvPr/>
        </p:nvSpPr>
        <p:spPr>
          <a:xfrm>
            <a:off x="10239756" y="2209800"/>
            <a:ext cx="1317244" cy="4064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239756" y="2609850"/>
            <a:ext cx="13172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303256" y="2303145"/>
            <a:ext cx="1139444"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2,000</a:t>
            </a:r>
          </a:p>
        </p:txBody>
      </p:sp>
      <p:sp>
        <p:nvSpPr>
          <p:cNvPr id="52" name="Rectangle 51"/>
          <p:cNvSpPr/>
          <p:nvPr/>
        </p:nvSpPr>
        <p:spPr>
          <a:xfrm>
            <a:off x="635000" y="2616200"/>
            <a:ext cx="5653405" cy="406400"/>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5000" y="3016250"/>
            <a:ext cx="56534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9300" y="2709545"/>
            <a:ext cx="5533263" cy="222250"/>
          </a:xfrm>
          <a:prstGeom prst="rect">
            <a:avLst/>
          </a:prstGeom>
          <a:noFill/>
        </p:spPr>
        <p:txBody>
          <a:bodyPr wrap="square" lIns="0" rIns="0" tIns="0" bIns="0" anchor="t"/>
          <a:lstStyle/>
          <a:p>
            <a:pPr algn="l">
              <a:lnSpc>
                <a:spcPts val="1750"/>
              </a:lnSpc>
              <a:spcBef>
                <a:spcPts val="0"/>
              </a:spcBef>
              <a:spcAft>
                <a:spcPts val="0"/>
              </a:spcAft>
            </a:pPr>
            <a:r>
              <a:rPr sz="1400" b="0" i="0">
                <a:solidFill>
                  <a:srgbClr val="1F2937"/>
                </a:solidFill>
                <a:latin typeface="Calibri"/>
              </a:rPr>
              <a:t>Cuadrado · deformación plana</a:t>
            </a:r>
          </a:p>
        </p:txBody>
      </p:sp>
      <p:sp>
        <p:nvSpPr>
          <p:cNvPr id="55" name="Rectangle 54"/>
          <p:cNvSpPr/>
          <p:nvPr/>
        </p:nvSpPr>
        <p:spPr>
          <a:xfrm>
            <a:off x="6288405" y="2616200"/>
            <a:ext cx="1317117" cy="406400"/>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288405" y="30162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51905" y="27095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1,997</a:t>
            </a:r>
          </a:p>
        </p:txBody>
      </p:sp>
      <p:sp>
        <p:nvSpPr>
          <p:cNvPr id="58" name="Rectangle 57"/>
          <p:cNvSpPr/>
          <p:nvPr/>
        </p:nvSpPr>
        <p:spPr>
          <a:xfrm>
            <a:off x="7605522" y="2616200"/>
            <a:ext cx="1317117" cy="406400"/>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05522" y="30162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69022" y="27095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1,002</a:t>
            </a:r>
          </a:p>
        </p:txBody>
      </p:sp>
      <p:sp>
        <p:nvSpPr>
          <p:cNvPr id="61" name="Rectangle 60"/>
          <p:cNvSpPr/>
          <p:nvPr/>
        </p:nvSpPr>
        <p:spPr>
          <a:xfrm>
            <a:off x="8922639" y="2616200"/>
            <a:ext cx="1317117" cy="406400"/>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922639" y="30162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986139" y="27095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3,000</a:t>
            </a:r>
          </a:p>
        </p:txBody>
      </p:sp>
      <p:sp>
        <p:nvSpPr>
          <p:cNvPr id="64" name="Rectangle 63"/>
          <p:cNvSpPr/>
          <p:nvPr/>
        </p:nvSpPr>
        <p:spPr>
          <a:xfrm>
            <a:off x="10239756" y="2616200"/>
            <a:ext cx="1317244" cy="406400"/>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239756" y="3016250"/>
            <a:ext cx="13172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303256" y="2709545"/>
            <a:ext cx="1139444"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2,001</a:t>
            </a:r>
          </a:p>
        </p:txBody>
      </p:sp>
      <p:sp>
        <p:nvSpPr>
          <p:cNvPr id="67" name="Rectangle 66"/>
          <p:cNvSpPr/>
          <p:nvPr/>
        </p:nvSpPr>
        <p:spPr>
          <a:xfrm>
            <a:off x="635000" y="3022600"/>
            <a:ext cx="5653405" cy="4064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35000" y="3422650"/>
            <a:ext cx="56534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9300" y="3115945"/>
            <a:ext cx="5533263" cy="222250"/>
          </a:xfrm>
          <a:prstGeom prst="rect">
            <a:avLst/>
          </a:prstGeom>
          <a:noFill/>
        </p:spPr>
        <p:txBody>
          <a:bodyPr wrap="square" lIns="0" rIns="0" tIns="0" bIns="0" anchor="t"/>
          <a:lstStyle/>
          <a:p>
            <a:pPr algn="l">
              <a:lnSpc>
                <a:spcPts val="1750"/>
              </a:lnSpc>
              <a:spcBef>
                <a:spcPts val="0"/>
              </a:spcBef>
              <a:spcAft>
                <a:spcPts val="0"/>
              </a:spcAft>
            </a:pPr>
            <a:r>
              <a:rPr sz="1400" b="0" i="0">
                <a:solidFill>
                  <a:srgbClr val="1F2937"/>
                </a:solidFill>
                <a:latin typeface="Calibri"/>
              </a:rPr>
              <a:t>Distorsionado · deformación plana</a:t>
            </a:r>
          </a:p>
        </p:txBody>
      </p:sp>
      <p:sp>
        <p:nvSpPr>
          <p:cNvPr id="70" name="Rectangle 69"/>
          <p:cNvSpPr/>
          <p:nvPr/>
        </p:nvSpPr>
        <p:spPr>
          <a:xfrm>
            <a:off x="6288405" y="3022600"/>
            <a:ext cx="1317117" cy="4064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288405" y="34226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51905" y="31159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1,997</a:t>
            </a:r>
          </a:p>
        </p:txBody>
      </p:sp>
      <p:sp>
        <p:nvSpPr>
          <p:cNvPr id="73" name="Rectangle 72"/>
          <p:cNvSpPr/>
          <p:nvPr/>
        </p:nvSpPr>
        <p:spPr>
          <a:xfrm>
            <a:off x="7605522" y="3022600"/>
            <a:ext cx="1317117" cy="4064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05522" y="34226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669022" y="31159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1,001</a:t>
            </a:r>
          </a:p>
        </p:txBody>
      </p:sp>
      <p:sp>
        <p:nvSpPr>
          <p:cNvPr id="76" name="Rectangle 75"/>
          <p:cNvSpPr/>
          <p:nvPr/>
        </p:nvSpPr>
        <p:spPr>
          <a:xfrm>
            <a:off x="8922639" y="3022600"/>
            <a:ext cx="1317117" cy="4064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22639" y="3422650"/>
            <a:ext cx="131711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986139" y="3115945"/>
            <a:ext cx="1139317"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3,000</a:t>
            </a:r>
          </a:p>
        </p:txBody>
      </p:sp>
      <p:sp>
        <p:nvSpPr>
          <p:cNvPr id="79" name="Rectangle 78"/>
          <p:cNvSpPr/>
          <p:nvPr/>
        </p:nvSpPr>
        <p:spPr>
          <a:xfrm>
            <a:off x="10239756" y="3022600"/>
            <a:ext cx="1317244" cy="4064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239756" y="3422650"/>
            <a:ext cx="13172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303256" y="3115945"/>
            <a:ext cx="1139444" cy="222250"/>
          </a:xfrm>
          <a:prstGeom prst="rect">
            <a:avLst/>
          </a:prstGeom>
          <a:noFill/>
        </p:spPr>
        <p:txBody>
          <a:bodyPr wrap="square" lIns="0" rIns="0" tIns="0" bIns="0" anchor="t"/>
          <a:lstStyle/>
          <a:p>
            <a:pPr algn="r">
              <a:lnSpc>
                <a:spcPts val="1750"/>
              </a:lnSpc>
              <a:spcBef>
                <a:spcPts val="0"/>
              </a:spcBef>
              <a:spcAft>
                <a:spcPts val="0"/>
              </a:spcAft>
            </a:pPr>
            <a:r>
              <a:rPr sz="1400" b="0" i="0">
                <a:solidFill>
                  <a:srgbClr val="1F2937"/>
                </a:solidFill>
                <a:latin typeface="Calibri"/>
              </a:rPr>
              <a:t>2,001</a:t>
            </a:r>
          </a:p>
        </p:txBody>
      </p:sp>
      <p:sp>
        <p:nvSpPr>
          <p:cNvPr id="82" name="Rounded Rectangle 81"/>
          <p:cNvSpPr/>
          <p:nvPr/>
        </p:nvSpPr>
        <p:spPr>
          <a:xfrm>
            <a:off x="638175" y="3609975"/>
            <a:ext cx="3541141" cy="1816481"/>
          </a:xfrm>
          <a:prstGeom prst="roundRect">
            <a:avLst>
              <a:gd name="adj" fmla="val 4020"/>
            </a:avLst>
          </a:prstGeom>
          <a:solidFill>
            <a:srgbClr val="F6F8FC"/>
          </a:solidFill>
          <a:ln w="6350">
            <a:solidFill>
              <a:srgbClr val="B7DC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57250" y="3810255"/>
            <a:ext cx="316503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2E8B57"/>
                </a:solidFill>
                <a:latin typeface="Calibri"/>
              </a:rPr>
              <a:t>Lo que muestran estas filas</a:t>
            </a:r>
          </a:p>
        </p:txBody>
      </p:sp>
      <p:sp>
        <p:nvSpPr>
          <p:cNvPr id="84" name="TextBox 83"/>
          <p:cNvSpPr txBox="1"/>
          <p:nvPr/>
        </p:nvSpPr>
        <p:spPr>
          <a:xfrm>
            <a:off x="857250" y="4070953"/>
            <a:ext cx="3165030" cy="876300"/>
          </a:xfrm>
          <a:prstGeom prst="rect">
            <a:avLst/>
          </a:prstGeom>
          <a:noFill/>
        </p:spPr>
        <p:txBody>
          <a:bodyPr wrap="square" lIns="0" rIns="0" tIns="0" bIns="0" anchor="t"/>
          <a:lstStyle/>
          <a:p>
            <a:pPr algn="l">
              <a:lnSpc>
                <a:spcPts val="1725"/>
              </a:lnSpc>
              <a:spcBef>
                <a:spcPts val="0"/>
              </a:spcBef>
              <a:spcAft>
                <a:spcPts val="0"/>
              </a:spcAft>
            </a:pPr>
            <a:r>
              <a:rPr sz="1250" b="0" i="0">
                <a:solidFill>
                  <a:srgbClr val="3F4A5A"/>
                </a:solidFill>
                <a:latin typeface="Calibri"/>
              </a:rPr>
              <a:t>Las tasas teóricas también en deformación</a:t>
            </a:r>
            <a:br/>
            <a:r>
              <a:rPr sz="1250" b="0" i="0">
                <a:solidFill>
                  <a:srgbClr val="3F4A5A"/>
                </a:solidFill>
                <a:latin typeface="Calibri"/>
              </a:rPr>
              <a:t>plana y con elementos distorsionados: el</a:t>
            </a:r>
            <a:br/>
            <a:r>
              <a:rPr sz="1250" b="0" i="0">
                <a:solidFill>
                  <a:srgbClr val="3F4A5A"/>
                </a:solidFill>
                <a:latin typeface="Calibri"/>
              </a:rPr>
              <a:t>ensamblaje, la cuadratura, el mapeo y las</a:t>
            </a:r>
            <a:br/>
            <a:r>
              <a:rPr sz="1250" b="0" i="0">
                <a:solidFill>
                  <a:srgbClr val="3F4A5A"/>
                </a:solidFill>
                <a:latin typeface="Calibri"/>
              </a:rPr>
              <a:t>restricciones no degradan el orden.</a:t>
            </a:r>
          </a:p>
        </p:txBody>
      </p:sp>
      <p:sp>
        <p:nvSpPr>
          <p:cNvPr id="85" name="Rounded Rectangle 84"/>
          <p:cNvSpPr/>
          <p:nvPr/>
        </p:nvSpPr>
        <p:spPr>
          <a:xfrm>
            <a:off x="4325366" y="3609975"/>
            <a:ext cx="3541204" cy="1816481"/>
          </a:xfrm>
          <a:prstGeom prst="roundRect">
            <a:avLst>
              <a:gd name="adj" fmla="val 4020"/>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544441" y="3810255"/>
            <a:ext cx="316515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Lo que no alcanzan a ver</a:t>
            </a:r>
          </a:p>
        </p:txBody>
      </p:sp>
      <p:sp>
        <p:nvSpPr>
          <p:cNvPr id="87" name="TextBox 86"/>
          <p:cNvSpPr txBox="1"/>
          <p:nvPr/>
        </p:nvSpPr>
        <p:spPr>
          <a:xfrm>
            <a:off x="4544441" y="4070953"/>
            <a:ext cx="3165158" cy="1095375"/>
          </a:xfrm>
          <a:prstGeom prst="rect">
            <a:avLst/>
          </a:prstGeom>
          <a:noFill/>
        </p:spPr>
        <p:txBody>
          <a:bodyPr wrap="square" lIns="0" rIns="0" tIns="0" bIns="0" anchor="t"/>
          <a:lstStyle/>
          <a:p>
            <a:pPr algn="l">
              <a:lnSpc>
                <a:spcPts val="1725"/>
              </a:lnSpc>
              <a:spcBef>
                <a:spcPts val="0"/>
              </a:spcBef>
              <a:spcAft>
                <a:spcPts val="0"/>
              </a:spcAft>
            </a:pPr>
            <a:r>
              <a:rPr sz="1250" b="0" i="0">
                <a:solidFill>
                  <a:srgbClr val="3F4A5A"/>
                </a:solidFill>
                <a:latin typeface="Calibri"/>
              </a:rPr>
              <a:t>El campo manufacturado tiene tr ε = 0 y γ</a:t>
            </a:r>
            <a:r>
              <a:rPr sz="1250" b="0" i="0" baseline="-25000">
                <a:solidFill>
                  <a:srgbClr val="3F4A5A"/>
                </a:solidFill>
                <a:latin typeface="Calibri"/>
              </a:rPr>
              <a:t>xy</a:t>
            </a:r>
            <a:r>
              <a:rPr sz="1250" b="0" i="0">
                <a:solidFill>
                  <a:srgbClr val="3F4A5A"/>
                </a:solidFill>
                <a:latin typeface="Calibri"/>
              </a:rPr>
              <a:t> = 0:</a:t>
            </a:r>
            <a:br/>
            <a:r>
              <a:rPr sz="1250" b="0" i="0">
                <a:solidFill>
                  <a:srgbClr val="3F4A5A"/>
                </a:solidFill>
                <a:latin typeface="Calibri"/>
              </a:rPr>
              <a:t>λ y D</a:t>
            </a:r>
            <a:r>
              <a:rPr sz="1250" b="0" i="0" baseline="-25000">
                <a:solidFill>
                  <a:srgbClr val="3F4A5A"/>
                </a:solidFill>
                <a:latin typeface="Calibri"/>
              </a:rPr>
              <a:t>33</a:t>
            </a:r>
            <a:r>
              <a:rPr sz="1250" b="0" i="0">
                <a:solidFill>
                  <a:srgbClr val="3F4A5A"/>
                </a:solidFill>
                <a:latin typeface="Calibri"/>
              </a:rPr>
              <a:t> no intervienen, y la misma u</a:t>
            </a:r>
            <a:r>
              <a:rPr sz="1250" b="0" i="0" baseline="-25000">
                <a:solidFill>
                  <a:srgbClr val="3F4A5A"/>
                </a:solidFill>
                <a:latin typeface="Calibri"/>
              </a:rPr>
              <a:t>M</a:t>
            </a:r>
            <a:r>
              <a:rPr sz="1250" b="0" i="0">
                <a:solidFill>
                  <a:srgbClr val="3F4A5A"/>
                </a:solidFill>
                <a:latin typeface="Calibri"/>
              </a:rPr>
              <a:t> resuelve</a:t>
            </a:r>
            <a:br/>
            <a:r>
              <a:rPr sz="1250" b="0" i="0">
                <a:solidFill>
                  <a:srgbClr val="3F4A5A"/>
                </a:solidFill>
                <a:latin typeface="Calibri"/>
              </a:rPr>
              <a:t>el problema con la D de cualquiera de los dos</a:t>
            </a:r>
            <a:br/>
            <a:r>
              <a:rPr sz="1250" b="0" i="0">
                <a:solidFill>
                  <a:srgbClr val="3F4A5A"/>
                </a:solidFill>
                <a:latin typeface="Calibri"/>
              </a:rPr>
              <a:t>estados. Estas filas no distinguen una D de la</a:t>
            </a:r>
            <a:br/>
            <a:r>
              <a:rPr sz="1250" b="0" i="0">
                <a:solidFill>
                  <a:srgbClr val="3F4A5A"/>
                </a:solidFill>
                <a:latin typeface="Calibri"/>
              </a:rPr>
              <a:t>otra.</a:t>
            </a:r>
          </a:p>
        </p:txBody>
      </p:sp>
      <p:sp>
        <p:nvSpPr>
          <p:cNvPr id="88" name="Rounded Rectangle 87"/>
          <p:cNvSpPr/>
          <p:nvPr/>
        </p:nvSpPr>
        <p:spPr>
          <a:xfrm>
            <a:off x="8012620" y="3609975"/>
            <a:ext cx="3541204" cy="1816481"/>
          </a:xfrm>
          <a:prstGeom prst="roundRect">
            <a:avLst>
              <a:gd name="adj" fmla="val 4020"/>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231696" y="3810255"/>
            <a:ext cx="316515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1F77B4"/>
                </a:solidFill>
                <a:latin typeface="Calibri"/>
              </a:rPr>
              <a:t>Lo que sí comprueba la D</a:t>
            </a:r>
          </a:p>
        </p:txBody>
      </p:sp>
      <p:sp>
        <p:nvSpPr>
          <p:cNvPr id="90" name="TextBox 89"/>
          <p:cNvSpPr txBox="1"/>
          <p:nvPr/>
        </p:nvSpPr>
        <p:spPr>
          <a:xfrm>
            <a:off x="8231696" y="4070953"/>
            <a:ext cx="3165158" cy="1095375"/>
          </a:xfrm>
          <a:prstGeom prst="rect">
            <a:avLst/>
          </a:prstGeom>
          <a:noFill/>
        </p:spPr>
        <p:txBody>
          <a:bodyPr wrap="square" lIns="0" rIns="0" tIns="0" bIns="0" anchor="t"/>
          <a:lstStyle/>
          <a:p>
            <a:pPr algn="l">
              <a:lnSpc>
                <a:spcPts val="1725"/>
              </a:lnSpc>
              <a:spcBef>
                <a:spcPts val="0"/>
              </a:spcBef>
              <a:spcAft>
                <a:spcPts val="0"/>
              </a:spcAft>
            </a:pPr>
            <a:r>
              <a:rPr sz="1250" b="0" i="0">
                <a:solidFill>
                  <a:srgbClr val="3F4A5A"/>
                </a:solidFill>
                <a:latin typeface="Calibri"/>
              </a:rPr>
              <a:t>Un estado uniaxial con solución exacta ejercita</a:t>
            </a:r>
            <a:br/>
            <a:r>
              <a:rPr sz="1250" b="0" i="0">
                <a:solidFill>
                  <a:srgbClr val="3F4A5A"/>
                </a:solidFill>
                <a:latin typeface="Calibri"/>
              </a:rPr>
              <a:t>sus términos normales: σ</a:t>
            </a:r>
            <a:r>
              <a:rPr sz="1250" b="0" i="0" baseline="-25000">
                <a:solidFill>
                  <a:srgbClr val="3F4A5A"/>
                </a:solidFill>
                <a:latin typeface="Calibri"/>
              </a:rPr>
              <a:t>x</a:t>
            </a:r>
            <a:r>
              <a:rPr sz="1250" b="0" i="0">
                <a:solidFill>
                  <a:srgbClr val="3F4A5A"/>
                </a:solidFill>
                <a:latin typeface="Calibri"/>
              </a:rPr>
              <a:t> = (λ + 2μ)δ, σ</a:t>
            </a:r>
            <a:r>
              <a:rPr sz="1250" b="0" i="0" baseline="-25000">
                <a:solidFill>
                  <a:srgbClr val="3F4A5A"/>
                </a:solidFill>
                <a:latin typeface="Calibri"/>
              </a:rPr>
              <a:t>y</a:t>
            </a:r>
            <a:r>
              <a:rPr sz="1250" b="0" i="0">
                <a:solidFill>
                  <a:srgbClr val="3F4A5A"/>
                </a:solidFill>
                <a:latin typeface="Calibri"/>
              </a:rPr>
              <a:t> = σ</a:t>
            </a:r>
            <a:r>
              <a:rPr sz="1250" b="0" i="0" baseline="-25000">
                <a:solidFill>
                  <a:srgbClr val="3F4A5A"/>
                </a:solidFill>
                <a:latin typeface="Calibri"/>
              </a:rPr>
              <a:t>z</a:t>
            </a:r>
            <a:r>
              <a:rPr sz="1250" b="0" i="0">
                <a:solidFill>
                  <a:srgbClr val="3F4A5A"/>
                </a:solidFill>
                <a:latin typeface="Calibri"/>
              </a:rPr>
              <a:t> =</a:t>
            </a:r>
            <a:br/>
            <a:r>
              <a:rPr sz="1250" b="0" i="0">
                <a:solidFill>
                  <a:srgbClr val="3F4A5A"/>
                </a:solidFill>
                <a:latin typeface="Calibri"/>
              </a:rPr>
              <a:t>λδ y von Mises = 2μδ, con error menor que</a:t>
            </a:r>
            <a:br/>
            <a:r>
              <a:rPr sz="1250" b="0" i="0">
                <a:solidFill>
                  <a:srgbClr val="3F4A5A"/>
                </a:solidFill>
                <a:latin typeface="Calibri"/>
              </a:rPr>
              <a:t>10</a:t>
            </a:r>
            <a:r>
              <a:rPr sz="1250" b="0" i="0" baseline="30000">
                <a:solidFill>
                  <a:srgbClr val="3F4A5A"/>
                </a:solidFill>
                <a:latin typeface="Calibri"/>
              </a:rPr>
              <a:t>−9</a:t>
            </a:r>
            <a:r>
              <a:rPr sz="1250" b="0" i="0">
                <a:solidFill>
                  <a:srgbClr val="3F4A5A"/>
                </a:solidFill>
                <a:latin typeface="Calibri"/>
              </a:rPr>
              <a:t>. Falta un contraste externo: un caso civil</a:t>
            </a:r>
            <a:br/>
            <a:r>
              <a:rPr sz="1250" b="0" i="0">
                <a:solidFill>
                  <a:srgbClr val="3F4A5A"/>
                </a:solidFill>
                <a:latin typeface="Calibri"/>
              </a:rPr>
              <a:t>con peso propio.</a:t>
            </a:r>
          </a:p>
        </p:txBody>
      </p:sp>
      <p:sp>
        <p:nvSpPr>
          <p:cNvPr id="91" name="Rectangle 90"/>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65150" y="6535420"/>
            <a:ext cx="4315333"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94" name="TextBox 93"/>
          <p:cNvSpPr txBox="1"/>
          <p:nvPr/>
        </p:nvSpPr>
        <p:spPr>
          <a:xfrm>
            <a:off x="4769866" y="6535420"/>
            <a:ext cx="265220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3.2 · Anexo D · tests/test_vv_extensions.py</a:t>
            </a:r>
          </a:p>
        </p:txBody>
      </p:sp>
      <p:sp>
        <p:nvSpPr>
          <p:cNvPr id="95" name="TextBox 94"/>
          <p:cNvSpPr txBox="1"/>
          <p:nvPr/>
        </p:nvSpPr>
        <p:spPr>
          <a:xfrm>
            <a:off x="7311454" y="6535420"/>
            <a:ext cx="431539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96" name="Rounded Rectangle 95">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65150" y="381000"/>
            <a:ext cx="9525000" cy="508000"/>
          </a:xfrm>
          <a:prstGeom prst="rect">
            <a:avLst/>
          </a:prstGeom>
          <a:noFill/>
        </p:spPr>
        <p:txBody>
          <a:bodyPr wrap="none">
            <a:spAutoFit/>
          </a:bodyPr>
          <a:lstStyle/>
          <a:p>
            <a:r>
              <a:rPr sz="3000" b="1">
                <a:solidFill>
                  <a:srgbClr val="1B2A4A"/>
                </a:solidFill>
                <a:latin typeface="Calibri"/>
              </a:rPr>
              <a:t>Índice de la defensa</a:t>
            </a:r>
          </a:p>
        </p:txBody>
      </p:sp>
      <p:sp>
        <p:nvSpPr>
          <p:cNvPr id="3" name="Rectangle 2"/>
          <p:cNvSpPr/>
          <p:nvPr/>
        </p:nvSpPr>
        <p:spPr>
          <a:xfrm>
            <a:off x="565150" y="952500"/>
            <a:ext cx="736600" cy="38100"/>
          </a:xfrm>
          <a:prstGeom prst="rect">
            <a:avLst/>
          </a:prstGeom>
          <a:solidFill>
            <a:srgbClr val="E87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565150" y="1206500"/>
            <a:ext cx="3619500" cy="171450"/>
          </a:xfrm>
          <a:prstGeom prst="rect">
            <a:avLst/>
          </a:prstGeom>
          <a:noFill/>
        </p:spPr>
        <p:txBody>
          <a:bodyPr wrap="none" lIns="0" rIns="0" tIns="0" bIns="0">
            <a:spAutoFit/>
          </a:bodyPr>
          <a:lstStyle/>
          <a:p>
            <a:r>
              <a:rPr sz="1050">
                <a:solidFill>
                  <a:srgbClr val="1F2937"/>
                </a:solidFill>
                <a:latin typeface="Calibri"/>
              </a:rPr>
              <a:t> 1. Carátula</a:t>
            </a:r>
          </a:p>
        </p:txBody>
      </p:sp>
      <p:sp>
        <p:nvSpPr>
          <p:cNvPr id="5" name="TextBox 4">
            <a:hlinkClick action="ppaction://hlinksldjump" r:id="rId3"/>
          </p:cNvPr>
          <p:cNvSpPr txBox="1"/>
          <p:nvPr/>
        </p:nvSpPr>
        <p:spPr>
          <a:xfrm>
            <a:off x="565150" y="1397000"/>
            <a:ext cx="3619500" cy="171450"/>
          </a:xfrm>
          <a:prstGeom prst="rect">
            <a:avLst/>
          </a:prstGeom>
          <a:noFill/>
        </p:spPr>
        <p:txBody>
          <a:bodyPr wrap="none" lIns="0" rIns="0" tIns="0" bIns="0">
            <a:spAutoFit/>
          </a:bodyPr>
          <a:lstStyle/>
          <a:p>
            <a:r>
              <a:rPr sz="1050">
                <a:solidFill>
                  <a:srgbClr val="1F2937"/>
                </a:solidFill>
                <a:latin typeface="Calibri"/>
              </a:rPr>
              <a:t> 2. Introducción</a:t>
            </a:r>
          </a:p>
        </p:txBody>
      </p:sp>
      <p:sp>
        <p:nvSpPr>
          <p:cNvPr id="6" name="TextBox 5">
            <a:hlinkClick action="ppaction://hlinksldjump" r:id="rId4"/>
          </p:cNvPr>
          <p:cNvSpPr txBox="1"/>
          <p:nvPr/>
        </p:nvSpPr>
        <p:spPr>
          <a:xfrm>
            <a:off x="565150" y="1587500"/>
            <a:ext cx="3619500" cy="171450"/>
          </a:xfrm>
          <a:prstGeom prst="rect">
            <a:avLst/>
          </a:prstGeom>
          <a:noFill/>
        </p:spPr>
        <p:txBody>
          <a:bodyPr wrap="none" lIns="0" rIns="0" tIns="0" bIns="0">
            <a:spAutoFit/>
          </a:bodyPr>
          <a:lstStyle/>
          <a:p>
            <a:r>
              <a:rPr sz="1050">
                <a:solidFill>
                  <a:srgbClr val="1F2937"/>
                </a:solidFill>
                <a:latin typeface="Calibri"/>
              </a:rPr>
              <a:t> 3. La caja negra</a:t>
            </a:r>
          </a:p>
        </p:txBody>
      </p:sp>
      <p:sp>
        <p:nvSpPr>
          <p:cNvPr id="7" name="TextBox 6">
            <a:hlinkClick action="ppaction://hlinksldjump" r:id="rId5"/>
          </p:cNvPr>
          <p:cNvSpPr txBox="1"/>
          <p:nvPr/>
        </p:nvSpPr>
        <p:spPr>
          <a:xfrm>
            <a:off x="565150" y="1778000"/>
            <a:ext cx="3619500" cy="171450"/>
          </a:xfrm>
          <a:prstGeom prst="rect">
            <a:avLst/>
          </a:prstGeom>
          <a:noFill/>
        </p:spPr>
        <p:txBody>
          <a:bodyPr wrap="none" lIns="0" rIns="0" tIns="0" bIns="0">
            <a:spAutoFit/>
          </a:bodyPr>
          <a:lstStyle/>
          <a:p>
            <a:r>
              <a:rPr sz="1050">
                <a:solidFill>
                  <a:srgbClr val="1F2937"/>
                </a:solidFill>
                <a:latin typeface="Calibri"/>
              </a:rPr>
              <a:t> 4. Problema científico</a:t>
            </a:r>
          </a:p>
        </p:txBody>
      </p:sp>
      <p:sp>
        <p:nvSpPr>
          <p:cNvPr id="8" name="TextBox 7">
            <a:hlinkClick action="ppaction://hlinksldjump" r:id="rId6"/>
          </p:cNvPr>
          <p:cNvSpPr txBox="1"/>
          <p:nvPr/>
        </p:nvSpPr>
        <p:spPr>
          <a:xfrm>
            <a:off x="565150" y="1968500"/>
            <a:ext cx="3619500" cy="171450"/>
          </a:xfrm>
          <a:prstGeom prst="rect">
            <a:avLst/>
          </a:prstGeom>
          <a:noFill/>
        </p:spPr>
        <p:txBody>
          <a:bodyPr wrap="none" lIns="0" rIns="0" tIns="0" bIns="0">
            <a:spAutoFit/>
          </a:bodyPr>
          <a:lstStyle/>
          <a:p>
            <a:r>
              <a:rPr sz="1050">
                <a:solidFill>
                  <a:srgbClr val="1F2937"/>
                </a:solidFill>
                <a:latin typeface="Calibri"/>
              </a:rPr>
              <a:t> 5. Objeto de estudio y campo de acción</a:t>
            </a:r>
          </a:p>
        </p:txBody>
      </p:sp>
      <p:sp>
        <p:nvSpPr>
          <p:cNvPr id="9" name="TextBox 8">
            <a:hlinkClick action="ppaction://hlinksldjump" r:id="rId7"/>
          </p:cNvPr>
          <p:cNvSpPr txBox="1"/>
          <p:nvPr/>
        </p:nvSpPr>
        <p:spPr>
          <a:xfrm>
            <a:off x="565150" y="2159000"/>
            <a:ext cx="3619500" cy="171450"/>
          </a:xfrm>
          <a:prstGeom prst="rect">
            <a:avLst/>
          </a:prstGeom>
          <a:noFill/>
        </p:spPr>
        <p:txBody>
          <a:bodyPr wrap="none" lIns="0" rIns="0" tIns="0" bIns="0">
            <a:spAutoFit/>
          </a:bodyPr>
          <a:lstStyle/>
          <a:p>
            <a:r>
              <a:rPr sz="1050">
                <a:solidFill>
                  <a:srgbClr val="1F2937"/>
                </a:solidFill>
                <a:latin typeface="Calibri"/>
              </a:rPr>
              <a:t> 6. Objetivo general</a:t>
            </a:r>
          </a:p>
        </p:txBody>
      </p:sp>
      <p:sp>
        <p:nvSpPr>
          <p:cNvPr id="10" name="TextBox 9">
            <a:hlinkClick action="ppaction://hlinksldjump" r:id="rId8"/>
          </p:cNvPr>
          <p:cNvSpPr txBox="1"/>
          <p:nvPr/>
        </p:nvSpPr>
        <p:spPr>
          <a:xfrm>
            <a:off x="565150" y="2349500"/>
            <a:ext cx="3619500" cy="171450"/>
          </a:xfrm>
          <a:prstGeom prst="rect">
            <a:avLst/>
          </a:prstGeom>
          <a:noFill/>
        </p:spPr>
        <p:txBody>
          <a:bodyPr wrap="none" lIns="0" rIns="0" tIns="0" bIns="0">
            <a:spAutoFit/>
          </a:bodyPr>
          <a:lstStyle/>
          <a:p>
            <a:r>
              <a:rPr sz="1050">
                <a:solidFill>
                  <a:srgbClr val="1F2937"/>
                </a:solidFill>
                <a:latin typeface="Calibri"/>
              </a:rPr>
              <a:t> 7. Cinco objetivos específicos en escalera</a:t>
            </a:r>
          </a:p>
        </p:txBody>
      </p:sp>
      <p:sp>
        <p:nvSpPr>
          <p:cNvPr id="11" name="TextBox 10">
            <a:hlinkClick action="ppaction://hlinksldjump" r:id="rId9"/>
          </p:cNvPr>
          <p:cNvSpPr txBox="1"/>
          <p:nvPr/>
        </p:nvSpPr>
        <p:spPr>
          <a:xfrm>
            <a:off x="565150" y="2540000"/>
            <a:ext cx="3619500" cy="171450"/>
          </a:xfrm>
          <a:prstGeom prst="rect">
            <a:avLst/>
          </a:prstGeom>
          <a:noFill/>
        </p:spPr>
        <p:txBody>
          <a:bodyPr wrap="none" lIns="0" rIns="0" tIns="0" bIns="0">
            <a:spAutoFit/>
          </a:bodyPr>
          <a:lstStyle/>
          <a:p>
            <a:r>
              <a:rPr sz="1050">
                <a:solidFill>
                  <a:srgbClr val="1F2937"/>
                </a:solidFill>
                <a:latin typeface="Calibri"/>
              </a:rPr>
              <a:t> 8. Hipótesis y preguntas de investigación</a:t>
            </a:r>
          </a:p>
        </p:txBody>
      </p:sp>
      <p:sp>
        <p:nvSpPr>
          <p:cNvPr id="12" name="TextBox 11">
            <a:hlinkClick action="ppaction://hlinksldjump" r:id="rId10"/>
          </p:cNvPr>
          <p:cNvSpPr txBox="1"/>
          <p:nvPr/>
        </p:nvSpPr>
        <p:spPr>
          <a:xfrm>
            <a:off x="565150" y="2730500"/>
            <a:ext cx="3619500" cy="171450"/>
          </a:xfrm>
          <a:prstGeom prst="rect">
            <a:avLst/>
          </a:prstGeom>
          <a:noFill/>
        </p:spPr>
        <p:txBody>
          <a:bodyPr wrap="none" lIns="0" rIns="0" tIns="0" bIns="0">
            <a:spAutoFit/>
          </a:bodyPr>
          <a:lstStyle/>
          <a:p>
            <a:r>
              <a:rPr sz="1050">
                <a:solidFill>
                  <a:srgbClr val="1F2937"/>
                </a:solidFill>
                <a:latin typeface="Calibri"/>
              </a:rPr>
              <a:t> 9. Metodología: ciencia del diseño</a:t>
            </a:r>
          </a:p>
        </p:txBody>
      </p:sp>
      <p:sp>
        <p:nvSpPr>
          <p:cNvPr id="13" name="TextBox 12">
            <a:hlinkClick action="ppaction://hlinksldjump" r:id="rId11"/>
          </p:cNvPr>
          <p:cNvSpPr txBox="1"/>
          <p:nvPr/>
        </p:nvSpPr>
        <p:spPr>
          <a:xfrm>
            <a:off x="565150" y="2921000"/>
            <a:ext cx="3619500" cy="171450"/>
          </a:xfrm>
          <a:prstGeom prst="rect">
            <a:avLst/>
          </a:prstGeom>
          <a:noFill/>
        </p:spPr>
        <p:txBody>
          <a:bodyPr wrap="none" lIns="0" rIns="0" tIns="0" bIns="0">
            <a:spAutoFit/>
          </a:bodyPr>
          <a:lstStyle/>
          <a:p>
            <a:r>
              <a:rPr sz="1050">
                <a:solidFill>
                  <a:srgbClr val="1F2937"/>
                </a:solidFill>
                <a:latin typeface="Calibri"/>
              </a:rPr>
              <a:t>10. Base teórica</a:t>
            </a:r>
          </a:p>
        </p:txBody>
      </p:sp>
      <p:sp>
        <p:nvSpPr>
          <p:cNvPr id="14" name="TextBox 13">
            <a:hlinkClick action="ppaction://hlinksldjump" r:id="rId12"/>
          </p:cNvPr>
          <p:cNvSpPr txBox="1"/>
          <p:nvPr/>
        </p:nvSpPr>
        <p:spPr>
          <a:xfrm>
            <a:off x="565150" y="3111500"/>
            <a:ext cx="3619500" cy="171450"/>
          </a:xfrm>
          <a:prstGeom prst="rect">
            <a:avLst/>
          </a:prstGeom>
          <a:noFill/>
        </p:spPr>
        <p:txBody>
          <a:bodyPr wrap="none" lIns="0" rIns="0" tIns="0" bIns="0">
            <a:spAutoFit/>
          </a:bodyPr>
          <a:lstStyle/>
          <a:p>
            <a:r>
              <a:rPr sz="1050">
                <a:solidFill>
                  <a:srgbClr val="1F2937"/>
                </a:solidFill>
                <a:latin typeface="Calibri"/>
              </a:rPr>
              <a:t>11. Estado del arte: los ocho atributos</a:t>
            </a:r>
          </a:p>
        </p:txBody>
      </p:sp>
      <p:sp>
        <p:nvSpPr>
          <p:cNvPr id="15" name="TextBox 14">
            <a:hlinkClick action="ppaction://hlinksldjump" r:id="rId13"/>
          </p:cNvPr>
          <p:cNvSpPr txBox="1"/>
          <p:nvPr/>
        </p:nvSpPr>
        <p:spPr>
          <a:xfrm>
            <a:off x="565150" y="3302000"/>
            <a:ext cx="3619500" cy="171450"/>
          </a:xfrm>
          <a:prstGeom prst="rect">
            <a:avLst/>
          </a:prstGeom>
          <a:noFill/>
        </p:spPr>
        <p:txBody>
          <a:bodyPr wrap="none" lIns="0" rIns="0" tIns="0" bIns="0">
            <a:spAutoFit/>
          </a:bodyPr>
          <a:lstStyle/>
          <a:p>
            <a:r>
              <a:rPr sz="1050">
                <a:solidFill>
                  <a:srgbClr val="1F2937"/>
                </a:solidFill>
                <a:latin typeface="Calibri"/>
              </a:rPr>
              <a:t>12. Del diagnóstico a cinco requisitos</a:t>
            </a:r>
          </a:p>
        </p:txBody>
      </p:sp>
      <p:sp>
        <p:nvSpPr>
          <p:cNvPr id="16" name="TextBox 15">
            <a:hlinkClick action="ppaction://hlinksldjump" r:id="rId14"/>
          </p:cNvPr>
          <p:cNvSpPr txBox="1"/>
          <p:nvPr/>
        </p:nvSpPr>
        <p:spPr>
          <a:xfrm>
            <a:off x="565150" y="3492500"/>
            <a:ext cx="3619500" cy="171450"/>
          </a:xfrm>
          <a:prstGeom prst="rect">
            <a:avLst/>
          </a:prstGeom>
          <a:noFill/>
        </p:spPr>
        <p:txBody>
          <a:bodyPr wrap="none" lIns="0" rIns="0" tIns="0" bIns="0">
            <a:spAutoFit/>
          </a:bodyPr>
          <a:lstStyle/>
          <a:p>
            <a:r>
              <a:rPr sz="1050">
                <a:solidFill>
                  <a:srgbClr val="1F2937"/>
                </a:solidFill>
                <a:latin typeface="Calibri"/>
              </a:rPr>
              <a:t>13. Cuatro principios que orientan la exposición</a:t>
            </a:r>
          </a:p>
        </p:txBody>
      </p:sp>
      <p:sp>
        <p:nvSpPr>
          <p:cNvPr id="17" name="TextBox 16">
            <a:hlinkClick action="ppaction://hlinksldjump" r:id="rId15"/>
          </p:cNvPr>
          <p:cNvSpPr txBox="1"/>
          <p:nvPr/>
        </p:nvSpPr>
        <p:spPr>
          <a:xfrm>
            <a:off x="565150" y="3683000"/>
            <a:ext cx="3619500" cy="171450"/>
          </a:xfrm>
          <a:prstGeom prst="rect">
            <a:avLst/>
          </a:prstGeom>
          <a:noFill/>
        </p:spPr>
        <p:txBody>
          <a:bodyPr wrap="none" lIns="0" rIns="0" tIns="0" bIns="0">
            <a:spAutoFit/>
          </a:bodyPr>
          <a:lstStyle/>
          <a:p>
            <a:r>
              <a:rPr sz="1050">
                <a:solidFill>
                  <a:srgbClr val="1F2937"/>
                </a:solidFill>
                <a:latin typeface="Calibri"/>
              </a:rPr>
              <a:t>14. Del pórtico al continuo</a:t>
            </a:r>
          </a:p>
        </p:txBody>
      </p:sp>
      <p:sp>
        <p:nvSpPr>
          <p:cNvPr id="18" name="TextBox 17">
            <a:hlinkClick action="ppaction://hlinksldjump" r:id="rId16"/>
          </p:cNvPr>
          <p:cNvSpPr txBox="1"/>
          <p:nvPr/>
        </p:nvSpPr>
        <p:spPr>
          <a:xfrm>
            <a:off x="565150" y="3873500"/>
            <a:ext cx="3619500" cy="171450"/>
          </a:xfrm>
          <a:prstGeom prst="rect">
            <a:avLst/>
          </a:prstGeom>
          <a:noFill/>
        </p:spPr>
        <p:txBody>
          <a:bodyPr wrap="none" lIns="0" rIns="0" tIns="0" bIns="0">
            <a:spAutoFit/>
          </a:bodyPr>
          <a:lstStyle/>
          <a:p>
            <a:r>
              <a:rPr sz="1050">
                <a:solidFill>
                  <a:srgbClr val="1F2937"/>
                </a:solidFill>
                <a:latin typeface="Calibri"/>
              </a:rPr>
              <a:t>15. Tensión plana y deformación plana</a:t>
            </a:r>
          </a:p>
        </p:txBody>
      </p:sp>
      <p:sp>
        <p:nvSpPr>
          <p:cNvPr id="19" name="TextBox 18">
            <a:hlinkClick action="ppaction://hlinksldjump" r:id="rId17"/>
          </p:cNvPr>
          <p:cNvSpPr txBox="1"/>
          <p:nvPr/>
        </p:nvSpPr>
        <p:spPr>
          <a:xfrm>
            <a:off x="565150" y="4064000"/>
            <a:ext cx="3619500" cy="171450"/>
          </a:xfrm>
          <a:prstGeom prst="rect">
            <a:avLst/>
          </a:prstGeom>
          <a:noFill/>
        </p:spPr>
        <p:txBody>
          <a:bodyPr wrap="none" lIns="0" rIns="0" tIns="0" bIns="0">
            <a:spAutoFit/>
          </a:bodyPr>
          <a:lstStyle/>
          <a:p>
            <a:r>
              <a:rPr sz="1050">
                <a:solidFill>
                  <a:srgbClr val="1F2937"/>
                </a:solidFill>
                <a:latin typeface="Calibri"/>
              </a:rPr>
              <a:t>16. El procedimiento de cálculo: nueve etapas</a:t>
            </a:r>
          </a:p>
        </p:txBody>
      </p:sp>
      <p:sp>
        <p:nvSpPr>
          <p:cNvPr id="20" name="TextBox 19">
            <a:hlinkClick action="ppaction://hlinksldjump" r:id="rId18"/>
          </p:cNvPr>
          <p:cNvSpPr txBox="1"/>
          <p:nvPr/>
        </p:nvSpPr>
        <p:spPr>
          <a:xfrm>
            <a:off x="565150" y="4254500"/>
            <a:ext cx="3619500" cy="171450"/>
          </a:xfrm>
          <a:prstGeom prst="rect">
            <a:avLst/>
          </a:prstGeom>
          <a:noFill/>
        </p:spPr>
        <p:txBody>
          <a:bodyPr wrap="none" lIns="0" rIns="0" tIns="0" bIns="0">
            <a:spAutoFit/>
          </a:bodyPr>
          <a:lstStyle/>
          <a:p>
            <a:r>
              <a:rPr sz="1050">
                <a:solidFill>
                  <a:srgbClr val="1F2937"/>
                </a:solidFill>
                <a:latin typeface="Calibri"/>
              </a:rPr>
              <a:t>17. Elementos isoparamétricos Q4 y Q9</a:t>
            </a:r>
          </a:p>
        </p:txBody>
      </p:sp>
      <p:sp>
        <p:nvSpPr>
          <p:cNvPr id="21" name="TextBox 20">
            <a:hlinkClick action="ppaction://hlinksldjump" r:id="rId19"/>
          </p:cNvPr>
          <p:cNvSpPr txBox="1"/>
          <p:nvPr/>
        </p:nvSpPr>
        <p:spPr>
          <a:xfrm>
            <a:off x="565150" y="4445000"/>
            <a:ext cx="3619500" cy="171450"/>
          </a:xfrm>
          <a:prstGeom prst="rect">
            <a:avLst/>
          </a:prstGeom>
          <a:noFill/>
        </p:spPr>
        <p:txBody>
          <a:bodyPr wrap="none" lIns="0" rIns="0" tIns="0" bIns="0">
            <a:spAutoFit/>
          </a:bodyPr>
          <a:lstStyle/>
          <a:p>
            <a:r>
              <a:rPr sz="1050">
                <a:solidFill>
                  <a:srgbClr val="1F2937"/>
                </a:solidFill>
                <a:latin typeface="Calibri"/>
              </a:rPr>
              <a:t>18. Jacobiano y matriz B</a:t>
            </a:r>
          </a:p>
        </p:txBody>
      </p:sp>
      <p:sp>
        <p:nvSpPr>
          <p:cNvPr id="22" name="TextBox 21">
            <a:hlinkClick action="ppaction://hlinksldjump" r:id="rId20"/>
          </p:cNvPr>
          <p:cNvSpPr txBox="1"/>
          <p:nvPr/>
        </p:nvSpPr>
        <p:spPr>
          <a:xfrm>
            <a:off x="565150" y="4635500"/>
            <a:ext cx="3619500" cy="171450"/>
          </a:xfrm>
          <a:prstGeom prst="rect">
            <a:avLst/>
          </a:prstGeom>
          <a:noFill/>
        </p:spPr>
        <p:txBody>
          <a:bodyPr wrap="none" lIns="0" rIns="0" tIns="0" bIns="0">
            <a:spAutoFit/>
          </a:bodyPr>
          <a:lstStyle/>
          <a:p>
            <a:r>
              <a:rPr sz="1050">
                <a:solidFill>
                  <a:srgbClr val="1F2937"/>
                </a:solidFill>
                <a:latin typeface="Calibri"/>
              </a:rPr>
              <a:t>19. Rigidez por cuadratura de Gauss</a:t>
            </a:r>
          </a:p>
        </p:txBody>
      </p:sp>
      <p:sp>
        <p:nvSpPr>
          <p:cNvPr id="23" name="TextBox 22">
            <a:hlinkClick action="ppaction://hlinksldjump" r:id="rId21"/>
          </p:cNvPr>
          <p:cNvSpPr txBox="1"/>
          <p:nvPr/>
        </p:nvSpPr>
        <p:spPr>
          <a:xfrm>
            <a:off x="565150" y="4826000"/>
            <a:ext cx="3619500" cy="171450"/>
          </a:xfrm>
          <a:prstGeom prst="rect">
            <a:avLst/>
          </a:prstGeom>
          <a:noFill/>
        </p:spPr>
        <p:txBody>
          <a:bodyPr wrap="none" lIns="0" rIns="0" tIns="0" bIns="0">
            <a:spAutoFit/>
          </a:bodyPr>
          <a:lstStyle/>
          <a:p>
            <a:r>
              <a:rPr sz="1050">
                <a:solidFill>
                  <a:srgbClr val="1F2937"/>
                </a:solidFill>
                <a:latin typeface="Calibri"/>
              </a:rPr>
              <a:t>20. Bloqueo por cortante</a:t>
            </a:r>
          </a:p>
        </p:txBody>
      </p:sp>
      <p:sp>
        <p:nvSpPr>
          <p:cNvPr id="24" name="TextBox 23">
            <a:hlinkClick action="ppaction://hlinksldjump" r:id="rId22"/>
          </p:cNvPr>
          <p:cNvSpPr txBox="1"/>
          <p:nvPr/>
        </p:nvSpPr>
        <p:spPr>
          <a:xfrm>
            <a:off x="565150" y="5016500"/>
            <a:ext cx="3619500" cy="171450"/>
          </a:xfrm>
          <a:prstGeom prst="rect">
            <a:avLst/>
          </a:prstGeom>
          <a:noFill/>
        </p:spPr>
        <p:txBody>
          <a:bodyPr wrap="none" lIns="0" rIns="0" tIns="0" bIns="0">
            <a:spAutoFit/>
          </a:bodyPr>
          <a:lstStyle/>
          <a:p>
            <a:r>
              <a:rPr sz="1050">
                <a:solidFill>
                  <a:srgbClr val="1F2937"/>
                </a:solidFill>
                <a:latin typeface="Calibri"/>
              </a:rPr>
              <a:t>21. Recuperación de tensiones</a:t>
            </a:r>
          </a:p>
        </p:txBody>
      </p:sp>
      <p:sp>
        <p:nvSpPr>
          <p:cNvPr id="25" name="TextBox 24">
            <a:hlinkClick action="ppaction://hlinksldjump" r:id="rId23"/>
          </p:cNvPr>
          <p:cNvSpPr txBox="1"/>
          <p:nvPr/>
        </p:nvSpPr>
        <p:spPr>
          <a:xfrm>
            <a:off x="4311650" y="1206500"/>
            <a:ext cx="3619500" cy="171450"/>
          </a:xfrm>
          <a:prstGeom prst="rect">
            <a:avLst/>
          </a:prstGeom>
          <a:noFill/>
        </p:spPr>
        <p:txBody>
          <a:bodyPr wrap="none" lIns="0" rIns="0" tIns="0" bIns="0">
            <a:spAutoFit/>
          </a:bodyPr>
          <a:lstStyle/>
          <a:p>
            <a:r>
              <a:rPr sz="1050">
                <a:solidFill>
                  <a:srgbClr val="1F2937"/>
                </a:solidFill>
                <a:latin typeface="Calibri"/>
              </a:rPr>
              <a:t>22. Verificación y validación</a:t>
            </a:r>
          </a:p>
        </p:txBody>
      </p:sp>
      <p:sp>
        <p:nvSpPr>
          <p:cNvPr id="26" name="TextBox 25">
            <a:hlinkClick action="ppaction://hlinksldjump" r:id="rId24"/>
          </p:cNvPr>
          <p:cNvSpPr txBox="1"/>
          <p:nvPr/>
        </p:nvSpPr>
        <p:spPr>
          <a:xfrm>
            <a:off x="4311650" y="1397000"/>
            <a:ext cx="3619500" cy="171450"/>
          </a:xfrm>
          <a:prstGeom prst="rect">
            <a:avLst/>
          </a:prstGeom>
          <a:noFill/>
        </p:spPr>
        <p:txBody>
          <a:bodyPr wrap="none" lIns="0" rIns="0" tIns="0" bIns="0">
            <a:spAutoFit/>
          </a:bodyPr>
          <a:lstStyle/>
          <a:p>
            <a:r>
              <a:rPr sz="1050">
                <a:solidFill>
                  <a:srgbClr val="1F2937"/>
                </a:solidFill>
                <a:latin typeface="Calibri"/>
              </a:rPr>
              <a:t>23. Diseño y desarrollo del modelo</a:t>
            </a:r>
          </a:p>
        </p:txBody>
      </p:sp>
      <p:sp>
        <p:nvSpPr>
          <p:cNvPr id="27" name="TextBox 26">
            <a:hlinkClick action="ppaction://hlinksldjump" r:id="rId25"/>
          </p:cNvPr>
          <p:cNvSpPr txBox="1"/>
          <p:nvPr/>
        </p:nvSpPr>
        <p:spPr>
          <a:xfrm>
            <a:off x="4311650" y="1587500"/>
            <a:ext cx="3619500" cy="171450"/>
          </a:xfrm>
          <a:prstGeom prst="rect">
            <a:avLst/>
          </a:prstGeom>
          <a:noFill/>
        </p:spPr>
        <p:txBody>
          <a:bodyPr wrap="none" lIns="0" rIns="0" tIns="0" bIns="0">
            <a:spAutoFit/>
          </a:bodyPr>
          <a:lstStyle/>
          <a:p>
            <a:r>
              <a:rPr sz="1050">
                <a:solidFill>
                  <a:srgbClr val="1F2937"/>
                </a:solidFill>
                <a:latin typeface="Calibri"/>
              </a:rPr>
              <a:t>24. Modelo de investigación</a:t>
            </a:r>
          </a:p>
        </p:txBody>
      </p:sp>
      <p:sp>
        <p:nvSpPr>
          <p:cNvPr id="28" name="TextBox 27">
            <a:hlinkClick action="ppaction://hlinksldjump" r:id="rId26"/>
          </p:cNvPr>
          <p:cNvSpPr txBox="1"/>
          <p:nvPr/>
        </p:nvSpPr>
        <p:spPr>
          <a:xfrm>
            <a:off x="4311650" y="1778000"/>
            <a:ext cx="3619500" cy="171450"/>
          </a:xfrm>
          <a:prstGeom prst="rect">
            <a:avLst/>
          </a:prstGeom>
          <a:noFill/>
        </p:spPr>
        <p:txBody>
          <a:bodyPr wrap="none" lIns="0" rIns="0" tIns="0" bIns="0">
            <a:spAutoFit/>
          </a:bodyPr>
          <a:lstStyle/>
          <a:p>
            <a:r>
              <a:rPr sz="1050">
                <a:solidFill>
                  <a:srgbClr val="1F2937"/>
                </a:solidFill>
                <a:latin typeface="Calibri"/>
              </a:rPr>
              <a:t>25. Variables e indicadores</a:t>
            </a:r>
          </a:p>
        </p:txBody>
      </p:sp>
      <p:sp>
        <p:nvSpPr>
          <p:cNvPr id="29" name="TextBox 28">
            <a:hlinkClick action="ppaction://hlinksldjump" r:id="rId27"/>
          </p:cNvPr>
          <p:cNvSpPr txBox="1"/>
          <p:nvPr/>
        </p:nvSpPr>
        <p:spPr>
          <a:xfrm>
            <a:off x="4311650" y="1968500"/>
            <a:ext cx="3619500" cy="171450"/>
          </a:xfrm>
          <a:prstGeom prst="rect">
            <a:avLst/>
          </a:prstGeom>
          <a:noFill/>
        </p:spPr>
        <p:txBody>
          <a:bodyPr wrap="none" lIns="0" rIns="0" tIns="0" bIns="0">
            <a:spAutoFit/>
          </a:bodyPr>
          <a:lstStyle/>
          <a:p>
            <a:r>
              <a:rPr sz="1050">
                <a:solidFill>
                  <a:srgbClr val="1F2937"/>
                </a:solidFill>
                <a:latin typeface="Calibri"/>
              </a:rPr>
              <a:t>26. Matriz de consistencia</a:t>
            </a:r>
          </a:p>
        </p:txBody>
      </p:sp>
      <p:sp>
        <p:nvSpPr>
          <p:cNvPr id="30" name="TextBox 29">
            <a:hlinkClick action="ppaction://hlinksldjump" r:id="rId28"/>
          </p:cNvPr>
          <p:cNvSpPr txBox="1"/>
          <p:nvPr/>
        </p:nvSpPr>
        <p:spPr>
          <a:xfrm>
            <a:off x="4311650" y="2159000"/>
            <a:ext cx="3619500" cy="171450"/>
          </a:xfrm>
          <a:prstGeom prst="rect">
            <a:avLst/>
          </a:prstGeom>
          <a:noFill/>
        </p:spPr>
        <p:txBody>
          <a:bodyPr wrap="none" lIns="0" rIns="0" tIns="0" bIns="0">
            <a:spAutoFit/>
          </a:bodyPr>
          <a:lstStyle/>
          <a:p>
            <a:r>
              <a:rPr sz="1050">
                <a:solidFill>
                  <a:srgbClr val="1F2937"/>
                </a:solidFill>
                <a:latin typeface="Calibri"/>
              </a:rPr>
              <a:t>27. Casos de estudio</a:t>
            </a:r>
          </a:p>
        </p:txBody>
      </p:sp>
      <p:sp>
        <p:nvSpPr>
          <p:cNvPr id="31" name="TextBox 30">
            <a:hlinkClick action="ppaction://hlinksldjump" r:id="rId29"/>
          </p:cNvPr>
          <p:cNvSpPr txBox="1"/>
          <p:nvPr/>
        </p:nvSpPr>
        <p:spPr>
          <a:xfrm>
            <a:off x="4311650" y="2349500"/>
            <a:ext cx="3619500" cy="171450"/>
          </a:xfrm>
          <a:prstGeom prst="rect">
            <a:avLst/>
          </a:prstGeom>
          <a:noFill/>
        </p:spPr>
        <p:txBody>
          <a:bodyPr wrap="none" lIns="0" rIns="0" tIns="0" bIns="0">
            <a:spAutoFit/>
          </a:bodyPr>
          <a:lstStyle/>
          <a:p>
            <a:r>
              <a:rPr sz="1050">
                <a:solidFill>
                  <a:srgbClr val="1F2937"/>
                </a:solidFill>
                <a:latin typeface="Calibri"/>
              </a:rPr>
              <a:t>28. Criterios de aceptación fijados de antemano</a:t>
            </a:r>
          </a:p>
        </p:txBody>
      </p:sp>
      <p:sp>
        <p:nvSpPr>
          <p:cNvPr id="32" name="TextBox 31">
            <a:hlinkClick action="ppaction://hlinksldjump" r:id="rId30"/>
          </p:cNvPr>
          <p:cNvSpPr txBox="1"/>
          <p:nvPr/>
        </p:nvSpPr>
        <p:spPr>
          <a:xfrm>
            <a:off x="4311650" y="2540000"/>
            <a:ext cx="3619500" cy="171450"/>
          </a:xfrm>
          <a:prstGeom prst="rect">
            <a:avLst/>
          </a:prstGeom>
          <a:noFill/>
        </p:spPr>
        <p:txBody>
          <a:bodyPr wrap="none" lIns="0" rIns="0" tIns="0" bIns="0">
            <a:spAutoFit/>
          </a:bodyPr>
          <a:lstStyle/>
          <a:p>
            <a:r>
              <a:rPr sz="1050">
                <a:solidFill>
                  <a:srgbClr val="1F2937"/>
                </a:solidFill>
                <a:latin typeface="Calibri"/>
              </a:rPr>
              <a:t>29. Arquitectura y tecnologías</a:t>
            </a:r>
          </a:p>
        </p:txBody>
      </p:sp>
      <p:sp>
        <p:nvSpPr>
          <p:cNvPr id="33" name="TextBox 32">
            <a:hlinkClick action="ppaction://hlinksldjump" r:id="rId31"/>
          </p:cNvPr>
          <p:cNvSpPr txBox="1"/>
          <p:nvPr/>
        </p:nvSpPr>
        <p:spPr>
          <a:xfrm>
            <a:off x="4311650" y="2730500"/>
            <a:ext cx="3619500" cy="171450"/>
          </a:xfrm>
          <a:prstGeom prst="rect">
            <a:avLst/>
          </a:prstGeom>
          <a:noFill/>
        </p:spPr>
        <p:txBody>
          <a:bodyPr wrap="none" lIns="0" rIns="0" tIns="0" bIns="0">
            <a:spAutoFit/>
          </a:bodyPr>
          <a:lstStyle/>
          <a:p>
            <a:r>
              <a:rPr sz="1050">
                <a:solidFill>
                  <a:srgbClr val="1F2937"/>
                </a:solidFill>
                <a:latin typeface="Calibri"/>
              </a:rPr>
              <a:t>30. Motor de cálculo</a:t>
            </a:r>
          </a:p>
        </p:txBody>
      </p:sp>
      <p:sp>
        <p:nvSpPr>
          <p:cNvPr id="34" name="TextBox 33">
            <a:hlinkClick action="ppaction://hlinksldjump" r:id="rId32"/>
          </p:cNvPr>
          <p:cNvSpPr txBox="1"/>
          <p:nvPr/>
        </p:nvSpPr>
        <p:spPr>
          <a:xfrm>
            <a:off x="4311650" y="2921000"/>
            <a:ext cx="3619500" cy="171450"/>
          </a:xfrm>
          <a:prstGeom prst="rect">
            <a:avLst/>
          </a:prstGeom>
          <a:noFill/>
        </p:spPr>
        <p:txBody>
          <a:bodyPr wrap="none" lIns="0" rIns="0" tIns="0" bIns="0">
            <a:spAutoFit/>
          </a:bodyPr>
          <a:lstStyle/>
          <a:p>
            <a:r>
              <a:rPr sz="1050">
                <a:solidFill>
                  <a:srgbClr val="1F2937"/>
                </a:solidFill>
                <a:latin typeface="Calibri"/>
              </a:rPr>
              <a:t>31. Pre-proceso interactivo</a:t>
            </a:r>
          </a:p>
        </p:txBody>
      </p:sp>
      <p:sp>
        <p:nvSpPr>
          <p:cNvPr id="35" name="TextBox 34">
            <a:hlinkClick action="ppaction://hlinksldjump" r:id="rId33"/>
          </p:cNvPr>
          <p:cNvSpPr txBox="1"/>
          <p:nvPr/>
        </p:nvSpPr>
        <p:spPr>
          <a:xfrm>
            <a:off x="4311650" y="3111500"/>
            <a:ext cx="3619500" cy="171450"/>
          </a:xfrm>
          <a:prstGeom prst="rect">
            <a:avLst/>
          </a:prstGeom>
          <a:noFill/>
        </p:spPr>
        <p:txBody>
          <a:bodyPr wrap="none" lIns="0" rIns="0" tIns="0" bIns="0">
            <a:spAutoFit/>
          </a:bodyPr>
          <a:lstStyle/>
          <a:p>
            <a:r>
              <a:rPr sz="1050">
                <a:solidFill>
                  <a:srgbClr val="1F2937"/>
                </a:solidFill>
                <a:latin typeface="Calibri"/>
              </a:rPr>
              <a:t>32. Ocho módulos educativos</a:t>
            </a:r>
          </a:p>
        </p:txBody>
      </p:sp>
      <p:sp>
        <p:nvSpPr>
          <p:cNvPr id="36" name="TextBox 35">
            <a:hlinkClick action="ppaction://hlinksldjump" r:id="rId34"/>
          </p:cNvPr>
          <p:cNvSpPr txBox="1"/>
          <p:nvPr/>
        </p:nvSpPr>
        <p:spPr>
          <a:xfrm>
            <a:off x="4311650" y="3302000"/>
            <a:ext cx="3619500" cy="171450"/>
          </a:xfrm>
          <a:prstGeom prst="rect">
            <a:avLst/>
          </a:prstGeom>
          <a:noFill/>
        </p:spPr>
        <p:txBody>
          <a:bodyPr wrap="none" lIns="0" rIns="0" tIns="0" bIns="0">
            <a:spAutoFit/>
          </a:bodyPr>
          <a:lstStyle/>
          <a:p>
            <a:r>
              <a:rPr sz="1050">
                <a:solidFill>
                  <a:srgbClr val="1F2937"/>
                </a:solidFill>
                <a:latin typeface="Calibri"/>
              </a:rPr>
              <a:t>33. Ensamblaje con datos reales</a:t>
            </a:r>
          </a:p>
        </p:txBody>
      </p:sp>
      <p:sp>
        <p:nvSpPr>
          <p:cNvPr id="37" name="TextBox 36">
            <a:hlinkClick action="ppaction://hlinksldjump" r:id="rId35"/>
          </p:cNvPr>
          <p:cNvSpPr txBox="1"/>
          <p:nvPr/>
        </p:nvSpPr>
        <p:spPr>
          <a:xfrm>
            <a:off x="4311650" y="3492500"/>
            <a:ext cx="3619500" cy="171450"/>
          </a:xfrm>
          <a:prstGeom prst="rect">
            <a:avLst/>
          </a:prstGeom>
          <a:noFill/>
        </p:spPr>
        <p:txBody>
          <a:bodyPr wrap="none" lIns="0" rIns="0" tIns="0" bIns="0">
            <a:spAutoFit/>
          </a:bodyPr>
          <a:lstStyle/>
          <a:p>
            <a:r>
              <a:rPr sz="1050">
                <a:solidFill>
                  <a:srgbClr val="1F2937"/>
                </a:solidFill>
                <a:latin typeface="Calibri"/>
              </a:rPr>
              <a:t>34. Post-proceso</a:t>
            </a:r>
          </a:p>
        </p:txBody>
      </p:sp>
      <p:sp>
        <p:nvSpPr>
          <p:cNvPr id="38" name="TextBox 37">
            <a:hlinkClick action="ppaction://hlinksldjump" r:id="rId36"/>
          </p:cNvPr>
          <p:cNvSpPr txBox="1"/>
          <p:nvPr/>
        </p:nvSpPr>
        <p:spPr>
          <a:xfrm>
            <a:off x="4311650" y="3683000"/>
            <a:ext cx="3619500" cy="171450"/>
          </a:xfrm>
          <a:prstGeom prst="rect">
            <a:avLst/>
          </a:prstGeom>
          <a:noFill/>
        </p:spPr>
        <p:txBody>
          <a:bodyPr wrap="none" lIns="0" rIns="0" tIns="0" bIns="0">
            <a:spAutoFit/>
          </a:bodyPr>
          <a:lstStyle/>
          <a:p>
            <a:r>
              <a:rPr sz="1050">
                <a:solidFill>
                  <a:srgbClr val="1F2937"/>
                </a:solidFill>
                <a:latin typeface="Calibri"/>
              </a:rPr>
              <a:t>35. Memoria de cálculo</a:t>
            </a:r>
          </a:p>
        </p:txBody>
      </p:sp>
      <p:sp>
        <p:nvSpPr>
          <p:cNvPr id="39" name="TextBox 38">
            <a:hlinkClick action="ppaction://hlinksldjump" r:id="rId37"/>
          </p:cNvPr>
          <p:cNvSpPr txBox="1"/>
          <p:nvPr/>
        </p:nvSpPr>
        <p:spPr>
          <a:xfrm>
            <a:off x="4311650" y="3873500"/>
            <a:ext cx="3619500" cy="171450"/>
          </a:xfrm>
          <a:prstGeom prst="rect">
            <a:avLst/>
          </a:prstGeom>
          <a:noFill/>
        </p:spPr>
        <p:txBody>
          <a:bodyPr wrap="none" lIns="0" rIns="0" tIns="0" bIns="0">
            <a:spAutoFit/>
          </a:bodyPr>
          <a:lstStyle/>
          <a:p>
            <a:r>
              <a:rPr sz="1050">
                <a:solidFill>
                  <a:srgbClr val="1F2937"/>
                </a:solidFill>
                <a:latin typeface="Calibri"/>
              </a:rPr>
              <a:t>36. Trazabilidad en acción</a:t>
            </a:r>
          </a:p>
        </p:txBody>
      </p:sp>
      <p:sp>
        <p:nvSpPr>
          <p:cNvPr id="40" name="TextBox 39">
            <a:hlinkClick action="ppaction://hlinksldjump" r:id="rId38"/>
          </p:cNvPr>
          <p:cNvSpPr txBox="1"/>
          <p:nvPr/>
        </p:nvSpPr>
        <p:spPr>
          <a:xfrm>
            <a:off x="4311650" y="4064000"/>
            <a:ext cx="3619500" cy="171450"/>
          </a:xfrm>
          <a:prstGeom prst="rect">
            <a:avLst/>
          </a:prstGeom>
          <a:noFill/>
        </p:spPr>
        <p:txBody>
          <a:bodyPr wrap="none" lIns="0" rIns="0" tIns="0" bIns="0">
            <a:spAutoFit/>
          </a:bodyPr>
          <a:lstStyle/>
          <a:p>
            <a:r>
              <a:rPr sz="1050">
                <a:solidFill>
                  <a:srgbClr val="1F2937"/>
                </a:solidFill>
                <a:latin typeface="Calibri"/>
              </a:rPr>
              <a:t>37. Demostración en vivo</a:t>
            </a:r>
          </a:p>
        </p:txBody>
      </p:sp>
      <p:sp>
        <p:nvSpPr>
          <p:cNvPr id="41" name="TextBox 40">
            <a:hlinkClick action="ppaction://hlinksldjump" r:id="rId39"/>
          </p:cNvPr>
          <p:cNvSpPr txBox="1"/>
          <p:nvPr/>
        </p:nvSpPr>
        <p:spPr>
          <a:xfrm>
            <a:off x="4311650" y="4254500"/>
            <a:ext cx="3619500" cy="171450"/>
          </a:xfrm>
          <a:prstGeom prst="rect">
            <a:avLst/>
          </a:prstGeom>
          <a:noFill/>
        </p:spPr>
        <p:txBody>
          <a:bodyPr wrap="none" lIns="0" rIns="0" tIns="0" bIns="0">
            <a:spAutoFit/>
          </a:bodyPr>
          <a:lstStyle/>
          <a:p>
            <a:r>
              <a:rPr sz="1050">
                <a:solidFill>
                  <a:srgbClr val="1F2937"/>
                </a:solidFill>
                <a:latin typeface="Calibri"/>
              </a:rPr>
              <a:t>38. Presentación de resultados</a:t>
            </a:r>
          </a:p>
        </p:txBody>
      </p:sp>
      <p:sp>
        <p:nvSpPr>
          <p:cNvPr id="42" name="TextBox 41">
            <a:hlinkClick action="ppaction://hlinksldjump" r:id="rId40"/>
          </p:cNvPr>
          <p:cNvSpPr txBox="1"/>
          <p:nvPr/>
        </p:nvSpPr>
        <p:spPr>
          <a:xfrm>
            <a:off x="4311650" y="4445000"/>
            <a:ext cx="3619500" cy="171450"/>
          </a:xfrm>
          <a:prstGeom prst="rect">
            <a:avLst/>
          </a:prstGeom>
          <a:noFill/>
        </p:spPr>
        <p:txBody>
          <a:bodyPr wrap="none" lIns="0" rIns="0" tIns="0" bIns="0">
            <a:spAutoFit/>
          </a:bodyPr>
          <a:lstStyle/>
          <a:p>
            <a:r>
              <a:rPr sz="1050">
                <a:solidFill>
                  <a:srgbClr val="1F2937"/>
                </a:solidFill>
                <a:latin typeface="Calibri"/>
              </a:rPr>
              <a:t>39. Verificación por soluciones manufacturadas</a:t>
            </a:r>
          </a:p>
        </p:txBody>
      </p:sp>
      <p:sp>
        <p:nvSpPr>
          <p:cNvPr id="43" name="TextBox 42">
            <a:hlinkClick action="ppaction://hlinksldjump" r:id="rId41"/>
          </p:cNvPr>
          <p:cNvSpPr txBox="1"/>
          <p:nvPr/>
        </p:nvSpPr>
        <p:spPr>
          <a:xfrm>
            <a:off x="4311650" y="4635500"/>
            <a:ext cx="3619500" cy="171450"/>
          </a:xfrm>
          <a:prstGeom prst="rect">
            <a:avLst/>
          </a:prstGeom>
          <a:noFill/>
        </p:spPr>
        <p:txBody>
          <a:bodyPr wrap="none" lIns="0" rIns="0" tIns="0" bIns="0">
            <a:spAutoFit/>
          </a:bodyPr>
          <a:lstStyle/>
          <a:p>
            <a:r>
              <a:rPr sz="1050">
                <a:solidFill>
                  <a:srgbClr val="1F2937"/>
                </a:solidFill>
                <a:latin typeface="Calibri"/>
              </a:rPr>
              <a:t>40. Consistencia interna del modelo de datos</a:t>
            </a:r>
          </a:p>
        </p:txBody>
      </p:sp>
      <p:sp>
        <p:nvSpPr>
          <p:cNvPr id="44" name="TextBox 43">
            <a:hlinkClick action="ppaction://hlinksldjump" r:id="rId42"/>
          </p:cNvPr>
          <p:cNvSpPr txBox="1"/>
          <p:nvPr/>
        </p:nvSpPr>
        <p:spPr>
          <a:xfrm>
            <a:off x="4311650" y="4826000"/>
            <a:ext cx="3619500" cy="171450"/>
          </a:xfrm>
          <a:prstGeom prst="rect">
            <a:avLst/>
          </a:prstGeom>
          <a:noFill/>
        </p:spPr>
        <p:txBody>
          <a:bodyPr wrap="none" lIns="0" rIns="0" tIns="0" bIns="0">
            <a:spAutoFit/>
          </a:bodyPr>
          <a:lstStyle/>
          <a:p>
            <a:r>
              <a:rPr sz="1050">
                <a:solidFill>
                  <a:srgbClr val="1F2937"/>
                </a:solidFill>
                <a:latin typeface="Calibri"/>
              </a:rPr>
              <a:t>41. Validación con la viga de Timoshenko</a:t>
            </a:r>
          </a:p>
        </p:txBody>
      </p:sp>
      <p:sp>
        <p:nvSpPr>
          <p:cNvPr id="45" name="TextBox 44">
            <a:hlinkClick action="ppaction://hlinksldjump" r:id="rId43"/>
          </p:cNvPr>
          <p:cNvSpPr txBox="1"/>
          <p:nvPr/>
        </p:nvSpPr>
        <p:spPr>
          <a:xfrm>
            <a:off x="4311650" y="5016500"/>
            <a:ext cx="3619500" cy="171450"/>
          </a:xfrm>
          <a:prstGeom prst="rect">
            <a:avLst/>
          </a:prstGeom>
          <a:noFill/>
        </p:spPr>
        <p:txBody>
          <a:bodyPr wrap="none" lIns="0" rIns="0" tIns="0" bIns="0">
            <a:spAutoFit/>
          </a:bodyPr>
          <a:lstStyle/>
          <a:p>
            <a:r>
              <a:rPr sz="1050">
                <a:solidFill>
                  <a:srgbClr val="1F2937"/>
                </a:solidFill>
                <a:latin typeface="Calibri"/>
              </a:rPr>
              <a:t>42. Validación con la membrana de Cook</a:t>
            </a:r>
          </a:p>
        </p:txBody>
      </p:sp>
      <p:sp>
        <p:nvSpPr>
          <p:cNvPr id="46" name="TextBox 45">
            <a:hlinkClick action="ppaction://hlinksldjump" r:id="rId44"/>
          </p:cNvPr>
          <p:cNvSpPr txBox="1"/>
          <p:nvPr/>
        </p:nvSpPr>
        <p:spPr>
          <a:xfrm>
            <a:off x="8058150" y="1206500"/>
            <a:ext cx="3619500" cy="171450"/>
          </a:xfrm>
          <a:prstGeom prst="rect">
            <a:avLst/>
          </a:prstGeom>
          <a:noFill/>
        </p:spPr>
        <p:txBody>
          <a:bodyPr wrap="none" lIns="0" rIns="0" tIns="0" bIns="0">
            <a:spAutoFit/>
          </a:bodyPr>
          <a:lstStyle/>
          <a:p>
            <a:r>
              <a:rPr sz="1050">
                <a:solidFill>
                  <a:srgbClr val="1F2937"/>
                </a:solidFill>
                <a:latin typeface="Calibri"/>
              </a:rPr>
              <a:t>43. Cobertura del procedimiento</a:t>
            </a:r>
          </a:p>
        </p:txBody>
      </p:sp>
      <p:sp>
        <p:nvSpPr>
          <p:cNvPr id="47" name="TextBox 46">
            <a:hlinkClick action="ppaction://hlinksldjump" r:id="rId45"/>
          </p:cNvPr>
          <p:cNvSpPr txBox="1"/>
          <p:nvPr/>
        </p:nvSpPr>
        <p:spPr>
          <a:xfrm>
            <a:off x="8058150" y="1397000"/>
            <a:ext cx="3619500" cy="171450"/>
          </a:xfrm>
          <a:prstGeom prst="rect">
            <a:avLst/>
          </a:prstGeom>
          <a:noFill/>
        </p:spPr>
        <p:txBody>
          <a:bodyPr wrap="none" lIns="0" rIns="0" tIns="0" bIns="0">
            <a:spAutoFit/>
          </a:bodyPr>
          <a:lstStyle/>
          <a:p>
            <a:r>
              <a:rPr sz="1050">
                <a:solidFill>
                  <a:srgbClr val="1F2937"/>
                </a:solidFill>
                <a:latin typeface="Calibri"/>
              </a:rPr>
              <a:t>44. Cobertura de contenido: 18 de 18</a:t>
            </a:r>
          </a:p>
        </p:txBody>
      </p:sp>
      <p:sp>
        <p:nvSpPr>
          <p:cNvPr id="48" name="TextBox 47">
            <a:hlinkClick action="ppaction://hlinksldjump" r:id="rId46"/>
          </p:cNvPr>
          <p:cNvSpPr txBox="1"/>
          <p:nvPr/>
        </p:nvSpPr>
        <p:spPr>
          <a:xfrm>
            <a:off x="8058150" y="1587500"/>
            <a:ext cx="3619500" cy="171450"/>
          </a:xfrm>
          <a:prstGeom prst="rect">
            <a:avLst/>
          </a:prstGeom>
          <a:noFill/>
        </p:spPr>
        <p:txBody>
          <a:bodyPr wrap="none" lIns="0" rIns="0" tIns="0" bIns="0">
            <a:spAutoFit/>
          </a:bodyPr>
          <a:lstStyle/>
          <a:p>
            <a:r>
              <a:rPr sz="1050">
                <a:solidFill>
                  <a:srgbClr val="1F2937"/>
                </a:solidFill>
                <a:latin typeface="Calibri"/>
              </a:rPr>
              <a:t>45. Análisis de resultados</a:t>
            </a:r>
          </a:p>
        </p:txBody>
      </p:sp>
      <p:sp>
        <p:nvSpPr>
          <p:cNvPr id="49" name="TextBox 48">
            <a:hlinkClick action="ppaction://hlinksldjump" r:id="rId47"/>
          </p:cNvPr>
          <p:cNvSpPr txBox="1"/>
          <p:nvPr/>
        </p:nvSpPr>
        <p:spPr>
          <a:xfrm>
            <a:off x="8058150" y="1778000"/>
            <a:ext cx="3619500" cy="171450"/>
          </a:xfrm>
          <a:prstGeom prst="rect">
            <a:avLst/>
          </a:prstGeom>
          <a:noFill/>
        </p:spPr>
        <p:txBody>
          <a:bodyPr wrap="none" lIns="0" rIns="0" tIns="0" bIns="0">
            <a:spAutoFit/>
          </a:bodyPr>
          <a:lstStyle/>
          <a:p>
            <a:r>
              <a:rPr sz="1050">
                <a:solidFill>
                  <a:srgbClr val="1F2937"/>
                </a:solidFill>
                <a:latin typeface="Calibri"/>
              </a:rPr>
              <a:t>46. Q4 frente a Q9</a:t>
            </a:r>
          </a:p>
        </p:txBody>
      </p:sp>
      <p:sp>
        <p:nvSpPr>
          <p:cNvPr id="50" name="TextBox 49">
            <a:hlinkClick action="ppaction://hlinksldjump" r:id="rId48"/>
          </p:cNvPr>
          <p:cNvSpPr txBox="1"/>
          <p:nvPr/>
        </p:nvSpPr>
        <p:spPr>
          <a:xfrm>
            <a:off x="8058150" y="1968500"/>
            <a:ext cx="3619500" cy="171450"/>
          </a:xfrm>
          <a:prstGeom prst="rect">
            <a:avLst/>
          </a:prstGeom>
          <a:noFill/>
        </p:spPr>
        <p:txBody>
          <a:bodyPr wrap="none" lIns="0" rIns="0" tIns="0" bIns="0">
            <a:spAutoFit/>
          </a:bodyPr>
          <a:lstStyle/>
          <a:p>
            <a:r>
              <a:rPr sz="1050">
                <a:solidFill>
                  <a:srgbClr val="1F2937"/>
                </a:solidFill>
                <a:latin typeface="Calibri"/>
              </a:rPr>
              <a:t>47. Una lección sobre el límite de la batería</a:t>
            </a:r>
          </a:p>
        </p:txBody>
      </p:sp>
      <p:sp>
        <p:nvSpPr>
          <p:cNvPr id="51" name="TextBox 50">
            <a:hlinkClick action="ppaction://hlinksldjump" r:id="rId49"/>
          </p:cNvPr>
          <p:cNvSpPr txBox="1"/>
          <p:nvPr/>
        </p:nvSpPr>
        <p:spPr>
          <a:xfrm>
            <a:off x="8058150" y="2159000"/>
            <a:ext cx="3619500" cy="171450"/>
          </a:xfrm>
          <a:prstGeom prst="rect">
            <a:avLst/>
          </a:prstGeom>
          <a:noFill/>
        </p:spPr>
        <p:txBody>
          <a:bodyPr wrap="none" lIns="0" rIns="0" tIns="0" bIns="0">
            <a:spAutoFit/>
          </a:bodyPr>
          <a:lstStyle/>
          <a:p>
            <a:r>
              <a:rPr sz="1050">
                <a:solidFill>
                  <a:srgbClr val="1F2937"/>
                </a:solidFill>
                <a:latin typeface="Calibri"/>
              </a:rPr>
              <a:t>48. Escalabilidad del motor</a:t>
            </a:r>
          </a:p>
        </p:txBody>
      </p:sp>
      <p:sp>
        <p:nvSpPr>
          <p:cNvPr id="52" name="TextBox 51">
            <a:hlinkClick action="ppaction://hlinksldjump" r:id="rId50"/>
          </p:cNvPr>
          <p:cNvSpPr txBox="1"/>
          <p:nvPr/>
        </p:nvSpPr>
        <p:spPr>
          <a:xfrm>
            <a:off x="8058150" y="2349500"/>
            <a:ext cx="3619500" cy="171450"/>
          </a:xfrm>
          <a:prstGeom prst="rect">
            <a:avLst/>
          </a:prstGeom>
          <a:noFill/>
        </p:spPr>
        <p:txBody>
          <a:bodyPr wrap="none" lIns="0" rIns="0" tIns="0" bIns="0">
            <a:spAutoFit/>
          </a:bodyPr>
          <a:lstStyle/>
          <a:p>
            <a:r>
              <a:rPr sz="1050">
                <a:solidFill>
                  <a:srgbClr val="1F2937"/>
                </a:solidFill>
                <a:latin typeface="Calibri"/>
              </a:rPr>
              <a:t>49. Qué dicen los resultados y qué no</a:t>
            </a:r>
          </a:p>
        </p:txBody>
      </p:sp>
      <p:sp>
        <p:nvSpPr>
          <p:cNvPr id="53" name="TextBox 52">
            <a:hlinkClick action="ppaction://hlinksldjump" r:id="rId51"/>
          </p:cNvPr>
          <p:cNvSpPr txBox="1"/>
          <p:nvPr/>
        </p:nvSpPr>
        <p:spPr>
          <a:xfrm>
            <a:off x="8058150" y="2540000"/>
            <a:ext cx="3619500" cy="171450"/>
          </a:xfrm>
          <a:prstGeom prst="rect">
            <a:avLst/>
          </a:prstGeom>
          <a:noFill/>
        </p:spPr>
        <p:txBody>
          <a:bodyPr wrap="none" lIns="0" rIns="0" tIns="0" bIns="0">
            <a:spAutoFit/>
          </a:bodyPr>
          <a:lstStyle/>
          <a:p>
            <a:r>
              <a:rPr sz="1050">
                <a:solidFill>
                  <a:srgbClr val="1F2937"/>
                </a:solidFill>
                <a:latin typeface="Calibri"/>
              </a:rPr>
              <a:t>50. Contraste de la hipótesis</a:t>
            </a:r>
          </a:p>
        </p:txBody>
      </p:sp>
      <p:sp>
        <p:nvSpPr>
          <p:cNvPr id="54" name="TextBox 53">
            <a:hlinkClick action="ppaction://hlinksldjump" r:id="rId52"/>
          </p:cNvPr>
          <p:cNvSpPr txBox="1"/>
          <p:nvPr/>
        </p:nvSpPr>
        <p:spPr>
          <a:xfrm>
            <a:off x="8058150" y="2730500"/>
            <a:ext cx="3619500" cy="171450"/>
          </a:xfrm>
          <a:prstGeom prst="rect">
            <a:avLst/>
          </a:prstGeom>
          <a:noFill/>
        </p:spPr>
        <p:txBody>
          <a:bodyPr wrap="none" lIns="0" rIns="0" tIns="0" bIns="0">
            <a:spAutoFit/>
          </a:bodyPr>
          <a:lstStyle/>
          <a:p>
            <a:r>
              <a:rPr sz="1050">
                <a:solidFill>
                  <a:srgbClr val="1F2937"/>
                </a:solidFill>
                <a:latin typeface="Calibri"/>
              </a:rPr>
              <a:t>51. Conclusiones y recomendaciones</a:t>
            </a:r>
          </a:p>
        </p:txBody>
      </p:sp>
      <p:sp>
        <p:nvSpPr>
          <p:cNvPr id="55" name="TextBox 54">
            <a:hlinkClick action="ppaction://hlinksldjump" r:id="rId53"/>
          </p:cNvPr>
          <p:cNvSpPr txBox="1"/>
          <p:nvPr/>
        </p:nvSpPr>
        <p:spPr>
          <a:xfrm>
            <a:off x="8058150" y="2921000"/>
            <a:ext cx="3619500" cy="171450"/>
          </a:xfrm>
          <a:prstGeom prst="rect">
            <a:avLst/>
          </a:prstGeom>
          <a:noFill/>
        </p:spPr>
        <p:txBody>
          <a:bodyPr wrap="none" lIns="0" rIns="0" tIns="0" bIns="0">
            <a:spAutoFit/>
          </a:bodyPr>
          <a:lstStyle/>
          <a:p>
            <a:r>
              <a:rPr sz="1050">
                <a:solidFill>
                  <a:srgbClr val="1F2937"/>
                </a:solidFill>
                <a:latin typeface="Calibri"/>
              </a:rPr>
              <a:t>52. Cinco objetivos, cinco conclusiones</a:t>
            </a:r>
          </a:p>
        </p:txBody>
      </p:sp>
      <p:sp>
        <p:nvSpPr>
          <p:cNvPr id="56" name="TextBox 55">
            <a:hlinkClick action="ppaction://hlinksldjump" r:id="rId54"/>
          </p:cNvPr>
          <p:cNvSpPr txBox="1"/>
          <p:nvPr/>
        </p:nvSpPr>
        <p:spPr>
          <a:xfrm>
            <a:off x="8058150" y="3111500"/>
            <a:ext cx="3619500" cy="171450"/>
          </a:xfrm>
          <a:prstGeom prst="rect">
            <a:avLst/>
          </a:prstGeom>
          <a:noFill/>
        </p:spPr>
        <p:txBody>
          <a:bodyPr wrap="none" lIns="0" rIns="0" tIns="0" bIns="0">
            <a:spAutoFit/>
          </a:bodyPr>
          <a:lstStyle/>
          <a:p>
            <a:r>
              <a:rPr sz="1050">
                <a:solidFill>
                  <a:srgbClr val="1F2937"/>
                </a:solidFill>
                <a:latin typeface="Calibri"/>
              </a:rPr>
              <a:t>53. La respuesta al problema</a:t>
            </a:r>
          </a:p>
        </p:txBody>
      </p:sp>
      <p:sp>
        <p:nvSpPr>
          <p:cNvPr id="57" name="TextBox 56">
            <a:hlinkClick action="ppaction://hlinksldjump" r:id="rId55"/>
          </p:cNvPr>
          <p:cNvSpPr txBox="1"/>
          <p:nvPr/>
        </p:nvSpPr>
        <p:spPr>
          <a:xfrm>
            <a:off x="8058150" y="3302000"/>
            <a:ext cx="3619500" cy="171450"/>
          </a:xfrm>
          <a:prstGeom prst="rect">
            <a:avLst/>
          </a:prstGeom>
          <a:noFill/>
        </p:spPr>
        <p:txBody>
          <a:bodyPr wrap="none" lIns="0" rIns="0" tIns="0" bIns="0">
            <a:spAutoFit/>
          </a:bodyPr>
          <a:lstStyle/>
          <a:p>
            <a:r>
              <a:rPr sz="1050">
                <a:solidFill>
                  <a:srgbClr val="1F2937"/>
                </a:solidFill>
                <a:latin typeface="Calibri"/>
              </a:rPr>
              <a:t>54. Tres aportes</a:t>
            </a:r>
          </a:p>
        </p:txBody>
      </p:sp>
      <p:sp>
        <p:nvSpPr>
          <p:cNvPr id="58" name="TextBox 57">
            <a:hlinkClick action="ppaction://hlinksldjump" r:id="rId56"/>
          </p:cNvPr>
          <p:cNvSpPr txBox="1"/>
          <p:nvPr/>
        </p:nvSpPr>
        <p:spPr>
          <a:xfrm>
            <a:off x="8058150" y="3492500"/>
            <a:ext cx="3619500" cy="171450"/>
          </a:xfrm>
          <a:prstGeom prst="rect">
            <a:avLst/>
          </a:prstGeom>
          <a:noFill/>
        </p:spPr>
        <p:txBody>
          <a:bodyPr wrap="none" lIns="0" rIns="0" tIns="0" bIns="0">
            <a:spAutoFit/>
          </a:bodyPr>
          <a:lstStyle/>
          <a:p>
            <a:r>
              <a:rPr sz="1050">
                <a:solidFill>
                  <a:srgbClr val="1F2937"/>
                </a:solidFill>
                <a:latin typeface="Calibri"/>
              </a:rPr>
              <a:t>55. Limitaciones</a:t>
            </a:r>
          </a:p>
        </p:txBody>
      </p:sp>
      <p:sp>
        <p:nvSpPr>
          <p:cNvPr id="59" name="TextBox 58">
            <a:hlinkClick action="ppaction://hlinksldjump" r:id="rId57"/>
          </p:cNvPr>
          <p:cNvSpPr txBox="1"/>
          <p:nvPr/>
        </p:nvSpPr>
        <p:spPr>
          <a:xfrm>
            <a:off x="8058150" y="3683000"/>
            <a:ext cx="3619500" cy="171450"/>
          </a:xfrm>
          <a:prstGeom prst="rect">
            <a:avLst/>
          </a:prstGeom>
          <a:noFill/>
        </p:spPr>
        <p:txBody>
          <a:bodyPr wrap="none" lIns="0" rIns="0" tIns="0" bIns="0">
            <a:spAutoFit/>
          </a:bodyPr>
          <a:lstStyle/>
          <a:p>
            <a:r>
              <a:rPr sz="1050">
                <a:solidFill>
                  <a:srgbClr val="1F2937"/>
                </a:solidFill>
                <a:latin typeface="Calibri"/>
              </a:rPr>
              <a:t>56. Recomendaciones y trabajo futuro</a:t>
            </a:r>
          </a:p>
        </p:txBody>
      </p:sp>
      <p:sp>
        <p:nvSpPr>
          <p:cNvPr id="60" name="TextBox 59">
            <a:hlinkClick action="ppaction://hlinksldjump" r:id="rId58"/>
          </p:cNvPr>
          <p:cNvSpPr txBox="1"/>
          <p:nvPr/>
        </p:nvSpPr>
        <p:spPr>
          <a:xfrm>
            <a:off x="8058150" y="3873500"/>
            <a:ext cx="3619500" cy="171450"/>
          </a:xfrm>
          <a:prstGeom prst="rect">
            <a:avLst/>
          </a:prstGeom>
          <a:noFill/>
        </p:spPr>
        <p:txBody>
          <a:bodyPr wrap="none" lIns="0" rIns="0" tIns="0" bIns="0">
            <a:spAutoFit/>
          </a:bodyPr>
          <a:lstStyle/>
          <a:p>
            <a:r>
              <a:rPr sz="1050">
                <a:solidFill>
                  <a:srgbClr val="1F2937"/>
                </a:solidFill>
                <a:latin typeface="Calibri"/>
              </a:rPr>
              <a:t>57. Gracias</a:t>
            </a:r>
          </a:p>
        </p:txBody>
      </p:sp>
      <p:sp>
        <p:nvSpPr>
          <p:cNvPr id="61" name="TextBox 60">
            <a:hlinkClick action="ppaction://hlinksldjump" r:id="rId59"/>
          </p:cNvPr>
          <p:cNvSpPr txBox="1"/>
          <p:nvPr/>
        </p:nvSpPr>
        <p:spPr>
          <a:xfrm>
            <a:off x="8058150" y="4064000"/>
            <a:ext cx="3619500" cy="171450"/>
          </a:xfrm>
          <a:prstGeom prst="rect">
            <a:avLst/>
          </a:prstGeom>
          <a:noFill/>
        </p:spPr>
        <p:txBody>
          <a:bodyPr wrap="none" lIns="0" rIns="0" tIns="0" bIns="0">
            <a:spAutoFit/>
          </a:bodyPr>
          <a:lstStyle/>
          <a:p>
            <a:r>
              <a:rPr sz="1050">
                <a:solidFill>
                  <a:srgbClr val="1F77B4"/>
                </a:solidFill>
                <a:latin typeface="Calibri"/>
              </a:rPr>
              <a:t>R. ¿Dónde está el cálculo manual?</a:t>
            </a:r>
          </a:p>
        </p:txBody>
      </p:sp>
      <p:sp>
        <p:nvSpPr>
          <p:cNvPr id="62" name="TextBox 61">
            <a:hlinkClick action="ppaction://hlinksldjump" r:id="rId60"/>
          </p:cNvPr>
          <p:cNvSpPr txBox="1"/>
          <p:nvPr/>
        </p:nvSpPr>
        <p:spPr>
          <a:xfrm>
            <a:off x="8058150" y="4254500"/>
            <a:ext cx="3619500" cy="171450"/>
          </a:xfrm>
          <a:prstGeom prst="rect">
            <a:avLst/>
          </a:prstGeom>
          <a:noFill/>
        </p:spPr>
        <p:txBody>
          <a:bodyPr wrap="none" lIns="0" rIns="0" tIns="0" bIns="0">
            <a:spAutoFit/>
          </a:bodyPr>
          <a:lstStyle/>
          <a:p>
            <a:r>
              <a:rPr sz="1050">
                <a:solidFill>
                  <a:srgbClr val="1F77B4"/>
                </a:solidFill>
                <a:latin typeface="Calibri"/>
              </a:rPr>
              <a:t>R. Viga: apoyos, carga y equilibrio</a:t>
            </a:r>
          </a:p>
        </p:txBody>
      </p:sp>
      <p:sp>
        <p:nvSpPr>
          <p:cNvPr id="63" name="TextBox 62">
            <a:hlinkClick action="ppaction://hlinksldjump" r:id="rId61"/>
          </p:cNvPr>
          <p:cNvSpPr txBox="1"/>
          <p:nvPr/>
        </p:nvSpPr>
        <p:spPr>
          <a:xfrm>
            <a:off x="8058150" y="4445000"/>
            <a:ext cx="3619500" cy="171450"/>
          </a:xfrm>
          <a:prstGeom prst="rect">
            <a:avLst/>
          </a:prstGeom>
          <a:noFill/>
        </p:spPr>
        <p:txBody>
          <a:bodyPr wrap="none" lIns="0" rIns="0" tIns="0" bIns="0">
            <a:spAutoFit/>
          </a:bodyPr>
          <a:lstStyle/>
          <a:p>
            <a:r>
              <a:rPr sz="1050">
                <a:solidFill>
                  <a:srgbClr val="1F77B4"/>
                </a:solidFill>
                <a:latin typeface="Calibri"/>
              </a:rPr>
              <a:t>R. ¿De dónde salen los umbrales?</a:t>
            </a:r>
          </a:p>
        </p:txBody>
      </p:sp>
      <p:sp>
        <p:nvSpPr>
          <p:cNvPr id="64" name="TextBox 63">
            <a:hlinkClick action="ppaction://hlinksldjump" r:id="rId62"/>
          </p:cNvPr>
          <p:cNvSpPr txBox="1"/>
          <p:nvPr/>
        </p:nvSpPr>
        <p:spPr>
          <a:xfrm>
            <a:off x="8058150" y="4635500"/>
            <a:ext cx="3619500" cy="171450"/>
          </a:xfrm>
          <a:prstGeom prst="rect">
            <a:avLst/>
          </a:prstGeom>
          <a:noFill/>
        </p:spPr>
        <p:txBody>
          <a:bodyPr wrap="none" lIns="0" rIns="0" tIns="0" bIns="0">
            <a:spAutoFit/>
          </a:bodyPr>
          <a:lstStyle/>
          <a:p>
            <a:r>
              <a:rPr sz="1050">
                <a:solidFill>
                  <a:srgbClr val="1F77B4"/>
                </a:solidFill>
                <a:latin typeface="Calibri"/>
              </a:rPr>
              <a:t>R. ¿Educativo sin medir estudiantes?</a:t>
            </a:r>
          </a:p>
        </p:txBody>
      </p:sp>
      <p:sp>
        <p:nvSpPr>
          <p:cNvPr id="65" name="TextBox 64">
            <a:hlinkClick action="ppaction://hlinksldjump" r:id="rId63"/>
          </p:cNvPr>
          <p:cNvSpPr txBox="1"/>
          <p:nvPr/>
        </p:nvSpPr>
        <p:spPr>
          <a:xfrm>
            <a:off x="8058150" y="4826000"/>
            <a:ext cx="3619500" cy="171450"/>
          </a:xfrm>
          <a:prstGeom prst="rect">
            <a:avLst/>
          </a:prstGeom>
          <a:noFill/>
        </p:spPr>
        <p:txBody>
          <a:bodyPr wrap="none" lIns="0" rIns="0" tIns="0" bIns="0">
            <a:spAutoFit/>
          </a:bodyPr>
          <a:lstStyle/>
          <a:p>
            <a:r>
              <a:rPr sz="1050">
                <a:solidFill>
                  <a:srgbClr val="1F77B4"/>
                </a:solidFill>
                <a:latin typeface="Calibri"/>
              </a:rPr>
              <a:t>R. Licencia del software</a:t>
            </a:r>
          </a:p>
        </p:txBody>
      </p:sp>
      <p:sp>
        <p:nvSpPr>
          <p:cNvPr id="66" name="TextBox 65">
            <a:hlinkClick action="ppaction://hlinksldjump" r:id="rId64"/>
          </p:cNvPr>
          <p:cNvSpPr txBox="1"/>
          <p:nvPr/>
        </p:nvSpPr>
        <p:spPr>
          <a:xfrm>
            <a:off x="8058150" y="5016500"/>
            <a:ext cx="3619500" cy="171450"/>
          </a:xfrm>
          <a:prstGeom prst="rect">
            <a:avLst/>
          </a:prstGeom>
          <a:noFill/>
        </p:spPr>
        <p:txBody>
          <a:bodyPr wrap="none" lIns="0" rIns="0" tIns="0" bIns="0">
            <a:spAutoFit/>
          </a:bodyPr>
          <a:lstStyle/>
          <a:p>
            <a:r>
              <a:rPr sz="1050">
                <a:solidFill>
                  <a:srgbClr val="1F77B4"/>
                </a:solidFill>
                <a:latin typeface="Calibri"/>
              </a:rPr>
              <a:t>R. ¿Y la deformación plana?</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