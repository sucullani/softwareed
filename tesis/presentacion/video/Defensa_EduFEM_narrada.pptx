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4704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Buenos días, señores miembros del tribunal. Presento la tesis «Desarrollo de software educativo de elementos finitos para el análisis estructural empleando el lenguaje de programación Python», cuyo producto es EduFEM. La exposición sigue el orden reglamentario: introducción, base teórica, diseño y desarrollo del modelo, presentación y análisis de resultados, y conclusiones y recomendaciones.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Empiezo por la fundamentación: la situación problemática, el problema científico con sus variables, el objeto de estudio y el campo de acción, los objetivos, la hipótesis de diseño y la metodología.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enseñanza del MEF sufre una brecha doble. Los textos presentan la formulación matricial con rigor pero de manera abstracta, como una cadena algebraica desconectada de la geometría; el desarrollo manual no escala más allá de uno o dos elementos. El software comercial hace lo contrario: recibe geometría, material y cargas y devuelve tensiones ocultando todo lo intermedio. La consecuencia es que el estudiante aprende a operar sin comprender, y no puede diagnosticar un resultado anómalo ni reconocer el bloqueo por cortante o los modos espurios.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problema científico pregunta cómo debe construirse un software educativo para que el canal de cálculo completo del MEF en elasticidad plana resulte observable y contrastable por el estudiante. La variable causa es la forma en que la herramienta expone ese canal: transparencia, interactividad y verificabilidad numérica. La variable efecto es la observabilidad y contrastabilidad del procedimiento intermedio. El objeto de estudio es el análisis de medios continuos en elasticidad lineal plana por el MEF, del mapeo isoparamétrico a la recuperación de tensiones con Q4 y Q9; el campo de acción es su enseñanza mediante el software y la memoria de cálculo. Se delimita a la Carrera de Ingeniería Civil de la UATF, al aula y al equipo personal del estudiante sin licencias, y a la gestión 2026.</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objetivo general es desarrollar EduFEM, un software educativo de escritorio para el MEF en elasticidad lineal plana con elementos Q4 y Q9, que integre la formulación matemática, la construcción y visualización interactiva del modelo y la verificación numérica. Se concreta en seis objetivos específicos: el primero se cumple en el marco teórico; el segundo, tercero, cuarto y sexto en el diseño e implementación; y el quinto en resultados. Volveré a esta tabla al final para mostrar el cumplimiento de cada uno.</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 se plantea una hipótesis estadística sino una hipótesis de diseño: en la investigación tecnológica la hipótesis es la solución tentativa a un problema concreto y su criterio de veracidad es la efectividad en la práctica. Se verifica por diseño, comprobando que la herramienta reúne los cuatro atributos. La acompañan tres preguntas de investigación que responderé en el análisis y en las conclusiones. Por su finalidad la investigación es propositiva; por su naturaleza, aplicada de tipo tecnológico; por el abordaje, cuantitativa; por su nivel, descriptiva y comparativa.</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base teórica sigue el mismo orden que el canal de cálculo del programa: primero los antecedentes, después la cadena que va de la forma fuerte a la recuperación de tensiones.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Hay tres familias de antecedentes: el análisis de barras, los simuladores de un eslabón aislado del método y las herramientas de propósito general. El antecedente más directo es ED-Elas2D, desarrollado en la Universitat Politècnica de Catalunya, en español y con elementos Q4, Q8 y Q9, pero de licencia académica y ligado a la plataforma de su época. La tabla de la tesis compara además requisitos de ejecución, fenómenos numéricos observables y verificación publicada. EduFEM cubre el vacío: libre y abierto, con instalador autocontenido, expone cada matriz sobre el elemento seleccionado y genera una memoria de cálculo trazable, capacidad que no se documenta en los antecedentes revisados.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forma fuerte exige continuidad de segundo orden; el principio de los trabajos virtuales la rebaja a primer orden y habilita polinomios a trozos. Sustituyendo la interpolación se llega al sistema K u igual a F. La matriz constitutiva distingue tensión plana, con sigma z nula, de deformación plana, con épsilon z nula, donde aparece el bloqueo volumétrico al acercarse el coeficiente de Poisson a 0,5.</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elemento isoparamétrico interpola geometría y desplazamientos con la misma familia de funciones de forma. El Jacobiano conecta el cuadrado natural con el elemento real; su inversa construye la matriz B. La rigidez elemental se integra por cuadratura de Gauss, dos por dos en Q4 y tres por tres en Q9, porque el integrando no es polinómico. El sistema global se ensambla en formato disperso y se resuelve por factorización LU; las tensiones se evalúan en los puntos de Gauss, que en Q4 son los de Barlow, se extrapolan a los nodos y se promedian. Es exactamente lo que los módulos M1 a M7 exponen sobre el elemento seleccionado.</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Hay fenómenos numéricos que un alumno solo entiende cuando los ve. El bloqueo por cortante afecta al Q4 en flexión: el campo bilineal no representa la curvatura sin generar corte espurio, el elemento se vuelve rígido y converge lento; en la membrana de Cook con N igual a 8 da 22,079 frente a 23,96. Los modos espurios son el fenómeno inverso, por subintegrar, y EduFEM los evita con integración completa. Decidí no implementar integración reducida selectiva ni B-bar: ofrezco el Q9 y aprovecho el comportamiento del Q4 como recurso didáctico. Una tercera patología, el bloqueo volumétrico en deformación plana, el software la señala pero no la corrige.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tensiones se evalúan en los puntos de Gauss, se extrapolan a los nodos con la inversa de la matriz de funciones de forma, que en Q4 tiene forma cerrada con los coeficientes que ven, y se promedian entre los elementos que comparten cada nodo. El método de soluciones manufacturadas elige la solución a priori, deduce la carga de volumen y mide el error con las normas L² y H¹, que deben decrecer con las tasas teóricas. Este trabajo hace verificación de código, verificación de solución y comparación código a código; la validación frente a mediciones físicas queda fuera del alcance.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Este bloque tiene dos partes: cómo se diseñó la investigación, con su modelo de simulación numérica, variables, matriz de consistencia y criterios de aceptación; y cómo se construyó el software. Cierra con una demostración en vivo.</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modelo de investigación es un modelo de simulación numérica: no hay unidades experimentales ni tratamientos aleatorizados. La variable independiente es la definición del modelo y las decisiones de discretización, tipo de elemento y densidad de malla; la dependiente es la respuesta estructural y su exactitud frente a referencias, medida con normas L² y H¹, tasas de convergencia y errores relativos. Las controladas son el tipo de análisis y el orden de cuadratura, fijos en 2×2 para Q4 y 3×3 para Q9. La confiabilidad descansa en el determinismo del motor y en la convergencia bajo refinamiento.</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matriz de consistencia traza cada objetivo específico con su pregunta de investigación, su indicador, su instrumento y la evidencia en el documento. El primer objetivo es transversal porque fundamenta las tres preguntas. El sexto es instrumental: la memoria y la interoperabilidad apoyan la transparencia de PI-2 pero no derivan de una pregunta propia.</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instrumentos son los guiones vv_mms, vv_timoshenko y vv_cook del repositorio. Cada caso pasa por el validador de salud, se resuelve con las mismas funciones que consumen los módulos educativos y la memoria, y sus normas se integran con un punto de Gauss más por dirección para no subestimar el error. Los casos no son una muestra estadística sino una selección intencional por valor probatorio, coherente con la práctica de verificación de códigos: cada uno aporta una referencia de naturaleza distinta y se corre con Q4 y con Q9.</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criterios de aceptación están fijados de antemano en los propios guiones, que terminan con error si alguno falla, de modo que la verificación no se ajusta a posteriori. Así se contrasta la hipótesis de diseño: sus afirmaciones cuantitativas, la precisión verificable de PI-1 y la evidencia del bloqueo de PI-3, se contrastan numéricamente con estos criterios; la organización de la interfaz de PI-2 se documenta en el diseño.</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Cuatro requisitos gobernaron el diseño: orientación educativa, español con terminología canónica, primacía de lo visual e independencia tecnológica. La arquitectura es un modelo-vista-controlador en seis capas alrededor del ProjectModel. Una decisión crítica separa la identidad pública del nodo, que puede tener huecos como 1, 5 y 50 tras borrar, del índice ordinal que fija sus grados de libertad. Se distribuye con PyInstaller e Inno Setup, con un TeX Live reducido embebido, sin instalar Python.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modelo se construye en cinco tablas o dibujando sobre el lienzo, que es el mismo en las tres fases. Cada acción del usuario captura una instantánea, lo que hace todo reversible. Antes de resolver, el validador de salud aplica dieciocho chequeos: nueve errores críticos que bloquean, ocho advertencias y uno de información. La calidad de malla usa dos métricas de la biblioteca Verdict, el Jacobiano escalado y la relación de aspecto; EduFEM eleva el corte del Jacobiano escalado de 0,30 a 0,50 por prudencia pedagógica. La importación DXF es idempotente y fuerza la orientación antihoraria.</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ocho módulos recorren el canal del MEF en su orden canónico. Cada uno es una capa superpuesta al lienzo: un panel flotante más una iluminación sobre la malla real, con selección de un solo clic sobre el elemento. M0 colorea por calidad y deja distorsionar un vértice; M5 permite agregar o quitar puntos de Gauss; M7 resalta las filas y columnas de K que recibe cada elemento. Solo una capa está activa a la vez. La recuperación de tensiones no tiene módulo propio: la exponen el post-proceso, con la sonda y la vista 3D, y la memoria de cálculo.</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Tomo M5 como ejemplo representativo. A la izquierda, el elemento real con sus puntos de Gauss iluminados y los ejes naturales; a la derecha, el salto de la integral, irresoluble a mano, a la suma de cuadratura, y la matriz de rigidez que crece al sumar cada punto. El conmutador Fórmula–Valores muestra la expresión simbólica o su evaluación numérica en el punto elegido.</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Resuelto el sistema, los resultados se presentan sobre el mismo lienzo. El campo se dibuja como contorno con interpolación de Gouraud y se puede superponer la malla deformada con un factor de escala. La sonda puntual localiza cualquier punto dentro de su elemento por mapeo inverso y abre un panel con las componentes cartesianas, las tensiones principales y la de von Mises, junto con un círculo de Mohr. Una vista tridimensional muestra el campo como superficie, cruda o suavizada por promediado nodal. La paleta jet se eligió a sabiendas de sus limitaciones perceptuales porque es la que el alumno encontrará en el software profesional.</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sexto objetivo se cumple con la memoria de cálculo automática: pylatex compone y pdflatex compila un PDF con sustitución numérica paso a paso sobre el modelo del propio usuario, en estilo educativo o directo. El Anexo G la desarrolla sobre el ejemplo canónico de nueve nodos y cuatro Q4, con E igual a 225000, Poisson 0,2, espesor 0,8 y una carga de 1000 en el nodo 7: matriz D, rigidez del elemento 3 en el punto de Gauss, ensamblaje de K de 18 por 18, partición, reacciones que equilibran exactamente la carga y recuperación de tensiones. Las cifras son salida bit-exacta del motor. Completan el objetivo el formato .edufem, los CSV en ZIP y la importación DXF.</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Paso ahora al software. Cargo el ejemplo canónico, abro el módulo M5 sobre un elemento y muestro cómo cambia la rigidez con los puntos de Gauss. Luego resuelvo con F5, recorro el contorno de von Mises, sondeo un punto con el círculo de Mohr y exporto la memoria de cálculo en PDF. Todo ocurre sobre el mismo lienzo.</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Presento los datos de la batería de verificación y validación, reproducibles con los tres guiones del repositorio.</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solución manufacturada se impone como restricciones de Dirichlet y su término fuente como fuerza de volumen. En escala doble logarítmica la pendiente de cada recta es el orden de convergencia. El Q4 alcanza orden dos en L² y uno en H¹; el Q9, tres y dos, como predice la teoría; el campo de tensiones recuperado converge a 1,54 y 2,00. Las mallas distorsionadas y la deformación plana dan las mismas tasas. Un detalle de honestidad metodológica: la matriz de extrapolación del Q4 tuvo un defecto de numeración de puntos de Gauss invisible a estas normas; se detectó al inspeccionar la memoria de cálculo del ejemplo canónico y hoy una prueba de regresión exige reproducir exactamente campos polinómicos.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Además de la exactitud, el modelo de datos no debe derivar. Convertir la malla a Q9 y volver a Q4 deja los desplazamientos con diferencias menores a diez a la menos nueve. Usar identificadores de nodo con huecos da lo mismo que usar identificadores contiguos, lo que valida el esquema de indexación de grados de libertad. El ejemplo canónico exportado a CSV y reimportado reproduce los desplazamientos con diferencia menor a diez a la menos doce. Y el DXF de ejemplo entra como seis elementos y doce nodos compartidos; al reimportarlo no crea nada nuevo.</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viga simplemente apoyada, de hormigón, se contrasta con la solución de Timoshenko y Goodier y con un modelo de cáscara en SAP2000. La tensión normal difiere menos del 0,05 % del analítico y del 0,21 % de SAP2000, con el máximo en el punto B. La flecha difiere 0,26 % de la referencia con corrección de cortante; si usara Euler-Bernoulli el error aparente sería 1,85 %, lo que muestra que el modelo plano captura el cortante en una viga con relación luz-peralte del orden de 11,7. En la tensión cortante el error llega al 2,9 % y frente a SAP2000 los desplazamientos difieren hasta 0,56 %.</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membrana de Cook es un trapecio empotrado con carga tangencial unitaria en el extremo libre, material adimensional y referencia 23,96, que es un límite de convergencia con incertidumbre del orden del 0,05 %; la extrapolación de Richardson de la propia secuencia Q9 apunta a 23,97. En la malla más gruesa el Q4 subestima más del 50 % y con 2178 GDL todavía conserva un −0,594 %. El Q9 con N igual a 8 ya cumple el criterio del 1,5 % y con 2178 GDL queda dentro de la incertidumbre de la referencia.</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Ahora interpreto: qué significan esas cifras para las preguntas de investigación y hasta dónde llega la evidencia.</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comparación justa es a igualdad de grados de libertad. Con 2178 GDL, el Q4 conserva un error de −0,594 % y el Q9 de −0,044 %: trece veces, un orden de magnitud a favor del elemento de mayor orden, y la incertidumbre de la referencia solo afecta a la tercera cifra del error del Q9. Esto es lo que el estudiante puede reproducir en el software cargando el ejemplo de Cook en Q4 y en Q9, y responde la tercera pregunta de investigación.</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transparencia no se pagó con lentitud. En un equipo de escritorio con procesador de 2012, con el motor vectorizado por lotes en NumPy puro, la malla más exigente de las validaciones, 8450 GDL, se ensambla y resuelve en menos de dos décimas de segundo, y más de 33 000 GDL en menos de un segundo. A ese tamaño la matriz densa pediría cerca de 8,9 gigabytes y la dispersa menos de 13 megabytes. El ordenamiento de mínimo grado reduce el tiempo de factorización y solución entre 1,7 y 2,9 veces frente a COLAMD; el Cuthill-McKee inverso se evaluó y descartó porque solo ganaba del 7 al 19 % por encima de unos ocho mil GDL. Sobre el alcance: las magnitudes primarias quedan por debajo del 0,3 % frente al analítico y del 0,6 % frente a SAP2000; en la componente cortante la cáscara de SAP2000 queda más cerca del analítico, 0,16 %. Frente al software comercial EduFEM no compite en cobertura: su valor es la transparencia del canal. El bloqueo por cortante se muestra, no se mitiga, y no hay validación frente a mediciones físicas.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Cierro con el cumplimiento de cada objetivo, la hipótesis, las limitaciones asumidas y las recomendaciones.</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Vuelvo a la tabla de objetivos. Cada uno tiene su conclusión y su evidencia: el marco teórico es la misma formulación que implementa el motor y sustituye la memoria; el motor está libre de errores de orden; la interfaz integra las tres fases sobre un lienzo; los módulos operan sobre el modelo del alumno y no sobre un ejemplo prefabricado; la batería de V&amp;V acota el error; y la memoria documenta el procedimiento. EduFEM cumple el objetivo general: articula formulación, modelado interactivo y verificación numérica.</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hipótesis de diseño se confirma atributo por atributo, verificada por diseño y no por medición del aprendizaje. PI-1 y PI-3 se responden con cifras; PI-2 por la organización documentada del software. Con ello queda respondido el problema científico: el canal completo es observable, mediante los módulos y la memoria, y contrastable, mediante la batería de verificación y validación con criterios fijados a priori, que es el efecto que el problema pedía.</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Cinco límites explícitos. El alcance se ciñe a la elasticidad lineal plana con dos elementos y sin mallador automático. El solucionador directo pierde eficiencia en mallas masivas. El bloqueo del Q4 se usa como recurso didáctico pero no se corrige. Y las conclusiones sobre utilidad didáctica son cualitativas, basadas en el diseño y en la literatura, porque no se realizó una validación empírica con estudiantes.</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Cinco recomendaciones, cada una anclada a una limitación. Primero, factorización de Cholesky sobre la matriz reducida, simétrica y definida positiva, con aproximadamente la mitad del trabajo de una LU, y un solucionador iterativo precondicionado para problemas masivos, preservando la versión legible del ensamblaje. Segundo, integración reducida selectiva o B-bar, con un módulo que contraste el comportamiento bloqueado y el corregido. Tercero, triángulos, cuadriláteros de transición y extensión a tres dimensiones. Cuarto, un caso civil en deformación plana con solución publicada y otro con carga superficial variable y peso propio. Y la más importante: un estudio antes-después con estudiantes de cursos de MEF que dé sustento cuantitativo a lo que hoy se justifica por diseño.</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Muchas gracias por su atención. El software, el código fuente y la batería de verificación están disponibles en el repositorio público. Quedo a disposición del tribunal para sus preguntas.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3.pn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3.mp3"/><Relationship Id="rId1" Type="http://schemas.microsoft.com/office/2007/relationships/media" Target="../media/media13.mp3"/><Relationship Id="rId5" Type="http://schemas.openxmlformats.org/officeDocument/2006/relationships/image" Target="../media/image3.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6.mp3"/><Relationship Id="rId1" Type="http://schemas.microsoft.com/office/2007/relationships/media" Target="../media/media16.mp3"/><Relationship Id="rId5" Type="http://schemas.openxmlformats.org/officeDocument/2006/relationships/image" Target="../media/image3.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9.mp3"/><Relationship Id="rId1" Type="http://schemas.microsoft.com/office/2007/relationships/media" Target="../media/media19.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0.mp3"/><Relationship Id="rId1" Type="http://schemas.microsoft.com/office/2007/relationships/media" Target="../media/media20.mp3"/><Relationship Id="rId5" Type="http://schemas.openxmlformats.org/officeDocument/2006/relationships/image" Target="../media/image3.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1.mp3"/><Relationship Id="rId1" Type="http://schemas.microsoft.com/office/2007/relationships/media" Target="../media/media21.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2.mp3"/><Relationship Id="rId1" Type="http://schemas.microsoft.com/office/2007/relationships/media" Target="../media/media22.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3.mp3"/><Relationship Id="rId1" Type="http://schemas.microsoft.com/office/2007/relationships/media" Target="../media/media23.mp3"/><Relationship Id="rId5" Type="http://schemas.openxmlformats.org/officeDocument/2006/relationships/image" Target="../media/image3.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4.mp3"/><Relationship Id="rId1" Type="http://schemas.microsoft.com/office/2007/relationships/media" Target="../media/media24.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5.mp3"/><Relationship Id="rId1" Type="http://schemas.microsoft.com/office/2007/relationships/media" Target="../media/media25.mp3"/><Relationship Id="rId5" Type="http://schemas.openxmlformats.org/officeDocument/2006/relationships/image" Target="../media/image3.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6.mp3"/><Relationship Id="rId1" Type="http://schemas.microsoft.com/office/2007/relationships/media" Target="../media/media26.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7.mp3"/><Relationship Id="rId1" Type="http://schemas.microsoft.com/office/2007/relationships/media" Target="../media/media27.mp3"/><Relationship Id="rId5" Type="http://schemas.openxmlformats.org/officeDocument/2006/relationships/image" Target="../media/image3.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8.mp3"/><Relationship Id="rId1" Type="http://schemas.microsoft.com/office/2007/relationships/media" Target="../media/media28.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9.mp3"/><Relationship Id="rId1" Type="http://schemas.microsoft.com/office/2007/relationships/media" Target="../media/media29.mp3"/><Relationship Id="rId5" Type="http://schemas.openxmlformats.org/officeDocument/2006/relationships/image" Target="../media/image3.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0.mp3"/><Relationship Id="rId1" Type="http://schemas.microsoft.com/office/2007/relationships/media" Target="../media/media30.mp3"/><Relationship Id="rId5" Type="http://schemas.openxmlformats.org/officeDocument/2006/relationships/image" Target="../media/image3.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1.mp3"/><Relationship Id="rId1" Type="http://schemas.microsoft.com/office/2007/relationships/media" Target="../media/media31.mp3"/><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2.mp3"/><Relationship Id="rId1" Type="http://schemas.microsoft.com/office/2007/relationships/media" Target="../media/media32.mp3"/><Relationship Id="rId5" Type="http://schemas.openxmlformats.org/officeDocument/2006/relationships/image" Target="../media/image3.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3.mp3"/><Relationship Id="rId1" Type="http://schemas.microsoft.com/office/2007/relationships/media" Target="../media/media33.mp3"/><Relationship Id="rId5" Type="http://schemas.openxmlformats.org/officeDocument/2006/relationships/image" Target="../media/image3.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4.mp3"/><Relationship Id="rId1" Type="http://schemas.microsoft.com/office/2007/relationships/media" Target="../media/media34.mp3"/><Relationship Id="rId5" Type="http://schemas.openxmlformats.org/officeDocument/2006/relationships/image" Target="../media/image3.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5.mp3"/><Relationship Id="rId1" Type="http://schemas.microsoft.com/office/2007/relationships/media" Target="../media/media35.mp3"/><Relationship Id="rId5" Type="http://schemas.openxmlformats.org/officeDocument/2006/relationships/image" Target="../media/image3.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6.mp3"/><Relationship Id="rId1" Type="http://schemas.microsoft.com/office/2007/relationships/media" Target="../media/media36.mp3"/><Relationship Id="rId5" Type="http://schemas.openxmlformats.org/officeDocument/2006/relationships/image" Target="../media/image3.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7.mp3"/><Relationship Id="rId1" Type="http://schemas.microsoft.com/office/2007/relationships/media" Target="../media/media37.mp3"/><Relationship Id="rId5" Type="http://schemas.openxmlformats.org/officeDocument/2006/relationships/image" Target="../media/image3.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3.png"/><Relationship Id="rId2" Type="http://schemas.openxmlformats.org/officeDocument/2006/relationships/audio" Target="../media/media38.mp3"/><Relationship Id="rId1" Type="http://schemas.microsoft.com/office/2007/relationships/media" Target="../media/media38.mp3"/><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292608"/>
            <a:ext cx="12191695" cy="457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31520" y="685800"/>
            <a:ext cx="7315200" cy="457200"/>
          </a:xfrm>
          <a:prstGeom prst="rect">
            <a:avLst/>
          </a:prstGeom>
          <a:noFill/>
        </p:spPr>
        <p:txBody>
          <a:bodyPr wrap="square" lIns="45720" tIns="27432" rIns="45720" bIns="27432" anchor="t">
            <a:noAutofit/>
          </a:bodyPr>
          <a:lstStyle/>
          <a:p>
            <a:pPr algn="l">
              <a:lnSpc>
                <a:spcPct val="105000"/>
              </a:lnSpc>
            </a:pPr>
            <a:r>
              <a:rPr lang="es-ES" sz="2000" b="1" i="0">
                <a:solidFill>
                  <a:srgbClr val="1B2A4A"/>
                </a:solidFill>
                <a:latin typeface="Calibri"/>
              </a:rPr>
              <a:t>UNIVERSIDAD AUTÓNOMA «TOMÁS FRÍAS»</a:t>
            </a:r>
          </a:p>
        </p:txBody>
      </p:sp>
      <p:sp>
        <p:nvSpPr>
          <p:cNvPr id="5" name="TextBox 4"/>
          <p:cNvSpPr txBox="1"/>
          <p:nvPr/>
        </p:nvSpPr>
        <p:spPr>
          <a:xfrm>
            <a:off x="731520" y="1097280"/>
            <a:ext cx="7315200" cy="365760"/>
          </a:xfrm>
          <a:prstGeom prst="rect">
            <a:avLst/>
          </a:prstGeom>
          <a:noFill/>
        </p:spPr>
        <p:txBody>
          <a:bodyPr wrap="square" lIns="45720" tIns="27432" rIns="45720" bIns="27432" anchor="t">
            <a:noAutofit/>
          </a:bodyPr>
          <a:lstStyle/>
          <a:p>
            <a:pPr algn="l">
              <a:lnSpc>
                <a:spcPct val="105000"/>
              </a:lnSpc>
            </a:pPr>
            <a:r>
              <a:rPr lang="es-ES" sz="1600" b="1" i="0">
                <a:solidFill>
                  <a:srgbClr val="5B6575"/>
                </a:solidFill>
                <a:latin typeface="Calibri"/>
              </a:rPr>
              <a:t>FACULTAD DE INGENIERÍA</a:t>
            </a:r>
          </a:p>
        </p:txBody>
      </p:sp>
      <p:sp>
        <p:nvSpPr>
          <p:cNvPr id="6" name="TextBox 5"/>
          <p:cNvSpPr txBox="1"/>
          <p:nvPr/>
        </p:nvSpPr>
        <p:spPr>
          <a:xfrm>
            <a:off x="731520" y="1417320"/>
            <a:ext cx="7315200" cy="365760"/>
          </a:xfrm>
          <a:prstGeom prst="rect">
            <a:avLst/>
          </a:prstGeom>
          <a:noFill/>
        </p:spPr>
        <p:txBody>
          <a:bodyPr wrap="square" lIns="45720" tIns="27432" rIns="45720" bIns="27432" anchor="t">
            <a:noAutofit/>
          </a:bodyPr>
          <a:lstStyle/>
          <a:p>
            <a:pPr algn="l">
              <a:lnSpc>
                <a:spcPct val="105000"/>
              </a:lnSpc>
            </a:pPr>
            <a:r>
              <a:rPr lang="es-ES" sz="1600" b="1" i="0">
                <a:solidFill>
                  <a:srgbClr val="5B6575"/>
                </a:solidFill>
                <a:latin typeface="Calibri"/>
              </a:rPr>
              <a:t>CARRERA DE INGENIERÍA CIVIL</a:t>
            </a:r>
          </a:p>
        </p:txBody>
      </p:sp>
      <p:sp>
        <p:nvSpPr>
          <p:cNvPr id="7" name="Rectangle 6"/>
          <p:cNvSpPr/>
          <p:nvPr/>
        </p:nvSpPr>
        <p:spPr>
          <a:xfrm>
            <a:off x="777240" y="1965960"/>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31520" y="2148840"/>
            <a:ext cx="7589520" cy="1920240"/>
          </a:xfrm>
          <a:prstGeom prst="rect">
            <a:avLst/>
          </a:prstGeom>
          <a:noFill/>
        </p:spPr>
        <p:txBody>
          <a:bodyPr wrap="square" lIns="45720" tIns="27432" rIns="45720" bIns="27432" anchor="t">
            <a:noAutofit/>
          </a:bodyPr>
          <a:lstStyle/>
          <a:p>
            <a:pPr algn="l">
              <a:lnSpc>
                <a:spcPct val="108000"/>
              </a:lnSpc>
            </a:pPr>
            <a:r>
              <a:rPr lang="es-ES" sz="2800" b="1" i="0">
                <a:solidFill>
                  <a:srgbClr val="1B2A4A"/>
                </a:solidFill>
                <a:latin typeface="Calibri"/>
              </a:rPr>
              <a:t>DESARROLLO DE SOFTWARE EDUCATIVO DE ELEMENTOS FINITOS PARA EL ANÁLISIS ESTRUCTURAL EMPLEANDO EL LENGUAJE DE PROGRAMACIÓN PYTHON</a:t>
            </a:r>
          </a:p>
        </p:txBody>
      </p:sp>
      <p:sp>
        <p:nvSpPr>
          <p:cNvPr id="9" name="TextBox 8"/>
          <p:cNvSpPr txBox="1"/>
          <p:nvPr/>
        </p:nvSpPr>
        <p:spPr>
          <a:xfrm>
            <a:off x="731520" y="4160520"/>
            <a:ext cx="7589520" cy="411480"/>
          </a:xfrm>
          <a:prstGeom prst="rect">
            <a:avLst/>
          </a:prstGeom>
          <a:noFill/>
        </p:spPr>
        <p:txBody>
          <a:bodyPr wrap="square" lIns="45720" tIns="27432" rIns="45720" bIns="27432" anchor="t">
            <a:noAutofit/>
          </a:bodyPr>
          <a:lstStyle/>
          <a:p>
            <a:pPr algn="l">
              <a:lnSpc>
                <a:spcPct val="105000"/>
              </a:lnSpc>
            </a:pPr>
            <a:r>
              <a:rPr lang="es-ES" sz="1800" b="0" i="0">
                <a:solidFill>
                  <a:srgbClr val="1F2937"/>
                </a:solidFill>
                <a:latin typeface="Calibri"/>
              </a:rPr>
              <a:t>Tesis para optar al Título de Licenciatura en Ingeniería Civil</a:t>
            </a:r>
          </a:p>
        </p:txBody>
      </p:sp>
      <p:sp>
        <p:nvSpPr>
          <p:cNvPr id="10" name="TextBox 9"/>
          <p:cNvSpPr txBox="1"/>
          <p:nvPr/>
        </p:nvSpPr>
        <p:spPr>
          <a:xfrm>
            <a:off x="731520" y="4800600"/>
            <a:ext cx="7589520" cy="411480"/>
          </a:xfrm>
          <a:prstGeom prst="rect">
            <a:avLst/>
          </a:prstGeom>
          <a:noFill/>
        </p:spPr>
        <p:txBody>
          <a:bodyPr wrap="square" lIns="45720" tIns="27432" rIns="45720" bIns="27432" anchor="t">
            <a:noAutofit/>
          </a:bodyPr>
          <a:lstStyle/>
          <a:p>
            <a:pPr algn="l">
              <a:lnSpc>
                <a:spcPct val="105000"/>
              </a:lnSpc>
            </a:pPr>
            <a:r>
              <a:rPr lang="es-ES" sz="2200" b="1" i="0">
                <a:solidFill>
                  <a:srgbClr val="1B2A4A"/>
                </a:solidFill>
                <a:latin typeface="Calibri"/>
              </a:rPr>
              <a:t>Autor:  Hedy Yhassmany Oyola Sucullani</a:t>
            </a:r>
          </a:p>
        </p:txBody>
      </p:sp>
      <p:sp>
        <p:nvSpPr>
          <p:cNvPr id="11" name="TextBox 10"/>
          <p:cNvSpPr txBox="1"/>
          <p:nvPr/>
        </p:nvSpPr>
        <p:spPr>
          <a:xfrm>
            <a:off x="731520" y="5257800"/>
            <a:ext cx="7589520" cy="411480"/>
          </a:xfrm>
          <a:prstGeom prst="rect">
            <a:avLst/>
          </a:prstGeom>
          <a:noFill/>
        </p:spPr>
        <p:txBody>
          <a:bodyPr wrap="square" lIns="45720" tIns="27432" rIns="45720" bIns="27432" anchor="t">
            <a:noAutofit/>
          </a:bodyPr>
          <a:lstStyle/>
          <a:p>
            <a:pPr algn="l">
              <a:lnSpc>
                <a:spcPct val="105000"/>
              </a:lnSpc>
            </a:pPr>
            <a:endParaRPr/>
          </a:p>
        </p:txBody>
      </p:sp>
      <p:sp>
        <p:nvSpPr>
          <p:cNvPr id="12" name="TextBox 11"/>
          <p:cNvSpPr txBox="1"/>
          <p:nvPr/>
        </p:nvSpPr>
        <p:spPr>
          <a:xfrm>
            <a:off x="731520" y="5897880"/>
            <a:ext cx="7589520" cy="411480"/>
          </a:xfrm>
          <a:prstGeom prst="rect">
            <a:avLst/>
          </a:prstGeom>
          <a:noFill/>
        </p:spPr>
        <p:txBody>
          <a:bodyPr wrap="square" lIns="45720" tIns="27432" rIns="45720" bIns="27432" anchor="t">
            <a:noAutofit/>
          </a:bodyPr>
          <a:lstStyle/>
          <a:p>
            <a:pPr algn="l">
              <a:lnSpc>
                <a:spcPct val="105000"/>
              </a:lnSpc>
            </a:pPr>
            <a:r>
              <a:rPr lang="es-ES" sz="1800" b="0" i="0">
                <a:solidFill>
                  <a:srgbClr val="5B6575"/>
                </a:solidFill>
                <a:latin typeface="Calibri"/>
              </a:rPr>
              <a:t>Potosí – Bolivia   ·   Junio de 2026</a:t>
            </a:r>
          </a:p>
        </p:txBody>
      </p:sp>
      <p:pic>
        <p:nvPicPr>
          <p:cNvPr id="13" name="Picture 12" descr="logo_universidad.png"/>
          <p:cNvPicPr>
            <a:picLocks noChangeAspect="1"/>
          </p:cNvPicPr>
          <p:nvPr/>
        </p:nvPicPr>
        <p:blipFill>
          <a:blip r:embed="rId5"/>
          <a:stretch>
            <a:fillRect/>
          </a:stretch>
        </p:blipFill>
        <p:spPr>
          <a:xfrm>
            <a:off x="8906528" y="822960"/>
            <a:ext cx="2395182" cy="2743200"/>
          </a:xfrm>
          <a:prstGeom prst="rect">
            <a:avLst/>
          </a:prstGeom>
        </p:spPr>
      </p:pic>
      <p:pic>
        <p:nvPicPr>
          <p:cNvPr id="14" name="Picture 13" descr="fig_logo_edufem.png"/>
          <p:cNvPicPr>
            <a:picLocks noChangeAspect="1"/>
          </p:cNvPicPr>
          <p:nvPr/>
        </p:nvPicPr>
        <p:blipFill>
          <a:blip r:embed="rId6"/>
          <a:stretch>
            <a:fillRect/>
          </a:stretch>
        </p:blipFill>
        <p:spPr>
          <a:xfrm>
            <a:off x="9052560" y="3794760"/>
            <a:ext cx="2103120" cy="2103120"/>
          </a:xfrm>
          <a:prstGeom prst="rect">
            <a:avLst/>
          </a:prstGeom>
        </p:spPr>
      </p:pic>
      <p:sp>
        <p:nvSpPr>
          <p:cNvPr id="15" name="TextBox 14"/>
          <p:cNvSpPr txBox="1"/>
          <p:nvPr/>
        </p:nvSpPr>
        <p:spPr>
          <a:xfrm>
            <a:off x="8503920" y="5852160"/>
            <a:ext cx="3200400" cy="457200"/>
          </a:xfrm>
          <a:prstGeom prst="rect">
            <a:avLst/>
          </a:prstGeom>
          <a:noFill/>
        </p:spPr>
        <p:txBody>
          <a:bodyPr wrap="square" lIns="45720" tIns="27432" rIns="45720" bIns="27432" anchor="t">
            <a:noAutofit/>
          </a:bodyPr>
          <a:lstStyle/>
          <a:p>
            <a:pPr algn="ctr">
              <a:lnSpc>
                <a:spcPct val="105000"/>
              </a:lnSpc>
            </a:pPr>
            <a:r>
              <a:rPr lang="es-ES" sz="2200" b="1" i="0">
                <a:solidFill>
                  <a:srgbClr val="1B2A4A"/>
                </a:solidFill>
                <a:latin typeface="Calibri"/>
              </a:rPr>
              <a:t>EduFEM</a:t>
            </a:r>
          </a:p>
        </p:txBody>
      </p:sp>
      <p:pic>
        <p:nvPicPr>
          <p:cNvPr id="16" name="s01">
            <a:hlinkClick r:id="" action="ppaction://media"/>
            <a:extLst>
              <a:ext uri="{FF2B5EF4-FFF2-40B4-BE49-F238E27FC236}">
                <a16:creationId xmlns:a16="http://schemas.microsoft.com/office/drawing/2014/main" id="{F187807E-5090-8FFC-1A9E-066B7D107B15}"/>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556"/>
    </mc:Choice>
    <mc:Fallback>
      <p:transition spd="slow" advTm="3655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6"/>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11B33"/>
        </a:solidFill>
        <a:effectLst/>
      </p:bgPr>
    </p:bg>
    <p:spTree>
      <p:nvGrpSpPr>
        <p:cNvPr id="1" name=""/>
        <p:cNvGrpSpPr/>
        <p:nvPr/>
      </p:nvGrpSpPr>
      <p:grpSpPr>
        <a:xfrm>
          <a:off x="0" y="0"/>
          <a:ext cx="0" cy="0"/>
          <a:chOff x="0" y="0"/>
          <a:chExt cx="0" cy="0"/>
        </a:xfrm>
      </p:grpSpPr>
      <p:sp>
        <p:nvSpPr>
          <p:cNvPr id="2" name="TextBox 1"/>
          <p:cNvSpPr txBox="1"/>
          <p:nvPr/>
        </p:nvSpPr>
        <p:spPr>
          <a:xfrm>
            <a:off x="731520" y="1417320"/>
            <a:ext cx="2194560" cy="1828800"/>
          </a:xfrm>
          <a:prstGeom prst="rect">
            <a:avLst/>
          </a:prstGeom>
          <a:noFill/>
        </p:spPr>
        <p:txBody>
          <a:bodyPr wrap="square" lIns="45720" tIns="27432" rIns="45720" bIns="27432" anchor="ctr">
            <a:noAutofit/>
          </a:bodyPr>
          <a:lstStyle/>
          <a:p>
            <a:pPr algn="l">
              <a:lnSpc>
                <a:spcPct val="105000"/>
              </a:lnSpc>
            </a:pPr>
            <a:r>
              <a:rPr lang="es-ES" sz="9600" b="1" i="0">
                <a:solidFill>
                  <a:srgbClr val="F28C28"/>
                </a:solidFill>
                <a:latin typeface="Calibri"/>
              </a:rPr>
              <a:t>01</a:t>
            </a:r>
          </a:p>
        </p:txBody>
      </p:sp>
      <p:sp>
        <p:nvSpPr>
          <p:cNvPr id="3" name="Rectangle 2"/>
          <p:cNvSpPr/>
          <p:nvPr/>
        </p:nvSpPr>
        <p:spPr>
          <a:xfrm>
            <a:off x="3063240" y="1691640"/>
            <a:ext cx="54864" cy="1325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3383280" y="1417320"/>
            <a:ext cx="8229600" cy="1188720"/>
          </a:xfrm>
          <a:prstGeom prst="rect">
            <a:avLst/>
          </a:prstGeom>
          <a:noFill/>
        </p:spPr>
        <p:txBody>
          <a:bodyPr wrap="square" lIns="45720" tIns="27432" rIns="45720" bIns="27432" anchor="ctr">
            <a:noAutofit/>
          </a:bodyPr>
          <a:lstStyle/>
          <a:p>
            <a:pPr algn="l">
              <a:lnSpc>
                <a:spcPct val="105000"/>
              </a:lnSpc>
            </a:pPr>
            <a:r>
              <a:rPr lang="es-ES" sz="4400" b="1" i="0">
                <a:solidFill>
                  <a:srgbClr val="FFFFFF"/>
                </a:solidFill>
                <a:latin typeface="Calibri"/>
              </a:rPr>
              <a:t>Introducción</a:t>
            </a:r>
          </a:p>
        </p:txBody>
      </p:sp>
      <p:sp>
        <p:nvSpPr>
          <p:cNvPr id="5" name="TextBox 4"/>
          <p:cNvSpPr txBox="1"/>
          <p:nvPr/>
        </p:nvSpPr>
        <p:spPr>
          <a:xfrm>
            <a:off x="3383280" y="2606040"/>
            <a:ext cx="8229600" cy="1280160"/>
          </a:xfrm>
          <a:prstGeom prst="rect">
            <a:avLst/>
          </a:prstGeom>
          <a:noFill/>
        </p:spPr>
        <p:txBody>
          <a:bodyPr wrap="square" lIns="45720" tIns="27432" rIns="45720" bIns="27432" anchor="t">
            <a:noAutofit/>
          </a:bodyPr>
          <a:lstStyle/>
          <a:p>
            <a:pPr algn="l">
              <a:lnSpc>
                <a:spcPct val="115000"/>
              </a:lnSpc>
            </a:pPr>
            <a:r>
              <a:rPr lang="es-ES" sz="2200" b="0" i="0">
                <a:solidFill>
                  <a:srgbClr val="C7D2E8"/>
                </a:solidFill>
                <a:latin typeface="Calibri"/>
              </a:rPr>
              <a:t>La caja negra: de dónde nace el problema, qué se estudia, qué se propone y cómo se contrasta</a:t>
            </a:r>
          </a:p>
        </p:txBody>
      </p:sp>
      <p:sp>
        <p:nvSpPr>
          <p:cNvPr id="6" name="Rounded Rectangle 5"/>
          <p:cNvSpPr/>
          <p:nvPr/>
        </p:nvSpPr>
        <p:spPr>
          <a:xfrm>
            <a:off x="548640" y="5760720"/>
            <a:ext cx="1757629" cy="566928"/>
          </a:xfrm>
          <a:prstGeom prst="roundRect">
            <a:avLst>
              <a:gd name="adj" fmla="val 25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1" i="0">
                <a:solidFill>
                  <a:srgbClr val="FFFFFF"/>
                </a:solidFill>
                <a:latin typeface="Calibri"/>
              </a:rPr>
              <a:t>1. Introducción</a:t>
            </a:r>
          </a:p>
        </p:txBody>
      </p:sp>
      <p:sp>
        <p:nvSpPr>
          <p:cNvPr id="7" name="Rounded Rectangle 6"/>
          <p:cNvSpPr/>
          <p:nvPr/>
        </p:nvSpPr>
        <p:spPr>
          <a:xfrm>
            <a:off x="2415997" y="5760720"/>
            <a:ext cx="1757629" cy="566928"/>
          </a:xfrm>
          <a:prstGeom prst="roundRect">
            <a:avLst>
              <a:gd name="adj" fmla="val 25000"/>
            </a:avLst>
          </a:prstGeom>
          <a:solidFill>
            <a:srgbClr val="1C28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2. Base teórica</a:t>
            </a:r>
          </a:p>
        </p:txBody>
      </p:sp>
      <p:sp>
        <p:nvSpPr>
          <p:cNvPr id="8" name="Rounded Rectangle 7"/>
          <p:cNvSpPr/>
          <p:nvPr/>
        </p:nvSpPr>
        <p:spPr>
          <a:xfrm>
            <a:off x="4283354" y="5760720"/>
            <a:ext cx="1757629" cy="566928"/>
          </a:xfrm>
          <a:prstGeom prst="roundRect">
            <a:avLst>
              <a:gd name="adj" fmla="val 25000"/>
            </a:avLst>
          </a:prstGeom>
          <a:solidFill>
            <a:srgbClr val="1C28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3. Diseño y desarrollo del modelo</a:t>
            </a:r>
          </a:p>
        </p:txBody>
      </p:sp>
      <p:sp>
        <p:nvSpPr>
          <p:cNvPr id="9" name="Rounded Rectangle 8"/>
          <p:cNvSpPr/>
          <p:nvPr/>
        </p:nvSpPr>
        <p:spPr>
          <a:xfrm>
            <a:off x="6150711" y="5760720"/>
            <a:ext cx="1757629" cy="566928"/>
          </a:xfrm>
          <a:prstGeom prst="roundRect">
            <a:avLst>
              <a:gd name="adj" fmla="val 25000"/>
            </a:avLst>
          </a:prstGeom>
          <a:solidFill>
            <a:srgbClr val="1C28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4. Presentación de resultados</a:t>
            </a:r>
          </a:p>
        </p:txBody>
      </p:sp>
      <p:sp>
        <p:nvSpPr>
          <p:cNvPr id="10" name="Rounded Rectangle 9"/>
          <p:cNvSpPr/>
          <p:nvPr/>
        </p:nvSpPr>
        <p:spPr>
          <a:xfrm>
            <a:off x="8018068" y="5760720"/>
            <a:ext cx="1757629" cy="566928"/>
          </a:xfrm>
          <a:prstGeom prst="roundRect">
            <a:avLst>
              <a:gd name="adj" fmla="val 25000"/>
            </a:avLst>
          </a:prstGeom>
          <a:solidFill>
            <a:srgbClr val="1C28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5. Análisis de resultados</a:t>
            </a:r>
          </a:p>
        </p:txBody>
      </p:sp>
      <p:sp>
        <p:nvSpPr>
          <p:cNvPr id="11" name="Rounded Rectangle 10"/>
          <p:cNvSpPr/>
          <p:nvPr/>
        </p:nvSpPr>
        <p:spPr>
          <a:xfrm>
            <a:off x="9885426" y="5760720"/>
            <a:ext cx="1757629" cy="566928"/>
          </a:xfrm>
          <a:prstGeom prst="roundRect">
            <a:avLst>
              <a:gd name="adj" fmla="val 25000"/>
            </a:avLst>
          </a:prstGeom>
          <a:solidFill>
            <a:srgbClr val="1C28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6. Conclusiones y recomendaciones</a:t>
            </a:r>
          </a:p>
        </p:txBody>
      </p:sp>
      <p:pic>
        <p:nvPicPr>
          <p:cNvPr id="12" name="s02">
            <a:hlinkClick r:id="" action="ppaction://media"/>
            <a:extLst>
              <a:ext uri="{FF2B5EF4-FFF2-40B4-BE49-F238E27FC236}">
                <a16:creationId xmlns:a16="http://schemas.microsoft.com/office/drawing/2014/main" id="{81428A92-12FB-4350-F6D4-C66317AD429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940"/>
    </mc:Choice>
    <mc:Fallback>
      <p:transition spd="slow" advTm="694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168335" cy="868680"/>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La brecha: rigor abstracto o caja negra</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noAutofit/>
          </a:bodyPr>
          <a:lstStyle/>
          <a:p>
            <a:pPr algn="ctr">
              <a:lnSpc>
                <a:spcPct val="100000"/>
              </a:lnSpc>
            </a:pPr>
            <a:r>
              <a:rPr lang="es-ES" sz="1300" b="1" i="0">
                <a:solidFill>
                  <a:srgbClr val="1B2A4A"/>
                </a:solidFill>
                <a:latin typeface="Calibri"/>
              </a:rPr>
              <a:t>1  ·  Introducción</a:t>
            </a:r>
          </a:p>
        </p:txBody>
      </p:sp>
      <p:sp>
        <p:nvSpPr>
          <p:cNvPr id="5" name="Rounded Rectangle 4"/>
          <p:cNvSpPr/>
          <p:nvPr/>
        </p:nvSpPr>
        <p:spPr>
          <a:xfrm>
            <a:off x="548640" y="1481328"/>
            <a:ext cx="5364327" cy="3858768"/>
          </a:xfrm>
          <a:prstGeom prst="roundRect">
            <a:avLst>
              <a:gd name="adj" fmla="val 5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ounded Rectangle 5"/>
          <p:cNvSpPr/>
          <p:nvPr/>
        </p:nvSpPr>
        <p:spPr>
          <a:xfrm>
            <a:off x="548640" y="1481328"/>
            <a:ext cx="5364327" cy="603504"/>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548640" y="1810512"/>
            <a:ext cx="5364327" cy="2743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48640" y="1481328"/>
            <a:ext cx="5364327" cy="603504"/>
          </a:xfrm>
          <a:prstGeom prst="rect">
            <a:avLst/>
          </a:prstGeom>
          <a:noFill/>
        </p:spPr>
        <p:txBody>
          <a:bodyPr wrap="square" lIns="45720" tIns="27432" rIns="45720" bIns="27432" anchor="ctr">
            <a:noAutofit/>
          </a:bodyPr>
          <a:lstStyle/>
          <a:p>
            <a:pPr algn="ctr">
              <a:lnSpc>
                <a:spcPct val="105000"/>
              </a:lnSpc>
            </a:pPr>
            <a:r>
              <a:rPr lang="es-ES" sz="2400" b="1" i="0">
                <a:solidFill>
                  <a:srgbClr val="FFFFFF"/>
                </a:solidFill>
                <a:latin typeface="Calibri"/>
              </a:rPr>
              <a:t>Textos clásicos</a:t>
            </a:r>
          </a:p>
        </p:txBody>
      </p:sp>
      <p:sp>
        <p:nvSpPr>
          <p:cNvPr id="9" name="TextBox 8"/>
          <p:cNvSpPr txBox="1"/>
          <p:nvPr/>
        </p:nvSpPr>
        <p:spPr>
          <a:xfrm>
            <a:off x="777240" y="2194560"/>
            <a:ext cx="4907127" cy="3035808"/>
          </a:xfrm>
          <a:prstGeom prst="rect">
            <a:avLst/>
          </a:prstGeom>
          <a:noFill/>
        </p:spPr>
        <p:txBody>
          <a:bodyPr wrap="square" lIns="45720" tIns="27432" rIns="45720" bIns="27432" anchor="ctr">
            <a:noAutofit/>
          </a:bodyPr>
          <a:lstStyle/>
          <a:p>
            <a:pPr marL="347472" indent="-347472">
              <a:lnSpc>
                <a:spcPct val="112000"/>
              </a:lnSpc>
              <a:spcAft>
                <a:spcPts val="900"/>
              </a:spcAft>
              <a:buClr>
                <a:srgbClr val="1B2A4A"/>
              </a:buClr>
              <a:buSzPct val="100000"/>
              <a:buFont typeface="Arial"/>
              <a:buChar char="•"/>
            </a:pPr>
            <a:r>
              <a:rPr lang="es-ES" sz="2200" b="0" i="0">
                <a:solidFill>
                  <a:srgbClr val="1F2937"/>
                </a:solidFill>
                <a:latin typeface="Calibri"/>
              </a:rPr>
              <a:t>Funciones de forma, Jacobiano, matriz B y Gauss como cadena algebraica</a:t>
            </a:r>
          </a:p>
          <a:p>
            <a:pPr marL="347472" indent="-347472">
              <a:lnSpc>
                <a:spcPct val="112000"/>
              </a:lnSpc>
              <a:spcAft>
                <a:spcPts val="900"/>
              </a:spcAft>
              <a:buClr>
                <a:srgbClr val="1B2A4A"/>
              </a:buClr>
              <a:buSzPct val="100000"/>
              <a:buFont typeface="Arial"/>
              <a:buChar char="•"/>
            </a:pPr>
            <a:r>
              <a:rPr lang="es-ES" sz="2200" b="0" i="0">
                <a:solidFill>
                  <a:srgbClr val="1F2937"/>
                </a:solidFill>
                <a:latin typeface="Calibri"/>
              </a:rPr>
              <a:t>Sin una geometría concreta a la vista</a:t>
            </a:r>
          </a:p>
          <a:p>
            <a:pPr marL="347472" indent="-347472">
              <a:lnSpc>
                <a:spcPct val="112000"/>
              </a:lnSpc>
              <a:spcAft>
                <a:spcPts val="900"/>
              </a:spcAft>
              <a:buClr>
                <a:srgbClr val="1B2A4A"/>
              </a:buClr>
              <a:buSzPct val="100000"/>
              <a:buFont typeface="Arial"/>
              <a:buChar char="•"/>
            </a:pPr>
            <a:r>
              <a:rPr lang="es-ES" sz="2200" b="0" i="0">
                <a:solidFill>
                  <a:srgbClr val="1F2937"/>
                </a:solidFill>
                <a:latin typeface="Calibri"/>
              </a:rPr>
              <a:t>A mano no escala más allá de uno o dos elementos</a:t>
            </a:r>
          </a:p>
        </p:txBody>
      </p:sp>
      <p:sp>
        <p:nvSpPr>
          <p:cNvPr id="10" name="Rounded Rectangle 9"/>
          <p:cNvSpPr/>
          <p:nvPr/>
        </p:nvSpPr>
        <p:spPr>
          <a:xfrm>
            <a:off x="6278727" y="1481328"/>
            <a:ext cx="5364327" cy="3858768"/>
          </a:xfrm>
          <a:prstGeom prst="roundRect">
            <a:avLst>
              <a:gd name="adj" fmla="val 5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ounded Rectangle 10"/>
          <p:cNvSpPr/>
          <p:nvPr/>
        </p:nvSpPr>
        <p:spPr>
          <a:xfrm>
            <a:off x="6278727" y="1481328"/>
            <a:ext cx="5364327" cy="603504"/>
          </a:xfrm>
          <a:prstGeom prst="roundRect">
            <a:avLst>
              <a:gd name="adj" fmla="val 12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6278727" y="1810512"/>
            <a:ext cx="5364327" cy="2743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278727" y="1481328"/>
            <a:ext cx="5364327" cy="603504"/>
          </a:xfrm>
          <a:prstGeom prst="rect">
            <a:avLst/>
          </a:prstGeom>
          <a:noFill/>
        </p:spPr>
        <p:txBody>
          <a:bodyPr wrap="square" lIns="45720" tIns="27432" rIns="45720" bIns="27432" anchor="ctr">
            <a:noAutofit/>
          </a:bodyPr>
          <a:lstStyle/>
          <a:p>
            <a:pPr algn="ctr">
              <a:lnSpc>
                <a:spcPct val="105000"/>
              </a:lnSpc>
            </a:pPr>
            <a:r>
              <a:rPr lang="es-ES" sz="2400" b="1" i="0">
                <a:solidFill>
                  <a:srgbClr val="FFFFFF"/>
                </a:solidFill>
                <a:latin typeface="Calibri"/>
              </a:rPr>
              <a:t>Software profesional</a:t>
            </a:r>
          </a:p>
        </p:txBody>
      </p:sp>
      <p:sp>
        <p:nvSpPr>
          <p:cNvPr id="14" name="TextBox 13"/>
          <p:cNvSpPr txBox="1"/>
          <p:nvPr/>
        </p:nvSpPr>
        <p:spPr>
          <a:xfrm>
            <a:off x="6507327" y="2194560"/>
            <a:ext cx="4907127" cy="3035808"/>
          </a:xfrm>
          <a:prstGeom prst="rect">
            <a:avLst/>
          </a:prstGeom>
          <a:noFill/>
        </p:spPr>
        <p:txBody>
          <a:bodyPr wrap="square" lIns="45720" tIns="27432" rIns="45720" bIns="27432" anchor="ctr">
            <a:noAutofit/>
          </a:bodyPr>
          <a:lstStyle/>
          <a:p>
            <a:pPr marL="347472" indent="-347472">
              <a:lnSpc>
                <a:spcPct val="112000"/>
              </a:lnSpc>
              <a:spcAft>
                <a:spcPts val="900"/>
              </a:spcAft>
              <a:buClr>
                <a:srgbClr val="F28C28"/>
              </a:buClr>
              <a:buSzPct val="100000"/>
              <a:buFont typeface="Arial"/>
              <a:buChar char="•"/>
            </a:pPr>
            <a:r>
              <a:rPr lang="es-ES" sz="2200" b="1" i="0">
                <a:solidFill>
                  <a:srgbClr val="1B2A4A"/>
                </a:solidFill>
                <a:latin typeface="Calibri"/>
              </a:rPr>
              <a:t>Entradas → resultados:</a:t>
            </a:r>
            <a:r>
              <a:rPr lang="es-ES" sz="2200" b="0" i="0">
                <a:solidFill>
                  <a:srgbClr val="1F2937"/>
                </a:solidFill>
                <a:latin typeface="Calibri"/>
              </a:rPr>
              <a:t> el procesamiento intermedio queda oculto</a:t>
            </a:r>
          </a:p>
          <a:p>
            <a:pPr marL="347472" indent="-347472">
              <a:lnSpc>
                <a:spcPct val="112000"/>
              </a:lnSpc>
              <a:spcAft>
                <a:spcPts val="900"/>
              </a:spcAft>
              <a:buClr>
                <a:srgbClr val="F28C28"/>
              </a:buClr>
              <a:buSzPct val="100000"/>
              <a:buFont typeface="Arial"/>
              <a:buChar char="•"/>
            </a:pPr>
            <a:r>
              <a:rPr lang="es-ES" sz="2200" b="0" i="0">
                <a:solidFill>
                  <a:srgbClr val="1F2937"/>
                </a:solidFill>
                <a:latin typeface="Calibri"/>
              </a:rPr>
              <a:t>Costoso, sin propósito didáctico, localización al español limitada</a:t>
            </a:r>
          </a:p>
          <a:p>
            <a:pPr marL="347472" indent="-347472">
              <a:lnSpc>
                <a:spcPct val="112000"/>
              </a:lnSpc>
              <a:spcAft>
                <a:spcPts val="900"/>
              </a:spcAft>
              <a:buClr>
                <a:srgbClr val="F28C28"/>
              </a:buClr>
              <a:buSzPct val="100000"/>
              <a:buFont typeface="Arial"/>
              <a:buChar char="•"/>
            </a:pPr>
            <a:r>
              <a:rPr lang="es-ES" sz="2200" b="0" i="0">
                <a:solidFill>
                  <a:srgbClr val="1F2937"/>
                </a:solidFill>
                <a:latin typeface="Calibri"/>
              </a:rPr>
              <a:t>No deja diagnosticar bloqueo por cortante ni modos espurios (hourglass)</a:t>
            </a:r>
          </a:p>
        </p:txBody>
      </p:sp>
      <p:sp>
        <p:nvSpPr>
          <p:cNvPr id="15" name="Rectangle 14"/>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77240" y="5431536"/>
            <a:ext cx="10774375"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Brecha doble: dificultad genuina del método e insuficiencia de herramientas que expongan el proceso</a:t>
            </a:r>
          </a:p>
        </p:txBody>
      </p:sp>
      <p:sp>
        <p:nvSpPr>
          <p:cNvPr id="18" name="Rectangle 17"/>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48640" y="6419088"/>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0" name="TextBox 19"/>
          <p:cNvSpPr txBox="1"/>
          <p:nvPr/>
        </p:nvSpPr>
        <p:spPr>
          <a:xfrm>
            <a:off x="4023360" y="6419088"/>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Introducción, planteamiento del problema</a:t>
            </a:r>
          </a:p>
        </p:txBody>
      </p:sp>
      <p:sp>
        <p:nvSpPr>
          <p:cNvPr id="21" name="TextBox 20"/>
          <p:cNvSpPr txBox="1"/>
          <p:nvPr/>
        </p:nvSpPr>
        <p:spPr>
          <a:xfrm>
            <a:off x="10545775" y="6419088"/>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3</a:t>
            </a:fld>
            <a:endParaRPr lang="es-ES" sz="1200" dirty="0">
              <a:solidFill>
                <a:srgbClr val="5B6575"/>
              </a:solidFill>
              <a:latin typeface="Calibri"/>
            </a:endParaRPr>
          </a:p>
        </p:txBody>
      </p:sp>
      <p:pic>
        <p:nvPicPr>
          <p:cNvPr id="22" name="s03">
            <a:hlinkClick r:id="" action="ppaction://media"/>
            <a:extLst>
              <a:ext uri="{FF2B5EF4-FFF2-40B4-BE49-F238E27FC236}">
                <a16:creationId xmlns:a16="http://schemas.microsoft.com/office/drawing/2014/main" id="{64E06C78-1B37-409A-D242-3E1403BA4AE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556"/>
    </mc:Choice>
    <mc:Fallback>
      <p:transition spd="slow" advTm="4555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168335" cy="868680"/>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Del problema al objetivo</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noAutofit/>
          </a:bodyPr>
          <a:lstStyle/>
          <a:p>
            <a:pPr algn="ctr">
              <a:lnSpc>
                <a:spcPct val="100000"/>
              </a:lnSpc>
            </a:pPr>
            <a:r>
              <a:rPr lang="es-ES" sz="1300" b="1" i="0">
                <a:solidFill>
                  <a:srgbClr val="1B2A4A"/>
                </a:solidFill>
                <a:latin typeface="Calibri"/>
              </a:rPr>
              <a:t>1  ·  Introducción</a:t>
            </a:r>
          </a:p>
        </p:txBody>
      </p:sp>
      <p:sp>
        <p:nvSpPr>
          <p:cNvPr id="5" name="Rounded Rectangle 4"/>
          <p:cNvSpPr/>
          <p:nvPr/>
        </p:nvSpPr>
        <p:spPr>
          <a:xfrm>
            <a:off x="548640" y="2702052"/>
            <a:ext cx="1736079"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640" y="2793492"/>
            <a:ext cx="1736079" cy="731520"/>
          </a:xfrm>
          <a:prstGeom prst="rect">
            <a:avLst/>
          </a:prstGeom>
          <a:noFill/>
        </p:spPr>
        <p:txBody>
          <a:bodyPr wrap="square" lIns="73152" tIns="18288" rIns="73152" bIns="18288" anchor="t">
            <a:noAutofit/>
          </a:bodyPr>
          <a:lstStyle/>
          <a:p>
            <a:pPr algn="ctr">
              <a:lnSpc>
                <a:spcPct val="100000"/>
              </a:lnSpc>
            </a:pPr>
            <a:r>
              <a:rPr lang="es-ES" sz="1700" b="1" i="0">
                <a:solidFill>
                  <a:srgbClr val="FFFFFF"/>
                </a:solidFill>
                <a:latin typeface="Calibri"/>
              </a:rPr>
              <a:t>Situación problemática</a:t>
            </a:r>
          </a:p>
        </p:txBody>
      </p:sp>
      <p:sp>
        <p:nvSpPr>
          <p:cNvPr id="7" name="TextBox 6"/>
          <p:cNvSpPr txBox="1"/>
          <p:nvPr/>
        </p:nvSpPr>
        <p:spPr>
          <a:xfrm>
            <a:off x="548640" y="3552444"/>
            <a:ext cx="1736079" cy="502920"/>
          </a:xfrm>
          <a:prstGeom prst="rect">
            <a:avLst/>
          </a:prstGeom>
          <a:noFill/>
        </p:spPr>
        <p:txBody>
          <a:bodyPr wrap="square" lIns="73152" tIns="18288" rIns="73152" bIns="54864" anchor="b">
            <a:noAutofit/>
          </a:bodyPr>
          <a:lstStyle/>
          <a:p>
            <a:pPr algn="ctr">
              <a:lnSpc>
                <a:spcPct val="100000"/>
              </a:lnSpc>
            </a:pPr>
            <a:r>
              <a:rPr lang="es-ES" sz="1300" b="0" i="0">
                <a:solidFill>
                  <a:srgbClr val="C7D2E8"/>
                </a:solidFill>
                <a:latin typeface="Calibri"/>
              </a:rPr>
              <a:t>brecha doble: texto y caja negra</a:t>
            </a:r>
          </a:p>
        </p:txBody>
      </p:sp>
      <p:sp>
        <p:nvSpPr>
          <p:cNvPr id="8" name="Right Arrow 7"/>
          <p:cNvSpPr/>
          <p:nvPr/>
        </p:nvSpPr>
        <p:spPr>
          <a:xfrm>
            <a:off x="2394447" y="326440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888223" y="2702052"/>
            <a:ext cx="1736079"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2888223" y="2793492"/>
            <a:ext cx="1736079" cy="731520"/>
          </a:xfrm>
          <a:prstGeom prst="rect">
            <a:avLst/>
          </a:prstGeom>
          <a:noFill/>
        </p:spPr>
        <p:txBody>
          <a:bodyPr wrap="square" lIns="73152" tIns="18288" rIns="73152" bIns="18288" anchor="t">
            <a:noAutofit/>
          </a:bodyPr>
          <a:lstStyle/>
          <a:p>
            <a:pPr algn="ctr">
              <a:lnSpc>
                <a:spcPct val="100000"/>
              </a:lnSpc>
            </a:pPr>
            <a:r>
              <a:rPr lang="es-ES" sz="1700" b="1" i="0">
                <a:solidFill>
                  <a:srgbClr val="FFFFFF"/>
                </a:solidFill>
                <a:latin typeface="Calibri"/>
              </a:rPr>
              <a:t>Problema científico</a:t>
            </a:r>
          </a:p>
        </p:txBody>
      </p:sp>
      <p:sp>
        <p:nvSpPr>
          <p:cNvPr id="11" name="TextBox 10"/>
          <p:cNvSpPr txBox="1"/>
          <p:nvPr/>
        </p:nvSpPr>
        <p:spPr>
          <a:xfrm>
            <a:off x="2888223" y="3552444"/>
            <a:ext cx="1736079" cy="502920"/>
          </a:xfrm>
          <a:prstGeom prst="rect">
            <a:avLst/>
          </a:prstGeom>
          <a:noFill/>
        </p:spPr>
        <p:txBody>
          <a:bodyPr wrap="square" lIns="73152" tIns="18288" rIns="73152" bIns="54864" anchor="b">
            <a:noAutofit/>
          </a:bodyPr>
          <a:lstStyle/>
          <a:p>
            <a:pPr algn="ctr">
              <a:lnSpc>
                <a:spcPct val="100000"/>
              </a:lnSpc>
            </a:pPr>
            <a:r>
              <a:rPr lang="es-ES" sz="1300" b="0" i="0">
                <a:solidFill>
                  <a:srgbClr val="C7D2E8"/>
                </a:solidFill>
                <a:latin typeface="Calibri"/>
              </a:rPr>
              <a:t>cómo exponer el canal completo</a:t>
            </a:r>
          </a:p>
        </p:txBody>
      </p:sp>
      <p:sp>
        <p:nvSpPr>
          <p:cNvPr id="12" name="Right Arrow 11"/>
          <p:cNvSpPr/>
          <p:nvPr/>
        </p:nvSpPr>
        <p:spPr>
          <a:xfrm>
            <a:off x="4734031" y="326440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227807" y="2702052"/>
            <a:ext cx="1736079"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227807" y="2793492"/>
            <a:ext cx="1736079" cy="731520"/>
          </a:xfrm>
          <a:prstGeom prst="rect">
            <a:avLst/>
          </a:prstGeom>
          <a:noFill/>
        </p:spPr>
        <p:txBody>
          <a:bodyPr wrap="square" lIns="73152" tIns="18288" rIns="73152" bIns="18288" anchor="t">
            <a:noAutofit/>
          </a:bodyPr>
          <a:lstStyle/>
          <a:p>
            <a:pPr algn="ctr">
              <a:lnSpc>
                <a:spcPct val="100000"/>
              </a:lnSpc>
            </a:pPr>
            <a:r>
              <a:rPr lang="es-ES" sz="1700" b="1" i="0">
                <a:solidFill>
                  <a:srgbClr val="FFFFFF"/>
                </a:solidFill>
                <a:latin typeface="Calibri"/>
              </a:rPr>
              <a:t>Objeto de estudio</a:t>
            </a:r>
          </a:p>
        </p:txBody>
      </p:sp>
      <p:sp>
        <p:nvSpPr>
          <p:cNvPr id="15" name="TextBox 14"/>
          <p:cNvSpPr txBox="1"/>
          <p:nvPr/>
        </p:nvSpPr>
        <p:spPr>
          <a:xfrm>
            <a:off x="5227807" y="3552444"/>
            <a:ext cx="1736079" cy="502920"/>
          </a:xfrm>
          <a:prstGeom prst="rect">
            <a:avLst/>
          </a:prstGeom>
          <a:noFill/>
        </p:spPr>
        <p:txBody>
          <a:bodyPr wrap="square" lIns="73152" tIns="18288" rIns="73152" bIns="54864" anchor="b">
            <a:noAutofit/>
          </a:bodyPr>
          <a:lstStyle/>
          <a:p>
            <a:pPr algn="ctr">
              <a:lnSpc>
                <a:spcPct val="100000"/>
              </a:lnSpc>
            </a:pPr>
            <a:r>
              <a:rPr lang="es-ES" sz="1300" b="0" i="0">
                <a:solidFill>
                  <a:srgbClr val="C7D2E8"/>
                </a:solidFill>
                <a:latin typeface="Calibri"/>
              </a:rPr>
              <a:t>canal del MEF plano, Q4 y Q9</a:t>
            </a:r>
          </a:p>
        </p:txBody>
      </p:sp>
      <p:sp>
        <p:nvSpPr>
          <p:cNvPr id="16" name="Right Arrow 15"/>
          <p:cNvSpPr/>
          <p:nvPr/>
        </p:nvSpPr>
        <p:spPr>
          <a:xfrm>
            <a:off x="7073615" y="326440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567391" y="2702052"/>
            <a:ext cx="1736079"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567391" y="2793492"/>
            <a:ext cx="1736079" cy="731520"/>
          </a:xfrm>
          <a:prstGeom prst="rect">
            <a:avLst/>
          </a:prstGeom>
          <a:noFill/>
        </p:spPr>
        <p:txBody>
          <a:bodyPr wrap="square" lIns="73152" tIns="18288" rIns="73152" bIns="18288" anchor="t">
            <a:noAutofit/>
          </a:bodyPr>
          <a:lstStyle/>
          <a:p>
            <a:pPr algn="ctr">
              <a:lnSpc>
                <a:spcPct val="100000"/>
              </a:lnSpc>
            </a:pPr>
            <a:r>
              <a:rPr lang="es-ES" sz="1700" b="1" i="0">
                <a:solidFill>
                  <a:srgbClr val="FFFFFF"/>
                </a:solidFill>
                <a:latin typeface="Calibri"/>
              </a:rPr>
              <a:t>Campo de acción</a:t>
            </a:r>
          </a:p>
        </p:txBody>
      </p:sp>
      <p:sp>
        <p:nvSpPr>
          <p:cNvPr id="19" name="TextBox 18"/>
          <p:cNvSpPr txBox="1"/>
          <p:nvPr/>
        </p:nvSpPr>
        <p:spPr>
          <a:xfrm>
            <a:off x="7567391" y="3552444"/>
            <a:ext cx="1736079" cy="502920"/>
          </a:xfrm>
          <a:prstGeom prst="rect">
            <a:avLst/>
          </a:prstGeom>
          <a:noFill/>
        </p:spPr>
        <p:txBody>
          <a:bodyPr wrap="square" lIns="73152" tIns="18288" rIns="73152" bIns="54864" anchor="b">
            <a:noAutofit/>
          </a:bodyPr>
          <a:lstStyle/>
          <a:p>
            <a:pPr algn="ctr">
              <a:lnSpc>
                <a:spcPct val="100000"/>
              </a:lnSpc>
            </a:pPr>
            <a:r>
              <a:rPr lang="es-ES" sz="1300" b="0" i="0">
                <a:solidFill>
                  <a:srgbClr val="C7D2E8"/>
                </a:solidFill>
                <a:latin typeface="Calibri"/>
              </a:rPr>
              <a:t>su enseñanza: software y memoria</a:t>
            </a:r>
          </a:p>
        </p:txBody>
      </p:sp>
      <p:sp>
        <p:nvSpPr>
          <p:cNvPr id="20" name="Right Arrow 19"/>
          <p:cNvSpPr/>
          <p:nvPr/>
        </p:nvSpPr>
        <p:spPr>
          <a:xfrm>
            <a:off x="9413199" y="326440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906975" y="2702052"/>
            <a:ext cx="1736079"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9906975" y="2793492"/>
            <a:ext cx="1736079" cy="731520"/>
          </a:xfrm>
          <a:prstGeom prst="rect">
            <a:avLst/>
          </a:prstGeom>
          <a:noFill/>
        </p:spPr>
        <p:txBody>
          <a:bodyPr wrap="square" lIns="73152" tIns="18288" rIns="73152" bIns="18288" anchor="t">
            <a:noAutofit/>
          </a:bodyPr>
          <a:lstStyle/>
          <a:p>
            <a:pPr algn="ctr">
              <a:lnSpc>
                <a:spcPct val="100000"/>
              </a:lnSpc>
            </a:pPr>
            <a:r>
              <a:rPr lang="es-ES" sz="1700" b="1" i="0">
                <a:solidFill>
                  <a:srgbClr val="FFFFFF"/>
                </a:solidFill>
                <a:latin typeface="Calibri"/>
              </a:rPr>
              <a:t>Objetivo general</a:t>
            </a:r>
          </a:p>
        </p:txBody>
      </p:sp>
      <p:sp>
        <p:nvSpPr>
          <p:cNvPr id="23" name="TextBox 22"/>
          <p:cNvSpPr txBox="1"/>
          <p:nvPr/>
        </p:nvSpPr>
        <p:spPr>
          <a:xfrm>
            <a:off x="9906975" y="3552444"/>
            <a:ext cx="1736079" cy="502920"/>
          </a:xfrm>
          <a:prstGeom prst="rect">
            <a:avLst/>
          </a:prstGeom>
          <a:noFill/>
        </p:spPr>
        <p:txBody>
          <a:bodyPr wrap="square" lIns="73152" tIns="18288" rIns="73152" bIns="54864" anchor="b">
            <a:noAutofit/>
          </a:bodyPr>
          <a:lstStyle/>
          <a:p>
            <a:pPr algn="ctr">
              <a:lnSpc>
                <a:spcPct val="100000"/>
              </a:lnSpc>
            </a:pPr>
            <a:r>
              <a:rPr lang="es-ES" sz="1300" b="0" i="0">
                <a:solidFill>
                  <a:srgbClr val="C7D2E8"/>
                </a:solidFill>
                <a:latin typeface="Calibri"/>
              </a:rPr>
              <a:t>desarrollar EduFEM</a:t>
            </a:r>
          </a:p>
        </p:txBody>
      </p:sp>
      <p:sp>
        <p:nvSpPr>
          <p:cNvPr id="24" name="Rectangle 23"/>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777240" y="5431536"/>
            <a:ext cx="10774375"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Variable causa: cómo se expone el canal · Variable efecto: observabilidad y contrastabilidad del procedimiento</a:t>
            </a:r>
          </a:p>
        </p:txBody>
      </p:sp>
      <p:sp>
        <p:nvSpPr>
          <p:cNvPr id="27" name="Rectangle 26"/>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548640" y="6419088"/>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9" name="TextBox 28"/>
          <p:cNvSpPr txBox="1"/>
          <p:nvPr/>
        </p:nvSpPr>
        <p:spPr>
          <a:xfrm>
            <a:off x="4023360" y="6419088"/>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Introducción, problema científico, objeto y campo</a:t>
            </a:r>
          </a:p>
        </p:txBody>
      </p:sp>
      <p:sp>
        <p:nvSpPr>
          <p:cNvPr id="30" name="TextBox 29"/>
          <p:cNvSpPr txBox="1"/>
          <p:nvPr/>
        </p:nvSpPr>
        <p:spPr>
          <a:xfrm>
            <a:off x="10545775" y="6419088"/>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4</a:t>
            </a:fld>
            <a:endParaRPr lang="es-ES" sz="1200" dirty="0">
              <a:solidFill>
                <a:srgbClr val="5B6575"/>
              </a:solidFill>
              <a:latin typeface="Calibri"/>
            </a:endParaRPr>
          </a:p>
        </p:txBody>
      </p:sp>
      <p:pic>
        <p:nvPicPr>
          <p:cNvPr id="31" name="s04">
            <a:hlinkClick r:id="" action="ppaction://media"/>
            <a:extLst>
              <a:ext uri="{FF2B5EF4-FFF2-40B4-BE49-F238E27FC236}">
                <a16:creationId xmlns:a16="http://schemas.microsoft.com/office/drawing/2014/main" id="{3AD70224-78CF-F2E3-1170-5F6D131FB68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756"/>
    </mc:Choice>
    <mc:Fallback>
      <p:transition spd="slow" advTm="5275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31"/>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168335" cy="868680"/>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Un objetivo general, seis específicos</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noAutofit/>
          </a:bodyPr>
          <a:lstStyle/>
          <a:p>
            <a:pPr algn="ctr">
              <a:lnSpc>
                <a:spcPct val="100000"/>
              </a:lnSpc>
            </a:pPr>
            <a:r>
              <a:rPr lang="es-ES" sz="1300" b="1" i="0">
                <a:solidFill>
                  <a:srgbClr val="1B2A4A"/>
                </a:solidFill>
                <a:latin typeface="Calibri"/>
              </a:rPr>
              <a:t>1  ·  Introducción</a:t>
            </a:r>
          </a:p>
        </p:txBody>
      </p:sp>
      <p:sp>
        <p:nvSpPr>
          <p:cNvPr id="5" name="TextBox 4"/>
          <p:cNvSpPr txBox="1"/>
          <p:nvPr/>
        </p:nvSpPr>
        <p:spPr>
          <a:xfrm>
            <a:off x="548640" y="1481328"/>
            <a:ext cx="11094415" cy="411480"/>
          </a:xfrm>
          <a:prstGeom prst="rect">
            <a:avLst/>
          </a:prstGeom>
          <a:noFill/>
        </p:spPr>
        <p:txBody>
          <a:bodyPr wrap="square" lIns="45720" tIns="27432" rIns="45720" bIns="27432" anchor="t">
            <a:noAutofit/>
          </a:bodyPr>
          <a:lstStyle/>
          <a:p>
            <a:pPr algn="l">
              <a:lnSpc>
                <a:spcPct val="105000"/>
              </a:lnSpc>
            </a:pPr>
            <a:r>
              <a:rPr lang="es-ES" sz="1800" b="0" i="1">
                <a:solidFill>
                  <a:srgbClr val="5B6575"/>
                </a:solidFill>
                <a:latin typeface="Calibri"/>
              </a:rPr>
              <a:t>Desarrollar EduFEM integrando formulación matemática, modelado interactivo y verificación numérica</a:t>
            </a:r>
          </a:p>
        </p:txBody>
      </p:sp>
      <p:graphicFrame>
        <p:nvGraphicFramePr>
          <p:cNvPr id="6" name="Table 5"/>
          <p:cNvGraphicFramePr>
            <a:graphicFrameLocks noGrp="1"/>
          </p:cNvGraphicFramePr>
          <p:nvPr/>
        </p:nvGraphicFramePr>
        <p:xfrm>
          <a:off x="548640" y="1938528"/>
          <a:ext cx="11094413" cy="3712464"/>
        </p:xfrm>
        <a:graphic>
          <a:graphicData uri="http://schemas.openxmlformats.org/drawingml/2006/table">
            <a:tbl>
              <a:tblPr>
                <a:tableStyleId>{5C22544A-7EE6-4342-B048-85BDC9FD1C3A}</a:tableStyleId>
              </a:tblPr>
              <a:tblGrid>
                <a:gridCol w="973218">
                  <a:extLst>
                    <a:ext uri="{9D8B030D-6E8A-4147-A177-3AD203B41FA5}">
                      <a16:colId xmlns:a16="http://schemas.microsoft.com/office/drawing/2014/main" val="20000"/>
                    </a:ext>
                  </a:extLst>
                </a:gridCol>
                <a:gridCol w="7820924">
                  <a:extLst>
                    <a:ext uri="{9D8B030D-6E8A-4147-A177-3AD203B41FA5}">
                      <a16:colId xmlns:a16="http://schemas.microsoft.com/office/drawing/2014/main" val="20001"/>
                    </a:ext>
                  </a:extLst>
                </a:gridCol>
                <a:gridCol w="2300271">
                  <a:extLst>
                    <a:ext uri="{9D8B030D-6E8A-4147-A177-3AD203B41FA5}">
                      <a16:colId xmlns:a16="http://schemas.microsoft.com/office/drawing/2014/main" val="20002"/>
                    </a:ext>
                  </a:extLst>
                </a:gridCol>
              </a:tblGrid>
              <a:tr h="530352">
                <a:tc>
                  <a:txBody>
                    <a:bodyPr/>
                    <a:lstStyle/>
                    <a:p>
                      <a:pPr algn="l"/>
                      <a:r>
                        <a:rPr lang="es-ES" sz="2000" b="1" i="0">
                          <a:solidFill>
                            <a:srgbClr val="FFFFFF"/>
                          </a:solidFill>
                          <a:latin typeface="Calibri"/>
                        </a:rPr>
                        <a:t>OE</a:t>
                      </a:r>
                    </a:p>
                  </a:txBody>
                  <a:tcPr marL="73152" marR="73152" marT="27432" marB="27432" anchor="ctr">
                    <a:solidFill>
                      <a:srgbClr val="1B2A4A"/>
                    </a:solidFill>
                  </a:tcPr>
                </a:tc>
                <a:tc>
                  <a:txBody>
                    <a:bodyPr/>
                    <a:lstStyle/>
                    <a:p>
                      <a:pPr algn="ctr"/>
                      <a:r>
                        <a:rPr lang="es-ES" sz="2000" b="1" i="0">
                          <a:solidFill>
                            <a:srgbClr val="FFFFFF"/>
                          </a:solidFill>
                          <a:latin typeface="Calibri"/>
                        </a:rPr>
                        <a:t>Qué se hace</a:t>
                      </a:r>
                    </a:p>
                  </a:txBody>
                  <a:tcPr marL="73152" marR="73152" marT="27432" marB="27432" anchor="ctr">
                    <a:solidFill>
                      <a:srgbClr val="1B2A4A"/>
                    </a:solidFill>
                  </a:tcPr>
                </a:tc>
                <a:tc>
                  <a:txBody>
                    <a:bodyPr/>
                    <a:lstStyle/>
                    <a:p>
                      <a:pPr algn="ctr"/>
                      <a:r>
                        <a:rPr lang="es-ES" sz="2000" b="1" i="0">
                          <a:solidFill>
                            <a:srgbClr val="FFFFFF"/>
                          </a:solidFill>
                          <a:latin typeface="Calibri"/>
                        </a:rPr>
                        <a:t>Dónde se cumple</a:t>
                      </a:r>
                    </a:p>
                  </a:txBody>
                  <a:tcPr marL="73152" marR="73152" marT="27432" marB="27432" anchor="ctr">
                    <a:solidFill>
                      <a:srgbClr val="1B2A4A"/>
                    </a:solidFill>
                  </a:tcPr>
                </a:tc>
                <a:extLst>
                  <a:ext uri="{0D108BD9-81ED-4DB2-BD59-A6C34878D82A}">
                    <a16:rowId xmlns:a16="http://schemas.microsoft.com/office/drawing/2014/main" val="10000"/>
                  </a:ext>
                </a:extLst>
              </a:tr>
              <a:tr h="530352">
                <a:tc>
                  <a:txBody>
                    <a:bodyPr/>
                    <a:lstStyle/>
                    <a:p>
                      <a:pPr algn="l"/>
                      <a:r>
                        <a:rPr lang="es-ES" sz="2000" b="1" i="0">
                          <a:solidFill>
                            <a:srgbClr val="1F2937"/>
                          </a:solidFill>
                          <a:latin typeface="Calibri"/>
                        </a:rPr>
                        <a:t>OE1</a:t>
                      </a:r>
                    </a:p>
                  </a:txBody>
                  <a:tcPr marL="73152" marR="73152" marT="27432" marB="27432" anchor="ctr">
                    <a:solidFill>
                      <a:srgbClr val="FFFFFF"/>
                    </a:solidFill>
                  </a:tcPr>
                </a:tc>
                <a:tc>
                  <a:txBody>
                    <a:bodyPr/>
                    <a:lstStyle/>
                    <a:p>
                      <a:pPr algn="ctr"/>
                      <a:r>
                        <a:rPr lang="es-ES" sz="2000" b="0" i="0">
                          <a:solidFill>
                            <a:srgbClr val="1F2937"/>
                          </a:solidFill>
                          <a:latin typeface="Calibri"/>
                        </a:rPr>
                        <a:t>Fundamentar el MEF plano con Q4 y Q9</a:t>
                      </a:r>
                    </a:p>
                  </a:txBody>
                  <a:tcPr marL="73152" marR="73152" marT="27432" marB="27432" anchor="ctr">
                    <a:solidFill>
                      <a:srgbClr val="FFFFFF"/>
                    </a:solidFill>
                  </a:tcPr>
                </a:tc>
                <a:tc>
                  <a:txBody>
                    <a:bodyPr/>
                    <a:lstStyle/>
                    <a:p>
                      <a:pPr algn="ctr"/>
                      <a:r>
                        <a:rPr lang="es-ES" sz="2000" b="0" i="0">
                          <a:solidFill>
                            <a:srgbClr val="1F2937"/>
                          </a:solidFill>
                          <a:latin typeface="Calibri"/>
                        </a:rPr>
                        <a:t>Cap. 1</a:t>
                      </a:r>
                    </a:p>
                  </a:txBody>
                  <a:tcPr marL="73152" marR="73152" marT="27432" marB="27432" anchor="ctr">
                    <a:solidFill>
                      <a:srgbClr val="FFFFFF"/>
                    </a:solidFill>
                  </a:tcPr>
                </a:tc>
                <a:extLst>
                  <a:ext uri="{0D108BD9-81ED-4DB2-BD59-A6C34878D82A}">
                    <a16:rowId xmlns:a16="http://schemas.microsoft.com/office/drawing/2014/main" val="10001"/>
                  </a:ext>
                </a:extLst>
              </a:tr>
              <a:tr h="530352">
                <a:tc>
                  <a:txBody>
                    <a:bodyPr/>
                    <a:lstStyle/>
                    <a:p>
                      <a:pPr algn="l"/>
                      <a:r>
                        <a:rPr lang="es-ES" sz="2000" b="1" i="0">
                          <a:solidFill>
                            <a:srgbClr val="1F2937"/>
                          </a:solidFill>
                          <a:latin typeface="Calibri"/>
                        </a:rPr>
                        <a:t>OE2</a:t>
                      </a:r>
                    </a:p>
                  </a:txBody>
                  <a:tcPr marL="73152" marR="73152" marT="27432" marB="27432" anchor="ctr">
                    <a:solidFill>
                      <a:srgbClr val="F3F4F6"/>
                    </a:solidFill>
                  </a:tcPr>
                </a:tc>
                <a:tc>
                  <a:txBody>
                    <a:bodyPr/>
                    <a:lstStyle/>
                    <a:p>
                      <a:pPr algn="ctr"/>
                      <a:r>
                        <a:rPr lang="es-ES" sz="2000" b="0" i="0">
                          <a:solidFill>
                            <a:srgbClr val="1F2937"/>
                          </a:solidFill>
                          <a:latin typeface="Calibri"/>
                        </a:rPr>
                        <a:t>Motor MEF 2D verificado numéricamente</a:t>
                      </a:r>
                    </a:p>
                  </a:txBody>
                  <a:tcPr marL="73152" marR="73152" marT="27432" marB="27432" anchor="ctr">
                    <a:solidFill>
                      <a:srgbClr val="F3F4F6"/>
                    </a:solidFill>
                  </a:tcPr>
                </a:tc>
                <a:tc>
                  <a:txBody>
                    <a:bodyPr/>
                    <a:lstStyle/>
                    <a:p>
                      <a:pPr algn="ctr"/>
                      <a:r>
                        <a:rPr lang="es-ES" sz="2000" b="0" i="0">
                          <a:solidFill>
                            <a:srgbClr val="1F2937"/>
                          </a:solidFill>
                          <a:latin typeface="Calibri"/>
                        </a:rPr>
                        <a:t>Cap. 2 · Cap. 3</a:t>
                      </a:r>
                    </a:p>
                  </a:txBody>
                  <a:tcPr marL="73152" marR="73152" marT="27432" marB="27432" anchor="ctr">
                    <a:solidFill>
                      <a:srgbClr val="F3F4F6"/>
                    </a:solidFill>
                  </a:tcPr>
                </a:tc>
                <a:extLst>
                  <a:ext uri="{0D108BD9-81ED-4DB2-BD59-A6C34878D82A}">
                    <a16:rowId xmlns:a16="http://schemas.microsoft.com/office/drawing/2014/main" val="10002"/>
                  </a:ext>
                </a:extLst>
              </a:tr>
              <a:tr h="530352">
                <a:tc>
                  <a:txBody>
                    <a:bodyPr/>
                    <a:lstStyle/>
                    <a:p>
                      <a:pPr algn="l"/>
                      <a:r>
                        <a:rPr lang="es-ES" sz="2000" b="1" i="0">
                          <a:solidFill>
                            <a:srgbClr val="1F2937"/>
                          </a:solidFill>
                          <a:latin typeface="Calibri"/>
                        </a:rPr>
                        <a:t>OE3</a:t>
                      </a:r>
                    </a:p>
                  </a:txBody>
                  <a:tcPr marL="73152" marR="73152" marT="27432" marB="27432" anchor="ctr">
                    <a:solidFill>
                      <a:srgbClr val="FFFFFF"/>
                    </a:solidFill>
                  </a:tcPr>
                </a:tc>
                <a:tc>
                  <a:txBody>
                    <a:bodyPr/>
                    <a:lstStyle/>
                    <a:p>
                      <a:pPr algn="ctr"/>
                      <a:r>
                        <a:rPr lang="es-ES" sz="2000" b="0" i="0">
                          <a:solidFill>
                            <a:srgbClr val="1F2937"/>
                          </a:solidFill>
                          <a:latin typeface="Calibri"/>
                        </a:rPr>
                        <a:t>Interfaz pre / proceso / post con lienzo único</a:t>
                      </a:r>
                    </a:p>
                  </a:txBody>
                  <a:tcPr marL="73152" marR="73152" marT="27432" marB="27432" anchor="ctr">
                    <a:solidFill>
                      <a:srgbClr val="FFFFFF"/>
                    </a:solidFill>
                  </a:tcPr>
                </a:tc>
                <a:tc>
                  <a:txBody>
                    <a:bodyPr/>
                    <a:lstStyle/>
                    <a:p>
                      <a:pPr algn="ctr"/>
                      <a:r>
                        <a:rPr lang="es-ES" sz="2000" b="0" i="0">
                          <a:solidFill>
                            <a:srgbClr val="1F2937"/>
                          </a:solidFill>
                          <a:latin typeface="Calibri"/>
                        </a:rPr>
                        <a:t>Cap. 2</a:t>
                      </a:r>
                    </a:p>
                  </a:txBody>
                  <a:tcPr marL="73152" marR="73152" marT="27432" marB="27432" anchor="ctr">
                    <a:solidFill>
                      <a:srgbClr val="FFFFFF"/>
                    </a:solidFill>
                  </a:tcPr>
                </a:tc>
                <a:extLst>
                  <a:ext uri="{0D108BD9-81ED-4DB2-BD59-A6C34878D82A}">
                    <a16:rowId xmlns:a16="http://schemas.microsoft.com/office/drawing/2014/main" val="10003"/>
                  </a:ext>
                </a:extLst>
              </a:tr>
              <a:tr h="530352">
                <a:tc>
                  <a:txBody>
                    <a:bodyPr/>
                    <a:lstStyle/>
                    <a:p>
                      <a:pPr algn="l"/>
                      <a:r>
                        <a:rPr lang="es-ES" sz="2000" b="1" i="0">
                          <a:solidFill>
                            <a:srgbClr val="1F2937"/>
                          </a:solidFill>
                          <a:latin typeface="Calibri"/>
                        </a:rPr>
                        <a:t>OE4</a:t>
                      </a:r>
                    </a:p>
                  </a:txBody>
                  <a:tcPr marL="73152" marR="73152" marT="27432" marB="27432" anchor="ctr">
                    <a:solidFill>
                      <a:srgbClr val="F3F4F6"/>
                    </a:solidFill>
                  </a:tcPr>
                </a:tc>
                <a:tc>
                  <a:txBody>
                    <a:bodyPr/>
                    <a:lstStyle/>
                    <a:p>
                      <a:pPr algn="ctr"/>
                      <a:r>
                        <a:rPr lang="es-ES" sz="2000" b="0" i="0">
                          <a:solidFill>
                            <a:srgbClr val="1F2937"/>
                          </a:solidFill>
                          <a:latin typeface="Calibri"/>
                        </a:rPr>
                        <a:t>Módulos educativos paso a paso sobre el modelo real</a:t>
                      </a:r>
                    </a:p>
                  </a:txBody>
                  <a:tcPr marL="73152" marR="73152" marT="27432" marB="27432" anchor="ctr">
                    <a:solidFill>
                      <a:srgbClr val="F3F4F6"/>
                    </a:solidFill>
                  </a:tcPr>
                </a:tc>
                <a:tc>
                  <a:txBody>
                    <a:bodyPr/>
                    <a:lstStyle/>
                    <a:p>
                      <a:pPr algn="ctr"/>
                      <a:r>
                        <a:rPr lang="es-ES" sz="2000" b="0" i="0">
                          <a:solidFill>
                            <a:srgbClr val="1F2937"/>
                          </a:solidFill>
                          <a:latin typeface="Calibri"/>
                        </a:rPr>
                        <a:t>Cap. 2 · Cap. 3</a:t>
                      </a:r>
                    </a:p>
                  </a:txBody>
                  <a:tcPr marL="73152" marR="73152" marT="27432" marB="27432" anchor="ctr">
                    <a:solidFill>
                      <a:srgbClr val="F3F4F6"/>
                    </a:solidFill>
                  </a:tcPr>
                </a:tc>
                <a:extLst>
                  <a:ext uri="{0D108BD9-81ED-4DB2-BD59-A6C34878D82A}">
                    <a16:rowId xmlns:a16="http://schemas.microsoft.com/office/drawing/2014/main" val="10004"/>
                  </a:ext>
                </a:extLst>
              </a:tr>
              <a:tr h="530352">
                <a:tc>
                  <a:txBody>
                    <a:bodyPr/>
                    <a:lstStyle/>
                    <a:p>
                      <a:pPr algn="l"/>
                      <a:r>
                        <a:rPr lang="es-ES" sz="2000" b="1" i="0">
                          <a:solidFill>
                            <a:srgbClr val="1F2937"/>
                          </a:solidFill>
                          <a:latin typeface="Calibri"/>
                        </a:rPr>
                        <a:t>OE5</a:t>
                      </a:r>
                    </a:p>
                  </a:txBody>
                  <a:tcPr marL="73152" marR="73152" marT="27432" marB="27432" anchor="ctr">
                    <a:solidFill>
                      <a:srgbClr val="FFFFFF"/>
                    </a:solidFill>
                  </a:tcPr>
                </a:tc>
                <a:tc>
                  <a:txBody>
                    <a:bodyPr/>
                    <a:lstStyle/>
                    <a:p>
                      <a:pPr algn="ctr"/>
                      <a:r>
                        <a:rPr lang="es-ES" sz="2000" b="0" i="0">
                          <a:solidFill>
                            <a:srgbClr val="1F2937"/>
                          </a:solidFill>
                          <a:latin typeface="Calibri"/>
                        </a:rPr>
                        <a:t>V&amp;V: MMS, Timoshenko, Cook y SAP2000</a:t>
                      </a:r>
                    </a:p>
                  </a:txBody>
                  <a:tcPr marL="73152" marR="73152" marT="27432" marB="27432" anchor="ctr">
                    <a:solidFill>
                      <a:srgbClr val="FFFFFF"/>
                    </a:solidFill>
                  </a:tcPr>
                </a:tc>
                <a:tc>
                  <a:txBody>
                    <a:bodyPr/>
                    <a:lstStyle/>
                    <a:p>
                      <a:pPr algn="ctr"/>
                      <a:r>
                        <a:rPr lang="es-ES" sz="2000" b="0" i="0">
                          <a:solidFill>
                            <a:srgbClr val="1F2937"/>
                          </a:solidFill>
                          <a:latin typeface="Calibri"/>
                        </a:rPr>
                        <a:t>Cap. 3</a:t>
                      </a:r>
                    </a:p>
                  </a:txBody>
                  <a:tcPr marL="73152" marR="73152" marT="27432" marB="27432" anchor="ctr">
                    <a:solidFill>
                      <a:srgbClr val="FFFFFF"/>
                    </a:solidFill>
                  </a:tcPr>
                </a:tc>
                <a:extLst>
                  <a:ext uri="{0D108BD9-81ED-4DB2-BD59-A6C34878D82A}">
                    <a16:rowId xmlns:a16="http://schemas.microsoft.com/office/drawing/2014/main" val="10005"/>
                  </a:ext>
                </a:extLst>
              </a:tr>
              <a:tr h="530352">
                <a:tc>
                  <a:txBody>
                    <a:bodyPr/>
                    <a:lstStyle/>
                    <a:p>
                      <a:pPr algn="l"/>
                      <a:r>
                        <a:rPr lang="es-ES" sz="2000" b="1" i="0">
                          <a:solidFill>
                            <a:srgbClr val="1F2937"/>
                          </a:solidFill>
                          <a:latin typeface="Calibri"/>
                        </a:rPr>
                        <a:t>OE6</a:t>
                      </a:r>
                    </a:p>
                  </a:txBody>
                  <a:tcPr marL="73152" marR="73152" marT="27432" marB="27432" anchor="ctr">
                    <a:solidFill>
                      <a:srgbClr val="F3F4F6"/>
                    </a:solidFill>
                  </a:tcPr>
                </a:tc>
                <a:tc>
                  <a:txBody>
                    <a:bodyPr/>
                    <a:lstStyle/>
                    <a:p>
                      <a:pPr algn="ctr"/>
                      <a:r>
                        <a:rPr lang="es-ES" sz="2000" b="0" i="0">
                          <a:solidFill>
                            <a:srgbClr val="1F2937"/>
                          </a:solidFill>
                          <a:latin typeface="Calibri"/>
                        </a:rPr>
                        <a:t>Memoria de cálculo PDF e interoperabilidad DXF/CSV</a:t>
                      </a:r>
                    </a:p>
                  </a:txBody>
                  <a:tcPr marL="73152" marR="73152" marT="27432" marB="27432" anchor="ctr">
                    <a:solidFill>
                      <a:srgbClr val="F3F4F6"/>
                    </a:solidFill>
                  </a:tcPr>
                </a:tc>
                <a:tc>
                  <a:txBody>
                    <a:bodyPr/>
                    <a:lstStyle/>
                    <a:p>
                      <a:pPr algn="ctr"/>
                      <a:r>
                        <a:rPr lang="es-ES" sz="2000" b="0" i="0">
                          <a:solidFill>
                            <a:srgbClr val="1F2937"/>
                          </a:solidFill>
                          <a:latin typeface="Calibri"/>
                        </a:rPr>
                        <a:t>Cap. 2</a:t>
                      </a:r>
                    </a:p>
                  </a:txBody>
                  <a:tcPr marL="73152" marR="73152" marT="27432" marB="27432" anchor="ctr">
                    <a:solidFill>
                      <a:srgbClr val="F3F4F6"/>
                    </a:solidFill>
                  </a:tcPr>
                </a:tc>
                <a:extLst>
                  <a:ext uri="{0D108BD9-81ED-4DB2-BD59-A6C34878D82A}">
                    <a16:rowId xmlns:a16="http://schemas.microsoft.com/office/drawing/2014/main" val="10006"/>
                  </a:ext>
                </a:extLst>
              </a:tr>
            </a:tbl>
          </a:graphicData>
        </a:graphic>
      </p:graphicFrame>
      <p:sp>
        <p:nvSpPr>
          <p:cNvPr id="7" name="Rectangle 6"/>
          <p:cNvSpPr/>
          <p:nvPr/>
        </p:nvSpPr>
        <p:spPr>
          <a:xfrm>
            <a:off x="548640" y="5742432"/>
            <a:ext cx="11094415" cy="530352"/>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548640" y="5742432"/>
            <a:ext cx="82296" cy="5303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77240" y="5742432"/>
            <a:ext cx="10774375" cy="530352"/>
          </a:xfrm>
          <a:prstGeom prst="rect">
            <a:avLst/>
          </a:prstGeom>
          <a:noFill/>
        </p:spPr>
        <p:txBody>
          <a:bodyPr wrap="square" lIns="45720" tIns="27432" rIns="45720" bIns="27432" anchor="ctr">
            <a:noAutofit/>
          </a:bodyPr>
          <a:lstStyle/>
          <a:p>
            <a:pPr algn="l">
              <a:lnSpc>
                <a:spcPct val="100000"/>
              </a:lnSpc>
            </a:pPr>
            <a:r>
              <a:rPr lang="es-ES" sz="2200" b="1" i="0">
                <a:solidFill>
                  <a:srgbClr val="1B2A4A"/>
                </a:solidFill>
                <a:latin typeface="Calibri"/>
              </a:rPr>
              <a:t>Esta tabla vuelve en las conclusiones con la columna «cumplimiento»</a:t>
            </a:r>
          </a:p>
        </p:txBody>
      </p:sp>
      <p:sp>
        <p:nvSpPr>
          <p:cNvPr id="10" name="Rectangle 9"/>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48640" y="6419088"/>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12" name="TextBox 11"/>
          <p:cNvSpPr txBox="1"/>
          <p:nvPr/>
        </p:nvSpPr>
        <p:spPr>
          <a:xfrm>
            <a:off x="4023360" y="6419088"/>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Introducción, objetivos</a:t>
            </a:r>
          </a:p>
        </p:txBody>
      </p:sp>
      <p:sp>
        <p:nvSpPr>
          <p:cNvPr id="13" name="TextBox 12"/>
          <p:cNvSpPr txBox="1"/>
          <p:nvPr/>
        </p:nvSpPr>
        <p:spPr>
          <a:xfrm>
            <a:off x="10545775" y="6419088"/>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5</a:t>
            </a:fld>
            <a:endParaRPr lang="es-ES" sz="1200" dirty="0">
              <a:solidFill>
                <a:srgbClr val="5B6575"/>
              </a:solidFill>
              <a:latin typeface="Calibri"/>
            </a:endParaRPr>
          </a:p>
        </p:txBody>
      </p:sp>
      <p:pic>
        <p:nvPicPr>
          <p:cNvPr id="14" name="s05">
            <a:hlinkClick r:id="" action="ppaction://media"/>
            <a:extLst>
              <a:ext uri="{FF2B5EF4-FFF2-40B4-BE49-F238E27FC236}">
                <a16:creationId xmlns:a16="http://schemas.microsoft.com/office/drawing/2014/main" id="{22DA11FB-6855-8111-EEF7-00BEE25EC21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660"/>
    </mc:Choice>
    <mc:Fallback>
      <p:transition spd="slow" advTm="4966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4"/>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168335" cy="868680"/>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Hipótesis de diseño y preguntas</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noAutofit/>
          </a:bodyPr>
          <a:lstStyle/>
          <a:p>
            <a:pPr algn="ctr">
              <a:lnSpc>
                <a:spcPct val="100000"/>
              </a:lnSpc>
            </a:pPr>
            <a:r>
              <a:rPr lang="es-ES" sz="1300" b="1" i="0">
                <a:solidFill>
                  <a:srgbClr val="1B2A4A"/>
                </a:solidFill>
                <a:latin typeface="Calibri"/>
              </a:rPr>
              <a:t>1  ·  Introducción</a:t>
            </a:r>
          </a:p>
        </p:txBody>
      </p:sp>
      <p:sp>
        <p:nvSpPr>
          <p:cNvPr id="5" name="Rounded Rectangle 4"/>
          <p:cNvSpPr/>
          <p:nvPr/>
        </p:nvSpPr>
        <p:spPr>
          <a:xfrm>
            <a:off x="548640" y="1481328"/>
            <a:ext cx="5364327" cy="3858768"/>
          </a:xfrm>
          <a:prstGeom prst="roundRect">
            <a:avLst>
              <a:gd name="adj" fmla="val 5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ounded Rectangle 5"/>
          <p:cNvSpPr/>
          <p:nvPr/>
        </p:nvSpPr>
        <p:spPr>
          <a:xfrm>
            <a:off x="548640" y="1481328"/>
            <a:ext cx="5364327" cy="603504"/>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548640" y="1810512"/>
            <a:ext cx="5364327" cy="2743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48640" y="1481328"/>
            <a:ext cx="5364327" cy="603504"/>
          </a:xfrm>
          <a:prstGeom prst="rect">
            <a:avLst/>
          </a:prstGeom>
          <a:noFill/>
        </p:spPr>
        <p:txBody>
          <a:bodyPr wrap="square" lIns="45720" tIns="27432" rIns="45720" bIns="27432" anchor="ctr">
            <a:noAutofit/>
          </a:bodyPr>
          <a:lstStyle/>
          <a:p>
            <a:pPr algn="ctr">
              <a:lnSpc>
                <a:spcPct val="105000"/>
              </a:lnSpc>
            </a:pPr>
            <a:r>
              <a:rPr lang="es-ES" sz="2400" b="1" i="0">
                <a:solidFill>
                  <a:srgbClr val="FFFFFF"/>
                </a:solidFill>
                <a:latin typeface="Calibri"/>
              </a:rPr>
              <a:t>Hipótesis de diseño</a:t>
            </a:r>
          </a:p>
        </p:txBody>
      </p:sp>
      <p:sp>
        <p:nvSpPr>
          <p:cNvPr id="9" name="TextBox 8"/>
          <p:cNvSpPr txBox="1"/>
          <p:nvPr/>
        </p:nvSpPr>
        <p:spPr>
          <a:xfrm>
            <a:off x="777240" y="2194560"/>
            <a:ext cx="4907127" cy="3035808"/>
          </a:xfrm>
          <a:prstGeom prst="rect">
            <a:avLst/>
          </a:prstGeom>
          <a:noFill/>
        </p:spPr>
        <p:txBody>
          <a:bodyPr wrap="square" lIns="45720" tIns="27432" rIns="45720" bIns="27432" anchor="ctr">
            <a:noAutofit/>
          </a:bodyPr>
          <a:lstStyle/>
          <a:p>
            <a:pPr marL="347472" indent="-347472">
              <a:lnSpc>
                <a:spcPct val="112000"/>
              </a:lnSpc>
              <a:spcAft>
                <a:spcPts val="900"/>
              </a:spcAft>
              <a:buClr>
                <a:srgbClr val="1B2A4A"/>
              </a:buClr>
              <a:buSzPct val="100000"/>
              <a:buFont typeface="Arial"/>
              <a:buChar char="•"/>
            </a:pPr>
            <a:r>
              <a:rPr lang="es-ES" sz="2200" b="1" i="0">
                <a:solidFill>
                  <a:srgbClr val="1B2A4A"/>
                </a:solidFill>
                <a:latin typeface="Calibri"/>
              </a:rPr>
              <a:t>Factible:</a:t>
            </a:r>
            <a:r>
              <a:rPr lang="es-ES" sz="2200" b="0" i="0">
                <a:solidFill>
                  <a:srgbClr val="1F2937"/>
                </a:solidFill>
                <a:latin typeface="Calibri"/>
              </a:rPr>
              <a:t> un software que expone el canal completo del MEF plano</a:t>
            </a:r>
          </a:p>
          <a:p>
            <a:pPr marL="347472" indent="-347472">
              <a:lnSpc>
                <a:spcPct val="112000"/>
              </a:lnSpc>
              <a:spcAft>
                <a:spcPts val="900"/>
              </a:spcAft>
              <a:buClr>
                <a:srgbClr val="1B2A4A"/>
              </a:buClr>
              <a:buSzPct val="100000"/>
              <a:buFont typeface="Arial"/>
              <a:buChar char="•"/>
            </a:pPr>
            <a:r>
              <a:rPr lang="es-ES" sz="2200" b="1" i="0">
                <a:solidFill>
                  <a:srgbClr val="1B2A4A"/>
                </a:solidFill>
                <a:latin typeface="Calibri"/>
              </a:rPr>
              <a:t>Transparente:</a:t>
            </a:r>
            <a:r>
              <a:rPr lang="es-ES" sz="2200" b="0" i="0">
                <a:solidFill>
                  <a:srgbClr val="1F2937"/>
                </a:solidFill>
                <a:latin typeface="Calibri"/>
              </a:rPr>
              <a:t> cada matriz y cada paso, observables</a:t>
            </a:r>
          </a:p>
          <a:p>
            <a:pPr marL="347472" indent="-347472">
              <a:lnSpc>
                <a:spcPct val="112000"/>
              </a:lnSpc>
              <a:spcAft>
                <a:spcPts val="900"/>
              </a:spcAft>
              <a:buClr>
                <a:srgbClr val="1B2A4A"/>
              </a:buClr>
              <a:buSzPct val="100000"/>
              <a:buFont typeface="Arial"/>
              <a:buChar char="•"/>
            </a:pPr>
            <a:r>
              <a:rPr lang="es-ES" sz="2200" b="0" i="0">
                <a:solidFill>
                  <a:srgbClr val="1F2937"/>
                </a:solidFill>
                <a:latin typeface="Calibri"/>
              </a:rPr>
              <a:t>Interactivo y verificable frente a referencias conocidas</a:t>
            </a:r>
          </a:p>
          <a:p>
            <a:pPr marL="347472" indent="-347472">
              <a:lnSpc>
                <a:spcPct val="112000"/>
              </a:lnSpc>
              <a:spcAft>
                <a:spcPts val="900"/>
              </a:spcAft>
              <a:buClr>
                <a:srgbClr val="1B2A4A"/>
              </a:buClr>
              <a:buSzPct val="100000"/>
              <a:buFont typeface="Arial"/>
              <a:buChar char="•"/>
            </a:pPr>
            <a:r>
              <a:rPr lang="es-ES" sz="2200" b="0" i="0">
                <a:solidFill>
                  <a:srgbClr val="1F2937"/>
                </a:solidFill>
                <a:latin typeface="Calibri"/>
              </a:rPr>
              <a:t>Coherente con pre-proceso, proceso y post-proceso</a:t>
            </a:r>
          </a:p>
        </p:txBody>
      </p:sp>
      <p:sp>
        <p:nvSpPr>
          <p:cNvPr id="10" name="Rounded Rectangle 9"/>
          <p:cNvSpPr/>
          <p:nvPr/>
        </p:nvSpPr>
        <p:spPr>
          <a:xfrm>
            <a:off x="6278727" y="1481328"/>
            <a:ext cx="5364327" cy="3858768"/>
          </a:xfrm>
          <a:prstGeom prst="roundRect">
            <a:avLst>
              <a:gd name="adj" fmla="val 5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ounded Rectangle 10"/>
          <p:cNvSpPr/>
          <p:nvPr/>
        </p:nvSpPr>
        <p:spPr>
          <a:xfrm>
            <a:off x="6278727" y="1481328"/>
            <a:ext cx="5364327" cy="603504"/>
          </a:xfrm>
          <a:prstGeom prst="roundRect">
            <a:avLst>
              <a:gd name="adj" fmla="val 12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6278727" y="1810512"/>
            <a:ext cx="5364327" cy="2743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278727" y="1481328"/>
            <a:ext cx="5364327" cy="603504"/>
          </a:xfrm>
          <a:prstGeom prst="rect">
            <a:avLst/>
          </a:prstGeom>
          <a:noFill/>
        </p:spPr>
        <p:txBody>
          <a:bodyPr wrap="square" lIns="45720" tIns="27432" rIns="45720" bIns="27432" anchor="ctr">
            <a:noAutofit/>
          </a:bodyPr>
          <a:lstStyle/>
          <a:p>
            <a:pPr algn="ctr">
              <a:lnSpc>
                <a:spcPct val="105000"/>
              </a:lnSpc>
            </a:pPr>
            <a:r>
              <a:rPr lang="es-ES" sz="2400" b="1" i="0">
                <a:solidFill>
                  <a:srgbClr val="FFFFFF"/>
                </a:solidFill>
                <a:latin typeface="Calibri"/>
              </a:rPr>
              <a:t>Preguntas de investigación</a:t>
            </a:r>
          </a:p>
        </p:txBody>
      </p:sp>
      <p:sp>
        <p:nvSpPr>
          <p:cNvPr id="14" name="TextBox 13"/>
          <p:cNvSpPr txBox="1"/>
          <p:nvPr/>
        </p:nvSpPr>
        <p:spPr>
          <a:xfrm>
            <a:off x="6507327" y="2194560"/>
            <a:ext cx="4907127" cy="3035808"/>
          </a:xfrm>
          <a:prstGeom prst="rect">
            <a:avLst/>
          </a:prstGeom>
          <a:noFill/>
        </p:spPr>
        <p:txBody>
          <a:bodyPr wrap="square" lIns="45720" tIns="27432" rIns="45720" bIns="27432" anchor="ctr">
            <a:noAutofit/>
          </a:bodyPr>
          <a:lstStyle/>
          <a:p>
            <a:pPr marL="347472" indent="-347472">
              <a:lnSpc>
                <a:spcPct val="112000"/>
              </a:lnSpc>
              <a:spcAft>
                <a:spcPts val="900"/>
              </a:spcAft>
              <a:buClr>
                <a:srgbClr val="F28C28"/>
              </a:buClr>
              <a:buSzPct val="100000"/>
              <a:buFont typeface="Arial"/>
              <a:buChar char="•"/>
            </a:pPr>
            <a:r>
              <a:rPr lang="es-ES" sz="2200" b="1" i="0">
                <a:solidFill>
                  <a:srgbClr val="1B2A4A"/>
                </a:solidFill>
                <a:latin typeface="Calibri"/>
              </a:rPr>
              <a:t>PI-1:</a:t>
            </a:r>
            <a:r>
              <a:rPr lang="es-ES" sz="2200" b="0" i="0">
                <a:solidFill>
                  <a:srgbClr val="1F2937"/>
                </a:solidFill>
                <a:latin typeface="Calibri"/>
              </a:rPr>
              <a:t> ¿precisión verificable frente a soluciones analíticas y SAP2000?</a:t>
            </a:r>
          </a:p>
          <a:p>
            <a:pPr marL="347472" indent="-347472">
              <a:lnSpc>
                <a:spcPct val="112000"/>
              </a:lnSpc>
              <a:spcAft>
                <a:spcPts val="900"/>
              </a:spcAft>
              <a:buClr>
                <a:srgbClr val="F28C28"/>
              </a:buClr>
              <a:buSzPct val="100000"/>
              <a:buFont typeface="Arial"/>
              <a:buChar char="•"/>
            </a:pPr>
            <a:r>
              <a:rPr lang="es-ES" sz="2200" b="1" i="0">
                <a:solidFill>
                  <a:srgbClr val="1B2A4A"/>
                </a:solidFill>
                <a:latin typeface="Calibri"/>
              </a:rPr>
              <a:t>PI-2:</a:t>
            </a:r>
            <a:r>
              <a:rPr lang="es-ES" sz="2200" b="0" i="0">
                <a:solidFill>
                  <a:srgbClr val="1F2937"/>
                </a:solidFill>
                <a:latin typeface="Calibri"/>
              </a:rPr>
              <a:t> ¿qué organización de interfaz y módulos expone la cadena de cálculo?</a:t>
            </a:r>
          </a:p>
          <a:p>
            <a:pPr marL="347472" indent="-347472">
              <a:lnSpc>
                <a:spcPct val="112000"/>
              </a:lnSpc>
              <a:spcAft>
                <a:spcPts val="900"/>
              </a:spcAft>
              <a:buClr>
                <a:srgbClr val="F28C28"/>
              </a:buClr>
              <a:buSzPct val="100000"/>
              <a:buFont typeface="Arial"/>
              <a:buChar char="•"/>
            </a:pPr>
            <a:r>
              <a:rPr lang="es-ES" sz="2200" b="1" i="0">
                <a:solidFill>
                  <a:srgbClr val="1B2A4A"/>
                </a:solidFill>
                <a:latin typeface="Calibri"/>
              </a:rPr>
              <a:t>PI-3:</a:t>
            </a:r>
            <a:r>
              <a:rPr lang="es-ES" sz="2200" b="0" i="0">
                <a:solidFill>
                  <a:srgbClr val="1F2937"/>
                </a:solidFill>
                <a:latin typeface="Calibri"/>
              </a:rPr>
              <a:t> ¿evidencia el bloqueo por cortante del Q4 frente al Q9?</a:t>
            </a:r>
          </a:p>
        </p:txBody>
      </p:sp>
      <p:sp>
        <p:nvSpPr>
          <p:cNvPr id="15" name="Rectangle 14"/>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77240" y="5431536"/>
            <a:ext cx="10774375"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Investigación propositiva, aplicada de tipo tecnológico, cuantitativa, descriptiva y comparativa</a:t>
            </a:r>
          </a:p>
        </p:txBody>
      </p:sp>
      <p:sp>
        <p:nvSpPr>
          <p:cNvPr id="18" name="Rectangle 17"/>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48640" y="6419088"/>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0" name="TextBox 19"/>
          <p:cNvSpPr txBox="1"/>
          <p:nvPr/>
        </p:nvSpPr>
        <p:spPr>
          <a:xfrm>
            <a:off x="4023360" y="6419088"/>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Introducción, hipótesis, preguntas y metodología</a:t>
            </a:r>
          </a:p>
        </p:txBody>
      </p:sp>
      <p:sp>
        <p:nvSpPr>
          <p:cNvPr id="21" name="TextBox 20"/>
          <p:cNvSpPr txBox="1"/>
          <p:nvPr/>
        </p:nvSpPr>
        <p:spPr>
          <a:xfrm>
            <a:off x="10545775" y="6419088"/>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6</a:t>
            </a:fld>
            <a:endParaRPr lang="es-ES" sz="1200" dirty="0">
              <a:solidFill>
                <a:srgbClr val="5B6575"/>
              </a:solidFill>
              <a:latin typeface="Calibri"/>
            </a:endParaRPr>
          </a:p>
        </p:txBody>
      </p:sp>
      <p:pic>
        <p:nvPicPr>
          <p:cNvPr id="22" name="s06">
            <a:hlinkClick r:id="" action="ppaction://media"/>
            <a:extLst>
              <a:ext uri="{FF2B5EF4-FFF2-40B4-BE49-F238E27FC236}">
                <a16:creationId xmlns:a16="http://schemas.microsoft.com/office/drawing/2014/main" id="{82798FF1-E727-6B6F-986B-E66EC4BBA7F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4268"/>
    </mc:Choice>
    <mc:Fallback>
      <p:transition spd="slow" advTm="5426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11B33"/>
        </a:solidFill>
        <a:effectLst/>
      </p:bgPr>
    </p:bg>
    <p:spTree>
      <p:nvGrpSpPr>
        <p:cNvPr id="1" name=""/>
        <p:cNvGrpSpPr/>
        <p:nvPr/>
      </p:nvGrpSpPr>
      <p:grpSpPr>
        <a:xfrm>
          <a:off x="0" y="0"/>
          <a:ext cx="0" cy="0"/>
          <a:chOff x="0" y="0"/>
          <a:chExt cx="0" cy="0"/>
        </a:xfrm>
      </p:grpSpPr>
      <p:sp>
        <p:nvSpPr>
          <p:cNvPr id="2" name="TextBox 1"/>
          <p:cNvSpPr txBox="1"/>
          <p:nvPr/>
        </p:nvSpPr>
        <p:spPr>
          <a:xfrm>
            <a:off x="731520" y="1417320"/>
            <a:ext cx="2194560" cy="1828800"/>
          </a:xfrm>
          <a:prstGeom prst="rect">
            <a:avLst/>
          </a:prstGeom>
          <a:noFill/>
        </p:spPr>
        <p:txBody>
          <a:bodyPr wrap="square" lIns="45720" tIns="27432" rIns="45720" bIns="27432" anchor="ctr">
            <a:noAutofit/>
          </a:bodyPr>
          <a:lstStyle/>
          <a:p>
            <a:pPr algn="l">
              <a:lnSpc>
                <a:spcPct val="105000"/>
              </a:lnSpc>
            </a:pPr>
            <a:r>
              <a:rPr lang="es-ES" sz="9600" b="1" i="0">
                <a:solidFill>
                  <a:srgbClr val="F28C28"/>
                </a:solidFill>
                <a:latin typeface="Calibri"/>
              </a:rPr>
              <a:t>02</a:t>
            </a:r>
          </a:p>
        </p:txBody>
      </p:sp>
      <p:sp>
        <p:nvSpPr>
          <p:cNvPr id="3" name="Rectangle 2"/>
          <p:cNvSpPr/>
          <p:nvPr/>
        </p:nvSpPr>
        <p:spPr>
          <a:xfrm>
            <a:off x="3063240" y="1691640"/>
            <a:ext cx="54864" cy="1325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3383280" y="1417320"/>
            <a:ext cx="8229600" cy="1188720"/>
          </a:xfrm>
          <a:prstGeom prst="rect">
            <a:avLst/>
          </a:prstGeom>
          <a:noFill/>
        </p:spPr>
        <p:txBody>
          <a:bodyPr wrap="square" lIns="45720" tIns="27432" rIns="45720" bIns="27432" anchor="ctr">
            <a:noAutofit/>
          </a:bodyPr>
          <a:lstStyle/>
          <a:p>
            <a:pPr algn="l">
              <a:lnSpc>
                <a:spcPct val="105000"/>
              </a:lnSpc>
            </a:pPr>
            <a:r>
              <a:rPr lang="es-ES" sz="4400" b="1" i="0">
                <a:solidFill>
                  <a:srgbClr val="FFFFFF"/>
                </a:solidFill>
                <a:latin typeface="Calibri"/>
              </a:rPr>
              <a:t>Base teórica</a:t>
            </a:r>
          </a:p>
        </p:txBody>
      </p:sp>
      <p:sp>
        <p:nvSpPr>
          <p:cNvPr id="5" name="TextBox 4"/>
          <p:cNvSpPr txBox="1"/>
          <p:nvPr/>
        </p:nvSpPr>
        <p:spPr>
          <a:xfrm>
            <a:off x="3383280" y="2606040"/>
            <a:ext cx="8229600" cy="1280160"/>
          </a:xfrm>
          <a:prstGeom prst="rect">
            <a:avLst/>
          </a:prstGeom>
          <a:noFill/>
        </p:spPr>
        <p:txBody>
          <a:bodyPr wrap="square" lIns="45720" tIns="27432" rIns="45720" bIns="27432" anchor="t">
            <a:noAutofit/>
          </a:bodyPr>
          <a:lstStyle/>
          <a:p>
            <a:pPr algn="l">
              <a:lnSpc>
                <a:spcPct val="115000"/>
              </a:lnSpc>
            </a:pPr>
            <a:r>
              <a:rPr lang="es-ES" sz="2200" b="0" i="0">
                <a:solidFill>
                  <a:srgbClr val="C7D2E8"/>
                </a:solidFill>
                <a:latin typeface="Calibri"/>
              </a:rPr>
              <a:t>Abrir la caja: el estado del arte y el canal de cálculo del MEF isoparamétrico</a:t>
            </a:r>
          </a:p>
        </p:txBody>
      </p:sp>
      <p:sp>
        <p:nvSpPr>
          <p:cNvPr id="6" name="Rounded Rectangle 5"/>
          <p:cNvSpPr/>
          <p:nvPr/>
        </p:nvSpPr>
        <p:spPr>
          <a:xfrm>
            <a:off x="548640" y="5760720"/>
            <a:ext cx="1757629" cy="566928"/>
          </a:xfrm>
          <a:prstGeom prst="roundRect">
            <a:avLst>
              <a:gd name="adj" fmla="val 25000"/>
            </a:avLst>
          </a:prstGeom>
          <a:solidFill>
            <a:srgbClr val="2A3B6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1. Introducción</a:t>
            </a:r>
          </a:p>
        </p:txBody>
      </p:sp>
      <p:sp>
        <p:nvSpPr>
          <p:cNvPr id="7" name="Rounded Rectangle 6"/>
          <p:cNvSpPr/>
          <p:nvPr/>
        </p:nvSpPr>
        <p:spPr>
          <a:xfrm>
            <a:off x="2415997" y="5760720"/>
            <a:ext cx="1757629" cy="566928"/>
          </a:xfrm>
          <a:prstGeom prst="roundRect">
            <a:avLst>
              <a:gd name="adj" fmla="val 25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1" i="0">
                <a:solidFill>
                  <a:srgbClr val="FFFFFF"/>
                </a:solidFill>
                <a:latin typeface="Calibri"/>
              </a:rPr>
              <a:t>2. Base teórica</a:t>
            </a:r>
          </a:p>
        </p:txBody>
      </p:sp>
      <p:sp>
        <p:nvSpPr>
          <p:cNvPr id="8" name="Rounded Rectangle 7"/>
          <p:cNvSpPr/>
          <p:nvPr/>
        </p:nvSpPr>
        <p:spPr>
          <a:xfrm>
            <a:off x="4283354" y="5760720"/>
            <a:ext cx="1757629" cy="566928"/>
          </a:xfrm>
          <a:prstGeom prst="roundRect">
            <a:avLst>
              <a:gd name="adj" fmla="val 25000"/>
            </a:avLst>
          </a:prstGeom>
          <a:solidFill>
            <a:srgbClr val="1C28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3. Diseño y desarrollo del modelo</a:t>
            </a:r>
          </a:p>
        </p:txBody>
      </p:sp>
      <p:sp>
        <p:nvSpPr>
          <p:cNvPr id="9" name="Rounded Rectangle 8"/>
          <p:cNvSpPr/>
          <p:nvPr/>
        </p:nvSpPr>
        <p:spPr>
          <a:xfrm>
            <a:off x="6150711" y="5760720"/>
            <a:ext cx="1757629" cy="566928"/>
          </a:xfrm>
          <a:prstGeom prst="roundRect">
            <a:avLst>
              <a:gd name="adj" fmla="val 25000"/>
            </a:avLst>
          </a:prstGeom>
          <a:solidFill>
            <a:srgbClr val="1C28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4. Presentación de resultados</a:t>
            </a:r>
          </a:p>
        </p:txBody>
      </p:sp>
      <p:sp>
        <p:nvSpPr>
          <p:cNvPr id="10" name="Rounded Rectangle 9"/>
          <p:cNvSpPr/>
          <p:nvPr/>
        </p:nvSpPr>
        <p:spPr>
          <a:xfrm>
            <a:off x="8018068" y="5760720"/>
            <a:ext cx="1757629" cy="566928"/>
          </a:xfrm>
          <a:prstGeom prst="roundRect">
            <a:avLst>
              <a:gd name="adj" fmla="val 25000"/>
            </a:avLst>
          </a:prstGeom>
          <a:solidFill>
            <a:srgbClr val="1C28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5. Análisis de resultados</a:t>
            </a:r>
          </a:p>
        </p:txBody>
      </p:sp>
      <p:sp>
        <p:nvSpPr>
          <p:cNvPr id="11" name="Rounded Rectangle 10"/>
          <p:cNvSpPr/>
          <p:nvPr/>
        </p:nvSpPr>
        <p:spPr>
          <a:xfrm>
            <a:off x="9885426" y="5760720"/>
            <a:ext cx="1757629" cy="566928"/>
          </a:xfrm>
          <a:prstGeom prst="roundRect">
            <a:avLst>
              <a:gd name="adj" fmla="val 25000"/>
            </a:avLst>
          </a:prstGeom>
          <a:solidFill>
            <a:srgbClr val="1C28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6. Conclusiones y recomendaciones</a:t>
            </a:r>
          </a:p>
        </p:txBody>
      </p:sp>
      <p:pic>
        <p:nvPicPr>
          <p:cNvPr id="12" name="s07">
            <a:hlinkClick r:id="" action="ppaction://media"/>
            <a:extLst>
              <a:ext uri="{FF2B5EF4-FFF2-40B4-BE49-F238E27FC236}">
                <a16:creationId xmlns:a16="http://schemas.microsoft.com/office/drawing/2014/main" id="{6590293C-2AFF-BE1B-CDD7-2BE6F326A0C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9964"/>
    </mc:Choice>
    <mc:Fallback>
      <p:transition spd="slow" advTm="996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168335" cy="868680"/>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Estado del arte: el vacío que se cubre</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noAutofit/>
          </a:bodyPr>
          <a:lstStyle/>
          <a:p>
            <a:pPr algn="ctr">
              <a:lnSpc>
                <a:spcPct val="100000"/>
              </a:lnSpc>
            </a:pPr>
            <a:r>
              <a:rPr lang="es-ES" sz="1300" b="1" i="0">
                <a:solidFill>
                  <a:srgbClr val="1B2A4A"/>
                </a:solidFill>
                <a:latin typeface="Calibri"/>
              </a:rPr>
              <a:t>2  ·  Base teórica</a:t>
            </a:r>
          </a:p>
        </p:txBody>
      </p:sp>
      <p:graphicFrame>
        <p:nvGraphicFramePr>
          <p:cNvPr id="5" name="Table 4"/>
          <p:cNvGraphicFramePr>
            <a:graphicFrameLocks noGrp="1"/>
          </p:cNvGraphicFramePr>
          <p:nvPr/>
        </p:nvGraphicFramePr>
        <p:xfrm>
          <a:off x="548640" y="1692946"/>
          <a:ext cx="11094414" cy="3435528"/>
        </p:xfrm>
        <a:graphic>
          <a:graphicData uri="http://schemas.openxmlformats.org/drawingml/2006/table">
            <a:tbl>
              <a:tblPr>
                <a:tableStyleId>{5C22544A-7EE6-4342-B048-85BDC9FD1C3A}</a:tableStyleId>
              </a:tblPr>
              <a:tblGrid>
                <a:gridCol w="2793660">
                  <a:extLst>
                    <a:ext uri="{9D8B030D-6E8A-4147-A177-3AD203B41FA5}">
                      <a16:colId xmlns:a16="http://schemas.microsoft.com/office/drawing/2014/main" val="20000"/>
                    </a:ext>
                  </a:extLst>
                </a:gridCol>
                <a:gridCol w="1073776">
                  <a:extLst>
                    <a:ext uri="{9D8B030D-6E8A-4147-A177-3AD203B41FA5}">
                      <a16:colId xmlns:a16="http://schemas.microsoft.com/office/drawing/2014/main" val="20001"/>
                    </a:ext>
                  </a:extLst>
                </a:gridCol>
                <a:gridCol w="1317313">
                  <a:extLst>
                    <a:ext uri="{9D8B030D-6E8A-4147-A177-3AD203B41FA5}">
                      <a16:colId xmlns:a16="http://schemas.microsoft.com/office/drawing/2014/main" val="20002"/>
                    </a:ext>
                  </a:extLst>
                </a:gridCol>
                <a:gridCol w="2363866">
                  <a:extLst>
                    <a:ext uri="{9D8B030D-6E8A-4147-A177-3AD203B41FA5}">
                      <a16:colId xmlns:a16="http://schemas.microsoft.com/office/drawing/2014/main" val="20003"/>
                    </a:ext>
                  </a:extLst>
                </a:gridCol>
                <a:gridCol w="1611727">
                  <a:extLst>
                    <a:ext uri="{9D8B030D-6E8A-4147-A177-3AD203B41FA5}">
                      <a16:colId xmlns:a16="http://schemas.microsoft.com/office/drawing/2014/main" val="20004"/>
                    </a:ext>
                  </a:extLst>
                </a:gridCol>
                <a:gridCol w="1934072">
                  <a:extLst>
                    <a:ext uri="{9D8B030D-6E8A-4147-A177-3AD203B41FA5}">
                      <a16:colId xmlns:a16="http://schemas.microsoft.com/office/drawing/2014/main" val="20005"/>
                    </a:ext>
                  </a:extLst>
                </a:gridCol>
              </a:tblGrid>
              <a:tr h="566928">
                <a:tc>
                  <a:txBody>
                    <a:bodyPr/>
                    <a:lstStyle/>
                    <a:p>
                      <a:pPr algn="l"/>
                      <a:r>
                        <a:rPr lang="es-ES" sz="1800" b="1" i="0">
                          <a:solidFill>
                            <a:srgbClr val="FFFFFF"/>
                          </a:solidFill>
                          <a:latin typeface="Calibri"/>
                        </a:rPr>
                        <a:t>Recurso</a:t>
                      </a:r>
                    </a:p>
                  </a:txBody>
                  <a:tcPr marL="73152" marR="73152" marT="27432" marB="27432" anchor="ctr">
                    <a:solidFill>
                      <a:srgbClr val="1B2A4A"/>
                    </a:solidFill>
                  </a:tcPr>
                </a:tc>
                <a:tc>
                  <a:txBody>
                    <a:bodyPr/>
                    <a:lstStyle/>
                    <a:p>
                      <a:pPr algn="ctr"/>
                      <a:r>
                        <a:rPr lang="es-ES" sz="1800" b="1" i="0">
                          <a:solidFill>
                            <a:srgbClr val="FFFFFF"/>
                          </a:solidFill>
                          <a:latin typeface="Calibri"/>
                        </a:rPr>
                        <a:t>Idioma</a:t>
                      </a:r>
                    </a:p>
                  </a:txBody>
                  <a:tcPr marL="73152" marR="73152" marT="27432" marB="27432" anchor="ctr">
                    <a:solidFill>
                      <a:srgbClr val="1B2A4A"/>
                    </a:solidFill>
                  </a:tcPr>
                </a:tc>
                <a:tc>
                  <a:txBody>
                    <a:bodyPr/>
                    <a:lstStyle/>
                    <a:p>
                      <a:pPr algn="ctr"/>
                      <a:r>
                        <a:rPr lang="es-ES" sz="1800" b="1" i="0">
                          <a:solidFill>
                            <a:srgbClr val="FFFFFF"/>
                          </a:solidFill>
                          <a:latin typeface="Calibri"/>
                        </a:rPr>
                        <a:t>Licencia</a:t>
                      </a:r>
                    </a:p>
                  </a:txBody>
                  <a:tcPr marL="73152" marR="73152" marT="27432" marB="27432" anchor="ctr">
                    <a:solidFill>
                      <a:srgbClr val="1B2A4A"/>
                    </a:solidFill>
                  </a:tcPr>
                </a:tc>
                <a:tc>
                  <a:txBody>
                    <a:bodyPr/>
                    <a:lstStyle/>
                    <a:p>
                      <a:pPr algn="ctr"/>
                      <a:r>
                        <a:rPr lang="es-ES" sz="1800" b="1" i="0">
                          <a:solidFill>
                            <a:srgbClr val="FFFFFF"/>
                          </a:solidFill>
                          <a:latin typeface="Calibri"/>
                        </a:rPr>
                        <a:t>Paso a paso</a:t>
                      </a:r>
                    </a:p>
                  </a:txBody>
                  <a:tcPr marL="73152" marR="73152" marT="27432" marB="27432" anchor="ctr">
                    <a:solidFill>
                      <a:srgbClr val="1B2A4A"/>
                    </a:solidFill>
                  </a:tcPr>
                </a:tc>
                <a:tc>
                  <a:txBody>
                    <a:bodyPr/>
                    <a:lstStyle/>
                    <a:p>
                      <a:pPr algn="ctr"/>
                      <a:r>
                        <a:rPr lang="es-ES" sz="1800" b="1" i="0">
                          <a:solidFill>
                            <a:srgbClr val="FFFFFF"/>
                          </a:solidFill>
                          <a:latin typeface="Calibri"/>
                        </a:rPr>
                        <a:t>Canal completo</a:t>
                      </a:r>
                    </a:p>
                  </a:txBody>
                  <a:tcPr marL="73152" marR="73152" marT="27432" marB="27432" anchor="ctr">
                    <a:solidFill>
                      <a:srgbClr val="1B2A4A"/>
                    </a:solidFill>
                  </a:tcPr>
                </a:tc>
                <a:tc>
                  <a:txBody>
                    <a:bodyPr/>
                    <a:lstStyle/>
                    <a:p>
                      <a:pPr algn="ctr"/>
                      <a:r>
                        <a:rPr lang="es-ES" sz="1800" b="1" i="0">
                          <a:solidFill>
                            <a:srgbClr val="FFFFFF"/>
                          </a:solidFill>
                          <a:latin typeface="Calibri"/>
                        </a:rPr>
                        <a:t>Memoria automática</a:t>
                      </a:r>
                    </a:p>
                  </a:txBody>
                  <a:tcPr marL="73152" marR="73152" marT="27432" marB="27432" anchor="ctr">
                    <a:solidFill>
                      <a:srgbClr val="1B2A4A"/>
                    </a:solidFill>
                  </a:tcPr>
                </a:tc>
                <a:extLst>
                  <a:ext uri="{0D108BD9-81ED-4DB2-BD59-A6C34878D82A}">
                    <a16:rowId xmlns:a16="http://schemas.microsoft.com/office/drawing/2014/main" val="10000"/>
                  </a:ext>
                </a:extLst>
              </a:tr>
              <a:tr h="433686">
                <a:tc>
                  <a:txBody>
                    <a:bodyPr/>
                    <a:lstStyle/>
                    <a:p>
                      <a:pPr algn="l"/>
                      <a:r>
                        <a:rPr lang="es-ES" sz="1800" b="1" i="0">
                          <a:solidFill>
                            <a:srgbClr val="1F2937"/>
                          </a:solidFill>
                          <a:latin typeface="Calibri"/>
                        </a:rPr>
                        <a:t>EduFEM</a:t>
                      </a:r>
                    </a:p>
                  </a:txBody>
                  <a:tcPr marL="73152" marR="73152" marT="27432" marB="27432" anchor="ctr">
                    <a:solidFill>
                      <a:srgbClr val="FFFFFF"/>
                    </a:solidFill>
                  </a:tcPr>
                </a:tc>
                <a:tc>
                  <a:txBody>
                    <a:bodyPr/>
                    <a:lstStyle/>
                    <a:p>
                      <a:pPr algn="ctr"/>
                      <a:r>
                        <a:rPr lang="es-ES" sz="1800" b="0" i="0">
                          <a:solidFill>
                            <a:srgbClr val="1F2937"/>
                          </a:solidFill>
                          <a:latin typeface="Calibri"/>
                        </a:rPr>
                        <a:t>Español</a:t>
                      </a:r>
                    </a:p>
                  </a:txBody>
                  <a:tcPr marL="73152" marR="73152" marT="27432" marB="27432" anchor="ctr">
                    <a:solidFill>
                      <a:srgbClr val="FFFFFF"/>
                    </a:solidFill>
                  </a:tcPr>
                </a:tc>
                <a:tc>
                  <a:txBody>
                    <a:bodyPr/>
                    <a:lstStyle/>
                    <a:p>
                      <a:pPr algn="ctr"/>
                      <a:r>
                        <a:rPr lang="es-ES" sz="1800" b="0" i="0">
                          <a:solidFill>
                            <a:srgbClr val="1F2937"/>
                          </a:solidFill>
                          <a:latin typeface="Calibri"/>
                        </a:rPr>
                        <a:t>Libre</a:t>
                      </a:r>
                    </a:p>
                  </a:txBody>
                  <a:tcPr marL="73152" marR="73152" marT="27432" marB="27432" anchor="ctr">
                    <a:solidFill>
                      <a:srgbClr val="FFFFFF"/>
                    </a:solidFill>
                  </a:tcPr>
                </a:tc>
                <a:tc>
                  <a:txBody>
                    <a:bodyPr/>
                    <a:lstStyle/>
                    <a:p>
                      <a:pPr algn="ctr"/>
                      <a:r>
                        <a:rPr lang="es-ES" sz="1800" b="0" i="0">
                          <a:solidFill>
                            <a:srgbClr val="1F2937"/>
                          </a:solidFill>
                          <a:latin typeface="Calibri"/>
                        </a:rPr>
                        <a:t>Alta: M0–M7</a:t>
                      </a:r>
                    </a:p>
                  </a:txBody>
                  <a:tcPr marL="73152" marR="73152" marT="27432" marB="27432" anchor="ctr">
                    <a:solidFill>
                      <a:srgbClr val="FFFFFF"/>
                    </a:solidFill>
                  </a:tcPr>
                </a:tc>
                <a:tc>
                  <a:txBody>
                    <a:bodyPr/>
                    <a:lstStyle/>
                    <a:p>
                      <a:pPr algn="ctr"/>
                      <a:r>
                        <a:rPr lang="es-ES" sz="1800" b="0" i="0">
                          <a:solidFill>
                            <a:srgbClr val="1F2937"/>
                          </a:solidFill>
                          <a:latin typeface="Calibri"/>
                        </a:rPr>
                        <a:t>Sí</a:t>
                      </a:r>
                    </a:p>
                  </a:txBody>
                  <a:tcPr marL="73152" marR="73152" marT="27432" marB="27432" anchor="ctr">
                    <a:solidFill>
                      <a:srgbClr val="FFFFFF"/>
                    </a:solidFill>
                  </a:tcPr>
                </a:tc>
                <a:tc>
                  <a:txBody>
                    <a:bodyPr/>
                    <a:lstStyle/>
                    <a:p>
                      <a:pPr algn="ctr"/>
                      <a:r>
                        <a:rPr lang="es-ES" sz="1800" b="0" i="0">
                          <a:solidFill>
                            <a:srgbClr val="1F2937"/>
                          </a:solidFill>
                          <a:latin typeface="Calibri"/>
                        </a:rPr>
                        <a:t>Sí (PDF)</a:t>
                      </a:r>
                    </a:p>
                  </a:txBody>
                  <a:tcPr marL="73152" marR="73152" marT="27432" marB="27432" anchor="ctr">
                    <a:solidFill>
                      <a:srgbClr val="FFFFFF"/>
                    </a:solidFill>
                  </a:tcPr>
                </a:tc>
                <a:extLst>
                  <a:ext uri="{0D108BD9-81ED-4DB2-BD59-A6C34878D82A}">
                    <a16:rowId xmlns:a16="http://schemas.microsoft.com/office/drawing/2014/main" val="10001"/>
                  </a:ext>
                </a:extLst>
              </a:tr>
              <a:tr h="433686">
                <a:tc>
                  <a:txBody>
                    <a:bodyPr/>
                    <a:lstStyle/>
                    <a:p>
                      <a:pPr algn="l"/>
                      <a:r>
                        <a:rPr lang="es-ES" sz="1800" b="1" i="0">
                          <a:solidFill>
                            <a:srgbClr val="1F2937"/>
                          </a:solidFill>
                          <a:latin typeface="Calibri"/>
                        </a:rPr>
                        <a:t>ED-Elas2D (UPC, 1998)</a:t>
                      </a:r>
                    </a:p>
                  </a:txBody>
                  <a:tcPr marL="73152" marR="73152" marT="27432" marB="27432" anchor="ctr">
                    <a:solidFill>
                      <a:srgbClr val="F3F4F6"/>
                    </a:solidFill>
                  </a:tcPr>
                </a:tc>
                <a:tc>
                  <a:txBody>
                    <a:bodyPr/>
                    <a:lstStyle/>
                    <a:p>
                      <a:pPr algn="ctr"/>
                      <a:r>
                        <a:rPr lang="es-ES" sz="1800" b="0" i="0">
                          <a:solidFill>
                            <a:srgbClr val="1F2937"/>
                          </a:solidFill>
                          <a:latin typeface="Calibri"/>
                        </a:rPr>
                        <a:t>Español</a:t>
                      </a:r>
                    </a:p>
                  </a:txBody>
                  <a:tcPr marL="73152" marR="73152" marT="27432" marB="27432" anchor="ctr">
                    <a:solidFill>
                      <a:srgbClr val="F3F4F6"/>
                    </a:solidFill>
                  </a:tcPr>
                </a:tc>
                <a:tc>
                  <a:txBody>
                    <a:bodyPr/>
                    <a:lstStyle/>
                    <a:p>
                      <a:pPr algn="ctr"/>
                      <a:r>
                        <a:rPr lang="es-ES" sz="1800" b="0" i="0">
                          <a:solidFill>
                            <a:srgbClr val="1F2937"/>
                          </a:solidFill>
                          <a:latin typeface="Calibri"/>
                        </a:rPr>
                        <a:t>Académica</a:t>
                      </a:r>
                    </a:p>
                  </a:txBody>
                  <a:tcPr marL="73152" marR="73152" marT="27432" marB="27432" anchor="ctr">
                    <a:solidFill>
                      <a:srgbClr val="F3F4F6"/>
                    </a:solidFill>
                  </a:tcPr>
                </a:tc>
                <a:tc>
                  <a:txBody>
                    <a:bodyPr/>
                    <a:lstStyle/>
                    <a:p>
                      <a:pPr algn="ctr"/>
                      <a:r>
                        <a:rPr lang="es-ES" sz="1800" b="0" i="0">
                          <a:solidFill>
                            <a:srgbClr val="1F2937"/>
                          </a:solidFill>
                          <a:latin typeface="Calibri"/>
                        </a:rPr>
                        <a:t>Media</a:t>
                      </a:r>
                    </a:p>
                  </a:txBody>
                  <a:tcPr marL="73152" marR="73152" marT="27432" marB="27432" anchor="ctr">
                    <a:solidFill>
                      <a:srgbClr val="F3F4F6"/>
                    </a:solidFill>
                  </a:tcPr>
                </a:tc>
                <a:tc>
                  <a:txBody>
                    <a:bodyPr/>
                    <a:lstStyle/>
                    <a:p>
                      <a:pPr algn="ctr"/>
                      <a:r>
                        <a:rPr lang="es-ES" sz="1800" b="0" i="0">
                          <a:solidFill>
                            <a:srgbClr val="1F2937"/>
                          </a:solidFill>
                          <a:latin typeface="Calibri"/>
                        </a:rPr>
                        <a:t>Sí</a:t>
                      </a:r>
                    </a:p>
                  </a:txBody>
                  <a:tcPr marL="73152" marR="73152" marT="27432" marB="27432" anchor="ctr">
                    <a:solidFill>
                      <a:srgbClr val="F3F4F6"/>
                    </a:solidFill>
                  </a:tcPr>
                </a:tc>
                <a:tc>
                  <a:txBody>
                    <a:bodyPr/>
                    <a:lstStyle/>
                    <a:p>
                      <a:pPr algn="ctr"/>
                      <a:r>
                        <a:rPr lang="es-ES" sz="1800" b="0" i="0">
                          <a:solidFill>
                            <a:srgbClr val="1F2937"/>
                          </a:solidFill>
                          <a:latin typeface="Calibri"/>
                        </a:rPr>
                        <a:t>No consta</a:t>
                      </a:r>
                    </a:p>
                  </a:txBody>
                  <a:tcPr marL="73152" marR="73152" marT="27432" marB="27432" anchor="ctr">
                    <a:solidFill>
                      <a:srgbClr val="F3F4F6"/>
                    </a:solidFill>
                  </a:tcPr>
                </a:tc>
                <a:extLst>
                  <a:ext uri="{0D108BD9-81ED-4DB2-BD59-A6C34878D82A}">
                    <a16:rowId xmlns:a16="http://schemas.microsoft.com/office/drawing/2014/main" val="10002"/>
                  </a:ext>
                </a:extLst>
              </a:tr>
              <a:tr h="566928">
                <a:tc>
                  <a:txBody>
                    <a:bodyPr/>
                    <a:lstStyle/>
                    <a:p>
                      <a:pPr algn="l"/>
                      <a:r>
                        <a:rPr lang="es-ES" sz="1800" b="1" i="0">
                          <a:solidFill>
                            <a:srgbClr val="1F2937"/>
                          </a:solidFill>
                          <a:latin typeface="Calibri"/>
                        </a:rPr>
                        <a:t>Reticulados (Bishay, 2020)</a:t>
                      </a:r>
                    </a:p>
                  </a:txBody>
                  <a:tcPr marL="73152" marR="73152" marT="27432" marB="27432" anchor="ctr">
                    <a:solidFill>
                      <a:srgbClr val="FFFFFF"/>
                    </a:solidFill>
                  </a:tcPr>
                </a:tc>
                <a:tc>
                  <a:txBody>
                    <a:bodyPr/>
                    <a:lstStyle/>
                    <a:p>
                      <a:pPr algn="ctr"/>
                      <a:r>
                        <a:rPr lang="es-ES" sz="1800" b="0" i="0">
                          <a:solidFill>
                            <a:srgbClr val="1F2937"/>
                          </a:solidFill>
                          <a:latin typeface="Calibri"/>
                        </a:rPr>
                        <a:t>Inglés</a:t>
                      </a:r>
                    </a:p>
                  </a:txBody>
                  <a:tcPr marL="73152" marR="73152" marT="27432" marB="27432" anchor="ctr">
                    <a:solidFill>
                      <a:srgbClr val="FFFFFF"/>
                    </a:solidFill>
                  </a:tcPr>
                </a:tc>
                <a:tc>
                  <a:txBody>
                    <a:bodyPr/>
                    <a:lstStyle/>
                    <a:p>
                      <a:pPr algn="ctr"/>
                      <a:r>
                        <a:rPr lang="es-ES" sz="1800" b="0" i="0">
                          <a:solidFill>
                            <a:srgbClr val="1F2937"/>
                          </a:solidFill>
                          <a:latin typeface="Calibri"/>
                        </a:rPr>
                        <a:t>No declarada</a:t>
                      </a:r>
                    </a:p>
                  </a:txBody>
                  <a:tcPr marL="73152" marR="73152" marT="27432" marB="27432" anchor="ctr">
                    <a:solidFill>
                      <a:srgbClr val="FFFFFF"/>
                    </a:solidFill>
                  </a:tcPr>
                </a:tc>
                <a:tc>
                  <a:txBody>
                    <a:bodyPr/>
                    <a:lstStyle/>
                    <a:p>
                      <a:pPr algn="ctr"/>
                      <a:r>
                        <a:rPr lang="es-ES" sz="1800" b="0" i="0">
                          <a:solidFill>
                            <a:srgbClr val="1F2937"/>
                          </a:solidFill>
                          <a:latin typeface="Calibri"/>
                        </a:rPr>
                        <a:t>Media-alta</a:t>
                      </a:r>
                    </a:p>
                  </a:txBody>
                  <a:tcPr marL="73152" marR="73152" marT="27432" marB="27432" anchor="ctr">
                    <a:solidFill>
                      <a:srgbClr val="FFFFFF"/>
                    </a:solidFill>
                  </a:tcPr>
                </a:tc>
                <a:tc>
                  <a:txBody>
                    <a:bodyPr/>
                    <a:lstStyle/>
                    <a:p>
                      <a:pPr algn="ctr"/>
                      <a:r>
                        <a:rPr lang="es-ES" sz="1800" b="0" i="0">
                          <a:solidFill>
                            <a:srgbClr val="1F2937"/>
                          </a:solidFill>
                          <a:latin typeface="Calibri"/>
                        </a:rPr>
                        <a:t>Parcial: barras</a:t>
                      </a:r>
                    </a:p>
                  </a:txBody>
                  <a:tcPr marL="73152" marR="73152" marT="27432" marB="27432" anchor="ctr">
                    <a:solidFill>
                      <a:srgbClr val="FFFFFF"/>
                    </a:solidFill>
                  </a:tcPr>
                </a:tc>
                <a:tc>
                  <a:txBody>
                    <a:bodyPr/>
                    <a:lstStyle/>
                    <a:p>
                      <a:pPr algn="ctr"/>
                      <a:r>
                        <a:rPr lang="es-ES" sz="1800" b="0" i="0">
                          <a:solidFill>
                            <a:srgbClr val="1F2937"/>
                          </a:solidFill>
                          <a:latin typeface="Calibri"/>
                        </a:rPr>
                        <a:t>No consta</a:t>
                      </a:r>
                    </a:p>
                  </a:txBody>
                  <a:tcPr marL="73152" marR="73152" marT="27432" marB="27432" anchor="ctr">
                    <a:solidFill>
                      <a:srgbClr val="FFFFFF"/>
                    </a:solidFill>
                  </a:tcPr>
                </a:tc>
                <a:extLst>
                  <a:ext uri="{0D108BD9-81ED-4DB2-BD59-A6C34878D82A}">
                    <a16:rowId xmlns:a16="http://schemas.microsoft.com/office/drawing/2014/main" val="10003"/>
                  </a:ext>
                </a:extLst>
              </a:tr>
              <a:tr h="566928">
                <a:tc>
                  <a:txBody>
                    <a:bodyPr/>
                    <a:lstStyle/>
                    <a:p>
                      <a:pPr algn="l"/>
                      <a:r>
                        <a:rPr lang="es-ES" sz="1800" b="1" i="0">
                          <a:solidFill>
                            <a:srgbClr val="1F2937"/>
                          </a:solidFill>
                          <a:latin typeface="Calibri"/>
                        </a:rPr>
                        <a:t>VisualFEA (Lee, 2015)</a:t>
                      </a:r>
                    </a:p>
                  </a:txBody>
                  <a:tcPr marL="73152" marR="73152" marT="27432" marB="27432" anchor="ctr">
                    <a:solidFill>
                      <a:srgbClr val="F3F4F6"/>
                    </a:solidFill>
                  </a:tcPr>
                </a:tc>
                <a:tc>
                  <a:txBody>
                    <a:bodyPr/>
                    <a:lstStyle/>
                    <a:p>
                      <a:pPr algn="ctr"/>
                      <a:r>
                        <a:rPr lang="es-ES" sz="1800" b="0" i="0">
                          <a:solidFill>
                            <a:srgbClr val="1F2937"/>
                          </a:solidFill>
                          <a:latin typeface="Calibri"/>
                        </a:rPr>
                        <a:t>Inglés</a:t>
                      </a:r>
                    </a:p>
                  </a:txBody>
                  <a:tcPr marL="73152" marR="73152" marT="27432" marB="27432" anchor="ctr">
                    <a:solidFill>
                      <a:srgbClr val="F3F4F6"/>
                    </a:solidFill>
                  </a:tcPr>
                </a:tc>
                <a:tc>
                  <a:txBody>
                    <a:bodyPr/>
                    <a:lstStyle/>
                    <a:p>
                      <a:pPr algn="ctr"/>
                      <a:r>
                        <a:rPr lang="es-ES" sz="1800" b="0" i="0">
                          <a:solidFill>
                            <a:srgbClr val="1F2937"/>
                          </a:solidFill>
                          <a:latin typeface="Calibri"/>
                        </a:rPr>
                        <a:t>Comercial</a:t>
                      </a:r>
                    </a:p>
                  </a:txBody>
                  <a:tcPr marL="73152" marR="73152" marT="27432" marB="27432" anchor="ctr">
                    <a:solidFill>
                      <a:srgbClr val="F3F4F6"/>
                    </a:solidFill>
                  </a:tcPr>
                </a:tc>
                <a:tc>
                  <a:txBody>
                    <a:bodyPr/>
                    <a:lstStyle/>
                    <a:p>
                      <a:pPr algn="ctr"/>
                      <a:r>
                        <a:rPr lang="es-ES" sz="1800" b="0" i="0">
                          <a:solidFill>
                            <a:srgbClr val="1F2937"/>
                          </a:solidFill>
                          <a:latin typeface="Calibri"/>
                        </a:rPr>
                        <a:t>Media-alta, un eslabón</a:t>
                      </a:r>
                    </a:p>
                  </a:txBody>
                  <a:tcPr marL="73152" marR="73152" marT="27432" marB="27432" anchor="ctr">
                    <a:solidFill>
                      <a:srgbClr val="F3F4F6"/>
                    </a:solidFill>
                  </a:tcPr>
                </a:tc>
                <a:tc>
                  <a:txBody>
                    <a:bodyPr/>
                    <a:lstStyle/>
                    <a:p>
                      <a:pPr algn="ctr"/>
                      <a:r>
                        <a:rPr lang="es-ES" sz="1800" b="0" i="0">
                          <a:solidFill>
                            <a:srgbClr val="1F2937"/>
                          </a:solidFill>
                          <a:latin typeface="Calibri"/>
                        </a:rPr>
                        <a:t>Parcial</a:t>
                      </a:r>
                    </a:p>
                  </a:txBody>
                  <a:tcPr marL="73152" marR="73152" marT="27432" marB="27432" anchor="ctr">
                    <a:solidFill>
                      <a:srgbClr val="F3F4F6"/>
                    </a:solidFill>
                  </a:tcPr>
                </a:tc>
                <a:tc>
                  <a:txBody>
                    <a:bodyPr/>
                    <a:lstStyle/>
                    <a:p>
                      <a:pPr algn="ctr"/>
                      <a:r>
                        <a:rPr lang="es-ES" sz="1800" b="0" i="0">
                          <a:solidFill>
                            <a:srgbClr val="1F2937"/>
                          </a:solidFill>
                          <a:latin typeface="Calibri"/>
                        </a:rPr>
                        <a:t>En pantalla</a:t>
                      </a:r>
                    </a:p>
                  </a:txBody>
                  <a:tcPr marL="73152" marR="73152" marT="27432" marB="27432" anchor="ctr">
                    <a:solidFill>
                      <a:srgbClr val="F3F4F6"/>
                    </a:solidFill>
                  </a:tcPr>
                </a:tc>
                <a:extLst>
                  <a:ext uri="{0D108BD9-81ED-4DB2-BD59-A6C34878D82A}">
                    <a16:rowId xmlns:a16="http://schemas.microsoft.com/office/drawing/2014/main" val="10004"/>
                  </a:ext>
                </a:extLst>
              </a:tr>
              <a:tr h="433686">
                <a:tc>
                  <a:txBody>
                    <a:bodyPr/>
                    <a:lstStyle/>
                    <a:p>
                      <a:pPr algn="l"/>
                      <a:r>
                        <a:rPr lang="es-ES" sz="1800" b="1" i="0">
                          <a:solidFill>
                            <a:srgbClr val="1F2937"/>
                          </a:solidFill>
                          <a:latin typeface="Calibri"/>
                        </a:rPr>
                        <a:t>CALFEM, FEniCS</a:t>
                      </a:r>
                    </a:p>
                  </a:txBody>
                  <a:tcPr marL="73152" marR="73152" marT="27432" marB="27432" anchor="ctr">
                    <a:solidFill>
                      <a:srgbClr val="FFFFFF"/>
                    </a:solidFill>
                  </a:tcPr>
                </a:tc>
                <a:tc>
                  <a:txBody>
                    <a:bodyPr/>
                    <a:lstStyle/>
                    <a:p>
                      <a:pPr algn="ctr"/>
                      <a:r>
                        <a:rPr lang="es-ES" sz="1800" b="0" i="0">
                          <a:solidFill>
                            <a:srgbClr val="1F2937"/>
                          </a:solidFill>
                          <a:latin typeface="Calibri"/>
                        </a:rPr>
                        <a:t>Inglés</a:t>
                      </a:r>
                    </a:p>
                  </a:txBody>
                  <a:tcPr marL="73152" marR="73152" marT="27432" marB="27432" anchor="ctr">
                    <a:solidFill>
                      <a:srgbClr val="FFFFFF"/>
                    </a:solidFill>
                  </a:tcPr>
                </a:tc>
                <a:tc>
                  <a:txBody>
                    <a:bodyPr/>
                    <a:lstStyle/>
                    <a:p>
                      <a:pPr algn="ctr"/>
                      <a:r>
                        <a:rPr lang="es-ES" sz="1800" b="0" i="0">
                          <a:solidFill>
                            <a:srgbClr val="1F2937"/>
                          </a:solidFill>
                          <a:latin typeface="Calibri"/>
                        </a:rPr>
                        <a:t>Libre</a:t>
                      </a:r>
                    </a:p>
                  </a:txBody>
                  <a:tcPr marL="73152" marR="73152" marT="27432" marB="27432" anchor="ctr">
                    <a:solidFill>
                      <a:srgbClr val="FFFFFF"/>
                    </a:solidFill>
                  </a:tcPr>
                </a:tc>
                <a:tc>
                  <a:txBody>
                    <a:bodyPr/>
                    <a:lstStyle/>
                    <a:p>
                      <a:pPr algn="ctr"/>
                      <a:r>
                        <a:rPr lang="es-ES" sz="1800" b="0" i="0">
                          <a:solidFill>
                            <a:srgbClr val="1F2937"/>
                          </a:solidFill>
                          <a:latin typeface="Calibri"/>
                        </a:rPr>
                        <a:t>En el código</a:t>
                      </a:r>
                    </a:p>
                  </a:txBody>
                  <a:tcPr marL="73152" marR="73152" marT="27432" marB="27432" anchor="ctr">
                    <a:solidFill>
                      <a:srgbClr val="FFFFFF"/>
                    </a:solidFill>
                  </a:tcPr>
                </a:tc>
                <a:tc>
                  <a:txBody>
                    <a:bodyPr/>
                    <a:lstStyle/>
                    <a:p>
                      <a:pPr algn="ctr"/>
                      <a:r>
                        <a:rPr lang="es-ES" sz="1800" b="0" i="0">
                          <a:solidFill>
                            <a:srgbClr val="1F2937"/>
                          </a:solidFill>
                          <a:latin typeface="Calibri"/>
                        </a:rPr>
                        <a:t>Parcial</a:t>
                      </a:r>
                    </a:p>
                  </a:txBody>
                  <a:tcPr marL="73152" marR="73152" marT="27432" marB="27432" anchor="ctr">
                    <a:solidFill>
                      <a:srgbClr val="FFFFFF"/>
                    </a:solidFill>
                  </a:tcPr>
                </a:tc>
                <a:tc>
                  <a:txBody>
                    <a:bodyPr/>
                    <a:lstStyle/>
                    <a:p>
                      <a:pPr algn="ctr"/>
                      <a:r>
                        <a:rPr lang="es-ES" sz="1800" b="0" i="0">
                          <a:solidFill>
                            <a:srgbClr val="1F2937"/>
                          </a:solidFill>
                          <a:latin typeface="Calibri"/>
                        </a:rPr>
                        <a:t>No</a:t>
                      </a:r>
                    </a:p>
                  </a:txBody>
                  <a:tcPr marL="73152" marR="73152" marT="27432" marB="27432" anchor="ctr">
                    <a:solidFill>
                      <a:srgbClr val="FFFFFF"/>
                    </a:solidFill>
                  </a:tcPr>
                </a:tc>
                <a:extLst>
                  <a:ext uri="{0D108BD9-81ED-4DB2-BD59-A6C34878D82A}">
                    <a16:rowId xmlns:a16="http://schemas.microsoft.com/office/drawing/2014/main" val="10005"/>
                  </a:ext>
                </a:extLst>
              </a:tr>
              <a:tr h="433686">
                <a:tc>
                  <a:txBody>
                    <a:bodyPr/>
                    <a:lstStyle/>
                    <a:p>
                      <a:pPr algn="l"/>
                      <a:r>
                        <a:rPr lang="es-ES" sz="1800" b="1" i="0">
                          <a:solidFill>
                            <a:srgbClr val="1F2937"/>
                          </a:solidFill>
                          <a:latin typeface="Calibri"/>
                        </a:rPr>
                        <a:t>SAP2000, ANSYS, Abaqus</a:t>
                      </a:r>
                    </a:p>
                  </a:txBody>
                  <a:tcPr marL="73152" marR="73152" marT="27432" marB="27432" anchor="ctr">
                    <a:solidFill>
                      <a:srgbClr val="F3F4F6"/>
                    </a:solidFill>
                  </a:tcPr>
                </a:tc>
                <a:tc>
                  <a:txBody>
                    <a:bodyPr/>
                    <a:lstStyle/>
                    <a:p>
                      <a:pPr algn="ctr"/>
                      <a:r>
                        <a:rPr lang="es-ES" sz="1800" b="0" i="0">
                          <a:solidFill>
                            <a:srgbClr val="1F2937"/>
                          </a:solidFill>
                          <a:latin typeface="Calibri"/>
                        </a:rPr>
                        <a:t>Inglés</a:t>
                      </a:r>
                    </a:p>
                  </a:txBody>
                  <a:tcPr marL="73152" marR="73152" marT="27432" marB="27432" anchor="ctr">
                    <a:solidFill>
                      <a:srgbClr val="F3F4F6"/>
                    </a:solidFill>
                  </a:tcPr>
                </a:tc>
                <a:tc>
                  <a:txBody>
                    <a:bodyPr/>
                    <a:lstStyle/>
                    <a:p>
                      <a:pPr algn="ctr"/>
                      <a:r>
                        <a:rPr lang="es-ES" sz="1800" b="0" i="0">
                          <a:solidFill>
                            <a:srgbClr val="1F2937"/>
                          </a:solidFill>
                          <a:latin typeface="Calibri"/>
                        </a:rPr>
                        <a:t>Comercial</a:t>
                      </a:r>
                    </a:p>
                  </a:txBody>
                  <a:tcPr marL="73152" marR="73152" marT="27432" marB="27432" anchor="ctr">
                    <a:solidFill>
                      <a:srgbClr val="F3F4F6"/>
                    </a:solidFill>
                  </a:tcPr>
                </a:tc>
                <a:tc>
                  <a:txBody>
                    <a:bodyPr/>
                    <a:lstStyle/>
                    <a:p>
                      <a:pPr algn="ctr"/>
                      <a:r>
                        <a:rPr lang="es-ES" sz="1800" b="0" i="0">
                          <a:solidFill>
                            <a:srgbClr val="1F2937"/>
                          </a:solidFill>
                          <a:latin typeface="Calibri"/>
                        </a:rPr>
                        <a:t>Baja: caja negra</a:t>
                      </a:r>
                    </a:p>
                  </a:txBody>
                  <a:tcPr marL="73152" marR="73152" marT="27432" marB="27432" anchor="ctr">
                    <a:solidFill>
                      <a:srgbClr val="F3F4F6"/>
                    </a:solidFill>
                  </a:tcPr>
                </a:tc>
                <a:tc>
                  <a:txBody>
                    <a:bodyPr/>
                    <a:lstStyle/>
                    <a:p>
                      <a:pPr algn="ctr"/>
                      <a:r>
                        <a:rPr lang="es-ES" sz="1800" b="0" i="0">
                          <a:solidFill>
                            <a:srgbClr val="1F2937"/>
                          </a:solidFill>
                          <a:latin typeface="Calibri"/>
                        </a:rPr>
                        <a:t>No</a:t>
                      </a:r>
                    </a:p>
                  </a:txBody>
                  <a:tcPr marL="73152" marR="73152" marT="27432" marB="27432" anchor="ctr">
                    <a:solidFill>
                      <a:srgbClr val="F3F4F6"/>
                    </a:solidFill>
                  </a:tcPr>
                </a:tc>
                <a:tc>
                  <a:txBody>
                    <a:bodyPr/>
                    <a:lstStyle/>
                    <a:p>
                      <a:pPr algn="ctr"/>
                      <a:r>
                        <a:rPr lang="es-ES" sz="1800" b="0" i="0">
                          <a:solidFill>
                            <a:srgbClr val="1F2937"/>
                          </a:solidFill>
                          <a:latin typeface="Calibri"/>
                        </a:rPr>
                        <a:t>Solo informes</a:t>
                      </a:r>
                    </a:p>
                  </a:txBody>
                  <a:tcPr marL="73152" marR="73152" marT="27432" marB="27432" anchor="ctr">
                    <a:solidFill>
                      <a:srgbClr val="F3F4F6"/>
                    </a:solidFill>
                  </a:tcPr>
                </a:tc>
                <a:extLst>
                  <a:ext uri="{0D108BD9-81ED-4DB2-BD59-A6C34878D82A}">
                    <a16:rowId xmlns:a16="http://schemas.microsoft.com/office/drawing/2014/main" val="10006"/>
                  </a:ext>
                </a:extLst>
              </a:tr>
            </a:tbl>
          </a:graphicData>
        </a:graphic>
      </p:graphicFrame>
      <p:sp>
        <p:nvSpPr>
          <p:cNvPr id="6" name="Rectangle 5"/>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77240" y="5431536"/>
            <a:ext cx="10774375"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Ninguno reúne a la vez español, licencia libre, continuo plano, paso a paso interactivo, canal completo y memoria automática</a:t>
            </a:r>
          </a:p>
        </p:txBody>
      </p:sp>
      <p:sp>
        <p:nvSpPr>
          <p:cNvPr id="9" name="Rectangle 8"/>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6419088"/>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11" name="TextBox 10"/>
          <p:cNvSpPr txBox="1"/>
          <p:nvPr/>
        </p:nvSpPr>
        <p:spPr>
          <a:xfrm>
            <a:off x="4023360" y="6419088"/>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Cap. 1, antecedentes, tabla comparativa</a:t>
            </a:r>
          </a:p>
        </p:txBody>
      </p:sp>
      <p:sp>
        <p:nvSpPr>
          <p:cNvPr id="12" name="TextBox 11"/>
          <p:cNvSpPr txBox="1"/>
          <p:nvPr/>
        </p:nvSpPr>
        <p:spPr>
          <a:xfrm>
            <a:off x="10545775" y="6419088"/>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8</a:t>
            </a:fld>
            <a:endParaRPr lang="es-ES" sz="1200" dirty="0">
              <a:solidFill>
                <a:srgbClr val="5B6575"/>
              </a:solidFill>
              <a:latin typeface="Calibri"/>
            </a:endParaRPr>
          </a:p>
        </p:txBody>
      </p:sp>
      <p:pic>
        <p:nvPicPr>
          <p:cNvPr id="13" name="s08">
            <a:hlinkClick r:id="" action="ppaction://media"/>
            <a:extLst>
              <a:ext uri="{FF2B5EF4-FFF2-40B4-BE49-F238E27FC236}">
                <a16:creationId xmlns:a16="http://schemas.microsoft.com/office/drawing/2014/main" id="{6F66EE16-D04F-8D75-2095-ECA8FC35311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7316"/>
    </mc:Choice>
    <mc:Fallback>
      <p:transition spd="slow" advTm="5731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168335" cy="868680"/>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De la forma fuerte a K u = F</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noAutofit/>
          </a:bodyPr>
          <a:lstStyle/>
          <a:p>
            <a:pPr algn="ctr">
              <a:lnSpc>
                <a:spcPct val="100000"/>
              </a:lnSpc>
            </a:pPr>
            <a:r>
              <a:rPr lang="es-ES" sz="1300" b="1" i="0">
                <a:solidFill>
                  <a:srgbClr val="1B2A4A"/>
                </a:solidFill>
                <a:latin typeface="Calibri"/>
              </a:rPr>
              <a:t>2  ·  Base teórica</a:t>
            </a:r>
          </a:p>
        </p:txBody>
      </p:sp>
      <p:sp>
        <p:nvSpPr>
          <p:cNvPr id="5" name="Rounded Rectangle 4"/>
          <p:cNvSpPr/>
          <p:nvPr/>
        </p:nvSpPr>
        <p:spPr>
          <a:xfrm>
            <a:off x="548640" y="1591056"/>
            <a:ext cx="11094415" cy="745236"/>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548640" y="1591056"/>
            <a:ext cx="82296" cy="7452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22959" y="1591056"/>
            <a:ext cx="3108960" cy="745236"/>
          </a:xfrm>
          <a:prstGeom prst="rect">
            <a:avLst/>
          </a:prstGeom>
          <a:noFill/>
        </p:spPr>
        <p:txBody>
          <a:bodyPr wrap="square" lIns="45720" tIns="27432" rIns="45720" bIns="27432" anchor="ctr">
            <a:noAutofit/>
          </a:bodyPr>
          <a:lstStyle/>
          <a:p>
            <a:pPr algn="l">
              <a:lnSpc>
                <a:spcPct val="105000"/>
              </a:lnSpc>
            </a:pPr>
            <a:r>
              <a:rPr lang="es-ES" sz="1900" b="1" i="0">
                <a:solidFill>
                  <a:srgbClr val="5B6575"/>
                </a:solidFill>
                <a:latin typeface="Calibri"/>
              </a:rPr>
              <a:t>Equilibrio (forma fuerte)</a:t>
            </a:r>
          </a:p>
        </p:txBody>
      </p:sp>
      <p:sp>
        <p:nvSpPr>
          <p:cNvPr id="8" name="TextBox 7"/>
          <p:cNvSpPr txBox="1"/>
          <p:nvPr/>
        </p:nvSpPr>
        <p:spPr>
          <a:xfrm>
            <a:off x="3931920" y="1591056"/>
            <a:ext cx="7528255" cy="745236"/>
          </a:xfrm>
          <a:prstGeom prst="rect">
            <a:avLst/>
          </a:prstGeom>
          <a:noFill/>
        </p:spPr>
        <p:txBody>
          <a:bodyPr wrap="square" lIns="45720" tIns="27432" rIns="45720" bIns="27432" anchor="ctr">
            <a:noAutofit/>
          </a:bodyPr>
          <a:lstStyle/>
          <a:p>
            <a:pPr algn="l">
              <a:lnSpc>
                <a:spcPct val="105000"/>
              </a:lnSpc>
            </a:pPr>
            <a:r>
              <a:rPr lang="es-ES" sz="3000" b="0" i="0">
                <a:solidFill>
                  <a:srgbClr val="1B2A4A"/>
                </a:solidFill>
                <a:latin typeface="Cambria Math"/>
              </a:rPr>
              <a:t>∇·σ + b = 0   en Ω</a:t>
            </a:r>
          </a:p>
        </p:txBody>
      </p:sp>
      <p:sp>
        <p:nvSpPr>
          <p:cNvPr id="9" name="Rounded Rectangle 8"/>
          <p:cNvSpPr/>
          <p:nvPr/>
        </p:nvSpPr>
        <p:spPr>
          <a:xfrm>
            <a:off x="548640" y="2555748"/>
            <a:ext cx="11094415" cy="745236"/>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548640" y="2555748"/>
            <a:ext cx="82296" cy="7452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22959" y="2555748"/>
            <a:ext cx="3108960" cy="745236"/>
          </a:xfrm>
          <a:prstGeom prst="rect">
            <a:avLst/>
          </a:prstGeom>
          <a:noFill/>
        </p:spPr>
        <p:txBody>
          <a:bodyPr wrap="square" lIns="45720" tIns="27432" rIns="45720" bIns="27432" anchor="ctr">
            <a:noAutofit/>
          </a:bodyPr>
          <a:lstStyle/>
          <a:p>
            <a:pPr algn="l">
              <a:lnSpc>
                <a:spcPct val="105000"/>
              </a:lnSpc>
            </a:pPr>
            <a:r>
              <a:rPr lang="es-ES" sz="1900" b="1" i="0">
                <a:solidFill>
                  <a:srgbClr val="5B6575"/>
                </a:solidFill>
                <a:latin typeface="Calibri"/>
              </a:rPr>
              <a:t>Trabajos virtuales</a:t>
            </a:r>
          </a:p>
        </p:txBody>
      </p:sp>
      <p:sp>
        <p:nvSpPr>
          <p:cNvPr id="12" name="TextBox 11"/>
          <p:cNvSpPr txBox="1"/>
          <p:nvPr/>
        </p:nvSpPr>
        <p:spPr>
          <a:xfrm>
            <a:off x="3931920" y="2555748"/>
            <a:ext cx="7528255" cy="745236"/>
          </a:xfrm>
          <a:prstGeom prst="rect">
            <a:avLst/>
          </a:prstGeom>
          <a:noFill/>
        </p:spPr>
        <p:txBody>
          <a:bodyPr wrap="square" lIns="45720" tIns="27432" rIns="45720" bIns="27432" anchor="ctr">
            <a:noAutofit/>
          </a:bodyPr>
          <a:lstStyle/>
          <a:p>
            <a:pPr algn="l">
              <a:lnSpc>
                <a:spcPct val="105000"/>
              </a:lnSpc>
            </a:pPr>
            <a:r>
              <a:rPr lang="es-ES" sz="3000" b="0" i="0">
                <a:solidFill>
                  <a:srgbClr val="1B2A4A"/>
                </a:solidFill>
                <a:latin typeface="Cambria Math"/>
              </a:rPr>
              <a:t>∫Ω δεᵀ σ dΩ = ∫Ω δuᵀ b dΩ + ∫Γₜ δuᵀ t dΓ</a:t>
            </a:r>
          </a:p>
        </p:txBody>
      </p:sp>
      <p:sp>
        <p:nvSpPr>
          <p:cNvPr id="13" name="Rounded Rectangle 12"/>
          <p:cNvSpPr/>
          <p:nvPr/>
        </p:nvSpPr>
        <p:spPr>
          <a:xfrm>
            <a:off x="548640" y="3520440"/>
            <a:ext cx="11094415" cy="745236"/>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548640" y="3520440"/>
            <a:ext cx="82296" cy="7452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22959" y="3520440"/>
            <a:ext cx="3108960" cy="745236"/>
          </a:xfrm>
          <a:prstGeom prst="rect">
            <a:avLst/>
          </a:prstGeom>
          <a:noFill/>
        </p:spPr>
        <p:txBody>
          <a:bodyPr wrap="square" lIns="45720" tIns="27432" rIns="45720" bIns="27432" anchor="ctr">
            <a:noAutofit/>
          </a:bodyPr>
          <a:lstStyle/>
          <a:p>
            <a:pPr algn="l">
              <a:lnSpc>
                <a:spcPct val="105000"/>
              </a:lnSpc>
            </a:pPr>
            <a:r>
              <a:rPr lang="es-ES" sz="1900" b="1" i="0">
                <a:solidFill>
                  <a:srgbClr val="5B6575"/>
                </a:solidFill>
                <a:latin typeface="Calibri"/>
              </a:rPr>
              <a:t>Discretización</a:t>
            </a:r>
          </a:p>
        </p:txBody>
      </p:sp>
      <p:sp>
        <p:nvSpPr>
          <p:cNvPr id="16" name="TextBox 15"/>
          <p:cNvSpPr txBox="1"/>
          <p:nvPr/>
        </p:nvSpPr>
        <p:spPr>
          <a:xfrm>
            <a:off x="3931920" y="3520440"/>
            <a:ext cx="7528255" cy="745236"/>
          </a:xfrm>
          <a:prstGeom prst="rect">
            <a:avLst/>
          </a:prstGeom>
          <a:noFill/>
        </p:spPr>
        <p:txBody>
          <a:bodyPr wrap="square" lIns="45720" tIns="27432" rIns="45720" bIns="27432" anchor="ctr">
            <a:noAutofit/>
          </a:bodyPr>
          <a:lstStyle/>
          <a:p>
            <a:pPr algn="l">
              <a:lnSpc>
                <a:spcPct val="105000"/>
              </a:lnSpc>
            </a:pPr>
            <a:r>
              <a:rPr lang="es-ES" sz="2600" b="0" i="0">
                <a:solidFill>
                  <a:srgbClr val="1B2A4A"/>
                </a:solidFill>
                <a:latin typeface="Cambria Math"/>
              </a:rPr>
              <a:t>u ≈ N uₑ ,   ε = B uₑ ,   σ = D ε   ⇒   K u = F</a:t>
            </a:r>
          </a:p>
        </p:txBody>
      </p:sp>
      <p:sp>
        <p:nvSpPr>
          <p:cNvPr id="17" name="Rounded Rectangle 16"/>
          <p:cNvSpPr/>
          <p:nvPr/>
        </p:nvSpPr>
        <p:spPr>
          <a:xfrm>
            <a:off x="548640" y="4485132"/>
            <a:ext cx="11094415" cy="745236"/>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548640" y="4485132"/>
            <a:ext cx="82296" cy="7452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22959" y="4485132"/>
            <a:ext cx="3108960" cy="745236"/>
          </a:xfrm>
          <a:prstGeom prst="rect">
            <a:avLst/>
          </a:prstGeom>
          <a:noFill/>
        </p:spPr>
        <p:txBody>
          <a:bodyPr wrap="square" lIns="45720" tIns="27432" rIns="45720" bIns="27432" anchor="ctr">
            <a:noAutofit/>
          </a:bodyPr>
          <a:lstStyle/>
          <a:p>
            <a:pPr algn="l">
              <a:lnSpc>
                <a:spcPct val="105000"/>
              </a:lnSpc>
            </a:pPr>
            <a:r>
              <a:rPr lang="es-ES" sz="1900" b="1" i="0">
                <a:solidFill>
                  <a:srgbClr val="5B6575"/>
                </a:solidFill>
                <a:latin typeface="Calibri"/>
              </a:rPr>
              <a:t>Constitutiva (tensión plana)</a:t>
            </a:r>
          </a:p>
        </p:txBody>
      </p:sp>
      <p:sp>
        <p:nvSpPr>
          <p:cNvPr id="20" name="TextBox 19"/>
          <p:cNvSpPr txBox="1"/>
          <p:nvPr/>
        </p:nvSpPr>
        <p:spPr>
          <a:xfrm>
            <a:off x="3931920" y="4485132"/>
            <a:ext cx="7528255" cy="745236"/>
          </a:xfrm>
          <a:prstGeom prst="rect">
            <a:avLst/>
          </a:prstGeom>
          <a:noFill/>
        </p:spPr>
        <p:txBody>
          <a:bodyPr wrap="square" lIns="45720" tIns="27432" rIns="45720" bIns="27432" anchor="ctr">
            <a:noAutofit/>
          </a:bodyPr>
          <a:lstStyle/>
          <a:p>
            <a:pPr algn="l">
              <a:lnSpc>
                <a:spcPct val="105000"/>
              </a:lnSpc>
            </a:pPr>
            <a:r>
              <a:rPr lang="es-ES" sz="2600" b="0" i="0">
                <a:solidFill>
                  <a:srgbClr val="1B2A4A"/>
                </a:solidFill>
                <a:latin typeface="Cambria Math"/>
              </a:rPr>
              <a:t>D = E/(1−ν²) · [ 1  ν  0 ;  ν  1  0 ;  0  0  (1−ν)/2 ]</a:t>
            </a:r>
          </a:p>
        </p:txBody>
      </p:sp>
      <p:sp>
        <p:nvSpPr>
          <p:cNvPr id="21" name="Rectangle 20"/>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77240" y="5431536"/>
            <a:ext cx="10774375" cy="841248"/>
          </a:xfrm>
          <a:prstGeom prst="rect">
            <a:avLst/>
          </a:prstGeom>
          <a:noFill/>
        </p:spPr>
        <p:txBody>
          <a:bodyPr wrap="square" lIns="45720" tIns="27432" rIns="45720" bIns="27432" anchor="ctr">
            <a:noAutofit/>
          </a:bodyPr>
          <a:lstStyle/>
          <a:p>
            <a:pPr algn="l">
              <a:lnSpc>
                <a:spcPct val="100000"/>
              </a:lnSpc>
            </a:pPr>
            <a:r>
              <a:rPr lang="es-ES" sz="2200" b="1" i="0">
                <a:solidFill>
                  <a:srgbClr val="1B2A4A"/>
                </a:solidFill>
                <a:latin typeface="Calibri"/>
              </a:rPr>
              <a:t>En deformación plana el factor (1−2ν) tiende a cero cuando ν → 0,5: bloqueo volumétrico</a:t>
            </a:r>
          </a:p>
        </p:txBody>
      </p:sp>
      <p:sp>
        <p:nvSpPr>
          <p:cNvPr id="24" name="Rectangle 23"/>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48640" y="6419088"/>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6" name="TextBox 25"/>
          <p:cNvSpPr txBox="1"/>
          <p:nvPr/>
        </p:nvSpPr>
        <p:spPr>
          <a:xfrm>
            <a:off x="4023360" y="6419088"/>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Cap. 1, formulación variacional y matriz constitutiva</a:t>
            </a:r>
          </a:p>
        </p:txBody>
      </p:sp>
      <p:sp>
        <p:nvSpPr>
          <p:cNvPr id="27" name="TextBox 26"/>
          <p:cNvSpPr txBox="1"/>
          <p:nvPr/>
        </p:nvSpPr>
        <p:spPr>
          <a:xfrm>
            <a:off x="10545775" y="6419088"/>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9</a:t>
            </a:fld>
            <a:endParaRPr lang="es-ES" sz="1200" dirty="0">
              <a:solidFill>
                <a:srgbClr val="5B6575"/>
              </a:solidFill>
              <a:latin typeface="Calibri"/>
            </a:endParaRPr>
          </a:p>
        </p:txBody>
      </p:sp>
      <p:pic>
        <p:nvPicPr>
          <p:cNvPr id="28" name="s09">
            <a:hlinkClick r:id="" action="ppaction://media"/>
            <a:extLst>
              <a:ext uri="{FF2B5EF4-FFF2-40B4-BE49-F238E27FC236}">
                <a16:creationId xmlns:a16="http://schemas.microsoft.com/office/drawing/2014/main" id="{A291B5A3-91F3-11D5-DD59-7F9E048EA09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092"/>
    </mc:Choice>
    <mc:Fallback>
      <p:transition spd="slow" advTm="4709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8"/>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168335" cy="868680"/>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El canal isoparamétrico</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noAutofit/>
          </a:bodyPr>
          <a:lstStyle/>
          <a:p>
            <a:pPr algn="ctr">
              <a:lnSpc>
                <a:spcPct val="100000"/>
              </a:lnSpc>
            </a:pPr>
            <a:r>
              <a:rPr lang="es-ES" sz="1300" b="1" i="0">
                <a:solidFill>
                  <a:srgbClr val="1B2A4A"/>
                </a:solidFill>
                <a:latin typeface="Calibri"/>
              </a:rPr>
              <a:t>2  ·  Base teórica</a:t>
            </a:r>
          </a:p>
        </p:txBody>
      </p:sp>
      <p:sp>
        <p:nvSpPr>
          <p:cNvPr id="5" name="TextBox 4"/>
          <p:cNvSpPr txBox="1"/>
          <p:nvPr/>
        </p:nvSpPr>
        <p:spPr>
          <a:xfrm>
            <a:off x="594360" y="1527048"/>
            <a:ext cx="5257800" cy="4700016"/>
          </a:xfrm>
          <a:prstGeom prst="rect">
            <a:avLst/>
          </a:prstGeom>
          <a:noFill/>
        </p:spPr>
        <p:txBody>
          <a:bodyPr wrap="square" lIns="45720" tIns="27432" rIns="45720" bIns="27432" anchor="ctr">
            <a:noAutofit/>
          </a:bodyPr>
          <a:lstStyle/>
          <a:p>
            <a:pPr marL="347472" indent="-347472">
              <a:lnSpc>
                <a:spcPct val="112000"/>
              </a:lnSpc>
              <a:spcAft>
                <a:spcPts val="1200"/>
              </a:spcAft>
              <a:buClr>
                <a:srgbClr val="F28C28"/>
              </a:buClr>
              <a:buSzPct val="100000"/>
              <a:buFont typeface="Arial"/>
              <a:buChar char="•"/>
            </a:pPr>
            <a:r>
              <a:rPr lang="es-ES" sz="2400" b="0" i="0">
                <a:solidFill>
                  <a:srgbClr val="1F2937"/>
                </a:solidFill>
                <a:latin typeface="Calibri"/>
              </a:rPr>
              <a:t>Mismas N para geometría y desplazamiento: Q4 bilineal (8 GDL), Q9 bicuadrático (18 GDL)</a:t>
            </a:r>
          </a:p>
          <a:p>
            <a:pPr marL="347472" indent="-347472">
              <a:lnSpc>
                <a:spcPct val="112000"/>
              </a:lnSpc>
              <a:spcAft>
                <a:spcPts val="1200"/>
              </a:spcAft>
              <a:buClr>
                <a:srgbClr val="F28C28"/>
              </a:buClr>
              <a:buSzPct val="100000"/>
              <a:buFont typeface="Arial"/>
              <a:buChar char="•"/>
            </a:pPr>
            <a:r>
              <a:rPr lang="es-ES" sz="2400" b="0" i="0">
                <a:solidFill>
                  <a:srgbClr val="1F2937"/>
                </a:solidFill>
                <a:latin typeface="Calibri"/>
              </a:rPr>
              <a:t>J = ∂N · Xₑ con det J &gt; 0; B (3 × 2n) vía J⁻¹</a:t>
            </a:r>
          </a:p>
          <a:p>
            <a:pPr marL="347472" indent="-347472">
              <a:lnSpc>
                <a:spcPct val="112000"/>
              </a:lnSpc>
              <a:spcAft>
                <a:spcPts val="1200"/>
              </a:spcAft>
              <a:buClr>
                <a:srgbClr val="F28C28"/>
              </a:buClr>
              <a:buSzPct val="100000"/>
              <a:buFont typeface="Arial"/>
              <a:buChar char="•"/>
            </a:pPr>
            <a:r>
              <a:rPr lang="es-ES" sz="2400" b="1" i="0">
                <a:solidFill>
                  <a:srgbClr val="1B2A4A"/>
                </a:solidFill>
                <a:latin typeface="Calibri"/>
              </a:rPr>
              <a:t>kₑ = Σ wₚ Bᵀ D B t |det J|:</a:t>
            </a:r>
            <a:r>
              <a:rPr lang="es-ES" sz="2400" b="0" i="0">
                <a:solidFill>
                  <a:srgbClr val="1F2937"/>
                </a:solidFill>
                <a:latin typeface="Calibri"/>
              </a:rPr>
              <a:t> Gauss 2×2 (Q4) y 3×3 (Q9)</a:t>
            </a:r>
          </a:p>
          <a:p>
            <a:pPr marL="347472" indent="-347472">
              <a:lnSpc>
                <a:spcPct val="112000"/>
              </a:lnSpc>
              <a:spcAft>
                <a:spcPts val="1200"/>
              </a:spcAft>
              <a:buClr>
                <a:srgbClr val="F28C28"/>
              </a:buClr>
              <a:buSzPct val="100000"/>
              <a:buFont typeface="Arial"/>
              <a:buChar char="•"/>
            </a:pPr>
            <a:r>
              <a:rPr lang="es-ES" sz="2400" b="1" i="0">
                <a:solidFill>
                  <a:srgbClr val="1B2A4A"/>
                </a:solidFill>
                <a:latin typeface="Calibri"/>
              </a:rPr>
              <a:t>K u = F disperso (CSR, LU); σ:</a:t>
            </a:r>
            <a:r>
              <a:rPr lang="es-ES" sz="2400" b="0" i="0">
                <a:solidFill>
                  <a:srgbClr val="1F2937"/>
                </a:solidFill>
                <a:latin typeface="Calibri"/>
              </a:rPr>
              <a:t> Gauss → nodos → promedio</a:t>
            </a:r>
          </a:p>
        </p:txBody>
      </p:sp>
      <p:pic>
        <p:nvPicPr>
          <p:cNvPr id="6" name="Picture 5" descr="fig_isoparametricos.png"/>
          <p:cNvPicPr>
            <a:picLocks noChangeAspect="1"/>
          </p:cNvPicPr>
          <p:nvPr/>
        </p:nvPicPr>
        <p:blipFill>
          <a:blip r:embed="rId5"/>
          <a:stretch>
            <a:fillRect/>
          </a:stretch>
        </p:blipFill>
        <p:spPr>
          <a:xfrm>
            <a:off x="6217920" y="2789917"/>
            <a:ext cx="5425135" cy="1625637"/>
          </a:xfrm>
          <a:prstGeom prst="rect">
            <a:avLst/>
          </a:prstGeom>
          <a:ln w="9525">
            <a:solidFill>
              <a:srgbClr val="D1D5DB"/>
            </a:solidFill>
          </a:ln>
        </p:spPr>
      </p:pic>
      <p:sp>
        <p:nvSpPr>
          <p:cNvPr id="7" name="TextBox 6"/>
          <p:cNvSpPr txBox="1"/>
          <p:nvPr/>
        </p:nvSpPr>
        <p:spPr>
          <a:xfrm>
            <a:off x="6217920" y="4461274"/>
            <a:ext cx="5425135" cy="502920"/>
          </a:xfrm>
          <a:prstGeom prst="rect">
            <a:avLst/>
          </a:prstGeom>
          <a:noFill/>
        </p:spPr>
        <p:txBody>
          <a:bodyPr wrap="square" lIns="45720" tIns="27432" rIns="45720" bIns="27432" anchor="t">
            <a:noAutofit/>
          </a:bodyPr>
          <a:lstStyle/>
          <a:p>
            <a:pPr algn="ctr">
              <a:lnSpc>
                <a:spcPct val="105000"/>
              </a:lnSpc>
            </a:pPr>
            <a:r>
              <a:rPr lang="es-ES" sz="1500" b="0" i="1">
                <a:solidFill>
                  <a:srgbClr val="5B6575"/>
                </a:solidFill>
                <a:latin typeface="Calibri"/>
              </a:rPr>
              <a:t>Q4 y Q9 en el cuadrado natural y mapeo de N₁ a un elemento distorsionado</a:t>
            </a:r>
          </a:p>
        </p:txBody>
      </p:sp>
      <p:sp>
        <p:nvSpPr>
          <p:cNvPr id="8" name="Rectangle 7"/>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48640" y="6419088"/>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10" name="TextBox 9"/>
          <p:cNvSpPr txBox="1"/>
          <p:nvPr/>
        </p:nvSpPr>
        <p:spPr>
          <a:xfrm>
            <a:off x="4023360" y="6419088"/>
            <a:ext cx="5394960" cy="292608"/>
          </a:xfrm>
          <a:prstGeom prst="rect">
            <a:avLst/>
          </a:prstGeom>
          <a:noFill/>
        </p:spPr>
        <p:txBody>
          <a:bodyPr wrap="square" lIns="45720" tIns="27432" rIns="45720" bIns="27432" anchor="ctr">
            <a:noAutofit/>
          </a:bodyPr>
          <a:lstStyle/>
          <a:p>
            <a:pPr algn="ctr">
              <a:lnSpc>
                <a:spcPct val="105000"/>
              </a:lnSpc>
            </a:pPr>
            <a:r>
              <a:rPr lang="es-ES" sz="1100" b="0" i="0">
                <a:solidFill>
                  <a:srgbClr val="5B6575"/>
                </a:solidFill>
                <a:latin typeface="Calibri"/>
              </a:rPr>
              <a:t>Tesis: Cap. 1, mapeo isoparamétrico, Jacobiano, B, cuadratura y ensamblaje</a:t>
            </a:r>
          </a:p>
        </p:txBody>
      </p:sp>
      <p:sp>
        <p:nvSpPr>
          <p:cNvPr id="11" name="TextBox 10"/>
          <p:cNvSpPr txBox="1"/>
          <p:nvPr/>
        </p:nvSpPr>
        <p:spPr>
          <a:xfrm>
            <a:off x="10545775" y="6419088"/>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10</a:t>
            </a:fld>
            <a:endParaRPr lang="es-ES" sz="1200" dirty="0">
              <a:solidFill>
                <a:srgbClr val="5B6575"/>
              </a:solidFill>
              <a:latin typeface="Calibri"/>
            </a:endParaRPr>
          </a:p>
        </p:txBody>
      </p:sp>
      <p:pic>
        <p:nvPicPr>
          <p:cNvPr id="12" name="s10">
            <a:hlinkClick r:id="" action="ppaction://media"/>
            <a:extLst>
              <a:ext uri="{FF2B5EF4-FFF2-40B4-BE49-F238E27FC236}">
                <a16:creationId xmlns:a16="http://schemas.microsoft.com/office/drawing/2014/main" id="{4F14A375-859F-0D24-5A81-C60352A3A13D}"/>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5060"/>
    </mc:Choice>
    <mc:Fallback>
      <p:transition spd="slow" advTm="5506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168335" cy="868680"/>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Dos patologías que el alumno debe ver</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noAutofit/>
          </a:bodyPr>
          <a:lstStyle/>
          <a:p>
            <a:pPr algn="ctr">
              <a:lnSpc>
                <a:spcPct val="100000"/>
              </a:lnSpc>
            </a:pPr>
            <a:r>
              <a:rPr lang="es-ES" sz="1300" b="1" i="0">
                <a:solidFill>
                  <a:srgbClr val="1B2A4A"/>
                </a:solidFill>
                <a:latin typeface="Calibri"/>
              </a:rPr>
              <a:t>2  ·  Base teórica</a:t>
            </a:r>
          </a:p>
        </p:txBody>
      </p:sp>
      <p:sp>
        <p:nvSpPr>
          <p:cNvPr id="5" name="Rounded Rectangle 4"/>
          <p:cNvSpPr/>
          <p:nvPr/>
        </p:nvSpPr>
        <p:spPr>
          <a:xfrm>
            <a:off x="548640" y="1481328"/>
            <a:ext cx="5364327" cy="3858768"/>
          </a:xfrm>
          <a:prstGeom prst="roundRect">
            <a:avLst>
              <a:gd name="adj" fmla="val 5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ounded Rectangle 5"/>
          <p:cNvSpPr/>
          <p:nvPr/>
        </p:nvSpPr>
        <p:spPr>
          <a:xfrm>
            <a:off x="548640" y="1481328"/>
            <a:ext cx="5364327" cy="603504"/>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548640" y="1810512"/>
            <a:ext cx="5364327" cy="2743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48640" y="1481328"/>
            <a:ext cx="5364327" cy="603504"/>
          </a:xfrm>
          <a:prstGeom prst="rect">
            <a:avLst/>
          </a:prstGeom>
          <a:noFill/>
        </p:spPr>
        <p:txBody>
          <a:bodyPr wrap="square" lIns="45720" tIns="27432" rIns="45720" bIns="27432" anchor="ctr">
            <a:noAutofit/>
          </a:bodyPr>
          <a:lstStyle/>
          <a:p>
            <a:pPr algn="ctr">
              <a:lnSpc>
                <a:spcPct val="105000"/>
              </a:lnSpc>
            </a:pPr>
            <a:r>
              <a:rPr lang="es-ES" sz="2000" b="1" i="0">
                <a:solidFill>
                  <a:srgbClr val="FFFFFF"/>
                </a:solidFill>
                <a:latin typeface="Calibri"/>
              </a:rPr>
              <a:t>Bloqueo por cortante (shear-locking)</a:t>
            </a:r>
          </a:p>
        </p:txBody>
      </p:sp>
      <p:sp>
        <p:nvSpPr>
          <p:cNvPr id="9" name="TextBox 8"/>
          <p:cNvSpPr txBox="1"/>
          <p:nvPr/>
        </p:nvSpPr>
        <p:spPr>
          <a:xfrm>
            <a:off x="777240" y="2194560"/>
            <a:ext cx="4907127" cy="3035808"/>
          </a:xfrm>
          <a:prstGeom prst="rect">
            <a:avLst/>
          </a:prstGeom>
          <a:noFill/>
        </p:spPr>
        <p:txBody>
          <a:bodyPr wrap="square" lIns="45720" tIns="27432" rIns="45720" bIns="27432" anchor="ctr">
            <a:noAutofit/>
          </a:bodyPr>
          <a:lstStyle/>
          <a:p>
            <a:pPr marL="347472" indent="-347472">
              <a:lnSpc>
                <a:spcPct val="112000"/>
              </a:lnSpc>
              <a:spcAft>
                <a:spcPts val="900"/>
              </a:spcAft>
              <a:buClr>
                <a:srgbClr val="1B2A4A"/>
              </a:buClr>
              <a:buSzPct val="100000"/>
              <a:buFont typeface="Arial"/>
              <a:buChar char="•"/>
            </a:pPr>
            <a:r>
              <a:rPr lang="es-ES" sz="2200" b="1" i="0">
                <a:solidFill>
                  <a:srgbClr val="1B2A4A"/>
                </a:solidFill>
                <a:latin typeface="Calibri"/>
              </a:rPr>
              <a:t>Q4 en flexión:</a:t>
            </a:r>
            <a:r>
              <a:rPr lang="es-ES" sz="2200" b="0" i="0">
                <a:solidFill>
                  <a:srgbClr val="1F2937"/>
                </a:solidFill>
                <a:latin typeface="Calibri"/>
              </a:rPr>
              <a:t> el campo bilineal no reproduce la curvatura</a:t>
            </a:r>
          </a:p>
          <a:p>
            <a:pPr marL="347472" indent="-347472">
              <a:lnSpc>
                <a:spcPct val="112000"/>
              </a:lnSpc>
              <a:spcAft>
                <a:spcPts val="900"/>
              </a:spcAft>
              <a:buClr>
                <a:srgbClr val="1B2A4A"/>
              </a:buClr>
              <a:buSzPct val="100000"/>
              <a:buFont typeface="Arial"/>
              <a:buChar char="•"/>
            </a:pPr>
            <a:r>
              <a:rPr lang="es-ES" sz="2200" b="1" i="0">
                <a:solidFill>
                  <a:srgbClr val="1B2A4A"/>
                </a:solidFill>
                <a:latin typeface="Calibri"/>
              </a:rPr>
              <a:t>Corte espurio:</a:t>
            </a:r>
            <a:r>
              <a:rPr lang="es-ES" sz="2200" b="0" i="0">
                <a:solidFill>
                  <a:srgbClr val="1F2937"/>
                </a:solidFill>
                <a:latin typeface="Calibri"/>
              </a:rPr>
              <a:t> elemento artificialmente rígido</a:t>
            </a:r>
          </a:p>
          <a:p>
            <a:pPr marL="347472" indent="-347472">
              <a:lnSpc>
                <a:spcPct val="112000"/>
              </a:lnSpc>
              <a:spcAft>
                <a:spcPts val="900"/>
              </a:spcAft>
              <a:buClr>
                <a:srgbClr val="1B2A4A"/>
              </a:buClr>
              <a:buSzPct val="100000"/>
              <a:buFont typeface="Arial"/>
              <a:buChar char="•"/>
            </a:pPr>
            <a:r>
              <a:rPr lang="es-ES" sz="2200" b="1" i="0">
                <a:solidFill>
                  <a:srgbClr val="1B2A4A"/>
                </a:solidFill>
                <a:latin typeface="Calibri"/>
              </a:rPr>
              <a:t>Cook N = 8:</a:t>
            </a:r>
            <a:r>
              <a:rPr lang="es-ES" sz="2200" b="0" i="0">
                <a:solidFill>
                  <a:srgbClr val="1F2937"/>
                </a:solidFill>
                <a:latin typeface="Calibri"/>
              </a:rPr>
              <a:t> uy = 22,079 frente a 23,96 (−7,85 %)</a:t>
            </a:r>
          </a:p>
          <a:p>
            <a:pPr marL="347472" indent="-347472">
              <a:lnSpc>
                <a:spcPct val="112000"/>
              </a:lnSpc>
              <a:spcAft>
                <a:spcPts val="900"/>
              </a:spcAft>
              <a:buClr>
                <a:srgbClr val="1B2A4A"/>
              </a:buClr>
              <a:buSzPct val="100000"/>
              <a:buFont typeface="Arial"/>
              <a:buChar char="•"/>
            </a:pPr>
            <a:r>
              <a:rPr lang="es-ES" sz="2200" b="1" i="0">
                <a:solidFill>
                  <a:srgbClr val="1B2A4A"/>
                </a:solidFill>
                <a:latin typeface="Calibri"/>
              </a:rPr>
              <a:t>Q9:</a:t>
            </a:r>
            <a:r>
              <a:rPr lang="es-ES" sz="2200" b="0" i="0">
                <a:solidFill>
                  <a:srgbClr val="1F2937"/>
                </a:solidFill>
                <a:latin typeface="Calibri"/>
              </a:rPr>
              <a:t> prácticamente libre del bloqueo</a:t>
            </a:r>
          </a:p>
        </p:txBody>
      </p:sp>
      <p:sp>
        <p:nvSpPr>
          <p:cNvPr id="10" name="Rounded Rectangle 9"/>
          <p:cNvSpPr/>
          <p:nvPr/>
        </p:nvSpPr>
        <p:spPr>
          <a:xfrm>
            <a:off x="6278727" y="1481328"/>
            <a:ext cx="5364327" cy="3858768"/>
          </a:xfrm>
          <a:prstGeom prst="roundRect">
            <a:avLst>
              <a:gd name="adj" fmla="val 5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ounded Rectangle 10"/>
          <p:cNvSpPr/>
          <p:nvPr/>
        </p:nvSpPr>
        <p:spPr>
          <a:xfrm>
            <a:off x="6278727" y="1481328"/>
            <a:ext cx="5364327" cy="603504"/>
          </a:xfrm>
          <a:prstGeom prst="roundRect">
            <a:avLst>
              <a:gd name="adj" fmla="val 12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6278727" y="1810512"/>
            <a:ext cx="5364327" cy="2743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278727" y="1481328"/>
            <a:ext cx="5364327" cy="603504"/>
          </a:xfrm>
          <a:prstGeom prst="rect">
            <a:avLst/>
          </a:prstGeom>
          <a:noFill/>
        </p:spPr>
        <p:txBody>
          <a:bodyPr wrap="square" lIns="45720" tIns="27432" rIns="45720" bIns="27432" anchor="ctr">
            <a:noAutofit/>
          </a:bodyPr>
          <a:lstStyle/>
          <a:p>
            <a:pPr algn="ctr">
              <a:lnSpc>
                <a:spcPct val="105000"/>
              </a:lnSpc>
            </a:pPr>
            <a:r>
              <a:rPr lang="es-ES" sz="2400" b="1" i="0">
                <a:solidFill>
                  <a:srgbClr val="FFFFFF"/>
                </a:solidFill>
                <a:latin typeface="Calibri"/>
              </a:rPr>
              <a:t>Modos espurios (hourglass)</a:t>
            </a:r>
          </a:p>
        </p:txBody>
      </p:sp>
      <p:sp>
        <p:nvSpPr>
          <p:cNvPr id="14" name="TextBox 13"/>
          <p:cNvSpPr txBox="1"/>
          <p:nvPr/>
        </p:nvSpPr>
        <p:spPr>
          <a:xfrm>
            <a:off x="6507327" y="2194560"/>
            <a:ext cx="4907127" cy="3035808"/>
          </a:xfrm>
          <a:prstGeom prst="rect">
            <a:avLst/>
          </a:prstGeom>
          <a:noFill/>
        </p:spPr>
        <p:txBody>
          <a:bodyPr wrap="square" lIns="45720" tIns="27432" rIns="45720" bIns="27432" anchor="ctr">
            <a:noAutofit/>
          </a:bodyPr>
          <a:lstStyle/>
          <a:p>
            <a:pPr marL="347472" indent="-347472">
              <a:lnSpc>
                <a:spcPct val="112000"/>
              </a:lnSpc>
              <a:spcAft>
                <a:spcPts val="900"/>
              </a:spcAft>
              <a:buClr>
                <a:srgbClr val="F28C28"/>
              </a:buClr>
              <a:buSzPct val="100000"/>
              <a:buFont typeface="Arial"/>
              <a:buChar char="•"/>
            </a:pPr>
            <a:r>
              <a:rPr lang="es-ES" sz="2200" b="0" i="0">
                <a:solidFill>
                  <a:srgbClr val="1F2937"/>
                </a:solidFill>
                <a:latin typeface="Calibri"/>
              </a:rPr>
              <a:t>Aparecen al subintegrar (Q4 con un punto de Gauss)</a:t>
            </a:r>
          </a:p>
          <a:p>
            <a:pPr marL="347472" indent="-347472">
              <a:lnSpc>
                <a:spcPct val="112000"/>
              </a:lnSpc>
              <a:spcAft>
                <a:spcPts val="900"/>
              </a:spcAft>
              <a:buClr>
                <a:srgbClr val="F28C28"/>
              </a:buClr>
              <a:buSzPct val="100000"/>
              <a:buFont typeface="Arial"/>
              <a:buChar char="•"/>
            </a:pPr>
            <a:r>
              <a:rPr lang="es-ES" sz="2200" b="1" i="0">
                <a:solidFill>
                  <a:srgbClr val="1B2A4A"/>
                </a:solidFill>
                <a:latin typeface="Calibri"/>
              </a:rPr>
              <a:t>Rango deficiente:</a:t>
            </a:r>
            <a:r>
              <a:rPr lang="es-ES" sz="2200" b="0" i="0">
                <a:solidFill>
                  <a:srgbClr val="1F2937"/>
                </a:solidFill>
                <a:latin typeface="Calibri"/>
              </a:rPr>
              <a:t> modos de energía nula</a:t>
            </a:r>
          </a:p>
          <a:p>
            <a:pPr marL="347472" indent="-347472">
              <a:lnSpc>
                <a:spcPct val="112000"/>
              </a:lnSpc>
              <a:spcAft>
                <a:spcPts val="900"/>
              </a:spcAft>
              <a:buClr>
                <a:srgbClr val="F28C28"/>
              </a:buClr>
              <a:buSzPct val="100000"/>
              <a:buFont typeface="Arial"/>
              <a:buChar char="•"/>
            </a:pPr>
            <a:r>
              <a:rPr lang="es-ES" sz="2200" b="1" i="0">
                <a:solidFill>
                  <a:srgbClr val="1B2A4A"/>
                </a:solidFill>
                <a:latin typeface="Calibri"/>
              </a:rPr>
              <a:t>EduFEM:</a:t>
            </a:r>
            <a:r>
              <a:rPr lang="es-ES" sz="2200" b="0" i="0">
                <a:solidFill>
                  <a:srgbClr val="1F2937"/>
                </a:solidFill>
                <a:latin typeface="Calibri"/>
              </a:rPr>
              <a:t> integración completa 2×2 y 3×3</a:t>
            </a:r>
          </a:p>
          <a:p>
            <a:pPr marL="347472" indent="-347472">
              <a:lnSpc>
                <a:spcPct val="112000"/>
              </a:lnSpc>
              <a:spcAft>
                <a:spcPts val="900"/>
              </a:spcAft>
              <a:buClr>
                <a:srgbClr val="F28C28"/>
              </a:buClr>
              <a:buSzPct val="100000"/>
              <a:buFont typeface="Arial"/>
              <a:buChar char="•"/>
            </a:pPr>
            <a:r>
              <a:rPr lang="es-ES" sz="2200" b="1" i="0">
                <a:solidFill>
                  <a:srgbClr val="1B2A4A"/>
                </a:solidFill>
                <a:latin typeface="Calibri"/>
              </a:rPr>
              <a:t>Sin SRI ni B-bar:</a:t>
            </a:r>
            <a:r>
              <a:rPr lang="es-ES" sz="2200" b="0" i="0">
                <a:solidFill>
                  <a:srgbClr val="1F2937"/>
                </a:solidFill>
                <a:latin typeface="Calibri"/>
              </a:rPr>
              <a:t> el Q4 queda como recurso didáctico</a:t>
            </a:r>
          </a:p>
        </p:txBody>
      </p:sp>
      <p:sp>
        <p:nvSpPr>
          <p:cNvPr id="15" name="Rectangle 14"/>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77240" y="5431536"/>
            <a:ext cx="10774375"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Regla de m puntos: exacta hasta grado 2m−1; subintegrar crea modos espurios, sobreintegrar encarece</a:t>
            </a:r>
          </a:p>
        </p:txBody>
      </p:sp>
      <p:sp>
        <p:nvSpPr>
          <p:cNvPr id="18" name="Rectangle 17"/>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48640" y="6419088"/>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0" name="TextBox 19"/>
          <p:cNvSpPr txBox="1"/>
          <p:nvPr/>
        </p:nvSpPr>
        <p:spPr>
          <a:xfrm>
            <a:off x="4023360" y="6419088"/>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Cap. 1, bloqueo y modos espurios; Cap. 3, tabla de Cook</a:t>
            </a:r>
          </a:p>
        </p:txBody>
      </p:sp>
      <p:sp>
        <p:nvSpPr>
          <p:cNvPr id="21" name="TextBox 20"/>
          <p:cNvSpPr txBox="1"/>
          <p:nvPr/>
        </p:nvSpPr>
        <p:spPr>
          <a:xfrm>
            <a:off x="10545775" y="6419088"/>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11</a:t>
            </a:fld>
            <a:endParaRPr lang="es-ES" sz="1200" dirty="0">
              <a:solidFill>
                <a:srgbClr val="5B6575"/>
              </a:solidFill>
              <a:latin typeface="Calibri"/>
            </a:endParaRPr>
          </a:p>
        </p:txBody>
      </p:sp>
      <p:pic>
        <p:nvPicPr>
          <p:cNvPr id="22" name="s11">
            <a:hlinkClick r:id="" action="ppaction://media"/>
            <a:extLst>
              <a:ext uri="{FF2B5EF4-FFF2-40B4-BE49-F238E27FC236}">
                <a16:creationId xmlns:a16="http://schemas.microsoft.com/office/drawing/2014/main" id="{4343F3D2-B461-9DD8-6AAD-E1392C72E99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7388"/>
    </mc:Choice>
    <mc:Fallback>
      <p:transition spd="slow" advTm="5738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168335" cy="868680"/>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Recuperación de tensiones y verificación</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noAutofit/>
          </a:bodyPr>
          <a:lstStyle/>
          <a:p>
            <a:pPr algn="ctr">
              <a:lnSpc>
                <a:spcPct val="100000"/>
              </a:lnSpc>
            </a:pPr>
            <a:r>
              <a:rPr lang="es-ES" sz="1300" b="1" i="0">
                <a:solidFill>
                  <a:srgbClr val="1B2A4A"/>
                </a:solidFill>
                <a:latin typeface="Calibri"/>
              </a:rPr>
              <a:t>2  ·  Base teórica</a:t>
            </a:r>
          </a:p>
        </p:txBody>
      </p:sp>
      <p:sp>
        <p:nvSpPr>
          <p:cNvPr id="5" name="Rounded Rectangle 4"/>
          <p:cNvSpPr/>
          <p:nvPr/>
        </p:nvSpPr>
        <p:spPr>
          <a:xfrm>
            <a:off x="548640" y="1591056"/>
            <a:ext cx="11094415" cy="745236"/>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548640" y="1591056"/>
            <a:ext cx="82296" cy="7452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22959" y="1591056"/>
            <a:ext cx="3108960" cy="745236"/>
          </a:xfrm>
          <a:prstGeom prst="rect">
            <a:avLst/>
          </a:prstGeom>
          <a:noFill/>
        </p:spPr>
        <p:txBody>
          <a:bodyPr wrap="square" lIns="45720" tIns="27432" rIns="45720" bIns="27432" anchor="ctr">
            <a:noAutofit/>
          </a:bodyPr>
          <a:lstStyle/>
          <a:p>
            <a:pPr algn="l">
              <a:lnSpc>
                <a:spcPct val="105000"/>
              </a:lnSpc>
            </a:pPr>
            <a:r>
              <a:rPr lang="es-ES" sz="1900" b="1" i="0">
                <a:solidFill>
                  <a:srgbClr val="5B6575"/>
                </a:solidFill>
                <a:latin typeface="Calibri"/>
              </a:rPr>
              <a:t>Tensiones en puntos de Gauss</a:t>
            </a:r>
          </a:p>
        </p:txBody>
      </p:sp>
      <p:sp>
        <p:nvSpPr>
          <p:cNvPr id="8" name="TextBox 7"/>
          <p:cNvSpPr txBox="1"/>
          <p:nvPr/>
        </p:nvSpPr>
        <p:spPr>
          <a:xfrm>
            <a:off x="3931920" y="1591056"/>
            <a:ext cx="7528255" cy="745236"/>
          </a:xfrm>
          <a:prstGeom prst="rect">
            <a:avLst/>
          </a:prstGeom>
          <a:noFill/>
        </p:spPr>
        <p:txBody>
          <a:bodyPr wrap="square" lIns="45720" tIns="27432" rIns="45720" bIns="27432" anchor="ctr">
            <a:noAutofit/>
          </a:bodyPr>
          <a:lstStyle/>
          <a:p>
            <a:pPr algn="l">
              <a:lnSpc>
                <a:spcPct val="105000"/>
              </a:lnSpc>
            </a:pPr>
            <a:r>
              <a:rPr lang="es-ES" sz="3000" b="0" i="0">
                <a:solidFill>
                  <a:srgbClr val="1B2A4A"/>
                </a:solidFill>
                <a:latin typeface="Cambria Math"/>
              </a:rPr>
              <a:t>σₚ = D Bₚ uₑ   (puntos de Barlow en Q4)</a:t>
            </a:r>
          </a:p>
        </p:txBody>
      </p:sp>
      <p:sp>
        <p:nvSpPr>
          <p:cNvPr id="9" name="Rounded Rectangle 8"/>
          <p:cNvSpPr/>
          <p:nvPr/>
        </p:nvSpPr>
        <p:spPr>
          <a:xfrm>
            <a:off x="548640" y="2555748"/>
            <a:ext cx="11094415" cy="745236"/>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548640" y="2555748"/>
            <a:ext cx="82296" cy="7452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22959" y="2555748"/>
            <a:ext cx="3108960" cy="745236"/>
          </a:xfrm>
          <a:prstGeom prst="rect">
            <a:avLst/>
          </a:prstGeom>
          <a:noFill/>
        </p:spPr>
        <p:txBody>
          <a:bodyPr wrap="square" lIns="45720" tIns="27432" rIns="45720" bIns="27432" anchor="ctr">
            <a:noAutofit/>
          </a:bodyPr>
          <a:lstStyle/>
          <a:p>
            <a:pPr algn="l">
              <a:lnSpc>
                <a:spcPct val="105000"/>
              </a:lnSpc>
            </a:pPr>
            <a:r>
              <a:rPr lang="es-ES" sz="1900" b="1" i="0">
                <a:solidFill>
                  <a:srgbClr val="5B6575"/>
                </a:solidFill>
                <a:latin typeface="Calibri"/>
              </a:rPr>
              <a:t>Extrapolación a nodos</a:t>
            </a:r>
          </a:p>
          <a:p>
            <a:pPr algn="l">
              <a:lnSpc>
                <a:spcPct val="105000"/>
              </a:lnSpc>
            </a:pPr>
            <a:r>
              <a:rPr lang="es-ES" sz="1900" b="1" i="0">
                <a:solidFill>
                  <a:srgbClr val="5B6575"/>
                </a:solidFill>
                <a:latin typeface="Calibri"/>
              </a:rPr>
              <a:t>(a ≈ 1,866 · b = −½ · c ≈ 0,134)</a:t>
            </a:r>
          </a:p>
        </p:txBody>
      </p:sp>
      <p:sp>
        <p:nvSpPr>
          <p:cNvPr id="12" name="TextBox 11"/>
          <p:cNvSpPr txBox="1"/>
          <p:nvPr/>
        </p:nvSpPr>
        <p:spPr>
          <a:xfrm>
            <a:off x="3931920" y="2555748"/>
            <a:ext cx="7528255" cy="745236"/>
          </a:xfrm>
          <a:prstGeom prst="rect">
            <a:avLst/>
          </a:prstGeom>
          <a:noFill/>
        </p:spPr>
        <p:txBody>
          <a:bodyPr wrap="square" lIns="45720" tIns="27432" rIns="45720" bIns="27432" anchor="ctr">
            <a:noAutofit/>
          </a:bodyPr>
          <a:lstStyle/>
          <a:p>
            <a:pPr algn="l">
              <a:lnSpc>
                <a:spcPct val="105000"/>
              </a:lnSpc>
            </a:pPr>
            <a:r>
              <a:rPr lang="es-ES" sz="3000" b="0" i="0">
                <a:solidFill>
                  <a:srgbClr val="1B2A4A"/>
                </a:solidFill>
                <a:latin typeface="Cambria Math"/>
              </a:rPr>
              <a:t>σnodal = E σGauss ,   E = M⁻¹</a:t>
            </a:r>
          </a:p>
        </p:txBody>
      </p:sp>
      <p:sp>
        <p:nvSpPr>
          <p:cNvPr id="13" name="Rounded Rectangle 12"/>
          <p:cNvSpPr/>
          <p:nvPr/>
        </p:nvSpPr>
        <p:spPr>
          <a:xfrm>
            <a:off x="548640" y="3520440"/>
            <a:ext cx="11094415" cy="745236"/>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548640" y="3520440"/>
            <a:ext cx="82296" cy="7452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22959" y="3520440"/>
            <a:ext cx="3108960" cy="745236"/>
          </a:xfrm>
          <a:prstGeom prst="rect">
            <a:avLst/>
          </a:prstGeom>
          <a:noFill/>
        </p:spPr>
        <p:txBody>
          <a:bodyPr wrap="square" lIns="45720" tIns="27432" rIns="45720" bIns="27432" anchor="ctr">
            <a:noAutofit/>
          </a:bodyPr>
          <a:lstStyle/>
          <a:p>
            <a:pPr algn="l">
              <a:lnSpc>
                <a:spcPct val="105000"/>
              </a:lnSpc>
            </a:pPr>
            <a:r>
              <a:rPr lang="es-ES" sz="1900" b="1" i="0">
                <a:solidFill>
                  <a:srgbClr val="5B6575"/>
                </a:solidFill>
                <a:latin typeface="Calibri"/>
              </a:rPr>
              <a:t>Promediado nodal</a:t>
            </a:r>
          </a:p>
        </p:txBody>
      </p:sp>
      <p:sp>
        <p:nvSpPr>
          <p:cNvPr id="16" name="TextBox 15"/>
          <p:cNvSpPr txBox="1"/>
          <p:nvPr/>
        </p:nvSpPr>
        <p:spPr>
          <a:xfrm>
            <a:off x="3931920" y="3520440"/>
            <a:ext cx="7528255" cy="745236"/>
          </a:xfrm>
          <a:prstGeom prst="rect">
            <a:avLst/>
          </a:prstGeom>
          <a:noFill/>
        </p:spPr>
        <p:txBody>
          <a:bodyPr wrap="square" lIns="45720" tIns="27432" rIns="45720" bIns="27432" anchor="ctr">
            <a:noAutofit/>
          </a:bodyPr>
          <a:lstStyle/>
          <a:p>
            <a:pPr algn="l">
              <a:lnSpc>
                <a:spcPct val="105000"/>
              </a:lnSpc>
            </a:pPr>
            <a:r>
              <a:rPr lang="es-ES" sz="3000" b="0" i="0">
                <a:solidFill>
                  <a:srgbClr val="1B2A4A"/>
                </a:solidFill>
                <a:latin typeface="Cambria Math"/>
              </a:rPr>
              <a:t>⟨σ⟩nodo = (1/nₑ) Σₑ σ⁽ᵉ⁾</a:t>
            </a:r>
          </a:p>
        </p:txBody>
      </p:sp>
      <p:sp>
        <p:nvSpPr>
          <p:cNvPr id="17" name="Rounded Rectangle 16"/>
          <p:cNvSpPr/>
          <p:nvPr/>
        </p:nvSpPr>
        <p:spPr>
          <a:xfrm>
            <a:off x="548640" y="4485132"/>
            <a:ext cx="11094415" cy="745236"/>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548640" y="4485132"/>
            <a:ext cx="82296" cy="7452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22959" y="4485132"/>
            <a:ext cx="3108960" cy="745236"/>
          </a:xfrm>
          <a:prstGeom prst="rect">
            <a:avLst/>
          </a:prstGeom>
          <a:noFill/>
        </p:spPr>
        <p:txBody>
          <a:bodyPr wrap="square" lIns="45720" tIns="27432" rIns="45720" bIns="27432" anchor="ctr">
            <a:noAutofit/>
          </a:bodyPr>
          <a:lstStyle/>
          <a:p>
            <a:pPr algn="l">
              <a:lnSpc>
                <a:spcPct val="105000"/>
              </a:lnSpc>
            </a:pPr>
            <a:r>
              <a:rPr lang="es-ES" sz="1900" b="1" i="0">
                <a:solidFill>
                  <a:srgbClr val="5B6575"/>
                </a:solidFill>
                <a:latin typeface="Calibri"/>
              </a:rPr>
              <a:t>Tasas teóricas (MMS)</a:t>
            </a:r>
          </a:p>
        </p:txBody>
      </p:sp>
      <p:sp>
        <p:nvSpPr>
          <p:cNvPr id="20" name="TextBox 19"/>
          <p:cNvSpPr txBox="1"/>
          <p:nvPr/>
        </p:nvSpPr>
        <p:spPr>
          <a:xfrm>
            <a:off x="3931920" y="4485132"/>
            <a:ext cx="7528255" cy="745236"/>
          </a:xfrm>
          <a:prstGeom prst="rect">
            <a:avLst/>
          </a:prstGeom>
          <a:noFill/>
        </p:spPr>
        <p:txBody>
          <a:bodyPr wrap="square" lIns="45720" tIns="27432" rIns="45720" bIns="27432" anchor="ctr">
            <a:noAutofit/>
          </a:bodyPr>
          <a:lstStyle/>
          <a:p>
            <a:pPr algn="l">
              <a:lnSpc>
                <a:spcPct val="105000"/>
              </a:lnSpc>
            </a:pPr>
            <a:r>
              <a:rPr lang="es-ES" sz="3000" b="0" i="0">
                <a:solidFill>
                  <a:srgbClr val="1B2A4A"/>
                </a:solidFill>
                <a:latin typeface="Cambria Math"/>
              </a:rPr>
              <a:t>‖e‖₂ = O(hᵖ⁺¹) ,  |e|₁ = O(hᵖ) ,  b = −∇·σ(uₘ)</a:t>
            </a:r>
          </a:p>
        </p:txBody>
      </p:sp>
      <p:sp>
        <p:nvSpPr>
          <p:cNvPr id="21" name="Rectangle 20"/>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77240" y="5431536"/>
            <a:ext cx="10774375"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Verificar es resolver bien las ecuaciones; validar es que las ecuaciones representen la realidad</a:t>
            </a:r>
          </a:p>
        </p:txBody>
      </p:sp>
      <p:sp>
        <p:nvSpPr>
          <p:cNvPr id="24" name="Rectangle 23"/>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48640" y="6419088"/>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6" name="TextBox 25"/>
          <p:cNvSpPr txBox="1"/>
          <p:nvPr/>
        </p:nvSpPr>
        <p:spPr>
          <a:xfrm>
            <a:off x="4023360" y="6419088"/>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Cap. 1, recuperación de tensiones, calidad de malla y V&amp;V</a:t>
            </a:r>
          </a:p>
        </p:txBody>
      </p:sp>
      <p:sp>
        <p:nvSpPr>
          <p:cNvPr id="27" name="TextBox 26"/>
          <p:cNvSpPr txBox="1"/>
          <p:nvPr/>
        </p:nvSpPr>
        <p:spPr>
          <a:xfrm>
            <a:off x="10545775" y="6419088"/>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12</a:t>
            </a:fld>
            <a:endParaRPr lang="es-ES" sz="1200" dirty="0">
              <a:solidFill>
                <a:srgbClr val="5B6575"/>
              </a:solidFill>
              <a:latin typeface="Calibri"/>
            </a:endParaRPr>
          </a:p>
        </p:txBody>
      </p:sp>
      <p:pic>
        <p:nvPicPr>
          <p:cNvPr id="28" name="s12">
            <a:hlinkClick r:id="" action="ppaction://media"/>
            <a:extLst>
              <a:ext uri="{FF2B5EF4-FFF2-40B4-BE49-F238E27FC236}">
                <a16:creationId xmlns:a16="http://schemas.microsoft.com/office/drawing/2014/main" id="{353F315C-F325-5CAF-C15E-10B78B17A59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044"/>
    </mc:Choice>
    <mc:Fallback>
      <p:transition spd="slow" advTm="5004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8"/>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11B33"/>
        </a:solidFill>
        <a:effectLst/>
      </p:bgPr>
    </p:bg>
    <p:spTree>
      <p:nvGrpSpPr>
        <p:cNvPr id="1" name=""/>
        <p:cNvGrpSpPr/>
        <p:nvPr/>
      </p:nvGrpSpPr>
      <p:grpSpPr>
        <a:xfrm>
          <a:off x="0" y="0"/>
          <a:ext cx="0" cy="0"/>
          <a:chOff x="0" y="0"/>
          <a:chExt cx="0" cy="0"/>
        </a:xfrm>
      </p:grpSpPr>
      <p:sp>
        <p:nvSpPr>
          <p:cNvPr id="2" name="TextBox 1"/>
          <p:cNvSpPr txBox="1"/>
          <p:nvPr/>
        </p:nvSpPr>
        <p:spPr>
          <a:xfrm>
            <a:off x="731520" y="1417320"/>
            <a:ext cx="2194560" cy="1828800"/>
          </a:xfrm>
          <a:prstGeom prst="rect">
            <a:avLst/>
          </a:prstGeom>
          <a:noFill/>
        </p:spPr>
        <p:txBody>
          <a:bodyPr wrap="square" lIns="45720" tIns="27432" rIns="45720" bIns="27432" anchor="ctr">
            <a:noAutofit/>
          </a:bodyPr>
          <a:lstStyle/>
          <a:p>
            <a:pPr algn="l">
              <a:lnSpc>
                <a:spcPct val="105000"/>
              </a:lnSpc>
            </a:pPr>
            <a:r>
              <a:rPr lang="es-ES" sz="9600" b="1" i="0">
                <a:solidFill>
                  <a:srgbClr val="F28C28"/>
                </a:solidFill>
                <a:latin typeface="Calibri"/>
              </a:rPr>
              <a:t>03</a:t>
            </a:r>
          </a:p>
        </p:txBody>
      </p:sp>
      <p:sp>
        <p:nvSpPr>
          <p:cNvPr id="3" name="Rectangle 2"/>
          <p:cNvSpPr/>
          <p:nvPr/>
        </p:nvSpPr>
        <p:spPr>
          <a:xfrm>
            <a:off x="3063240" y="1691640"/>
            <a:ext cx="54864" cy="1325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3383280" y="1417320"/>
            <a:ext cx="8229600" cy="1188720"/>
          </a:xfrm>
          <a:prstGeom prst="rect">
            <a:avLst/>
          </a:prstGeom>
          <a:noFill/>
        </p:spPr>
        <p:txBody>
          <a:bodyPr wrap="square" lIns="45720" tIns="27432" rIns="45720" bIns="27432" anchor="ctr">
            <a:noAutofit/>
          </a:bodyPr>
          <a:lstStyle/>
          <a:p>
            <a:pPr algn="l">
              <a:lnSpc>
                <a:spcPct val="105000"/>
              </a:lnSpc>
            </a:pPr>
            <a:r>
              <a:rPr lang="es-ES" sz="4400" b="1" i="0">
                <a:solidFill>
                  <a:srgbClr val="FFFFFF"/>
                </a:solidFill>
                <a:latin typeface="Calibri"/>
              </a:rPr>
              <a:t>Diseño y desarrollo del modelo</a:t>
            </a:r>
          </a:p>
        </p:txBody>
      </p:sp>
      <p:sp>
        <p:nvSpPr>
          <p:cNvPr id="5" name="TextBox 4"/>
          <p:cNvSpPr txBox="1"/>
          <p:nvPr/>
        </p:nvSpPr>
        <p:spPr>
          <a:xfrm>
            <a:off x="3383280" y="2606040"/>
            <a:ext cx="8229600" cy="1280160"/>
          </a:xfrm>
          <a:prstGeom prst="rect">
            <a:avLst/>
          </a:prstGeom>
          <a:noFill/>
        </p:spPr>
        <p:txBody>
          <a:bodyPr wrap="square" lIns="45720" tIns="27432" rIns="45720" bIns="27432" anchor="t">
            <a:noAutofit/>
          </a:bodyPr>
          <a:lstStyle/>
          <a:p>
            <a:pPr algn="l">
              <a:lnSpc>
                <a:spcPct val="115000"/>
              </a:lnSpc>
            </a:pPr>
            <a:r>
              <a:rPr lang="es-ES" sz="2200" b="0" i="0">
                <a:solidFill>
                  <a:srgbClr val="C7D2E8"/>
                </a:solidFill>
                <a:latin typeface="Calibri"/>
              </a:rPr>
              <a:t>Construir la caja abierta: diseño metodológico, diseño e implementación de EduFEM y demostración en vivo</a:t>
            </a:r>
          </a:p>
        </p:txBody>
      </p:sp>
      <p:sp>
        <p:nvSpPr>
          <p:cNvPr id="6" name="Rounded Rectangle 5"/>
          <p:cNvSpPr/>
          <p:nvPr/>
        </p:nvSpPr>
        <p:spPr>
          <a:xfrm>
            <a:off x="548640" y="5760720"/>
            <a:ext cx="1757629" cy="566928"/>
          </a:xfrm>
          <a:prstGeom prst="roundRect">
            <a:avLst>
              <a:gd name="adj" fmla="val 25000"/>
            </a:avLst>
          </a:prstGeom>
          <a:solidFill>
            <a:srgbClr val="2A3B6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1. Introducción</a:t>
            </a:r>
          </a:p>
        </p:txBody>
      </p:sp>
      <p:sp>
        <p:nvSpPr>
          <p:cNvPr id="7" name="Rounded Rectangle 6"/>
          <p:cNvSpPr/>
          <p:nvPr/>
        </p:nvSpPr>
        <p:spPr>
          <a:xfrm>
            <a:off x="2415997" y="5760720"/>
            <a:ext cx="1757629" cy="566928"/>
          </a:xfrm>
          <a:prstGeom prst="roundRect">
            <a:avLst>
              <a:gd name="adj" fmla="val 25000"/>
            </a:avLst>
          </a:prstGeom>
          <a:solidFill>
            <a:srgbClr val="2A3B6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2. Base teórica</a:t>
            </a:r>
          </a:p>
        </p:txBody>
      </p:sp>
      <p:sp>
        <p:nvSpPr>
          <p:cNvPr id="8" name="Rounded Rectangle 7"/>
          <p:cNvSpPr/>
          <p:nvPr/>
        </p:nvSpPr>
        <p:spPr>
          <a:xfrm>
            <a:off x="4283354" y="5760720"/>
            <a:ext cx="1757629" cy="566928"/>
          </a:xfrm>
          <a:prstGeom prst="roundRect">
            <a:avLst>
              <a:gd name="adj" fmla="val 25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1" i="0">
                <a:solidFill>
                  <a:srgbClr val="FFFFFF"/>
                </a:solidFill>
                <a:latin typeface="Calibri"/>
              </a:rPr>
              <a:t>3. Diseño y desarrollo del modelo</a:t>
            </a:r>
          </a:p>
        </p:txBody>
      </p:sp>
      <p:sp>
        <p:nvSpPr>
          <p:cNvPr id="9" name="Rounded Rectangle 8"/>
          <p:cNvSpPr/>
          <p:nvPr/>
        </p:nvSpPr>
        <p:spPr>
          <a:xfrm>
            <a:off x="6150711" y="5760720"/>
            <a:ext cx="1757629" cy="566928"/>
          </a:xfrm>
          <a:prstGeom prst="roundRect">
            <a:avLst>
              <a:gd name="adj" fmla="val 25000"/>
            </a:avLst>
          </a:prstGeom>
          <a:solidFill>
            <a:srgbClr val="1C28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4. Presentación de resultados</a:t>
            </a:r>
          </a:p>
        </p:txBody>
      </p:sp>
      <p:sp>
        <p:nvSpPr>
          <p:cNvPr id="10" name="Rounded Rectangle 9"/>
          <p:cNvSpPr/>
          <p:nvPr/>
        </p:nvSpPr>
        <p:spPr>
          <a:xfrm>
            <a:off x="8018068" y="5760720"/>
            <a:ext cx="1757629" cy="566928"/>
          </a:xfrm>
          <a:prstGeom prst="roundRect">
            <a:avLst>
              <a:gd name="adj" fmla="val 25000"/>
            </a:avLst>
          </a:prstGeom>
          <a:solidFill>
            <a:srgbClr val="1C28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5. Análisis de resultados</a:t>
            </a:r>
          </a:p>
        </p:txBody>
      </p:sp>
      <p:sp>
        <p:nvSpPr>
          <p:cNvPr id="11" name="Rounded Rectangle 10"/>
          <p:cNvSpPr/>
          <p:nvPr/>
        </p:nvSpPr>
        <p:spPr>
          <a:xfrm>
            <a:off x="9885426" y="5760720"/>
            <a:ext cx="1757629" cy="566928"/>
          </a:xfrm>
          <a:prstGeom prst="roundRect">
            <a:avLst>
              <a:gd name="adj" fmla="val 25000"/>
            </a:avLst>
          </a:prstGeom>
          <a:solidFill>
            <a:srgbClr val="1C28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6. Conclusiones y recomendaciones</a:t>
            </a:r>
          </a:p>
        </p:txBody>
      </p:sp>
      <p:pic>
        <p:nvPicPr>
          <p:cNvPr id="12" name="s13">
            <a:hlinkClick r:id="" action="ppaction://media"/>
            <a:extLst>
              <a:ext uri="{FF2B5EF4-FFF2-40B4-BE49-F238E27FC236}">
                <a16:creationId xmlns:a16="http://schemas.microsoft.com/office/drawing/2014/main" id="{F10D9E36-5E45-A063-F06D-81E92A57F09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076"/>
    </mc:Choice>
    <mc:Fallback>
      <p:transition spd="slow" advTm="1207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168335" cy="868680"/>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Variables del modelo de simulación</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noAutofit/>
          </a:bodyPr>
          <a:lstStyle/>
          <a:p>
            <a:pPr algn="ctr">
              <a:lnSpc>
                <a:spcPct val="100000"/>
              </a:lnSpc>
            </a:pPr>
            <a:r>
              <a:rPr lang="es-ES" sz="1300" b="1" i="0">
                <a:solidFill>
                  <a:srgbClr val="1B2A4A"/>
                </a:solidFill>
                <a:latin typeface="Calibri"/>
              </a:rPr>
              <a:t>3  ·  Diseño y desarrollo del modelo</a:t>
            </a:r>
          </a:p>
        </p:txBody>
      </p:sp>
      <p:graphicFrame>
        <p:nvGraphicFramePr>
          <p:cNvPr id="5" name="Table 4"/>
          <p:cNvGraphicFramePr>
            <a:graphicFrameLocks noGrp="1"/>
          </p:cNvGraphicFramePr>
          <p:nvPr/>
        </p:nvGraphicFramePr>
        <p:xfrm>
          <a:off x="548640" y="1786128"/>
          <a:ext cx="11094414" cy="3249168"/>
        </p:xfrm>
        <a:graphic>
          <a:graphicData uri="http://schemas.openxmlformats.org/drawingml/2006/table">
            <a:tbl>
              <a:tblPr>
                <a:tableStyleId>{5C22544A-7EE6-4342-B048-85BDC9FD1C3A}</a:tableStyleId>
              </a:tblPr>
              <a:tblGrid>
                <a:gridCol w="2533370">
                  <a:extLst>
                    <a:ext uri="{9D8B030D-6E8A-4147-A177-3AD203B41FA5}">
                      <a16:colId xmlns:a16="http://schemas.microsoft.com/office/drawing/2014/main" val="20000"/>
                    </a:ext>
                  </a:extLst>
                </a:gridCol>
                <a:gridCol w="3319588">
                  <a:extLst>
                    <a:ext uri="{9D8B030D-6E8A-4147-A177-3AD203B41FA5}">
                      <a16:colId xmlns:a16="http://schemas.microsoft.com/office/drawing/2014/main" val="20001"/>
                    </a:ext>
                  </a:extLst>
                </a:gridCol>
                <a:gridCol w="3494304">
                  <a:extLst>
                    <a:ext uri="{9D8B030D-6E8A-4147-A177-3AD203B41FA5}">
                      <a16:colId xmlns:a16="http://schemas.microsoft.com/office/drawing/2014/main" val="20002"/>
                    </a:ext>
                  </a:extLst>
                </a:gridCol>
                <a:gridCol w="1747152">
                  <a:extLst>
                    <a:ext uri="{9D8B030D-6E8A-4147-A177-3AD203B41FA5}">
                      <a16:colId xmlns:a16="http://schemas.microsoft.com/office/drawing/2014/main" val="20003"/>
                    </a:ext>
                  </a:extLst>
                </a:gridCol>
              </a:tblGrid>
              <a:tr h="414528">
                <a:tc>
                  <a:txBody>
                    <a:bodyPr/>
                    <a:lstStyle/>
                    <a:p>
                      <a:pPr algn="l"/>
                      <a:r>
                        <a:rPr lang="es-ES" sz="1800" b="1" i="0">
                          <a:solidFill>
                            <a:srgbClr val="FFFFFF"/>
                          </a:solidFill>
                          <a:latin typeface="Calibri"/>
                        </a:rPr>
                        <a:t>Variable</a:t>
                      </a:r>
                    </a:p>
                  </a:txBody>
                  <a:tcPr marL="73152" marR="73152" marT="27432" marB="27432" anchor="ctr">
                    <a:solidFill>
                      <a:srgbClr val="1B2A4A"/>
                    </a:solidFill>
                  </a:tcPr>
                </a:tc>
                <a:tc>
                  <a:txBody>
                    <a:bodyPr/>
                    <a:lstStyle/>
                    <a:p>
                      <a:pPr algn="ctr"/>
                      <a:r>
                        <a:rPr lang="es-ES" sz="1800" b="1" i="0">
                          <a:solidFill>
                            <a:srgbClr val="FFFFFF"/>
                          </a:solidFill>
                          <a:latin typeface="Calibri"/>
                        </a:rPr>
                        <a:t>Dimensión</a:t>
                      </a:r>
                    </a:p>
                  </a:txBody>
                  <a:tcPr marL="73152" marR="73152" marT="27432" marB="27432" anchor="ctr">
                    <a:solidFill>
                      <a:srgbClr val="1B2A4A"/>
                    </a:solidFill>
                  </a:tcPr>
                </a:tc>
                <a:tc>
                  <a:txBody>
                    <a:bodyPr/>
                    <a:lstStyle/>
                    <a:p>
                      <a:pPr algn="ctr"/>
                      <a:r>
                        <a:rPr lang="es-ES" sz="1800" b="1" i="0">
                          <a:solidFill>
                            <a:srgbClr val="FFFFFF"/>
                          </a:solidFill>
                          <a:latin typeface="Calibri"/>
                        </a:rPr>
                        <a:t>Indicador</a:t>
                      </a:r>
                    </a:p>
                  </a:txBody>
                  <a:tcPr marL="73152" marR="73152" marT="27432" marB="27432" anchor="ctr">
                    <a:solidFill>
                      <a:srgbClr val="1B2A4A"/>
                    </a:solidFill>
                  </a:tcPr>
                </a:tc>
                <a:tc>
                  <a:txBody>
                    <a:bodyPr/>
                    <a:lstStyle/>
                    <a:p>
                      <a:pPr algn="ctr"/>
                      <a:r>
                        <a:rPr lang="es-ES" sz="1800" b="1" i="0">
                          <a:solidFill>
                            <a:srgbClr val="FFFFFF"/>
                          </a:solidFill>
                          <a:latin typeface="Calibri"/>
                        </a:rPr>
                        <a:t>Instrumento</a:t>
                      </a:r>
                    </a:p>
                  </a:txBody>
                  <a:tcPr marL="73152" marR="73152" marT="27432" marB="27432" anchor="ctr">
                    <a:solidFill>
                      <a:srgbClr val="1B2A4A"/>
                    </a:solidFill>
                  </a:tcPr>
                </a:tc>
                <a:extLst>
                  <a:ext uri="{0D108BD9-81ED-4DB2-BD59-A6C34878D82A}">
                    <a16:rowId xmlns:a16="http://schemas.microsoft.com/office/drawing/2014/main" val="10000"/>
                  </a:ext>
                </a:extLst>
              </a:tr>
              <a:tr h="566928">
                <a:tc>
                  <a:txBody>
                    <a:bodyPr/>
                    <a:lstStyle/>
                    <a:p>
                      <a:pPr algn="l"/>
                      <a:r>
                        <a:rPr lang="es-ES" sz="1800" b="1" i="0">
                          <a:solidFill>
                            <a:srgbClr val="1F2937"/>
                          </a:solidFill>
                          <a:latin typeface="Calibri"/>
                        </a:rPr>
                        <a:t>Independiente: modelo</a:t>
                      </a:r>
                    </a:p>
                  </a:txBody>
                  <a:tcPr marL="73152" marR="73152" marT="27432" marB="27432" anchor="ctr">
                    <a:solidFill>
                      <a:srgbClr val="FFFFFF"/>
                    </a:solidFill>
                  </a:tcPr>
                </a:tc>
                <a:tc>
                  <a:txBody>
                    <a:bodyPr/>
                    <a:lstStyle/>
                    <a:p>
                      <a:pPr algn="ctr"/>
                      <a:r>
                        <a:rPr lang="es-ES" sz="1800" b="0" i="0">
                          <a:solidFill>
                            <a:srgbClr val="1F2937"/>
                          </a:solidFill>
                          <a:latin typeface="Calibri"/>
                        </a:rPr>
                        <a:t>Geometría, material, acciones, apoyos</a:t>
                      </a:r>
                    </a:p>
                  </a:txBody>
                  <a:tcPr marL="73152" marR="73152" marT="27432" marB="27432" anchor="ctr">
                    <a:solidFill>
                      <a:srgbClr val="FFFFFF"/>
                    </a:solidFill>
                  </a:tcPr>
                </a:tc>
                <a:tc>
                  <a:txBody>
                    <a:bodyPr/>
                    <a:lstStyle/>
                    <a:p>
                      <a:pPr algn="ctr"/>
                      <a:r>
                        <a:rPr lang="es-ES" sz="1800" b="0" i="0">
                          <a:solidFill>
                            <a:srgbClr val="1F2937"/>
                          </a:solidFill>
                          <a:latin typeface="Calibri"/>
                        </a:rPr>
                        <a:t>Dominio; E, ν, t; cargas y restricciones</a:t>
                      </a:r>
                    </a:p>
                  </a:txBody>
                  <a:tcPr marL="73152" marR="73152" marT="27432" marB="27432" anchor="ctr">
                    <a:solidFill>
                      <a:srgbClr val="FFFFFF"/>
                    </a:solidFill>
                  </a:tcPr>
                </a:tc>
                <a:tc>
                  <a:txBody>
                    <a:bodyPr/>
                    <a:lstStyle/>
                    <a:p>
                      <a:pPr algn="ctr"/>
                      <a:r>
                        <a:rPr lang="es-ES" sz="1800" b="0" i="0">
                          <a:solidFill>
                            <a:srgbClr val="1F2937"/>
                          </a:solidFill>
                          <a:latin typeface="Calibri"/>
                        </a:rPr>
                        <a:t>Guion del caso</a:t>
                      </a:r>
                    </a:p>
                  </a:txBody>
                  <a:tcPr marL="73152" marR="73152" marT="27432" marB="27432" anchor="ctr">
                    <a:solidFill>
                      <a:srgbClr val="FFFFFF"/>
                    </a:solidFill>
                  </a:tcPr>
                </a:tc>
                <a:extLst>
                  <a:ext uri="{0D108BD9-81ED-4DB2-BD59-A6C34878D82A}">
                    <a16:rowId xmlns:a16="http://schemas.microsoft.com/office/drawing/2014/main" val="10001"/>
                  </a:ext>
                </a:extLst>
              </a:tr>
              <a:tr h="566928">
                <a:tc>
                  <a:txBody>
                    <a:bodyPr/>
                    <a:lstStyle/>
                    <a:p>
                      <a:pPr algn="l"/>
                      <a:r>
                        <a:rPr lang="es-ES" sz="1800" b="1" i="0">
                          <a:solidFill>
                            <a:srgbClr val="1F2937"/>
                          </a:solidFill>
                          <a:latin typeface="Calibri"/>
                        </a:rPr>
                        <a:t>Independiente: discretización</a:t>
                      </a:r>
                    </a:p>
                  </a:txBody>
                  <a:tcPr marL="73152" marR="73152" marT="27432" marB="27432" anchor="ctr">
                    <a:solidFill>
                      <a:srgbClr val="F3F4F6"/>
                    </a:solidFill>
                  </a:tcPr>
                </a:tc>
                <a:tc>
                  <a:txBody>
                    <a:bodyPr/>
                    <a:lstStyle/>
                    <a:p>
                      <a:pPr algn="ctr"/>
                      <a:r>
                        <a:rPr lang="es-ES" sz="1800" b="0" i="0">
                          <a:solidFill>
                            <a:srgbClr val="1F2937"/>
                          </a:solidFill>
                          <a:latin typeface="Calibri"/>
                        </a:rPr>
                        <a:t>Tipo de elemento; densidad</a:t>
                      </a:r>
                    </a:p>
                  </a:txBody>
                  <a:tcPr marL="73152" marR="73152" marT="27432" marB="27432" anchor="ctr">
                    <a:solidFill>
                      <a:srgbClr val="F3F4F6"/>
                    </a:solidFill>
                  </a:tcPr>
                </a:tc>
                <a:tc>
                  <a:txBody>
                    <a:bodyPr/>
                    <a:lstStyle/>
                    <a:p>
                      <a:pPr algn="ctr"/>
                      <a:r>
                        <a:rPr lang="es-ES" sz="1800" b="0" i="0">
                          <a:solidFill>
                            <a:srgbClr val="1F2937"/>
                          </a:solidFill>
                          <a:latin typeface="Calibri"/>
                        </a:rPr>
                        <a:t>Q4 o Q9; h o N×N; GDL</a:t>
                      </a:r>
                    </a:p>
                  </a:txBody>
                  <a:tcPr marL="73152" marR="73152" marT="27432" marB="27432" anchor="ctr">
                    <a:solidFill>
                      <a:srgbClr val="F3F4F6"/>
                    </a:solidFill>
                  </a:tcPr>
                </a:tc>
                <a:tc>
                  <a:txBody>
                    <a:bodyPr/>
                    <a:lstStyle/>
                    <a:p>
                      <a:pPr algn="ctr"/>
                      <a:r>
                        <a:rPr lang="es-ES" sz="1800" b="0" i="0">
                          <a:solidFill>
                            <a:srgbClr val="1F2937"/>
                          </a:solidFill>
                          <a:latin typeface="Calibri"/>
                        </a:rPr>
                        <a:t>Guion del caso</a:t>
                      </a:r>
                    </a:p>
                  </a:txBody>
                  <a:tcPr marL="73152" marR="73152" marT="27432" marB="27432" anchor="ctr">
                    <a:solidFill>
                      <a:srgbClr val="F3F4F6"/>
                    </a:solidFill>
                  </a:tcPr>
                </a:tc>
                <a:extLst>
                  <a:ext uri="{0D108BD9-81ED-4DB2-BD59-A6C34878D82A}">
                    <a16:rowId xmlns:a16="http://schemas.microsoft.com/office/drawing/2014/main" val="10002"/>
                  </a:ext>
                </a:extLst>
              </a:tr>
              <a:tr h="566928">
                <a:tc>
                  <a:txBody>
                    <a:bodyPr/>
                    <a:lstStyle/>
                    <a:p>
                      <a:pPr algn="l"/>
                      <a:r>
                        <a:rPr lang="es-ES" sz="1800" b="1" i="0">
                          <a:solidFill>
                            <a:srgbClr val="1F2937"/>
                          </a:solidFill>
                          <a:latin typeface="Calibri"/>
                        </a:rPr>
                        <a:t>Dependiente: respuesta</a:t>
                      </a:r>
                    </a:p>
                  </a:txBody>
                  <a:tcPr marL="73152" marR="73152" marT="27432" marB="27432" anchor="ctr">
                    <a:solidFill>
                      <a:srgbClr val="FFFFFF"/>
                    </a:solidFill>
                  </a:tcPr>
                </a:tc>
                <a:tc>
                  <a:txBody>
                    <a:bodyPr/>
                    <a:lstStyle/>
                    <a:p>
                      <a:pPr algn="ctr"/>
                      <a:r>
                        <a:rPr lang="es-ES" sz="1800" b="0" i="0">
                          <a:solidFill>
                            <a:srgbClr val="1F2937"/>
                          </a:solidFill>
                          <a:latin typeface="Calibri"/>
                        </a:rPr>
                        <a:t>Tensiones, desplazamientos, reacciones</a:t>
                      </a:r>
                    </a:p>
                  </a:txBody>
                  <a:tcPr marL="73152" marR="73152" marT="27432" marB="27432" anchor="ctr">
                    <a:solidFill>
                      <a:srgbClr val="FFFFFF"/>
                    </a:solidFill>
                  </a:tcPr>
                </a:tc>
                <a:tc>
                  <a:txBody>
                    <a:bodyPr/>
                    <a:lstStyle/>
                    <a:p>
                      <a:pPr algn="ctr"/>
                      <a:r>
                        <a:rPr lang="es-ES" sz="1800" b="0" i="0">
                          <a:solidFill>
                            <a:srgbClr val="1F2937"/>
                          </a:solidFill>
                          <a:latin typeface="Calibri"/>
                        </a:rPr>
                        <a:t>σₓ, σᵧ, τₓᵧ, σVM; u, v</a:t>
                      </a:r>
                    </a:p>
                  </a:txBody>
                  <a:tcPr marL="73152" marR="73152" marT="27432" marB="27432" anchor="ctr">
                    <a:solidFill>
                      <a:srgbClr val="FFFFFF"/>
                    </a:solidFill>
                  </a:tcPr>
                </a:tc>
                <a:tc>
                  <a:txBody>
                    <a:bodyPr/>
                    <a:lstStyle/>
                    <a:p>
                      <a:pPr algn="ctr"/>
                      <a:r>
                        <a:rPr lang="es-ES" sz="1800" b="0" i="0">
                          <a:solidFill>
                            <a:srgbClr val="1F2937"/>
                          </a:solidFill>
                          <a:latin typeface="Calibri"/>
                        </a:rPr>
                        <a:t>Solucionador MEF</a:t>
                      </a:r>
                    </a:p>
                  </a:txBody>
                  <a:tcPr marL="73152" marR="73152" marT="27432" marB="27432" anchor="ctr">
                    <a:solidFill>
                      <a:srgbClr val="FFFFFF"/>
                    </a:solidFill>
                  </a:tcPr>
                </a:tc>
                <a:extLst>
                  <a:ext uri="{0D108BD9-81ED-4DB2-BD59-A6C34878D82A}">
                    <a16:rowId xmlns:a16="http://schemas.microsoft.com/office/drawing/2014/main" val="10003"/>
                  </a:ext>
                </a:extLst>
              </a:tr>
              <a:tr h="566928">
                <a:tc>
                  <a:txBody>
                    <a:bodyPr/>
                    <a:lstStyle/>
                    <a:p>
                      <a:pPr algn="l"/>
                      <a:r>
                        <a:rPr lang="es-ES" sz="1800" b="1" i="0">
                          <a:solidFill>
                            <a:srgbClr val="1F2937"/>
                          </a:solidFill>
                          <a:latin typeface="Calibri"/>
                        </a:rPr>
                        <a:t>Dependiente: exactitud</a:t>
                      </a:r>
                    </a:p>
                  </a:txBody>
                  <a:tcPr marL="73152" marR="73152" marT="27432" marB="27432" anchor="ctr">
                    <a:solidFill>
                      <a:srgbClr val="F3F4F6"/>
                    </a:solidFill>
                  </a:tcPr>
                </a:tc>
                <a:tc>
                  <a:txBody>
                    <a:bodyPr/>
                    <a:lstStyle/>
                    <a:p>
                      <a:pPr algn="ctr"/>
                      <a:r>
                        <a:rPr lang="es-ES" sz="1800" b="0" i="0">
                          <a:solidFill>
                            <a:srgbClr val="1F2937"/>
                          </a:solidFill>
                          <a:latin typeface="Calibri"/>
                        </a:rPr>
                        <a:t>Convergencia; error</a:t>
                      </a:r>
                    </a:p>
                  </a:txBody>
                  <a:tcPr marL="73152" marR="73152" marT="27432" marB="27432" anchor="ctr">
                    <a:solidFill>
                      <a:srgbClr val="F3F4F6"/>
                    </a:solidFill>
                  </a:tcPr>
                </a:tc>
                <a:tc>
                  <a:txBody>
                    <a:bodyPr/>
                    <a:lstStyle/>
                    <a:p>
                      <a:pPr algn="ctr"/>
                      <a:r>
                        <a:rPr lang="es-ES" sz="1800" b="0" i="0">
                          <a:solidFill>
                            <a:srgbClr val="1F2937"/>
                          </a:solidFill>
                          <a:latin typeface="Calibri"/>
                        </a:rPr>
                        <a:t>Orden p; normas L², H¹; error %</a:t>
                      </a:r>
                    </a:p>
                  </a:txBody>
                  <a:tcPr marL="73152" marR="73152" marT="27432" marB="27432" anchor="ctr">
                    <a:solidFill>
                      <a:srgbClr val="F3F4F6"/>
                    </a:solidFill>
                  </a:tcPr>
                </a:tc>
                <a:tc>
                  <a:txBody>
                    <a:bodyPr/>
                    <a:lstStyle/>
                    <a:p>
                      <a:pPr algn="ctr"/>
                      <a:r>
                        <a:rPr lang="es-ES" sz="1800" b="0" i="0">
                          <a:solidFill>
                            <a:srgbClr val="1F2937"/>
                          </a:solidFill>
                          <a:latin typeface="Calibri"/>
                        </a:rPr>
                        <a:t>Guiones de V&amp;V</a:t>
                      </a:r>
                    </a:p>
                  </a:txBody>
                  <a:tcPr marL="73152" marR="73152" marT="27432" marB="27432" anchor="ctr">
                    <a:solidFill>
                      <a:srgbClr val="F3F4F6"/>
                    </a:solidFill>
                  </a:tcPr>
                </a:tc>
                <a:extLst>
                  <a:ext uri="{0D108BD9-81ED-4DB2-BD59-A6C34878D82A}">
                    <a16:rowId xmlns:a16="http://schemas.microsoft.com/office/drawing/2014/main" val="10004"/>
                  </a:ext>
                </a:extLst>
              </a:tr>
              <a:tr h="566928">
                <a:tc>
                  <a:txBody>
                    <a:bodyPr/>
                    <a:lstStyle/>
                    <a:p>
                      <a:pPr algn="l"/>
                      <a:r>
                        <a:rPr lang="es-ES" sz="1800" b="1" i="0">
                          <a:solidFill>
                            <a:srgbClr val="1F2937"/>
                          </a:solidFill>
                          <a:latin typeface="Calibri"/>
                        </a:rPr>
                        <a:t>Controladas</a:t>
                      </a:r>
                    </a:p>
                  </a:txBody>
                  <a:tcPr marL="73152" marR="73152" marT="27432" marB="27432" anchor="ctr">
                    <a:solidFill>
                      <a:srgbClr val="FFFFFF"/>
                    </a:solidFill>
                  </a:tcPr>
                </a:tc>
                <a:tc>
                  <a:txBody>
                    <a:bodyPr/>
                    <a:lstStyle/>
                    <a:p>
                      <a:pPr algn="ctr"/>
                      <a:r>
                        <a:rPr lang="es-ES" sz="1800" b="0" i="0">
                          <a:solidFill>
                            <a:srgbClr val="1F2937"/>
                          </a:solidFill>
                          <a:latin typeface="Calibri"/>
                        </a:rPr>
                        <a:t>Análisis; integración</a:t>
                      </a:r>
                    </a:p>
                  </a:txBody>
                  <a:tcPr marL="73152" marR="73152" marT="27432" marB="27432" anchor="ctr">
                    <a:solidFill>
                      <a:srgbClr val="FFFFFF"/>
                    </a:solidFill>
                  </a:tcPr>
                </a:tc>
                <a:tc>
                  <a:txBody>
                    <a:bodyPr/>
                    <a:lstStyle/>
                    <a:p>
                      <a:pPr algn="ctr"/>
                      <a:r>
                        <a:rPr lang="es-ES" sz="1800" b="0" i="0">
                          <a:solidFill>
                            <a:srgbClr val="1F2937"/>
                          </a:solidFill>
                          <a:latin typeface="Calibri"/>
                        </a:rPr>
                        <a:t>Tensión o deformación plana; 2×2, 3×3</a:t>
                      </a:r>
                    </a:p>
                  </a:txBody>
                  <a:tcPr marL="73152" marR="73152" marT="27432" marB="27432" anchor="ctr">
                    <a:solidFill>
                      <a:srgbClr val="FFFFFF"/>
                    </a:solidFill>
                  </a:tcPr>
                </a:tc>
                <a:tc>
                  <a:txBody>
                    <a:bodyPr/>
                    <a:lstStyle/>
                    <a:p>
                      <a:pPr algn="ctr"/>
                      <a:r>
                        <a:rPr lang="es-ES" sz="1800" b="0" i="0">
                          <a:solidFill>
                            <a:srgbClr val="1F2937"/>
                          </a:solidFill>
                          <a:latin typeface="Calibri"/>
                        </a:rPr>
                        <a:t>Constantes del guion</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6" name="Rectangle 5"/>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77240" y="5431536"/>
            <a:ext cx="10774375"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Sin unidades experimentales ni aleatorización: motor determinista, reproducibilidad y convergencia</a:t>
            </a:r>
          </a:p>
        </p:txBody>
      </p:sp>
      <p:sp>
        <p:nvSpPr>
          <p:cNvPr id="9" name="Rectangle 8"/>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6419088"/>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11" name="TextBox 10"/>
          <p:cNvSpPr txBox="1"/>
          <p:nvPr/>
        </p:nvSpPr>
        <p:spPr>
          <a:xfrm>
            <a:off x="4023360" y="6419088"/>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§2.1, tabla de variables</a:t>
            </a:r>
          </a:p>
        </p:txBody>
      </p:sp>
      <p:sp>
        <p:nvSpPr>
          <p:cNvPr id="12" name="TextBox 11"/>
          <p:cNvSpPr txBox="1"/>
          <p:nvPr/>
        </p:nvSpPr>
        <p:spPr>
          <a:xfrm>
            <a:off x="10545775" y="6419088"/>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14</a:t>
            </a:fld>
            <a:endParaRPr lang="es-ES" sz="1200" dirty="0">
              <a:solidFill>
                <a:srgbClr val="5B6575"/>
              </a:solidFill>
              <a:latin typeface="Calibri"/>
            </a:endParaRPr>
          </a:p>
        </p:txBody>
      </p:sp>
      <p:pic>
        <p:nvPicPr>
          <p:cNvPr id="13" name="s14">
            <a:hlinkClick r:id="" action="ppaction://media"/>
            <a:extLst>
              <a:ext uri="{FF2B5EF4-FFF2-40B4-BE49-F238E27FC236}">
                <a16:creationId xmlns:a16="http://schemas.microsoft.com/office/drawing/2014/main" id="{AE99078F-5C67-0E5E-82CE-2D0A79154FC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796"/>
    </mc:Choice>
    <mc:Fallback>
      <p:transition spd="slow" advTm="4579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168335" cy="868680"/>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Matriz de consistencia</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noAutofit/>
          </a:bodyPr>
          <a:lstStyle/>
          <a:p>
            <a:pPr algn="ctr">
              <a:lnSpc>
                <a:spcPct val="100000"/>
              </a:lnSpc>
            </a:pPr>
            <a:r>
              <a:rPr lang="es-ES" sz="1300" b="1" i="0">
                <a:solidFill>
                  <a:srgbClr val="1B2A4A"/>
                </a:solidFill>
                <a:latin typeface="Calibri"/>
              </a:rPr>
              <a:t>3  ·  Diseño y desarrollo del modelo</a:t>
            </a:r>
          </a:p>
        </p:txBody>
      </p:sp>
      <p:graphicFrame>
        <p:nvGraphicFramePr>
          <p:cNvPr id="5" name="Table 4"/>
          <p:cNvGraphicFramePr>
            <a:graphicFrameLocks noGrp="1"/>
          </p:cNvGraphicFramePr>
          <p:nvPr/>
        </p:nvGraphicFramePr>
        <p:xfrm>
          <a:off x="548640" y="1591056"/>
          <a:ext cx="11094412" cy="3639312"/>
        </p:xfrm>
        <a:graphic>
          <a:graphicData uri="http://schemas.openxmlformats.org/drawingml/2006/table">
            <a:tbl>
              <a:tblPr>
                <a:tableStyleId>{5C22544A-7EE6-4342-B048-85BDC9FD1C3A}</a:tableStyleId>
              </a:tblPr>
              <a:tblGrid>
                <a:gridCol w="2218883">
                  <a:extLst>
                    <a:ext uri="{9D8B030D-6E8A-4147-A177-3AD203B41FA5}">
                      <a16:colId xmlns:a16="http://schemas.microsoft.com/office/drawing/2014/main" val="20000"/>
                    </a:ext>
                  </a:extLst>
                </a:gridCol>
                <a:gridCol w="1435747">
                  <a:extLst>
                    <a:ext uri="{9D8B030D-6E8A-4147-A177-3AD203B41FA5}">
                      <a16:colId xmlns:a16="http://schemas.microsoft.com/office/drawing/2014/main" val="20001"/>
                    </a:ext>
                  </a:extLst>
                </a:gridCol>
                <a:gridCol w="2610450">
                  <a:extLst>
                    <a:ext uri="{9D8B030D-6E8A-4147-A177-3AD203B41FA5}">
                      <a16:colId xmlns:a16="http://schemas.microsoft.com/office/drawing/2014/main" val="20002"/>
                    </a:ext>
                  </a:extLst>
                </a:gridCol>
                <a:gridCol w="2871495">
                  <a:extLst>
                    <a:ext uri="{9D8B030D-6E8A-4147-A177-3AD203B41FA5}">
                      <a16:colId xmlns:a16="http://schemas.microsoft.com/office/drawing/2014/main" val="20003"/>
                    </a:ext>
                  </a:extLst>
                </a:gridCol>
                <a:gridCol w="1957837">
                  <a:extLst>
                    <a:ext uri="{9D8B030D-6E8A-4147-A177-3AD203B41FA5}">
                      <a16:colId xmlns:a16="http://schemas.microsoft.com/office/drawing/2014/main" val="20004"/>
                    </a:ext>
                  </a:extLst>
                </a:gridCol>
              </a:tblGrid>
              <a:tr h="512064">
                <a:tc>
                  <a:txBody>
                    <a:bodyPr/>
                    <a:lstStyle/>
                    <a:p>
                      <a:pPr algn="l"/>
                      <a:r>
                        <a:rPr lang="es-ES" sz="1800" b="1" i="0">
                          <a:solidFill>
                            <a:srgbClr val="FFFFFF"/>
                          </a:solidFill>
                          <a:latin typeface="Calibri"/>
                        </a:rPr>
                        <a:t>Objetivo</a:t>
                      </a:r>
                    </a:p>
                  </a:txBody>
                  <a:tcPr marL="73152" marR="73152" marT="27432" marB="27432" anchor="ctr">
                    <a:solidFill>
                      <a:srgbClr val="1B2A4A"/>
                    </a:solidFill>
                  </a:tcPr>
                </a:tc>
                <a:tc>
                  <a:txBody>
                    <a:bodyPr/>
                    <a:lstStyle/>
                    <a:p>
                      <a:pPr algn="ctr"/>
                      <a:r>
                        <a:rPr lang="es-ES" sz="1800" b="1" i="0">
                          <a:solidFill>
                            <a:srgbClr val="FFFFFF"/>
                          </a:solidFill>
                          <a:latin typeface="Calibri"/>
                        </a:rPr>
                        <a:t>PI</a:t>
                      </a:r>
                    </a:p>
                  </a:txBody>
                  <a:tcPr marL="73152" marR="73152" marT="27432" marB="27432" anchor="ctr">
                    <a:solidFill>
                      <a:srgbClr val="1B2A4A"/>
                    </a:solidFill>
                  </a:tcPr>
                </a:tc>
                <a:tc>
                  <a:txBody>
                    <a:bodyPr/>
                    <a:lstStyle/>
                    <a:p>
                      <a:pPr algn="ctr"/>
                      <a:r>
                        <a:rPr lang="es-ES" sz="1800" b="1" i="0">
                          <a:solidFill>
                            <a:srgbClr val="FFFFFF"/>
                          </a:solidFill>
                          <a:latin typeface="Calibri"/>
                        </a:rPr>
                        <a:t>Indicador</a:t>
                      </a:r>
                    </a:p>
                  </a:txBody>
                  <a:tcPr marL="73152" marR="73152" marT="27432" marB="27432" anchor="ctr">
                    <a:solidFill>
                      <a:srgbClr val="1B2A4A"/>
                    </a:solidFill>
                  </a:tcPr>
                </a:tc>
                <a:tc>
                  <a:txBody>
                    <a:bodyPr/>
                    <a:lstStyle/>
                    <a:p>
                      <a:pPr algn="ctr"/>
                      <a:r>
                        <a:rPr lang="es-ES" sz="1800" b="1" i="0">
                          <a:solidFill>
                            <a:srgbClr val="FFFFFF"/>
                          </a:solidFill>
                          <a:latin typeface="Calibri"/>
                        </a:rPr>
                        <a:t>Instrumento</a:t>
                      </a:r>
                    </a:p>
                  </a:txBody>
                  <a:tcPr marL="73152" marR="73152" marT="27432" marB="27432" anchor="ctr">
                    <a:solidFill>
                      <a:srgbClr val="1B2A4A"/>
                    </a:solidFill>
                  </a:tcPr>
                </a:tc>
                <a:tc>
                  <a:txBody>
                    <a:bodyPr/>
                    <a:lstStyle/>
                    <a:p>
                      <a:pPr algn="ctr"/>
                      <a:r>
                        <a:rPr lang="es-ES" sz="1800" b="1" i="0">
                          <a:solidFill>
                            <a:srgbClr val="FFFFFF"/>
                          </a:solidFill>
                          <a:latin typeface="Calibri"/>
                        </a:rPr>
                        <a:t>Evidencia</a:t>
                      </a:r>
                    </a:p>
                  </a:txBody>
                  <a:tcPr marL="73152" marR="73152" marT="27432" marB="27432" anchor="ctr">
                    <a:solidFill>
                      <a:srgbClr val="1B2A4A"/>
                    </a:solidFill>
                  </a:tcPr>
                </a:tc>
                <a:extLst>
                  <a:ext uri="{0D108BD9-81ED-4DB2-BD59-A6C34878D82A}">
                    <a16:rowId xmlns:a16="http://schemas.microsoft.com/office/drawing/2014/main" val="10000"/>
                  </a:ext>
                </a:extLst>
              </a:tr>
              <a:tr h="566928">
                <a:tc>
                  <a:txBody>
                    <a:bodyPr/>
                    <a:lstStyle/>
                    <a:p>
                      <a:pPr algn="l"/>
                      <a:r>
                        <a:rPr lang="es-ES" sz="1800" b="1" i="0">
                          <a:solidFill>
                            <a:srgbClr val="1F2937"/>
                          </a:solidFill>
                          <a:latin typeface="Calibri"/>
                        </a:rPr>
                        <a:t>OE1 Fundamentar</a:t>
                      </a:r>
                    </a:p>
                  </a:txBody>
                  <a:tcPr marL="73152" marR="73152" marT="27432" marB="27432" anchor="ctr">
                    <a:solidFill>
                      <a:srgbClr val="FFFFFF"/>
                    </a:solidFill>
                  </a:tcPr>
                </a:tc>
                <a:tc>
                  <a:txBody>
                    <a:bodyPr/>
                    <a:lstStyle/>
                    <a:p>
                      <a:pPr algn="ctr"/>
                      <a:r>
                        <a:rPr lang="es-ES" sz="1800" b="0" i="0">
                          <a:solidFill>
                            <a:srgbClr val="1F2937"/>
                          </a:solidFill>
                          <a:latin typeface="Calibri"/>
                        </a:rPr>
                        <a:t>PI-1 a PI-3</a:t>
                      </a:r>
                    </a:p>
                  </a:txBody>
                  <a:tcPr marL="73152" marR="73152" marT="27432" marB="27432" anchor="ctr">
                    <a:solidFill>
                      <a:srgbClr val="FFFFFF"/>
                    </a:solidFill>
                  </a:tcPr>
                </a:tc>
                <a:tc>
                  <a:txBody>
                    <a:bodyPr/>
                    <a:lstStyle/>
                    <a:p>
                      <a:pPr algn="ctr"/>
                      <a:r>
                        <a:rPr lang="es-ES" sz="1800" b="0" i="0">
                          <a:solidFill>
                            <a:srgbClr val="1F2937"/>
                          </a:solidFill>
                          <a:latin typeface="Calibri"/>
                        </a:rPr>
                        <a:t>Canal cubierto</a:t>
                      </a:r>
                    </a:p>
                  </a:txBody>
                  <a:tcPr marL="73152" marR="73152" marT="27432" marB="27432" anchor="ctr">
                    <a:solidFill>
                      <a:srgbClr val="FFFFFF"/>
                    </a:solidFill>
                  </a:tcPr>
                </a:tc>
                <a:tc>
                  <a:txBody>
                    <a:bodyPr/>
                    <a:lstStyle/>
                    <a:p>
                      <a:pPr algn="ctr"/>
                      <a:r>
                        <a:rPr lang="es-ES" sz="1800" b="0" i="0">
                          <a:solidFill>
                            <a:srgbClr val="1F2937"/>
                          </a:solidFill>
                          <a:latin typeface="Calibri"/>
                        </a:rPr>
                        <a:t>Revisión bibliográfica</a:t>
                      </a:r>
                    </a:p>
                  </a:txBody>
                  <a:tcPr marL="73152" marR="73152" marT="27432" marB="27432" anchor="ctr">
                    <a:solidFill>
                      <a:srgbClr val="FFFFFF"/>
                    </a:solidFill>
                  </a:tcPr>
                </a:tc>
                <a:tc>
                  <a:txBody>
                    <a:bodyPr/>
                    <a:lstStyle/>
                    <a:p>
                      <a:pPr algn="ctr"/>
                      <a:r>
                        <a:rPr lang="es-ES" sz="1800" b="0" i="0">
                          <a:solidFill>
                            <a:srgbClr val="1F2937"/>
                          </a:solidFill>
                          <a:latin typeface="Calibri"/>
                        </a:rPr>
                        <a:t>Cap. 1</a:t>
                      </a:r>
                    </a:p>
                  </a:txBody>
                  <a:tcPr marL="73152" marR="73152" marT="27432" marB="27432" anchor="ctr">
                    <a:solidFill>
                      <a:srgbClr val="FFFFFF"/>
                    </a:solidFill>
                  </a:tcPr>
                </a:tc>
                <a:extLst>
                  <a:ext uri="{0D108BD9-81ED-4DB2-BD59-A6C34878D82A}">
                    <a16:rowId xmlns:a16="http://schemas.microsoft.com/office/drawing/2014/main" val="10001"/>
                  </a:ext>
                </a:extLst>
              </a:tr>
              <a:tr h="512064">
                <a:tc>
                  <a:txBody>
                    <a:bodyPr/>
                    <a:lstStyle/>
                    <a:p>
                      <a:pPr algn="l"/>
                      <a:r>
                        <a:rPr lang="es-ES" sz="1800" b="1" i="0">
                          <a:solidFill>
                            <a:srgbClr val="1F2937"/>
                          </a:solidFill>
                          <a:latin typeface="Calibri"/>
                        </a:rPr>
                        <a:t>OE2 Motor Q4/Q9</a:t>
                      </a:r>
                    </a:p>
                  </a:txBody>
                  <a:tcPr marL="73152" marR="73152" marT="27432" marB="27432" anchor="ctr">
                    <a:solidFill>
                      <a:srgbClr val="F3F4F6"/>
                    </a:solidFill>
                  </a:tcPr>
                </a:tc>
                <a:tc>
                  <a:txBody>
                    <a:bodyPr/>
                    <a:lstStyle/>
                    <a:p>
                      <a:pPr algn="ctr"/>
                      <a:r>
                        <a:rPr lang="es-ES" sz="1800" b="0" i="0">
                          <a:solidFill>
                            <a:srgbClr val="1F2937"/>
                          </a:solidFill>
                          <a:latin typeface="Calibri"/>
                        </a:rPr>
                        <a:t>PI-1</a:t>
                      </a:r>
                    </a:p>
                  </a:txBody>
                  <a:tcPr marL="73152" marR="73152" marT="27432" marB="27432" anchor="ctr">
                    <a:solidFill>
                      <a:srgbClr val="F3F4F6"/>
                    </a:solidFill>
                  </a:tcPr>
                </a:tc>
                <a:tc>
                  <a:txBody>
                    <a:bodyPr/>
                    <a:lstStyle/>
                    <a:p>
                      <a:pPr algn="ctr"/>
                      <a:r>
                        <a:rPr lang="es-ES" sz="1800" b="0" i="0">
                          <a:solidFill>
                            <a:srgbClr val="1F2937"/>
                          </a:solidFill>
                          <a:latin typeface="Calibri"/>
                        </a:rPr>
                        <a:t>Normas L², H¹</a:t>
                      </a:r>
                    </a:p>
                  </a:txBody>
                  <a:tcPr marL="73152" marR="73152" marT="27432" marB="27432" anchor="ctr">
                    <a:solidFill>
                      <a:srgbClr val="F3F4F6"/>
                    </a:solidFill>
                  </a:tcPr>
                </a:tc>
                <a:tc>
                  <a:txBody>
                    <a:bodyPr/>
                    <a:lstStyle/>
                    <a:p>
                      <a:pPr algn="ctr"/>
                      <a:r>
                        <a:rPr lang="es-ES" sz="1800" b="0" i="0">
                          <a:solidFill>
                            <a:srgbClr val="1F2937"/>
                          </a:solidFill>
                          <a:latin typeface="Calibri"/>
                        </a:rPr>
                        <a:t>NumPy/SciPy; regresión</a:t>
                      </a:r>
                    </a:p>
                  </a:txBody>
                  <a:tcPr marL="73152" marR="73152" marT="27432" marB="27432" anchor="ctr">
                    <a:solidFill>
                      <a:srgbClr val="F3F4F6"/>
                    </a:solidFill>
                  </a:tcPr>
                </a:tc>
                <a:tc>
                  <a:txBody>
                    <a:bodyPr/>
                    <a:lstStyle/>
                    <a:p>
                      <a:pPr algn="ctr"/>
                      <a:r>
                        <a:rPr lang="es-ES" sz="1800" b="0" i="0">
                          <a:solidFill>
                            <a:srgbClr val="1F2937"/>
                          </a:solidFill>
                          <a:latin typeface="Calibri"/>
                        </a:rPr>
                        <a:t>Cap. 2 · MMS</a:t>
                      </a:r>
                    </a:p>
                  </a:txBody>
                  <a:tcPr marL="73152" marR="73152" marT="27432" marB="27432" anchor="ctr">
                    <a:solidFill>
                      <a:srgbClr val="F3F4F6"/>
                    </a:solidFill>
                  </a:tcPr>
                </a:tc>
                <a:extLst>
                  <a:ext uri="{0D108BD9-81ED-4DB2-BD59-A6C34878D82A}">
                    <a16:rowId xmlns:a16="http://schemas.microsoft.com/office/drawing/2014/main" val="10002"/>
                  </a:ext>
                </a:extLst>
              </a:tr>
              <a:tr h="512064">
                <a:tc>
                  <a:txBody>
                    <a:bodyPr/>
                    <a:lstStyle/>
                    <a:p>
                      <a:pPr algn="l"/>
                      <a:r>
                        <a:rPr lang="es-ES" sz="1800" b="1" i="0">
                          <a:solidFill>
                            <a:srgbClr val="1F2937"/>
                          </a:solidFill>
                          <a:latin typeface="Calibri"/>
                        </a:rPr>
                        <a:t>OE3 Interfaz</a:t>
                      </a:r>
                    </a:p>
                  </a:txBody>
                  <a:tcPr marL="73152" marR="73152" marT="27432" marB="27432" anchor="ctr">
                    <a:solidFill>
                      <a:srgbClr val="FFFFFF"/>
                    </a:solidFill>
                  </a:tcPr>
                </a:tc>
                <a:tc>
                  <a:txBody>
                    <a:bodyPr/>
                    <a:lstStyle/>
                    <a:p>
                      <a:pPr algn="ctr"/>
                      <a:r>
                        <a:rPr lang="es-ES" sz="1800" b="0" i="0">
                          <a:solidFill>
                            <a:srgbClr val="1F2937"/>
                          </a:solidFill>
                          <a:latin typeface="Calibri"/>
                        </a:rPr>
                        <a:t>PI-2</a:t>
                      </a:r>
                    </a:p>
                  </a:txBody>
                  <a:tcPr marL="73152" marR="73152" marT="27432" marB="27432" anchor="ctr">
                    <a:solidFill>
                      <a:srgbClr val="FFFFFF"/>
                    </a:solidFill>
                  </a:tcPr>
                </a:tc>
                <a:tc>
                  <a:txBody>
                    <a:bodyPr/>
                    <a:lstStyle/>
                    <a:p>
                      <a:pPr algn="ctr"/>
                      <a:r>
                        <a:rPr lang="es-ES" sz="1800" b="0" i="0">
                          <a:solidFill>
                            <a:srgbClr val="1F2937"/>
                          </a:solidFill>
                          <a:latin typeface="Calibri"/>
                        </a:rPr>
                        <a:t>Flujo pre/proc/post</a:t>
                      </a:r>
                    </a:p>
                  </a:txBody>
                  <a:tcPr marL="73152" marR="73152" marT="27432" marB="27432" anchor="ctr">
                    <a:solidFill>
                      <a:srgbClr val="FFFFFF"/>
                    </a:solidFill>
                  </a:tcPr>
                </a:tc>
                <a:tc>
                  <a:txBody>
                    <a:bodyPr/>
                    <a:lstStyle/>
                    <a:p>
                      <a:pPr algn="ctr"/>
                      <a:r>
                        <a:rPr lang="es-ES" sz="1800" b="0" i="0">
                          <a:solidFill>
                            <a:srgbClr val="1F2937"/>
                          </a:solidFill>
                          <a:latin typeface="Calibri"/>
                        </a:rPr>
                        <a:t>Lienzo único</a:t>
                      </a:r>
                    </a:p>
                  </a:txBody>
                  <a:tcPr marL="73152" marR="73152" marT="27432" marB="27432" anchor="ctr">
                    <a:solidFill>
                      <a:srgbClr val="FFFFFF"/>
                    </a:solidFill>
                  </a:tcPr>
                </a:tc>
                <a:tc>
                  <a:txBody>
                    <a:bodyPr/>
                    <a:lstStyle/>
                    <a:p>
                      <a:pPr algn="ctr"/>
                      <a:r>
                        <a:rPr lang="es-ES" sz="1800" b="0" i="0">
                          <a:solidFill>
                            <a:srgbClr val="1F2937"/>
                          </a:solidFill>
                          <a:latin typeface="Calibri"/>
                        </a:rPr>
                        <a:t>Cap. 2</a:t>
                      </a:r>
                    </a:p>
                  </a:txBody>
                  <a:tcPr marL="73152" marR="73152" marT="27432" marB="27432" anchor="ctr">
                    <a:solidFill>
                      <a:srgbClr val="FFFFFF"/>
                    </a:solidFill>
                  </a:tcPr>
                </a:tc>
                <a:extLst>
                  <a:ext uri="{0D108BD9-81ED-4DB2-BD59-A6C34878D82A}">
                    <a16:rowId xmlns:a16="http://schemas.microsoft.com/office/drawing/2014/main" val="10003"/>
                  </a:ext>
                </a:extLst>
              </a:tr>
              <a:tr h="512064">
                <a:tc>
                  <a:txBody>
                    <a:bodyPr/>
                    <a:lstStyle/>
                    <a:p>
                      <a:pPr algn="l"/>
                      <a:r>
                        <a:rPr lang="es-ES" sz="1800" b="1" i="0">
                          <a:solidFill>
                            <a:srgbClr val="1F2937"/>
                          </a:solidFill>
                          <a:latin typeface="Calibri"/>
                        </a:rPr>
                        <a:t>OE4 Módulos</a:t>
                      </a:r>
                    </a:p>
                  </a:txBody>
                  <a:tcPr marL="73152" marR="73152" marT="27432" marB="27432" anchor="ctr">
                    <a:solidFill>
                      <a:srgbClr val="F3F4F6"/>
                    </a:solidFill>
                  </a:tcPr>
                </a:tc>
                <a:tc>
                  <a:txBody>
                    <a:bodyPr/>
                    <a:lstStyle/>
                    <a:p>
                      <a:pPr algn="ctr"/>
                      <a:r>
                        <a:rPr lang="es-ES" sz="1800" b="0" i="0">
                          <a:solidFill>
                            <a:srgbClr val="1F2937"/>
                          </a:solidFill>
                          <a:latin typeface="Calibri"/>
                        </a:rPr>
                        <a:t>PI-2</a:t>
                      </a:r>
                    </a:p>
                  </a:txBody>
                  <a:tcPr marL="73152" marR="73152" marT="27432" marB="27432" anchor="ctr">
                    <a:solidFill>
                      <a:srgbClr val="F3F4F6"/>
                    </a:solidFill>
                  </a:tcPr>
                </a:tc>
                <a:tc>
                  <a:txBody>
                    <a:bodyPr/>
                    <a:lstStyle/>
                    <a:p>
                      <a:pPr algn="ctr"/>
                      <a:r>
                        <a:rPr lang="es-ES" sz="1800" b="0" i="0">
                          <a:solidFill>
                            <a:srgbClr val="1F2937"/>
                          </a:solidFill>
                          <a:latin typeface="Calibri"/>
                        </a:rPr>
                        <a:t>Cobertura del canal</a:t>
                      </a:r>
                    </a:p>
                  </a:txBody>
                  <a:tcPr marL="73152" marR="73152" marT="27432" marB="27432" anchor="ctr">
                    <a:solidFill>
                      <a:srgbClr val="F3F4F6"/>
                    </a:solidFill>
                  </a:tcPr>
                </a:tc>
                <a:tc>
                  <a:txBody>
                    <a:bodyPr/>
                    <a:lstStyle/>
                    <a:p>
                      <a:pPr algn="ctr"/>
                      <a:r>
                        <a:rPr lang="es-ES" sz="1800" b="0" i="0">
                          <a:solidFill>
                            <a:srgbClr val="1F2937"/>
                          </a:solidFill>
                          <a:latin typeface="Calibri"/>
                        </a:rPr>
                        <a:t>Capas sobre la malla</a:t>
                      </a:r>
                    </a:p>
                  </a:txBody>
                  <a:tcPr marL="73152" marR="73152" marT="27432" marB="27432" anchor="ctr">
                    <a:solidFill>
                      <a:srgbClr val="F3F4F6"/>
                    </a:solidFill>
                  </a:tcPr>
                </a:tc>
                <a:tc>
                  <a:txBody>
                    <a:bodyPr/>
                    <a:lstStyle/>
                    <a:p>
                      <a:pPr algn="ctr"/>
                      <a:r>
                        <a:rPr lang="es-ES" sz="1800" b="0" i="0">
                          <a:solidFill>
                            <a:srgbClr val="1F2937"/>
                          </a:solidFill>
                          <a:latin typeface="Calibri"/>
                        </a:rPr>
                        <a:t>Cap. 2 · Cap. 3</a:t>
                      </a:r>
                    </a:p>
                  </a:txBody>
                  <a:tcPr marL="73152" marR="73152" marT="27432" marB="27432" anchor="ctr">
                    <a:solidFill>
                      <a:srgbClr val="F3F4F6"/>
                    </a:solidFill>
                  </a:tcPr>
                </a:tc>
                <a:extLst>
                  <a:ext uri="{0D108BD9-81ED-4DB2-BD59-A6C34878D82A}">
                    <a16:rowId xmlns:a16="http://schemas.microsoft.com/office/drawing/2014/main" val="10004"/>
                  </a:ext>
                </a:extLst>
              </a:tr>
              <a:tr h="512064">
                <a:tc>
                  <a:txBody>
                    <a:bodyPr/>
                    <a:lstStyle/>
                    <a:p>
                      <a:pPr algn="l"/>
                      <a:r>
                        <a:rPr lang="es-ES" sz="1800" b="1" i="0">
                          <a:solidFill>
                            <a:srgbClr val="1F2937"/>
                          </a:solidFill>
                          <a:latin typeface="Calibri"/>
                        </a:rPr>
                        <a:t>OE5 V&amp;V</a:t>
                      </a:r>
                    </a:p>
                  </a:txBody>
                  <a:tcPr marL="73152" marR="73152" marT="27432" marB="27432" anchor="ctr">
                    <a:solidFill>
                      <a:srgbClr val="FFFFFF"/>
                    </a:solidFill>
                  </a:tcPr>
                </a:tc>
                <a:tc>
                  <a:txBody>
                    <a:bodyPr/>
                    <a:lstStyle/>
                    <a:p>
                      <a:pPr algn="ctr"/>
                      <a:r>
                        <a:rPr lang="es-ES" sz="1800" b="0" i="0">
                          <a:solidFill>
                            <a:srgbClr val="1F2937"/>
                          </a:solidFill>
                          <a:latin typeface="Calibri"/>
                        </a:rPr>
                        <a:t>PI-1, PI-3</a:t>
                      </a:r>
                    </a:p>
                  </a:txBody>
                  <a:tcPr marL="73152" marR="73152" marT="27432" marB="27432" anchor="ctr">
                    <a:solidFill>
                      <a:srgbClr val="FFFFFF"/>
                    </a:solidFill>
                  </a:tcPr>
                </a:tc>
                <a:tc>
                  <a:txBody>
                    <a:bodyPr/>
                    <a:lstStyle/>
                    <a:p>
                      <a:pPr algn="ctr"/>
                      <a:r>
                        <a:rPr lang="es-ES" sz="1800" b="0" i="0">
                          <a:solidFill>
                            <a:srgbClr val="1F2937"/>
                          </a:solidFill>
                          <a:latin typeface="Calibri"/>
                        </a:rPr>
                        <a:t>Error, tasa, bloqueo</a:t>
                      </a:r>
                    </a:p>
                  </a:txBody>
                  <a:tcPr marL="73152" marR="73152" marT="27432" marB="27432" anchor="ctr">
                    <a:solidFill>
                      <a:srgbClr val="FFFFFF"/>
                    </a:solidFill>
                  </a:tcPr>
                </a:tc>
                <a:tc>
                  <a:txBody>
                    <a:bodyPr/>
                    <a:lstStyle/>
                    <a:p>
                      <a:pPr algn="ctr"/>
                      <a:r>
                        <a:rPr lang="es-ES" sz="1800" b="0" i="0">
                          <a:solidFill>
                            <a:srgbClr val="1F2937"/>
                          </a:solidFill>
                          <a:latin typeface="Calibri"/>
                        </a:rPr>
                        <a:t>MMS, Timoshenko, Cook</a:t>
                      </a:r>
                    </a:p>
                  </a:txBody>
                  <a:tcPr marL="73152" marR="73152" marT="27432" marB="27432" anchor="ctr">
                    <a:solidFill>
                      <a:srgbClr val="FFFFFF"/>
                    </a:solidFill>
                  </a:tcPr>
                </a:tc>
                <a:tc>
                  <a:txBody>
                    <a:bodyPr/>
                    <a:lstStyle/>
                    <a:p>
                      <a:pPr algn="ctr"/>
                      <a:r>
                        <a:rPr lang="es-ES" sz="1800" b="0" i="0">
                          <a:solidFill>
                            <a:srgbClr val="1F2937"/>
                          </a:solidFill>
                          <a:latin typeface="Calibri"/>
                        </a:rPr>
                        <a:t>Cap. 3</a:t>
                      </a:r>
                    </a:p>
                  </a:txBody>
                  <a:tcPr marL="73152" marR="73152" marT="27432" marB="27432" anchor="ctr">
                    <a:solidFill>
                      <a:srgbClr val="FFFFFF"/>
                    </a:solidFill>
                  </a:tcPr>
                </a:tc>
                <a:extLst>
                  <a:ext uri="{0D108BD9-81ED-4DB2-BD59-A6C34878D82A}">
                    <a16:rowId xmlns:a16="http://schemas.microsoft.com/office/drawing/2014/main" val="10005"/>
                  </a:ext>
                </a:extLst>
              </a:tr>
              <a:tr h="512064">
                <a:tc>
                  <a:txBody>
                    <a:bodyPr/>
                    <a:lstStyle/>
                    <a:p>
                      <a:pPr algn="l"/>
                      <a:r>
                        <a:rPr lang="es-ES" sz="1800" b="1" i="0">
                          <a:solidFill>
                            <a:srgbClr val="1F2937"/>
                          </a:solidFill>
                          <a:latin typeface="Calibri"/>
                        </a:rPr>
                        <a:t>OE6 Memoria e I/O</a:t>
                      </a:r>
                    </a:p>
                  </a:txBody>
                  <a:tcPr marL="73152" marR="73152" marT="27432" marB="27432" anchor="ctr">
                    <a:solidFill>
                      <a:srgbClr val="F3F4F6"/>
                    </a:solidFill>
                  </a:tcPr>
                </a:tc>
                <a:tc>
                  <a:txBody>
                    <a:bodyPr/>
                    <a:lstStyle/>
                    <a:p>
                      <a:pPr algn="ctr"/>
                      <a:r>
                        <a:rPr lang="es-ES" sz="1800" b="0" i="0">
                          <a:solidFill>
                            <a:srgbClr val="1F2937"/>
                          </a:solidFill>
                          <a:latin typeface="Calibri"/>
                        </a:rPr>
                        <a:t>—</a:t>
                      </a:r>
                    </a:p>
                  </a:txBody>
                  <a:tcPr marL="73152" marR="73152" marT="27432" marB="27432" anchor="ctr">
                    <a:solidFill>
                      <a:srgbClr val="F3F4F6"/>
                    </a:solidFill>
                  </a:tcPr>
                </a:tc>
                <a:tc>
                  <a:txBody>
                    <a:bodyPr/>
                    <a:lstStyle/>
                    <a:p>
                      <a:pPr algn="ctr"/>
                      <a:r>
                        <a:rPr lang="es-ES" sz="1800" b="0" i="0">
                          <a:solidFill>
                            <a:srgbClr val="1F2937"/>
                          </a:solidFill>
                          <a:latin typeface="Calibri"/>
                        </a:rPr>
                        <a:t>Trazabilidad</a:t>
                      </a:r>
                    </a:p>
                  </a:txBody>
                  <a:tcPr marL="73152" marR="73152" marT="27432" marB="27432" anchor="ctr">
                    <a:solidFill>
                      <a:srgbClr val="F3F4F6"/>
                    </a:solidFill>
                  </a:tcPr>
                </a:tc>
                <a:tc>
                  <a:txBody>
                    <a:bodyPr/>
                    <a:lstStyle/>
                    <a:p>
                      <a:pPr algn="ctr"/>
                      <a:r>
                        <a:rPr lang="es-ES" sz="1800" b="0" i="0">
                          <a:solidFill>
                            <a:srgbClr val="1F2937"/>
                          </a:solidFill>
                          <a:latin typeface="Calibri"/>
                        </a:rPr>
                        <a:t>PDF; DXF y CSV</a:t>
                      </a:r>
                    </a:p>
                  </a:txBody>
                  <a:tcPr marL="73152" marR="73152" marT="27432" marB="27432" anchor="ctr">
                    <a:solidFill>
                      <a:srgbClr val="F3F4F6"/>
                    </a:solidFill>
                  </a:tcPr>
                </a:tc>
                <a:tc>
                  <a:txBody>
                    <a:bodyPr/>
                    <a:lstStyle/>
                    <a:p>
                      <a:pPr algn="ctr"/>
                      <a:r>
                        <a:rPr lang="es-ES" sz="1800" b="0" i="0">
                          <a:solidFill>
                            <a:srgbClr val="1F2937"/>
                          </a:solidFill>
                          <a:latin typeface="Calibri"/>
                        </a:rPr>
                        <a:t>Cap. 2</a:t>
                      </a:r>
                    </a:p>
                  </a:txBody>
                  <a:tcPr marL="73152" marR="73152" marT="27432" marB="27432" anchor="ctr">
                    <a:solidFill>
                      <a:srgbClr val="F3F4F6"/>
                    </a:solidFill>
                  </a:tcPr>
                </a:tc>
                <a:extLst>
                  <a:ext uri="{0D108BD9-81ED-4DB2-BD59-A6C34878D82A}">
                    <a16:rowId xmlns:a16="http://schemas.microsoft.com/office/drawing/2014/main" val="10006"/>
                  </a:ext>
                </a:extLst>
              </a:tr>
            </a:tbl>
          </a:graphicData>
        </a:graphic>
      </p:graphicFrame>
      <p:sp>
        <p:nvSpPr>
          <p:cNvPr id="6" name="Rectangle 5"/>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77240" y="5431536"/>
            <a:ext cx="10774375" cy="841248"/>
          </a:xfrm>
          <a:prstGeom prst="rect">
            <a:avLst/>
          </a:prstGeom>
          <a:noFill/>
        </p:spPr>
        <p:txBody>
          <a:bodyPr wrap="square" lIns="45720" tIns="27432" rIns="45720" bIns="27432" anchor="ctr">
            <a:noAutofit/>
          </a:bodyPr>
          <a:lstStyle/>
          <a:p>
            <a:pPr algn="l">
              <a:lnSpc>
                <a:spcPct val="100000"/>
              </a:lnSpc>
            </a:pPr>
            <a:r>
              <a:rPr lang="es-ES" sz="2200" b="1" i="0">
                <a:solidFill>
                  <a:srgbClr val="1B2A4A"/>
                </a:solidFill>
                <a:latin typeface="Calibri"/>
              </a:rPr>
              <a:t>OE1 es transversal (PI-1 a PI-3); OE6 es instrumental y no tiene pregunta asociada</a:t>
            </a:r>
          </a:p>
        </p:txBody>
      </p:sp>
      <p:sp>
        <p:nvSpPr>
          <p:cNvPr id="9" name="Rectangle 8"/>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6419088"/>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11" name="TextBox 10"/>
          <p:cNvSpPr txBox="1"/>
          <p:nvPr/>
        </p:nvSpPr>
        <p:spPr>
          <a:xfrm>
            <a:off x="4023360" y="6419088"/>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§2.1, matriz de consistencia</a:t>
            </a:r>
          </a:p>
        </p:txBody>
      </p:sp>
      <p:sp>
        <p:nvSpPr>
          <p:cNvPr id="12" name="TextBox 11"/>
          <p:cNvSpPr txBox="1"/>
          <p:nvPr/>
        </p:nvSpPr>
        <p:spPr>
          <a:xfrm>
            <a:off x="10545775" y="6419088"/>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15</a:t>
            </a:fld>
            <a:endParaRPr lang="es-ES" sz="1200" dirty="0">
              <a:solidFill>
                <a:srgbClr val="5B6575"/>
              </a:solidFill>
              <a:latin typeface="Calibri"/>
            </a:endParaRPr>
          </a:p>
        </p:txBody>
      </p:sp>
      <p:pic>
        <p:nvPicPr>
          <p:cNvPr id="13" name="s15">
            <a:hlinkClick r:id="" action="ppaction://media"/>
            <a:extLst>
              <a:ext uri="{FF2B5EF4-FFF2-40B4-BE49-F238E27FC236}">
                <a16:creationId xmlns:a16="http://schemas.microsoft.com/office/drawing/2014/main" id="{F840B317-1BDD-1921-39D9-E2DF0E61617D}"/>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9116"/>
    </mc:Choice>
    <mc:Fallback>
      <p:transition spd="slow" advTm="2911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168335" cy="868680"/>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Procedimiento de verificación y validación</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noAutofit/>
          </a:bodyPr>
          <a:lstStyle/>
          <a:p>
            <a:pPr algn="ctr">
              <a:lnSpc>
                <a:spcPct val="100000"/>
              </a:lnSpc>
            </a:pPr>
            <a:r>
              <a:rPr lang="es-ES" sz="1300" b="1" i="0">
                <a:solidFill>
                  <a:srgbClr val="1B2A4A"/>
                </a:solidFill>
                <a:latin typeface="Calibri"/>
              </a:rPr>
              <a:t>3  ·  Diseño y desarrollo del modelo</a:t>
            </a:r>
          </a:p>
        </p:txBody>
      </p:sp>
      <p:sp>
        <p:nvSpPr>
          <p:cNvPr id="5" name="Rounded Rectangle 4"/>
          <p:cNvSpPr/>
          <p:nvPr/>
        </p:nvSpPr>
        <p:spPr>
          <a:xfrm>
            <a:off x="548640" y="2702052"/>
            <a:ext cx="1736079"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640" y="2793492"/>
            <a:ext cx="1736079" cy="731520"/>
          </a:xfrm>
          <a:prstGeom prst="rect">
            <a:avLst/>
          </a:prstGeom>
          <a:noFill/>
        </p:spPr>
        <p:txBody>
          <a:bodyPr wrap="square" lIns="73152" tIns="18288" rIns="73152" bIns="18288" anchor="t">
            <a:noAutofit/>
          </a:bodyPr>
          <a:lstStyle/>
          <a:p>
            <a:pPr algn="ctr">
              <a:lnSpc>
                <a:spcPct val="100000"/>
              </a:lnSpc>
            </a:pPr>
            <a:r>
              <a:rPr lang="es-ES" sz="1700" b="1" i="0">
                <a:solidFill>
                  <a:srgbClr val="FFFFFF"/>
                </a:solidFill>
                <a:latin typeface="Calibri"/>
              </a:rPr>
              <a:t>Guion del caso</a:t>
            </a:r>
          </a:p>
        </p:txBody>
      </p:sp>
      <p:sp>
        <p:nvSpPr>
          <p:cNvPr id="7" name="TextBox 6"/>
          <p:cNvSpPr txBox="1"/>
          <p:nvPr/>
        </p:nvSpPr>
        <p:spPr>
          <a:xfrm>
            <a:off x="548640" y="3552444"/>
            <a:ext cx="1736079" cy="502920"/>
          </a:xfrm>
          <a:prstGeom prst="rect">
            <a:avLst/>
          </a:prstGeom>
          <a:noFill/>
        </p:spPr>
        <p:txBody>
          <a:bodyPr wrap="square" lIns="73152" tIns="18288" rIns="73152" bIns="54864" anchor="b">
            <a:noAutofit/>
          </a:bodyPr>
          <a:lstStyle/>
          <a:p>
            <a:pPr algn="ctr">
              <a:lnSpc>
                <a:spcPct val="100000"/>
              </a:lnSpc>
            </a:pPr>
            <a:r>
              <a:rPr lang="es-ES" sz="1300" b="0" i="0">
                <a:solidFill>
                  <a:srgbClr val="C7D2E8"/>
                </a:solidFill>
                <a:latin typeface="Calibri"/>
              </a:rPr>
              <a:t>malla, material, cargas, apoyos</a:t>
            </a:r>
          </a:p>
        </p:txBody>
      </p:sp>
      <p:sp>
        <p:nvSpPr>
          <p:cNvPr id="8" name="Right Arrow 7"/>
          <p:cNvSpPr/>
          <p:nvPr/>
        </p:nvSpPr>
        <p:spPr>
          <a:xfrm>
            <a:off x="2394447" y="326440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888223" y="2702052"/>
            <a:ext cx="1736079"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2888223" y="2793492"/>
            <a:ext cx="1736079" cy="731520"/>
          </a:xfrm>
          <a:prstGeom prst="rect">
            <a:avLst/>
          </a:prstGeom>
          <a:noFill/>
        </p:spPr>
        <p:txBody>
          <a:bodyPr wrap="square" lIns="73152" tIns="18288" rIns="73152" bIns="18288" anchor="t">
            <a:noAutofit/>
          </a:bodyPr>
          <a:lstStyle/>
          <a:p>
            <a:pPr algn="ctr">
              <a:lnSpc>
                <a:spcPct val="100000"/>
              </a:lnSpc>
            </a:pPr>
            <a:r>
              <a:rPr lang="es-ES" sz="1700" b="1" i="0">
                <a:solidFill>
                  <a:srgbClr val="FFFFFF"/>
                </a:solidFill>
                <a:latin typeface="Calibri"/>
              </a:rPr>
              <a:t>Validador de salud</a:t>
            </a:r>
          </a:p>
        </p:txBody>
      </p:sp>
      <p:sp>
        <p:nvSpPr>
          <p:cNvPr id="11" name="TextBox 10"/>
          <p:cNvSpPr txBox="1"/>
          <p:nvPr/>
        </p:nvSpPr>
        <p:spPr>
          <a:xfrm>
            <a:off x="2888223" y="3552444"/>
            <a:ext cx="1736079" cy="502920"/>
          </a:xfrm>
          <a:prstGeom prst="rect">
            <a:avLst/>
          </a:prstGeom>
          <a:noFill/>
        </p:spPr>
        <p:txBody>
          <a:bodyPr wrap="square" lIns="73152" tIns="18288" rIns="73152" bIns="54864" anchor="b">
            <a:noAutofit/>
          </a:bodyPr>
          <a:lstStyle/>
          <a:p>
            <a:pPr algn="ctr">
              <a:lnSpc>
                <a:spcPct val="100000"/>
              </a:lnSpc>
            </a:pPr>
            <a:r>
              <a:rPr lang="es-ES" sz="1300" b="0" i="0">
                <a:solidFill>
                  <a:srgbClr val="C7D2E8"/>
                </a:solidFill>
                <a:latin typeface="Calibri"/>
              </a:rPr>
              <a:t>det J &gt; 0, sin cuerpo rígido</a:t>
            </a:r>
          </a:p>
        </p:txBody>
      </p:sp>
      <p:sp>
        <p:nvSpPr>
          <p:cNvPr id="12" name="Right Arrow 11"/>
          <p:cNvSpPr/>
          <p:nvPr/>
        </p:nvSpPr>
        <p:spPr>
          <a:xfrm>
            <a:off x="4734031" y="326440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227807" y="2702052"/>
            <a:ext cx="1736079"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227807" y="2793492"/>
            <a:ext cx="1736079" cy="731520"/>
          </a:xfrm>
          <a:prstGeom prst="rect">
            <a:avLst/>
          </a:prstGeom>
          <a:noFill/>
        </p:spPr>
        <p:txBody>
          <a:bodyPr wrap="square" lIns="73152" tIns="18288" rIns="73152" bIns="18288" anchor="t">
            <a:noAutofit/>
          </a:bodyPr>
          <a:lstStyle/>
          <a:p>
            <a:pPr algn="ctr">
              <a:lnSpc>
                <a:spcPct val="100000"/>
              </a:lnSpc>
            </a:pPr>
            <a:r>
              <a:rPr lang="es-ES" sz="2000" b="1" i="0">
                <a:solidFill>
                  <a:srgbClr val="FFFFFF"/>
                </a:solidFill>
                <a:latin typeface="Calibri"/>
              </a:rPr>
              <a:t>Mismo motor</a:t>
            </a:r>
          </a:p>
        </p:txBody>
      </p:sp>
      <p:sp>
        <p:nvSpPr>
          <p:cNvPr id="15" name="TextBox 14"/>
          <p:cNvSpPr txBox="1"/>
          <p:nvPr/>
        </p:nvSpPr>
        <p:spPr>
          <a:xfrm>
            <a:off x="5227807" y="3552444"/>
            <a:ext cx="1736079" cy="502920"/>
          </a:xfrm>
          <a:prstGeom prst="rect">
            <a:avLst/>
          </a:prstGeom>
          <a:noFill/>
        </p:spPr>
        <p:txBody>
          <a:bodyPr wrap="square" lIns="73152" tIns="18288" rIns="73152" bIns="54864" anchor="b">
            <a:noAutofit/>
          </a:bodyPr>
          <a:lstStyle/>
          <a:p>
            <a:pPr algn="ctr">
              <a:lnSpc>
                <a:spcPct val="100000"/>
              </a:lnSpc>
            </a:pPr>
            <a:r>
              <a:rPr lang="es-ES" sz="1300" b="0" i="0">
                <a:solidFill>
                  <a:srgbClr val="C7D2E8"/>
                </a:solidFill>
                <a:latin typeface="Calibri"/>
              </a:rPr>
              <a:t>el que usan módulos y memoria</a:t>
            </a:r>
          </a:p>
        </p:txBody>
      </p:sp>
      <p:sp>
        <p:nvSpPr>
          <p:cNvPr id="16" name="Right Arrow 15"/>
          <p:cNvSpPr/>
          <p:nvPr/>
        </p:nvSpPr>
        <p:spPr>
          <a:xfrm>
            <a:off x="7073615" y="326440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567391" y="2702052"/>
            <a:ext cx="1736079"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567391" y="2793492"/>
            <a:ext cx="1736079" cy="731520"/>
          </a:xfrm>
          <a:prstGeom prst="rect">
            <a:avLst/>
          </a:prstGeom>
          <a:noFill/>
        </p:spPr>
        <p:txBody>
          <a:bodyPr wrap="square" lIns="73152" tIns="18288" rIns="73152" bIns="18288" anchor="t">
            <a:noAutofit/>
          </a:bodyPr>
          <a:lstStyle/>
          <a:p>
            <a:pPr algn="ctr">
              <a:lnSpc>
                <a:spcPct val="100000"/>
              </a:lnSpc>
            </a:pPr>
            <a:r>
              <a:rPr lang="es-ES" sz="1700" b="1" i="0">
                <a:solidFill>
                  <a:srgbClr val="FFFFFF"/>
                </a:solidFill>
                <a:latin typeface="Calibri"/>
              </a:rPr>
              <a:t>Normas L², H¹, σ*</a:t>
            </a:r>
          </a:p>
        </p:txBody>
      </p:sp>
      <p:sp>
        <p:nvSpPr>
          <p:cNvPr id="19" name="TextBox 18"/>
          <p:cNvSpPr txBox="1"/>
          <p:nvPr/>
        </p:nvSpPr>
        <p:spPr>
          <a:xfrm>
            <a:off x="7567391" y="3552444"/>
            <a:ext cx="1736079" cy="502920"/>
          </a:xfrm>
          <a:prstGeom prst="rect">
            <a:avLst/>
          </a:prstGeom>
          <a:noFill/>
        </p:spPr>
        <p:txBody>
          <a:bodyPr wrap="square" lIns="73152" tIns="18288" rIns="73152" bIns="54864" anchor="b">
            <a:noAutofit/>
          </a:bodyPr>
          <a:lstStyle/>
          <a:p>
            <a:pPr algn="ctr">
              <a:lnSpc>
                <a:spcPct val="100000"/>
              </a:lnSpc>
            </a:pPr>
            <a:r>
              <a:rPr lang="es-ES" sz="1300" b="0" i="0">
                <a:solidFill>
                  <a:srgbClr val="C7D2E8"/>
                </a:solidFill>
                <a:latin typeface="Calibri"/>
              </a:rPr>
              <a:t>un punto de Gauss más</a:t>
            </a:r>
          </a:p>
        </p:txBody>
      </p:sp>
      <p:sp>
        <p:nvSpPr>
          <p:cNvPr id="20" name="Right Arrow 19"/>
          <p:cNvSpPr/>
          <p:nvPr/>
        </p:nvSpPr>
        <p:spPr>
          <a:xfrm>
            <a:off x="9413199" y="326440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906975" y="2702052"/>
            <a:ext cx="1736079"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9906975" y="2793492"/>
            <a:ext cx="1736079" cy="731520"/>
          </a:xfrm>
          <a:prstGeom prst="rect">
            <a:avLst/>
          </a:prstGeom>
          <a:noFill/>
        </p:spPr>
        <p:txBody>
          <a:bodyPr wrap="square" lIns="73152" tIns="18288" rIns="73152" bIns="18288" anchor="t">
            <a:noAutofit/>
          </a:bodyPr>
          <a:lstStyle/>
          <a:p>
            <a:pPr algn="ctr">
              <a:lnSpc>
                <a:spcPct val="100000"/>
              </a:lnSpc>
            </a:pPr>
            <a:r>
              <a:rPr lang="es-ES" sz="1700" b="1" i="0">
                <a:solidFill>
                  <a:srgbClr val="FFFFFF"/>
                </a:solidFill>
                <a:latin typeface="Calibri"/>
              </a:rPr>
              <a:t>CSV + criterios</a:t>
            </a:r>
          </a:p>
        </p:txBody>
      </p:sp>
      <p:sp>
        <p:nvSpPr>
          <p:cNvPr id="23" name="TextBox 22"/>
          <p:cNvSpPr txBox="1"/>
          <p:nvPr/>
        </p:nvSpPr>
        <p:spPr>
          <a:xfrm>
            <a:off x="9906975" y="3552444"/>
            <a:ext cx="1736079" cy="502920"/>
          </a:xfrm>
          <a:prstGeom prst="rect">
            <a:avLst/>
          </a:prstGeom>
          <a:noFill/>
        </p:spPr>
        <p:txBody>
          <a:bodyPr wrap="square" lIns="73152" tIns="18288" rIns="73152" bIns="54864" anchor="b">
            <a:noAutofit/>
          </a:bodyPr>
          <a:lstStyle/>
          <a:p>
            <a:pPr algn="ctr">
              <a:lnSpc>
                <a:spcPct val="100000"/>
              </a:lnSpc>
            </a:pPr>
            <a:r>
              <a:rPr lang="es-ES" sz="1300" b="0" i="0">
                <a:solidFill>
                  <a:srgbClr val="C7D2E8"/>
                </a:solidFill>
                <a:latin typeface="Calibri"/>
              </a:rPr>
              <a:t>el guion falla si no cumple</a:t>
            </a:r>
          </a:p>
        </p:txBody>
      </p:sp>
      <p:sp>
        <p:nvSpPr>
          <p:cNvPr id="24" name="Rectangle 23"/>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777240" y="5431536"/>
            <a:ext cx="10774375"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Casos por valor probatorio: MMS (solución exacta), Timoshenko (analítica y SAP2000), Cook (referencia histórica)</a:t>
            </a:r>
          </a:p>
        </p:txBody>
      </p:sp>
      <p:sp>
        <p:nvSpPr>
          <p:cNvPr id="27" name="Rectangle 26"/>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548640" y="6419088"/>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9" name="TextBox 28"/>
          <p:cNvSpPr txBox="1"/>
          <p:nvPr/>
        </p:nvSpPr>
        <p:spPr>
          <a:xfrm>
            <a:off x="4023360" y="6419088"/>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§2.1, casos de estudio, procedimiento e instrumentos</a:t>
            </a:r>
          </a:p>
        </p:txBody>
      </p:sp>
      <p:sp>
        <p:nvSpPr>
          <p:cNvPr id="30" name="TextBox 29"/>
          <p:cNvSpPr txBox="1"/>
          <p:nvPr/>
        </p:nvSpPr>
        <p:spPr>
          <a:xfrm>
            <a:off x="10545775" y="6419088"/>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16</a:t>
            </a:fld>
            <a:endParaRPr lang="es-ES" sz="1200" dirty="0">
              <a:solidFill>
                <a:srgbClr val="5B6575"/>
              </a:solidFill>
              <a:latin typeface="Calibri"/>
            </a:endParaRPr>
          </a:p>
        </p:txBody>
      </p:sp>
      <p:pic>
        <p:nvPicPr>
          <p:cNvPr id="31" name="s16">
            <a:hlinkClick r:id="" action="ppaction://media"/>
            <a:extLst>
              <a:ext uri="{FF2B5EF4-FFF2-40B4-BE49-F238E27FC236}">
                <a16:creationId xmlns:a16="http://schemas.microsoft.com/office/drawing/2014/main" id="{16230168-EF26-DFFC-F36E-EDA90AE127F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924"/>
    </mc:Choice>
    <mc:Fallback>
      <p:transition spd="slow" advTm="5292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31"/>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168335" cy="868680"/>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Criterios de aceptación fijados a priori</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noAutofit/>
          </a:bodyPr>
          <a:lstStyle/>
          <a:p>
            <a:pPr algn="ctr">
              <a:lnSpc>
                <a:spcPct val="100000"/>
              </a:lnSpc>
            </a:pPr>
            <a:r>
              <a:rPr lang="es-ES" sz="1300" b="1" i="0">
                <a:solidFill>
                  <a:srgbClr val="1B2A4A"/>
                </a:solidFill>
                <a:latin typeface="Calibri"/>
              </a:rPr>
              <a:t>3  ·  Diseño y desarrollo del modelo</a:t>
            </a:r>
          </a:p>
        </p:txBody>
      </p:sp>
      <p:sp>
        <p:nvSpPr>
          <p:cNvPr id="5" name="Rounded Rectangle 4"/>
          <p:cNvSpPr/>
          <p:nvPr/>
        </p:nvSpPr>
        <p:spPr>
          <a:xfrm>
            <a:off x="548640" y="1901952"/>
            <a:ext cx="2567863" cy="3017520"/>
          </a:xfrm>
          <a:prstGeom prst="roundRect">
            <a:avLst>
              <a:gd name="adj" fmla="val 7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777240" y="2176272"/>
            <a:ext cx="548640" cy="6400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31520" y="2313432"/>
            <a:ext cx="2202103" cy="1005840"/>
          </a:xfrm>
          <a:prstGeom prst="rect">
            <a:avLst/>
          </a:prstGeom>
          <a:noFill/>
        </p:spPr>
        <p:txBody>
          <a:bodyPr wrap="square" lIns="45720" tIns="27432" rIns="45720" bIns="27432" anchor="ctr">
            <a:noAutofit/>
          </a:bodyPr>
          <a:lstStyle/>
          <a:p>
            <a:pPr algn="l">
              <a:lnSpc>
                <a:spcPct val="105000"/>
              </a:lnSpc>
            </a:pPr>
            <a:r>
              <a:rPr lang="es-ES" sz="4400" b="1" i="0">
                <a:solidFill>
                  <a:srgbClr val="1B2A4A"/>
                </a:solidFill>
                <a:latin typeface="Calibri"/>
              </a:rPr>
              <a:t>± 0,5</a:t>
            </a:r>
          </a:p>
        </p:txBody>
      </p:sp>
      <p:sp>
        <p:nvSpPr>
          <p:cNvPr id="8" name="TextBox 7"/>
          <p:cNvSpPr txBox="1"/>
          <p:nvPr/>
        </p:nvSpPr>
        <p:spPr>
          <a:xfrm>
            <a:off x="731520" y="3364992"/>
            <a:ext cx="2202103" cy="1417319"/>
          </a:xfrm>
          <a:prstGeom prst="rect">
            <a:avLst/>
          </a:prstGeom>
          <a:noFill/>
        </p:spPr>
        <p:txBody>
          <a:bodyPr wrap="square" lIns="45720" tIns="27432" rIns="45720" bIns="27432" anchor="t">
            <a:noAutofit/>
          </a:bodyPr>
          <a:lstStyle/>
          <a:p>
            <a:pPr algn="l">
              <a:lnSpc>
                <a:spcPct val="110000"/>
              </a:lnSpc>
            </a:pPr>
            <a:r>
              <a:rPr lang="es-ES" sz="1800" b="0" i="0">
                <a:solidFill>
                  <a:srgbClr val="5B6575"/>
                </a:solidFill>
                <a:latin typeface="Calibri"/>
              </a:rPr>
              <a:t>tasas MMS frente a las teóricas, cuatro configuraciones</a:t>
            </a:r>
          </a:p>
        </p:txBody>
      </p:sp>
      <p:sp>
        <p:nvSpPr>
          <p:cNvPr id="9" name="Rounded Rectangle 8"/>
          <p:cNvSpPr/>
          <p:nvPr/>
        </p:nvSpPr>
        <p:spPr>
          <a:xfrm>
            <a:off x="3390823" y="1901952"/>
            <a:ext cx="2567863" cy="3017520"/>
          </a:xfrm>
          <a:prstGeom prst="roundRect">
            <a:avLst>
              <a:gd name="adj" fmla="val 7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3619423" y="2176272"/>
            <a:ext cx="548640" cy="6400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3573703" y="2313432"/>
            <a:ext cx="2202103" cy="1005840"/>
          </a:xfrm>
          <a:prstGeom prst="rect">
            <a:avLst/>
          </a:prstGeom>
          <a:noFill/>
        </p:spPr>
        <p:txBody>
          <a:bodyPr wrap="square" lIns="45720" tIns="27432" rIns="45720" bIns="27432" anchor="ctr">
            <a:noAutofit/>
          </a:bodyPr>
          <a:lstStyle/>
          <a:p>
            <a:pPr algn="l">
              <a:lnSpc>
                <a:spcPct val="105000"/>
              </a:lnSpc>
            </a:pPr>
            <a:r>
              <a:rPr lang="es-ES" sz="4400" b="1" i="0">
                <a:solidFill>
                  <a:srgbClr val="1B2A4A"/>
                </a:solidFill>
                <a:latin typeface="Calibri"/>
              </a:rPr>
              <a:t>3 %</a:t>
            </a:r>
          </a:p>
        </p:txBody>
      </p:sp>
      <p:sp>
        <p:nvSpPr>
          <p:cNvPr id="12" name="TextBox 11"/>
          <p:cNvSpPr txBox="1"/>
          <p:nvPr/>
        </p:nvSpPr>
        <p:spPr>
          <a:xfrm>
            <a:off x="3573703" y="3364992"/>
            <a:ext cx="2202103" cy="1417319"/>
          </a:xfrm>
          <a:prstGeom prst="rect">
            <a:avLst/>
          </a:prstGeom>
          <a:noFill/>
        </p:spPr>
        <p:txBody>
          <a:bodyPr wrap="square" lIns="45720" tIns="27432" rIns="45720" bIns="27432" anchor="t">
            <a:noAutofit/>
          </a:bodyPr>
          <a:lstStyle/>
          <a:p>
            <a:pPr algn="l">
              <a:lnSpc>
                <a:spcPct val="110000"/>
              </a:lnSpc>
            </a:pPr>
            <a:r>
              <a:rPr lang="es-ES" sz="1800" b="0" i="0">
                <a:solidFill>
                  <a:srgbClr val="5B6575"/>
                </a:solidFill>
                <a:latin typeface="Calibri"/>
              </a:rPr>
              <a:t>flecha de Timoshenko frente a la analítica</a:t>
            </a:r>
          </a:p>
        </p:txBody>
      </p:sp>
      <p:sp>
        <p:nvSpPr>
          <p:cNvPr id="13" name="Rounded Rectangle 12"/>
          <p:cNvSpPr/>
          <p:nvPr/>
        </p:nvSpPr>
        <p:spPr>
          <a:xfrm>
            <a:off x="6233007" y="1901952"/>
            <a:ext cx="2567863" cy="3017520"/>
          </a:xfrm>
          <a:prstGeom prst="roundRect">
            <a:avLst>
              <a:gd name="adj" fmla="val 7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6461607" y="2176272"/>
            <a:ext cx="548640" cy="6400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415887" y="2313432"/>
            <a:ext cx="2202103" cy="1005840"/>
          </a:xfrm>
          <a:prstGeom prst="rect">
            <a:avLst/>
          </a:prstGeom>
          <a:noFill/>
        </p:spPr>
        <p:txBody>
          <a:bodyPr wrap="square" lIns="45720" tIns="27432" rIns="45720" bIns="27432" anchor="ctr">
            <a:noAutofit/>
          </a:bodyPr>
          <a:lstStyle/>
          <a:p>
            <a:pPr algn="l">
              <a:lnSpc>
                <a:spcPct val="105000"/>
              </a:lnSpc>
            </a:pPr>
            <a:r>
              <a:rPr lang="es-ES" sz="4400" b="1" i="0">
                <a:solidFill>
                  <a:srgbClr val="1B2A4A"/>
                </a:solidFill>
                <a:latin typeface="Calibri"/>
              </a:rPr>
              <a:t>1,5 %</a:t>
            </a:r>
          </a:p>
        </p:txBody>
      </p:sp>
      <p:sp>
        <p:nvSpPr>
          <p:cNvPr id="16" name="TextBox 15"/>
          <p:cNvSpPr txBox="1"/>
          <p:nvPr/>
        </p:nvSpPr>
        <p:spPr>
          <a:xfrm>
            <a:off x="6415887" y="3364992"/>
            <a:ext cx="2202103" cy="1417319"/>
          </a:xfrm>
          <a:prstGeom prst="rect">
            <a:avLst/>
          </a:prstGeom>
          <a:noFill/>
        </p:spPr>
        <p:txBody>
          <a:bodyPr wrap="square" lIns="45720" tIns="27432" rIns="45720" bIns="27432" anchor="t">
            <a:noAutofit/>
          </a:bodyPr>
          <a:lstStyle/>
          <a:p>
            <a:pPr algn="l">
              <a:lnSpc>
                <a:spcPct val="110000"/>
              </a:lnSpc>
            </a:pPr>
            <a:r>
              <a:rPr lang="es-ES" sz="1800" b="0" i="0">
                <a:solidFill>
                  <a:srgbClr val="5B6575"/>
                </a:solidFill>
                <a:latin typeface="Calibri"/>
              </a:rPr>
              <a:t>Cook: Q9 con N = 8 frente a 23,96</a:t>
            </a:r>
          </a:p>
        </p:txBody>
      </p:sp>
      <p:sp>
        <p:nvSpPr>
          <p:cNvPr id="17" name="Rounded Rectangle 16"/>
          <p:cNvSpPr/>
          <p:nvPr/>
        </p:nvSpPr>
        <p:spPr>
          <a:xfrm>
            <a:off x="9075191" y="1901952"/>
            <a:ext cx="2567863" cy="3017520"/>
          </a:xfrm>
          <a:prstGeom prst="roundRect">
            <a:avLst>
              <a:gd name="adj" fmla="val 7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9303791" y="2176272"/>
            <a:ext cx="548640" cy="6400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9258071" y="2313432"/>
            <a:ext cx="2202103" cy="1005840"/>
          </a:xfrm>
          <a:prstGeom prst="rect">
            <a:avLst/>
          </a:prstGeom>
          <a:noFill/>
        </p:spPr>
        <p:txBody>
          <a:bodyPr wrap="square" lIns="45720" tIns="27432" rIns="45720" bIns="27432" anchor="ctr">
            <a:noAutofit/>
          </a:bodyPr>
          <a:lstStyle/>
          <a:p>
            <a:pPr algn="l">
              <a:lnSpc>
                <a:spcPct val="105000"/>
              </a:lnSpc>
            </a:pPr>
            <a:r>
              <a:rPr lang="es-ES" sz="2800" b="1" i="0">
                <a:solidFill>
                  <a:srgbClr val="1B2A4A"/>
                </a:solidFill>
                <a:latin typeface="Calibri"/>
              </a:rPr>
              <a:t>u(Q4) &lt; u(Q9)</a:t>
            </a:r>
          </a:p>
        </p:txBody>
      </p:sp>
      <p:sp>
        <p:nvSpPr>
          <p:cNvPr id="20" name="TextBox 19"/>
          <p:cNvSpPr txBox="1"/>
          <p:nvPr/>
        </p:nvSpPr>
        <p:spPr>
          <a:xfrm>
            <a:off x="9258071" y="3364992"/>
            <a:ext cx="2202103" cy="1417319"/>
          </a:xfrm>
          <a:prstGeom prst="rect">
            <a:avLst/>
          </a:prstGeom>
          <a:noFill/>
        </p:spPr>
        <p:txBody>
          <a:bodyPr wrap="square" lIns="45720" tIns="27432" rIns="45720" bIns="27432" anchor="t">
            <a:noAutofit/>
          </a:bodyPr>
          <a:lstStyle/>
          <a:p>
            <a:pPr algn="l">
              <a:lnSpc>
                <a:spcPct val="110000"/>
              </a:lnSpc>
            </a:pPr>
            <a:r>
              <a:rPr lang="es-ES" sz="1800" b="0" i="0">
                <a:solidFill>
                  <a:srgbClr val="5B6575"/>
                </a:solidFill>
                <a:latin typeface="Calibri"/>
              </a:rPr>
              <a:t>a igual malla: firma del bloqueo por cortante</a:t>
            </a:r>
          </a:p>
        </p:txBody>
      </p:sp>
      <p:sp>
        <p:nvSpPr>
          <p:cNvPr id="21" name="Rectangle 20"/>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77240" y="5431536"/>
            <a:ext cx="10774375"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Los guiones los evalúan automáticamente y terminan con error si alguno falla: la hipótesis se contrasta por diseño</a:t>
            </a:r>
          </a:p>
        </p:txBody>
      </p:sp>
      <p:sp>
        <p:nvSpPr>
          <p:cNvPr id="24" name="Rectangle 23"/>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48640" y="6419088"/>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6" name="TextBox 25"/>
          <p:cNvSpPr txBox="1"/>
          <p:nvPr/>
        </p:nvSpPr>
        <p:spPr>
          <a:xfrm>
            <a:off x="4023360" y="6419088"/>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§2.1, criterios de aceptación y contraste de la hipótesis</a:t>
            </a:r>
          </a:p>
        </p:txBody>
      </p:sp>
      <p:sp>
        <p:nvSpPr>
          <p:cNvPr id="27" name="TextBox 26"/>
          <p:cNvSpPr txBox="1"/>
          <p:nvPr/>
        </p:nvSpPr>
        <p:spPr>
          <a:xfrm>
            <a:off x="10545775" y="6419088"/>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17</a:t>
            </a:fld>
            <a:endParaRPr lang="es-ES" sz="1200" dirty="0">
              <a:solidFill>
                <a:srgbClr val="5B6575"/>
              </a:solidFill>
              <a:latin typeface="Calibri"/>
            </a:endParaRPr>
          </a:p>
        </p:txBody>
      </p:sp>
      <p:pic>
        <p:nvPicPr>
          <p:cNvPr id="28" name="s17">
            <a:hlinkClick r:id="" action="ppaction://media"/>
            <a:extLst>
              <a:ext uri="{FF2B5EF4-FFF2-40B4-BE49-F238E27FC236}">
                <a16:creationId xmlns:a16="http://schemas.microsoft.com/office/drawing/2014/main" id="{90B13BDD-61F2-FE63-FD86-77A3AED92380}"/>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148"/>
    </mc:Choice>
    <mc:Fallback>
      <p:transition spd="slow" advTm="3914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8"/>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168335" cy="868680"/>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Arquitectura: seis capas, un modelo</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noAutofit/>
          </a:bodyPr>
          <a:lstStyle/>
          <a:p>
            <a:pPr algn="ctr">
              <a:lnSpc>
                <a:spcPct val="100000"/>
              </a:lnSpc>
            </a:pPr>
            <a:r>
              <a:rPr lang="es-ES" sz="1300" b="1" i="0">
                <a:solidFill>
                  <a:srgbClr val="1B2A4A"/>
                </a:solidFill>
                <a:latin typeface="Calibri"/>
              </a:rPr>
              <a:t>3  ·  Diseño y desarrollo del modelo</a:t>
            </a:r>
          </a:p>
        </p:txBody>
      </p:sp>
      <p:sp>
        <p:nvSpPr>
          <p:cNvPr id="5" name="TextBox 4"/>
          <p:cNvSpPr txBox="1"/>
          <p:nvPr/>
        </p:nvSpPr>
        <p:spPr>
          <a:xfrm>
            <a:off x="594360" y="1527048"/>
            <a:ext cx="5257800" cy="4700016"/>
          </a:xfrm>
          <a:prstGeom prst="rect">
            <a:avLst/>
          </a:prstGeom>
          <a:noFill/>
        </p:spPr>
        <p:txBody>
          <a:bodyPr wrap="square" lIns="45720" tIns="27432" rIns="45720" bIns="27432" anchor="ctr">
            <a:noAutofit/>
          </a:bodyPr>
          <a:lstStyle/>
          <a:p>
            <a:pPr marL="347472" indent="-347472">
              <a:lnSpc>
                <a:spcPct val="112000"/>
              </a:lnSpc>
              <a:spcAft>
                <a:spcPts val="1200"/>
              </a:spcAft>
              <a:buClr>
                <a:srgbClr val="F28C28"/>
              </a:buClr>
              <a:buSzPct val="100000"/>
              <a:buFont typeface="Arial"/>
              <a:buChar char="•"/>
            </a:pPr>
            <a:r>
              <a:rPr lang="es-ES" sz="2400" b="1" i="0">
                <a:solidFill>
                  <a:srgbClr val="1B2A4A"/>
                </a:solidFill>
                <a:latin typeface="Calibri"/>
              </a:rPr>
              <a:t>Python libre:</a:t>
            </a:r>
            <a:r>
              <a:rPr lang="es-ES" sz="2400" b="0" i="0">
                <a:solidFill>
                  <a:srgbClr val="1F2937"/>
                </a:solidFill>
                <a:latin typeface="Calibri"/>
              </a:rPr>
              <a:t> tkinter y ttkbootstrap, NumPy y SciPy</a:t>
            </a:r>
          </a:p>
          <a:p>
            <a:pPr marL="347472" indent="-347472">
              <a:lnSpc>
                <a:spcPct val="112000"/>
              </a:lnSpc>
              <a:spcAft>
                <a:spcPts val="1200"/>
              </a:spcAft>
              <a:buClr>
                <a:srgbClr val="F28C28"/>
              </a:buClr>
              <a:buSzPct val="100000"/>
              <a:buFont typeface="Arial"/>
              <a:buChar char="•"/>
            </a:pPr>
            <a:r>
              <a:rPr lang="es-ES" sz="2400" b="0" i="0">
                <a:solidFill>
                  <a:srgbClr val="1F2937"/>
                </a:solidFill>
                <a:latin typeface="Calibri"/>
              </a:rPr>
              <a:t>ProjectModel compartido por referencia: el estado que todas las capas mutan</a:t>
            </a:r>
          </a:p>
          <a:p>
            <a:pPr marL="347472" indent="-347472">
              <a:lnSpc>
                <a:spcPct val="112000"/>
              </a:lnSpc>
              <a:spcAft>
                <a:spcPts val="1200"/>
              </a:spcAft>
              <a:buClr>
                <a:srgbClr val="F28C28"/>
              </a:buClr>
              <a:buSzPct val="100000"/>
              <a:buFont typeface="Arial"/>
              <a:buChar char="•"/>
            </a:pPr>
            <a:r>
              <a:rPr lang="es-ES" sz="2400" b="1" i="0">
                <a:solidFill>
                  <a:srgbClr val="1B2A4A"/>
                </a:solidFill>
                <a:latin typeface="Calibri"/>
              </a:rPr>
              <a:t>fem/ es puro:</a:t>
            </a:r>
            <a:r>
              <a:rPr lang="es-ES" sz="2400" b="0" i="0">
                <a:solidFill>
                  <a:srgbClr val="1F2937"/>
                </a:solidFill>
                <a:latin typeface="Calibri"/>
              </a:rPr>
              <a:t> sin tkinter ni matplotlib, corre sin pantalla</a:t>
            </a:r>
          </a:p>
          <a:p>
            <a:pPr marL="347472" indent="-347472">
              <a:lnSpc>
                <a:spcPct val="112000"/>
              </a:lnSpc>
              <a:spcAft>
                <a:spcPts val="1200"/>
              </a:spcAft>
              <a:buClr>
                <a:srgbClr val="F28C28"/>
              </a:buClr>
              <a:buSzPct val="100000"/>
              <a:buFont typeface="Arial"/>
              <a:buChar char="•"/>
            </a:pPr>
            <a:r>
              <a:rPr lang="es-ES" sz="2400" b="1" i="0">
                <a:solidFill>
                  <a:srgbClr val="1B2A4A"/>
                </a:solidFill>
                <a:latin typeface="Calibri"/>
              </a:rPr>
              <a:t>GDL por índice ordinal:</a:t>
            </a:r>
            <a:r>
              <a:rPr lang="es-ES" sz="2400" b="0" i="0">
                <a:solidFill>
                  <a:srgbClr val="1F2937"/>
                </a:solidFill>
                <a:latin typeface="Calibri"/>
              </a:rPr>
              <a:t> K se dimensiona 2N, no 2·máx(id de nodo)</a:t>
            </a:r>
          </a:p>
        </p:txBody>
      </p:sp>
      <p:pic>
        <p:nvPicPr>
          <p:cNvPr id="6" name="Picture 5" descr="fig_arquitectura.png"/>
          <p:cNvPicPr>
            <a:picLocks noChangeAspect="1"/>
          </p:cNvPicPr>
          <p:nvPr/>
        </p:nvPicPr>
        <p:blipFill>
          <a:blip r:embed="rId5"/>
          <a:stretch>
            <a:fillRect/>
          </a:stretch>
        </p:blipFill>
        <p:spPr>
          <a:xfrm>
            <a:off x="6217920" y="1761448"/>
            <a:ext cx="5425135" cy="3682575"/>
          </a:xfrm>
          <a:prstGeom prst="rect">
            <a:avLst/>
          </a:prstGeom>
          <a:ln w="9525">
            <a:solidFill>
              <a:srgbClr val="D1D5DB"/>
            </a:solidFill>
          </a:ln>
        </p:spPr>
      </p:pic>
      <p:sp>
        <p:nvSpPr>
          <p:cNvPr id="7" name="TextBox 6"/>
          <p:cNvSpPr txBox="1"/>
          <p:nvPr/>
        </p:nvSpPr>
        <p:spPr>
          <a:xfrm>
            <a:off x="6217920" y="5489743"/>
            <a:ext cx="5425135" cy="502920"/>
          </a:xfrm>
          <a:prstGeom prst="rect">
            <a:avLst/>
          </a:prstGeom>
          <a:noFill/>
        </p:spPr>
        <p:txBody>
          <a:bodyPr wrap="square" lIns="45720" tIns="27432" rIns="45720" bIns="27432" anchor="t">
            <a:noAutofit/>
          </a:bodyPr>
          <a:lstStyle/>
          <a:p>
            <a:pPr algn="ctr">
              <a:lnSpc>
                <a:spcPct val="105000"/>
              </a:lnSpc>
            </a:pPr>
            <a:r>
              <a:rPr lang="es-ES" sz="1500" b="0" i="1">
                <a:solidFill>
                  <a:srgbClr val="5B6575"/>
                </a:solidFill>
                <a:latin typeface="Calibri"/>
              </a:rPr>
              <a:t>Arquitectura por capas centrada en el modelo de proyecto</a:t>
            </a:r>
          </a:p>
        </p:txBody>
      </p:sp>
      <p:sp>
        <p:nvSpPr>
          <p:cNvPr id="8" name="Rectangle 7"/>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48640" y="6419088"/>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10" name="TextBox 9"/>
          <p:cNvSpPr txBox="1"/>
          <p:nvPr/>
        </p:nvSpPr>
        <p:spPr>
          <a:xfrm>
            <a:off x="4023360" y="6419088"/>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§2.2, requisitos, stack y arquitectura</a:t>
            </a:r>
          </a:p>
        </p:txBody>
      </p:sp>
      <p:sp>
        <p:nvSpPr>
          <p:cNvPr id="11" name="TextBox 10"/>
          <p:cNvSpPr txBox="1"/>
          <p:nvPr/>
        </p:nvSpPr>
        <p:spPr>
          <a:xfrm>
            <a:off x="10545775" y="6419088"/>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18</a:t>
            </a:fld>
            <a:endParaRPr lang="es-ES" sz="1200" dirty="0">
              <a:solidFill>
                <a:srgbClr val="5B6575"/>
              </a:solidFill>
              <a:latin typeface="Calibri"/>
            </a:endParaRPr>
          </a:p>
        </p:txBody>
      </p:sp>
      <p:pic>
        <p:nvPicPr>
          <p:cNvPr id="12" name="s18">
            <a:hlinkClick r:id="" action="ppaction://media"/>
            <a:extLst>
              <a:ext uri="{FF2B5EF4-FFF2-40B4-BE49-F238E27FC236}">
                <a16:creationId xmlns:a16="http://schemas.microsoft.com/office/drawing/2014/main" id="{622016A8-F727-55EF-DBBA-A392B8DAD0EB}"/>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116"/>
    </mc:Choice>
    <mc:Fallback>
      <p:transition spd="slow" advTm="5311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168335" cy="868680"/>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Pre-proceso: un lienzo, cinco tablas</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noAutofit/>
          </a:bodyPr>
          <a:lstStyle/>
          <a:p>
            <a:pPr algn="ctr">
              <a:lnSpc>
                <a:spcPct val="100000"/>
              </a:lnSpc>
            </a:pPr>
            <a:r>
              <a:rPr lang="es-ES" sz="1300" b="1" i="0">
                <a:solidFill>
                  <a:srgbClr val="1B2A4A"/>
                </a:solidFill>
                <a:latin typeface="Calibri"/>
              </a:rPr>
              <a:t>3  ·  Diseño y desarrollo del modelo</a:t>
            </a:r>
          </a:p>
        </p:txBody>
      </p:sp>
      <p:sp>
        <p:nvSpPr>
          <p:cNvPr id="5" name="TextBox 4"/>
          <p:cNvSpPr txBox="1"/>
          <p:nvPr/>
        </p:nvSpPr>
        <p:spPr>
          <a:xfrm>
            <a:off x="594360" y="1527048"/>
            <a:ext cx="5257800" cy="4700016"/>
          </a:xfrm>
          <a:prstGeom prst="rect">
            <a:avLst/>
          </a:prstGeom>
          <a:noFill/>
        </p:spPr>
        <p:txBody>
          <a:bodyPr wrap="square" lIns="45720" tIns="27432" rIns="45720" bIns="27432" anchor="ctr">
            <a:noAutofit/>
          </a:bodyPr>
          <a:lstStyle/>
          <a:p>
            <a:pPr marL="347472" indent="-347472">
              <a:lnSpc>
                <a:spcPct val="112000"/>
              </a:lnSpc>
              <a:spcAft>
                <a:spcPts val="1200"/>
              </a:spcAft>
              <a:buClr>
                <a:srgbClr val="F28C28"/>
              </a:buClr>
              <a:buSzPct val="100000"/>
              <a:buFont typeface="Arial"/>
              <a:buChar char="•"/>
            </a:pPr>
            <a:r>
              <a:rPr lang="es-ES" sz="2200" b="0" i="0">
                <a:solidFill>
                  <a:srgbClr val="1F2937"/>
                </a:solidFill>
                <a:latin typeface="Calibri"/>
              </a:rPr>
              <a:t>Lienzo único compartido por pre-proceso, proceso y post-proceso</a:t>
            </a:r>
          </a:p>
          <a:p>
            <a:pPr marL="347472" indent="-347472">
              <a:lnSpc>
                <a:spcPct val="112000"/>
              </a:lnSpc>
              <a:spcAft>
                <a:spcPts val="1200"/>
              </a:spcAft>
              <a:buClr>
                <a:srgbClr val="F28C28"/>
              </a:buClr>
              <a:buSzPct val="100000"/>
              <a:buFont typeface="Arial"/>
              <a:buChar char="•"/>
            </a:pPr>
            <a:r>
              <a:rPr lang="es-ES" sz="2200" b="1" i="0">
                <a:solidFill>
                  <a:srgbClr val="1B2A4A"/>
                </a:solidFill>
                <a:latin typeface="Calibri"/>
              </a:rPr>
              <a:t>Modo dibujo tipo CAD:</a:t>
            </a:r>
            <a:r>
              <a:rPr lang="es-ES" sz="2200" b="0" i="0">
                <a:solidFill>
                  <a:srgbClr val="1F2937"/>
                </a:solidFill>
                <a:latin typeface="Calibri"/>
              </a:rPr>
              <a:t> cuatro vértices, snap, orientación antihoraria</a:t>
            </a:r>
          </a:p>
          <a:p>
            <a:pPr marL="347472" indent="-347472">
              <a:lnSpc>
                <a:spcPct val="112000"/>
              </a:lnSpc>
              <a:spcAft>
                <a:spcPts val="1200"/>
              </a:spcAft>
              <a:buClr>
                <a:srgbClr val="F28C28"/>
              </a:buClr>
              <a:buSzPct val="100000"/>
              <a:buFont typeface="Arial"/>
              <a:buChar char="•"/>
            </a:pPr>
            <a:r>
              <a:rPr lang="es-ES" sz="2200" b="0" i="0">
                <a:solidFill>
                  <a:srgbClr val="1F2937"/>
                </a:solidFill>
                <a:latin typeface="Calibri"/>
              </a:rPr>
              <a:t>Deshacer y rehacer por instantáneas; sincronización tabla ↔ lienzo</a:t>
            </a:r>
          </a:p>
          <a:p>
            <a:pPr marL="347472" indent="-347472">
              <a:lnSpc>
                <a:spcPct val="112000"/>
              </a:lnSpc>
              <a:spcAft>
                <a:spcPts val="1200"/>
              </a:spcAft>
              <a:buClr>
                <a:srgbClr val="F28C28"/>
              </a:buClr>
              <a:buSzPct val="100000"/>
              <a:buFont typeface="Arial"/>
              <a:buChar char="•"/>
            </a:pPr>
            <a:r>
              <a:rPr lang="es-ES" sz="2200" b="1" i="0">
                <a:solidFill>
                  <a:srgbClr val="1B2A4A"/>
                </a:solidFill>
                <a:latin typeface="Calibri"/>
              </a:rPr>
              <a:t>Validador de salud:</a:t>
            </a:r>
            <a:r>
              <a:rPr lang="es-ES" sz="2200" b="0" i="0">
                <a:solidFill>
                  <a:srgbClr val="1F2937"/>
                </a:solidFill>
                <a:latin typeface="Calibri"/>
              </a:rPr>
              <a:t> 18 chequeos (9 críticos, 8 advertencias, 1 informativo)</a:t>
            </a:r>
          </a:p>
          <a:p>
            <a:pPr marL="347472" indent="-347472">
              <a:lnSpc>
                <a:spcPct val="112000"/>
              </a:lnSpc>
              <a:spcAft>
                <a:spcPts val="1200"/>
              </a:spcAft>
              <a:buClr>
                <a:srgbClr val="F28C28"/>
              </a:buClr>
              <a:buSzPct val="100000"/>
              <a:buFont typeface="Arial"/>
              <a:buChar char="•"/>
            </a:pPr>
            <a:r>
              <a:rPr lang="es-ES" sz="2200" b="1" i="0">
                <a:solidFill>
                  <a:srgbClr val="1B2A4A"/>
                </a:solidFill>
                <a:latin typeface="Calibri"/>
              </a:rPr>
              <a:t>Calidad de malla (M0):</a:t>
            </a:r>
            <a:r>
              <a:rPr lang="es-ES" sz="2200" b="0" i="0">
                <a:solidFill>
                  <a:srgbClr val="1F2937"/>
                </a:solidFill>
                <a:latin typeface="Calibri"/>
              </a:rPr>
              <a:t> q_SJ ≥ 0,50, más exigente que el 0,30 de Verdict</a:t>
            </a:r>
          </a:p>
        </p:txBody>
      </p:sp>
      <p:pic>
        <p:nvPicPr>
          <p:cNvPr id="6" name="Picture 5" descr="fig_lienzo_lod.png"/>
          <p:cNvPicPr>
            <a:picLocks noChangeAspect="1"/>
          </p:cNvPicPr>
          <p:nvPr/>
        </p:nvPicPr>
        <p:blipFill>
          <a:blip r:embed="rId5"/>
          <a:stretch>
            <a:fillRect/>
          </a:stretch>
        </p:blipFill>
        <p:spPr>
          <a:xfrm>
            <a:off x="6217920" y="1601761"/>
            <a:ext cx="5425135" cy="4001949"/>
          </a:xfrm>
          <a:prstGeom prst="rect">
            <a:avLst/>
          </a:prstGeom>
          <a:ln w="9525">
            <a:solidFill>
              <a:srgbClr val="D1D5DB"/>
            </a:solidFill>
          </a:ln>
        </p:spPr>
      </p:pic>
      <p:sp>
        <p:nvSpPr>
          <p:cNvPr id="7" name="TextBox 6"/>
          <p:cNvSpPr txBox="1"/>
          <p:nvPr/>
        </p:nvSpPr>
        <p:spPr>
          <a:xfrm>
            <a:off x="6217920" y="5649430"/>
            <a:ext cx="5425135" cy="502920"/>
          </a:xfrm>
          <a:prstGeom prst="rect">
            <a:avLst/>
          </a:prstGeom>
          <a:noFill/>
        </p:spPr>
        <p:txBody>
          <a:bodyPr wrap="square" lIns="45720" tIns="27432" rIns="45720" bIns="27432" anchor="t">
            <a:noAutofit/>
          </a:bodyPr>
          <a:lstStyle/>
          <a:p>
            <a:pPr algn="ctr">
              <a:lnSpc>
                <a:spcPct val="105000"/>
              </a:lnSpc>
            </a:pPr>
            <a:r>
              <a:rPr lang="es-ES" sz="1500" b="0" i="1">
                <a:solidFill>
                  <a:srgbClr val="5B6575"/>
                </a:solidFill>
                <a:latin typeface="Calibri"/>
              </a:rPr>
              <a:t>Modo de dibujo sobre el lienzo compartido</a:t>
            </a:r>
          </a:p>
        </p:txBody>
      </p:sp>
      <p:sp>
        <p:nvSpPr>
          <p:cNvPr id="8" name="Rectangle 7"/>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48640" y="6419088"/>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10" name="TextBox 9"/>
          <p:cNvSpPr txBox="1"/>
          <p:nvPr/>
        </p:nvSpPr>
        <p:spPr>
          <a:xfrm>
            <a:off x="4023360" y="6419088"/>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§2.2 pre-proceso; Cap. 1 calidad de malla; Anexo B</a:t>
            </a:r>
          </a:p>
        </p:txBody>
      </p:sp>
      <p:sp>
        <p:nvSpPr>
          <p:cNvPr id="11" name="TextBox 10"/>
          <p:cNvSpPr txBox="1"/>
          <p:nvPr/>
        </p:nvSpPr>
        <p:spPr>
          <a:xfrm>
            <a:off x="10545775" y="6419088"/>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19</a:t>
            </a:fld>
            <a:endParaRPr lang="es-ES" sz="1200" dirty="0">
              <a:solidFill>
                <a:srgbClr val="5B6575"/>
              </a:solidFill>
              <a:latin typeface="Calibri"/>
            </a:endParaRPr>
          </a:p>
        </p:txBody>
      </p:sp>
      <p:pic>
        <p:nvPicPr>
          <p:cNvPr id="12" name="s19">
            <a:hlinkClick r:id="" action="ppaction://media"/>
            <a:extLst>
              <a:ext uri="{FF2B5EF4-FFF2-40B4-BE49-F238E27FC236}">
                <a16:creationId xmlns:a16="http://schemas.microsoft.com/office/drawing/2014/main" id="{86F47E72-690B-26D2-4351-803A380FA4D4}"/>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380"/>
    </mc:Choice>
    <mc:Fallback>
      <p:transition spd="slow" advTm="4738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168335" cy="868680"/>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Ocho módulos recorren el canal del MEF</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noAutofit/>
          </a:bodyPr>
          <a:lstStyle/>
          <a:p>
            <a:pPr algn="ctr">
              <a:lnSpc>
                <a:spcPct val="100000"/>
              </a:lnSpc>
            </a:pPr>
            <a:r>
              <a:rPr lang="es-ES" sz="1300" b="1" i="0">
                <a:solidFill>
                  <a:srgbClr val="1B2A4A"/>
                </a:solidFill>
                <a:latin typeface="Calibri"/>
              </a:rPr>
              <a:t>3  ·  Diseño y desarrollo del modelo</a:t>
            </a:r>
          </a:p>
        </p:txBody>
      </p:sp>
      <p:sp>
        <p:nvSpPr>
          <p:cNvPr id="5" name="Rounded Rectangle 4"/>
          <p:cNvSpPr/>
          <p:nvPr/>
        </p:nvSpPr>
        <p:spPr>
          <a:xfrm>
            <a:off x="548640" y="1764792"/>
            <a:ext cx="2320975"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640" y="1856232"/>
            <a:ext cx="2320975" cy="731520"/>
          </a:xfrm>
          <a:prstGeom prst="rect">
            <a:avLst/>
          </a:prstGeom>
          <a:noFill/>
        </p:spPr>
        <p:txBody>
          <a:bodyPr wrap="square" lIns="73152" tIns="18288" rIns="73152" bIns="18288" anchor="t">
            <a:noAutofit/>
          </a:bodyPr>
          <a:lstStyle/>
          <a:p>
            <a:pPr algn="ctr">
              <a:lnSpc>
                <a:spcPct val="100000"/>
              </a:lnSpc>
            </a:pPr>
            <a:r>
              <a:rPr lang="es-ES" sz="2000" b="1" i="0">
                <a:solidFill>
                  <a:srgbClr val="FFFFFF"/>
                </a:solidFill>
                <a:latin typeface="Calibri"/>
              </a:rPr>
              <a:t>M0 Calidad</a:t>
            </a:r>
          </a:p>
        </p:txBody>
      </p:sp>
      <p:sp>
        <p:nvSpPr>
          <p:cNvPr id="7" name="TextBox 6"/>
          <p:cNvSpPr txBox="1"/>
          <p:nvPr/>
        </p:nvSpPr>
        <p:spPr>
          <a:xfrm>
            <a:off x="548640" y="2615184"/>
            <a:ext cx="2320975" cy="502920"/>
          </a:xfrm>
          <a:prstGeom prst="rect">
            <a:avLst/>
          </a:prstGeom>
          <a:noFill/>
        </p:spPr>
        <p:txBody>
          <a:bodyPr wrap="square" lIns="73152" tIns="18288" rIns="73152" bIns="54864" anchor="b">
            <a:noAutofit/>
          </a:bodyPr>
          <a:lstStyle/>
          <a:p>
            <a:pPr algn="ctr">
              <a:lnSpc>
                <a:spcPct val="100000"/>
              </a:lnSpc>
            </a:pPr>
            <a:r>
              <a:rPr lang="es-ES" sz="1300" b="0" i="0">
                <a:solidFill>
                  <a:srgbClr val="C7D2E8"/>
                </a:solidFill>
                <a:latin typeface="Calibri"/>
              </a:rPr>
              <a:t>de malla</a:t>
            </a:r>
          </a:p>
        </p:txBody>
      </p:sp>
      <p:sp>
        <p:nvSpPr>
          <p:cNvPr id="8" name="Right Arrow 7"/>
          <p:cNvSpPr/>
          <p:nvPr/>
        </p:nvSpPr>
        <p:spPr>
          <a:xfrm>
            <a:off x="2979343" y="232714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473119" y="1764792"/>
            <a:ext cx="2320975"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3473119" y="1856232"/>
            <a:ext cx="2320975" cy="731520"/>
          </a:xfrm>
          <a:prstGeom prst="rect">
            <a:avLst/>
          </a:prstGeom>
          <a:noFill/>
        </p:spPr>
        <p:txBody>
          <a:bodyPr wrap="square" lIns="73152" tIns="18288" rIns="73152" bIns="18288" anchor="t">
            <a:noAutofit/>
          </a:bodyPr>
          <a:lstStyle/>
          <a:p>
            <a:pPr algn="ctr">
              <a:lnSpc>
                <a:spcPct val="100000"/>
              </a:lnSpc>
            </a:pPr>
            <a:r>
              <a:rPr lang="es-ES" sz="2000" b="1" i="0">
                <a:solidFill>
                  <a:srgbClr val="FFFFFF"/>
                </a:solidFill>
                <a:latin typeface="Calibri"/>
              </a:rPr>
              <a:t>M1 Mapeo</a:t>
            </a:r>
          </a:p>
        </p:txBody>
      </p:sp>
      <p:sp>
        <p:nvSpPr>
          <p:cNvPr id="11" name="TextBox 10"/>
          <p:cNvSpPr txBox="1"/>
          <p:nvPr/>
        </p:nvSpPr>
        <p:spPr>
          <a:xfrm>
            <a:off x="3473119" y="2615184"/>
            <a:ext cx="2320975" cy="502920"/>
          </a:xfrm>
          <a:prstGeom prst="rect">
            <a:avLst/>
          </a:prstGeom>
          <a:noFill/>
        </p:spPr>
        <p:txBody>
          <a:bodyPr wrap="square" lIns="73152" tIns="18288" rIns="73152" bIns="54864" anchor="b">
            <a:noAutofit/>
          </a:bodyPr>
          <a:lstStyle/>
          <a:p>
            <a:pPr algn="ctr">
              <a:lnSpc>
                <a:spcPct val="100000"/>
              </a:lnSpc>
            </a:pPr>
            <a:r>
              <a:rPr lang="es-ES" sz="1300" b="0" i="0">
                <a:solidFill>
                  <a:srgbClr val="C7D2E8"/>
                </a:solidFill>
                <a:latin typeface="Calibri"/>
              </a:rPr>
              <a:t>isoparamétrico</a:t>
            </a:r>
          </a:p>
        </p:txBody>
      </p:sp>
      <p:sp>
        <p:nvSpPr>
          <p:cNvPr id="12" name="Right Arrow 11"/>
          <p:cNvSpPr/>
          <p:nvPr/>
        </p:nvSpPr>
        <p:spPr>
          <a:xfrm>
            <a:off x="5903823" y="232714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397599" y="1764792"/>
            <a:ext cx="2320975"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397599" y="1856232"/>
            <a:ext cx="2320975" cy="731520"/>
          </a:xfrm>
          <a:prstGeom prst="rect">
            <a:avLst/>
          </a:prstGeom>
          <a:noFill/>
        </p:spPr>
        <p:txBody>
          <a:bodyPr wrap="square" lIns="73152" tIns="18288" rIns="73152" bIns="18288" anchor="t">
            <a:noAutofit/>
          </a:bodyPr>
          <a:lstStyle/>
          <a:p>
            <a:pPr algn="ctr">
              <a:lnSpc>
                <a:spcPct val="100000"/>
              </a:lnSpc>
            </a:pPr>
            <a:r>
              <a:rPr lang="es-ES" sz="2000" b="1" i="0">
                <a:solidFill>
                  <a:srgbClr val="FFFFFF"/>
                </a:solidFill>
                <a:latin typeface="Calibri"/>
              </a:rPr>
              <a:t>M2 Jacobiano</a:t>
            </a:r>
          </a:p>
        </p:txBody>
      </p:sp>
      <p:sp>
        <p:nvSpPr>
          <p:cNvPr id="15" name="TextBox 14"/>
          <p:cNvSpPr txBox="1"/>
          <p:nvPr/>
        </p:nvSpPr>
        <p:spPr>
          <a:xfrm>
            <a:off x="6397599" y="2615184"/>
            <a:ext cx="2320975" cy="502920"/>
          </a:xfrm>
          <a:prstGeom prst="rect">
            <a:avLst/>
          </a:prstGeom>
          <a:noFill/>
        </p:spPr>
        <p:txBody>
          <a:bodyPr wrap="square" lIns="73152" tIns="18288" rIns="73152" bIns="54864" anchor="b">
            <a:noAutofit/>
          </a:bodyPr>
          <a:lstStyle/>
          <a:p>
            <a:pPr algn="ctr">
              <a:lnSpc>
                <a:spcPct val="100000"/>
              </a:lnSpc>
            </a:pPr>
            <a:r>
              <a:rPr lang="es-ES" sz="1300" b="0" i="0">
                <a:solidFill>
                  <a:srgbClr val="C7D2E8"/>
                </a:solidFill>
                <a:latin typeface="Calibri"/>
              </a:rPr>
              <a:t>distorsión y det J</a:t>
            </a:r>
          </a:p>
        </p:txBody>
      </p:sp>
      <p:sp>
        <p:nvSpPr>
          <p:cNvPr id="16" name="Right Arrow 15"/>
          <p:cNvSpPr/>
          <p:nvPr/>
        </p:nvSpPr>
        <p:spPr>
          <a:xfrm>
            <a:off x="8828303" y="232714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322079" y="1764792"/>
            <a:ext cx="2320975"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322079" y="1856232"/>
            <a:ext cx="2320975" cy="731520"/>
          </a:xfrm>
          <a:prstGeom prst="rect">
            <a:avLst/>
          </a:prstGeom>
          <a:noFill/>
        </p:spPr>
        <p:txBody>
          <a:bodyPr wrap="square" lIns="73152" tIns="18288" rIns="73152" bIns="18288" anchor="t">
            <a:noAutofit/>
          </a:bodyPr>
          <a:lstStyle/>
          <a:p>
            <a:pPr algn="ctr">
              <a:lnSpc>
                <a:spcPct val="100000"/>
              </a:lnSpc>
            </a:pPr>
            <a:r>
              <a:rPr lang="es-ES" sz="2000" b="1" i="0">
                <a:solidFill>
                  <a:srgbClr val="FFFFFF"/>
                </a:solidFill>
                <a:latin typeface="Calibri"/>
              </a:rPr>
              <a:t>M3 Matriz B</a:t>
            </a:r>
          </a:p>
        </p:txBody>
      </p:sp>
      <p:sp>
        <p:nvSpPr>
          <p:cNvPr id="19" name="TextBox 18"/>
          <p:cNvSpPr txBox="1"/>
          <p:nvPr/>
        </p:nvSpPr>
        <p:spPr>
          <a:xfrm>
            <a:off x="9322079" y="2615184"/>
            <a:ext cx="2320975" cy="502920"/>
          </a:xfrm>
          <a:prstGeom prst="rect">
            <a:avLst/>
          </a:prstGeom>
          <a:noFill/>
        </p:spPr>
        <p:txBody>
          <a:bodyPr wrap="square" lIns="73152" tIns="18288" rIns="73152" bIns="54864" anchor="b">
            <a:noAutofit/>
          </a:bodyPr>
          <a:lstStyle/>
          <a:p>
            <a:pPr algn="ctr">
              <a:lnSpc>
                <a:spcPct val="100000"/>
              </a:lnSpc>
            </a:pPr>
            <a:r>
              <a:rPr lang="es-ES" sz="1300" b="0" i="0">
                <a:solidFill>
                  <a:srgbClr val="C7D2E8"/>
                </a:solidFill>
                <a:latin typeface="Calibri"/>
              </a:rPr>
              <a:t>ε = B u</a:t>
            </a:r>
          </a:p>
        </p:txBody>
      </p:sp>
      <p:sp>
        <p:nvSpPr>
          <p:cNvPr id="20" name="Rounded Rectangle 19"/>
          <p:cNvSpPr/>
          <p:nvPr/>
        </p:nvSpPr>
        <p:spPr>
          <a:xfrm>
            <a:off x="548640" y="3639312"/>
            <a:ext cx="2320975"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48640" y="3730752"/>
            <a:ext cx="2320975" cy="731520"/>
          </a:xfrm>
          <a:prstGeom prst="rect">
            <a:avLst/>
          </a:prstGeom>
          <a:noFill/>
        </p:spPr>
        <p:txBody>
          <a:bodyPr wrap="square" lIns="73152" tIns="18288" rIns="73152" bIns="18288" anchor="t">
            <a:noAutofit/>
          </a:bodyPr>
          <a:lstStyle/>
          <a:p>
            <a:pPr algn="ctr">
              <a:lnSpc>
                <a:spcPct val="100000"/>
              </a:lnSpc>
            </a:pPr>
            <a:r>
              <a:rPr lang="es-ES" sz="2000" b="1" i="0">
                <a:solidFill>
                  <a:srgbClr val="FFFFFF"/>
                </a:solidFill>
                <a:latin typeface="Calibri"/>
              </a:rPr>
              <a:t>M4 Matriz D</a:t>
            </a:r>
          </a:p>
        </p:txBody>
      </p:sp>
      <p:sp>
        <p:nvSpPr>
          <p:cNvPr id="22" name="TextBox 21"/>
          <p:cNvSpPr txBox="1"/>
          <p:nvPr/>
        </p:nvSpPr>
        <p:spPr>
          <a:xfrm>
            <a:off x="548640" y="4489704"/>
            <a:ext cx="2320975" cy="502920"/>
          </a:xfrm>
          <a:prstGeom prst="rect">
            <a:avLst/>
          </a:prstGeom>
          <a:noFill/>
        </p:spPr>
        <p:txBody>
          <a:bodyPr wrap="square" lIns="73152" tIns="18288" rIns="73152" bIns="54864" anchor="b">
            <a:noAutofit/>
          </a:bodyPr>
          <a:lstStyle/>
          <a:p>
            <a:pPr algn="ctr">
              <a:lnSpc>
                <a:spcPct val="100000"/>
              </a:lnSpc>
            </a:pPr>
            <a:r>
              <a:rPr lang="es-ES" sz="1300" b="0" i="0">
                <a:solidFill>
                  <a:srgbClr val="C7D2E8"/>
                </a:solidFill>
                <a:latin typeface="Calibri"/>
              </a:rPr>
              <a:t>material</a:t>
            </a:r>
          </a:p>
        </p:txBody>
      </p:sp>
      <p:sp>
        <p:nvSpPr>
          <p:cNvPr id="23" name="Right Arrow 22"/>
          <p:cNvSpPr/>
          <p:nvPr/>
        </p:nvSpPr>
        <p:spPr>
          <a:xfrm>
            <a:off x="2979343" y="420166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3473119" y="3639312"/>
            <a:ext cx="2320975"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3473119" y="3730752"/>
            <a:ext cx="2320975" cy="731520"/>
          </a:xfrm>
          <a:prstGeom prst="rect">
            <a:avLst/>
          </a:prstGeom>
          <a:noFill/>
        </p:spPr>
        <p:txBody>
          <a:bodyPr wrap="square" lIns="73152" tIns="18288" rIns="73152" bIns="18288" anchor="t">
            <a:noAutofit/>
          </a:bodyPr>
          <a:lstStyle/>
          <a:p>
            <a:pPr algn="ctr">
              <a:lnSpc>
                <a:spcPct val="100000"/>
              </a:lnSpc>
            </a:pPr>
            <a:r>
              <a:rPr lang="es-ES" sz="2000" b="1" i="0">
                <a:solidFill>
                  <a:srgbClr val="FFFFFF"/>
                </a:solidFill>
                <a:latin typeface="Calibri"/>
              </a:rPr>
              <a:t>M5 Rigidez kₑ</a:t>
            </a:r>
          </a:p>
        </p:txBody>
      </p:sp>
      <p:sp>
        <p:nvSpPr>
          <p:cNvPr id="26" name="TextBox 25"/>
          <p:cNvSpPr txBox="1"/>
          <p:nvPr/>
        </p:nvSpPr>
        <p:spPr>
          <a:xfrm>
            <a:off x="3473119" y="4489704"/>
            <a:ext cx="2320975" cy="502920"/>
          </a:xfrm>
          <a:prstGeom prst="rect">
            <a:avLst/>
          </a:prstGeom>
          <a:noFill/>
        </p:spPr>
        <p:txBody>
          <a:bodyPr wrap="square" lIns="73152" tIns="18288" rIns="73152" bIns="54864" anchor="b">
            <a:noAutofit/>
          </a:bodyPr>
          <a:lstStyle/>
          <a:p>
            <a:pPr algn="ctr">
              <a:lnSpc>
                <a:spcPct val="100000"/>
              </a:lnSpc>
            </a:pPr>
            <a:r>
              <a:rPr lang="es-ES" sz="1300" b="0" i="0">
                <a:solidFill>
                  <a:srgbClr val="C7D2E8"/>
                </a:solidFill>
                <a:latin typeface="Calibri"/>
              </a:rPr>
              <a:t>cuadratura de Gauss</a:t>
            </a:r>
          </a:p>
        </p:txBody>
      </p:sp>
      <p:sp>
        <p:nvSpPr>
          <p:cNvPr id="27" name="Right Arrow 26"/>
          <p:cNvSpPr/>
          <p:nvPr/>
        </p:nvSpPr>
        <p:spPr>
          <a:xfrm>
            <a:off x="5903823" y="420166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397599" y="3639312"/>
            <a:ext cx="2320975"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6397599" y="3730752"/>
            <a:ext cx="2320975" cy="731520"/>
          </a:xfrm>
          <a:prstGeom prst="rect">
            <a:avLst/>
          </a:prstGeom>
          <a:noFill/>
        </p:spPr>
        <p:txBody>
          <a:bodyPr wrap="square" lIns="73152" tIns="18288" rIns="73152" bIns="18288" anchor="t">
            <a:noAutofit/>
          </a:bodyPr>
          <a:lstStyle/>
          <a:p>
            <a:pPr algn="ctr">
              <a:lnSpc>
                <a:spcPct val="100000"/>
              </a:lnSpc>
            </a:pPr>
            <a:r>
              <a:rPr lang="es-ES" sz="2000" b="1" i="0">
                <a:solidFill>
                  <a:srgbClr val="FFFFFF"/>
                </a:solidFill>
                <a:latin typeface="Calibri"/>
              </a:rPr>
              <a:t>M6 Fuerzas</a:t>
            </a:r>
          </a:p>
        </p:txBody>
      </p:sp>
      <p:sp>
        <p:nvSpPr>
          <p:cNvPr id="30" name="TextBox 29"/>
          <p:cNvSpPr txBox="1"/>
          <p:nvPr/>
        </p:nvSpPr>
        <p:spPr>
          <a:xfrm>
            <a:off x="6397599" y="4489704"/>
            <a:ext cx="2320975" cy="502920"/>
          </a:xfrm>
          <a:prstGeom prst="rect">
            <a:avLst/>
          </a:prstGeom>
          <a:noFill/>
        </p:spPr>
        <p:txBody>
          <a:bodyPr wrap="square" lIns="73152" tIns="18288" rIns="73152" bIns="54864" anchor="b">
            <a:noAutofit/>
          </a:bodyPr>
          <a:lstStyle/>
          <a:p>
            <a:pPr algn="ctr">
              <a:lnSpc>
                <a:spcPct val="100000"/>
              </a:lnSpc>
            </a:pPr>
            <a:r>
              <a:rPr lang="es-ES" sz="1300" b="0" i="0">
                <a:solidFill>
                  <a:srgbClr val="C7D2E8"/>
                </a:solidFill>
                <a:latin typeface="Calibri"/>
              </a:rPr>
              <a:t>equivalentes</a:t>
            </a:r>
          </a:p>
        </p:txBody>
      </p:sp>
      <p:sp>
        <p:nvSpPr>
          <p:cNvPr id="31" name="Right Arrow 30"/>
          <p:cNvSpPr/>
          <p:nvPr/>
        </p:nvSpPr>
        <p:spPr>
          <a:xfrm>
            <a:off x="8828303" y="420166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9322079" y="3639312"/>
            <a:ext cx="2320975"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9322079" y="3730752"/>
            <a:ext cx="2320975" cy="731520"/>
          </a:xfrm>
          <a:prstGeom prst="rect">
            <a:avLst/>
          </a:prstGeom>
          <a:noFill/>
        </p:spPr>
        <p:txBody>
          <a:bodyPr wrap="square" lIns="73152" tIns="18288" rIns="73152" bIns="18288" anchor="t">
            <a:noAutofit/>
          </a:bodyPr>
          <a:lstStyle/>
          <a:p>
            <a:pPr algn="ctr">
              <a:lnSpc>
                <a:spcPct val="100000"/>
              </a:lnSpc>
            </a:pPr>
            <a:r>
              <a:rPr lang="es-ES" sz="2000" b="1" i="0">
                <a:solidFill>
                  <a:srgbClr val="FFFFFF"/>
                </a:solidFill>
                <a:latin typeface="Calibri"/>
              </a:rPr>
              <a:t>M7 Ensamblaje</a:t>
            </a:r>
          </a:p>
        </p:txBody>
      </p:sp>
      <p:sp>
        <p:nvSpPr>
          <p:cNvPr id="34" name="TextBox 33"/>
          <p:cNvSpPr txBox="1"/>
          <p:nvPr/>
        </p:nvSpPr>
        <p:spPr>
          <a:xfrm>
            <a:off x="9322079" y="4489704"/>
            <a:ext cx="2320975" cy="502920"/>
          </a:xfrm>
          <a:prstGeom prst="rect">
            <a:avLst/>
          </a:prstGeom>
          <a:noFill/>
        </p:spPr>
        <p:txBody>
          <a:bodyPr wrap="square" lIns="73152" tIns="18288" rIns="73152" bIns="54864" anchor="b">
            <a:noAutofit/>
          </a:bodyPr>
          <a:lstStyle/>
          <a:p>
            <a:pPr algn="ctr">
              <a:lnSpc>
                <a:spcPct val="100000"/>
              </a:lnSpc>
            </a:pPr>
            <a:r>
              <a:rPr lang="es-ES" sz="1300" b="0" i="0">
                <a:solidFill>
                  <a:srgbClr val="C7D2E8"/>
                </a:solidFill>
                <a:latin typeface="Calibri"/>
              </a:rPr>
              <a:t>K y F globales</a:t>
            </a:r>
          </a:p>
        </p:txBody>
      </p:sp>
      <p:sp>
        <p:nvSpPr>
          <p:cNvPr id="35" name="Rectangle 34"/>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Rectangle 35"/>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777240" y="5431536"/>
            <a:ext cx="10774375" cy="841248"/>
          </a:xfrm>
          <a:prstGeom prst="rect">
            <a:avLst/>
          </a:prstGeom>
          <a:noFill/>
        </p:spPr>
        <p:txBody>
          <a:bodyPr wrap="square" lIns="45720" tIns="27432" rIns="45720" bIns="27432" anchor="ctr">
            <a:noAutofit/>
          </a:bodyPr>
          <a:lstStyle/>
          <a:p>
            <a:pPr algn="l">
              <a:lnSpc>
                <a:spcPct val="100000"/>
              </a:lnSpc>
            </a:pPr>
            <a:r>
              <a:rPr lang="es-ES" sz="2200" b="1" i="0">
                <a:solidFill>
                  <a:srgbClr val="1B2A4A"/>
                </a:solidFill>
                <a:latin typeface="Calibri"/>
              </a:rPr>
              <a:t>Capas sobre la malla real, una sola activa a la vez, conmutador Fórmula ↔ Valores</a:t>
            </a:r>
          </a:p>
        </p:txBody>
      </p:sp>
      <p:sp>
        <p:nvSpPr>
          <p:cNvPr id="38" name="Rectangle 37"/>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548640" y="6419088"/>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40" name="TextBox 39"/>
          <p:cNvSpPr txBox="1"/>
          <p:nvPr/>
        </p:nvSpPr>
        <p:spPr>
          <a:xfrm>
            <a:off x="4023360" y="6419088"/>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§2.2, módulos educativos, tabla de módulos</a:t>
            </a:r>
          </a:p>
        </p:txBody>
      </p:sp>
      <p:sp>
        <p:nvSpPr>
          <p:cNvPr id="41" name="TextBox 40"/>
          <p:cNvSpPr txBox="1"/>
          <p:nvPr/>
        </p:nvSpPr>
        <p:spPr>
          <a:xfrm>
            <a:off x="10545775" y="6419088"/>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20</a:t>
            </a:fld>
            <a:endParaRPr lang="es-ES" sz="1200" dirty="0">
              <a:solidFill>
                <a:srgbClr val="5B6575"/>
              </a:solidFill>
              <a:latin typeface="Calibri"/>
            </a:endParaRPr>
          </a:p>
        </p:txBody>
      </p:sp>
      <p:pic>
        <p:nvPicPr>
          <p:cNvPr id="42" name="s20">
            <a:hlinkClick r:id="" action="ppaction://media"/>
            <a:extLst>
              <a:ext uri="{FF2B5EF4-FFF2-40B4-BE49-F238E27FC236}">
                <a16:creationId xmlns:a16="http://schemas.microsoft.com/office/drawing/2014/main" id="{C321E260-7F2D-5362-8726-B12AD5E69F60}"/>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284"/>
    </mc:Choice>
    <mc:Fallback>
      <p:transition spd="slow" advTm="4728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2"/>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168335" cy="868680"/>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M5: de la integral a la suma</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noAutofit/>
          </a:bodyPr>
          <a:lstStyle/>
          <a:p>
            <a:pPr algn="ctr">
              <a:lnSpc>
                <a:spcPct val="100000"/>
              </a:lnSpc>
            </a:pPr>
            <a:r>
              <a:rPr lang="es-ES" sz="1300" b="1" i="0">
                <a:solidFill>
                  <a:srgbClr val="1B2A4A"/>
                </a:solidFill>
                <a:latin typeface="Calibri"/>
              </a:rPr>
              <a:t>3  ·  Diseño y desarrollo del modelo</a:t>
            </a:r>
          </a:p>
        </p:txBody>
      </p:sp>
      <p:pic>
        <p:nvPicPr>
          <p:cNvPr id="5" name="Picture 4" descr="fig_modulo_m5.png"/>
          <p:cNvPicPr>
            <a:picLocks noChangeAspect="1"/>
          </p:cNvPicPr>
          <p:nvPr/>
        </p:nvPicPr>
        <p:blipFill>
          <a:blip r:embed="rId5"/>
          <a:stretch>
            <a:fillRect/>
          </a:stretch>
        </p:blipFill>
        <p:spPr>
          <a:xfrm>
            <a:off x="2496891" y="1481328"/>
            <a:ext cx="7197912" cy="3355848"/>
          </a:xfrm>
          <a:prstGeom prst="rect">
            <a:avLst/>
          </a:prstGeom>
          <a:ln w="9525">
            <a:solidFill>
              <a:srgbClr val="D1D5DB"/>
            </a:solidFill>
          </a:ln>
        </p:spPr>
      </p:pic>
      <p:sp>
        <p:nvSpPr>
          <p:cNvPr id="6" name="TextBox 5"/>
          <p:cNvSpPr txBox="1"/>
          <p:nvPr/>
        </p:nvSpPr>
        <p:spPr>
          <a:xfrm>
            <a:off x="548640" y="4873752"/>
            <a:ext cx="11094415" cy="457200"/>
          </a:xfrm>
          <a:prstGeom prst="rect">
            <a:avLst/>
          </a:prstGeom>
          <a:noFill/>
        </p:spPr>
        <p:txBody>
          <a:bodyPr wrap="square" lIns="45720" tIns="27432" rIns="45720" bIns="27432" anchor="t">
            <a:noAutofit/>
          </a:bodyPr>
          <a:lstStyle/>
          <a:p>
            <a:pPr algn="ctr">
              <a:lnSpc>
                <a:spcPct val="105000"/>
              </a:lnSpc>
            </a:pPr>
            <a:r>
              <a:rPr lang="es-ES" sz="1600" b="0" i="1">
                <a:solidFill>
                  <a:srgbClr val="5B6575"/>
                </a:solidFill>
                <a:latin typeface="Calibri"/>
              </a:rPr>
              <a:t>kₑ ≈ Σ wₚ Bᵀ D B t |det J|: los puntos de Gauss se iluminan sobre el elemento seleccionado</a:t>
            </a:r>
          </a:p>
        </p:txBody>
      </p:sp>
      <p:sp>
        <p:nvSpPr>
          <p:cNvPr id="7" name="Rectangle 6"/>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77240" y="5431536"/>
            <a:ext cx="10774375" cy="841248"/>
          </a:xfrm>
          <a:prstGeom prst="rect">
            <a:avLst/>
          </a:prstGeom>
          <a:noFill/>
        </p:spPr>
        <p:txBody>
          <a:bodyPr wrap="square" lIns="45720" tIns="27432" rIns="45720" bIns="27432" anchor="ctr">
            <a:noAutofit/>
          </a:bodyPr>
          <a:lstStyle/>
          <a:p>
            <a:pPr algn="l">
              <a:lnSpc>
                <a:spcPct val="100000"/>
              </a:lnSpc>
            </a:pPr>
            <a:r>
              <a:rPr lang="es-ES" sz="2200" b="1" i="0">
                <a:solidFill>
                  <a:srgbClr val="1B2A4A"/>
                </a:solidFill>
                <a:latin typeface="Calibri"/>
              </a:rPr>
              <a:t>El alumno agrega o quita puntos de Gauss y ve crecer kₑ con cada contribución</a:t>
            </a:r>
          </a:p>
        </p:txBody>
      </p:sp>
      <p:sp>
        <p:nvSpPr>
          <p:cNvPr id="10" name="Rectangle 9"/>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48640" y="6419088"/>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12" name="TextBox 11"/>
          <p:cNvSpPr txBox="1"/>
          <p:nvPr/>
        </p:nvSpPr>
        <p:spPr>
          <a:xfrm>
            <a:off x="4023360" y="6419088"/>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Anexo B, catálogo de módulos educativos</a:t>
            </a:r>
          </a:p>
        </p:txBody>
      </p:sp>
      <p:sp>
        <p:nvSpPr>
          <p:cNvPr id="13" name="TextBox 12"/>
          <p:cNvSpPr txBox="1"/>
          <p:nvPr/>
        </p:nvSpPr>
        <p:spPr>
          <a:xfrm>
            <a:off x="10545775" y="6419088"/>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21</a:t>
            </a:fld>
            <a:endParaRPr lang="es-ES" sz="1200" dirty="0">
              <a:solidFill>
                <a:srgbClr val="5B6575"/>
              </a:solidFill>
              <a:latin typeface="Calibri"/>
            </a:endParaRPr>
          </a:p>
        </p:txBody>
      </p:sp>
      <p:pic>
        <p:nvPicPr>
          <p:cNvPr id="14" name="s21">
            <a:hlinkClick r:id="" action="ppaction://media"/>
            <a:extLst>
              <a:ext uri="{FF2B5EF4-FFF2-40B4-BE49-F238E27FC236}">
                <a16:creationId xmlns:a16="http://schemas.microsoft.com/office/drawing/2014/main" id="{019A370B-3566-9DED-62A0-3E814E780588}"/>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5540"/>
    </mc:Choice>
    <mc:Fallback>
      <p:transition spd="slow" advTm="2554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4"/>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168335" cy="868680"/>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Post-proceso sobre el mismo lienzo</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noAutofit/>
          </a:bodyPr>
          <a:lstStyle/>
          <a:p>
            <a:pPr algn="ctr">
              <a:lnSpc>
                <a:spcPct val="100000"/>
              </a:lnSpc>
            </a:pPr>
            <a:r>
              <a:rPr lang="es-ES" sz="1300" b="1" i="0">
                <a:solidFill>
                  <a:srgbClr val="1B2A4A"/>
                </a:solidFill>
                <a:latin typeface="Calibri"/>
              </a:rPr>
              <a:t>3  ·  Diseño y desarrollo del modelo</a:t>
            </a:r>
          </a:p>
        </p:txBody>
      </p:sp>
      <p:pic>
        <p:nvPicPr>
          <p:cNvPr id="5" name="Picture 4" descr="fig_postproceso.png"/>
          <p:cNvPicPr>
            <a:picLocks noChangeAspect="1"/>
          </p:cNvPicPr>
          <p:nvPr/>
        </p:nvPicPr>
        <p:blipFill>
          <a:blip r:embed="rId5"/>
          <a:stretch>
            <a:fillRect/>
          </a:stretch>
        </p:blipFill>
        <p:spPr>
          <a:xfrm>
            <a:off x="2546196" y="1481328"/>
            <a:ext cx="7099301" cy="3355848"/>
          </a:xfrm>
          <a:prstGeom prst="rect">
            <a:avLst/>
          </a:prstGeom>
          <a:ln w="9525">
            <a:solidFill>
              <a:srgbClr val="D1D5DB"/>
            </a:solidFill>
          </a:ln>
        </p:spPr>
      </p:pic>
      <p:sp>
        <p:nvSpPr>
          <p:cNvPr id="6" name="TextBox 5"/>
          <p:cNvSpPr txBox="1"/>
          <p:nvPr/>
        </p:nvSpPr>
        <p:spPr>
          <a:xfrm>
            <a:off x="548640" y="4873752"/>
            <a:ext cx="11094415" cy="457200"/>
          </a:xfrm>
          <a:prstGeom prst="rect">
            <a:avLst/>
          </a:prstGeom>
          <a:noFill/>
        </p:spPr>
        <p:txBody>
          <a:bodyPr wrap="square" lIns="45720" tIns="27432" rIns="45720" bIns="27432" anchor="t">
            <a:noAutofit/>
          </a:bodyPr>
          <a:lstStyle/>
          <a:p>
            <a:pPr algn="ctr">
              <a:lnSpc>
                <a:spcPct val="105000"/>
              </a:lnSpc>
            </a:pPr>
            <a:r>
              <a:rPr lang="es-ES" sz="1600" b="0" i="1">
                <a:solidFill>
                  <a:srgbClr val="5B6575"/>
                </a:solidFill>
                <a:latin typeface="Calibri"/>
              </a:rPr>
              <a:t>Contorno de von Mises con interpolación de Gouraud, reacciones en los apoyos y sonda con círculo de Mohr</a:t>
            </a:r>
          </a:p>
        </p:txBody>
      </p:sp>
      <p:sp>
        <p:nvSpPr>
          <p:cNvPr id="7" name="Rectangle 6"/>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77240" y="5431536"/>
            <a:ext cx="10774375"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Contorno, deformada, isolíneas, sonda puntual y vista 3D del campo, con la paleta jet de la práctica profesional</a:t>
            </a:r>
          </a:p>
        </p:txBody>
      </p:sp>
      <p:sp>
        <p:nvSpPr>
          <p:cNvPr id="10" name="Rectangle 9"/>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48640" y="6419088"/>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12" name="TextBox 11"/>
          <p:cNvSpPr txBox="1"/>
          <p:nvPr/>
        </p:nvSpPr>
        <p:spPr>
          <a:xfrm>
            <a:off x="4023360" y="6419088"/>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§2.2, post-proceso</a:t>
            </a:r>
          </a:p>
        </p:txBody>
      </p:sp>
      <p:sp>
        <p:nvSpPr>
          <p:cNvPr id="13" name="TextBox 12"/>
          <p:cNvSpPr txBox="1"/>
          <p:nvPr/>
        </p:nvSpPr>
        <p:spPr>
          <a:xfrm>
            <a:off x="10545775" y="6419088"/>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22</a:t>
            </a:fld>
            <a:endParaRPr lang="es-ES" sz="1200" dirty="0">
              <a:solidFill>
                <a:srgbClr val="5B6575"/>
              </a:solidFill>
              <a:latin typeface="Calibri"/>
            </a:endParaRPr>
          </a:p>
        </p:txBody>
      </p:sp>
      <p:pic>
        <p:nvPicPr>
          <p:cNvPr id="14" name="s22">
            <a:hlinkClick r:id="" action="ppaction://media"/>
            <a:extLst>
              <a:ext uri="{FF2B5EF4-FFF2-40B4-BE49-F238E27FC236}">
                <a16:creationId xmlns:a16="http://schemas.microsoft.com/office/drawing/2014/main" id="{EC2A6A27-28A5-3418-9D6A-44A8CCE7944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268"/>
    </mc:Choice>
    <mc:Fallback>
      <p:transition spd="slow" advTm="3626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4"/>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168335" cy="868680"/>
          </a:xfrm>
          <a:prstGeom prst="rect">
            <a:avLst/>
          </a:prstGeom>
          <a:noFill/>
        </p:spPr>
        <p:txBody>
          <a:bodyPr wrap="square" lIns="45720" tIns="27432" rIns="45720" bIns="27432" anchor="ctr">
            <a:noAutofit/>
          </a:bodyPr>
          <a:lstStyle/>
          <a:p>
            <a:pPr algn="l">
              <a:lnSpc>
                <a:spcPct val="105000"/>
              </a:lnSpc>
            </a:pPr>
            <a:r>
              <a:rPr lang="es-ES" sz="2800" b="1" i="0">
                <a:solidFill>
                  <a:srgbClr val="1B2A4A"/>
                </a:solidFill>
                <a:latin typeface="Calibri"/>
              </a:rPr>
              <a:t>Memoria de cálculo: el ejemplo canónico paso a paso</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noAutofit/>
          </a:bodyPr>
          <a:lstStyle/>
          <a:p>
            <a:pPr algn="ctr">
              <a:lnSpc>
                <a:spcPct val="100000"/>
              </a:lnSpc>
            </a:pPr>
            <a:r>
              <a:rPr lang="es-ES" sz="1300" b="1" i="0">
                <a:solidFill>
                  <a:srgbClr val="1B2A4A"/>
                </a:solidFill>
                <a:latin typeface="Calibri"/>
              </a:rPr>
              <a:t>3  ·  Diseño y desarrollo del modelo</a:t>
            </a:r>
          </a:p>
        </p:txBody>
      </p:sp>
      <p:sp>
        <p:nvSpPr>
          <p:cNvPr id="5" name="Rounded Rectangle 4"/>
          <p:cNvSpPr/>
          <p:nvPr/>
        </p:nvSpPr>
        <p:spPr>
          <a:xfrm>
            <a:off x="548640" y="1764792"/>
            <a:ext cx="3295802"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640" y="1856232"/>
            <a:ext cx="3295802" cy="731520"/>
          </a:xfrm>
          <a:prstGeom prst="rect">
            <a:avLst/>
          </a:prstGeom>
          <a:noFill/>
        </p:spPr>
        <p:txBody>
          <a:bodyPr wrap="square" lIns="73152" tIns="18288" rIns="73152" bIns="18288" anchor="t">
            <a:noAutofit/>
          </a:bodyPr>
          <a:lstStyle/>
          <a:p>
            <a:pPr algn="ctr">
              <a:lnSpc>
                <a:spcPct val="100000"/>
              </a:lnSpc>
            </a:pPr>
            <a:r>
              <a:rPr lang="es-ES" sz="2000" b="1" i="0">
                <a:solidFill>
                  <a:srgbClr val="FFFFFF"/>
                </a:solidFill>
                <a:latin typeface="Calibri"/>
              </a:rPr>
              <a:t>Matriz D</a:t>
            </a:r>
          </a:p>
        </p:txBody>
      </p:sp>
      <p:sp>
        <p:nvSpPr>
          <p:cNvPr id="7" name="TextBox 6"/>
          <p:cNvSpPr txBox="1"/>
          <p:nvPr/>
        </p:nvSpPr>
        <p:spPr>
          <a:xfrm>
            <a:off x="548640" y="2615184"/>
            <a:ext cx="3295802" cy="502920"/>
          </a:xfrm>
          <a:prstGeom prst="rect">
            <a:avLst/>
          </a:prstGeom>
          <a:noFill/>
        </p:spPr>
        <p:txBody>
          <a:bodyPr wrap="square" lIns="73152" tIns="18288" rIns="73152" bIns="54864" anchor="b">
            <a:noAutofit/>
          </a:bodyPr>
          <a:lstStyle/>
          <a:p>
            <a:pPr algn="ctr">
              <a:lnSpc>
                <a:spcPct val="100000"/>
              </a:lnSpc>
            </a:pPr>
            <a:r>
              <a:rPr lang="es-ES" sz="1300" b="0" i="0">
                <a:solidFill>
                  <a:srgbClr val="C7D2E8"/>
                </a:solidFill>
                <a:latin typeface="Calibri"/>
              </a:rPr>
              <a:t>factor E/(1−ν²) = 234375</a:t>
            </a:r>
          </a:p>
        </p:txBody>
      </p:sp>
      <p:sp>
        <p:nvSpPr>
          <p:cNvPr id="8" name="Right Arrow 7"/>
          <p:cNvSpPr/>
          <p:nvPr/>
        </p:nvSpPr>
        <p:spPr>
          <a:xfrm>
            <a:off x="3954170" y="232714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447946" y="1764792"/>
            <a:ext cx="3295802"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447946" y="1856232"/>
            <a:ext cx="3295802" cy="731520"/>
          </a:xfrm>
          <a:prstGeom prst="rect">
            <a:avLst/>
          </a:prstGeom>
          <a:noFill/>
        </p:spPr>
        <p:txBody>
          <a:bodyPr wrap="square" lIns="73152" tIns="18288" rIns="73152" bIns="18288" anchor="t">
            <a:noAutofit/>
          </a:bodyPr>
          <a:lstStyle/>
          <a:p>
            <a:pPr algn="ctr">
              <a:lnSpc>
                <a:spcPct val="100000"/>
              </a:lnSpc>
            </a:pPr>
            <a:r>
              <a:rPr lang="es-ES" sz="2000" b="1" i="0">
                <a:solidFill>
                  <a:srgbClr val="FFFFFF"/>
                </a:solidFill>
                <a:latin typeface="Calibri"/>
              </a:rPr>
              <a:t>kₑ del elemento 3</a:t>
            </a:r>
          </a:p>
        </p:txBody>
      </p:sp>
      <p:sp>
        <p:nvSpPr>
          <p:cNvPr id="11" name="TextBox 10"/>
          <p:cNvSpPr txBox="1"/>
          <p:nvPr/>
        </p:nvSpPr>
        <p:spPr>
          <a:xfrm>
            <a:off x="4447946" y="2615184"/>
            <a:ext cx="3295802" cy="502920"/>
          </a:xfrm>
          <a:prstGeom prst="rect">
            <a:avLst/>
          </a:prstGeom>
          <a:noFill/>
        </p:spPr>
        <p:txBody>
          <a:bodyPr wrap="square" lIns="73152" tIns="18288" rIns="73152" bIns="54864" anchor="b">
            <a:noAutofit/>
          </a:bodyPr>
          <a:lstStyle/>
          <a:p>
            <a:pPr algn="ctr">
              <a:lnSpc>
                <a:spcPct val="100000"/>
              </a:lnSpc>
            </a:pPr>
            <a:r>
              <a:rPr lang="es-ES" sz="1300" b="0" i="0">
                <a:solidFill>
                  <a:srgbClr val="C7D2E8"/>
                </a:solidFill>
                <a:latin typeface="Calibri"/>
              </a:rPr>
              <a:t>det J = 4,7604 en el PG 1</a:t>
            </a:r>
          </a:p>
        </p:txBody>
      </p:sp>
      <p:sp>
        <p:nvSpPr>
          <p:cNvPr id="12" name="Right Arrow 11"/>
          <p:cNvSpPr/>
          <p:nvPr/>
        </p:nvSpPr>
        <p:spPr>
          <a:xfrm>
            <a:off x="7853476" y="232714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347252" y="1764792"/>
            <a:ext cx="3295802"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347252" y="1856232"/>
            <a:ext cx="3295802" cy="731520"/>
          </a:xfrm>
          <a:prstGeom prst="rect">
            <a:avLst/>
          </a:prstGeom>
          <a:noFill/>
        </p:spPr>
        <p:txBody>
          <a:bodyPr wrap="square" lIns="73152" tIns="18288" rIns="73152" bIns="18288" anchor="t">
            <a:noAutofit/>
          </a:bodyPr>
          <a:lstStyle/>
          <a:p>
            <a:pPr algn="ctr">
              <a:lnSpc>
                <a:spcPct val="100000"/>
              </a:lnSpc>
            </a:pPr>
            <a:r>
              <a:rPr lang="es-ES" sz="2000" b="1" i="0">
                <a:solidFill>
                  <a:srgbClr val="FFFFFF"/>
                </a:solidFill>
                <a:latin typeface="Calibri"/>
              </a:rPr>
              <a:t>Ensamblaje</a:t>
            </a:r>
          </a:p>
        </p:txBody>
      </p:sp>
      <p:sp>
        <p:nvSpPr>
          <p:cNvPr id="15" name="TextBox 14"/>
          <p:cNvSpPr txBox="1"/>
          <p:nvPr/>
        </p:nvSpPr>
        <p:spPr>
          <a:xfrm>
            <a:off x="8347252" y="2615184"/>
            <a:ext cx="3295802" cy="502920"/>
          </a:xfrm>
          <a:prstGeom prst="rect">
            <a:avLst/>
          </a:prstGeom>
          <a:noFill/>
        </p:spPr>
        <p:txBody>
          <a:bodyPr wrap="square" lIns="73152" tIns="18288" rIns="73152" bIns="54864" anchor="b">
            <a:noAutofit/>
          </a:bodyPr>
          <a:lstStyle/>
          <a:p>
            <a:pPr algn="ctr">
              <a:lnSpc>
                <a:spcPct val="100000"/>
              </a:lnSpc>
            </a:pPr>
            <a:r>
              <a:rPr lang="es-ES" sz="1300" b="0" i="0">
                <a:solidFill>
                  <a:srgbClr val="C7D2E8"/>
                </a:solidFill>
                <a:latin typeface="Calibri"/>
              </a:rPr>
              <a:t>K de 18×18; F₇ᵧ = −1000</a:t>
            </a:r>
          </a:p>
        </p:txBody>
      </p:sp>
      <p:sp>
        <p:nvSpPr>
          <p:cNvPr id="16" name="Rounded Rectangle 15"/>
          <p:cNvSpPr/>
          <p:nvPr/>
        </p:nvSpPr>
        <p:spPr>
          <a:xfrm>
            <a:off x="548640" y="3639312"/>
            <a:ext cx="3295802"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48640" y="3730752"/>
            <a:ext cx="3295802" cy="731520"/>
          </a:xfrm>
          <a:prstGeom prst="rect">
            <a:avLst/>
          </a:prstGeom>
          <a:noFill/>
        </p:spPr>
        <p:txBody>
          <a:bodyPr wrap="square" lIns="73152" tIns="18288" rIns="73152" bIns="18288" anchor="t">
            <a:noAutofit/>
          </a:bodyPr>
          <a:lstStyle/>
          <a:p>
            <a:pPr algn="ctr">
              <a:lnSpc>
                <a:spcPct val="100000"/>
              </a:lnSpc>
            </a:pPr>
            <a:r>
              <a:rPr lang="es-ES" sz="2000" b="1" i="0">
                <a:solidFill>
                  <a:srgbClr val="FFFFFF"/>
                </a:solidFill>
                <a:latin typeface="Calibri"/>
              </a:rPr>
              <a:t>Partición</a:t>
            </a:r>
          </a:p>
        </p:txBody>
      </p:sp>
      <p:sp>
        <p:nvSpPr>
          <p:cNvPr id="18" name="TextBox 17"/>
          <p:cNvSpPr txBox="1"/>
          <p:nvPr/>
        </p:nvSpPr>
        <p:spPr>
          <a:xfrm>
            <a:off x="548640" y="4489704"/>
            <a:ext cx="3295802" cy="502920"/>
          </a:xfrm>
          <a:prstGeom prst="rect">
            <a:avLst/>
          </a:prstGeom>
          <a:noFill/>
        </p:spPr>
        <p:txBody>
          <a:bodyPr wrap="square" lIns="73152" tIns="18288" rIns="73152" bIns="54864" anchor="b">
            <a:noAutofit/>
          </a:bodyPr>
          <a:lstStyle/>
          <a:p>
            <a:pPr algn="ctr">
              <a:lnSpc>
                <a:spcPct val="100000"/>
              </a:lnSpc>
            </a:pPr>
            <a:r>
              <a:rPr lang="es-ES" sz="1300" b="0" i="0">
                <a:solidFill>
                  <a:srgbClr val="C7D2E8"/>
                </a:solidFill>
                <a:latin typeface="Calibri"/>
              </a:rPr>
              <a:t>6 GDL restringidos, 12 libres</a:t>
            </a:r>
          </a:p>
        </p:txBody>
      </p:sp>
      <p:sp>
        <p:nvSpPr>
          <p:cNvPr id="19" name="Right Arrow 18"/>
          <p:cNvSpPr/>
          <p:nvPr/>
        </p:nvSpPr>
        <p:spPr>
          <a:xfrm>
            <a:off x="3954170" y="420166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447946" y="3639312"/>
            <a:ext cx="3295802"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4447946" y="3730752"/>
            <a:ext cx="3295802" cy="731520"/>
          </a:xfrm>
          <a:prstGeom prst="rect">
            <a:avLst/>
          </a:prstGeom>
          <a:noFill/>
        </p:spPr>
        <p:txBody>
          <a:bodyPr wrap="square" lIns="73152" tIns="18288" rIns="73152" bIns="18288" anchor="t">
            <a:noAutofit/>
          </a:bodyPr>
          <a:lstStyle/>
          <a:p>
            <a:pPr algn="ctr">
              <a:lnSpc>
                <a:spcPct val="100000"/>
              </a:lnSpc>
            </a:pPr>
            <a:r>
              <a:rPr lang="es-ES" sz="2000" b="1" i="0">
                <a:solidFill>
                  <a:srgbClr val="FFFFFF"/>
                </a:solidFill>
                <a:latin typeface="Calibri"/>
              </a:rPr>
              <a:t>Reacciones</a:t>
            </a:r>
          </a:p>
        </p:txBody>
      </p:sp>
      <p:sp>
        <p:nvSpPr>
          <p:cNvPr id="22" name="TextBox 21"/>
          <p:cNvSpPr txBox="1"/>
          <p:nvPr/>
        </p:nvSpPr>
        <p:spPr>
          <a:xfrm>
            <a:off x="4447946" y="4489704"/>
            <a:ext cx="3295802" cy="502920"/>
          </a:xfrm>
          <a:prstGeom prst="rect">
            <a:avLst/>
          </a:prstGeom>
          <a:noFill/>
        </p:spPr>
        <p:txBody>
          <a:bodyPr wrap="square" lIns="73152" tIns="18288" rIns="73152" bIns="54864" anchor="b">
            <a:noAutofit/>
          </a:bodyPr>
          <a:lstStyle/>
          <a:p>
            <a:pPr algn="ctr">
              <a:lnSpc>
                <a:spcPct val="100000"/>
              </a:lnSpc>
            </a:pPr>
            <a:r>
              <a:rPr lang="es-ES" sz="1300" b="0" i="0">
                <a:solidFill>
                  <a:srgbClr val="C7D2E8"/>
                </a:solidFill>
                <a:latin typeface="Calibri"/>
              </a:rPr>
              <a:t>ΣRₓ = 0,00 · ΣRᵧ = 1000,00</a:t>
            </a:r>
          </a:p>
        </p:txBody>
      </p:sp>
      <p:sp>
        <p:nvSpPr>
          <p:cNvPr id="23" name="Right Arrow 22"/>
          <p:cNvSpPr/>
          <p:nvPr/>
        </p:nvSpPr>
        <p:spPr>
          <a:xfrm>
            <a:off x="7853476" y="420166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8347252" y="3639312"/>
            <a:ext cx="3295802"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347252" y="3730752"/>
            <a:ext cx="3295802" cy="731520"/>
          </a:xfrm>
          <a:prstGeom prst="rect">
            <a:avLst/>
          </a:prstGeom>
          <a:noFill/>
        </p:spPr>
        <p:txBody>
          <a:bodyPr wrap="square" lIns="73152" tIns="18288" rIns="73152" bIns="18288" anchor="t">
            <a:noAutofit/>
          </a:bodyPr>
          <a:lstStyle/>
          <a:p>
            <a:pPr algn="ctr">
              <a:lnSpc>
                <a:spcPct val="100000"/>
              </a:lnSpc>
            </a:pPr>
            <a:r>
              <a:rPr lang="es-ES" sz="2000" b="1" i="0">
                <a:solidFill>
                  <a:srgbClr val="FFFFFF"/>
                </a:solidFill>
                <a:latin typeface="Calibri"/>
              </a:rPr>
              <a:t>Tensiones</a:t>
            </a:r>
          </a:p>
        </p:txBody>
      </p:sp>
      <p:sp>
        <p:nvSpPr>
          <p:cNvPr id="26" name="TextBox 25"/>
          <p:cNvSpPr txBox="1"/>
          <p:nvPr/>
        </p:nvSpPr>
        <p:spPr>
          <a:xfrm>
            <a:off x="8347252" y="4489704"/>
            <a:ext cx="3295802" cy="502920"/>
          </a:xfrm>
          <a:prstGeom prst="rect">
            <a:avLst/>
          </a:prstGeom>
          <a:noFill/>
        </p:spPr>
        <p:txBody>
          <a:bodyPr wrap="square" lIns="73152" tIns="18288" rIns="73152" bIns="54864" anchor="b">
            <a:noAutofit/>
          </a:bodyPr>
          <a:lstStyle/>
          <a:p>
            <a:pPr algn="ctr">
              <a:lnSpc>
                <a:spcPct val="100000"/>
              </a:lnSpc>
            </a:pPr>
            <a:r>
              <a:rPr lang="es-ES" sz="1300" b="0" i="0">
                <a:solidFill>
                  <a:srgbClr val="C7D2E8"/>
                </a:solidFill>
                <a:latin typeface="Calibri"/>
              </a:rPr>
              <a:t>σVM máx = 864,70 en el nodo 7</a:t>
            </a:r>
          </a:p>
        </p:txBody>
      </p:sp>
      <p:sp>
        <p:nvSpPr>
          <p:cNvPr id="27" name="Rectangle 26"/>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7"/>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777240" y="5431536"/>
            <a:ext cx="10774375" cy="841248"/>
          </a:xfrm>
          <a:prstGeom prst="rect">
            <a:avLst/>
          </a:prstGeom>
          <a:noFill/>
        </p:spPr>
        <p:txBody>
          <a:bodyPr wrap="square" lIns="45720" tIns="27432" rIns="45720" bIns="27432" anchor="ctr">
            <a:noAutofit/>
          </a:bodyPr>
          <a:lstStyle/>
          <a:p>
            <a:pPr algn="l">
              <a:lnSpc>
                <a:spcPct val="100000"/>
              </a:lnSpc>
            </a:pPr>
            <a:r>
              <a:rPr lang="es-ES" sz="2200" b="1" i="0">
                <a:solidFill>
                  <a:srgbClr val="1B2A4A"/>
                </a:solidFill>
                <a:latin typeface="Calibri"/>
              </a:rPr>
              <a:t>PDF en dos estilos (educativo y directo) con TeX Live embebido; formatos .edufem, CSV/ZIP y DXF</a:t>
            </a:r>
          </a:p>
        </p:txBody>
      </p:sp>
      <p:sp>
        <p:nvSpPr>
          <p:cNvPr id="30" name="Rectangle 29"/>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548640" y="6419088"/>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32" name="TextBox 31"/>
          <p:cNvSpPr txBox="1"/>
          <p:nvPr/>
        </p:nvSpPr>
        <p:spPr>
          <a:xfrm>
            <a:off x="4023360" y="6419088"/>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§2.2, memoria e interoperabilidad; Anexo G</a:t>
            </a:r>
          </a:p>
        </p:txBody>
      </p:sp>
      <p:sp>
        <p:nvSpPr>
          <p:cNvPr id="33" name="TextBox 32"/>
          <p:cNvSpPr txBox="1"/>
          <p:nvPr/>
        </p:nvSpPr>
        <p:spPr>
          <a:xfrm>
            <a:off x="10545775" y="6419088"/>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23</a:t>
            </a:fld>
            <a:endParaRPr lang="es-ES" sz="1200" dirty="0">
              <a:solidFill>
                <a:srgbClr val="5B6575"/>
              </a:solidFill>
              <a:latin typeface="Calibri"/>
            </a:endParaRPr>
          </a:p>
        </p:txBody>
      </p:sp>
      <p:pic>
        <p:nvPicPr>
          <p:cNvPr id="34" name="s23">
            <a:hlinkClick r:id="" action="ppaction://media"/>
            <a:extLst>
              <a:ext uri="{FF2B5EF4-FFF2-40B4-BE49-F238E27FC236}">
                <a16:creationId xmlns:a16="http://schemas.microsoft.com/office/drawing/2014/main" id="{8661D4D0-2447-1088-870F-B53C6AB11DE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4012"/>
    </mc:Choice>
    <mc:Fallback>
      <p:transition spd="slow" advTm="6401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34"/>
                </p:tgtEl>
              </p:cMediaNode>
            </p:audi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168335" cy="868680"/>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Demostración en vivo</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noAutofit/>
          </a:bodyPr>
          <a:lstStyle/>
          <a:p>
            <a:pPr algn="ctr">
              <a:lnSpc>
                <a:spcPct val="100000"/>
              </a:lnSpc>
            </a:pPr>
            <a:r>
              <a:rPr lang="es-ES" sz="1300" b="1" i="0">
                <a:solidFill>
                  <a:srgbClr val="1B2A4A"/>
                </a:solidFill>
                <a:latin typeface="Calibri"/>
              </a:rPr>
              <a:t>3  ·  Diseño y desarrollo del modelo</a:t>
            </a:r>
          </a:p>
        </p:txBody>
      </p:sp>
      <p:pic>
        <p:nvPicPr>
          <p:cNvPr id="5" name="Picture 4" descr="fig_app_completa.png"/>
          <p:cNvPicPr>
            <a:picLocks noChangeAspect="1"/>
          </p:cNvPicPr>
          <p:nvPr/>
        </p:nvPicPr>
        <p:blipFill>
          <a:blip r:embed="rId5"/>
          <a:stretch>
            <a:fillRect/>
          </a:stretch>
        </p:blipFill>
        <p:spPr>
          <a:xfrm>
            <a:off x="548640" y="2065827"/>
            <a:ext cx="7223760" cy="3622456"/>
          </a:xfrm>
          <a:prstGeom prst="rect">
            <a:avLst/>
          </a:prstGeom>
          <a:ln w="9525">
            <a:solidFill>
              <a:srgbClr val="D1D5DB"/>
            </a:solidFill>
          </a:ln>
        </p:spPr>
      </p:pic>
      <p:sp>
        <p:nvSpPr>
          <p:cNvPr id="6" name="TextBox 5"/>
          <p:cNvSpPr txBox="1"/>
          <p:nvPr/>
        </p:nvSpPr>
        <p:spPr>
          <a:xfrm>
            <a:off x="8138160" y="1481328"/>
            <a:ext cx="3504895" cy="457200"/>
          </a:xfrm>
          <a:prstGeom prst="rect">
            <a:avLst/>
          </a:prstGeom>
          <a:noFill/>
        </p:spPr>
        <p:txBody>
          <a:bodyPr wrap="square" lIns="45720" tIns="27432" rIns="45720" bIns="27432" anchor="t">
            <a:noAutofit/>
          </a:bodyPr>
          <a:lstStyle/>
          <a:p>
            <a:pPr algn="l">
              <a:lnSpc>
                <a:spcPct val="105000"/>
              </a:lnSpc>
            </a:pPr>
            <a:r>
              <a:rPr lang="es-ES" sz="2000" b="1" i="0">
                <a:solidFill>
                  <a:srgbClr val="F28C28"/>
                </a:solidFill>
                <a:latin typeface="Calibri"/>
              </a:rPr>
              <a:t>Qué vamos a ver</a:t>
            </a:r>
          </a:p>
        </p:txBody>
      </p:sp>
      <p:sp>
        <p:nvSpPr>
          <p:cNvPr id="7" name="Oval 6"/>
          <p:cNvSpPr/>
          <p:nvPr/>
        </p:nvSpPr>
        <p:spPr>
          <a:xfrm>
            <a:off x="8138160" y="210312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lnSpc>
                <a:spcPct val="100000"/>
              </a:lnSpc>
            </a:pPr>
            <a:r>
              <a:rPr lang="es-ES" sz="1800" b="1" i="0">
                <a:solidFill>
                  <a:srgbClr val="FFFFFF"/>
                </a:solidFill>
                <a:latin typeface="Calibri"/>
              </a:rPr>
              <a:t>1</a:t>
            </a:r>
          </a:p>
        </p:txBody>
      </p:sp>
      <p:sp>
        <p:nvSpPr>
          <p:cNvPr id="8" name="TextBox 7"/>
          <p:cNvSpPr txBox="1"/>
          <p:nvPr/>
        </p:nvSpPr>
        <p:spPr>
          <a:xfrm>
            <a:off x="8732520" y="2048256"/>
            <a:ext cx="2910535" cy="1442720"/>
          </a:xfrm>
          <a:prstGeom prst="rect">
            <a:avLst/>
          </a:prstGeom>
          <a:noFill/>
        </p:spPr>
        <p:txBody>
          <a:bodyPr wrap="square" lIns="45720" tIns="27432" rIns="45720" bIns="27432" anchor="t">
            <a:noAutofit/>
          </a:bodyPr>
          <a:lstStyle/>
          <a:p>
            <a:pPr algn="l">
              <a:lnSpc>
                <a:spcPct val="115000"/>
              </a:lnSpc>
            </a:pPr>
            <a:r>
              <a:rPr lang="es-ES" sz="2000" b="0" i="0">
                <a:solidFill>
                  <a:srgbClr val="1F2937"/>
                </a:solidFill>
                <a:latin typeface="Calibri"/>
              </a:rPr>
              <a:t>Cargar el ejemplo canónico (Ctrl+E): 9 nodos, 4 elementos Q4, carga en el nodo 7</a:t>
            </a:r>
          </a:p>
        </p:txBody>
      </p:sp>
      <p:sp>
        <p:nvSpPr>
          <p:cNvPr id="9" name="Oval 8"/>
          <p:cNvSpPr/>
          <p:nvPr/>
        </p:nvSpPr>
        <p:spPr>
          <a:xfrm>
            <a:off x="8138160" y="354584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lnSpc>
                <a:spcPct val="100000"/>
              </a:lnSpc>
            </a:pPr>
            <a:r>
              <a:rPr lang="es-ES" sz="1800" b="1" i="0">
                <a:solidFill>
                  <a:srgbClr val="FFFFFF"/>
                </a:solidFill>
                <a:latin typeface="Calibri"/>
              </a:rPr>
              <a:t>2</a:t>
            </a:r>
          </a:p>
        </p:txBody>
      </p:sp>
      <p:sp>
        <p:nvSpPr>
          <p:cNvPr id="10" name="TextBox 9"/>
          <p:cNvSpPr txBox="1"/>
          <p:nvPr/>
        </p:nvSpPr>
        <p:spPr>
          <a:xfrm>
            <a:off x="8732520" y="3490976"/>
            <a:ext cx="2910535" cy="1150620"/>
          </a:xfrm>
          <a:prstGeom prst="rect">
            <a:avLst/>
          </a:prstGeom>
          <a:noFill/>
        </p:spPr>
        <p:txBody>
          <a:bodyPr wrap="square" lIns="45720" tIns="27432" rIns="45720" bIns="27432" anchor="t">
            <a:noAutofit/>
          </a:bodyPr>
          <a:lstStyle/>
          <a:p>
            <a:pPr algn="l">
              <a:lnSpc>
                <a:spcPct val="115000"/>
              </a:lnSpc>
            </a:pPr>
            <a:r>
              <a:rPr lang="es-ES" sz="2000" b="0" i="0">
                <a:solidFill>
                  <a:srgbClr val="1F2937"/>
                </a:solidFill>
                <a:latin typeface="Calibri"/>
              </a:rPr>
              <a:t>Abrir M5 (Ctrl+5) sobre un elemento: puntos de Gauss y kₑ</a:t>
            </a:r>
          </a:p>
        </p:txBody>
      </p:sp>
      <p:sp>
        <p:nvSpPr>
          <p:cNvPr id="11" name="Oval 10"/>
          <p:cNvSpPr/>
          <p:nvPr/>
        </p:nvSpPr>
        <p:spPr>
          <a:xfrm>
            <a:off x="8138160" y="4696459"/>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lnSpc>
                <a:spcPct val="100000"/>
              </a:lnSpc>
            </a:pPr>
            <a:r>
              <a:rPr lang="es-ES" sz="1800" b="1" i="0">
                <a:solidFill>
                  <a:srgbClr val="FFFFFF"/>
                </a:solidFill>
                <a:latin typeface="Calibri"/>
              </a:rPr>
              <a:t>3</a:t>
            </a:r>
          </a:p>
        </p:txBody>
      </p:sp>
      <p:sp>
        <p:nvSpPr>
          <p:cNvPr id="12" name="TextBox 11"/>
          <p:cNvSpPr txBox="1"/>
          <p:nvPr/>
        </p:nvSpPr>
        <p:spPr>
          <a:xfrm>
            <a:off x="8732520" y="4641595"/>
            <a:ext cx="2910535" cy="1442720"/>
          </a:xfrm>
          <a:prstGeom prst="rect">
            <a:avLst/>
          </a:prstGeom>
          <a:noFill/>
        </p:spPr>
        <p:txBody>
          <a:bodyPr wrap="square" lIns="45720" tIns="27432" rIns="45720" bIns="27432" anchor="t">
            <a:noAutofit/>
          </a:bodyPr>
          <a:lstStyle/>
          <a:p>
            <a:pPr algn="l">
              <a:lnSpc>
                <a:spcPct val="115000"/>
              </a:lnSpc>
            </a:pPr>
            <a:r>
              <a:rPr lang="es-ES" sz="2000" b="0" i="0">
                <a:solidFill>
                  <a:srgbClr val="1F2937"/>
                </a:solidFill>
                <a:latin typeface="Calibri"/>
              </a:rPr>
              <a:t>Resolver (F5): contorno de von Mises, sonda con círculo de Mohr y memoria PDF</a:t>
            </a:r>
          </a:p>
        </p:txBody>
      </p:sp>
      <p:sp>
        <p:nvSpPr>
          <p:cNvPr id="13" name="Rectangle 12"/>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48640" y="6419088"/>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15" name="TextBox 14"/>
          <p:cNvSpPr txBox="1"/>
          <p:nvPr/>
        </p:nvSpPr>
        <p:spPr>
          <a:xfrm>
            <a:off x="4023360" y="6419088"/>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Anexo B, manual de uso</a:t>
            </a:r>
          </a:p>
        </p:txBody>
      </p:sp>
      <p:sp>
        <p:nvSpPr>
          <p:cNvPr id="16" name="TextBox 15"/>
          <p:cNvSpPr txBox="1"/>
          <p:nvPr/>
        </p:nvSpPr>
        <p:spPr>
          <a:xfrm>
            <a:off x="10545775" y="6419088"/>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24</a:t>
            </a:fld>
            <a:endParaRPr lang="es-ES" sz="1200" dirty="0">
              <a:solidFill>
                <a:srgbClr val="5B6575"/>
              </a:solidFill>
              <a:latin typeface="Calibri"/>
            </a:endParaRPr>
          </a:p>
        </p:txBody>
      </p:sp>
      <p:pic>
        <p:nvPicPr>
          <p:cNvPr id="17" name="s24">
            <a:hlinkClick r:id="" action="ppaction://media"/>
            <a:extLst>
              <a:ext uri="{FF2B5EF4-FFF2-40B4-BE49-F238E27FC236}">
                <a16:creationId xmlns:a16="http://schemas.microsoft.com/office/drawing/2014/main" id="{04EAB18D-DD25-E27F-9728-81EA09F63C8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4388"/>
    </mc:Choice>
    <mc:Fallback>
      <p:transition spd="slow" advTm="2438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7"/>
                </p:tgtEl>
              </p:cMediaNode>
            </p:audi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11B33"/>
        </a:solidFill>
        <a:effectLst/>
      </p:bgPr>
    </p:bg>
    <p:spTree>
      <p:nvGrpSpPr>
        <p:cNvPr id="1" name=""/>
        <p:cNvGrpSpPr/>
        <p:nvPr/>
      </p:nvGrpSpPr>
      <p:grpSpPr>
        <a:xfrm>
          <a:off x="0" y="0"/>
          <a:ext cx="0" cy="0"/>
          <a:chOff x="0" y="0"/>
          <a:chExt cx="0" cy="0"/>
        </a:xfrm>
      </p:grpSpPr>
      <p:sp>
        <p:nvSpPr>
          <p:cNvPr id="2" name="TextBox 1"/>
          <p:cNvSpPr txBox="1"/>
          <p:nvPr/>
        </p:nvSpPr>
        <p:spPr>
          <a:xfrm>
            <a:off x="731520" y="1417320"/>
            <a:ext cx="2194560" cy="1828800"/>
          </a:xfrm>
          <a:prstGeom prst="rect">
            <a:avLst/>
          </a:prstGeom>
          <a:noFill/>
        </p:spPr>
        <p:txBody>
          <a:bodyPr wrap="square" lIns="45720" tIns="27432" rIns="45720" bIns="27432" anchor="ctr">
            <a:noAutofit/>
          </a:bodyPr>
          <a:lstStyle/>
          <a:p>
            <a:pPr algn="l">
              <a:lnSpc>
                <a:spcPct val="105000"/>
              </a:lnSpc>
            </a:pPr>
            <a:r>
              <a:rPr lang="es-ES" sz="9600" b="1" i="0">
                <a:solidFill>
                  <a:srgbClr val="F28C28"/>
                </a:solidFill>
                <a:latin typeface="Calibri"/>
              </a:rPr>
              <a:t>04</a:t>
            </a:r>
          </a:p>
        </p:txBody>
      </p:sp>
      <p:sp>
        <p:nvSpPr>
          <p:cNvPr id="3" name="Rectangle 2"/>
          <p:cNvSpPr/>
          <p:nvPr/>
        </p:nvSpPr>
        <p:spPr>
          <a:xfrm>
            <a:off x="3063240" y="1691640"/>
            <a:ext cx="54864" cy="1325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3383280" y="1417320"/>
            <a:ext cx="8229600" cy="1188720"/>
          </a:xfrm>
          <a:prstGeom prst="rect">
            <a:avLst/>
          </a:prstGeom>
          <a:noFill/>
        </p:spPr>
        <p:txBody>
          <a:bodyPr wrap="square" lIns="45720" tIns="27432" rIns="45720" bIns="27432" anchor="ctr">
            <a:noAutofit/>
          </a:bodyPr>
          <a:lstStyle/>
          <a:p>
            <a:pPr algn="l">
              <a:lnSpc>
                <a:spcPct val="105000"/>
              </a:lnSpc>
            </a:pPr>
            <a:r>
              <a:rPr lang="es-ES" sz="4400" b="1" i="0">
                <a:solidFill>
                  <a:srgbClr val="FFFFFF"/>
                </a:solidFill>
                <a:latin typeface="Calibri"/>
              </a:rPr>
              <a:t>Presentación de resultados</a:t>
            </a:r>
          </a:p>
        </p:txBody>
      </p:sp>
      <p:sp>
        <p:nvSpPr>
          <p:cNvPr id="5" name="TextBox 4"/>
          <p:cNvSpPr txBox="1"/>
          <p:nvPr/>
        </p:nvSpPr>
        <p:spPr>
          <a:xfrm>
            <a:off x="3383280" y="2606040"/>
            <a:ext cx="8229600" cy="1280160"/>
          </a:xfrm>
          <a:prstGeom prst="rect">
            <a:avLst/>
          </a:prstGeom>
          <a:noFill/>
        </p:spPr>
        <p:txBody>
          <a:bodyPr wrap="square" lIns="45720" tIns="27432" rIns="45720" bIns="27432" anchor="t">
            <a:noAutofit/>
          </a:bodyPr>
          <a:lstStyle/>
          <a:p>
            <a:pPr algn="l">
              <a:lnSpc>
                <a:spcPct val="115000"/>
              </a:lnSpc>
            </a:pPr>
            <a:r>
              <a:rPr lang="es-ES" sz="2200" b="0" i="0">
                <a:solidFill>
                  <a:srgbClr val="C7D2E8"/>
                </a:solidFill>
                <a:latin typeface="Calibri"/>
              </a:rPr>
              <a:t>Probar que la caja abierta calcula bien: MMS, consistencia interna, viga de Timoshenko y membrana de Cook</a:t>
            </a:r>
          </a:p>
        </p:txBody>
      </p:sp>
      <p:sp>
        <p:nvSpPr>
          <p:cNvPr id="6" name="Rounded Rectangle 5"/>
          <p:cNvSpPr/>
          <p:nvPr/>
        </p:nvSpPr>
        <p:spPr>
          <a:xfrm>
            <a:off x="548640" y="5760720"/>
            <a:ext cx="1757629" cy="566928"/>
          </a:xfrm>
          <a:prstGeom prst="roundRect">
            <a:avLst>
              <a:gd name="adj" fmla="val 25000"/>
            </a:avLst>
          </a:prstGeom>
          <a:solidFill>
            <a:srgbClr val="2A3B6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1. Introducción</a:t>
            </a:r>
          </a:p>
        </p:txBody>
      </p:sp>
      <p:sp>
        <p:nvSpPr>
          <p:cNvPr id="7" name="Rounded Rectangle 6"/>
          <p:cNvSpPr/>
          <p:nvPr/>
        </p:nvSpPr>
        <p:spPr>
          <a:xfrm>
            <a:off x="2415997" y="5760720"/>
            <a:ext cx="1757629" cy="566928"/>
          </a:xfrm>
          <a:prstGeom prst="roundRect">
            <a:avLst>
              <a:gd name="adj" fmla="val 25000"/>
            </a:avLst>
          </a:prstGeom>
          <a:solidFill>
            <a:srgbClr val="2A3B6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2. Base teórica</a:t>
            </a:r>
          </a:p>
        </p:txBody>
      </p:sp>
      <p:sp>
        <p:nvSpPr>
          <p:cNvPr id="8" name="Rounded Rectangle 7"/>
          <p:cNvSpPr/>
          <p:nvPr/>
        </p:nvSpPr>
        <p:spPr>
          <a:xfrm>
            <a:off x="4283354" y="5760720"/>
            <a:ext cx="1757629" cy="566928"/>
          </a:xfrm>
          <a:prstGeom prst="roundRect">
            <a:avLst>
              <a:gd name="adj" fmla="val 25000"/>
            </a:avLst>
          </a:prstGeom>
          <a:solidFill>
            <a:srgbClr val="2A3B6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3. Diseño y desarrollo del modelo</a:t>
            </a:r>
          </a:p>
        </p:txBody>
      </p:sp>
      <p:sp>
        <p:nvSpPr>
          <p:cNvPr id="9" name="Rounded Rectangle 8"/>
          <p:cNvSpPr/>
          <p:nvPr/>
        </p:nvSpPr>
        <p:spPr>
          <a:xfrm>
            <a:off x="6150711" y="5760720"/>
            <a:ext cx="1757629" cy="566928"/>
          </a:xfrm>
          <a:prstGeom prst="roundRect">
            <a:avLst>
              <a:gd name="adj" fmla="val 25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1" i="0">
                <a:solidFill>
                  <a:srgbClr val="FFFFFF"/>
                </a:solidFill>
                <a:latin typeface="Calibri"/>
              </a:rPr>
              <a:t>4. Presentación de resultados</a:t>
            </a:r>
          </a:p>
        </p:txBody>
      </p:sp>
      <p:sp>
        <p:nvSpPr>
          <p:cNvPr id="10" name="Rounded Rectangle 9"/>
          <p:cNvSpPr/>
          <p:nvPr/>
        </p:nvSpPr>
        <p:spPr>
          <a:xfrm>
            <a:off x="8018068" y="5760720"/>
            <a:ext cx="1757629" cy="566928"/>
          </a:xfrm>
          <a:prstGeom prst="roundRect">
            <a:avLst>
              <a:gd name="adj" fmla="val 25000"/>
            </a:avLst>
          </a:prstGeom>
          <a:solidFill>
            <a:srgbClr val="1C28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5. Análisis de resultados</a:t>
            </a:r>
          </a:p>
        </p:txBody>
      </p:sp>
      <p:sp>
        <p:nvSpPr>
          <p:cNvPr id="11" name="Rounded Rectangle 10"/>
          <p:cNvSpPr/>
          <p:nvPr/>
        </p:nvSpPr>
        <p:spPr>
          <a:xfrm>
            <a:off x="9885426" y="5760720"/>
            <a:ext cx="1757629" cy="566928"/>
          </a:xfrm>
          <a:prstGeom prst="roundRect">
            <a:avLst>
              <a:gd name="adj" fmla="val 25000"/>
            </a:avLst>
          </a:prstGeom>
          <a:solidFill>
            <a:srgbClr val="1C28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6. Conclusiones y recomendaciones</a:t>
            </a:r>
          </a:p>
        </p:txBody>
      </p:sp>
      <p:pic>
        <p:nvPicPr>
          <p:cNvPr id="12" name="s25">
            <a:hlinkClick r:id="" action="ppaction://media"/>
            <a:extLst>
              <a:ext uri="{FF2B5EF4-FFF2-40B4-BE49-F238E27FC236}">
                <a16:creationId xmlns:a16="http://schemas.microsoft.com/office/drawing/2014/main" id="{69B34206-67D0-0A76-2B4D-7EC6DCF32DE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300"/>
    </mc:Choice>
    <mc:Fallback>
      <p:transition spd="slow" advTm="73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168335" cy="868680"/>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MMS: las tasas teóricas se cumplen</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noAutofit/>
          </a:bodyPr>
          <a:lstStyle/>
          <a:p>
            <a:pPr algn="ctr">
              <a:lnSpc>
                <a:spcPct val="100000"/>
              </a:lnSpc>
            </a:pPr>
            <a:r>
              <a:rPr lang="es-ES" sz="1300" b="1" i="0">
                <a:solidFill>
                  <a:srgbClr val="1B2A4A"/>
                </a:solidFill>
                <a:latin typeface="Calibri"/>
              </a:rPr>
              <a:t>4  ·  Presentación de resultados</a:t>
            </a:r>
          </a:p>
        </p:txBody>
      </p:sp>
      <p:sp>
        <p:nvSpPr>
          <p:cNvPr id="5" name="TextBox 4"/>
          <p:cNvSpPr txBox="1"/>
          <p:nvPr/>
        </p:nvSpPr>
        <p:spPr>
          <a:xfrm>
            <a:off x="594360" y="1527048"/>
            <a:ext cx="5257800" cy="3767328"/>
          </a:xfrm>
          <a:prstGeom prst="rect">
            <a:avLst/>
          </a:prstGeom>
          <a:noFill/>
        </p:spPr>
        <p:txBody>
          <a:bodyPr wrap="square" lIns="45720" tIns="27432" rIns="45720" bIns="27432" anchor="ctr">
            <a:noAutofit/>
          </a:bodyPr>
          <a:lstStyle/>
          <a:p>
            <a:pPr marL="347472" indent="-347472">
              <a:lnSpc>
                <a:spcPct val="112000"/>
              </a:lnSpc>
              <a:spcAft>
                <a:spcPts val="1200"/>
              </a:spcAft>
              <a:buClr>
                <a:srgbClr val="F28C28"/>
              </a:buClr>
              <a:buSzPct val="100000"/>
              <a:buFont typeface="Arial"/>
              <a:buChar char="•"/>
            </a:pPr>
            <a:r>
              <a:rPr lang="es-ES" sz="2200" b="1" i="0">
                <a:solidFill>
                  <a:srgbClr val="1B2A4A"/>
                </a:solidFill>
                <a:latin typeface="Calibri"/>
              </a:rPr>
              <a:t>Q4:</a:t>
            </a:r>
            <a:r>
              <a:rPr lang="es-ES" sz="2200" b="0" i="0">
                <a:solidFill>
                  <a:srgbClr val="1F2937"/>
                </a:solidFill>
                <a:latin typeface="Calibri"/>
              </a:rPr>
              <a:t> O(h²·⁰⁰) en L², O(h¹·⁰⁰) en H¹, O(h¹·⁵⁴) en σ*</a:t>
            </a:r>
          </a:p>
          <a:p>
            <a:pPr marL="347472" indent="-347472">
              <a:lnSpc>
                <a:spcPct val="112000"/>
              </a:lnSpc>
              <a:spcAft>
                <a:spcPts val="1200"/>
              </a:spcAft>
              <a:buClr>
                <a:srgbClr val="F28C28"/>
              </a:buClr>
              <a:buSzPct val="100000"/>
              <a:buFont typeface="Arial"/>
              <a:buChar char="•"/>
            </a:pPr>
            <a:r>
              <a:rPr lang="es-ES" sz="2200" b="1" i="0">
                <a:solidFill>
                  <a:srgbClr val="1B2A4A"/>
                </a:solidFill>
                <a:latin typeface="Calibri"/>
              </a:rPr>
              <a:t>Q9:</a:t>
            </a:r>
            <a:r>
              <a:rPr lang="es-ES" sz="2200" b="0" i="0">
                <a:solidFill>
                  <a:srgbClr val="1F2937"/>
                </a:solidFill>
                <a:latin typeface="Calibri"/>
              </a:rPr>
              <a:t> O(h³·⁰⁰) en L², O(h²·⁰⁰) en H¹, O(h²·⁰⁰) en σ*</a:t>
            </a:r>
          </a:p>
          <a:p>
            <a:pPr marL="347472" indent="-347472">
              <a:lnSpc>
                <a:spcPct val="112000"/>
              </a:lnSpc>
              <a:spcAft>
                <a:spcPts val="1200"/>
              </a:spcAft>
              <a:buClr>
                <a:srgbClr val="F28C28"/>
              </a:buClr>
              <a:buSzPct val="100000"/>
              <a:buFont typeface="Arial"/>
              <a:buChar char="•"/>
            </a:pPr>
            <a:r>
              <a:rPr lang="es-ES" sz="2200" b="1" i="0">
                <a:solidFill>
                  <a:srgbClr val="1B2A4A"/>
                </a:solidFill>
                <a:latin typeface="Calibri"/>
              </a:rPr>
              <a:t>Mallas de 2×2 a 32×32:</a:t>
            </a:r>
            <a:r>
              <a:rPr lang="es-ES" sz="2200" b="0" i="0">
                <a:solidFill>
                  <a:srgbClr val="1F2937"/>
                </a:solidFill>
                <a:latin typeface="Calibri"/>
              </a:rPr>
              <a:t> Q4 de 18 a 2178 GDL, Q9 de 50 a 8450 GDL</a:t>
            </a:r>
          </a:p>
          <a:p>
            <a:pPr marL="347472" indent="-347472">
              <a:lnSpc>
                <a:spcPct val="112000"/>
              </a:lnSpc>
              <a:spcAft>
                <a:spcPts val="1200"/>
              </a:spcAft>
              <a:buClr>
                <a:srgbClr val="F28C28"/>
              </a:buClr>
              <a:buSzPct val="100000"/>
              <a:buFont typeface="Arial"/>
              <a:buChar char="•"/>
            </a:pPr>
            <a:r>
              <a:rPr lang="es-ES" sz="2200" b="0" i="0">
                <a:solidFill>
                  <a:srgbClr val="1F2937"/>
                </a:solidFill>
                <a:latin typeface="Calibri"/>
              </a:rPr>
              <a:t>Cuatro configuraciones (dos estados planos, malla regular y distorsionada): tasas iguales, diferencias &lt; 0,01</a:t>
            </a:r>
          </a:p>
        </p:txBody>
      </p:sp>
      <p:pic>
        <p:nvPicPr>
          <p:cNvPr id="6" name="Picture 5" descr="mms_convergence_l2.png"/>
          <p:cNvPicPr>
            <a:picLocks noChangeAspect="1"/>
          </p:cNvPicPr>
          <p:nvPr/>
        </p:nvPicPr>
        <p:blipFill>
          <a:blip r:embed="rId5"/>
          <a:stretch>
            <a:fillRect/>
          </a:stretch>
        </p:blipFill>
        <p:spPr>
          <a:xfrm>
            <a:off x="6613398" y="1481328"/>
            <a:ext cx="4634179" cy="3310128"/>
          </a:xfrm>
          <a:prstGeom prst="rect">
            <a:avLst/>
          </a:prstGeom>
          <a:ln w="9525">
            <a:solidFill>
              <a:srgbClr val="D1D5DB"/>
            </a:solidFill>
          </a:ln>
        </p:spPr>
      </p:pic>
      <p:sp>
        <p:nvSpPr>
          <p:cNvPr id="7" name="TextBox 6"/>
          <p:cNvSpPr txBox="1"/>
          <p:nvPr/>
        </p:nvSpPr>
        <p:spPr>
          <a:xfrm>
            <a:off x="6217920" y="4837176"/>
            <a:ext cx="5425135" cy="502920"/>
          </a:xfrm>
          <a:prstGeom prst="rect">
            <a:avLst/>
          </a:prstGeom>
          <a:noFill/>
        </p:spPr>
        <p:txBody>
          <a:bodyPr wrap="square" lIns="45720" tIns="27432" rIns="45720" bIns="27432" anchor="t">
            <a:noAutofit/>
          </a:bodyPr>
          <a:lstStyle/>
          <a:p>
            <a:pPr algn="ctr">
              <a:lnSpc>
                <a:spcPct val="105000"/>
              </a:lnSpc>
            </a:pPr>
            <a:r>
              <a:rPr lang="es-ES" sz="1500" b="0" i="1">
                <a:solidFill>
                  <a:srgbClr val="5B6575"/>
                </a:solidFill>
                <a:latin typeface="Calibri"/>
              </a:rPr>
              <a:t>Error L² del desplazamiento frente a h: la pendiente es la tasa</a:t>
            </a:r>
          </a:p>
        </p:txBody>
      </p:sp>
      <p:sp>
        <p:nvSpPr>
          <p:cNvPr id="8" name="Rectangle 7"/>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77240" y="5431536"/>
            <a:ext cx="10774375" cy="841248"/>
          </a:xfrm>
          <a:prstGeom prst="rect">
            <a:avLst/>
          </a:prstGeom>
          <a:noFill/>
        </p:spPr>
        <p:txBody>
          <a:bodyPr wrap="square" lIns="45720" tIns="27432" rIns="45720" bIns="27432" anchor="ctr">
            <a:noAutofit/>
          </a:bodyPr>
          <a:lstStyle/>
          <a:p>
            <a:pPr algn="l">
              <a:lnSpc>
                <a:spcPct val="100000"/>
              </a:lnSpc>
            </a:pPr>
            <a:r>
              <a:rPr lang="es-ES" sz="2200" b="1" i="0">
                <a:solidFill>
                  <a:srgbClr val="1B2A4A"/>
                </a:solidFill>
                <a:latin typeface="Calibri"/>
              </a:rPr>
              <a:t>La tasa del Q4 sube de 1,82 a 2,00 al refinar: la firma del régimen asintótico</a:t>
            </a:r>
          </a:p>
        </p:txBody>
      </p:sp>
      <p:sp>
        <p:nvSpPr>
          <p:cNvPr id="11" name="Rectangle 10"/>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48640" y="6419088"/>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13" name="TextBox 12"/>
          <p:cNvSpPr txBox="1"/>
          <p:nvPr/>
        </p:nvSpPr>
        <p:spPr>
          <a:xfrm>
            <a:off x="4023360" y="6419088"/>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§3.2, tabla MMS y figura de convergencia</a:t>
            </a:r>
          </a:p>
        </p:txBody>
      </p:sp>
      <p:sp>
        <p:nvSpPr>
          <p:cNvPr id="14" name="TextBox 13"/>
          <p:cNvSpPr txBox="1"/>
          <p:nvPr/>
        </p:nvSpPr>
        <p:spPr>
          <a:xfrm>
            <a:off x="10545775" y="6419088"/>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26</a:t>
            </a:fld>
            <a:endParaRPr lang="es-ES" sz="1200" dirty="0">
              <a:solidFill>
                <a:srgbClr val="5B6575"/>
              </a:solidFill>
              <a:latin typeface="Calibri"/>
            </a:endParaRPr>
          </a:p>
        </p:txBody>
      </p:sp>
      <p:pic>
        <p:nvPicPr>
          <p:cNvPr id="15" name="s26">
            <a:hlinkClick r:id="" action="ppaction://media"/>
            <a:extLst>
              <a:ext uri="{FF2B5EF4-FFF2-40B4-BE49-F238E27FC236}">
                <a16:creationId xmlns:a16="http://schemas.microsoft.com/office/drawing/2014/main" id="{62C00763-7F0C-BCC7-B6B8-322D47DA1E12}"/>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4060"/>
    </mc:Choice>
    <mc:Fallback>
      <p:transition spd="slow" advTm="6406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5"/>
                </p:tgtEl>
              </p:cMediaNode>
            </p:audi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168335" cy="868680"/>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El modelo no deriva</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noAutofit/>
          </a:bodyPr>
          <a:lstStyle/>
          <a:p>
            <a:pPr algn="ctr">
              <a:lnSpc>
                <a:spcPct val="100000"/>
              </a:lnSpc>
            </a:pPr>
            <a:r>
              <a:rPr lang="es-ES" sz="1300" b="1" i="0">
                <a:solidFill>
                  <a:srgbClr val="1B2A4A"/>
                </a:solidFill>
                <a:latin typeface="Calibri"/>
              </a:rPr>
              <a:t>4  ·  Presentación de resultados</a:t>
            </a:r>
          </a:p>
        </p:txBody>
      </p:sp>
      <p:sp>
        <p:nvSpPr>
          <p:cNvPr id="5" name="Rounded Rectangle 4"/>
          <p:cNvSpPr/>
          <p:nvPr/>
        </p:nvSpPr>
        <p:spPr>
          <a:xfrm>
            <a:off x="548640" y="1901952"/>
            <a:ext cx="2567863" cy="3017520"/>
          </a:xfrm>
          <a:prstGeom prst="roundRect">
            <a:avLst>
              <a:gd name="adj" fmla="val 7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777240" y="2176272"/>
            <a:ext cx="548640" cy="6400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31520" y="2313432"/>
            <a:ext cx="2202103" cy="1005840"/>
          </a:xfrm>
          <a:prstGeom prst="rect">
            <a:avLst/>
          </a:prstGeom>
          <a:noFill/>
        </p:spPr>
        <p:txBody>
          <a:bodyPr wrap="square" lIns="45720" tIns="27432" rIns="45720" bIns="27432" anchor="ctr">
            <a:noAutofit/>
          </a:bodyPr>
          <a:lstStyle/>
          <a:p>
            <a:pPr algn="l">
              <a:lnSpc>
                <a:spcPct val="105000"/>
              </a:lnSpc>
            </a:pPr>
            <a:r>
              <a:rPr lang="es-ES" sz="4400" b="1" i="0">
                <a:solidFill>
                  <a:srgbClr val="1B2A4A"/>
                </a:solidFill>
                <a:latin typeface="Calibri"/>
              </a:rPr>
              <a:t>&lt; 10⁻⁹</a:t>
            </a:r>
          </a:p>
        </p:txBody>
      </p:sp>
      <p:sp>
        <p:nvSpPr>
          <p:cNvPr id="8" name="TextBox 7"/>
          <p:cNvSpPr txBox="1"/>
          <p:nvPr/>
        </p:nvSpPr>
        <p:spPr>
          <a:xfrm>
            <a:off x="731520" y="3364992"/>
            <a:ext cx="2202103" cy="1417319"/>
          </a:xfrm>
          <a:prstGeom prst="rect">
            <a:avLst/>
          </a:prstGeom>
          <a:noFill/>
        </p:spPr>
        <p:txBody>
          <a:bodyPr wrap="square" lIns="45720" tIns="27432" rIns="45720" bIns="27432" anchor="t">
            <a:noAutofit/>
          </a:bodyPr>
          <a:lstStyle/>
          <a:p>
            <a:pPr algn="l">
              <a:lnSpc>
                <a:spcPct val="110000"/>
              </a:lnSpc>
            </a:pPr>
            <a:r>
              <a:rPr lang="es-ES" sz="1800" b="0" i="0">
                <a:solidFill>
                  <a:srgbClr val="5B6575"/>
                </a:solidFill>
                <a:latin typeface="Calibri"/>
              </a:rPr>
              <a:t>ciclo Q4 → Q9 → Q4, diferencia en u</a:t>
            </a:r>
          </a:p>
        </p:txBody>
      </p:sp>
      <p:sp>
        <p:nvSpPr>
          <p:cNvPr id="9" name="Rounded Rectangle 8"/>
          <p:cNvSpPr/>
          <p:nvPr/>
        </p:nvSpPr>
        <p:spPr>
          <a:xfrm>
            <a:off x="3390823" y="1901952"/>
            <a:ext cx="2567863" cy="3017520"/>
          </a:xfrm>
          <a:prstGeom prst="roundRect">
            <a:avLst>
              <a:gd name="adj" fmla="val 7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3619423" y="2176272"/>
            <a:ext cx="548640" cy="6400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3573703" y="2313432"/>
            <a:ext cx="2202103" cy="1005840"/>
          </a:xfrm>
          <a:prstGeom prst="rect">
            <a:avLst/>
          </a:prstGeom>
          <a:noFill/>
        </p:spPr>
        <p:txBody>
          <a:bodyPr wrap="square" lIns="45720" tIns="27432" rIns="45720" bIns="27432" anchor="ctr">
            <a:noAutofit/>
          </a:bodyPr>
          <a:lstStyle/>
          <a:p>
            <a:pPr algn="l">
              <a:lnSpc>
                <a:spcPct val="105000"/>
              </a:lnSpc>
            </a:pPr>
            <a:r>
              <a:rPr lang="es-ES" sz="4400" b="1" i="0">
                <a:solidFill>
                  <a:srgbClr val="1B2A4A"/>
                </a:solidFill>
                <a:latin typeface="Calibri"/>
              </a:rPr>
              <a:t>&lt; 10⁻⁹</a:t>
            </a:r>
          </a:p>
        </p:txBody>
      </p:sp>
      <p:sp>
        <p:nvSpPr>
          <p:cNvPr id="12" name="TextBox 11"/>
          <p:cNvSpPr txBox="1"/>
          <p:nvPr/>
        </p:nvSpPr>
        <p:spPr>
          <a:xfrm>
            <a:off x="3573703" y="3364992"/>
            <a:ext cx="2202103" cy="1417319"/>
          </a:xfrm>
          <a:prstGeom prst="rect">
            <a:avLst/>
          </a:prstGeom>
          <a:noFill/>
        </p:spPr>
        <p:txBody>
          <a:bodyPr wrap="square" lIns="45720" tIns="27432" rIns="45720" bIns="27432" anchor="t">
            <a:noAutofit/>
          </a:bodyPr>
          <a:lstStyle/>
          <a:p>
            <a:pPr algn="l">
              <a:lnSpc>
                <a:spcPct val="110000"/>
              </a:lnSpc>
            </a:pPr>
            <a:r>
              <a:rPr lang="es-ES" sz="1800" b="0" i="0">
                <a:solidFill>
                  <a:srgbClr val="5B6575"/>
                </a:solidFill>
                <a:latin typeface="Calibri"/>
              </a:rPr>
              <a:t>ids {1, 5, 50, 99} frente a {1, 2, 3, 4}</a:t>
            </a:r>
          </a:p>
        </p:txBody>
      </p:sp>
      <p:sp>
        <p:nvSpPr>
          <p:cNvPr id="13" name="Rounded Rectangle 12"/>
          <p:cNvSpPr/>
          <p:nvPr/>
        </p:nvSpPr>
        <p:spPr>
          <a:xfrm>
            <a:off x="6233007" y="1901952"/>
            <a:ext cx="2567863" cy="3017520"/>
          </a:xfrm>
          <a:prstGeom prst="roundRect">
            <a:avLst>
              <a:gd name="adj" fmla="val 7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6461607" y="2176272"/>
            <a:ext cx="548640" cy="6400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415887" y="2313432"/>
            <a:ext cx="2202103" cy="1005840"/>
          </a:xfrm>
          <a:prstGeom prst="rect">
            <a:avLst/>
          </a:prstGeom>
          <a:noFill/>
        </p:spPr>
        <p:txBody>
          <a:bodyPr wrap="square" lIns="45720" tIns="27432" rIns="45720" bIns="27432" anchor="ctr">
            <a:noAutofit/>
          </a:bodyPr>
          <a:lstStyle/>
          <a:p>
            <a:pPr algn="l">
              <a:lnSpc>
                <a:spcPct val="105000"/>
              </a:lnSpc>
            </a:pPr>
            <a:r>
              <a:rPr lang="es-ES" sz="4400" b="1" i="0">
                <a:solidFill>
                  <a:srgbClr val="1B2A4A"/>
                </a:solidFill>
                <a:latin typeface="Calibri"/>
              </a:rPr>
              <a:t>&lt; 10⁻¹²</a:t>
            </a:r>
          </a:p>
        </p:txBody>
      </p:sp>
      <p:sp>
        <p:nvSpPr>
          <p:cNvPr id="16" name="TextBox 15"/>
          <p:cNvSpPr txBox="1"/>
          <p:nvPr/>
        </p:nvSpPr>
        <p:spPr>
          <a:xfrm>
            <a:off x="6415887" y="3364992"/>
            <a:ext cx="2202103" cy="1417319"/>
          </a:xfrm>
          <a:prstGeom prst="rect">
            <a:avLst/>
          </a:prstGeom>
          <a:noFill/>
        </p:spPr>
        <p:txBody>
          <a:bodyPr wrap="square" lIns="45720" tIns="27432" rIns="45720" bIns="27432" anchor="t">
            <a:noAutofit/>
          </a:bodyPr>
          <a:lstStyle/>
          <a:p>
            <a:pPr algn="l">
              <a:lnSpc>
                <a:spcPct val="110000"/>
              </a:lnSpc>
            </a:pPr>
            <a:r>
              <a:rPr lang="es-ES" sz="1800" b="0" i="0">
                <a:solidFill>
                  <a:srgbClr val="5B6575"/>
                </a:solidFill>
                <a:latin typeface="Calibri"/>
              </a:rPr>
              <a:t>máx |Δu| tras ida y vuelta CSV/ZIP</a:t>
            </a:r>
          </a:p>
        </p:txBody>
      </p:sp>
      <p:sp>
        <p:nvSpPr>
          <p:cNvPr id="17" name="Rounded Rectangle 16"/>
          <p:cNvSpPr/>
          <p:nvPr/>
        </p:nvSpPr>
        <p:spPr>
          <a:xfrm>
            <a:off x="9075191" y="1901952"/>
            <a:ext cx="2567863" cy="3017520"/>
          </a:xfrm>
          <a:prstGeom prst="roundRect">
            <a:avLst>
              <a:gd name="adj" fmla="val 7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9303791" y="2176272"/>
            <a:ext cx="548640" cy="6400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9258071" y="2313432"/>
            <a:ext cx="2202103" cy="1005840"/>
          </a:xfrm>
          <a:prstGeom prst="rect">
            <a:avLst/>
          </a:prstGeom>
          <a:noFill/>
        </p:spPr>
        <p:txBody>
          <a:bodyPr wrap="square" lIns="45720" tIns="27432" rIns="45720" bIns="27432" anchor="ctr">
            <a:noAutofit/>
          </a:bodyPr>
          <a:lstStyle/>
          <a:p>
            <a:pPr algn="l">
              <a:lnSpc>
                <a:spcPct val="105000"/>
              </a:lnSpc>
            </a:pPr>
            <a:r>
              <a:rPr lang="es-ES" sz="3600" b="1" i="0">
                <a:solidFill>
                  <a:srgbClr val="1B2A4A"/>
                </a:solidFill>
                <a:latin typeface="Calibri"/>
              </a:rPr>
              <a:t>6 · 12 · 0</a:t>
            </a:r>
          </a:p>
        </p:txBody>
      </p:sp>
      <p:sp>
        <p:nvSpPr>
          <p:cNvPr id="20" name="TextBox 19"/>
          <p:cNvSpPr txBox="1"/>
          <p:nvPr/>
        </p:nvSpPr>
        <p:spPr>
          <a:xfrm>
            <a:off x="9258071" y="3364992"/>
            <a:ext cx="2202103" cy="1417319"/>
          </a:xfrm>
          <a:prstGeom prst="rect">
            <a:avLst/>
          </a:prstGeom>
          <a:noFill/>
        </p:spPr>
        <p:txBody>
          <a:bodyPr wrap="square" lIns="45720" tIns="27432" rIns="45720" bIns="27432" anchor="t">
            <a:noAutofit/>
          </a:bodyPr>
          <a:lstStyle/>
          <a:p>
            <a:pPr algn="l">
              <a:lnSpc>
                <a:spcPct val="110000"/>
              </a:lnSpc>
            </a:pPr>
            <a:r>
              <a:rPr lang="es-ES" sz="1800" b="0" i="0">
                <a:solidFill>
                  <a:srgbClr val="5B6575"/>
                </a:solidFill>
                <a:latin typeface="Calibri"/>
              </a:rPr>
              <a:t>DXF: elementos, nodos, nuevos al reimportar</a:t>
            </a:r>
          </a:p>
        </p:txBody>
      </p:sp>
      <p:sp>
        <p:nvSpPr>
          <p:cNvPr id="21" name="Rectangle 20"/>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77240" y="5431536"/>
            <a:ext cx="10774375"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Consistencia interna: expandir, reducir, renumerar e intercambiar formatos no cambia la solución</a:t>
            </a:r>
          </a:p>
        </p:txBody>
      </p:sp>
      <p:sp>
        <p:nvSpPr>
          <p:cNvPr id="24" name="Rectangle 23"/>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48640" y="6419088"/>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6" name="TextBox 25"/>
          <p:cNvSpPr txBox="1"/>
          <p:nvPr/>
        </p:nvSpPr>
        <p:spPr>
          <a:xfrm>
            <a:off x="4023360" y="6419088"/>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§3.3, consistencia interna</a:t>
            </a:r>
          </a:p>
        </p:txBody>
      </p:sp>
      <p:sp>
        <p:nvSpPr>
          <p:cNvPr id="27" name="TextBox 26"/>
          <p:cNvSpPr txBox="1"/>
          <p:nvPr/>
        </p:nvSpPr>
        <p:spPr>
          <a:xfrm>
            <a:off x="10545775" y="6419088"/>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27</a:t>
            </a:fld>
            <a:endParaRPr lang="es-ES" sz="1200" dirty="0">
              <a:solidFill>
                <a:srgbClr val="5B6575"/>
              </a:solidFill>
              <a:latin typeface="Calibri"/>
            </a:endParaRPr>
          </a:p>
        </p:txBody>
      </p:sp>
      <p:pic>
        <p:nvPicPr>
          <p:cNvPr id="28" name="s27">
            <a:hlinkClick r:id="" action="ppaction://media"/>
            <a:extLst>
              <a:ext uri="{FF2B5EF4-FFF2-40B4-BE49-F238E27FC236}">
                <a16:creationId xmlns:a16="http://schemas.microsoft.com/office/drawing/2014/main" id="{0608A6CC-E8F7-B466-A65D-DF0AE7EC0D3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052"/>
    </mc:Choice>
    <mc:Fallback>
      <p:transition spd="slow" advTm="3605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8"/>
                </p:tgtEl>
              </p:cMediaNode>
            </p:audi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168335" cy="868680"/>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Viga de Timoshenko: analítico y SAP2000</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noAutofit/>
          </a:bodyPr>
          <a:lstStyle/>
          <a:p>
            <a:pPr algn="ctr">
              <a:lnSpc>
                <a:spcPct val="100000"/>
              </a:lnSpc>
            </a:pPr>
            <a:r>
              <a:rPr lang="es-ES" sz="1300" b="1" i="0">
                <a:solidFill>
                  <a:srgbClr val="1B2A4A"/>
                </a:solidFill>
                <a:latin typeface="Calibri"/>
              </a:rPr>
              <a:t>4  ·  Presentación de resultados</a:t>
            </a:r>
          </a:p>
        </p:txBody>
      </p:sp>
      <p:sp>
        <p:nvSpPr>
          <p:cNvPr id="5" name="TextBox 4"/>
          <p:cNvSpPr txBox="1"/>
          <p:nvPr/>
        </p:nvSpPr>
        <p:spPr>
          <a:xfrm>
            <a:off x="594360" y="1527048"/>
            <a:ext cx="5257800" cy="3767328"/>
          </a:xfrm>
          <a:prstGeom prst="rect">
            <a:avLst/>
          </a:prstGeom>
          <a:noFill/>
        </p:spPr>
        <p:txBody>
          <a:bodyPr wrap="square" lIns="45720" tIns="27432" rIns="45720" bIns="27432" anchor="ctr">
            <a:noAutofit/>
          </a:bodyPr>
          <a:lstStyle/>
          <a:p>
            <a:pPr marL="347472" indent="-347472">
              <a:lnSpc>
                <a:spcPct val="112000"/>
              </a:lnSpc>
              <a:spcAft>
                <a:spcPts val="1200"/>
              </a:spcAft>
              <a:buClr>
                <a:srgbClr val="F28C28"/>
              </a:buClr>
              <a:buSzPct val="100000"/>
              <a:buFont typeface="Arial"/>
              <a:buChar char="•"/>
            </a:pPr>
            <a:r>
              <a:rPr lang="es-ES" sz="2400" b="1" i="0">
                <a:solidFill>
                  <a:srgbClr val="1B2A4A"/>
                </a:solidFill>
                <a:latin typeface="Calibri"/>
              </a:rPr>
              <a:t>Viga de hormigón:</a:t>
            </a:r>
            <a:r>
              <a:rPr lang="es-ES" sz="2400" b="0" i="0">
                <a:solidFill>
                  <a:srgbClr val="1F2937"/>
                </a:solidFill>
                <a:latin typeface="Calibri"/>
              </a:rPr>
              <a:t> L = 14 m, H = 1,20 m, q = 5000 kgf/m; malla Q9 56×8, 3842 GDL</a:t>
            </a:r>
          </a:p>
          <a:p>
            <a:pPr marL="347472" indent="-347472">
              <a:lnSpc>
                <a:spcPct val="112000"/>
              </a:lnSpc>
              <a:spcAft>
                <a:spcPts val="1200"/>
              </a:spcAft>
              <a:buClr>
                <a:srgbClr val="F28C28"/>
              </a:buClr>
              <a:buSzPct val="100000"/>
              <a:buFont typeface="Arial"/>
              <a:buChar char="•"/>
            </a:pPr>
            <a:r>
              <a:rPr lang="es-ES" sz="2400" b="1" i="0">
                <a:solidFill>
                  <a:srgbClr val="1B2A4A"/>
                </a:solidFill>
                <a:latin typeface="Calibri"/>
              </a:rPr>
              <a:t>σₓ:</a:t>
            </a:r>
            <a:r>
              <a:rPr lang="es-ES" sz="2400" b="0" i="0">
                <a:solidFill>
                  <a:srgbClr val="1F2937"/>
                </a:solidFill>
                <a:latin typeface="Calibri"/>
              </a:rPr>
              <a:t> 0,0414 % frente al analítico; 0,2066 % frente a SAP2000</a:t>
            </a:r>
          </a:p>
          <a:p>
            <a:pPr marL="347472" indent="-347472">
              <a:lnSpc>
                <a:spcPct val="112000"/>
              </a:lnSpc>
              <a:spcAft>
                <a:spcPts val="1200"/>
              </a:spcAft>
              <a:buClr>
                <a:srgbClr val="F28C28"/>
              </a:buClr>
              <a:buSzPct val="100000"/>
              <a:buFont typeface="Arial"/>
              <a:buChar char="•"/>
            </a:pPr>
            <a:r>
              <a:rPr lang="es-ES" sz="2400" b="1" i="0">
                <a:solidFill>
                  <a:srgbClr val="1B2A4A"/>
                </a:solidFill>
                <a:latin typeface="Calibri"/>
              </a:rPr>
              <a:t>Flecha:</a:t>
            </a:r>
            <a:r>
              <a:rPr lang="es-ES" sz="2400" b="0" i="0">
                <a:solidFill>
                  <a:srgbClr val="1F2937"/>
                </a:solidFill>
                <a:latin typeface="Calibri"/>
              </a:rPr>
              <a:t> 2,03460 frente a 2,02926 cm (0,2633 %); con Euler-Bernoulli sería 1,85 %</a:t>
            </a:r>
          </a:p>
        </p:txBody>
      </p:sp>
      <p:pic>
        <p:nvPicPr>
          <p:cNvPr id="6" name="Picture 5" descr="fig_timoshenko_contorno.png"/>
          <p:cNvPicPr>
            <a:picLocks noChangeAspect="1"/>
          </p:cNvPicPr>
          <p:nvPr/>
        </p:nvPicPr>
        <p:blipFill>
          <a:blip r:embed="rId5"/>
          <a:stretch>
            <a:fillRect/>
          </a:stretch>
        </p:blipFill>
        <p:spPr>
          <a:xfrm>
            <a:off x="6686844" y="1481328"/>
            <a:ext cx="4487285" cy="3310128"/>
          </a:xfrm>
          <a:prstGeom prst="rect">
            <a:avLst/>
          </a:prstGeom>
          <a:ln w="9525">
            <a:solidFill>
              <a:srgbClr val="D1D5DB"/>
            </a:solidFill>
          </a:ln>
        </p:spPr>
      </p:pic>
      <p:sp>
        <p:nvSpPr>
          <p:cNvPr id="7" name="TextBox 6"/>
          <p:cNvSpPr txBox="1"/>
          <p:nvPr/>
        </p:nvSpPr>
        <p:spPr>
          <a:xfrm>
            <a:off x="6217920" y="4837176"/>
            <a:ext cx="5425135" cy="502920"/>
          </a:xfrm>
          <a:prstGeom prst="rect">
            <a:avLst/>
          </a:prstGeom>
          <a:noFill/>
        </p:spPr>
        <p:txBody>
          <a:bodyPr wrap="square" lIns="45720" tIns="27432" rIns="45720" bIns="27432" anchor="t">
            <a:noAutofit/>
          </a:bodyPr>
          <a:lstStyle/>
          <a:p>
            <a:pPr algn="ctr">
              <a:lnSpc>
                <a:spcPct val="105000"/>
              </a:lnSpc>
            </a:pPr>
            <a:r>
              <a:rPr lang="es-ES" sz="1500" b="0" i="1">
                <a:solidFill>
                  <a:srgbClr val="5B6575"/>
                </a:solidFill>
                <a:latin typeface="Calibri"/>
              </a:rPr>
              <a:t>Campo σₓ sobre la deformada: tracción abajo, compresión arriba</a:t>
            </a:r>
          </a:p>
        </p:txBody>
      </p:sp>
      <p:sp>
        <p:nvSpPr>
          <p:cNvPr id="8" name="Rectangle 7"/>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77240" y="5431536"/>
            <a:ext cx="10774375" cy="841248"/>
          </a:xfrm>
          <a:prstGeom prst="rect">
            <a:avLst/>
          </a:prstGeom>
          <a:noFill/>
        </p:spPr>
        <p:txBody>
          <a:bodyPr wrap="square" lIns="45720" tIns="27432" rIns="45720" bIns="27432" anchor="ctr">
            <a:noAutofit/>
          </a:bodyPr>
          <a:lstStyle/>
          <a:p>
            <a:pPr algn="l">
              <a:lnSpc>
                <a:spcPct val="100000"/>
              </a:lnSpc>
            </a:pPr>
            <a:r>
              <a:rPr lang="es-ES" sz="2200" b="1" i="0">
                <a:solidFill>
                  <a:srgbClr val="1B2A4A"/>
                </a:solidFill>
                <a:latin typeface="Calibri"/>
              </a:rPr>
              <a:t>Cortante: hasta 2,9 % frente al analítico; frente a SAP2000, desplazamientos hasta 0,56 %</a:t>
            </a:r>
          </a:p>
        </p:txBody>
      </p:sp>
      <p:sp>
        <p:nvSpPr>
          <p:cNvPr id="11" name="Rectangle 10"/>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48640" y="6419088"/>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13" name="TextBox 12"/>
          <p:cNvSpPr txBox="1"/>
          <p:nvPr/>
        </p:nvSpPr>
        <p:spPr>
          <a:xfrm>
            <a:off x="4023360" y="6419088"/>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§3.4, tablas de tensión y de flecha</a:t>
            </a:r>
          </a:p>
        </p:txBody>
      </p:sp>
      <p:sp>
        <p:nvSpPr>
          <p:cNvPr id="14" name="TextBox 13"/>
          <p:cNvSpPr txBox="1"/>
          <p:nvPr/>
        </p:nvSpPr>
        <p:spPr>
          <a:xfrm>
            <a:off x="10545775" y="6419088"/>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28</a:t>
            </a:fld>
            <a:endParaRPr lang="es-ES" sz="1200" dirty="0">
              <a:solidFill>
                <a:srgbClr val="5B6575"/>
              </a:solidFill>
              <a:latin typeface="Calibri"/>
            </a:endParaRPr>
          </a:p>
        </p:txBody>
      </p:sp>
      <p:pic>
        <p:nvPicPr>
          <p:cNvPr id="15" name="s28">
            <a:hlinkClick r:id="" action="ppaction://media"/>
            <a:extLst>
              <a:ext uri="{FF2B5EF4-FFF2-40B4-BE49-F238E27FC236}">
                <a16:creationId xmlns:a16="http://schemas.microsoft.com/office/drawing/2014/main" id="{0E5DB101-56FC-168D-414E-C79B4DA3421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0868"/>
    </mc:Choice>
    <mc:Fallback>
      <p:transition spd="slow" advTm="6086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5"/>
                </p:tgtEl>
              </p:cMediaNode>
            </p:audi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168335" cy="868680"/>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Membrana de Cook: referencia 23,96</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noAutofit/>
          </a:bodyPr>
          <a:lstStyle/>
          <a:p>
            <a:pPr algn="ctr">
              <a:lnSpc>
                <a:spcPct val="100000"/>
              </a:lnSpc>
            </a:pPr>
            <a:r>
              <a:rPr lang="es-ES" sz="1300" b="1" i="0">
                <a:solidFill>
                  <a:srgbClr val="1B2A4A"/>
                </a:solidFill>
                <a:latin typeface="Calibri"/>
              </a:rPr>
              <a:t>4  ·  Presentación de resultados</a:t>
            </a:r>
          </a:p>
        </p:txBody>
      </p:sp>
      <p:graphicFrame>
        <p:nvGraphicFramePr>
          <p:cNvPr id="5" name="Table 4"/>
          <p:cNvGraphicFramePr>
            <a:graphicFrameLocks noGrp="1"/>
          </p:cNvGraphicFramePr>
          <p:nvPr/>
        </p:nvGraphicFramePr>
        <p:xfrm>
          <a:off x="548640" y="1481328"/>
          <a:ext cx="11094412" cy="3858768"/>
        </p:xfrm>
        <a:graphic>
          <a:graphicData uri="http://schemas.openxmlformats.org/drawingml/2006/table">
            <a:tbl>
              <a:tblPr>
                <a:tableStyleId>{5C22544A-7EE6-4342-B048-85BDC9FD1C3A}</a:tableStyleId>
              </a:tblPr>
              <a:tblGrid>
                <a:gridCol w="2275777">
                  <a:extLst>
                    <a:ext uri="{9D8B030D-6E8A-4147-A177-3AD203B41FA5}">
                      <a16:colId xmlns:a16="http://schemas.microsoft.com/office/drawing/2014/main" val="20000"/>
                    </a:ext>
                  </a:extLst>
                </a:gridCol>
                <a:gridCol w="1137888">
                  <a:extLst>
                    <a:ext uri="{9D8B030D-6E8A-4147-A177-3AD203B41FA5}">
                      <a16:colId xmlns:a16="http://schemas.microsoft.com/office/drawing/2014/main" val="20001"/>
                    </a:ext>
                  </a:extLst>
                </a:gridCol>
                <a:gridCol w="1137888">
                  <a:extLst>
                    <a:ext uri="{9D8B030D-6E8A-4147-A177-3AD203B41FA5}">
                      <a16:colId xmlns:a16="http://schemas.microsoft.com/office/drawing/2014/main" val="20002"/>
                    </a:ext>
                  </a:extLst>
                </a:gridCol>
                <a:gridCol w="3982610">
                  <a:extLst>
                    <a:ext uri="{9D8B030D-6E8A-4147-A177-3AD203B41FA5}">
                      <a16:colId xmlns:a16="http://schemas.microsoft.com/office/drawing/2014/main" val="20003"/>
                    </a:ext>
                  </a:extLst>
                </a:gridCol>
                <a:gridCol w="2560249">
                  <a:extLst>
                    <a:ext uri="{9D8B030D-6E8A-4147-A177-3AD203B41FA5}">
                      <a16:colId xmlns:a16="http://schemas.microsoft.com/office/drawing/2014/main" val="20004"/>
                    </a:ext>
                  </a:extLst>
                </a:gridCol>
              </a:tblGrid>
              <a:tr h="482346">
                <a:tc>
                  <a:txBody>
                    <a:bodyPr/>
                    <a:lstStyle/>
                    <a:p>
                      <a:pPr algn="l"/>
                      <a:r>
                        <a:rPr lang="es-ES" sz="1800" b="1" i="0">
                          <a:solidFill>
                            <a:srgbClr val="FFFFFF"/>
                          </a:solidFill>
                          <a:latin typeface="Calibri"/>
                        </a:rPr>
                        <a:t>Elemento</a:t>
                      </a:r>
                    </a:p>
                  </a:txBody>
                  <a:tcPr marL="73152" marR="73152" marT="27432" marB="27432" anchor="ctr">
                    <a:solidFill>
                      <a:srgbClr val="1B2A4A"/>
                    </a:solidFill>
                  </a:tcPr>
                </a:tc>
                <a:tc>
                  <a:txBody>
                    <a:bodyPr/>
                    <a:lstStyle/>
                    <a:p>
                      <a:pPr algn="ctr"/>
                      <a:r>
                        <a:rPr lang="es-ES" sz="1800" b="1" i="0">
                          <a:solidFill>
                            <a:srgbClr val="FFFFFF"/>
                          </a:solidFill>
                          <a:latin typeface="Calibri"/>
                        </a:rPr>
                        <a:t>N</a:t>
                      </a:r>
                    </a:p>
                  </a:txBody>
                  <a:tcPr marL="73152" marR="73152" marT="27432" marB="27432" anchor="ctr">
                    <a:solidFill>
                      <a:srgbClr val="1B2A4A"/>
                    </a:solidFill>
                  </a:tcPr>
                </a:tc>
                <a:tc>
                  <a:txBody>
                    <a:bodyPr/>
                    <a:lstStyle/>
                    <a:p>
                      <a:pPr algn="ctr"/>
                      <a:r>
                        <a:rPr lang="es-ES" sz="1800" b="1" i="0">
                          <a:solidFill>
                            <a:srgbClr val="FFFFFF"/>
                          </a:solidFill>
                          <a:latin typeface="Calibri"/>
                        </a:rPr>
                        <a:t>GDL</a:t>
                      </a:r>
                    </a:p>
                  </a:txBody>
                  <a:tcPr marL="73152" marR="73152" marT="27432" marB="27432" anchor="ctr">
                    <a:solidFill>
                      <a:srgbClr val="1B2A4A"/>
                    </a:solidFill>
                  </a:tcPr>
                </a:tc>
                <a:tc>
                  <a:txBody>
                    <a:bodyPr/>
                    <a:lstStyle/>
                    <a:p>
                      <a:pPr algn="ctr"/>
                      <a:r>
                        <a:rPr lang="es-ES" sz="1800" b="1" i="0">
                          <a:solidFill>
                            <a:srgbClr val="FFFFFF"/>
                          </a:solidFill>
                          <a:latin typeface="Calibri"/>
                        </a:rPr>
                        <a:t>uy en (48, 52)</a:t>
                      </a:r>
                    </a:p>
                  </a:txBody>
                  <a:tcPr marL="73152" marR="73152" marT="27432" marB="27432" anchor="ctr">
                    <a:solidFill>
                      <a:srgbClr val="1B2A4A"/>
                    </a:solidFill>
                  </a:tcPr>
                </a:tc>
                <a:tc>
                  <a:txBody>
                    <a:bodyPr/>
                    <a:lstStyle/>
                    <a:p>
                      <a:pPr algn="ctr"/>
                      <a:r>
                        <a:rPr lang="es-ES" sz="1800" b="1" i="0">
                          <a:solidFill>
                            <a:srgbClr val="FFFFFF"/>
                          </a:solidFill>
                          <a:latin typeface="Calibri"/>
                        </a:rPr>
                        <a:t>Error (%)</a:t>
                      </a:r>
                    </a:p>
                  </a:txBody>
                  <a:tcPr marL="73152" marR="73152" marT="27432" marB="27432" anchor="ctr">
                    <a:solidFill>
                      <a:srgbClr val="1B2A4A"/>
                    </a:solidFill>
                  </a:tcPr>
                </a:tc>
                <a:extLst>
                  <a:ext uri="{0D108BD9-81ED-4DB2-BD59-A6C34878D82A}">
                    <a16:rowId xmlns:a16="http://schemas.microsoft.com/office/drawing/2014/main" val="10000"/>
                  </a:ext>
                </a:extLst>
              </a:tr>
              <a:tr h="482346">
                <a:tc>
                  <a:txBody>
                    <a:bodyPr/>
                    <a:lstStyle/>
                    <a:p>
                      <a:pPr algn="l"/>
                      <a:r>
                        <a:rPr lang="es-ES" sz="1800" b="1" i="0">
                          <a:solidFill>
                            <a:srgbClr val="1F2937"/>
                          </a:solidFill>
                          <a:latin typeface="Calibri"/>
                        </a:rPr>
                        <a:t>Q4</a:t>
                      </a:r>
                    </a:p>
                  </a:txBody>
                  <a:tcPr marL="73152" marR="73152" marT="27432" marB="27432" anchor="ctr">
                    <a:solidFill>
                      <a:srgbClr val="FFFFFF"/>
                    </a:solidFill>
                  </a:tcPr>
                </a:tc>
                <a:tc>
                  <a:txBody>
                    <a:bodyPr/>
                    <a:lstStyle/>
                    <a:p>
                      <a:pPr algn="ctr"/>
                      <a:r>
                        <a:rPr lang="es-ES" sz="1800" b="0" i="0">
                          <a:solidFill>
                            <a:srgbClr val="1F2937"/>
                          </a:solidFill>
                          <a:latin typeface="Calibri"/>
                        </a:rPr>
                        <a:t>2</a:t>
                      </a:r>
                    </a:p>
                  </a:txBody>
                  <a:tcPr marL="73152" marR="73152" marT="27432" marB="27432" anchor="ctr">
                    <a:solidFill>
                      <a:srgbClr val="FFFFFF"/>
                    </a:solidFill>
                  </a:tcPr>
                </a:tc>
                <a:tc>
                  <a:txBody>
                    <a:bodyPr/>
                    <a:lstStyle/>
                    <a:p>
                      <a:pPr algn="ctr"/>
                      <a:r>
                        <a:rPr lang="es-ES" sz="1800" b="0" i="0">
                          <a:solidFill>
                            <a:srgbClr val="1F2937"/>
                          </a:solidFill>
                          <a:latin typeface="Calibri"/>
                        </a:rPr>
                        <a:t>18</a:t>
                      </a:r>
                    </a:p>
                  </a:txBody>
                  <a:tcPr marL="73152" marR="73152" marT="27432" marB="27432" anchor="ctr">
                    <a:solidFill>
                      <a:srgbClr val="FFFFFF"/>
                    </a:solidFill>
                  </a:tcPr>
                </a:tc>
                <a:tc>
                  <a:txBody>
                    <a:bodyPr/>
                    <a:lstStyle/>
                    <a:p>
                      <a:pPr algn="ctr"/>
                      <a:r>
                        <a:rPr lang="es-ES" sz="1800" b="0" i="0">
                          <a:solidFill>
                            <a:srgbClr val="1F2937"/>
                          </a:solidFill>
                          <a:latin typeface="Calibri"/>
                        </a:rPr>
                        <a:t>11,845</a:t>
                      </a:r>
                    </a:p>
                  </a:txBody>
                  <a:tcPr marL="73152" marR="73152" marT="27432" marB="27432" anchor="ctr">
                    <a:solidFill>
                      <a:srgbClr val="FFFFFF"/>
                    </a:solidFill>
                  </a:tcPr>
                </a:tc>
                <a:tc>
                  <a:txBody>
                    <a:bodyPr/>
                    <a:lstStyle/>
                    <a:p>
                      <a:pPr algn="ctr"/>
                      <a:r>
                        <a:rPr lang="es-ES" sz="1800" b="0" i="0">
                          <a:solidFill>
                            <a:srgbClr val="1F2937"/>
                          </a:solidFill>
                          <a:latin typeface="Calibri"/>
                        </a:rPr>
                        <a:t>−50,563</a:t>
                      </a:r>
                    </a:p>
                  </a:txBody>
                  <a:tcPr marL="73152" marR="73152" marT="27432" marB="27432" anchor="ctr">
                    <a:solidFill>
                      <a:srgbClr val="FFFFFF"/>
                    </a:solidFill>
                  </a:tcPr>
                </a:tc>
                <a:extLst>
                  <a:ext uri="{0D108BD9-81ED-4DB2-BD59-A6C34878D82A}">
                    <a16:rowId xmlns:a16="http://schemas.microsoft.com/office/drawing/2014/main" val="10001"/>
                  </a:ext>
                </a:extLst>
              </a:tr>
              <a:tr h="482346">
                <a:tc>
                  <a:txBody>
                    <a:bodyPr/>
                    <a:lstStyle/>
                    <a:p>
                      <a:pPr algn="l"/>
                      <a:r>
                        <a:rPr lang="es-ES" sz="1800" b="1" i="0">
                          <a:solidFill>
                            <a:srgbClr val="1F2937"/>
                          </a:solidFill>
                          <a:latin typeface="Calibri"/>
                        </a:rPr>
                        <a:t>Q4</a:t>
                      </a:r>
                    </a:p>
                  </a:txBody>
                  <a:tcPr marL="73152" marR="73152" marT="27432" marB="27432" anchor="ctr">
                    <a:solidFill>
                      <a:srgbClr val="F3F4F6"/>
                    </a:solidFill>
                  </a:tcPr>
                </a:tc>
                <a:tc>
                  <a:txBody>
                    <a:bodyPr/>
                    <a:lstStyle/>
                    <a:p>
                      <a:pPr algn="ctr"/>
                      <a:r>
                        <a:rPr lang="es-ES" sz="1800" b="0" i="0">
                          <a:solidFill>
                            <a:srgbClr val="1F2937"/>
                          </a:solidFill>
                          <a:latin typeface="Calibri"/>
                        </a:rPr>
                        <a:t>8</a:t>
                      </a:r>
                    </a:p>
                  </a:txBody>
                  <a:tcPr marL="73152" marR="73152" marT="27432" marB="27432" anchor="ctr">
                    <a:solidFill>
                      <a:srgbClr val="F3F4F6"/>
                    </a:solidFill>
                  </a:tcPr>
                </a:tc>
                <a:tc>
                  <a:txBody>
                    <a:bodyPr/>
                    <a:lstStyle/>
                    <a:p>
                      <a:pPr algn="ctr"/>
                      <a:r>
                        <a:rPr lang="es-ES" sz="1800" b="0" i="0">
                          <a:solidFill>
                            <a:srgbClr val="1F2937"/>
                          </a:solidFill>
                          <a:latin typeface="Calibri"/>
                        </a:rPr>
                        <a:t>162</a:t>
                      </a:r>
                    </a:p>
                  </a:txBody>
                  <a:tcPr marL="73152" marR="73152" marT="27432" marB="27432" anchor="ctr">
                    <a:solidFill>
                      <a:srgbClr val="F3F4F6"/>
                    </a:solidFill>
                  </a:tcPr>
                </a:tc>
                <a:tc>
                  <a:txBody>
                    <a:bodyPr/>
                    <a:lstStyle/>
                    <a:p>
                      <a:pPr algn="ctr"/>
                      <a:r>
                        <a:rPr lang="es-ES" sz="1800" b="0" i="0">
                          <a:solidFill>
                            <a:srgbClr val="1F2937"/>
                          </a:solidFill>
                          <a:latin typeface="Calibri"/>
                        </a:rPr>
                        <a:t>22,079</a:t>
                      </a:r>
                    </a:p>
                  </a:txBody>
                  <a:tcPr marL="73152" marR="73152" marT="27432" marB="27432" anchor="ctr">
                    <a:solidFill>
                      <a:srgbClr val="F3F4F6"/>
                    </a:solidFill>
                  </a:tcPr>
                </a:tc>
                <a:tc>
                  <a:txBody>
                    <a:bodyPr/>
                    <a:lstStyle/>
                    <a:p>
                      <a:pPr algn="ctr"/>
                      <a:r>
                        <a:rPr lang="es-ES" sz="1800" b="0" i="0">
                          <a:solidFill>
                            <a:srgbClr val="1F2937"/>
                          </a:solidFill>
                          <a:latin typeface="Calibri"/>
                        </a:rPr>
                        <a:t>−7,850</a:t>
                      </a:r>
                    </a:p>
                  </a:txBody>
                  <a:tcPr marL="73152" marR="73152" marT="27432" marB="27432" anchor="ctr">
                    <a:solidFill>
                      <a:srgbClr val="F3F4F6"/>
                    </a:solidFill>
                  </a:tcPr>
                </a:tc>
                <a:extLst>
                  <a:ext uri="{0D108BD9-81ED-4DB2-BD59-A6C34878D82A}">
                    <a16:rowId xmlns:a16="http://schemas.microsoft.com/office/drawing/2014/main" val="10002"/>
                  </a:ext>
                </a:extLst>
              </a:tr>
              <a:tr h="482346">
                <a:tc>
                  <a:txBody>
                    <a:bodyPr/>
                    <a:lstStyle/>
                    <a:p>
                      <a:pPr algn="l"/>
                      <a:r>
                        <a:rPr lang="es-ES" sz="1800" b="1" i="0">
                          <a:solidFill>
                            <a:srgbClr val="1F2937"/>
                          </a:solidFill>
                          <a:latin typeface="Calibri"/>
                        </a:rPr>
                        <a:t>Q4</a:t>
                      </a:r>
                    </a:p>
                  </a:txBody>
                  <a:tcPr marL="73152" marR="73152" marT="27432" marB="27432" anchor="ctr">
                    <a:solidFill>
                      <a:srgbClr val="FFFFFF"/>
                    </a:solidFill>
                  </a:tcPr>
                </a:tc>
                <a:tc>
                  <a:txBody>
                    <a:bodyPr/>
                    <a:lstStyle/>
                    <a:p>
                      <a:pPr algn="ctr"/>
                      <a:r>
                        <a:rPr lang="es-ES" sz="1800" b="0" i="0">
                          <a:solidFill>
                            <a:srgbClr val="1F2937"/>
                          </a:solidFill>
                          <a:latin typeface="Calibri"/>
                        </a:rPr>
                        <a:t>32</a:t>
                      </a:r>
                    </a:p>
                  </a:txBody>
                  <a:tcPr marL="73152" marR="73152" marT="27432" marB="27432" anchor="ctr">
                    <a:solidFill>
                      <a:srgbClr val="FFFFFF"/>
                    </a:solidFill>
                  </a:tcPr>
                </a:tc>
                <a:tc>
                  <a:txBody>
                    <a:bodyPr/>
                    <a:lstStyle/>
                    <a:p>
                      <a:pPr algn="ctr"/>
                      <a:r>
                        <a:rPr lang="es-ES" sz="1800" b="0" i="0">
                          <a:solidFill>
                            <a:srgbClr val="1F2937"/>
                          </a:solidFill>
                          <a:latin typeface="Calibri"/>
                        </a:rPr>
                        <a:t>2178</a:t>
                      </a:r>
                    </a:p>
                  </a:txBody>
                  <a:tcPr marL="73152" marR="73152" marT="27432" marB="27432" anchor="ctr">
                    <a:solidFill>
                      <a:srgbClr val="FFFFFF"/>
                    </a:solidFill>
                  </a:tcPr>
                </a:tc>
                <a:tc>
                  <a:txBody>
                    <a:bodyPr/>
                    <a:lstStyle/>
                    <a:p>
                      <a:pPr algn="ctr"/>
                      <a:r>
                        <a:rPr lang="es-ES" sz="1800" b="0" i="0">
                          <a:solidFill>
                            <a:srgbClr val="1F2937"/>
                          </a:solidFill>
                          <a:latin typeface="Calibri"/>
                        </a:rPr>
                        <a:t>23,818</a:t>
                      </a:r>
                    </a:p>
                  </a:txBody>
                  <a:tcPr marL="73152" marR="73152" marT="27432" marB="27432" anchor="ctr">
                    <a:solidFill>
                      <a:srgbClr val="FFFFFF"/>
                    </a:solidFill>
                  </a:tcPr>
                </a:tc>
                <a:tc>
                  <a:txBody>
                    <a:bodyPr/>
                    <a:lstStyle/>
                    <a:p>
                      <a:pPr algn="ctr"/>
                      <a:r>
                        <a:rPr lang="es-ES" sz="1800" b="0" i="0">
                          <a:solidFill>
                            <a:srgbClr val="1F2937"/>
                          </a:solidFill>
                          <a:latin typeface="Calibri"/>
                        </a:rPr>
                        <a:t>−0,594</a:t>
                      </a:r>
                    </a:p>
                  </a:txBody>
                  <a:tcPr marL="73152" marR="73152" marT="27432" marB="27432" anchor="ctr">
                    <a:solidFill>
                      <a:srgbClr val="FFFFFF"/>
                    </a:solidFill>
                  </a:tcPr>
                </a:tc>
                <a:extLst>
                  <a:ext uri="{0D108BD9-81ED-4DB2-BD59-A6C34878D82A}">
                    <a16:rowId xmlns:a16="http://schemas.microsoft.com/office/drawing/2014/main" val="10003"/>
                  </a:ext>
                </a:extLst>
              </a:tr>
              <a:tr h="482346">
                <a:tc>
                  <a:txBody>
                    <a:bodyPr/>
                    <a:lstStyle/>
                    <a:p>
                      <a:pPr algn="l"/>
                      <a:r>
                        <a:rPr lang="es-ES" sz="1800" b="1" i="0">
                          <a:solidFill>
                            <a:srgbClr val="1F2937"/>
                          </a:solidFill>
                          <a:latin typeface="Calibri"/>
                        </a:rPr>
                        <a:t>Q9</a:t>
                      </a:r>
                    </a:p>
                  </a:txBody>
                  <a:tcPr marL="73152" marR="73152" marT="27432" marB="27432" anchor="ctr">
                    <a:solidFill>
                      <a:srgbClr val="F3F4F6"/>
                    </a:solidFill>
                  </a:tcPr>
                </a:tc>
                <a:tc>
                  <a:txBody>
                    <a:bodyPr/>
                    <a:lstStyle/>
                    <a:p>
                      <a:pPr algn="ctr"/>
                      <a:r>
                        <a:rPr lang="es-ES" sz="1800" b="0" i="0">
                          <a:solidFill>
                            <a:srgbClr val="1F2937"/>
                          </a:solidFill>
                          <a:latin typeface="Calibri"/>
                        </a:rPr>
                        <a:t>2</a:t>
                      </a:r>
                    </a:p>
                  </a:txBody>
                  <a:tcPr marL="73152" marR="73152" marT="27432" marB="27432" anchor="ctr">
                    <a:solidFill>
                      <a:srgbClr val="F3F4F6"/>
                    </a:solidFill>
                  </a:tcPr>
                </a:tc>
                <a:tc>
                  <a:txBody>
                    <a:bodyPr/>
                    <a:lstStyle/>
                    <a:p>
                      <a:pPr algn="ctr"/>
                      <a:r>
                        <a:rPr lang="es-ES" sz="1800" b="0" i="0">
                          <a:solidFill>
                            <a:srgbClr val="1F2937"/>
                          </a:solidFill>
                          <a:latin typeface="Calibri"/>
                        </a:rPr>
                        <a:t>50</a:t>
                      </a:r>
                    </a:p>
                  </a:txBody>
                  <a:tcPr marL="73152" marR="73152" marT="27432" marB="27432" anchor="ctr">
                    <a:solidFill>
                      <a:srgbClr val="F3F4F6"/>
                    </a:solidFill>
                  </a:tcPr>
                </a:tc>
                <a:tc>
                  <a:txBody>
                    <a:bodyPr/>
                    <a:lstStyle/>
                    <a:p>
                      <a:pPr algn="ctr"/>
                      <a:r>
                        <a:rPr lang="es-ES" sz="1800" b="0" i="0">
                          <a:solidFill>
                            <a:srgbClr val="1F2937"/>
                          </a:solidFill>
                          <a:latin typeface="Calibri"/>
                        </a:rPr>
                        <a:t>23,289</a:t>
                      </a:r>
                    </a:p>
                  </a:txBody>
                  <a:tcPr marL="73152" marR="73152" marT="27432" marB="27432" anchor="ctr">
                    <a:solidFill>
                      <a:srgbClr val="F3F4F6"/>
                    </a:solidFill>
                  </a:tcPr>
                </a:tc>
                <a:tc>
                  <a:txBody>
                    <a:bodyPr/>
                    <a:lstStyle/>
                    <a:p>
                      <a:pPr algn="ctr"/>
                      <a:r>
                        <a:rPr lang="es-ES" sz="1800" b="0" i="0">
                          <a:solidFill>
                            <a:srgbClr val="1F2937"/>
                          </a:solidFill>
                          <a:latin typeface="Calibri"/>
                        </a:rPr>
                        <a:t>−2,802</a:t>
                      </a:r>
                    </a:p>
                  </a:txBody>
                  <a:tcPr marL="73152" marR="73152" marT="27432" marB="27432" anchor="ctr">
                    <a:solidFill>
                      <a:srgbClr val="F3F4F6"/>
                    </a:solidFill>
                  </a:tcPr>
                </a:tc>
                <a:extLst>
                  <a:ext uri="{0D108BD9-81ED-4DB2-BD59-A6C34878D82A}">
                    <a16:rowId xmlns:a16="http://schemas.microsoft.com/office/drawing/2014/main" val="10004"/>
                  </a:ext>
                </a:extLst>
              </a:tr>
              <a:tr h="482346">
                <a:tc>
                  <a:txBody>
                    <a:bodyPr/>
                    <a:lstStyle/>
                    <a:p>
                      <a:pPr algn="l"/>
                      <a:r>
                        <a:rPr lang="es-ES" sz="1800" b="1" i="0">
                          <a:solidFill>
                            <a:srgbClr val="1F2937"/>
                          </a:solidFill>
                          <a:latin typeface="Calibri"/>
                        </a:rPr>
                        <a:t>Q9</a:t>
                      </a:r>
                    </a:p>
                  </a:txBody>
                  <a:tcPr marL="73152" marR="73152" marT="27432" marB="27432" anchor="ctr">
                    <a:solidFill>
                      <a:srgbClr val="FFFFFF"/>
                    </a:solidFill>
                  </a:tcPr>
                </a:tc>
                <a:tc>
                  <a:txBody>
                    <a:bodyPr/>
                    <a:lstStyle/>
                    <a:p>
                      <a:pPr algn="ctr"/>
                      <a:r>
                        <a:rPr lang="es-ES" sz="1800" b="0" i="0">
                          <a:solidFill>
                            <a:srgbClr val="1F2937"/>
                          </a:solidFill>
                          <a:latin typeface="Calibri"/>
                        </a:rPr>
                        <a:t>8</a:t>
                      </a:r>
                    </a:p>
                  </a:txBody>
                  <a:tcPr marL="73152" marR="73152" marT="27432" marB="27432" anchor="ctr">
                    <a:solidFill>
                      <a:srgbClr val="FFFFFF"/>
                    </a:solidFill>
                  </a:tcPr>
                </a:tc>
                <a:tc>
                  <a:txBody>
                    <a:bodyPr/>
                    <a:lstStyle/>
                    <a:p>
                      <a:pPr algn="ctr"/>
                      <a:r>
                        <a:rPr lang="es-ES" sz="1800" b="0" i="0">
                          <a:solidFill>
                            <a:srgbClr val="1F2937"/>
                          </a:solidFill>
                          <a:latin typeface="Calibri"/>
                        </a:rPr>
                        <a:t>578</a:t>
                      </a:r>
                    </a:p>
                  </a:txBody>
                  <a:tcPr marL="73152" marR="73152" marT="27432" marB="27432" anchor="ctr">
                    <a:solidFill>
                      <a:srgbClr val="FFFFFF"/>
                    </a:solidFill>
                  </a:tcPr>
                </a:tc>
                <a:tc>
                  <a:txBody>
                    <a:bodyPr/>
                    <a:lstStyle/>
                    <a:p>
                      <a:pPr algn="ctr"/>
                      <a:r>
                        <a:rPr lang="es-ES" sz="1800" b="0" i="0">
                          <a:solidFill>
                            <a:srgbClr val="1F2937"/>
                          </a:solidFill>
                          <a:latin typeface="Calibri"/>
                        </a:rPr>
                        <a:t>23,925</a:t>
                      </a:r>
                    </a:p>
                  </a:txBody>
                  <a:tcPr marL="73152" marR="73152" marT="27432" marB="27432" anchor="ctr">
                    <a:solidFill>
                      <a:srgbClr val="FFFFFF"/>
                    </a:solidFill>
                  </a:tcPr>
                </a:tc>
                <a:tc>
                  <a:txBody>
                    <a:bodyPr/>
                    <a:lstStyle/>
                    <a:p>
                      <a:pPr algn="ctr"/>
                      <a:r>
                        <a:rPr lang="es-ES" sz="1800" b="0" i="0">
                          <a:solidFill>
                            <a:srgbClr val="1F2937"/>
                          </a:solidFill>
                          <a:latin typeface="Calibri"/>
                        </a:rPr>
                        <a:t>−0,144</a:t>
                      </a:r>
                    </a:p>
                  </a:txBody>
                  <a:tcPr marL="73152" marR="73152" marT="27432" marB="27432" anchor="ctr">
                    <a:solidFill>
                      <a:srgbClr val="FFFFFF"/>
                    </a:solidFill>
                  </a:tcPr>
                </a:tc>
                <a:extLst>
                  <a:ext uri="{0D108BD9-81ED-4DB2-BD59-A6C34878D82A}">
                    <a16:rowId xmlns:a16="http://schemas.microsoft.com/office/drawing/2014/main" val="10005"/>
                  </a:ext>
                </a:extLst>
              </a:tr>
              <a:tr h="482346">
                <a:tc>
                  <a:txBody>
                    <a:bodyPr/>
                    <a:lstStyle/>
                    <a:p>
                      <a:pPr algn="l"/>
                      <a:r>
                        <a:rPr lang="es-ES" sz="1800" b="1" i="0">
                          <a:solidFill>
                            <a:srgbClr val="1F2937"/>
                          </a:solidFill>
                          <a:latin typeface="Calibri"/>
                        </a:rPr>
                        <a:t>Q9</a:t>
                      </a:r>
                    </a:p>
                  </a:txBody>
                  <a:tcPr marL="73152" marR="73152" marT="27432" marB="27432" anchor="ctr">
                    <a:solidFill>
                      <a:srgbClr val="F3F4F6"/>
                    </a:solidFill>
                  </a:tcPr>
                </a:tc>
                <a:tc>
                  <a:txBody>
                    <a:bodyPr/>
                    <a:lstStyle/>
                    <a:p>
                      <a:pPr algn="ctr"/>
                      <a:r>
                        <a:rPr lang="es-ES" sz="1800" b="0" i="0">
                          <a:solidFill>
                            <a:srgbClr val="1F2937"/>
                          </a:solidFill>
                          <a:latin typeface="Calibri"/>
                        </a:rPr>
                        <a:t>16</a:t>
                      </a:r>
                    </a:p>
                  </a:txBody>
                  <a:tcPr marL="73152" marR="73152" marT="27432" marB="27432" anchor="ctr">
                    <a:solidFill>
                      <a:srgbClr val="F3F4F6"/>
                    </a:solidFill>
                  </a:tcPr>
                </a:tc>
                <a:tc>
                  <a:txBody>
                    <a:bodyPr/>
                    <a:lstStyle/>
                    <a:p>
                      <a:pPr algn="ctr"/>
                      <a:r>
                        <a:rPr lang="es-ES" sz="1800" b="0" i="0">
                          <a:solidFill>
                            <a:srgbClr val="1F2937"/>
                          </a:solidFill>
                          <a:latin typeface="Calibri"/>
                        </a:rPr>
                        <a:t>2178</a:t>
                      </a:r>
                    </a:p>
                  </a:txBody>
                  <a:tcPr marL="73152" marR="73152" marT="27432" marB="27432" anchor="ctr">
                    <a:solidFill>
                      <a:srgbClr val="F3F4F6"/>
                    </a:solidFill>
                  </a:tcPr>
                </a:tc>
                <a:tc>
                  <a:txBody>
                    <a:bodyPr/>
                    <a:lstStyle/>
                    <a:p>
                      <a:pPr algn="ctr"/>
                      <a:r>
                        <a:rPr lang="es-ES" sz="1800" b="0" i="0">
                          <a:solidFill>
                            <a:srgbClr val="1F2937"/>
                          </a:solidFill>
                          <a:latin typeface="Calibri"/>
                        </a:rPr>
                        <a:t>23,949</a:t>
                      </a:r>
                    </a:p>
                  </a:txBody>
                  <a:tcPr marL="73152" marR="73152" marT="27432" marB="27432" anchor="ctr">
                    <a:solidFill>
                      <a:srgbClr val="F3F4F6"/>
                    </a:solidFill>
                  </a:tcPr>
                </a:tc>
                <a:tc>
                  <a:txBody>
                    <a:bodyPr/>
                    <a:lstStyle/>
                    <a:p>
                      <a:pPr algn="ctr"/>
                      <a:r>
                        <a:rPr lang="es-ES" sz="1800" b="0" i="0">
                          <a:solidFill>
                            <a:srgbClr val="1F2937"/>
                          </a:solidFill>
                          <a:latin typeface="Calibri"/>
                        </a:rPr>
                        <a:t>−0,044</a:t>
                      </a:r>
                    </a:p>
                  </a:txBody>
                  <a:tcPr marL="73152" marR="73152" marT="27432" marB="27432" anchor="ctr">
                    <a:solidFill>
                      <a:srgbClr val="F3F4F6"/>
                    </a:solidFill>
                  </a:tcPr>
                </a:tc>
                <a:extLst>
                  <a:ext uri="{0D108BD9-81ED-4DB2-BD59-A6C34878D82A}">
                    <a16:rowId xmlns:a16="http://schemas.microsoft.com/office/drawing/2014/main" val="10006"/>
                  </a:ext>
                </a:extLst>
              </a:tr>
              <a:tr h="482346">
                <a:tc>
                  <a:txBody>
                    <a:bodyPr/>
                    <a:lstStyle/>
                    <a:p>
                      <a:pPr algn="l"/>
                      <a:r>
                        <a:rPr lang="es-ES" sz="1800" b="1" i="0">
                          <a:solidFill>
                            <a:srgbClr val="1F2937"/>
                          </a:solidFill>
                          <a:latin typeface="Calibri"/>
                        </a:rPr>
                        <a:t>Q9</a:t>
                      </a:r>
                    </a:p>
                  </a:txBody>
                  <a:tcPr marL="73152" marR="73152" marT="27432" marB="27432" anchor="ctr">
                    <a:solidFill>
                      <a:srgbClr val="FFFFFF"/>
                    </a:solidFill>
                  </a:tcPr>
                </a:tc>
                <a:tc>
                  <a:txBody>
                    <a:bodyPr/>
                    <a:lstStyle/>
                    <a:p>
                      <a:pPr algn="ctr"/>
                      <a:r>
                        <a:rPr lang="es-ES" sz="1800" b="0" i="0">
                          <a:solidFill>
                            <a:srgbClr val="1F2937"/>
                          </a:solidFill>
                          <a:latin typeface="Calibri"/>
                        </a:rPr>
                        <a:t>32</a:t>
                      </a:r>
                    </a:p>
                  </a:txBody>
                  <a:tcPr marL="73152" marR="73152" marT="27432" marB="27432" anchor="ctr">
                    <a:solidFill>
                      <a:srgbClr val="FFFFFF"/>
                    </a:solidFill>
                  </a:tcPr>
                </a:tc>
                <a:tc>
                  <a:txBody>
                    <a:bodyPr/>
                    <a:lstStyle/>
                    <a:p>
                      <a:pPr algn="ctr"/>
                      <a:r>
                        <a:rPr lang="es-ES" sz="1800" b="0" i="0">
                          <a:solidFill>
                            <a:srgbClr val="1F2937"/>
                          </a:solidFill>
                          <a:latin typeface="Calibri"/>
                        </a:rPr>
                        <a:t>8450</a:t>
                      </a:r>
                    </a:p>
                  </a:txBody>
                  <a:tcPr marL="73152" marR="73152" marT="27432" marB="27432" anchor="ctr">
                    <a:solidFill>
                      <a:srgbClr val="FFFFFF"/>
                    </a:solidFill>
                  </a:tcPr>
                </a:tc>
                <a:tc>
                  <a:txBody>
                    <a:bodyPr/>
                    <a:lstStyle/>
                    <a:p>
                      <a:pPr algn="ctr"/>
                      <a:r>
                        <a:rPr lang="es-ES" sz="1800" b="0" i="0">
                          <a:solidFill>
                            <a:srgbClr val="1F2937"/>
                          </a:solidFill>
                          <a:latin typeface="Calibri"/>
                        </a:rPr>
                        <a:t>23,961</a:t>
                      </a:r>
                    </a:p>
                  </a:txBody>
                  <a:tcPr marL="73152" marR="73152" marT="27432" marB="27432" anchor="ctr">
                    <a:solidFill>
                      <a:srgbClr val="FFFFFF"/>
                    </a:solidFill>
                  </a:tcPr>
                </a:tc>
                <a:tc>
                  <a:txBody>
                    <a:bodyPr/>
                    <a:lstStyle/>
                    <a:p>
                      <a:pPr algn="ctr"/>
                      <a:r>
                        <a:rPr lang="es-ES" sz="1800" b="0" i="0">
                          <a:solidFill>
                            <a:srgbClr val="1F2937"/>
                          </a:solidFill>
                          <a:latin typeface="Calibri"/>
                        </a:rPr>
                        <a:t>+0,003</a:t>
                      </a:r>
                    </a:p>
                  </a:txBody>
                  <a:tcPr marL="73152" marR="73152" marT="27432" marB="27432" anchor="ctr">
                    <a:solidFill>
                      <a:srgbClr val="FFFFFF"/>
                    </a:solidFill>
                  </a:tcPr>
                </a:tc>
                <a:extLst>
                  <a:ext uri="{0D108BD9-81ED-4DB2-BD59-A6C34878D82A}">
                    <a16:rowId xmlns:a16="http://schemas.microsoft.com/office/drawing/2014/main" val="10007"/>
                  </a:ext>
                </a:extLst>
              </a:tr>
            </a:tbl>
          </a:graphicData>
        </a:graphic>
      </p:graphicFrame>
      <p:sp>
        <p:nvSpPr>
          <p:cNvPr id="6" name="Rectangle 5"/>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77240" y="5431536"/>
            <a:ext cx="10774375" cy="841248"/>
          </a:xfrm>
          <a:prstGeom prst="rect">
            <a:avLst/>
          </a:prstGeom>
          <a:noFill/>
        </p:spPr>
        <p:txBody>
          <a:bodyPr wrap="square" lIns="45720" tIns="27432" rIns="45720" bIns="27432" anchor="ctr">
            <a:noAutofit/>
          </a:bodyPr>
          <a:lstStyle/>
          <a:p>
            <a:pPr algn="l">
              <a:lnSpc>
                <a:spcPct val="100000"/>
              </a:lnSpc>
            </a:pPr>
            <a:r>
              <a:rPr lang="es-ES" sz="2200" b="1" i="0">
                <a:solidFill>
                  <a:srgbClr val="1B2A4A"/>
                </a:solidFill>
                <a:latin typeface="Calibri"/>
              </a:rPr>
              <a:t>Trapecio empotrado con corte unitario en el extremo; E = 1, ν = 1/3, tensión plana</a:t>
            </a:r>
          </a:p>
        </p:txBody>
      </p:sp>
      <p:sp>
        <p:nvSpPr>
          <p:cNvPr id="9" name="Rectangle 8"/>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6419088"/>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11" name="TextBox 10"/>
          <p:cNvSpPr txBox="1"/>
          <p:nvPr/>
        </p:nvSpPr>
        <p:spPr>
          <a:xfrm>
            <a:off x="4023360" y="6419088"/>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§3.5, tabla de Cook</a:t>
            </a:r>
          </a:p>
        </p:txBody>
      </p:sp>
      <p:sp>
        <p:nvSpPr>
          <p:cNvPr id="12" name="TextBox 11"/>
          <p:cNvSpPr txBox="1"/>
          <p:nvPr/>
        </p:nvSpPr>
        <p:spPr>
          <a:xfrm>
            <a:off x="10545775" y="6419088"/>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29</a:t>
            </a:fld>
            <a:endParaRPr lang="es-ES" sz="1200" dirty="0">
              <a:solidFill>
                <a:srgbClr val="5B6575"/>
              </a:solidFill>
              <a:latin typeface="Calibri"/>
            </a:endParaRPr>
          </a:p>
        </p:txBody>
      </p:sp>
      <p:pic>
        <p:nvPicPr>
          <p:cNvPr id="13" name="s29">
            <a:hlinkClick r:id="" action="ppaction://media"/>
            <a:extLst>
              <a:ext uri="{FF2B5EF4-FFF2-40B4-BE49-F238E27FC236}">
                <a16:creationId xmlns:a16="http://schemas.microsoft.com/office/drawing/2014/main" id="{8BB2BC87-E7B0-6EA4-EBA5-EF3EC572BF10}"/>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340"/>
    </mc:Choice>
    <mc:Fallback>
      <p:transition spd="slow" advTm="4234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11B33"/>
        </a:solidFill>
        <a:effectLst/>
      </p:bgPr>
    </p:bg>
    <p:spTree>
      <p:nvGrpSpPr>
        <p:cNvPr id="1" name=""/>
        <p:cNvGrpSpPr/>
        <p:nvPr/>
      </p:nvGrpSpPr>
      <p:grpSpPr>
        <a:xfrm>
          <a:off x="0" y="0"/>
          <a:ext cx="0" cy="0"/>
          <a:chOff x="0" y="0"/>
          <a:chExt cx="0" cy="0"/>
        </a:xfrm>
      </p:grpSpPr>
      <p:sp>
        <p:nvSpPr>
          <p:cNvPr id="2" name="TextBox 1"/>
          <p:cNvSpPr txBox="1"/>
          <p:nvPr/>
        </p:nvSpPr>
        <p:spPr>
          <a:xfrm>
            <a:off x="731520" y="1417320"/>
            <a:ext cx="2194560" cy="1828800"/>
          </a:xfrm>
          <a:prstGeom prst="rect">
            <a:avLst/>
          </a:prstGeom>
          <a:noFill/>
        </p:spPr>
        <p:txBody>
          <a:bodyPr wrap="square" lIns="45720" tIns="27432" rIns="45720" bIns="27432" anchor="ctr">
            <a:noAutofit/>
          </a:bodyPr>
          <a:lstStyle/>
          <a:p>
            <a:pPr algn="l">
              <a:lnSpc>
                <a:spcPct val="105000"/>
              </a:lnSpc>
            </a:pPr>
            <a:r>
              <a:rPr lang="es-ES" sz="9600" b="1" i="0">
                <a:solidFill>
                  <a:srgbClr val="F28C28"/>
                </a:solidFill>
                <a:latin typeface="Calibri"/>
              </a:rPr>
              <a:t>05</a:t>
            </a:r>
          </a:p>
        </p:txBody>
      </p:sp>
      <p:sp>
        <p:nvSpPr>
          <p:cNvPr id="3" name="Rectangle 2"/>
          <p:cNvSpPr/>
          <p:nvPr/>
        </p:nvSpPr>
        <p:spPr>
          <a:xfrm>
            <a:off x="3063240" y="1691640"/>
            <a:ext cx="54864" cy="1325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3383280" y="1417320"/>
            <a:ext cx="8229600" cy="1188720"/>
          </a:xfrm>
          <a:prstGeom prst="rect">
            <a:avLst/>
          </a:prstGeom>
          <a:noFill/>
        </p:spPr>
        <p:txBody>
          <a:bodyPr wrap="square" lIns="45720" tIns="27432" rIns="45720" bIns="27432" anchor="ctr">
            <a:noAutofit/>
          </a:bodyPr>
          <a:lstStyle/>
          <a:p>
            <a:pPr algn="l">
              <a:lnSpc>
                <a:spcPct val="105000"/>
              </a:lnSpc>
            </a:pPr>
            <a:r>
              <a:rPr lang="es-ES" sz="4400" b="1" i="0">
                <a:solidFill>
                  <a:srgbClr val="FFFFFF"/>
                </a:solidFill>
                <a:latin typeface="Calibri"/>
              </a:rPr>
              <a:t>Análisis de resultados</a:t>
            </a:r>
          </a:p>
        </p:txBody>
      </p:sp>
      <p:sp>
        <p:nvSpPr>
          <p:cNvPr id="5" name="TextBox 4"/>
          <p:cNvSpPr txBox="1"/>
          <p:nvPr/>
        </p:nvSpPr>
        <p:spPr>
          <a:xfrm>
            <a:off x="3383280" y="2606040"/>
            <a:ext cx="8229600" cy="1280160"/>
          </a:xfrm>
          <a:prstGeom prst="rect">
            <a:avLst/>
          </a:prstGeom>
          <a:noFill/>
        </p:spPr>
        <p:txBody>
          <a:bodyPr wrap="square" lIns="45720" tIns="27432" rIns="45720" bIns="27432" anchor="t">
            <a:noAutofit/>
          </a:bodyPr>
          <a:lstStyle/>
          <a:p>
            <a:pPr algn="l">
              <a:lnSpc>
                <a:spcPct val="115000"/>
              </a:lnSpc>
            </a:pPr>
            <a:r>
              <a:rPr lang="es-ES" sz="2200" b="0" i="0">
                <a:solidFill>
                  <a:srgbClr val="C7D2E8"/>
                </a:solidFill>
                <a:latin typeface="Calibri"/>
              </a:rPr>
              <a:t>Qué aprende el alumno: Q4 frente a Q9, escalabilidad y alcance de la evidencia</a:t>
            </a:r>
          </a:p>
        </p:txBody>
      </p:sp>
      <p:sp>
        <p:nvSpPr>
          <p:cNvPr id="6" name="Rounded Rectangle 5"/>
          <p:cNvSpPr/>
          <p:nvPr/>
        </p:nvSpPr>
        <p:spPr>
          <a:xfrm>
            <a:off x="548640" y="5760720"/>
            <a:ext cx="1757629" cy="566928"/>
          </a:xfrm>
          <a:prstGeom prst="roundRect">
            <a:avLst>
              <a:gd name="adj" fmla="val 25000"/>
            </a:avLst>
          </a:prstGeom>
          <a:solidFill>
            <a:srgbClr val="2A3B6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1. Introducción</a:t>
            </a:r>
          </a:p>
        </p:txBody>
      </p:sp>
      <p:sp>
        <p:nvSpPr>
          <p:cNvPr id="7" name="Rounded Rectangle 6"/>
          <p:cNvSpPr/>
          <p:nvPr/>
        </p:nvSpPr>
        <p:spPr>
          <a:xfrm>
            <a:off x="2415997" y="5760720"/>
            <a:ext cx="1757629" cy="566928"/>
          </a:xfrm>
          <a:prstGeom prst="roundRect">
            <a:avLst>
              <a:gd name="adj" fmla="val 25000"/>
            </a:avLst>
          </a:prstGeom>
          <a:solidFill>
            <a:srgbClr val="2A3B6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2. Base teórica</a:t>
            </a:r>
          </a:p>
        </p:txBody>
      </p:sp>
      <p:sp>
        <p:nvSpPr>
          <p:cNvPr id="8" name="Rounded Rectangle 7"/>
          <p:cNvSpPr/>
          <p:nvPr/>
        </p:nvSpPr>
        <p:spPr>
          <a:xfrm>
            <a:off x="4283354" y="5760720"/>
            <a:ext cx="1757629" cy="566928"/>
          </a:xfrm>
          <a:prstGeom prst="roundRect">
            <a:avLst>
              <a:gd name="adj" fmla="val 25000"/>
            </a:avLst>
          </a:prstGeom>
          <a:solidFill>
            <a:srgbClr val="2A3B6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3. Diseño y desarrollo del modelo</a:t>
            </a:r>
          </a:p>
        </p:txBody>
      </p:sp>
      <p:sp>
        <p:nvSpPr>
          <p:cNvPr id="9" name="Rounded Rectangle 8"/>
          <p:cNvSpPr/>
          <p:nvPr/>
        </p:nvSpPr>
        <p:spPr>
          <a:xfrm>
            <a:off x="6150711" y="5760720"/>
            <a:ext cx="1757629" cy="566928"/>
          </a:xfrm>
          <a:prstGeom prst="roundRect">
            <a:avLst>
              <a:gd name="adj" fmla="val 25000"/>
            </a:avLst>
          </a:prstGeom>
          <a:solidFill>
            <a:srgbClr val="2A3B6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4. Presentación de resultados</a:t>
            </a:r>
          </a:p>
        </p:txBody>
      </p:sp>
      <p:sp>
        <p:nvSpPr>
          <p:cNvPr id="10" name="Rounded Rectangle 9"/>
          <p:cNvSpPr/>
          <p:nvPr/>
        </p:nvSpPr>
        <p:spPr>
          <a:xfrm>
            <a:off x="8018068" y="5760720"/>
            <a:ext cx="1757629" cy="566928"/>
          </a:xfrm>
          <a:prstGeom prst="roundRect">
            <a:avLst>
              <a:gd name="adj" fmla="val 25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1" i="0">
                <a:solidFill>
                  <a:srgbClr val="FFFFFF"/>
                </a:solidFill>
                <a:latin typeface="Calibri"/>
              </a:rPr>
              <a:t>5. Análisis de resultados</a:t>
            </a:r>
          </a:p>
        </p:txBody>
      </p:sp>
      <p:sp>
        <p:nvSpPr>
          <p:cNvPr id="11" name="Rounded Rectangle 10"/>
          <p:cNvSpPr/>
          <p:nvPr/>
        </p:nvSpPr>
        <p:spPr>
          <a:xfrm>
            <a:off x="9885426" y="5760720"/>
            <a:ext cx="1757629" cy="566928"/>
          </a:xfrm>
          <a:prstGeom prst="roundRect">
            <a:avLst>
              <a:gd name="adj" fmla="val 25000"/>
            </a:avLst>
          </a:prstGeom>
          <a:solidFill>
            <a:srgbClr val="1C28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6. Conclusiones y recomendaciones</a:t>
            </a:r>
          </a:p>
        </p:txBody>
      </p:sp>
      <p:pic>
        <p:nvPicPr>
          <p:cNvPr id="12" name="s30">
            <a:hlinkClick r:id="" action="ppaction://media"/>
            <a:extLst>
              <a:ext uri="{FF2B5EF4-FFF2-40B4-BE49-F238E27FC236}">
                <a16:creationId xmlns:a16="http://schemas.microsoft.com/office/drawing/2014/main" id="{9702883A-DF34-8049-4FF5-8D9F9B25C68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676"/>
    </mc:Choice>
    <mc:Fallback>
      <p:transition spd="slow" advTm="667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168335" cy="868680"/>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Mismos GDL: Q9 trece veces más preciso</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noAutofit/>
          </a:bodyPr>
          <a:lstStyle/>
          <a:p>
            <a:pPr algn="ctr">
              <a:lnSpc>
                <a:spcPct val="100000"/>
              </a:lnSpc>
            </a:pPr>
            <a:r>
              <a:rPr lang="es-ES" sz="1300" b="1" i="0">
                <a:solidFill>
                  <a:srgbClr val="1B2A4A"/>
                </a:solidFill>
                <a:latin typeface="Calibri"/>
              </a:rPr>
              <a:t>5  ·  Análisis de resultados</a:t>
            </a:r>
          </a:p>
        </p:txBody>
      </p:sp>
      <p:sp>
        <p:nvSpPr>
          <p:cNvPr id="5" name="TextBox 4"/>
          <p:cNvSpPr txBox="1"/>
          <p:nvPr/>
        </p:nvSpPr>
        <p:spPr>
          <a:xfrm>
            <a:off x="594360" y="1527048"/>
            <a:ext cx="5257800" cy="3767328"/>
          </a:xfrm>
          <a:prstGeom prst="rect">
            <a:avLst/>
          </a:prstGeom>
          <a:noFill/>
        </p:spPr>
        <p:txBody>
          <a:bodyPr wrap="square" lIns="45720" tIns="27432" rIns="45720" bIns="27432" anchor="ctr">
            <a:noAutofit/>
          </a:bodyPr>
          <a:lstStyle/>
          <a:p>
            <a:pPr marL="347472" indent="-347472">
              <a:lnSpc>
                <a:spcPct val="112000"/>
              </a:lnSpc>
              <a:spcAft>
                <a:spcPts val="1200"/>
              </a:spcAft>
              <a:buClr>
                <a:srgbClr val="F28C28"/>
              </a:buClr>
              <a:buSzPct val="100000"/>
              <a:buFont typeface="Arial"/>
              <a:buChar char="•"/>
            </a:pPr>
            <a:r>
              <a:rPr lang="es-ES" sz="2200" b="1" i="0">
                <a:solidFill>
                  <a:srgbClr val="1B2A4A"/>
                </a:solidFill>
                <a:latin typeface="Calibri"/>
              </a:rPr>
              <a:t>Con 2178 GDL:</a:t>
            </a:r>
            <a:r>
              <a:rPr lang="es-ES" sz="2200" b="0" i="0">
                <a:solidFill>
                  <a:srgbClr val="1F2937"/>
                </a:solidFill>
                <a:latin typeface="Calibri"/>
              </a:rPr>
              <a:t> Q4 (N = 32) −0,594 % frente a Q9 (N = 16) −0,044 %</a:t>
            </a:r>
          </a:p>
          <a:p>
            <a:pPr marL="347472" indent="-347472">
              <a:lnSpc>
                <a:spcPct val="112000"/>
              </a:lnSpc>
              <a:spcAft>
                <a:spcPts val="1200"/>
              </a:spcAft>
              <a:buClr>
                <a:srgbClr val="F28C28"/>
              </a:buClr>
              <a:buSzPct val="100000"/>
              <a:buFont typeface="Arial"/>
              <a:buChar char="•"/>
            </a:pPr>
            <a:r>
              <a:rPr lang="es-ES" sz="2200" b="0" i="0">
                <a:solidFill>
                  <a:srgbClr val="1F2937"/>
                </a:solidFill>
                <a:latin typeface="Calibri"/>
              </a:rPr>
              <a:t>Un orden de magnitud a favor del mayor orden, independiente de la incertidumbre de la referencia</a:t>
            </a:r>
          </a:p>
          <a:p>
            <a:pPr marL="347472" indent="-347472">
              <a:lnSpc>
                <a:spcPct val="112000"/>
              </a:lnSpc>
              <a:spcAft>
                <a:spcPts val="1200"/>
              </a:spcAft>
              <a:buClr>
                <a:srgbClr val="F28C28"/>
              </a:buClr>
              <a:buSzPct val="100000"/>
              <a:buFont typeface="Arial"/>
              <a:buChar char="•"/>
            </a:pPr>
            <a:r>
              <a:rPr lang="es-ES" sz="2200" b="1" i="0">
                <a:solidFill>
                  <a:srgbClr val="1B2A4A"/>
                </a:solidFill>
                <a:latin typeface="Calibri"/>
              </a:rPr>
              <a:t>Q4:</a:t>
            </a:r>
            <a:r>
              <a:rPr lang="es-ES" sz="2200" b="0" i="0">
                <a:solidFill>
                  <a:srgbClr val="1F2937"/>
                </a:solidFill>
                <a:latin typeface="Calibri"/>
              </a:rPr>
              <a:t> convergencia lenta y monótona por debajo, la firma del bloqueo por cortante</a:t>
            </a:r>
          </a:p>
          <a:p>
            <a:pPr marL="347472" indent="-347472">
              <a:lnSpc>
                <a:spcPct val="112000"/>
              </a:lnSpc>
              <a:spcAft>
                <a:spcPts val="1200"/>
              </a:spcAft>
              <a:buClr>
                <a:srgbClr val="F28C28"/>
              </a:buClr>
              <a:buSzPct val="100000"/>
              <a:buFont typeface="Arial"/>
              <a:buChar char="•"/>
            </a:pPr>
            <a:r>
              <a:rPr lang="es-ES" sz="2200" b="1" i="0">
                <a:solidFill>
                  <a:srgbClr val="1B2A4A"/>
                </a:solidFill>
                <a:latin typeface="Calibri"/>
              </a:rPr>
              <a:t>Q9:</a:t>
            </a:r>
            <a:r>
              <a:rPr lang="es-ES" sz="2200" b="0" i="0">
                <a:solidFill>
                  <a:srgbClr val="1F2937"/>
                </a:solidFill>
                <a:latin typeface="Calibri"/>
              </a:rPr>
              <a:t> con 578 GDL ya está a −0,144 %</a:t>
            </a:r>
          </a:p>
        </p:txBody>
      </p:sp>
      <p:pic>
        <p:nvPicPr>
          <p:cNvPr id="6" name="Picture 5" descr="cook_convergence.png"/>
          <p:cNvPicPr>
            <a:picLocks noChangeAspect="1"/>
          </p:cNvPicPr>
          <p:nvPr/>
        </p:nvPicPr>
        <p:blipFill>
          <a:blip r:embed="rId5"/>
          <a:stretch>
            <a:fillRect/>
          </a:stretch>
        </p:blipFill>
        <p:spPr>
          <a:xfrm>
            <a:off x="6613398" y="1481328"/>
            <a:ext cx="4634179" cy="3310128"/>
          </a:xfrm>
          <a:prstGeom prst="rect">
            <a:avLst/>
          </a:prstGeom>
          <a:ln w="9525">
            <a:solidFill>
              <a:srgbClr val="D1D5DB"/>
            </a:solidFill>
          </a:ln>
        </p:spPr>
      </p:pic>
      <p:sp>
        <p:nvSpPr>
          <p:cNvPr id="7" name="TextBox 6"/>
          <p:cNvSpPr txBox="1"/>
          <p:nvPr/>
        </p:nvSpPr>
        <p:spPr>
          <a:xfrm>
            <a:off x="6217920" y="4837176"/>
            <a:ext cx="5425135" cy="502920"/>
          </a:xfrm>
          <a:prstGeom prst="rect">
            <a:avLst/>
          </a:prstGeom>
          <a:noFill/>
        </p:spPr>
        <p:txBody>
          <a:bodyPr wrap="square" lIns="45720" tIns="27432" rIns="45720" bIns="27432" anchor="t">
            <a:noAutofit/>
          </a:bodyPr>
          <a:lstStyle/>
          <a:p>
            <a:pPr algn="ctr">
              <a:lnSpc>
                <a:spcPct val="105000"/>
              </a:lnSpc>
            </a:pPr>
            <a:r>
              <a:rPr lang="es-ES" sz="1500" b="0" i="1">
                <a:solidFill>
                  <a:srgbClr val="5B6575"/>
                </a:solidFill>
                <a:latin typeface="Calibri"/>
              </a:rPr>
              <a:t>uy en (48, 52) frente al número de GDL; referencia 23,96</a:t>
            </a:r>
          </a:p>
        </p:txBody>
      </p:sp>
      <p:sp>
        <p:nvSpPr>
          <p:cNvPr id="8" name="Rectangle 7"/>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77240" y="5431536"/>
            <a:ext cx="10774375" cy="841248"/>
          </a:xfrm>
          <a:prstGeom prst="rect">
            <a:avLst/>
          </a:prstGeom>
          <a:noFill/>
        </p:spPr>
        <p:txBody>
          <a:bodyPr wrap="square" lIns="45720" tIns="27432" rIns="45720" bIns="27432" anchor="ctr">
            <a:noAutofit/>
          </a:bodyPr>
          <a:lstStyle/>
          <a:p>
            <a:pPr algn="l">
              <a:lnSpc>
                <a:spcPct val="100000"/>
              </a:lnSpc>
            </a:pPr>
            <a:r>
              <a:rPr lang="es-ES" sz="2200" b="1" i="0">
                <a:solidFill>
                  <a:srgbClr val="1B2A4A"/>
                </a:solidFill>
                <a:latin typeface="Calibri"/>
              </a:rPr>
              <a:t>Responde PI-3: el alumno reproduce el bloqueo cargando el ejemplo de Cook en Q4 y en Q9</a:t>
            </a:r>
          </a:p>
        </p:txBody>
      </p:sp>
      <p:sp>
        <p:nvSpPr>
          <p:cNvPr id="11" name="Rectangle 10"/>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48640" y="6419088"/>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13" name="TextBox 12"/>
          <p:cNvSpPr txBox="1"/>
          <p:nvPr/>
        </p:nvSpPr>
        <p:spPr>
          <a:xfrm>
            <a:off x="4023360" y="6419088"/>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§3.5 y §3.7, síntesis Q4 frente a Q9</a:t>
            </a:r>
          </a:p>
        </p:txBody>
      </p:sp>
      <p:sp>
        <p:nvSpPr>
          <p:cNvPr id="14" name="TextBox 13"/>
          <p:cNvSpPr txBox="1"/>
          <p:nvPr/>
        </p:nvSpPr>
        <p:spPr>
          <a:xfrm>
            <a:off x="10545775" y="6419088"/>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31</a:t>
            </a:fld>
            <a:endParaRPr lang="es-ES" sz="1200" dirty="0">
              <a:solidFill>
                <a:srgbClr val="5B6575"/>
              </a:solidFill>
              <a:latin typeface="Calibri"/>
            </a:endParaRPr>
          </a:p>
        </p:txBody>
      </p:sp>
      <p:pic>
        <p:nvPicPr>
          <p:cNvPr id="15" name="s31">
            <a:hlinkClick r:id="" action="ppaction://media"/>
            <a:extLst>
              <a:ext uri="{FF2B5EF4-FFF2-40B4-BE49-F238E27FC236}">
                <a16:creationId xmlns:a16="http://schemas.microsoft.com/office/drawing/2014/main" id="{3E260F64-A927-516D-C012-C8075023CAD4}"/>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372"/>
    </mc:Choice>
    <mc:Fallback>
      <p:transition spd="slow" advTm="3737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5"/>
                </p:tgtEl>
              </p:cMediaNode>
            </p:audio>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168335" cy="868680"/>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33 282 GDL en menos de un segundo</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noAutofit/>
          </a:bodyPr>
          <a:lstStyle/>
          <a:p>
            <a:pPr algn="ctr">
              <a:lnSpc>
                <a:spcPct val="100000"/>
              </a:lnSpc>
            </a:pPr>
            <a:r>
              <a:rPr lang="es-ES" sz="1300" b="1" i="0">
                <a:solidFill>
                  <a:srgbClr val="1B2A4A"/>
                </a:solidFill>
                <a:latin typeface="Calibri"/>
              </a:rPr>
              <a:t>5  ·  Análisis de resultados</a:t>
            </a:r>
          </a:p>
        </p:txBody>
      </p:sp>
      <p:graphicFrame>
        <p:nvGraphicFramePr>
          <p:cNvPr id="5" name="Table 4"/>
          <p:cNvGraphicFramePr>
            <a:graphicFrameLocks noGrp="1"/>
          </p:cNvGraphicFramePr>
          <p:nvPr/>
        </p:nvGraphicFramePr>
        <p:xfrm>
          <a:off x="548640" y="1709928"/>
          <a:ext cx="11094412" cy="3401568"/>
        </p:xfrm>
        <a:graphic>
          <a:graphicData uri="http://schemas.openxmlformats.org/drawingml/2006/table">
            <a:tbl>
              <a:tblPr>
                <a:tableStyleId>{5C22544A-7EE6-4342-B048-85BDC9FD1C3A}</a:tableStyleId>
              </a:tblPr>
              <a:tblGrid>
                <a:gridCol w="995864">
                  <a:extLst>
                    <a:ext uri="{9D8B030D-6E8A-4147-A177-3AD203B41FA5}">
                      <a16:colId xmlns:a16="http://schemas.microsoft.com/office/drawing/2014/main" val="20000"/>
                    </a:ext>
                  </a:extLst>
                </a:gridCol>
                <a:gridCol w="2834680">
                  <a:extLst>
                    <a:ext uri="{9D8B030D-6E8A-4147-A177-3AD203B41FA5}">
                      <a16:colId xmlns:a16="http://schemas.microsoft.com/office/drawing/2014/main" val="20001"/>
                    </a:ext>
                  </a:extLst>
                </a:gridCol>
                <a:gridCol w="2480345">
                  <a:extLst>
                    <a:ext uri="{9D8B030D-6E8A-4147-A177-3AD203B41FA5}">
                      <a16:colId xmlns:a16="http://schemas.microsoft.com/office/drawing/2014/main" val="20002"/>
                    </a:ext>
                  </a:extLst>
                </a:gridCol>
                <a:gridCol w="2126010">
                  <a:extLst>
                    <a:ext uri="{9D8B030D-6E8A-4147-A177-3AD203B41FA5}">
                      <a16:colId xmlns:a16="http://schemas.microsoft.com/office/drawing/2014/main" val="20003"/>
                    </a:ext>
                  </a:extLst>
                </a:gridCol>
                <a:gridCol w="2657513">
                  <a:extLst>
                    <a:ext uri="{9D8B030D-6E8A-4147-A177-3AD203B41FA5}">
                      <a16:colId xmlns:a16="http://schemas.microsoft.com/office/drawing/2014/main" val="20004"/>
                    </a:ext>
                  </a:extLst>
                </a:gridCol>
              </a:tblGrid>
              <a:tr h="566928">
                <a:tc>
                  <a:txBody>
                    <a:bodyPr/>
                    <a:lstStyle/>
                    <a:p>
                      <a:pPr algn="l"/>
                      <a:r>
                        <a:rPr lang="es-ES" sz="2000" b="1" i="0">
                          <a:solidFill>
                            <a:srgbClr val="FFFFFF"/>
                          </a:solidFill>
                          <a:latin typeface="Calibri"/>
                        </a:rPr>
                        <a:t>GDL</a:t>
                      </a:r>
                    </a:p>
                  </a:txBody>
                  <a:tcPr marL="73152" marR="73152" marT="27432" marB="27432" anchor="ctr">
                    <a:solidFill>
                      <a:srgbClr val="1B2A4A"/>
                    </a:solidFill>
                  </a:tcPr>
                </a:tc>
                <a:tc>
                  <a:txBody>
                    <a:bodyPr/>
                    <a:lstStyle/>
                    <a:p>
                      <a:pPr algn="ctr"/>
                      <a:r>
                        <a:rPr lang="es-ES" sz="2000" b="1" i="0">
                          <a:solidFill>
                            <a:srgbClr val="FFFFFF"/>
                          </a:solidFill>
                          <a:latin typeface="Calibri"/>
                        </a:rPr>
                        <a:t>t ensamblaje (s)</a:t>
                      </a:r>
                    </a:p>
                  </a:txBody>
                  <a:tcPr marL="73152" marR="73152" marT="27432" marB="27432" anchor="ctr">
                    <a:solidFill>
                      <a:srgbClr val="1B2A4A"/>
                    </a:solidFill>
                  </a:tcPr>
                </a:tc>
                <a:tc>
                  <a:txBody>
                    <a:bodyPr/>
                    <a:lstStyle/>
                    <a:p>
                      <a:pPr algn="ctr"/>
                      <a:r>
                        <a:rPr lang="es-ES" sz="2000" b="1" i="0">
                          <a:solidFill>
                            <a:srgbClr val="FFFFFF"/>
                          </a:solidFill>
                          <a:latin typeface="Calibri"/>
                        </a:rPr>
                        <a:t>t solución (s)</a:t>
                      </a:r>
                    </a:p>
                  </a:txBody>
                  <a:tcPr marL="73152" marR="73152" marT="27432" marB="27432" anchor="ctr">
                    <a:solidFill>
                      <a:srgbClr val="1B2A4A"/>
                    </a:solidFill>
                  </a:tcPr>
                </a:tc>
                <a:tc>
                  <a:txBody>
                    <a:bodyPr/>
                    <a:lstStyle/>
                    <a:p>
                      <a:pPr algn="ctr"/>
                      <a:r>
                        <a:rPr lang="es-ES" sz="2000" b="1" i="0">
                          <a:solidFill>
                            <a:srgbClr val="FFFFFF"/>
                          </a:solidFill>
                          <a:latin typeface="Calibri"/>
                        </a:rPr>
                        <a:t>K densa (MB)</a:t>
                      </a:r>
                    </a:p>
                  </a:txBody>
                  <a:tcPr marL="73152" marR="73152" marT="27432" marB="27432" anchor="ctr">
                    <a:solidFill>
                      <a:srgbClr val="1B2A4A"/>
                    </a:solidFill>
                  </a:tcPr>
                </a:tc>
                <a:tc>
                  <a:txBody>
                    <a:bodyPr/>
                    <a:lstStyle/>
                    <a:p>
                      <a:pPr algn="ctr"/>
                      <a:r>
                        <a:rPr lang="es-ES" sz="2000" b="1" i="0">
                          <a:solidFill>
                            <a:srgbClr val="FFFFFF"/>
                          </a:solidFill>
                          <a:latin typeface="Calibri"/>
                        </a:rPr>
                        <a:t>K dispersa (MB)</a:t>
                      </a:r>
                    </a:p>
                  </a:txBody>
                  <a:tcPr marL="73152" marR="73152" marT="27432" marB="27432" anchor="ctr">
                    <a:solidFill>
                      <a:srgbClr val="1B2A4A"/>
                    </a:solidFill>
                  </a:tcPr>
                </a:tc>
                <a:extLst>
                  <a:ext uri="{0D108BD9-81ED-4DB2-BD59-A6C34878D82A}">
                    <a16:rowId xmlns:a16="http://schemas.microsoft.com/office/drawing/2014/main" val="10000"/>
                  </a:ext>
                </a:extLst>
              </a:tr>
              <a:tr h="566928">
                <a:tc>
                  <a:txBody>
                    <a:bodyPr/>
                    <a:lstStyle/>
                    <a:p>
                      <a:pPr algn="l"/>
                      <a:r>
                        <a:rPr lang="es-ES" sz="2000" b="1" i="0">
                          <a:solidFill>
                            <a:srgbClr val="1F2937"/>
                          </a:solidFill>
                          <a:latin typeface="Calibri"/>
                        </a:rPr>
                        <a:t>578</a:t>
                      </a:r>
                    </a:p>
                  </a:txBody>
                  <a:tcPr marL="73152" marR="73152" marT="27432" marB="27432" anchor="ctr">
                    <a:solidFill>
                      <a:srgbClr val="FFFFFF"/>
                    </a:solidFill>
                  </a:tcPr>
                </a:tc>
                <a:tc>
                  <a:txBody>
                    <a:bodyPr/>
                    <a:lstStyle/>
                    <a:p>
                      <a:pPr algn="ctr"/>
                      <a:r>
                        <a:rPr lang="es-ES" sz="2000" b="0" i="0">
                          <a:solidFill>
                            <a:srgbClr val="1F2937"/>
                          </a:solidFill>
                          <a:latin typeface="Calibri"/>
                        </a:rPr>
                        <a:t>0,004</a:t>
                      </a:r>
                    </a:p>
                  </a:txBody>
                  <a:tcPr marL="73152" marR="73152" marT="27432" marB="27432" anchor="ctr">
                    <a:solidFill>
                      <a:srgbClr val="FFFFFF"/>
                    </a:solidFill>
                  </a:tcPr>
                </a:tc>
                <a:tc>
                  <a:txBody>
                    <a:bodyPr/>
                    <a:lstStyle/>
                    <a:p>
                      <a:pPr algn="ctr"/>
                      <a:r>
                        <a:rPr lang="es-ES" sz="2000" b="0" i="0">
                          <a:solidFill>
                            <a:srgbClr val="1F2937"/>
                          </a:solidFill>
                          <a:latin typeface="Calibri"/>
                        </a:rPr>
                        <a:t>0,007</a:t>
                      </a:r>
                    </a:p>
                  </a:txBody>
                  <a:tcPr marL="73152" marR="73152" marT="27432" marB="27432" anchor="ctr">
                    <a:solidFill>
                      <a:srgbClr val="FFFFFF"/>
                    </a:solidFill>
                  </a:tcPr>
                </a:tc>
                <a:tc>
                  <a:txBody>
                    <a:bodyPr/>
                    <a:lstStyle/>
                    <a:p>
                      <a:pPr algn="ctr"/>
                      <a:r>
                        <a:rPr lang="es-ES" sz="2000" b="0" i="0">
                          <a:solidFill>
                            <a:srgbClr val="1F2937"/>
                          </a:solidFill>
                          <a:latin typeface="Calibri"/>
                        </a:rPr>
                        <a:t>3</a:t>
                      </a:r>
                    </a:p>
                  </a:txBody>
                  <a:tcPr marL="73152" marR="73152" marT="27432" marB="27432" anchor="ctr">
                    <a:solidFill>
                      <a:srgbClr val="FFFFFF"/>
                    </a:solidFill>
                  </a:tcPr>
                </a:tc>
                <a:tc>
                  <a:txBody>
                    <a:bodyPr/>
                    <a:lstStyle/>
                    <a:p>
                      <a:pPr algn="ctr"/>
                      <a:r>
                        <a:rPr lang="es-ES" sz="2000" b="0" i="0">
                          <a:solidFill>
                            <a:srgbClr val="1F2937"/>
                          </a:solidFill>
                          <a:latin typeface="Calibri"/>
                        </a:rPr>
                        <a:t>0,21</a:t>
                      </a:r>
                    </a:p>
                  </a:txBody>
                  <a:tcPr marL="73152" marR="73152" marT="27432" marB="27432" anchor="ctr">
                    <a:solidFill>
                      <a:srgbClr val="FFFFFF"/>
                    </a:solidFill>
                  </a:tcPr>
                </a:tc>
                <a:extLst>
                  <a:ext uri="{0D108BD9-81ED-4DB2-BD59-A6C34878D82A}">
                    <a16:rowId xmlns:a16="http://schemas.microsoft.com/office/drawing/2014/main" val="10001"/>
                  </a:ext>
                </a:extLst>
              </a:tr>
              <a:tr h="566928">
                <a:tc>
                  <a:txBody>
                    <a:bodyPr/>
                    <a:lstStyle/>
                    <a:p>
                      <a:pPr algn="l"/>
                      <a:r>
                        <a:rPr lang="es-ES" sz="2000" b="1" i="0">
                          <a:solidFill>
                            <a:srgbClr val="1F2937"/>
                          </a:solidFill>
                          <a:latin typeface="Calibri"/>
                        </a:rPr>
                        <a:t>2178</a:t>
                      </a:r>
                    </a:p>
                  </a:txBody>
                  <a:tcPr marL="73152" marR="73152" marT="27432" marB="27432" anchor="ctr">
                    <a:solidFill>
                      <a:srgbClr val="F3F4F6"/>
                    </a:solidFill>
                  </a:tcPr>
                </a:tc>
                <a:tc>
                  <a:txBody>
                    <a:bodyPr/>
                    <a:lstStyle/>
                    <a:p>
                      <a:pPr algn="ctr"/>
                      <a:r>
                        <a:rPr lang="es-ES" sz="2000" b="0" i="0">
                          <a:solidFill>
                            <a:srgbClr val="1F2937"/>
                          </a:solidFill>
                          <a:latin typeface="Calibri"/>
                        </a:rPr>
                        <a:t>0,013</a:t>
                      </a:r>
                    </a:p>
                  </a:txBody>
                  <a:tcPr marL="73152" marR="73152" marT="27432" marB="27432" anchor="ctr">
                    <a:solidFill>
                      <a:srgbClr val="F3F4F6"/>
                    </a:solidFill>
                  </a:tcPr>
                </a:tc>
                <a:tc>
                  <a:txBody>
                    <a:bodyPr/>
                    <a:lstStyle/>
                    <a:p>
                      <a:pPr algn="ctr"/>
                      <a:r>
                        <a:rPr lang="es-ES" sz="2000" b="0" i="0">
                          <a:solidFill>
                            <a:srgbClr val="1F2937"/>
                          </a:solidFill>
                          <a:latin typeface="Calibri"/>
                        </a:rPr>
                        <a:t>0,026</a:t>
                      </a:r>
                    </a:p>
                  </a:txBody>
                  <a:tcPr marL="73152" marR="73152" marT="27432" marB="27432" anchor="ctr">
                    <a:solidFill>
                      <a:srgbClr val="F3F4F6"/>
                    </a:solidFill>
                  </a:tcPr>
                </a:tc>
                <a:tc>
                  <a:txBody>
                    <a:bodyPr/>
                    <a:lstStyle/>
                    <a:p>
                      <a:pPr algn="ctr"/>
                      <a:r>
                        <a:rPr lang="es-ES" sz="2000" b="0" i="0">
                          <a:solidFill>
                            <a:srgbClr val="1F2937"/>
                          </a:solidFill>
                          <a:latin typeface="Calibri"/>
                        </a:rPr>
                        <a:t>38</a:t>
                      </a:r>
                    </a:p>
                  </a:txBody>
                  <a:tcPr marL="73152" marR="73152" marT="27432" marB="27432" anchor="ctr">
                    <a:solidFill>
                      <a:srgbClr val="F3F4F6"/>
                    </a:solidFill>
                  </a:tcPr>
                </a:tc>
                <a:tc>
                  <a:txBody>
                    <a:bodyPr/>
                    <a:lstStyle/>
                    <a:p>
                      <a:pPr algn="ctr"/>
                      <a:r>
                        <a:rPr lang="es-ES" sz="2000" b="0" i="0">
                          <a:solidFill>
                            <a:srgbClr val="1F2937"/>
                          </a:solidFill>
                          <a:latin typeface="Calibri"/>
                        </a:rPr>
                        <a:t>0,81</a:t>
                      </a:r>
                    </a:p>
                  </a:txBody>
                  <a:tcPr marL="73152" marR="73152" marT="27432" marB="27432" anchor="ctr">
                    <a:solidFill>
                      <a:srgbClr val="F3F4F6"/>
                    </a:solidFill>
                  </a:tcPr>
                </a:tc>
                <a:extLst>
                  <a:ext uri="{0D108BD9-81ED-4DB2-BD59-A6C34878D82A}">
                    <a16:rowId xmlns:a16="http://schemas.microsoft.com/office/drawing/2014/main" val="10002"/>
                  </a:ext>
                </a:extLst>
              </a:tr>
              <a:tr h="566928">
                <a:tc>
                  <a:txBody>
                    <a:bodyPr/>
                    <a:lstStyle/>
                    <a:p>
                      <a:pPr algn="l"/>
                      <a:r>
                        <a:rPr lang="es-ES" sz="2000" b="1" i="0">
                          <a:solidFill>
                            <a:srgbClr val="1F2937"/>
                          </a:solidFill>
                          <a:latin typeface="Calibri"/>
                        </a:rPr>
                        <a:t>8450</a:t>
                      </a:r>
                    </a:p>
                  </a:txBody>
                  <a:tcPr marL="73152" marR="73152" marT="27432" marB="27432" anchor="ctr">
                    <a:solidFill>
                      <a:srgbClr val="FFFFFF"/>
                    </a:solidFill>
                  </a:tcPr>
                </a:tc>
                <a:tc>
                  <a:txBody>
                    <a:bodyPr/>
                    <a:lstStyle/>
                    <a:p>
                      <a:pPr algn="ctr"/>
                      <a:r>
                        <a:rPr lang="es-ES" sz="2000" b="0" i="0">
                          <a:solidFill>
                            <a:srgbClr val="1F2937"/>
                          </a:solidFill>
                          <a:latin typeface="Calibri"/>
                        </a:rPr>
                        <a:t>0,049</a:t>
                      </a:r>
                    </a:p>
                  </a:txBody>
                  <a:tcPr marL="73152" marR="73152" marT="27432" marB="27432" anchor="ctr">
                    <a:solidFill>
                      <a:srgbClr val="FFFFFF"/>
                    </a:solidFill>
                  </a:tcPr>
                </a:tc>
                <a:tc>
                  <a:txBody>
                    <a:bodyPr/>
                    <a:lstStyle/>
                    <a:p>
                      <a:pPr algn="ctr"/>
                      <a:r>
                        <a:rPr lang="es-ES" sz="2000" b="0" i="0">
                          <a:solidFill>
                            <a:srgbClr val="1F2937"/>
                          </a:solidFill>
                          <a:latin typeface="Calibri"/>
                        </a:rPr>
                        <a:t>0,127</a:t>
                      </a:r>
                    </a:p>
                  </a:txBody>
                  <a:tcPr marL="73152" marR="73152" marT="27432" marB="27432" anchor="ctr">
                    <a:solidFill>
                      <a:srgbClr val="FFFFFF"/>
                    </a:solidFill>
                  </a:tcPr>
                </a:tc>
                <a:tc>
                  <a:txBody>
                    <a:bodyPr/>
                    <a:lstStyle/>
                    <a:p>
                      <a:pPr algn="ctr"/>
                      <a:r>
                        <a:rPr lang="es-ES" sz="2000" b="0" i="0">
                          <a:solidFill>
                            <a:srgbClr val="1F2937"/>
                          </a:solidFill>
                          <a:latin typeface="Calibri"/>
                        </a:rPr>
                        <a:t>571</a:t>
                      </a:r>
                    </a:p>
                  </a:txBody>
                  <a:tcPr marL="73152" marR="73152" marT="27432" marB="27432" anchor="ctr">
                    <a:solidFill>
                      <a:srgbClr val="FFFFFF"/>
                    </a:solidFill>
                  </a:tcPr>
                </a:tc>
                <a:tc>
                  <a:txBody>
                    <a:bodyPr/>
                    <a:lstStyle/>
                    <a:p>
                      <a:pPr algn="ctr"/>
                      <a:r>
                        <a:rPr lang="es-ES" sz="2000" b="0" i="0">
                          <a:solidFill>
                            <a:srgbClr val="1F2937"/>
                          </a:solidFill>
                          <a:latin typeface="Calibri"/>
                        </a:rPr>
                        <a:t>3,20</a:t>
                      </a:r>
                    </a:p>
                  </a:txBody>
                  <a:tcPr marL="73152" marR="73152" marT="27432" marB="27432" anchor="ctr">
                    <a:solidFill>
                      <a:srgbClr val="FFFFFF"/>
                    </a:solidFill>
                  </a:tcPr>
                </a:tc>
                <a:extLst>
                  <a:ext uri="{0D108BD9-81ED-4DB2-BD59-A6C34878D82A}">
                    <a16:rowId xmlns:a16="http://schemas.microsoft.com/office/drawing/2014/main" val="10003"/>
                  </a:ext>
                </a:extLst>
              </a:tr>
              <a:tr h="566928">
                <a:tc>
                  <a:txBody>
                    <a:bodyPr/>
                    <a:lstStyle/>
                    <a:p>
                      <a:pPr algn="l"/>
                      <a:r>
                        <a:rPr lang="es-ES" sz="2000" b="1" i="0">
                          <a:solidFill>
                            <a:srgbClr val="1F2937"/>
                          </a:solidFill>
                          <a:latin typeface="Calibri"/>
                        </a:rPr>
                        <a:t>18818</a:t>
                      </a:r>
                    </a:p>
                  </a:txBody>
                  <a:tcPr marL="73152" marR="73152" marT="27432" marB="27432" anchor="ctr">
                    <a:solidFill>
                      <a:srgbClr val="F3F4F6"/>
                    </a:solidFill>
                  </a:tcPr>
                </a:tc>
                <a:tc>
                  <a:txBody>
                    <a:bodyPr/>
                    <a:lstStyle/>
                    <a:p>
                      <a:pPr algn="ctr"/>
                      <a:r>
                        <a:rPr lang="es-ES" sz="2000" b="0" i="0">
                          <a:solidFill>
                            <a:srgbClr val="1F2937"/>
                          </a:solidFill>
                          <a:latin typeface="Calibri"/>
                        </a:rPr>
                        <a:t>0,111</a:t>
                      </a:r>
                    </a:p>
                  </a:txBody>
                  <a:tcPr marL="73152" marR="73152" marT="27432" marB="27432" anchor="ctr">
                    <a:solidFill>
                      <a:srgbClr val="F3F4F6"/>
                    </a:solidFill>
                  </a:tcPr>
                </a:tc>
                <a:tc>
                  <a:txBody>
                    <a:bodyPr/>
                    <a:lstStyle/>
                    <a:p>
                      <a:pPr algn="ctr"/>
                      <a:r>
                        <a:rPr lang="es-ES" sz="2000" b="0" i="0">
                          <a:solidFill>
                            <a:srgbClr val="1F2937"/>
                          </a:solidFill>
                          <a:latin typeface="Calibri"/>
                        </a:rPr>
                        <a:t>0,329</a:t>
                      </a:r>
                    </a:p>
                  </a:txBody>
                  <a:tcPr marL="73152" marR="73152" marT="27432" marB="27432" anchor="ctr">
                    <a:solidFill>
                      <a:srgbClr val="F3F4F6"/>
                    </a:solidFill>
                  </a:tcPr>
                </a:tc>
                <a:tc>
                  <a:txBody>
                    <a:bodyPr/>
                    <a:lstStyle/>
                    <a:p>
                      <a:pPr algn="ctr"/>
                      <a:r>
                        <a:rPr lang="es-ES" sz="2000" b="0" i="0">
                          <a:solidFill>
                            <a:srgbClr val="1F2937"/>
                          </a:solidFill>
                          <a:latin typeface="Calibri"/>
                        </a:rPr>
                        <a:t>2833</a:t>
                      </a:r>
                    </a:p>
                  </a:txBody>
                  <a:tcPr marL="73152" marR="73152" marT="27432" marB="27432" anchor="ctr">
                    <a:solidFill>
                      <a:srgbClr val="F3F4F6"/>
                    </a:solidFill>
                  </a:tcPr>
                </a:tc>
                <a:tc>
                  <a:txBody>
                    <a:bodyPr/>
                    <a:lstStyle/>
                    <a:p>
                      <a:pPr algn="ctr"/>
                      <a:r>
                        <a:rPr lang="es-ES" sz="2000" b="0" i="0">
                          <a:solidFill>
                            <a:srgbClr val="1F2937"/>
                          </a:solidFill>
                          <a:latin typeface="Calibri"/>
                        </a:rPr>
                        <a:t>7,19</a:t>
                      </a:r>
                    </a:p>
                  </a:txBody>
                  <a:tcPr marL="73152" marR="73152" marT="27432" marB="27432" anchor="ctr">
                    <a:solidFill>
                      <a:srgbClr val="F3F4F6"/>
                    </a:solidFill>
                  </a:tcPr>
                </a:tc>
                <a:extLst>
                  <a:ext uri="{0D108BD9-81ED-4DB2-BD59-A6C34878D82A}">
                    <a16:rowId xmlns:a16="http://schemas.microsoft.com/office/drawing/2014/main" val="10004"/>
                  </a:ext>
                </a:extLst>
              </a:tr>
              <a:tr h="566928">
                <a:tc>
                  <a:txBody>
                    <a:bodyPr/>
                    <a:lstStyle/>
                    <a:p>
                      <a:pPr algn="l"/>
                      <a:r>
                        <a:rPr lang="es-ES" sz="2000" b="1" i="0">
                          <a:solidFill>
                            <a:srgbClr val="1F2937"/>
                          </a:solidFill>
                          <a:latin typeface="Calibri"/>
                        </a:rPr>
                        <a:t>33282</a:t>
                      </a:r>
                    </a:p>
                  </a:txBody>
                  <a:tcPr marL="73152" marR="73152" marT="27432" marB="27432" anchor="ctr">
                    <a:solidFill>
                      <a:srgbClr val="FFFFFF"/>
                    </a:solidFill>
                  </a:tcPr>
                </a:tc>
                <a:tc>
                  <a:txBody>
                    <a:bodyPr/>
                    <a:lstStyle/>
                    <a:p>
                      <a:pPr algn="ctr"/>
                      <a:r>
                        <a:rPr lang="es-ES" sz="2000" b="0" i="0">
                          <a:solidFill>
                            <a:srgbClr val="1F2937"/>
                          </a:solidFill>
                          <a:latin typeface="Calibri"/>
                        </a:rPr>
                        <a:t>0,191</a:t>
                      </a:r>
                    </a:p>
                  </a:txBody>
                  <a:tcPr marL="73152" marR="73152" marT="27432" marB="27432" anchor="ctr">
                    <a:solidFill>
                      <a:srgbClr val="FFFFFF"/>
                    </a:solidFill>
                  </a:tcPr>
                </a:tc>
                <a:tc>
                  <a:txBody>
                    <a:bodyPr/>
                    <a:lstStyle/>
                    <a:p>
                      <a:pPr algn="ctr"/>
                      <a:r>
                        <a:rPr lang="es-ES" sz="2000" b="0" i="0">
                          <a:solidFill>
                            <a:srgbClr val="1F2937"/>
                          </a:solidFill>
                          <a:latin typeface="Calibri"/>
                        </a:rPr>
                        <a:t>0,721</a:t>
                      </a:r>
                    </a:p>
                  </a:txBody>
                  <a:tcPr marL="73152" marR="73152" marT="27432" marB="27432" anchor="ctr">
                    <a:solidFill>
                      <a:srgbClr val="FFFFFF"/>
                    </a:solidFill>
                  </a:tcPr>
                </a:tc>
                <a:tc>
                  <a:txBody>
                    <a:bodyPr/>
                    <a:lstStyle/>
                    <a:p>
                      <a:pPr algn="ctr"/>
                      <a:r>
                        <a:rPr lang="es-ES" sz="2000" b="0" i="0">
                          <a:solidFill>
                            <a:srgbClr val="1F2937"/>
                          </a:solidFill>
                          <a:latin typeface="Calibri"/>
                        </a:rPr>
                        <a:t>8862</a:t>
                      </a:r>
                    </a:p>
                  </a:txBody>
                  <a:tcPr marL="73152" marR="73152" marT="27432" marB="27432" anchor="ctr">
                    <a:solidFill>
                      <a:srgbClr val="FFFFFF"/>
                    </a:solidFill>
                  </a:tcPr>
                </a:tc>
                <a:tc>
                  <a:txBody>
                    <a:bodyPr/>
                    <a:lstStyle/>
                    <a:p>
                      <a:pPr algn="ctr"/>
                      <a:r>
                        <a:rPr lang="es-ES" sz="2000" b="0" i="0">
                          <a:solidFill>
                            <a:srgbClr val="1F2937"/>
                          </a:solidFill>
                          <a:latin typeface="Calibri"/>
                        </a:rPr>
                        <a:t>12,77</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6" name="Rectangle 5"/>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77240" y="5431536"/>
            <a:ext cx="10774375" cy="841248"/>
          </a:xfrm>
          <a:prstGeom prst="rect">
            <a:avLst/>
          </a:prstGeom>
          <a:noFill/>
        </p:spPr>
        <p:txBody>
          <a:bodyPr wrap="square" lIns="45720" tIns="27432" rIns="45720" bIns="27432" anchor="ctr">
            <a:noAutofit/>
          </a:bodyPr>
          <a:lstStyle/>
          <a:p>
            <a:pPr algn="l">
              <a:lnSpc>
                <a:spcPct val="100000"/>
              </a:lnSpc>
            </a:pPr>
            <a:r>
              <a:rPr lang="es-ES" sz="2200" b="1" i="0">
                <a:solidFill>
                  <a:srgbClr val="1B2A4A"/>
                </a:solidFill>
                <a:latin typeface="Calibri"/>
              </a:rPr>
              <a:t>Equipo de 2012, NumPy puro; mínimo grado sobre Aᵀ+A gana 1,7×, 2,0× y 2,9× frente a COLAMD</a:t>
            </a:r>
          </a:p>
        </p:txBody>
      </p:sp>
      <p:sp>
        <p:nvSpPr>
          <p:cNvPr id="9" name="Rectangle 8"/>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6419088"/>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11" name="TextBox 10"/>
          <p:cNvSpPr txBox="1"/>
          <p:nvPr/>
        </p:nvSpPr>
        <p:spPr>
          <a:xfrm>
            <a:off x="4023360" y="6419088"/>
            <a:ext cx="5394960" cy="292608"/>
          </a:xfrm>
          <a:prstGeom prst="rect">
            <a:avLst/>
          </a:prstGeom>
          <a:noFill/>
        </p:spPr>
        <p:txBody>
          <a:bodyPr wrap="square" lIns="45720" tIns="27432" rIns="45720" bIns="27432" anchor="ctr">
            <a:noAutofit/>
          </a:bodyPr>
          <a:lstStyle/>
          <a:p>
            <a:pPr algn="ctr">
              <a:lnSpc>
                <a:spcPct val="105000"/>
              </a:lnSpc>
            </a:pPr>
            <a:r>
              <a:rPr lang="es-ES" sz="1100" b="0" i="0">
                <a:solidFill>
                  <a:srgbClr val="5B6575"/>
                </a:solidFill>
                <a:latin typeface="Calibri"/>
              </a:rPr>
              <a:t>Tesis: §3.7, tabla de tiempos, interpretación y limitaciones observadas</a:t>
            </a:r>
          </a:p>
        </p:txBody>
      </p:sp>
      <p:sp>
        <p:nvSpPr>
          <p:cNvPr id="12" name="TextBox 11"/>
          <p:cNvSpPr txBox="1"/>
          <p:nvPr/>
        </p:nvSpPr>
        <p:spPr>
          <a:xfrm>
            <a:off x="10545775" y="6419088"/>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32</a:t>
            </a:fld>
            <a:endParaRPr lang="es-ES" sz="1200" dirty="0">
              <a:solidFill>
                <a:srgbClr val="5B6575"/>
              </a:solidFill>
              <a:latin typeface="Calibri"/>
            </a:endParaRPr>
          </a:p>
        </p:txBody>
      </p:sp>
      <p:pic>
        <p:nvPicPr>
          <p:cNvPr id="13" name="s32">
            <a:hlinkClick r:id="" action="ppaction://media"/>
            <a:extLst>
              <a:ext uri="{FF2B5EF4-FFF2-40B4-BE49-F238E27FC236}">
                <a16:creationId xmlns:a16="http://schemas.microsoft.com/office/drawing/2014/main" id="{A4799840-7B43-6574-1EA5-AE8B36B8F11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0724"/>
    </mc:Choice>
    <mc:Fallback>
      <p:transition spd="slow" advTm="6072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11B33"/>
        </a:solidFill>
        <a:effectLst/>
      </p:bgPr>
    </p:bg>
    <p:spTree>
      <p:nvGrpSpPr>
        <p:cNvPr id="1" name=""/>
        <p:cNvGrpSpPr/>
        <p:nvPr/>
      </p:nvGrpSpPr>
      <p:grpSpPr>
        <a:xfrm>
          <a:off x="0" y="0"/>
          <a:ext cx="0" cy="0"/>
          <a:chOff x="0" y="0"/>
          <a:chExt cx="0" cy="0"/>
        </a:xfrm>
      </p:grpSpPr>
      <p:sp>
        <p:nvSpPr>
          <p:cNvPr id="2" name="TextBox 1"/>
          <p:cNvSpPr txBox="1"/>
          <p:nvPr/>
        </p:nvSpPr>
        <p:spPr>
          <a:xfrm>
            <a:off x="731520" y="1417320"/>
            <a:ext cx="2194560" cy="1828800"/>
          </a:xfrm>
          <a:prstGeom prst="rect">
            <a:avLst/>
          </a:prstGeom>
          <a:noFill/>
        </p:spPr>
        <p:txBody>
          <a:bodyPr wrap="square" lIns="45720" tIns="27432" rIns="45720" bIns="27432" anchor="ctr">
            <a:noAutofit/>
          </a:bodyPr>
          <a:lstStyle/>
          <a:p>
            <a:pPr algn="l">
              <a:lnSpc>
                <a:spcPct val="105000"/>
              </a:lnSpc>
            </a:pPr>
            <a:r>
              <a:rPr lang="es-ES" sz="9600" b="1" i="0">
                <a:solidFill>
                  <a:srgbClr val="F28C28"/>
                </a:solidFill>
                <a:latin typeface="Calibri"/>
              </a:rPr>
              <a:t>06</a:t>
            </a:r>
          </a:p>
        </p:txBody>
      </p:sp>
      <p:sp>
        <p:nvSpPr>
          <p:cNvPr id="3" name="Rectangle 2"/>
          <p:cNvSpPr/>
          <p:nvPr/>
        </p:nvSpPr>
        <p:spPr>
          <a:xfrm>
            <a:off x="3063240" y="1691640"/>
            <a:ext cx="54864" cy="1325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3383280" y="1417320"/>
            <a:ext cx="8229600" cy="1188720"/>
          </a:xfrm>
          <a:prstGeom prst="rect">
            <a:avLst/>
          </a:prstGeom>
          <a:noFill/>
        </p:spPr>
        <p:txBody>
          <a:bodyPr wrap="square" lIns="45720" tIns="27432" rIns="45720" bIns="27432" anchor="ctr">
            <a:noAutofit/>
          </a:bodyPr>
          <a:lstStyle/>
          <a:p>
            <a:pPr algn="l">
              <a:lnSpc>
                <a:spcPct val="105000"/>
              </a:lnSpc>
            </a:pPr>
            <a:r>
              <a:rPr lang="es-ES" sz="4400" b="1" i="0">
                <a:solidFill>
                  <a:srgbClr val="FFFFFF"/>
                </a:solidFill>
                <a:latin typeface="Calibri"/>
              </a:rPr>
              <a:t>Conclusiones y recomendaciones</a:t>
            </a:r>
          </a:p>
        </p:txBody>
      </p:sp>
      <p:sp>
        <p:nvSpPr>
          <p:cNvPr id="5" name="TextBox 4"/>
          <p:cNvSpPr txBox="1"/>
          <p:nvPr/>
        </p:nvSpPr>
        <p:spPr>
          <a:xfrm>
            <a:off x="3383280" y="2606040"/>
            <a:ext cx="8229600" cy="1280160"/>
          </a:xfrm>
          <a:prstGeom prst="rect">
            <a:avLst/>
          </a:prstGeom>
          <a:noFill/>
        </p:spPr>
        <p:txBody>
          <a:bodyPr wrap="square" lIns="45720" tIns="27432" rIns="45720" bIns="27432" anchor="t">
            <a:noAutofit/>
          </a:bodyPr>
          <a:lstStyle/>
          <a:p>
            <a:pPr algn="l">
              <a:lnSpc>
                <a:spcPct val="115000"/>
              </a:lnSpc>
            </a:pPr>
            <a:r>
              <a:rPr lang="es-ES" sz="2200" b="0" i="0">
                <a:solidFill>
                  <a:srgbClr val="C7D2E8"/>
                </a:solidFill>
                <a:latin typeface="Calibri"/>
              </a:rPr>
              <a:t>Qué queda: cumplimiento de los objetivos, hipótesis, limitaciones y líneas de continuación</a:t>
            </a:r>
          </a:p>
        </p:txBody>
      </p:sp>
      <p:sp>
        <p:nvSpPr>
          <p:cNvPr id="6" name="Rounded Rectangle 5"/>
          <p:cNvSpPr/>
          <p:nvPr/>
        </p:nvSpPr>
        <p:spPr>
          <a:xfrm>
            <a:off x="548640" y="5760720"/>
            <a:ext cx="1757629" cy="566928"/>
          </a:xfrm>
          <a:prstGeom prst="roundRect">
            <a:avLst>
              <a:gd name="adj" fmla="val 25000"/>
            </a:avLst>
          </a:prstGeom>
          <a:solidFill>
            <a:srgbClr val="2A3B6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1. Introducción</a:t>
            </a:r>
          </a:p>
        </p:txBody>
      </p:sp>
      <p:sp>
        <p:nvSpPr>
          <p:cNvPr id="7" name="Rounded Rectangle 6"/>
          <p:cNvSpPr/>
          <p:nvPr/>
        </p:nvSpPr>
        <p:spPr>
          <a:xfrm>
            <a:off x="2415997" y="5760720"/>
            <a:ext cx="1757629" cy="566928"/>
          </a:xfrm>
          <a:prstGeom prst="roundRect">
            <a:avLst>
              <a:gd name="adj" fmla="val 25000"/>
            </a:avLst>
          </a:prstGeom>
          <a:solidFill>
            <a:srgbClr val="2A3B6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2. Base teórica</a:t>
            </a:r>
          </a:p>
        </p:txBody>
      </p:sp>
      <p:sp>
        <p:nvSpPr>
          <p:cNvPr id="8" name="Rounded Rectangle 7"/>
          <p:cNvSpPr/>
          <p:nvPr/>
        </p:nvSpPr>
        <p:spPr>
          <a:xfrm>
            <a:off x="4283354" y="5760720"/>
            <a:ext cx="1757629" cy="566928"/>
          </a:xfrm>
          <a:prstGeom prst="roundRect">
            <a:avLst>
              <a:gd name="adj" fmla="val 25000"/>
            </a:avLst>
          </a:prstGeom>
          <a:solidFill>
            <a:srgbClr val="2A3B6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3. Diseño y desarrollo del modelo</a:t>
            </a:r>
          </a:p>
        </p:txBody>
      </p:sp>
      <p:sp>
        <p:nvSpPr>
          <p:cNvPr id="9" name="Rounded Rectangle 8"/>
          <p:cNvSpPr/>
          <p:nvPr/>
        </p:nvSpPr>
        <p:spPr>
          <a:xfrm>
            <a:off x="6150711" y="5760720"/>
            <a:ext cx="1757629" cy="566928"/>
          </a:xfrm>
          <a:prstGeom prst="roundRect">
            <a:avLst>
              <a:gd name="adj" fmla="val 25000"/>
            </a:avLst>
          </a:prstGeom>
          <a:solidFill>
            <a:srgbClr val="2A3B6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4. Presentación de resultados</a:t>
            </a:r>
          </a:p>
        </p:txBody>
      </p:sp>
      <p:sp>
        <p:nvSpPr>
          <p:cNvPr id="10" name="Rounded Rectangle 9"/>
          <p:cNvSpPr/>
          <p:nvPr/>
        </p:nvSpPr>
        <p:spPr>
          <a:xfrm>
            <a:off x="8018068" y="5760720"/>
            <a:ext cx="1757629" cy="566928"/>
          </a:xfrm>
          <a:prstGeom prst="roundRect">
            <a:avLst>
              <a:gd name="adj" fmla="val 25000"/>
            </a:avLst>
          </a:prstGeom>
          <a:solidFill>
            <a:srgbClr val="2A3B6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5. Análisis de resultados</a:t>
            </a:r>
          </a:p>
        </p:txBody>
      </p:sp>
      <p:sp>
        <p:nvSpPr>
          <p:cNvPr id="11" name="Rounded Rectangle 10"/>
          <p:cNvSpPr/>
          <p:nvPr/>
        </p:nvSpPr>
        <p:spPr>
          <a:xfrm>
            <a:off x="9885426" y="5760720"/>
            <a:ext cx="1757629" cy="566928"/>
          </a:xfrm>
          <a:prstGeom prst="roundRect">
            <a:avLst>
              <a:gd name="adj" fmla="val 25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1" i="0">
                <a:solidFill>
                  <a:srgbClr val="FFFFFF"/>
                </a:solidFill>
                <a:latin typeface="Calibri"/>
              </a:rPr>
              <a:t>6. Conclusiones y recomendaciones</a:t>
            </a:r>
          </a:p>
        </p:txBody>
      </p:sp>
      <p:pic>
        <p:nvPicPr>
          <p:cNvPr id="12" name="s33">
            <a:hlinkClick r:id="" action="ppaction://media"/>
            <a:extLst>
              <a:ext uri="{FF2B5EF4-FFF2-40B4-BE49-F238E27FC236}">
                <a16:creationId xmlns:a16="http://schemas.microsoft.com/office/drawing/2014/main" id="{D8E4D8E4-096A-7F27-1CC9-D62305F75BB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324"/>
    </mc:Choice>
    <mc:Fallback>
      <p:transition spd="slow" advTm="732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168335" cy="868680"/>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Seis objetivos, seis conclusiones</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noAutofit/>
          </a:bodyPr>
          <a:lstStyle/>
          <a:p>
            <a:pPr algn="ctr">
              <a:lnSpc>
                <a:spcPct val="100000"/>
              </a:lnSpc>
            </a:pPr>
            <a:r>
              <a:rPr lang="es-ES" sz="1300" b="1" i="0">
                <a:solidFill>
                  <a:srgbClr val="1B2A4A"/>
                </a:solidFill>
                <a:latin typeface="Calibri"/>
              </a:rPr>
              <a:t>6  ·  Conclusiones y recomendaciones</a:t>
            </a:r>
          </a:p>
        </p:txBody>
      </p:sp>
      <p:graphicFrame>
        <p:nvGraphicFramePr>
          <p:cNvPr id="5" name="Table 4"/>
          <p:cNvGraphicFramePr>
            <a:graphicFrameLocks noGrp="1"/>
          </p:cNvGraphicFramePr>
          <p:nvPr/>
        </p:nvGraphicFramePr>
        <p:xfrm>
          <a:off x="548640" y="1626325"/>
          <a:ext cx="11094413" cy="3879666"/>
        </p:xfrm>
        <a:graphic>
          <a:graphicData uri="http://schemas.openxmlformats.org/drawingml/2006/table">
            <a:tbl>
              <a:tblPr>
                <a:tableStyleId>{5C22544A-7EE6-4342-B048-85BDC9FD1C3A}</a:tableStyleId>
              </a:tblPr>
              <a:tblGrid>
                <a:gridCol w="2307472">
                  <a:extLst>
                    <a:ext uri="{9D8B030D-6E8A-4147-A177-3AD203B41FA5}">
                      <a16:colId xmlns:a16="http://schemas.microsoft.com/office/drawing/2014/main" val="20000"/>
                    </a:ext>
                  </a:extLst>
                </a:gridCol>
                <a:gridCol w="1864524">
                  <a:extLst>
                    <a:ext uri="{9D8B030D-6E8A-4147-A177-3AD203B41FA5}">
                      <a16:colId xmlns:a16="http://schemas.microsoft.com/office/drawing/2014/main" val="20001"/>
                    </a:ext>
                  </a:extLst>
                </a:gridCol>
                <a:gridCol w="6922417">
                  <a:extLst>
                    <a:ext uri="{9D8B030D-6E8A-4147-A177-3AD203B41FA5}">
                      <a16:colId xmlns:a16="http://schemas.microsoft.com/office/drawing/2014/main" val="20002"/>
                    </a:ext>
                  </a:extLst>
                </a:gridCol>
              </a:tblGrid>
              <a:tr h="552123">
                <a:tc>
                  <a:txBody>
                    <a:bodyPr/>
                    <a:lstStyle/>
                    <a:p>
                      <a:pPr algn="l"/>
                      <a:r>
                        <a:rPr lang="es-ES" sz="2000" b="1" i="0">
                          <a:solidFill>
                            <a:srgbClr val="FFFFFF"/>
                          </a:solidFill>
                          <a:latin typeface="Calibri"/>
                        </a:rPr>
                        <a:t>OE</a:t>
                      </a:r>
                    </a:p>
                  </a:txBody>
                  <a:tcPr marL="73152" marR="73152" marT="27432" marB="27432" anchor="ctr">
                    <a:solidFill>
                      <a:srgbClr val="1B2A4A"/>
                    </a:solidFill>
                  </a:tcPr>
                </a:tc>
                <a:tc>
                  <a:txBody>
                    <a:bodyPr/>
                    <a:lstStyle/>
                    <a:p>
                      <a:pPr algn="ctr"/>
                      <a:r>
                        <a:rPr lang="es-ES" sz="2000" b="1" i="0">
                          <a:solidFill>
                            <a:srgbClr val="FFFFFF"/>
                          </a:solidFill>
                          <a:latin typeface="Calibri"/>
                        </a:rPr>
                        <a:t>Cumplimiento</a:t>
                      </a:r>
                    </a:p>
                  </a:txBody>
                  <a:tcPr marL="73152" marR="73152" marT="27432" marB="27432" anchor="ctr">
                    <a:solidFill>
                      <a:srgbClr val="1B2A4A"/>
                    </a:solidFill>
                  </a:tcPr>
                </a:tc>
                <a:tc>
                  <a:txBody>
                    <a:bodyPr/>
                    <a:lstStyle/>
                    <a:p>
                      <a:pPr algn="ctr"/>
                      <a:r>
                        <a:rPr lang="es-ES" sz="2000" b="1" i="0">
                          <a:solidFill>
                            <a:srgbClr val="FFFFFF"/>
                          </a:solidFill>
                          <a:latin typeface="Calibri"/>
                        </a:rPr>
                        <a:t>Evidencia</a:t>
                      </a:r>
                    </a:p>
                  </a:txBody>
                  <a:tcPr marL="73152" marR="73152" marT="27432" marB="27432" anchor="ctr">
                    <a:solidFill>
                      <a:srgbClr val="1B2A4A"/>
                    </a:solidFill>
                  </a:tcPr>
                </a:tc>
                <a:extLst>
                  <a:ext uri="{0D108BD9-81ED-4DB2-BD59-A6C34878D82A}">
                    <a16:rowId xmlns:a16="http://schemas.microsoft.com/office/drawing/2014/main" val="10000"/>
                  </a:ext>
                </a:extLst>
              </a:tr>
              <a:tr h="552123">
                <a:tc>
                  <a:txBody>
                    <a:bodyPr/>
                    <a:lstStyle/>
                    <a:p>
                      <a:pPr algn="l"/>
                      <a:r>
                        <a:rPr lang="es-ES" sz="2000" b="1" i="0">
                          <a:solidFill>
                            <a:srgbClr val="1F2937"/>
                          </a:solidFill>
                          <a:latin typeface="Calibri"/>
                        </a:rPr>
                        <a:t>OE1 Fundamentar</a:t>
                      </a:r>
                    </a:p>
                  </a:txBody>
                  <a:tcPr marL="73152" marR="73152" marT="27432" marB="27432" anchor="ctr">
                    <a:solidFill>
                      <a:srgbClr val="FFFFFF"/>
                    </a:solidFill>
                  </a:tcPr>
                </a:tc>
                <a:tc>
                  <a:txBody>
                    <a:bodyPr/>
                    <a:lstStyle/>
                    <a:p>
                      <a:pPr algn="ctr"/>
                      <a:r>
                        <a:rPr lang="es-ES" sz="2000" b="0" i="0">
                          <a:solidFill>
                            <a:srgbClr val="1F2937"/>
                          </a:solidFill>
                          <a:latin typeface="Calibri"/>
                        </a:rPr>
                        <a:t>Cumplido</a:t>
                      </a:r>
                    </a:p>
                  </a:txBody>
                  <a:tcPr marL="73152" marR="73152" marT="27432" marB="27432" anchor="ctr">
                    <a:solidFill>
                      <a:srgbClr val="FFFFFF"/>
                    </a:solidFill>
                  </a:tcPr>
                </a:tc>
                <a:tc>
                  <a:txBody>
                    <a:bodyPr/>
                    <a:lstStyle/>
                    <a:p>
                      <a:pPr algn="ctr"/>
                      <a:r>
                        <a:rPr lang="es-ES" sz="2000" b="0" i="0">
                          <a:solidFill>
                            <a:srgbClr val="1F2937"/>
                          </a:solidFill>
                          <a:latin typeface="Calibri"/>
                        </a:rPr>
                        <a:t>Una sola formulación en teoría, código y memoria</a:t>
                      </a:r>
                    </a:p>
                  </a:txBody>
                  <a:tcPr marL="73152" marR="73152" marT="27432" marB="27432" anchor="ctr">
                    <a:solidFill>
                      <a:srgbClr val="FFFFFF"/>
                    </a:solidFill>
                  </a:tcPr>
                </a:tc>
                <a:extLst>
                  <a:ext uri="{0D108BD9-81ED-4DB2-BD59-A6C34878D82A}">
                    <a16:rowId xmlns:a16="http://schemas.microsoft.com/office/drawing/2014/main" val="10001"/>
                  </a:ext>
                </a:extLst>
              </a:tr>
              <a:tr h="552123">
                <a:tc>
                  <a:txBody>
                    <a:bodyPr/>
                    <a:lstStyle/>
                    <a:p>
                      <a:pPr algn="l"/>
                      <a:r>
                        <a:rPr lang="es-ES" sz="2000" b="1" i="0">
                          <a:solidFill>
                            <a:srgbClr val="1F2937"/>
                          </a:solidFill>
                          <a:latin typeface="Calibri"/>
                        </a:rPr>
                        <a:t>OE2 Motor</a:t>
                      </a:r>
                    </a:p>
                  </a:txBody>
                  <a:tcPr marL="73152" marR="73152" marT="27432" marB="27432" anchor="ctr">
                    <a:solidFill>
                      <a:srgbClr val="F3F4F6"/>
                    </a:solidFill>
                  </a:tcPr>
                </a:tc>
                <a:tc>
                  <a:txBody>
                    <a:bodyPr/>
                    <a:lstStyle/>
                    <a:p>
                      <a:pPr algn="ctr"/>
                      <a:r>
                        <a:rPr lang="es-ES" sz="2000" b="0" i="0">
                          <a:solidFill>
                            <a:srgbClr val="1F2937"/>
                          </a:solidFill>
                          <a:latin typeface="Calibri"/>
                        </a:rPr>
                        <a:t>Cumplido</a:t>
                      </a:r>
                    </a:p>
                  </a:txBody>
                  <a:tcPr marL="73152" marR="73152" marT="27432" marB="27432" anchor="ctr">
                    <a:solidFill>
                      <a:srgbClr val="F3F4F6"/>
                    </a:solidFill>
                  </a:tcPr>
                </a:tc>
                <a:tc>
                  <a:txBody>
                    <a:bodyPr/>
                    <a:lstStyle/>
                    <a:p>
                      <a:pPr algn="ctr"/>
                      <a:r>
                        <a:rPr lang="es-ES" sz="2000" b="0" i="0">
                          <a:solidFill>
                            <a:srgbClr val="1F2937"/>
                          </a:solidFill>
                          <a:latin typeface="Calibri"/>
                        </a:rPr>
                        <a:t>MMS: Q4 O(h²)/O(h¹); Q9 O(h³)/O(h²)</a:t>
                      </a:r>
                    </a:p>
                  </a:txBody>
                  <a:tcPr marL="73152" marR="73152" marT="27432" marB="27432" anchor="ctr">
                    <a:solidFill>
                      <a:srgbClr val="F3F4F6"/>
                    </a:solidFill>
                  </a:tcPr>
                </a:tc>
                <a:extLst>
                  <a:ext uri="{0D108BD9-81ED-4DB2-BD59-A6C34878D82A}">
                    <a16:rowId xmlns:a16="http://schemas.microsoft.com/office/drawing/2014/main" val="10002"/>
                  </a:ext>
                </a:extLst>
              </a:tr>
              <a:tr h="552123">
                <a:tc>
                  <a:txBody>
                    <a:bodyPr/>
                    <a:lstStyle/>
                    <a:p>
                      <a:pPr algn="l"/>
                      <a:r>
                        <a:rPr lang="es-ES" sz="2000" b="1" i="0">
                          <a:solidFill>
                            <a:srgbClr val="1F2937"/>
                          </a:solidFill>
                          <a:latin typeface="Calibri"/>
                        </a:rPr>
                        <a:t>OE3 Interfaz</a:t>
                      </a:r>
                    </a:p>
                  </a:txBody>
                  <a:tcPr marL="73152" marR="73152" marT="27432" marB="27432" anchor="ctr">
                    <a:solidFill>
                      <a:srgbClr val="FFFFFF"/>
                    </a:solidFill>
                  </a:tcPr>
                </a:tc>
                <a:tc>
                  <a:txBody>
                    <a:bodyPr/>
                    <a:lstStyle/>
                    <a:p>
                      <a:pPr algn="ctr"/>
                      <a:r>
                        <a:rPr lang="es-ES" sz="2000" b="0" i="0">
                          <a:solidFill>
                            <a:srgbClr val="1F2937"/>
                          </a:solidFill>
                          <a:latin typeface="Calibri"/>
                        </a:rPr>
                        <a:t>Cumplido</a:t>
                      </a:r>
                    </a:p>
                  </a:txBody>
                  <a:tcPr marL="73152" marR="73152" marT="27432" marB="27432" anchor="ctr">
                    <a:solidFill>
                      <a:srgbClr val="FFFFFF"/>
                    </a:solidFill>
                  </a:tcPr>
                </a:tc>
                <a:tc>
                  <a:txBody>
                    <a:bodyPr/>
                    <a:lstStyle/>
                    <a:p>
                      <a:pPr algn="ctr"/>
                      <a:r>
                        <a:rPr lang="es-ES" sz="2000" b="0" i="0">
                          <a:solidFill>
                            <a:srgbClr val="1F2937"/>
                          </a:solidFill>
                          <a:latin typeface="Calibri"/>
                        </a:rPr>
                        <a:t>Tres fases, lienzo único, deshacer, validador</a:t>
                      </a:r>
                    </a:p>
                  </a:txBody>
                  <a:tcPr marL="73152" marR="73152" marT="27432" marB="27432" anchor="ctr">
                    <a:solidFill>
                      <a:srgbClr val="FFFFFF"/>
                    </a:solidFill>
                  </a:tcPr>
                </a:tc>
                <a:extLst>
                  <a:ext uri="{0D108BD9-81ED-4DB2-BD59-A6C34878D82A}">
                    <a16:rowId xmlns:a16="http://schemas.microsoft.com/office/drawing/2014/main" val="10003"/>
                  </a:ext>
                </a:extLst>
              </a:tr>
              <a:tr h="552123">
                <a:tc>
                  <a:txBody>
                    <a:bodyPr/>
                    <a:lstStyle/>
                    <a:p>
                      <a:pPr algn="l"/>
                      <a:r>
                        <a:rPr lang="es-ES" sz="2000" b="1" i="0">
                          <a:solidFill>
                            <a:srgbClr val="1F2937"/>
                          </a:solidFill>
                          <a:latin typeface="Calibri"/>
                        </a:rPr>
                        <a:t>OE4 Módulos</a:t>
                      </a:r>
                    </a:p>
                  </a:txBody>
                  <a:tcPr marL="73152" marR="73152" marT="27432" marB="27432" anchor="ctr">
                    <a:solidFill>
                      <a:srgbClr val="F3F4F6"/>
                    </a:solidFill>
                  </a:tcPr>
                </a:tc>
                <a:tc>
                  <a:txBody>
                    <a:bodyPr/>
                    <a:lstStyle/>
                    <a:p>
                      <a:pPr algn="ctr"/>
                      <a:r>
                        <a:rPr lang="es-ES" sz="2000" b="0" i="0">
                          <a:solidFill>
                            <a:srgbClr val="1F2937"/>
                          </a:solidFill>
                          <a:latin typeface="Calibri"/>
                        </a:rPr>
                        <a:t>Cumplido</a:t>
                      </a:r>
                    </a:p>
                  </a:txBody>
                  <a:tcPr marL="73152" marR="73152" marT="27432" marB="27432" anchor="ctr">
                    <a:solidFill>
                      <a:srgbClr val="F3F4F6"/>
                    </a:solidFill>
                  </a:tcPr>
                </a:tc>
                <a:tc>
                  <a:txBody>
                    <a:bodyPr/>
                    <a:lstStyle/>
                    <a:p>
                      <a:pPr algn="ctr"/>
                      <a:r>
                        <a:rPr lang="es-ES" sz="2000" b="0" i="0">
                          <a:solidFill>
                            <a:srgbClr val="1F2937"/>
                          </a:solidFill>
                          <a:latin typeface="Calibri"/>
                        </a:rPr>
                        <a:t>M0 a M7 sobre el elemento seleccionado</a:t>
                      </a:r>
                    </a:p>
                  </a:txBody>
                  <a:tcPr marL="73152" marR="73152" marT="27432" marB="27432" anchor="ctr">
                    <a:solidFill>
                      <a:srgbClr val="F3F4F6"/>
                    </a:solidFill>
                  </a:tcPr>
                </a:tc>
                <a:extLst>
                  <a:ext uri="{0D108BD9-81ED-4DB2-BD59-A6C34878D82A}">
                    <a16:rowId xmlns:a16="http://schemas.microsoft.com/office/drawing/2014/main" val="10004"/>
                  </a:ext>
                </a:extLst>
              </a:tr>
              <a:tr h="552123">
                <a:tc>
                  <a:txBody>
                    <a:bodyPr/>
                    <a:lstStyle/>
                    <a:p>
                      <a:pPr algn="l"/>
                      <a:r>
                        <a:rPr lang="es-ES" sz="2000" b="1" i="0">
                          <a:solidFill>
                            <a:srgbClr val="1F2937"/>
                          </a:solidFill>
                          <a:latin typeface="Calibri"/>
                        </a:rPr>
                        <a:t>OE5 V&amp;V</a:t>
                      </a:r>
                    </a:p>
                  </a:txBody>
                  <a:tcPr marL="73152" marR="73152" marT="27432" marB="27432" anchor="ctr">
                    <a:solidFill>
                      <a:srgbClr val="FFFFFF"/>
                    </a:solidFill>
                  </a:tcPr>
                </a:tc>
                <a:tc>
                  <a:txBody>
                    <a:bodyPr/>
                    <a:lstStyle/>
                    <a:p>
                      <a:pPr algn="ctr"/>
                      <a:r>
                        <a:rPr lang="es-ES" sz="2000" b="0" i="0">
                          <a:solidFill>
                            <a:srgbClr val="1F2937"/>
                          </a:solidFill>
                          <a:latin typeface="Calibri"/>
                        </a:rPr>
                        <a:t>Cumplido</a:t>
                      </a:r>
                    </a:p>
                  </a:txBody>
                  <a:tcPr marL="73152" marR="73152" marT="27432" marB="27432" anchor="ctr">
                    <a:solidFill>
                      <a:srgbClr val="FFFFFF"/>
                    </a:solidFill>
                  </a:tcPr>
                </a:tc>
                <a:tc>
                  <a:txBody>
                    <a:bodyPr/>
                    <a:lstStyle/>
                    <a:p>
                      <a:pPr algn="ctr"/>
                      <a:r>
                        <a:rPr lang="es-ES" sz="2000" b="0" i="0">
                          <a:solidFill>
                            <a:srgbClr val="1F2937"/>
                          </a:solidFill>
                          <a:latin typeface="Calibri"/>
                        </a:rPr>
                        <a:t>0,04 % σₓ; 0,26 % flecha; Cook −0,044 % vs −0,594 %</a:t>
                      </a:r>
                    </a:p>
                  </a:txBody>
                  <a:tcPr marL="73152" marR="73152" marT="27432" marB="27432" anchor="ctr">
                    <a:solidFill>
                      <a:srgbClr val="FFFFFF"/>
                    </a:solidFill>
                  </a:tcPr>
                </a:tc>
                <a:extLst>
                  <a:ext uri="{0D108BD9-81ED-4DB2-BD59-A6C34878D82A}">
                    <a16:rowId xmlns:a16="http://schemas.microsoft.com/office/drawing/2014/main" val="10005"/>
                  </a:ext>
                </a:extLst>
              </a:tr>
              <a:tr h="566928">
                <a:tc>
                  <a:txBody>
                    <a:bodyPr/>
                    <a:lstStyle/>
                    <a:p>
                      <a:pPr algn="l"/>
                      <a:r>
                        <a:rPr lang="es-ES" sz="2000" b="1" i="0">
                          <a:solidFill>
                            <a:srgbClr val="1F2937"/>
                          </a:solidFill>
                          <a:latin typeface="Calibri"/>
                        </a:rPr>
                        <a:t>OE6 Memoria e I/O</a:t>
                      </a:r>
                    </a:p>
                  </a:txBody>
                  <a:tcPr marL="73152" marR="73152" marT="27432" marB="27432" anchor="ctr">
                    <a:solidFill>
                      <a:srgbClr val="F3F4F6"/>
                    </a:solidFill>
                  </a:tcPr>
                </a:tc>
                <a:tc>
                  <a:txBody>
                    <a:bodyPr/>
                    <a:lstStyle/>
                    <a:p>
                      <a:pPr algn="ctr"/>
                      <a:r>
                        <a:rPr lang="es-ES" sz="2000" b="0" i="0">
                          <a:solidFill>
                            <a:srgbClr val="1F2937"/>
                          </a:solidFill>
                          <a:latin typeface="Calibri"/>
                        </a:rPr>
                        <a:t>Cumplido</a:t>
                      </a:r>
                    </a:p>
                  </a:txBody>
                  <a:tcPr marL="73152" marR="73152" marT="27432" marB="27432" anchor="ctr">
                    <a:solidFill>
                      <a:srgbClr val="F3F4F6"/>
                    </a:solidFill>
                  </a:tcPr>
                </a:tc>
                <a:tc>
                  <a:txBody>
                    <a:bodyPr/>
                    <a:lstStyle/>
                    <a:p>
                      <a:pPr algn="ctr"/>
                      <a:r>
                        <a:rPr lang="es-ES" sz="2000" b="0" i="0">
                          <a:solidFill>
                            <a:srgbClr val="1F2937"/>
                          </a:solidFill>
                          <a:latin typeface="Calibri"/>
                        </a:rPr>
                        <a:t>PDF en dos estilos; DXF y CSV con ida y vuelta</a:t>
                      </a:r>
                    </a:p>
                  </a:txBody>
                  <a:tcPr marL="73152" marR="73152" marT="27432" marB="27432" anchor="ctr">
                    <a:solidFill>
                      <a:srgbClr val="F3F4F6"/>
                    </a:solidFill>
                  </a:tcPr>
                </a:tc>
                <a:extLst>
                  <a:ext uri="{0D108BD9-81ED-4DB2-BD59-A6C34878D82A}">
                    <a16:rowId xmlns:a16="http://schemas.microsoft.com/office/drawing/2014/main" val="10006"/>
                  </a:ext>
                </a:extLst>
              </a:tr>
            </a:tbl>
          </a:graphicData>
        </a:graphic>
      </p:graphicFrame>
      <p:sp>
        <p:nvSpPr>
          <p:cNvPr id="6" name="Rectangle 5"/>
          <p:cNvSpPr/>
          <p:nvPr/>
        </p:nvSpPr>
        <p:spPr>
          <a:xfrm>
            <a:off x="548640" y="5742432"/>
            <a:ext cx="11094415" cy="530352"/>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548640" y="5742432"/>
            <a:ext cx="82296" cy="5303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77240" y="5742432"/>
            <a:ext cx="10774375" cy="530352"/>
          </a:xfrm>
          <a:prstGeom prst="rect">
            <a:avLst/>
          </a:prstGeom>
          <a:noFill/>
        </p:spPr>
        <p:txBody>
          <a:bodyPr wrap="square" lIns="45720" tIns="27432" rIns="45720" bIns="27432" anchor="ctr">
            <a:noAutofit/>
          </a:bodyPr>
          <a:lstStyle/>
          <a:p>
            <a:pPr algn="l">
              <a:lnSpc>
                <a:spcPct val="100000"/>
              </a:lnSpc>
            </a:pPr>
            <a:r>
              <a:rPr lang="es-ES" sz="2200" b="1" i="0">
                <a:solidFill>
                  <a:srgbClr val="1B2A4A"/>
                </a:solidFill>
                <a:latin typeface="Calibri"/>
              </a:rPr>
              <a:t>Seis objetivos específicos cumplidos y, con ello, el objetivo general</a:t>
            </a:r>
          </a:p>
        </p:txBody>
      </p:sp>
      <p:sp>
        <p:nvSpPr>
          <p:cNvPr id="9" name="Rectangle 8"/>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6419088"/>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11" name="TextBox 10"/>
          <p:cNvSpPr txBox="1"/>
          <p:nvPr/>
        </p:nvSpPr>
        <p:spPr>
          <a:xfrm>
            <a:off x="4023360" y="6419088"/>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Conclusiones, conclusiones específicas</a:t>
            </a:r>
          </a:p>
        </p:txBody>
      </p:sp>
      <p:sp>
        <p:nvSpPr>
          <p:cNvPr id="12" name="TextBox 11"/>
          <p:cNvSpPr txBox="1"/>
          <p:nvPr/>
        </p:nvSpPr>
        <p:spPr>
          <a:xfrm>
            <a:off x="10545775" y="6419088"/>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34</a:t>
            </a:fld>
            <a:endParaRPr lang="es-ES" sz="1200" dirty="0">
              <a:solidFill>
                <a:srgbClr val="5B6575"/>
              </a:solidFill>
              <a:latin typeface="Calibri"/>
            </a:endParaRPr>
          </a:p>
        </p:txBody>
      </p:sp>
      <p:pic>
        <p:nvPicPr>
          <p:cNvPr id="13" name="s34">
            <a:hlinkClick r:id="" action="ppaction://media"/>
            <a:extLst>
              <a:ext uri="{FF2B5EF4-FFF2-40B4-BE49-F238E27FC236}">
                <a16:creationId xmlns:a16="http://schemas.microsoft.com/office/drawing/2014/main" id="{C9E47DCF-FF5B-F92D-4D0F-E4530809909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9236"/>
    </mc:Choice>
    <mc:Fallback>
      <p:transition spd="slow" advTm="5923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168335" cy="868680"/>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Hipótesis confirmada, preguntas respondidas</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noAutofit/>
          </a:bodyPr>
          <a:lstStyle/>
          <a:p>
            <a:pPr algn="ctr">
              <a:lnSpc>
                <a:spcPct val="100000"/>
              </a:lnSpc>
            </a:pPr>
            <a:r>
              <a:rPr lang="es-ES" sz="1300" b="1" i="0">
                <a:solidFill>
                  <a:srgbClr val="1B2A4A"/>
                </a:solidFill>
                <a:latin typeface="Calibri"/>
              </a:rPr>
              <a:t>6  ·  Conclusiones y recomendaciones</a:t>
            </a:r>
          </a:p>
        </p:txBody>
      </p:sp>
      <p:sp>
        <p:nvSpPr>
          <p:cNvPr id="5" name="Rounded Rectangle 4"/>
          <p:cNvSpPr/>
          <p:nvPr/>
        </p:nvSpPr>
        <p:spPr>
          <a:xfrm>
            <a:off x="548640" y="1481328"/>
            <a:ext cx="5364327" cy="3858768"/>
          </a:xfrm>
          <a:prstGeom prst="roundRect">
            <a:avLst>
              <a:gd name="adj" fmla="val 5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ounded Rectangle 5"/>
          <p:cNvSpPr/>
          <p:nvPr/>
        </p:nvSpPr>
        <p:spPr>
          <a:xfrm>
            <a:off x="548640" y="1481328"/>
            <a:ext cx="5364327" cy="603504"/>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548640" y="1810512"/>
            <a:ext cx="5364327" cy="2743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48640" y="1481328"/>
            <a:ext cx="5364327" cy="603504"/>
          </a:xfrm>
          <a:prstGeom prst="rect">
            <a:avLst/>
          </a:prstGeom>
          <a:noFill/>
        </p:spPr>
        <p:txBody>
          <a:bodyPr wrap="square" lIns="45720" tIns="27432" rIns="45720" bIns="27432" anchor="ctr">
            <a:noAutofit/>
          </a:bodyPr>
          <a:lstStyle/>
          <a:p>
            <a:pPr algn="ctr">
              <a:lnSpc>
                <a:spcPct val="105000"/>
              </a:lnSpc>
            </a:pPr>
            <a:r>
              <a:rPr lang="es-ES" sz="2000" b="1" i="0">
                <a:solidFill>
                  <a:srgbClr val="FFFFFF"/>
                </a:solidFill>
                <a:latin typeface="Calibri"/>
              </a:rPr>
              <a:t>Hipótesis: confirmada por diseño</a:t>
            </a:r>
          </a:p>
        </p:txBody>
      </p:sp>
      <p:sp>
        <p:nvSpPr>
          <p:cNvPr id="9" name="TextBox 8"/>
          <p:cNvSpPr txBox="1"/>
          <p:nvPr/>
        </p:nvSpPr>
        <p:spPr>
          <a:xfrm>
            <a:off x="777240" y="2194560"/>
            <a:ext cx="4907127" cy="3035808"/>
          </a:xfrm>
          <a:prstGeom prst="rect">
            <a:avLst/>
          </a:prstGeom>
          <a:noFill/>
        </p:spPr>
        <p:txBody>
          <a:bodyPr wrap="square" lIns="45720" tIns="27432" rIns="45720" bIns="27432" anchor="ctr">
            <a:noAutofit/>
          </a:bodyPr>
          <a:lstStyle/>
          <a:p>
            <a:pPr marL="347472" indent="-347472">
              <a:lnSpc>
                <a:spcPct val="112000"/>
              </a:lnSpc>
              <a:spcAft>
                <a:spcPts val="900"/>
              </a:spcAft>
              <a:buClr>
                <a:srgbClr val="1B2A4A"/>
              </a:buClr>
              <a:buSzPct val="100000"/>
              <a:buFont typeface="Arial"/>
              <a:buChar char="•"/>
            </a:pPr>
            <a:r>
              <a:rPr lang="es-ES" sz="2200" b="1" i="0">
                <a:solidFill>
                  <a:srgbClr val="1B2A4A"/>
                </a:solidFill>
                <a:latin typeface="Calibri"/>
              </a:rPr>
              <a:t>Transparente:</a:t>
            </a:r>
            <a:r>
              <a:rPr lang="es-ES" sz="2200" b="0" i="0">
                <a:solidFill>
                  <a:srgbClr val="1F2937"/>
                </a:solidFill>
                <a:latin typeface="Calibri"/>
              </a:rPr>
              <a:t> cada matriz visible en M1 a M7 y en la memoria</a:t>
            </a:r>
          </a:p>
          <a:p>
            <a:pPr marL="347472" indent="-347472">
              <a:lnSpc>
                <a:spcPct val="112000"/>
              </a:lnSpc>
              <a:spcAft>
                <a:spcPts val="900"/>
              </a:spcAft>
              <a:buClr>
                <a:srgbClr val="1B2A4A"/>
              </a:buClr>
              <a:buSzPct val="100000"/>
              <a:buFont typeface="Arial"/>
              <a:buChar char="•"/>
            </a:pPr>
            <a:r>
              <a:rPr lang="es-ES" sz="2200" b="1" i="0">
                <a:solidFill>
                  <a:srgbClr val="1B2A4A"/>
                </a:solidFill>
                <a:latin typeface="Calibri"/>
              </a:rPr>
              <a:t>Interactiva:</a:t>
            </a:r>
            <a:r>
              <a:rPr lang="es-ES" sz="2200" b="0" i="0">
                <a:solidFill>
                  <a:srgbClr val="1F2937"/>
                </a:solidFill>
                <a:latin typeface="Calibri"/>
              </a:rPr>
              <a:t> sobre el elemento que el alumno selecciona</a:t>
            </a:r>
          </a:p>
          <a:p>
            <a:pPr marL="347472" indent="-347472">
              <a:lnSpc>
                <a:spcPct val="112000"/>
              </a:lnSpc>
              <a:spcAft>
                <a:spcPts val="900"/>
              </a:spcAft>
              <a:buClr>
                <a:srgbClr val="1B2A4A"/>
              </a:buClr>
              <a:buSzPct val="100000"/>
              <a:buFont typeface="Arial"/>
              <a:buChar char="•"/>
            </a:pPr>
            <a:r>
              <a:rPr lang="es-ES" sz="2200" b="1" i="0">
                <a:solidFill>
                  <a:srgbClr val="1B2A4A"/>
                </a:solidFill>
                <a:latin typeface="Calibri"/>
              </a:rPr>
              <a:t>Verificable:</a:t>
            </a:r>
            <a:r>
              <a:rPr lang="es-ES" sz="2200" b="0" i="0">
                <a:solidFill>
                  <a:srgbClr val="1F2937"/>
                </a:solidFill>
                <a:latin typeface="Calibri"/>
              </a:rPr>
              <a:t> MMS, Timoshenko, Cook y SAP2000</a:t>
            </a:r>
          </a:p>
          <a:p>
            <a:pPr marL="347472" indent="-347472">
              <a:lnSpc>
                <a:spcPct val="112000"/>
              </a:lnSpc>
              <a:spcAft>
                <a:spcPts val="900"/>
              </a:spcAft>
              <a:buClr>
                <a:srgbClr val="1B2A4A"/>
              </a:buClr>
              <a:buSzPct val="100000"/>
              <a:buFont typeface="Arial"/>
              <a:buChar char="•"/>
            </a:pPr>
            <a:r>
              <a:rPr lang="es-ES" sz="2200" b="1" i="0">
                <a:solidFill>
                  <a:srgbClr val="1B2A4A"/>
                </a:solidFill>
                <a:latin typeface="Calibri"/>
              </a:rPr>
              <a:t>Coherente:</a:t>
            </a:r>
            <a:r>
              <a:rPr lang="es-ES" sz="2200" b="0" i="0">
                <a:solidFill>
                  <a:srgbClr val="1F2937"/>
                </a:solidFill>
                <a:latin typeface="Calibri"/>
              </a:rPr>
              <a:t> pre-proceso, proceso y post-proceso</a:t>
            </a:r>
          </a:p>
        </p:txBody>
      </p:sp>
      <p:sp>
        <p:nvSpPr>
          <p:cNvPr id="10" name="Rounded Rectangle 9"/>
          <p:cNvSpPr/>
          <p:nvPr/>
        </p:nvSpPr>
        <p:spPr>
          <a:xfrm>
            <a:off x="6278727" y="1481328"/>
            <a:ext cx="5364327" cy="3858768"/>
          </a:xfrm>
          <a:prstGeom prst="roundRect">
            <a:avLst>
              <a:gd name="adj" fmla="val 5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ounded Rectangle 10"/>
          <p:cNvSpPr/>
          <p:nvPr/>
        </p:nvSpPr>
        <p:spPr>
          <a:xfrm>
            <a:off x="6278727" y="1481328"/>
            <a:ext cx="5364327" cy="603504"/>
          </a:xfrm>
          <a:prstGeom prst="roundRect">
            <a:avLst>
              <a:gd name="adj" fmla="val 12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6278727" y="1810512"/>
            <a:ext cx="5364327" cy="2743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278727" y="1481328"/>
            <a:ext cx="5364327" cy="603504"/>
          </a:xfrm>
          <a:prstGeom prst="rect">
            <a:avLst/>
          </a:prstGeom>
          <a:noFill/>
        </p:spPr>
        <p:txBody>
          <a:bodyPr wrap="square" lIns="45720" tIns="27432" rIns="45720" bIns="27432" anchor="ctr">
            <a:noAutofit/>
          </a:bodyPr>
          <a:lstStyle/>
          <a:p>
            <a:pPr algn="ctr">
              <a:lnSpc>
                <a:spcPct val="105000"/>
              </a:lnSpc>
            </a:pPr>
            <a:r>
              <a:rPr lang="es-ES" sz="2400" b="1" i="0">
                <a:solidFill>
                  <a:srgbClr val="FFFFFF"/>
                </a:solidFill>
                <a:latin typeface="Calibri"/>
              </a:rPr>
              <a:t>Preguntas de investigación</a:t>
            </a:r>
          </a:p>
        </p:txBody>
      </p:sp>
      <p:sp>
        <p:nvSpPr>
          <p:cNvPr id="14" name="TextBox 13"/>
          <p:cNvSpPr txBox="1"/>
          <p:nvPr/>
        </p:nvSpPr>
        <p:spPr>
          <a:xfrm>
            <a:off x="6507327" y="2194560"/>
            <a:ext cx="4907127" cy="3035808"/>
          </a:xfrm>
          <a:prstGeom prst="rect">
            <a:avLst/>
          </a:prstGeom>
          <a:noFill/>
        </p:spPr>
        <p:txBody>
          <a:bodyPr wrap="square" lIns="45720" tIns="27432" rIns="45720" bIns="27432" anchor="ctr">
            <a:noAutofit/>
          </a:bodyPr>
          <a:lstStyle/>
          <a:p>
            <a:pPr marL="347472" indent="-347472">
              <a:lnSpc>
                <a:spcPct val="112000"/>
              </a:lnSpc>
              <a:spcAft>
                <a:spcPts val="900"/>
              </a:spcAft>
              <a:buClr>
                <a:srgbClr val="F28C28"/>
              </a:buClr>
              <a:buSzPct val="100000"/>
              <a:buFont typeface="Arial"/>
              <a:buChar char="•"/>
            </a:pPr>
            <a:r>
              <a:rPr lang="es-ES" sz="2200" b="1" i="0">
                <a:solidFill>
                  <a:srgbClr val="1B2A4A"/>
                </a:solidFill>
                <a:latin typeface="Calibri"/>
              </a:rPr>
              <a:t>PI-1 sí:</a:t>
            </a:r>
            <a:r>
              <a:rPr lang="es-ES" sz="2200" b="0" i="0">
                <a:solidFill>
                  <a:srgbClr val="1F2937"/>
                </a:solidFill>
                <a:latin typeface="Calibri"/>
              </a:rPr>
              <a:t> 0,04 % σₓ, 0,26 % flecha, hasta 0,56 % vs SAP2000</a:t>
            </a:r>
          </a:p>
          <a:p>
            <a:pPr marL="347472" indent="-347472">
              <a:lnSpc>
                <a:spcPct val="112000"/>
              </a:lnSpc>
              <a:spcAft>
                <a:spcPts val="900"/>
              </a:spcAft>
              <a:buClr>
                <a:srgbClr val="F28C28"/>
              </a:buClr>
              <a:buSzPct val="100000"/>
              <a:buFont typeface="Arial"/>
              <a:buChar char="•"/>
            </a:pPr>
            <a:r>
              <a:rPr lang="es-ES" sz="2200" b="1" i="0">
                <a:solidFill>
                  <a:srgbClr val="1B2A4A"/>
                </a:solidFill>
                <a:latin typeface="Calibri"/>
              </a:rPr>
              <a:t>PI-2 sí, por diseño:</a:t>
            </a:r>
            <a:r>
              <a:rPr lang="es-ES" sz="2200" b="0" i="0">
                <a:solidFill>
                  <a:srgbClr val="1F2937"/>
                </a:solidFill>
                <a:latin typeface="Calibri"/>
              </a:rPr>
              <a:t> lienzo único y módulos M0 a M7</a:t>
            </a:r>
          </a:p>
          <a:p>
            <a:pPr marL="347472" indent="-347472">
              <a:lnSpc>
                <a:spcPct val="112000"/>
              </a:lnSpc>
              <a:spcAft>
                <a:spcPts val="900"/>
              </a:spcAft>
              <a:buClr>
                <a:srgbClr val="F28C28"/>
              </a:buClr>
              <a:buSzPct val="100000"/>
              <a:buFont typeface="Arial"/>
              <a:buChar char="•"/>
            </a:pPr>
            <a:r>
              <a:rPr lang="es-ES" sz="2200" b="1" i="0">
                <a:solidFill>
                  <a:srgbClr val="1B2A4A"/>
                </a:solidFill>
                <a:latin typeface="Calibri"/>
              </a:rPr>
              <a:t>PI-3 sí:</a:t>
            </a:r>
            <a:r>
              <a:rPr lang="es-ES" sz="2200" b="0" i="0">
                <a:solidFill>
                  <a:srgbClr val="1F2937"/>
                </a:solidFill>
                <a:latin typeface="Calibri"/>
              </a:rPr>
              <a:t> Cook, Q4 −0,594 % frente a Q9 −0,044 %</a:t>
            </a:r>
          </a:p>
        </p:txBody>
      </p:sp>
      <p:sp>
        <p:nvSpPr>
          <p:cNvPr id="15" name="Rectangle 14"/>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77240" y="5431536"/>
            <a:ext cx="10774375"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Problema resuelto: el canal es observable (módulos y memoria) y contrastable (V&amp;V con criterios a priori)</a:t>
            </a:r>
          </a:p>
        </p:txBody>
      </p:sp>
      <p:sp>
        <p:nvSpPr>
          <p:cNvPr id="18" name="Rectangle 17"/>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48640" y="6419088"/>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0" name="TextBox 19"/>
          <p:cNvSpPr txBox="1"/>
          <p:nvPr/>
        </p:nvSpPr>
        <p:spPr>
          <a:xfrm>
            <a:off x="4023360" y="6419088"/>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Conclusiones; §3.8, validación de la hipótesis</a:t>
            </a:r>
          </a:p>
        </p:txBody>
      </p:sp>
      <p:sp>
        <p:nvSpPr>
          <p:cNvPr id="21" name="TextBox 20"/>
          <p:cNvSpPr txBox="1"/>
          <p:nvPr/>
        </p:nvSpPr>
        <p:spPr>
          <a:xfrm>
            <a:off x="10545775" y="6419088"/>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35</a:t>
            </a:fld>
            <a:endParaRPr lang="es-ES" sz="1200" dirty="0">
              <a:solidFill>
                <a:srgbClr val="5B6575"/>
              </a:solidFill>
              <a:latin typeface="Calibri"/>
            </a:endParaRPr>
          </a:p>
        </p:txBody>
      </p:sp>
      <p:pic>
        <p:nvPicPr>
          <p:cNvPr id="22" name="s35">
            <a:hlinkClick r:id="" action="ppaction://media"/>
            <a:extLst>
              <a:ext uri="{FF2B5EF4-FFF2-40B4-BE49-F238E27FC236}">
                <a16:creationId xmlns:a16="http://schemas.microsoft.com/office/drawing/2014/main" id="{EA879C3B-56FB-54BE-4BA4-B930B552B99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076"/>
    </mc:Choice>
    <mc:Fallback>
      <p:transition spd="slow" advTm="4207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168335" cy="868680"/>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Limitaciones asumidas</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noAutofit/>
          </a:bodyPr>
          <a:lstStyle/>
          <a:p>
            <a:pPr algn="ctr">
              <a:lnSpc>
                <a:spcPct val="100000"/>
              </a:lnSpc>
            </a:pPr>
            <a:r>
              <a:rPr lang="es-ES" sz="1300" b="1" i="0">
                <a:solidFill>
                  <a:srgbClr val="1B2A4A"/>
                </a:solidFill>
                <a:latin typeface="Calibri"/>
              </a:rPr>
              <a:t>6  ·  Conclusiones y recomendaciones</a:t>
            </a:r>
          </a:p>
        </p:txBody>
      </p:sp>
      <p:sp>
        <p:nvSpPr>
          <p:cNvPr id="5" name="TextBox 4"/>
          <p:cNvSpPr txBox="1"/>
          <p:nvPr/>
        </p:nvSpPr>
        <p:spPr>
          <a:xfrm>
            <a:off x="640080" y="1572768"/>
            <a:ext cx="10911535" cy="3767328"/>
          </a:xfrm>
          <a:prstGeom prst="rect">
            <a:avLst/>
          </a:prstGeom>
          <a:noFill/>
        </p:spPr>
        <p:txBody>
          <a:bodyPr wrap="square" lIns="45720" tIns="27432" rIns="45720" bIns="27432" anchor="ctr">
            <a:noAutofit/>
          </a:bodyPr>
          <a:lstStyle/>
          <a:p>
            <a:pPr marL="347472" indent="-347472">
              <a:lnSpc>
                <a:spcPct val="112000"/>
              </a:lnSpc>
              <a:spcAft>
                <a:spcPts val="1000"/>
              </a:spcAft>
              <a:buClr>
                <a:srgbClr val="F28C28"/>
              </a:buClr>
              <a:buSzPct val="100000"/>
              <a:buFont typeface="Arial"/>
              <a:buChar char="•"/>
            </a:pPr>
            <a:r>
              <a:rPr lang="es-ES" sz="2400" b="0" i="0">
                <a:solidFill>
                  <a:srgbClr val="1F2937"/>
                </a:solidFill>
                <a:latin typeface="Calibri"/>
              </a:rPr>
              <a:t>Solo elasticidad lineal estática 2D: sin no linealidad, dinámica, 3D, placas ni cáscaras</a:t>
            </a:r>
          </a:p>
          <a:p>
            <a:pPr marL="347472" indent="-347472">
              <a:lnSpc>
                <a:spcPct val="112000"/>
              </a:lnSpc>
              <a:spcAft>
                <a:spcPts val="1000"/>
              </a:spcAft>
              <a:buClr>
                <a:srgbClr val="F28C28"/>
              </a:buClr>
              <a:buSzPct val="100000"/>
              <a:buFont typeface="Arial"/>
              <a:buChar char="•"/>
            </a:pPr>
            <a:r>
              <a:rPr lang="es-ES" sz="2400" b="0" i="0">
                <a:solidFill>
                  <a:srgbClr val="1F2937"/>
                </a:solidFill>
                <a:latin typeface="Calibri"/>
              </a:rPr>
              <a:t>Solo Q4 y Q9, sin triángulos ni mallado automático</a:t>
            </a:r>
          </a:p>
          <a:p>
            <a:pPr marL="347472" indent="-347472">
              <a:lnSpc>
                <a:spcPct val="112000"/>
              </a:lnSpc>
              <a:spcAft>
                <a:spcPts val="1000"/>
              </a:spcAft>
              <a:buClr>
                <a:srgbClr val="F28C28"/>
              </a:buClr>
              <a:buSzPct val="100000"/>
              <a:buFont typeface="Arial"/>
              <a:buChar char="•"/>
            </a:pPr>
            <a:r>
              <a:rPr lang="es-ES" sz="2400" b="1" i="0">
                <a:solidFill>
                  <a:srgbClr val="1B2A4A"/>
                </a:solidFill>
                <a:latin typeface="Calibri"/>
              </a:rPr>
              <a:t>Solucionador directo:</a:t>
            </a:r>
            <a:r>
              <a:rPr lang="es-ES" sz="2400" b="0" i="0">
                <a:solidFill>
                  <a:srgbClr val="1F2937"/>
                </a:solidFill>
                <a:latin typeface="Calibri"/>
              </a:rPr>
              <a:t> eficiente hasta decenas de miles de GDL, no en mallas masivas</a:t>
            </a:r>
          </a:p>
          <a:p>
            <a:pPr marL="347472" indent="-347472">
              <a:lnSpc>
                <a:spcPct val="112000"/>
              </a:lnSpc>
              <a:spcAft>
                <a:spcPts val="1000"/>
              </a:spcAft>
              <a:buClr>
                <a:srgbClr val="F28C28"/>
              </a:buClr>
              <a:buSzPct val="100000"/>
              <a:buFont typeface="Arial"/>
              <a:buChar char="•"/>
            </a:pPr>
            <a:r>
              <a:rPr lang="es-ES" sz="2400" b="0" i="0">
                <a:solidFill>
                  <a:srgbClr val="1F2937"/>
                </a:solidFill>
                <a:latin typeface="Calibri"/>
              </a:rPr>
              <a:t>Bloqueo por cortante del Q4 ilustrado, no mitigado</a:t>
            </a:r>
          </a:p>
          <a:p>
            <a:pPr marL="347472" indent="-347472">
              <a:lnSpc>
                <a:spcPct val="112000"/>
              </a:lnSpc>
              <a:spcAft>
                <a:spcPts val="1000"/>
              </a:spcAft>
              <a:buClr>
                <a:srgbClr val="F28C28"/>
              </a:buClr>
              <a:buSzPct val="100000"/>
              <a:buFont typeface="Arial"/>
              <a:buChar char="•"/>
            </a:pPr>
            <a:r>
              <a:rPr lang="es-ES" sz="2400" b="0" i="0">
                <a:solidFill>
                  <a:srgbClr val="1F2937"/>
                </a:solidFill>
                <a:latin typeface="Calibri"/>
              </a:rPr>
              <a:t>Sin validación empírica con estudiantes: utilidad didáctica sostenida por diseño</a:t>
            </a:r>
          </a:p>
        </p:txBody>
      </p:sp>
      <p:sp>
        <p:nvSpPr>
          <p:cNvPr id="6" name="Rectangle 5"/>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77240" y="5431536"/>
            <a:ext cx="10774375" cy="841248"/>
          </a:xfrm>
          <a:prstGeom prst="rect">
            <a:avLst/>
          </a:prstGeom>
          <a:noFill/>
        </p:spPr>
        <p:txBody>
          <a:bodyPr wrap="square" lIns="45720" tIns="27432" rIns="45720" bIns="27432" anchor="ctr">
            <a:noAutofit/>
          </a:bodyPr>
          <a:lstStyle/>
          <a:p>
            <a:pPr algn="l">
              <a:lnSpc>
                <a:spcPct val="100000"/>
              </a:lnSpc>
            </a:pPr>
            <a:r>
              <a:rPr lang="es-ES" sz="2200" b="1" i="0">
                <a:solidFill>
                  <a:srgbClr val="1B2A4A"/>
                </a:solidFill>
                <a:latin typeface="Calibri"/>
              </a:rPr>
              <a:t>Las validaciones son analíticas y código a código, no frente a mediciones físicas</a:t>
            </a:r>
          </a:p>
        </p:txBody>
      </p:sp>
      <p:sp>
        <p:nvSpPr>
          <p:cNvPr id="9" name="Rectangle 8"/>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6419088"/>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11" name="TextBox 10"/>
          <p:cNvSpPr txBox="1"/>
          <p:nvPr/>
        </p:nvSpPr>
        <p:spPr>
          <a:xfrm>
            <a:off x="4023360" y="6419088"/>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Conclusiones, limitaciones</a:t>
            </a:r>
          </a:p>
        </p:txBody>
      </p:sp>
      <p:sp>
        <p:nvSpPr>
          <p:cNvPr id="12" name="TextBox 11"/>
          <p:cNvSpPr txBox="1"/>
          <p:nvPr/>
        </p:nvSpPr>
        <p:spPr>
          <a:xfrm>
            <a:off x="10545775" y="6419088"/>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36</a:t>
            </a:fld>
            <a:endParaRPr lang="es-ES" sz="1200" dirty="0">
              <a:solidFill>
                <a:srgbClr val="5B6575"/>
              </a:solidFill>
              <a:latin typeface="Calibri"/>
            </a:endParaRPr>
          </a:p>
        </p:txBody>
      </p:sp>
      <p:pic>
        <p:nvPicPr>
          <p:cNvPr id="13" name="s36">
            <a:hlinkClick r:id="" action="ppaction://media"/>
            <a:extLst>
              <a:ext uri="{FF2B5EF4-FFF2-40B4-BE49-F238E27FC236}">
                <a16:creationId xmlns:a16="http://schemas.microsoft.com/office/drawing/2014/main" id="{55FA34A7-F298-3082-C685-AF79CC55C29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956"/>
    </mc:Choice>
    <mc:Fallback>
      <p:transition spd="slow" advTm="4195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168335" cy="868680"/>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Cinco líneas de continuación</a:t>
            </a:r>
          </a:p>
        </p:txBody>
      </p:sp>
      <p:sp>
        <p:nvSpPr>
          <p:cNvPr id="3" name="Rectangle 2"/>
          <p:cNvSpPr/>
          <p:nvPr/>
        </p:nvSpPr>
        <p:spPr>
          <a:xfrm>
            <a:off x="594360" y="1298448"/>
            <a:ext cx="1005840"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unded Rectangle 3"/>
          <p:cNvSpPr/>
          <p:nvPr/>
        </p:nvSpPr>
        <p:spPr>
          <a:xfrm>
            <a:off x="8808415" y="585216"/>
            <a:ext cx="2834640" cy="420624"/>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noAutofit/>
          </a:bodyPr>
          <a:lstStyle/>
          <a:p>
            <a:pPr algn="ctr">
              <a:lnSpc>
                <a:spcPct val="100000"/>
              </a:lnSpc>
            </a:pPr>
            <a:r>
              <a:rPr lang="es-ES" sz="1300" b="1" i="0">
                <a:solidFill>
                  <a:srgbClr val="1B2A4A"/>
                </a:solidFill>
                <a:latin typeface="Calibri"/>
              </a:rPr>
              <a:t>6  ·  Conclusiones y recomendaciones</a:t>
            </a:r>
          </a:p>
        </p:txBody>
      </p:sp>
      <p:sp>
        <p:nvSpPr>
          <p:cNvPr id="5" name="Rounded Rectangle 4"/>
          <p:cNvSpPr/>
          <p:nvPr/>
        </p:nvSpPr>
        <p:spPr>
          <a:xfrm>
            <a:off x="548640" y="2702052"/>
            <a:ext cx="1736079"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640" y="2793492"/>
            <a:ext cx="1736079" cy="731520"/>
          </a:xfrm>
          <a:prstGeom prst="rect">
            <a:avLst/>
          </a:prstGeom>
          <a:noFill/>
        </p:spPr>
        <p:txBody>
          <a:bodyPr wrap="square" lIns="73152" tIns="18288" rIns="73152" bIns="18288" anchor="t">
            <a:noAutofit/>
          </a:bodyPr>
          <a:lstStyle/>
          <a:p>
            <a:pPr algn="ctr">
              <a:lnSpc>
                <a:spcPct val="100000"/>
              </a:lnSpc>
            </a:pPr>
            <a:r>
              <a:rPr lang="es-ES" sz="1700" b="1" i="0">
                <a:solidFill>
                  <a:srgbClr val="FFFFFF"/>
                </a:solidFill>
                <a:latin typeface="Calibri"/>
              </a:rPr>
              <a:t>Solucionador</a:t>
            </a:r>
          </a:p>
        </p:txBody>
      </p:sp>
      <p:sp>
        <p:nvSpPr>
          <p:cNvPr id="7" name="TextBox 6"/>
          <p:cNvSpPr txBox="1"/>
          <p:nvPr/>
        </p:nvSpPr>
        <p:spPr>
          <a:xfrm>
            <a:off x="548640" y="3552444"/>
            <a:ext cx="1736079" cy="502920"/>
          </a:xfrm>
          <a:prstGeom prst="rect">
            <a:avLst/>
          </a:prstGeom>
          <a:noFill/>
        </p:spPr>
        <p:txBody>
          <a:bodyPr wrap="square" lIns="73152" tIns="18288" rIns="73152" bIns="54864" anchor="b">
            <a:noAutofit/>
          </a:bodyPr>
          <a:lstStyle/>
          <a:p>
            <a:pPr algn="ctr">
              <a:lnSpc>
                <a:spcPct val="100000"/>
              </a:lnSpc>
            </a:pPr>
            <a:r>
              <a:rPr lang="es-ES" sz="1300" b="0" i="0">
                <a:solidFill>
                  <a:srgbClr val="C7D2E8"/>
                </a:solidFill>
                <a:latin typeface="Calibri"/>
              </a:rPr>
              <a:t>Cholesky; iterativo precondicionado</a:t>
            </a:r>
          </a:p>
        </p:txBody>
      </p:sp>
      <p:sp>
        <p:nvSpPr>
          <p:cNvPr id="8" name="Right Arrow 7"/>
          <p:cNvSpPr/>
          <p:nvPr/>
        </p:nvSpPr>
        <p:spPr>
          <a:xfrm>
            <a:off x="2394447" y="326440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888223" y="2702052"/>
            <a:ext cx="1736079"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2888223" y="2793492"/>
            <a:ext cx="1736079" cy="731520"/>
          </a:xfrm>
          <a:prstGeom prst="rect">
            <a:avLst/>
          </a:prstGeom>
          <a:noFill/>
        </p:spPr>
        <p:txBody>
          <a:bodyPr wrap="square" lIns="73152" tIns="18288" rIns="73152" bIns="18288" anchor="t">
            <a:noAutofit/>
          </a:bodyPr>
          <a:lstStyle/>
          <a:p>
            <a:pPr algn="ctr">
              <a:lnSpc>
                <a:spcPct val="100000"/>
              </a:lnSpc>
            </a:pPr>
            <a:r>
              <a:rPr lang="es-ES" sz="2000" b="1" i="0">
                <a:solidFill>
                  <a:srgbClr val="FFFFFF"/>
                </a:solidFill>
                <a:latin typeface="Calibri"/>
              </a:rPr>
              <a:t>Bloqueo</a:t>
            </a:r>
          </a:p>
        </p:txBody>
      </p:sp>
      <p:sp>
        <p:nvSpPr>
          <p:cNvPr id="11" name="TextBox 10"/>
          <p:cNvSpPr txBox="1"/>
          <p:nvPr/>
        </p:nvSpPr>
        <p:spPr>
          <a:xfrm>
            <a:off x="2888223" y="3552444"/>
            <a:ext cx="1736079" cy="502920"/>
          </a:xfrm>
          <a:prstGeom prst="rect">
            <a:avLst/>
          </a:prstGeom>
          <a:noFill/>
        </p:spPr>
        <p:txBody>
          <a:bodyPr wrap="square" lIns="73152" tIns="18288" rIns="73152" bIns="54864" anchor="b">
            <a:noAutofit/>
          </a:bodyPr>
          <a:lstStyle/>
          <a:p>
            <a:pPr algn="ctr">
              <a:lnSpc>
                <a:spcPct val="100000"/>
              </a:lnSpc>
            </a:pPr>
            <a:r>
              <a:rPr lang="es-ES" sz="1300" b="0" i="0">
                <a:solidFill>
                  <a:srgbClr val="C7D2E8"/>
                </a:solidFill>
                <a:latin typeface="Calibri"/>
              </a:rPr>
              <a:t>SRI o B-bar: bloqueado vs corregido</a:t>
            </a:r>
          </a:p>
        </p:txBody>
      </p:sp>
      <p:sp>
        <p:nvSpPr>
          <p:cNvPr id="12" name="Right Arrow 11"/>
          <p:cNvSpPr/>
          <p:nvPr/>
        </p:nvSpPr>
        <p:spPr>
          <a:xfrm>
            <a:off x="4734031" y="326440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227807" y="2702052"/>
            <a:ext cx="1736079"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227807" y="2793492"/>
            <a:ext cx="1736079" cy="731520"/>
          </a:xfrm>
          <a:prstGeom prst="rect">
            <a:avLst/>
          </a:prstGeom>
          <a:noFill/>
        </p:spPr>
        <p:txBody>
          <a:bodyPr wrap="square" lIns="73152" tIns="18288" rIns="73152" bIns="18288" anchor="t">
            <a:noAutofit/>
          </a:bodyPr>
          <a:lstStyle/>
          <a:p>
            <a:pPr algn="ctr">
              <a:lnSpc>
                <a:spcPct val="100000"/>
              </a:lnSpc>
            </a:pPr>
            <a:r>
              <a:rPr lang="es-ES" sz="1700" b="1" i="0">
                <a:solidFill>
                  <a:srgbClr val="FFFFFF"/>
                </a:solidFill>
                <a:latin typeface="Calibri"/>
              </a:rPr>
              <a:t>Elementos y 3D</a:t>
            </a:r>
          </a:p>
        </p:txBody>
      </p:sp>
      <p:sp>
        <p:nvSpPr>
          <p:cNvPr id="15" name="TextBox 14"/>
          <p:cNvSpPr txBox="1"/>
          <p:nvPr/>
        </p:nvSpPr>
        <p:spPr>
          <a:xfrm>
            <a:off x="5227807" y="3552444"/>
            <a:ext cx="1736079" cy="502920"/>
          </a:xfrm>
          <a:prstGeom prst="rect">
            <a:avLst/>
          </a:prstGeom>
          <a:noFill/>
        </p:spPr>
        <p:txBody>
          <a:bodyPr wrap="square" lIns="73152" tIns="18288" rIns="73152" bIns="54864" anchor="b">
            <a:noAutofit/>
          </a:bodyPr>
          <a:lstStyle/>
          <a:p>
            <a:pPr algn="ctr">
              <a:lnSpc>
                <a:spcPct val="100000"/>
              </a:lnSpc>
            </a:pPr>
            <a:r>
              <a:rPr lang="es-ES" sz="1300" b="0" i="0">
                <a:solidFill>
                  <a:srgbClr val="C7D2E8"/>
                </a:solidFill>
                <a:latin typeface="Calibri"/>
              </a:rPr>
              <a:t>triángulos; H8, H20, tetraedros</a:t>
            </a:r>
          </a:p>
        </p:txBody>
      </p:sp>
      <p:sp>
        <p:nvSpPr>
          <p:cNvPr id="16" name="Right Arrow 15"/>
          <p:cNvSpPr/>
          <p:nvPr/>
        </p:nvSpPr>
        <p:spPr>
          <a:xfrm>
            <a:off x="7073615" y="326440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567391" y="2702052"/>
            <a:ext cx="1736079"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567391" y="2793492"/>
            <a:ext cx="1736079" cy="731520"/>
          </a:xfrm>
          <a:prstGeom prst="rect">
            <a:avLst/>
          </a:prstGeom>
          <a:noFill/>
        </p:spPr>
        <p:txBody>
          <a:bodyPr wrap="square" lIns="73152" tIns="18288" rIns="73152" bIns="18288" anchor="t">
            <a:noAutofit/>
          </a:bodyPr>
          <a:lstStyle/>
          <a:p>
            <a:pPr algn="ctr">
              <a:lnSpc>
                <a:spcPct val="100000"/>
              </a:lnSpc>
            </a:pPr>
            <a:r>
              <a:rPr lang="es-ES" sz="1700" b="1" i="0">
                <a:solidFill>
                  <a:srgbClr val="FFFFFF"/>
                </a:solidFill>
                <a:latin typeface="Calibri"/>
              </a:rPr>
              <a:t>Casos civiles</a:t>
            </a:r>
          </a:p>
        </p:txBody>
      </p:sp>
      <p:sp>
        <p:nvSpPr>
          <p:cNvPr id="19" name="TextBox 18"/>
          <p:cNvSpPr txBox="1"/>
          <p:nvPr/>
        </p:nvSpPr>
        <p:spPr>
          <a:xfrm>
            <a:off x="7567391" y="3552444"/>
            <a:ext cx="1736079" cy="502920"/>
          </a:xfrm>
          <a:prstGeom prst="rect">
            <a:avLst/>
          </a:prstGeom>
          <a:noFill/>
        </p:spPr>
        <p:txBody>
          <a:bodyPr wrap="square" lIns="73152" tIns="18288" rIns="73152" bIns="54864" anchor="b">
            <a:noAutofit/>
          </a:bodyPr>
          <a:lstStyle/>
          <a:p>
            <a:pPr algn="ctr">
              <a:lnSpc>
                <a:spcPct val="100000"/>
              </a:lnSpc>
            </a:pPr>
            <a:r>
              <a:rPr lang="es-ES" sz="1100" b="0" i="0">
                <a:solidFill>
                  <a:srgbClr val="C7D2E8"/>
                </a:solidFill>
                <a:latin typeface="Calibri"/>
              </a:rPr>
              <a:t>presa, muro, túnel en deformación plana</a:t>
            </a:r>
          </a:p>
        </p:txBody>
      </p:sp>
      <p:sp>
        <p:nvSpPr>
          <p:cNvPr id="20" name="Right Arrow 19"/>
          <p:cNvSpPr/>
          <p:nvPr/>
        </p:nvSpPr>
        <p:spPr>
          <a:xfrm>
            <a:off x="9413199" y="3264408"/>
            <a:ext cx="384048" cy="292608"/>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906975" y="2702052"/>
            <a:ext cx="1736079" cy="141732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9906975" y="2793492"/>
            <a:ext cx="1736079" cy="731520"/>
          </a:xfrm>
          <a:prstGeom prst="rect">
            <a:avLst/>
          </a:prstGeom>
          <a:noFill/>
        </p:spPr>
        <p:txBody>
          <a:bodyPr wrap="square" lIns="73152" tIns="18288" rIns="73152" bIns="18288" anchor="t">
            <a:noAutofit/>
          </a:bodyPr>
          <a:lstStyle/>
          <a:p>
            <a:pPr algn="ctr">
              <a:lnSpc>
                <a:spcPct val="100000"/>
              </a:lnSpc>
            </a:pPr>
            <a:r>
              <a:rPr lang="es-ES" sz="1700" b="1" i="0">
                <a:solidFill>
                  <a:srgbClr val="FFFFFF"/>
                </a:solidFill>
                <a:latin typeface="Calibri"/>
              </a:rPr>
              <a:t>Estudio con estudiantes</a:t>
            </a:r>
          </a:p>
        </p:txBody>
      </p:sp>
      <p:sp>
        <p:nvSpPr>
          <p:cNvPr id="23" name="TextBox 22"/>
          <p:cNvSpPr txBox="1"/>
          <p:nvPr/>
        </p:nvSpPr>
        <p:spPr>
          <a:xfrm>
            <a:off x="9906975" y="3552444"/>
            <a:ext cx="1736079" cy="502920"/>
          </a:xfrm>
          <a:prstGeom prst="rect">
            <a:avLst/>
          </a:prstGeom>
          <a:noFill/>
        </p:spPr>
        <p:txBody>
          <a:bodyPr wrap="square" lIns="73152" tIns="18288" rIns="73152" bIns="54864" anchor="b">
            <a:noAutofit/>
          </a:bodyPr>
          <a:lstStyle/>
          <a:p>
            <a:pPr algn="ctr">
              <a:lnSpc>
                <a:spcPct val="100000"/>
              </a:lnSpc>
            </a:pPr>
            <a:r>
              <a:rPr lang="es-ES" sz="1300" b="0" i="0">
                <a:solidFill>
                  <a:srgbClr val="C7D2E8"/>
                </a:solidFill>
                <a:latin typeface="Calibri"/>
              </a:rPr>
              <a:t>antes-después y percepción</a:t>
            </a:r>
          </a:p>
        </p:txBody>
      </p:sp>
      <p:sp>
        <p:nvSpPr>
          <p:cNvPr id="24" name="Rectangle 23"/>
          <p:cNvSpPr/>
          <p:nvPr/>
        </p:nvSpPr>
        <p:spPr>
          <a:xfrm>
            <a:off x="548640" y="5431536"/>
            <a:ext cx="11094415" cy="841248"/>
          </a:xfrm>
          <a:prstGeom prst="rect">
            <a:avLst/>
          </a:prstGeom>
          <a:solidFill>
            <a:srgbClr val="E9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548640" y="5431536"/>
            <a:ext cx="82296"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777240" y="5431536"/>
            <a:ext cx="10774375"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La línea más importante: sustento empírico a la utilidad didáctica que hoy se justifica por diseño</a:t>
            </a:r>
          </a:p>
        </p:txBody>
      </p:sp>
      <p:sp>
        <p:nvSpPr>
          <p:cNvPr id="27" name="Rectangle 26"/>
          <p:cNvSpPr/>
          <p:nvPr/>
        </p:nvSpPr>
        <p:spPr>
          <a:xfrm>
            <a:off x="548640" y="6345936"/>
            <a:ext cx="11094415" cy="9144"/>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548640" y="6419088"/>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9" name="TextBox 28"/>
          <p:cNvSpPr txBox="1"/>
          <p:nvPr/>
        </p:nvSpPr>
        <p:spPr>
          <a:xfrm>
            <a:off x="4023360" y="6419088"/>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Conclusiones, recomendaciones y trabajo futuro</a:t>
            </a:r>
          </a:p>
        </p:txBody>
      </p:sp>
      <p:sp>
        <p:nvSpPr>
          <p:cNvPr id="30" name="TextBox 29"/>
          <p:cNvSpPr txBox="1"/>
          <p:nvPr/>
        </p:nvSpPr>
        <p:spPr>
          <a:xfrm>
            <a:off x="10545775" y="6419088"/>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37</a:t>
            </a:fld>
            <a:endParaRPr lang="es-ES" sz="1200" dirty="0">
              <a:solidFill>
                <a:srgbClr val="5B6575"/>
              </a:solidFill>
              <a:latin typeface="Calibri"/>
            </a:endParaRPr>
          </a:p>
        </p:txBody>
      </p:sp>
      <p:pic>
        <p:nvPicPr>
          <p:cNvPr id="31" name="s37">
            <a:hlinkClick r:id="" action="ppaction://media"/>
            <a:extLst>
              <a:ext uri="{FF2B5EF4-FFF2-40B4-BE49-F238E27FC236}">
                <a16:creationId xmlns:a16="http://schemas.microsoft.com/office/drawing/2014/main" id="{DCF8CFAF-B55B-9C18-3C55-B473EE5765C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052"/>
    </mc:Choice>
    <mc:Fallback>
      <p:transition spd="slow" advTm="4805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31"/>
                </p:tgtEl>
              </p:cMediaNode>
            </p:audio>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11B33"/>
        </a:solidFill>
        <a:effectLst/>
      </p:bgPr>
    </p:bg>
    <p:spTree>
      <p:nvGrpSpPr>
        <p:cNvPr id="1" name=""/>
        <p:cNvGrpSpPr/>
        <p:nvPr/>
      </p:nvGrpSpPr>
      <p:grpSpPr>
        <a:xfrm>
          <a:off x="0" y="0"/>
          <a:ext cx="0" cy="0"/>
          <a:chOff x="0" y="0"/>
          <a:chExt cx="0" cy="0"/>
        </a:xfrm>
      </p:grpSpPr>
      <p:sp>
        <p:nvSpPr>
          <p:cNvPr id="2" name="TextBox 1"/>
          <p:cNvSpPr txBox="1"/>
          <p:nvPr/>
        </p:nvSpPr>
        <p:spPr>
          <a:xfrm>
            <a:off x="731520" y="1371600"/>
            <a:ext cx="7315200" cy="1097280"/>
          </a:xfrm>
          <a:prstGeom prst="rect">
            <a:avLst/>
          </a:prstGeom>
          <a:noFill/>
        </p:spPr>
        <p:txBody>
          <a:bodyPr wrap="square" lIns="45720" tIns="27432" rIns="45720" bIns="27432" anchor="ctr">
            <a:noAutofit/>
          </a:bodyPr>
          <a:lstStyle/>
          <a:p>
            <a:pPr algn="l">
              <a:lnSpc>
                <a:spcPct val="105000"/>
              </a:lnSpc>
            </a:pPr>
            <a:r>
              <a:rPr lang="es-ES" sz="5400" b="1" i="0">
                <a:solidFill>
                  <a:srgbClr val="FFFFFF"/>
                </a:solidFill>
                <a:latin typeface="Calibri"/>
              </a:rPr>
              <a:t>Gracias</a:t>
            </a:r>
          </a:p>
        </p:txBody>
      </p:sp>
      <p:sp>
        <p:nvSpPr>
          <p:cNvPr id="3" name="Rectangle 2"/>
          <p:cNvSpPr/>
          <p:nvPr/>
        </p:nvSpPr>
        <p:spPr>
          <a:xfrm>
            <a:off x="777240" y="2514600"/>
            <a:ext cx="1188720" cy="6400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31520" y="2743200"/>
            <a:ext cx="7498079" cy="1097280"/>
          </a:xfrm>
          <a:prstGeom prst="rect">
            <a:avLst/>
          </a:prstGeom>
          <a:noFill/>
        </p:spPr>
        <p:txBody>
          <a:bodyPr wrap="square" lIns="45720" tIns="27432" rIns="45720" bIns="27432" anchor="t">
            <a:noAutofit/>
          </a:bodyPr>
          <a:lstStyle/>
          <a:p>
            <a:pPr algn="l">
              <a:lnSpc>
                <a:spcPct val="115000"/>
              </a:lnSpc>
            </a:pPr>
            <a:r>
              <a:rPr lang="es-ES" sz="2200" b="0" i="0">
                <a:solidFill>
                  <a:srgbClr val="C7D2E8"/>
                </a:solidFill>
                <a:latin typeface="Calibri"/>
              </a:rPr>
              <a:t>La caja negra se puede abrir, y abierta calcula igual de bien. EduFEM es software libre, en español, y está disponible para cualquier estudiante sin licencias.</a:t>
            </a:r>
          </a:p>
        </p:txBody>
      </p:sp>
      <p:sp>
        <p:nvSpPr>
          <p:cNvPr id="5" name="TextBox 4"/>
          <p:cNvSpPr txBox="1"/>
          <p:nvPr/>
        </p:nvSpPr>
        <p:spPr>
          <a:xfrm>
            <a:off x="731520" y="5257800"/>
            <a:ext cx="7498079" cy="457200"/>
          </a:xfrm>
          <a:prstGeom prst="rect">
            <a:avLst/>
          </a:prstGeom>
          <a:noFill/>
        </p:spPr>
        <p:txBody>
          <a:bodyPr wrap="square" lIns="45720" tIns="27432" rIns="45720" bIns="27432" anchor="t">
            <a:noAutofit/>
          </a:bodyPr>
          <a:lstStyle/>
          <a:p>
            <a:pPr algn="l">
              <a:lnSpc>
                <a:spcPct val="105000"/>
              </a:lnSpc>
            </a:pPr>
            <a:r>
              <a:rPr lang="es-ES" sz="2400" b="1" i="0">
                <a:solidFill>
                  <a:srgbClr val="FFFFFF"/>
                </a:solidFill>
                <a:latin typeface="Calibri"/>
              </a:rPr>
              <a:t>Hedy Yhassmany Oyola Sucullani</a:t>
            </a:r>
          </a:p>
        </p:txBody>
      </p:sp>
      <p:sp>
        <p:nvSpPr>
          <p:cNvPr id="6" name="TextBox 5"/>
          <p:cNvSpPr txBox="1"/>
          <p:nvPr/>
        </p:nvSpPr>
        <p:spPr>
          <a:xfrm>
            <a:off x="731520" y="5715000"/>
            <a:ext cx="7498079" cy="411480"/>
          </a:xfrm>
          <a:prstGeom prst="rect">
            <a:avLst/>
          </a:prstGeom>
          <a:noFill/>
        </p:spPr>
        <p:txBody>
          <a:bodyPr wrap="square" lIns="45720" tIns="27432" rIns="45720" bIns="27432" anchor="t">
            <a:noAutofit/>
          </a:bodyPr>
          <a:lstStyle/>
          <a:p>
            <a:pPr algn="l">
              <a:lnSpc>
                <a:spcPct val="105000"/>
              </a:lnSpc>
            </a:pPr>
            <a:r>
              <a:rPr lang="es-ES" sz="2000" b="0" i="0">
                <a:solidFill>
                  <a:srgbClr val="F28C28"/>
                </a:solidFill>
                <a:latin typeface="Calibri"/>
              </a:rPr>
              <a:t>github.com/Sucullani/SoftwareED</a:t>
            </a:r>
          </a:p>
        </p:txBody>
      </p:sp>
      <p:pic>
        <p:nvPicPr>
          <p:cNvPr id="7" name="Picture 6" descr="logo_universidad.png"/>
          <p:cNvPicPr>
            <a:picLocks noChangeAspect="1"/>
          </p:cNvPicPr>
          <p:nvPr/>
        </p:nvPicPr>
        <p:blipFill>
          <a:blip r:embed="rId5"/>
          <a:stretch>
            <a:fillRect/>
          </a:stretch>
        </p:blipFill>
        <p:spPr>
          <a:xfrm>
            <a:off x="8929047" y="1280160"/>
            <a:ext cx="2075824" cy="2377440"/>
          </a:xfrm>
          <a:prstGeom prst="rect">
            <a:avLst/>
          </a:prstGeom>
        </p:spPr>
      </p:pic>
      <p:pic>
        <p:nvPicPr>
          <p:cNvPr id="8" name="Picture 7" descr="fig_logo_edufem.png"/>
          <p:cNvPicPr>
            <a:picLocks noChangeAspect="1"/>
          </p:cNvPicPr>
          <p:nvPr/>
        </p:nvPicPr>
        <p:blipFill>
          <a:blip r:embed="rId6"/>
          <a:stretch>
            <a:fillRect/>
          </a:stretch>
        </p:blipFill>
        <p:spPr>
          <a:xfrm>
            <a:off x="8915400" y="3840480"/>
            <a:ext cx="2103120" cy="2103120"/>
          </a:xfrm>
          <a:prstGeom prst="rect">
            <a:avLst/>
          </a:prstGeom>
        </p:spPr>
      </p:pic>
      <p:pic>
        <p:nvPicPr>
          <p:cNvPr id="9" name="s38">
            <a:hlinkClick r:id="" action="ppaction://media"/>
            <a:extLst>
              <a:ext uri="{FF2B5EF4-FFF2-40B4-BE49-F238E27FC236}">
                <a16:creationId xmlns:a16="http://schemas.microsoft.com/office/drawing/2014/main" id="{C3F76D21-D9E2-C37C-F27A-9F8EC86A815D}"/>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7284"/>
    </mc:Choice>
    <mc:Fallback>
      <p:transition spd="slow" advTm="1728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7335</Words>
  <Application>Microsoft Office PowerPoint</Application>
  <PresentationFormat>Panorámica</PresentationFormat>
  <Paragraphs>665</Paragraphs>
  <Slides>38</Slides>
  <Notes>38</Notes>
  <HiddenSlides>0</HiddenSlides>
  <MMClips>38</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38</vt:i4>
      </vt:variant>
    </vt:vector>
  </HeadingPairs>
  <TitlesOfParts>
    <vt:vector size="42" baseType="lpstr">
      <vt:lpstr>Arial</vt:lpstr>
      <vt:lpstr>Calibri</vt:lpstr>
      <vt:lpstr>Cambria Math</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User</cp:lastModifiedBy>
  <cp:revision>2</cp:revision>
  <dcterms:created xsi:type="dcterms:W3CDTF">2013-01-27T09:14:16Z</dcterms:created>
  <dcterms:modified xsi:type="dcterms:W3CDTF">2026-09-11T06:11:43Z</dcterms:modified>
  <cp:category/>
</cp:coreProperties>
</file>